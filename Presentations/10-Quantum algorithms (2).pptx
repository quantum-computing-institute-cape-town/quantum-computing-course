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6.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5.xml" ContentType="application/vnd.openxmlformats-officedocument.drawingml.diagramData+xml"/>
  <Override PartName="/ppt/diagrams/data7.xml" ContentType="application/vnd.openxmlformats-officedocument.drawingml.diagramData+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52"/>
  </p:notesMasterIdLst>
  <p:sldIdLst>
    <p:sldId id="730" r:id="rId2"/>
    <p:sldId id="620" r:id="rId3"/>
    <p:sldId id="515" r:id="rId4"/>
    <p:sldId id="738" r:id="rId5"/>
    <p:sldId id="357" r:id="rId6"/>
    <p:sldId id="763" r:id="rId7"/>
    <p:sldId id="316" r:id="rId8"/>
    <p:sldId id="359" r:id="rId9"/>
    <p:sldId id="793" r:id="rId10"/>
    <p:sldId id="771" r:id="rId11"/>
    <p:sldId id="770" r:id="rId12"/>
    <p:sldId id="317" r:id="rId13"/>
    <p:sldId id="518" r:id="rId14"/>
    <p:sldId id="739" r:id="rId15"/>
    <p:sldId id="772" r:id="rId16"/>
    <p:sldId id="777" r:id="rId17"/>
    <p:sldId id="764" r:id="rId18"/>
    <p:sldId id="741" r:id="rId19"/>
    <p:sldId id="768" r:id="rId20"/>
    <p:sldId id="778" r:id="rId21"/>
    <p:sldId id="769" r:id="rId22"/>
    <p:sldId id="749" r:id="rId23"/>
    <p:sldId id="750" r:id="rId24"/>
    <p:sldId id="751" r:id="rId25"/>
    <p:sldId id="525" r:id="rId26"/>
    <p:sldId id="779" r:id="rId27"/>
    <p:sldId id="689" r:id="rId28"/>
    <p:sldId id="752" r:id="rId29"/>
    <p:sldId id="526" r:id="rId30"/>
    <p:sldId id="753" r:id="rId31"/>
    <p:sldId id="626" r:id="rId32"/>
    <p:sldId id="547" r:id="rId33"/>
    <p:sldId id="792" r:id="rId34"/>
    <p:sldId id="754" r:id="rId35"/>
    <p:sldId id="756" r:id="rId36"/>
    <p:sldId id="757" r:id="rId37"/>
    <p:sldId id="729" r:id="rId38"/>
    <p:sldId id="775" r:id="rId39"/>
    <p:sldId id="607" r:id="rId40"/>
    <p:sldId id="521" r:id="rId41"/>
    <p:sldId id="758" r:id="rId42"/>
    <p:sldId id="548" r:id="rId43"/>
    <p:sldId id="759" r:id="rId44"/>
    <p:sldId id="539" r:id="rId45"/>
    <p:sldId id="542" r:id="rId46"/>
    <p:sldId id="543" r:id="rId47"/>
    <p:sldId id="776" r:id="rId48"/>
    <p:sldId id="762" r:id="rId49"/>
    <p:sldId id="774" r:id="rId50"/>
    <p:sldId id="72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AEF9"/>
    <a:srgbClr val="33B1FF"/>
    <a:srgbClr val="30E845"/>
    <a:srgbClr val="EEEEEE"/>
    <a:srgbClr val="FFD0CE"/>
    <a:srgbClr val="0000FF"/>
    <a:srgbClr val="219125"/>
    <a:srgbClr val="FF750F"/>
    <a:srgbClr val="CA251F"/>
    <a:srgbClr val="0080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73"/>
    <p:restoredTop sz="57369"/>
  </p:normalViewPr>
  <p:slideViewPr>
    <p:cSldViewPr snapToGrid="0" snapToObjects="1">
      <p:cViewPr varScale="1">
        <p:scale>
          <a:sx n="69" d="100"/>
          <a:sy n="69" d="100"/>
        </p:scale>
        <p:origin x="2272" y="192"/>
      </p:cViewPr>
      <p:guideLst/>
    </p:cSldViewPr>
  </p:slideViewPr>
  <p:outlineViewPr>
    <p:cViewPr>
      <p:scale>
        <a:sx n="33" d="100"/>
        <a:sy n="33" d="100"/>
      </p:scale>
      <p:origin x="0" y="0"/>
    </p:cViewPr>
  </p:outlineViewPr>
  <p:notesTextViewPr>
    <p:cViewPr>
      <p:scale>
        <a:sx n="185" d="100"/>
        <a:sy n="185" d="100"/>
      </p:scale>
      <p:origin x="0" y="0"/>
    </p:cViewPr>
  </p:notesTextViewPr>
  <p:sorterViewPr>
    <p:cViewPr>
      <p:scale>
        <a:sx n="66" d="100"/>
        <a:sy n="66" d="100"/>
      </p:scale>
      <p:origin x="0" y="0"/>
    </p:cViewPr>
  </p:sorterViewPr>
  <p:notesViewPr>
    <p:cSldViewPr snapToGrid="0" snapToObjects="1">
      <p:cViewPr varScale="1">
        <p:scale>
          <a:sx n="95" d="100"/>
          <a:sy n="95" d="100"/>
        </p:scale>
        <p:origin x="227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5.xml.rels><?xml version="1.0" encoding="UTF-8" standalone="yes"?>
<Relationships xmlns="http://schemas.openxmlformats.org/package/2006/relationships"><Relationship Id="rId3" Type="http://schemas.openxmlformats.org/officeDocument/2006/relationships/image" Target="../media/image851.png"/><Relationship Id="rId2" Type="http://schemas.openxmlformats.org/officeDocument/2006/relationships/image" Target="../media/image831.png"/><Relationship Id="rId1" Type="http://schemas.openxmlformats.org/officeDocument/2006/relationships/image" Target="../media/image822.png"/><Relationship Id="rId4" Type="http://schemas.openxmlformats.org/officeDocument/2006/relationships/image" Target="../media/image861.png"/></Relationships>
</file>

<file path=ppt/diagrams/_rels/data7.xml.rels><?xml version="1.0" encoding="UTF-8" standalone="yes"?>
<Relationships xmlns="http://schemas.openxmlformats.org/package/2006/relationships"><Relationship Id="rId1" Type="http://schemas.openxmlformats.org/officeDocument/2006/relationships/image" Target="../media/image1001.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F4B801-95EB-FF4A-83A6-3D9DA065C637}" type="doc">
      <dgm:prSet loTypeId="urn:microsoft.com/office/officeart/2005/8/layout/list1" loCatId="" qsTypeId="urn:microsoft.com/office/officeart/2005/8/quickstyle/simple1" qsCatId="simple" csTypeId="urn:microsoft.com/office/officeart/2005/8/colors/colorful1" csCatId="colorful" phldr="1"/>
      <dgm:spPr/>
      <dgm:t>
        <a:bodyPr/>
        <a:lstStyle/>
        <a:p>
          <a:endParaRPr lang="en-US"/>
        </a:p>
      </dgm:t>
    </dgm:pt>
    <dgm:pt modelId="{776EFF48-0A08-7E44-8F43-149AE787EDE0}">
      <dgm:prSet phldrT="[Text]"/>
      <dgm:spPr/>
      <dgm:t>
        <a:bodyPr/>
        <a:lstStyle/>
        <a:p>
          <a:r>
            <a:rPr lang="en-US" i="0" dirty="0"/>
            <a:t>Grover algorithm</a:t>
          </a:r>
        </a:p>
      </dgm:t>
    </dgm:pt>
    <dgm:pt modelId="{F9FA3EA6-4E64-8542-AD1E-6D556ED8EE0C}" type="parTrans" cxnId="{C7C457D2-9BCC-6840-AFA5-6BC2C4F1C8B7}">
      <dgm:prSet/>
      <dgm:spPr/>
      <dgm:t>
        <a:bodyPr/>
        <a:lstStyle/>
        <a:p>
          <a:endParaRPr lang="en-US"/>
        </a:p>
      </dgm:t>
    </dgm:pt>
    <dgm:pt modelId="{A6580CC3-B91E-F643-827A-5F20239B0F3D}" type="sibTrans" cxnId="{C7C457D2-9BCC-6840-AFA5-6BC2C4F1C8B7}">
      <dgm:prSet/>
      <dgm:spPr/>
      <dgm:t>
        <a:bodyPr/>
        <a:lstStyle/>
        <a:p>
          <a:endParaRPr lang="en-US"/>
        </a:p>
      </dgm:t>
    </dgm:pt>
    <dgm:pt modelId="{0F212837-CA70-C543-8503-C3C45C9BAF85}">
      <dgm:prSet phldrT="[Text]"/>
      <dgm:spPr/>
      <dgm:t>
        <a:bodyPr/>
        <a:lstStyle/>
        <a:p>
          <a:r>
            <a:rPr lang="en-US" i="0"/>
            <a:t>Shor's </a:t>
          </a:r>
          <a:r>
            <a:rPr lang="en-US" i="0" dirty="0"/>
            <a:t>algorithm</a:t>
          </a:r>
        </a:p>
      </dgm:t>
    </dgm:pt>
    <dgm:pt modelId="{031C4622-FE03-CB48-AFB9-2AFCFC0E07DE}" type="parTrans" cxnId="{911D887F-71FC-6848-86F7-8B164B2ACDF1}">
      <dgm:prSet/>
      <dgm:spPr/>
      <dgm:t>
        <a:bodyPr/>
        <a:lstStyle/>
        <a:p>
          <a:endParaRPr lang="en-US"/>
        </a:p>
      </dgm:t>
    </dgm:pt>
    <dgm:pt modelId="{01556BD7-AB5E-5F44-9362-BADE177F7522}" type="sibTrans" cxnId="{911D887F-71FC-6848-86F7-8B164B2ACDF1}">
      <dgm:prSet/>
      <dgm:spPr/>
      <dgm:t>
        <a:bodyPr/>
        <a:lstStyle/>
        <a:p>
          <a:endParaRPr lang="en-US"/>
        </a:p>
      </dgm:t>
    </dgm:pt>
    <dgm:pt modelId="{94ACFDC8-4A23-444B-9C4C-04B274E58FC4}" type="pres">
      <dgm:prSet presAssocID="{76F4B801-95EB-FF4A-83A6-3D9DA065C637}" presName="linear" presStyleCnt="0">
        <dgm:presLayoutVars>
          <dgm:dir/>
          <dgm:animLvl val="lvl"/>
          <dgm:resizeHandles val="exact"/>
        </dgm:presLayoutVars>
      </dgm:prSet>
      <dgm:spPr/>
    </dgm:pt>
    <dgm:pt modelId="{80A12251-7098-B840-B703-AFC96CF914ED}" type="pres">
      <dgm:prSet presAssocID="{776EFF48-0A08-7E44-8F43-149AE787EDE0}" presName="parentLin" presStyleCnt="0"/>
      <dgm:spPr/>
    </dgm:pt>
    <dgm:pt modelId="{691D9C0B-5272-5445-B06D-58CB0D98AED8}" type="pres">
      <dgm:prSet presAssocID="{776EFF48-0A08-7E44-8F43-149AE787EDE0}" presName="parentLeftMargin" presStyleLbl="node1" presStyleIdx="0" presStyleCnt="2"/>
      <dgm:spPr/>
    </dgm:pt>
    <dgm:pt modelId="{33F12D5B-19AE-1043-B926-953B02B4DD7E}" type="pres">
      <dgm:prSet presAssocID="{776EFF48-0A08-7E44-8F43-149AE787EDE0}" presName="parentText" presStyleLbl="node1" presStyleIdx="0" presStyleCnt="2">
        <dgm:presLayoutVars>
          <dgm:chMax val="0"/>
          <dgm:bulletEnabled val="1"/>
        </dgm:presLayoutVars>
      </dgm:prSet>
      <dgm:spPr/>
    </dgm:pt>
    <dgm:pt modelId="{3E4FCDE1-7C8B-8D41-BD9B-D66CD6993006}" type="pres">
      <dgm:prSet presAssocID="{776EFF48-0A08-7E44-8F43-149AE787EDE0}" presName="negativeSpace" presStyleCnt="0"/>
      <dgm:spPr/>
    </dgm:pt>
    <dgm:pt modelId="{B9BE0B7E-B2BD-D142-9283-674CC3846DB4}" type="pres">
      <dgm:prSet presAssocID="{776EFF48-0A08-7E44-8F43-149AE787EDE0}" presName="childText" presStyleLbl="conFgAcc1" presStyleIdx="0" presStyleCnt="2">
        <dgm:presLayoutVars>
          <dgm:bulletEnabled val="1"/>
        </dgm:presLayoutVars>
      </dgm:prSet>
      <dgm:spPr/>
    </dgm:pt>
    <dgm:pt modelId="{A53246AA-6DC8-164F-9B98-1F28F04F97BB}" type="pres">
      <dgm:prSet presAssocID="{A6580CC3-B91E-F643-827A-5F20239B0F3D}" presName="spaceBetweenRectangles" presStyleCnt="0"/>
      <dgm:spPr/>
    </dgm:pt>
    <dgm:pt modelId="{4E321B0C-345A-3949-9673-B3C3B4815DF6}" type="pres">
      <dgm:prSet presAssocID="{0F212837-CA70-C543-8503-C3C45C9BAF85}" presName="parentLin" presStyleCnt="0"/>
      <dgm:spPr/>
    </dgm:pt>
    <dgm:pt modelId="{73BF2BCD-1DE5-6248-B114-9F49619101E9}" type="pres">
      <dgm:prSet presAssocID="{0F212837-CA70-C543-8503-C3C45C9BAF85}" presName="parentLeftMargin" presStyleLbl="node1" presStyleIdx="0" presStyleCnt="2"/>
      <dgm:spPr/>
    </dgm:pt>
    <dgm:pt modelId="{C55AC87C-9E2A-3B43-9D39-D57666A85262}" type="pres">
      <dgm:prSet presAssocID="{0F212837-CA70-C543-8503-C3C45C9BAF85}" presName="parentText" presStyleLbl="node1" presStyleIdx="1" presStyleCnt="2">
        <dgm:presLayoutVars>
          <dgm:chMax val="0"/>
          <dgm:bulletEnabled val="1"/>
        </dgm:presLayoutVars>
      </dgm:prSet>
      <dgm:spPr/>
    </dgm:pt>
    <dgm:pt modelId="{72650093-1403-584F-AD71-C518B581F787}" type="pres">
      <dgm:prSet presAssocID="{0F212837-CA70-C543-8503-C3C45C9BAF85}" presName="negativeSpace" presStyleCnt="0"/>
      <dgm:spPr/>
    </dgm:pt>
    <dgm:pt modelId="{8165A3F0-BD47-AF4F-96D5-7892F3FD5A25}" type="pres">
      <dgm:prSet presAssocID="{0F212837-CA70-C543-8503-C3C45C9BAF85}" presName="childText" presStyleLbl="conFgAcc1" presStyleIdx="1" presStyleCnt="2">
        <dgm:presLayoutVars>
          <dgm:bulletEnabled val="1"/>
        </dgm:presLayoutVars>
      </dgm:prSet>
      <dgm:spPr/>
    </dgm:pt>
  </dgm:ptLst>
  <dgm:cxnLst>
    <dgm:cxn modelId="{85658914-477F-4343-910B-4203BD229277}" type="presOf" srcId="{76F4B801-95EB-FF4A-83A6-3D9DA065C637}" destId="{94ACFDC8-4A23-444B-9C4C-04B274E58FC4}" srcOrd="0" destOrd="0" presId="urn:microsoft.com/office/officeart/2005/8/layout/list1"/>
    <dgm:cxn modelId="{3BC6052A-2705-4B43-B892-177626EB42DD}" type="presOf" srcId="{776EFF48-0A08-7E44-8F43-149AE787EDE0}" destId="{691D9C0B-5272-5445-B06D-58CB0D98AED8}" srcOrd="0" destOrd="0" presId="urn:microsoft.com/office/officeart/2005/8/layout/list1"/>
    <dgm:cxn modelId="{CC737D5C-8B90-BC4A-8FAE-AD5662620968}" type="presOf" srcId="{0F212837-CA70-C543-8503-C3C45C9BAF85}" destId="{C55AC87C-9E2A-3B43-9D39-D57666A85262}" srcOrd="1" destOrd="0" presId="urn:microsoft.com/office/officeart/2005/8/layout/list1"/>
    <dgm:cxn modelId="{23038662-4F82-544F-BB99-60C6888EE6E8}" type="presOf" srcId="{776EFF48-0A08-7E44-8F43-149AE787EDE0}" destId="{33F12D5B-19AE-1043-B926-953B02B4DD7E}" srcOrd="1" destOrd="0" presId="urn:microsoft.com/office/officeart/2005/8/layout/list1"/>
    <dgm:cxn modelId="{CCD31571-72E6-9A4D-A3EC-3F1C6807B35E}" type="presOf" srcId="{0F212837-CA70-C543-8503-C3C45C9BAF85}" destId="{73BF2BCD-1DE5-6248-B114-9F49619101E9}" srcOrd="0" destOrd="0" presId="urn:microsoft.com/office/officeart/2005/8/layout/list1"/>
    <dgm:cxn modelId="{911D887F-71FC-6848-86F7-8B164B2ACDF1}" srcId="{76F4B801-95EB-FF4A-83A6-3D9DA065C637}" destId="{0F212837-CA70-C543-8503-C3C45C9BAF85}" srcOrd="1" destOrd="0" parTransId="{031C4622-FE03-CB48-AFB9-2AFCFC0E07DE}" sibTransId="{01556BD7-AB5E-5F44-9362-BADE177F7522}"/>
    <dgm:cxn modelId="{C7C457D2-9BCC-6840-AFA5-6BC2C4F1C8B7}" srcId="{76F4B801-95EB-FF4A-83A6-3D9DA065C637}" destId="{776EFF48-0A08-7E44-8F43-149AE787EDE0}" srcOrd="0" destOrd="0" parTransId="{F9FA3EA6-4E64-8542-AD1E-6D556ED8EE0C}" sibTransId="{A6580CC3-B91E-F643-827A-5F20239B0F3D}"/>
    <dgm:cxn modelId="{CEDFED64-9ACC-E547-A86F-50D45791A933}" type="presParOf" srcId="{94ACFDC8-4A23-444B-9C4C-04B274E58FC4}" destId="{80A12251-7098-B840-B703-AFC96CF914ED}" srcOrd="0" destOrd="0" presId="urn:microsoft.com/office/officeart/2005/8/layout/list1"/>
    <dgm:cxn modelId="{0700786C-5E5A-D644-AA27-AF13C5E94774}" type="presParOf" srcId="{80A12251-7098-B840-B703-AFC96CF914ED}" destId="{691D9C0B-5272-5445-B06D-58CB0D98AED8}" srcOrd="0" destOrd="0" presId="urn:microsoft.com/office/officeart/2005/8/layout/list1"/>
    <dgm:cxn modelId="{B2947621-646B-5E43-93DE-D420F7A7FC1C}" type="presParOf" srcId="{80A12251-7098-B840-B703-AFC96CF914ED}" destId="{33F12D5B-19AE-1043-B926-953B02B4DD7E}" srcOrd="1" destOrd="0" presId="urn:microsoft.com/office/officeart/2005/8/layout/list1"/>
    <dgm:cxn modelId="{E0EFE14F-3B2A-6F4F-9781-B5585F054CF4}" type="presParOf" srcId="{94ACFDC8-4A23-444B-9C4C-04B274E58FC4}" destId="{3E4FCDE1-7C8B-8D41-BD9B-D66CD6993006}" srcOrd="1" destOrd="0" presId="urn:microsoft.com/office/officeart/2005/8/layout/list1"/>
    <dgm:cxn modelId="{BBCE09DD-BF03-084E-B2D1-3BEDB58CBF59}" type="presParOf" srcId="{94ACFDC8-4A23-444B-9C4C-04B274E58FC4}" destId="{B9BE0B7E-B2BD-D142-9283-674CC3846DB4}" srcOrd="2" destOrd="0" presId="urn:microsoft.com/office/officeart/2005/8/layout/list1"/>
    <dgm:cxn modelId="{B39228C6-1BB3-8946-9802-C31746F9968B}" type="presParOf" srcId="{94ACFDC8-4A23-444B-9C4C-04B274E58FC4}" destId="{A53246AA-6DC8-164F-9B98-1F28F04F97BB}" srcOrd="3" destOrd="0" presId="urn:microsoft.com/office/officeart/2005/8/layout/list1"/>
    <dgm:cxn modelId="{533DCB4D-7A35-FD47-B0CF-886F667B9E86}" type="presParOf" srcId="{94ACFDC8-4A23-444B-9C4C-04B274E58FC4}" destId="{4E321B0C-345A-3949-9673-B3C3B4815DF6}" srcOrd="4" destOrd="0" presId="urn:microsoft.com/office/officeart/2005/8/layout/list1"/>
    <dgm:cxn modelId="{DCEF2747-68A4-EC48-ABAB-C40FB89DF273}" type="presParOf" srcId="{4E321B0C-345A-3949-9673-B3C3B4815DF6}" destId="{73BF2BCD-1DE5-6248-B114-9F49619101E9}" srcOrd="0" destOrd="0" presId="urn:microsoft.com/office/officeart/2005/8/layout/list1"/>
    <dgm:cxn modelId="{AF327BA5-66E3-A846-BC73-E6214080B3CF}" type="presParOf" srcId="{4E321B0C-345A-3949-9673-B3C3B4815DF6}" destId="{C55AC87C-9E2A-3B43-9D39-D57666A85262}" srcOrd="1" destOrd="0" presId="urn:microsoft.com/office/officeart/2005/8/layout/list1"/>
    <dgm:cxn modelId="{F04B1235-CFBD-7B46-98DD-6CC7D6B1DEF0}" type="presParOf" srcId="{94ACFDC8-4A23-444B-9C4C-04B274E58FC4}" destId="{72650093-1403-584F-AD71-C518B581F787}" srcOrd="5" destOrd="0" presId="urn:microsoft.com/office/officeart/2005/8/layout/list1"/>
    <dgm:cxn modelId="{7F20EF08-F279-7947-8EC5-DF451018538B}" type="presParOf" srcId="{94ACFDC8-4A23-444B-9C4C-04B274E58FC4}" destId="{8165A3F0-BD47-AF4F-96D5-7892F3FD5A25}"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C7A72-2B91-2145-842E-869C1D788A52}" type="doc">
      <dgm:prSet loTypeId="urn:microsoft.com/office/officeart/2005/8/layout/pyramid2" loCatId="" qsTypeId="urn:microsoft.com/office/officeart/2005/8/quickstyle/simple1" qsCatId="simple" csTypeId="urn:microsoft.com/office/officeart/2005/8/colors/accent1_2" csCatId="accent1" phldr="1"/>
      <dgm:spPr/>
    </dgm:pt>
    <dgm:pt modelId="{7269CC49-FC08-B24B-BC67-8D2281E16E73}">
      <dgm:prSet phldrT="[Text]"/>
      <dgm:spPr/>
      <dgm:t>
        <a:bodyPr/>
        <a:lstStyle/>
        <a:p>
          <a:r>
            <a:rPr lang="en-ZA" b="0" dirty="0"/>
            <a:t>modular arithmetic</a:t>
          </a:r>
          <a:endParaRPr lang="en-US" dirty="0"/>
        </a:p>
      </dgm:t>
    </dgm:pt>
    <dgm:pt modelId="{8508324A-922D-DB4D-816F-4E8F1D34EE11}" type="parTrans" cxnId="{F32D963B-29E3-E34D-AEAE-EAF2F4576E3D}">
      <dgm:prSet/>
      <dgm:spPr/>
      <dgm:t>
        <a:bodyPr/>
        <a:lstStyle/>
        <a:p>
          <a:endParaRPr lang="en-US"/>
        </a:p>
      </dgm:t>
    </dgm:pt>
    <dgm:pt modelId="{A5EEFAEC-56E7-A541-98F9-E420551738B7}" type="sibTrans" cxnId="{F32D963B-29E3-E34D-AEAE-EAF2F4576E3D}">
      <dgm:prSet/>
      <dgm:spPr/>
      <dgm:t>
        <a:bodyPr/>
        <a:lstStyle/>
        <a:p>
          <a:endParaRPr lang="en-US"/>
        </a:p>
      </dgm:t>
    </dgm:pt>
    <dgm:pt modelId="{862680EB-50E5-4C43-9DED-A6CC7A41F020}">
      <dgm:prSet phldrT="[Text]"/>
      <dgm:spPr/>
      <dgm:t>
        <a:bodyPr/>
        <a:lstStyle/>
        <a:p>
          <a:r>
            <a:rPr lang="en-ZA" b="0" dirty="0"/>
            <a:t>period finding</a:t>
          </a:r>
          <a:endParaRPr lang="en-US" dirty="0"/>
        </a:p>
      </dgm:t>
    </dgm:pt>
    <dgm:pt modelId="{7D0A05C2-2A65-7F44-9C0B-B6BB8210B34D}" type="parTrans" cxnId="{EB21D4F2-0BDE-0B41-BEB9-17764BFA8C16}">
      <dgm:prSet/>
      <dgm:spPr/>
      <dgm:t>
        <a:bodyPr/>
        <a:lstStyle/>
        <a:p>
          <a:endParaRPr lang="en-US"/>
        </a:p>
      </dgm:t>
    </dgm:pt>
    <dgm:pt modelId="{D4D245A3-3A78-F646-937E-244CB9F07815}" type="sibTrans" cxnId="{EB21D4F2-0BDE-0B41-BEB9-17764BFA8C16}">
      <dgm:prSet/>
      <dgm:spPr/>
      <dgm:t>
        <a:bodyPr/>
        <a:lstStyle/>
        <a:p>
          <a:endParaRPr lang="en-US"/>
        </a:p>
      </dgm:t>
    </dgm:pt>
    <dgm:pt modelId="{946F719D-043B-6D4E-996B-F6146B88BA64}">
      <dgm:prSet phldrT="[Text]"/>
      <dgm:spPr/>
      <dgm:t>
        <a:bodyPr/>
        <a:lstStyle/>
        <a:p>
          <a:r>
            <a:rPr lang="en-ZA" b="0" dirty="0"/>
            <a:t>number theory</a:t>
          </a:r>
          <a:endParaRPr lang="en-US" dirty="0"/>
        </a:p>
      </dgm:t>
    </dgm:pt>
    <dgm:pt modelId="{DF613577-1E53-C849-9FEF-369D4AC2B0EE}" type="parTrans" cxnId="{4E3D6074-2A26-E341-BFC2-0CE8AD4AD6FA}">
      <dgm:prSet/>
      <dgm:spPr/>
      <dgm:t>
        <a:bodyPr/>
        <a:lstStyle/>
        <a:p>
          <a:endParaRPr lang="en-US"/>
        </a:p>
      </dgm:t>
    </dgm:pt>
    <dgm:pt modelId="{CFE4A6FE-EAC1-E64F-84EA-CE2617310579}" type="sibTrans" cxnId="{4E3D6074-2A26-E341-BFC2-0CE8AD4AD6FA}">
      <dgm:prSet/>
      <dgm:spPr/>
      <dgm:t>
        <a:bodyPr/>
        <a:lstStyle/>
        <a:p>
          <a:endParaRPr lang="en-US"/>
        </a:p>
      </dgm:t>
    </dgm:pt>
    <dgm:pt modelId="{E9655796-52C4-FE4F-B9D4-B90CEEF44FF4}" type="pres">
      <dgm:prSet presAssocID="{B7EC7A72-2B91-2145-842E-869C1D788A52}" presName="compositeShape" presStyleCnt="0">
        <dgm:presLayoutVars>
          <dgm:dir/>
          <dgm:resizeHandles/>
        </dgm:presLayoutVars>
      </dgm:prSet>
      <dgm:spPr/>
    </dgm:pt>
    <dgm:pt modelId="{8D006416-5AAE-4A4D-9171-57A104A73C01}" type="pres">
      <dgm:prSet presAssocID="{B7EC7A72-2B91-2145-842E-869C1D788A52}" presName="pyramid" presStyleLbl="node1" presStyleIdx="0" presStyleCnt="1"/>
      <dgm:spPr/>
    </dgm:pt>
    <dgm:pt modelId="{6F101C34-98DE-3D43-9E85-FED4881B02AB}" type="pres">
      <dgm:prSet presAssocID="{B7EC7A72-2B91-2145-842E-869C1D788A52}" presName="theList" presStyleCnt="0"/>
      <dgm:spPr/>
    </dgm:pt>
    <dgm:pt modelId="{5E601225-0234-6E4D-BF0A-FF34726E603D}" type="pres">
      <dgm:prSet presAssocID="{7269CC49-FC08-B24B-BC67-8D2281E16E73}" presName="aNode" presStyleLbl="fgAcc1" presStyleIdx="0" presStyleCnt="3">
        <dgm:presLayoutVars>
          <dgm:bulletEnabled val="1"/>
        </dgm:presLayoutVars>
      </dgm:prSet>
      <dgm:spPr/>
    </dgm:pt>
    <dgm:pt modelId="{34906498-F749-2A42-9E4F-1C33FA62B20C}" type="pres">
      <dgm:prSet presAssocID="{7269CC49-FC08-B24B-BC67-8D2281E16E73}" presName="aSpace" presStyleCnt="0"/>
      <dgm:spPr/>
    </dgm:pt>
    <dgm:pt modelId="{24FDE7BD-4049-3744-B287-3C461C6A02CB}" type="pres">
      <dgm:prSet presAssocID="{946F719D-043B-6D4E-996B-F6146B88BA64}" presName="aNode" presStyleLbl="fgAcc1" presStyleIdx="1" presStyleCnt="3">
        <dgm:presLayoutVars>
          <dgm:bulletEnabled val="1"/>
        </dgm:presLayoutVars>
      </dgm:prSet>
      <dgm:spPr/>
    </dgm:pt>
    <dgm:pt modelId="{1EDA1132-8332-8740-BB07-2515FC86F164}" type="pres">
      <dgm:prSet presAssocID="{946F719D-043B-6D4E-996B-F6146B88BA64}" presName="aSpace" presStyleCnt="0"/>
      <dgm:spPr/>
    </dgm:pt>
    <dgm:pt modelId="{63E8C0F4-9B4B-5547-B619-B83166D702EE}" type="pres">
      <dgm:prSet presAssocID="{862680EB-50E5-4C43-9DED-A6CC7A41F020}" presName="aNode" presStyleLbl="fgAcc1" presStyleIdx="2" presStyleCnt="3">
        <dgm:presLayoutVars>
          <dgm:bulletEnabled val="1"/>
        </dgm:presLayoutVars>
      </dgm:prSet>
      <dgm:spPr/>
    </dgm:pt>
    <dgm:pt modelId="{B77DCECE-05EF-FD44-8B46-988D45BA6F87}" type="pres">
      <dgm:prSet presAssocID="{862680EB-50E5-4C43-9DED-A6CC7A41F020}" presName="aSpace" presStyleCnt="0"/>
      <dgm:spPr/>
    </dgm:pt>
  </dgm:ptLst>
  <dgm:cxnLst>
    <dgm:cxn modelId="{E628D80F-1184-BE45-8EE9-66E20B659746}" type="presOf" srcId="{7269CC49-FC08-B24B-BC67-8D2281E16E73}" destId="{5E601225-0234-6E4D-BF0A-FF34726E603D}" srcOrd="0" destOrd="0" presId="urn:microsoft.com/office/officeart/2005/8/layout/pyramid2"/>
    <dgm:cxn modelId="{BD45521A-C6B8-E541-AB2A-32E8B8E7B027}" type="presOf" srcId="{862680EB-50E5-4C43-9DED-A6CC7A41F020}" destId="{63E8C0F4-9B4B-5547-B619-B83166D702EE}" srcOrd="0" destOrd="0" presId="urn:microsoft.com/office/officeart/2005/8/layout/pyramid2"/>
    <dgm:cxn modelId="{F32D963B-29E3-E34D-AEAE-EAF2F4576E3D}" srcId="{B7EC7A72-2B91-2145-842E-869C1D788A52}" destId="{7269CC49-FC08-B24B-BC67-8D2281E16E73}" srcOrd="0" destOrd="0" parTransId="{8508324A-922D-DB4D-816F-4E8F1D34EE11}" sibTransId="{A5EEFAEC-56E7-A541-98F9-E420551738B7}"/>
    <dgm:cxn modelId="{4E3D6074-2A26-E341-BFC2-0CE8AD4AD6FA}" srcId="{B7EC7A72-2B91-2145-842E-869C1D788A52}" destId="{946F719D-043B-6D4E-996B-F6146B88BA64}" srcOrd="1" destOrd="0" parTransId="{DF613577-1E53-C849-9FEF-369D4AC2B0EE}" sibTransId="{CFE4A6FE-EAC1-E64F-84EA-CE2617310579}"/>
    <dgm:cxn modelId="{C5325098-6E01-9845-BEF0-5BAEC60012D9}" type="presOf" srcId="{946F719D-043B-6D4E-996B-F6146B88BA64}" destId="{24FDE7BD-4049-3744-B287-3C461C6A02CB}" srcOrd="0" destOrd="0" presId="urn:microsoft.com/office/officeart/2005/8/layout/pyramid2"/>
    <dgm:cxn modelId="{F3BC67BC-07BE-1944-B4AA-6CA3A170A9DF}" type="presOf" srcId="{B7EC7A72-2B91-2145-842E-869C1D788A52}" destId="{E9655796-52C4-FE4F-B9D4-B90CEEF44FF4}" srcOrd="0" destOrd="0" presId="urn:microsoft.com/office/officeart/2005/8/layout/pyramid2"/>
    <dgm:cxn modelId="{EB21D4F2-0BDE-0B41-BEB9-17764BFA8C16}" srcId="{B7EC7A72-2B91-2145-842E-869C1D788A52}" destId="{862680EB-50E5-4C43-9DED-A6CC7A41F020}" srcOrd="2" destOrd="0" parTransId="{7D0A05C2-2A65-7F44-9C0B-B6BB8210B34D}" sibTransId="{D4D245A3-3A78-F646-937E-244CB9F07815}"/>
    <dgm:cxn modelId="{13D7A618-F5A8-A045-9393-94EF9DD56B0B}" type="presParOf" srcId="{E9655796-52C4-FE4F-B9D4-B90CEEF44FF4}" destId="{8D006416-5AAE-4A4D-9171-57A104A73C01}" srcOrd="0" destOrd="0" presId="urn:microsoft.com/office/officeart/2005/8/layout/pyramid2"/>
    <dgm:cxn modelId="{4B2516A1-57B0-3547-AFA7-4251D1EC8549}" type="presParOf" srcId="{E9655796-52C4-FE4F-B9D4-B90CEEF44FF4}" destId="{6F101C34-98DE-3D43-9E85-FED4881B02AB}" srcOrd="1" destOrd="0" presId="urn:microsoft.com/office/officeart/2005/8/layout/pyramid2"/>
    <dgm:cxn modelId="{AF8F6300-A53D-5E42-B034-73C30AC2731A}" type="presParOf" srcId="{6F101C34-98DE-3D43-9E85-FED4881B02AB}" destId="{5E601225-0234-6E4D-BF0A-FF34726E603D}" srcOrd="0" destOrd="0" presId="urn:microsoft.com/office/officeart/2005/8/layout/pyramid2"/>
    <dgm:cxn modelId="{06484C2E-FAC6-BE47-8F25-C09F6A642C04}" type="presParOf" srcId="{6F101C34-98DE-3D43-9E85-FED4881B02AB}" destId="{34906498-F749-2A42-9E4F-1C33FA62B20C}" srcOrd="1" destOrd="0" presId="urn:microsoft.com/office/officeart/2005/8/layout/pyramid2"/>
    <dgm:cxn modelId="{A8D157F8-2ABE-A74B-8FC0-26171B60E91E}" type="presParOf" srcId="{6F101C34-98DE-3D43-9E85-FED4881B02AB}" destId="{24FDE7BD-4049-3744-B287-3C461C6A02CB}" srcOrd="2" destOrd="0" presId="urn:microsoft.com/office/officeart/2005/8/layout/pyramid2"/>
    <dgm:cxn modelId="{86E521DF-5D11-914B-9536-1E61E9A7A053}" type="presParOf" srcId="{6F101C34-98DE-3D43-9E85-FED4881B02AB}" destId="{1EDA1132-8332-8740-BB07-2515FC86F164}" srcOrd="3" destOrd="0" presId="urn:microsoft.com/office/officeart/2005/8/layout/pyramid2"/>
    <dgm:cxn modelId="{E69B99F3-60BB-214A-B7D0-08911B31D429}" type="presParOf" srcId="{6F101C34-98DE-3D43-9E85-FED4881B02AB}" destId="{63E8C0F4-9B4B-5547-B619-B83166D702EE}" srcOrd="4" destOrd="0" presId="urn:microsoft.com/office/officeart/2005/8/layout/pyramid2"/>
    <dgm:cxn modelId="{548FFED8-2DF8-8E44-9A5F-75C23568AE0C}" type="presParOf" srcId="{6F101C34-98DE-3D43-9E85-FED4881B02AB}" destId="{B77DCECE-05EF-FD44-8B46-988D45BA6F87}" srcOrd="5"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BA4C2C-5DED-3940-9699-838D93932BEA}" type="doc">
      <dgm:prSet loTypeId="urn:microsoft.com/office/officeart/2005/8/layout/hChevron3" loCatId="" qsTypeId="urn:microsoft.com/office/officeart/2005/8/quickstyle/simple1" qsCatId="simple" csTypeId="urn:microsoft.com/office/officeart/2005/8/colors/colorful2" csCatId="colorful" phldr="1"/>
      <dgm:spPr/>
    </dgm:pt>
    <dgm:pt modelId="{196F0884-153E-4B43-BCC3-D931BABB15D5}">
      <dgm:prSet phldrT="[Text]" custT="1"/>
      <dgm:spPr>
        <a:solidFill>
          <a:schemeClr val="accent4">
            <a:lumMod val="20000"/>
            <a:lumOff val="80000"/>
          </a:schemeClr>
        </a:solidFill>
      </dgm:spPr>
      <dgm:t>
        <a:bodyPr/>
        <a:lstStyle/>
        <a:p>
          <a:pPr algn="l"/>
          <a:r>
            <a:rPr lang="en-ZA" sz="2800" b="0" dirty="0">
              <a:solidFill>
                <a:schemeClr val="tx1"/>
              </a:solidFill>
              <a:latin typeface="+mj-lt"/>
            </a:rPr>
            <a:t>Two observations:</a:t>
          </a:r>
          <a:endParaRPr lang="en-US" sz="2800" dirty="0">
            <a:solidFill>
              <a:schemeClr val="tx1"/>
            </a:solidFill>
            <a:latin typeface="+mj-lt"/>
          </a:endParaRPr>
        </a:p>
      </dgm:t>
    </dgm:pt>
    <dgm:pt modelId="{DD8E6762-39CD-D84B-A71B-F62CCDAD0349}" type="parTrans" cxnId="{7006D361-43DA-AD45-BDBB-E592BDBA1660}">
      <dgm:prSet/>
      <dgm:spPr/>
      <dgm:t>
        <a:bodyPr/>
        <a:lstStyle/>
        <a:p>
          <a:endParaRPr lang="en-US" sz="3200">
            <a:solidFill>
              <a:schemeClr val="tx1"/>
            </a:solidFill>
          </a:endParaRPr>
        </a:p>
      </dgm:t>
    </dgm:pt>
    <dgm:pt modelId="{6E4EF3C9-7164-0E4E-8F70-0988B503B8B2}" type="sibTrans" cxnId="{7006D361-43DA-AD45-BDBB-E592BDBA1660}">
      <dgm:prSet/>
      <dgm:spPr/>
      <dgm:t>
        <a:bodyPr/>
        <a:lstStyle/>
        <a:p>
          <a:endParaRPr lang="en-US" sz="3200">
            <a:solidFill>
              <a:schemeClr val="tx1"/>
            </a:solidFill>
          </a:endParaRPr>
        </a:p>
      </dgm:t>
    </dgm:pt>
    <dgm:pt modelId="{538601FA-003E-1F40-9A11-315274D31737}">
      <dgm:prSet phldrT="[Text]" custT="1"/>
      <dgm:spPr>
        <a:solidFill>
          <a:schemeClr val="accent2">
            <a:lumMod val="20000"/>
            <a:lumOff val="80000"/>
          </a:schemeClr>
        </a:solidFill>
      </dgm:spPr>
      <dgm:t>
        <a:bodyPr/>
        <a:lstStyle/>
        <a:p>
          <a:pPr algn="l"/>
          <a:r>
            <a:rPr lang="en-US" sz="2800" i="0" dirty="0" err="1">
              <a:solidFill>
                <a:schemeClr val="tx1"/>
              </a:solidFill>
              <a:latin typeface="Cambria Math" panose="02040503050406030204" pitchFamily="18" charset="0"/>
              <a:ea typeface="Cambria Math" panose="02040503050406030204" pitchFamily="18" charset="0"/>
            </a:rPr>
            <a:t>gcd</a:t>
          </a:r>
          <a:r>
            <a:rPr lang="en-US" sz="2800" i="0" dirty="0">
              <a:solidFill>
                <a:schemeClr val="tx1"/>
              </a:solidFill>
              <a:latin typeface="Cambria Math" panose="02040503050406030204" pitchFamily="18" charset="0"/>
              <a:ea typeface="Cambria Math" panose="02040503050406030204" pitchFamily="18" charset="0"/>
            </a:rPr>
            <a:t>(a, 0) =  |a|     </a:t>
          </a:r>
          <a:r>
            <a:rPr lang="en-US" sz="2800" i="0" dirty="0" err="1">
              <a:solidFill>
                <a:schemeClr val="tx1"/>
              </a:solidFill>
              <a:latin typeface="Cambria Math" panose="02040503050406030204" pitchFamily="18" charset="0"/>
              <a:ea typeface="Cambria Math" panose="02040503050406030204" pitchFamily="18" charset="0"/>
            </a:rPr>
            <a:t>gcd</a:t>
          </a:r>
          <a:r>
            <a:rPr lang="en-US" sz="2800" i="0" dirty="0">
              <a:solidFill>
                <a:schemeClr val="tx1"/>
              </a:solidFill>
              <a:latin typeface="Cambria Math" panose="02040503050406030204" pitchFamily="18" charset="0"/>
              <a:ea typeface="Cambria Math" panose="02040503050406030204" pitchFamily="18" charset="0"/>
            </a:rPr>
            <a:t>(0, b) =  |b|</a:t>
          </a:r>
        </a:p>
        <a:p>
          <a:pPr algn="l"/>
          <a:r>
            <a:rPr lang="en-US" sz="2800" i="0" dirty="0" err="1">
              <a:solidFill>
                <a:srgbClr val="0000FF"/>
              </a:solidFill>
              <a:latin typeface="Cambria Math" panose="02040503050406030204" pitchFamily="18" charset="0"/>
              <a:ea typeface="Cambria Math" panose="02040503050406030204" pitchFamily="18" charset="0"/>
            </a:rPr>
            <a:t>gcd</a:t>
          </a:r>
          <a:r>
            <a:rPr lang="en-US" sz="2800" i="0" dirty="0">
              <a:solidFill>
                <a:srgbClr val="0000FF"/>
              </a:solidFill>
              <a:latin typeface="Cambria Math" panose="02040503050406030204" pitchFamily="18" charset="0"/>
              <a:ea typeface="Cambria Math" panose="02040503050406030204" pitchFamily="18" charset="0"/>
            </a:rPr>
            <a:t>(a, b) =  </a:t>
          </a:r>
          <a:r>
            <a:rPr lang="en-US" sz="2800" i="0" dirty="0" err="1">
              <a:solidFill>
                <a:srgbClr val="0000FF"/>
              </a:solidFill>
              <a:latin typeface="Cambria Math" panose="02040503050406030204" pitchFamily="18" charset="0"/>
              <a:ea typeface="Cambria Math" panose="02040503050406030204" pitchFamily="18" charset="0"/>
            </a:rPr>
            <a:t>gcd</a:t>
          </a:r>
          <a:r>
            <a:rPr lang="en-US" sz="2800" i="0" dirty="0">
              <a:solidFill>
                <a:srgbClr val="0000FF"/>
              </a:solidFill>
              <a:latin typeface="Cambria Math" panose="02040503050406030204" pitchFamily="18" charset="0"/>
              <a:ea typeface="Cambria Math" panose="02040503050406030204" pitchFamily="18" charset="0"/>
            </a:rPr>
            <a:t>(b, a mod b),      a&gt;b</a:t>
          </a:r>
        </a:p>
      </dgm:t>
    </dgm:pt>
    <dgm:pt modelId="{2851EF8D-52AA-3E4E-AC86-3CCB77577061}" type="parTrans" cxnId="{A2AC26A9-C494-A641-8F0D-740F34402D7D}">
      <dgm:prSet/>
      <dgm:spPr/>
      <dgm:t>
        <a:bodyPr/>
        <a:lstStyle/>
        <a:p>
          <a:endParaRPr lang="en-US" sz="3200">
            <a:solidFill>
              <a:schemeClr val="tx1"/>
            </a:solidFill>
          </a:endParaRPr>
        </a:p>
      </dgm:t>
    </dgm:pt>
    <dgm:pt modelId="{41CAD2B2-ECC0-3543-A481-A846B72869D0}" type="sibTrans" cxnId="{A2AC26A9-C494-A641-8F0D-740F34402D7D}">
      <dgm:prSet/>
      <dgm:spPr/>
      <dgm:t>
        <a:bodyPr/>
        <a:lstStyle/>
        <a:p>
          <a:endParaRPr lang="en-US" sz="3200">
            <a:solidFill>
              <a:schemeClr val="tx1"/>
            </a:solidFill>
          </a:endParaRPr>
        </a:p>
      </dgm:t>
    </dgm:pt>
    <dgm:pt modelId="{1F85FE15-0DD2-0943-8E72-FF83FF050C4E}" type="pres">
      <dgm:prSet presAssocID="{0BBA4C2C-5DED-3940-9699-838D93932BEA}" presName="Name0" presStyleCnt="0">
        <dgm:presLayoutVars>
          <dgm:dir/>
          <dgm:resizeHandles val="exact"/>
        </dgm:presLayoutVars>
      </dgm:prSet>
      <dgm:spPr/>
    </dgm:pt>
    <dgm:pt modelId="{C042C814-BA0C-E44F-80E9-1EE4C22CA83D}" type="pres">
      <dgm:prSet presAssocID="{196F0884-153E-4B43-BCC3-D931BABB15D5}" presName="parTxOnly" presStyleLbl="node1" presStyleIdx="0" presStyleCnt="2" custScaleX="81693" custLinFactNeighborX="-1310" custLinFactNeighborY="-15060">
        <dgm:presLayoutVars>
          <dgm:bulletEnabled val="1"/>
        </dgm:presLayoutVars>
      </dgm:prSet>
      <dgm:spPr/>
    </dgm:pt>
    <dgm:pt modelId="{9302BE9F-4EE8-E548-9001-74D777CAA615}" type="pres">
      <dgm:prSet presAssocID="{6E4EF3C9-7164-0E4E-8F70-0988B503B8B2}" presName="parSpace" presStyleCnt="0"/>
      <dgm:spPr/>
    </dgm:pt>
    <dgm:pt modelId="{878896BA-557A-5049-8A92-AC0CF143522C}" type="pres">
      <dgm:prSet presAssocID="{538601FA-003E-1F40-9A11-315274D31737}" presName="parTxOnly" presStyleLbl="node1" presStyleIdx="1" presStyleCnt="2">
        <dgm:presLayoutVars>
          <dgm:bulletEnabled val="1"/>
        </dgm:presLayoutVars>
      </dgm:prSet>
      <dgm:spPr/>
    </dgm:pt>
  </dgm:ptLst>
  <dgm:cxnLst>
    <dgm:cxn modelId="{A578433D-6FD0-B344-93B8-303015F7B420}" type="presOf" srcId="{196F0884-153E-4B43-BCC3-D931BABB15D5}" destId="{C042C814-BA0C-E44F-80E9-1EE4C22CA83D}" srcOrd="0" destOrd="0" presId="urn:microsoft.com/office/officeart/2005/8/layout/hChevron3"/>
    <dgm:cxn modelId="{7006D361-43DA-AD45-BDBB-E592BDBA1660}" srcId="{0BBA4C2C-5DED-3940-9699-838D93932BEA}" destId="{196F0884-153E-4B43-BCC3-D931BABB15D5}" srcOrd="0" destOrd="0" parTransId="{DD8E6762-39CD-D84B-A71B-F62CCDAD0349}" sibTransId="{6E4EF3C9-7164-0E4E-8F70-0988B503B8B2}"/>
    <dgm:cxn modelId="{D57C2271-B076-E947-A3A9-8C9476D1F3A0}" type="presOf" srcId="{538601FA-003E-1F40-9A11-315274D31737}" destId="{878896BA-557A-5049-8A92-AC0CF143522C}" srcOrd="0" destOrd="0" presId="urn:microsoft.com/office/officeart/2005/8/layout/hChevron3"/>
    <dgm:cxn modelId="{CDC30F95-3841-174D-B071-C58CFE83A16E}" type="presOf" srcId="{0BBA4C2C-5DED-3940-9699-838D93932BEA}" destId="{1F85FE15-0DD2-0943-8E72-FF83FF050C4E}" srcOrd="0" destOrd="0" presId="urn:microsoft.com/office/officeart/2005/8/layout/hChevron3"/>
    <dgm:cxn modelId="{A2AC26A9-C494-A641-8F0D-740F34402D7D}" srcId="{0BBA4C2C-5DED-3940-9699-838D93932BEA}" destId="{538601FA-003E-1F40-9A11-315274D31737}" srcOrd="1" destOrd="0" parTransId="{2851EF8D-52AA-3E4E-AC86-3CCB77577061}" sibTransId="{41CAD2B2-ECC0-3543-A481-A846B72869D0}"/>
    <dgm:cxn modelId="{01F579A9-C93E-B649-B22F-86B461B839E9}" type="presParOf" srcId="{1F85FE15-0DD2-0943-8E72-FF83FF050C4E}" destId="{C042C814-BA0C-E44F-80E9-1EE4C22CA83D}" srcOrd="0" destOrd="0" presId="urn:microsoft.com/office/officeart/2005/8/layout/hChevron3"/>
    <dgm:cxn modelId="{CAB0CD16-1E8B-0542-A661-CCB19C0CDF90}" type="presParOf" srcId="{1F85FE15-0DD2-0943-8E72-FF83FF050C4E}" destId="{9302BE9F-4EE8-E548-9001-74D777CAA615}" srcOrd="1" destOrd="0" presId="urn:microsoft.com/office/officeart/2005/8/layout/hChevron3"/>
    <dgm:cxn modelId="{CFC8EC15-8F28-FD49-8397-DFE7FE4A5934}" type="presParOf" srcId="{1F85FE15-0DD2-0943-8E72-FF83FF050C4E}" destId="{878896BA-557A-5049-8A92-AC0CF143522C}" srcOrd="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3939AFC-B808-CB45-97A2-FD8A75A7F129}" type="doc">
      <dgm:prSet loTypeId="urn:microsoft.com/office/officeart/2005/8/layout/vProcess5" loCatId="" qsTypeId="urn:microsoft.com/office/officeart/2005/8/quickstyle/simple1" qsCatId="simple" csTypeId="urn:microsoft.com/office/officeart/2005/8/colors/colorful1" csCatId="colorful" phldr="1"/>
      <dgm:spPr/>
    </dgm:pt>
    <mc:AlternateContent xmlns:mc="http://schemas.openxmlformats.org/markup-compatibility/2006" xmlns:a14="http://schemas.microsoft.com/office/drawing/2010/main">
      <mc:Choice Requires="a14">
        <dgm:pt modelId="{826D3D10-3249-DC43-8F58-FF04E0B25A28}">
          <dgm:prSet phldrT="[Text]" custT="1"/>
          <dgm:spPr>
            <a:solidFill>
              <a:schemeClr val="accent4">
                <a:lumMod val="20000"/>
                <a:lumOff val="80000"/>
              </a:schemeClr>
            </a:solidFill>
          </dgm:spPr>
          <dgm:t>
            <a:bodyPr/>
            <a:lstStyle/>
            <a:p>
              <a:r>
                <a:rPr lang="en-US" sz="2800" dirty="0">
                  <a:solidFill>
                    <a:schemeClr val="tx1"/>
                  </a:solidFill>
                  <a:latin typeface="+mj-lt"/>
                </a:rPr>
                <a:t>Let </a:t>
              </a:r>
              <a14:m>
                <m:oMath xmlns:m="http://schemas.openxmlformats.org/officeDocument/2006/math">
                  <m:r>
                    <a:rPr lang="en-US" sz="2800" b="0" i="1" smtClean="0">
                      <a:solidFill>
                        <a:schemeClr val="tx1"/>
                      </a:solidFill>
                      <a:latin typeface="Cambria Math" panose="02040503050406030204" pitchFamily="18" charset="0"/>
                    </a:rPr>
                    <m:t>𝑁</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𝑝𝑞</m:t>
                  </m:r>
                </m:oMath>
              </a14:m>
              <a:r>
                <a:rPr lang="en-US" sz="2800" dirty="0">
                  <a:solidFill>
                    <a:schemeClr val="tx1"/>
                  </a:solidFill>
                  <a:latin typeface="+mj-lt"/>
                </a:rPr>
                <a:t>  where </a:t>
              </a:r>
              <a14:m>
                <m:oMath xmlns:m="http://schemas.openxmlformats.org/officeDocument/2006/math">
                  <m:r>
                    <a:rPr lang="en-US" sz="2800" b="0" i="1" smtClean="0">
                      <a:solidFill>
                        <a:schemeClr val="tx1"/>
                      </a:solidFill>
                      <a:latin typeface="Cambria Math" panose="02040503050406030204" pitchFamily="18" charset="0"/>
                    </a:rPr>
                    <m:t>𝑝</m:t>
                  </m:r>
                </m:oMath>
              </a14:m>
              <a:r>
                <a:rPr lang="en-US" sz="2800" dirty="0">
                  <a:solidFill>
                    <a:schemeClr val="tx1"/>
                  </a:solidFill>
                  <a:latin typeface="+mj-lt"/>
                </a:rPr>
                <a:t> and </a:t>
              </a:r>
              <a14:m>
                <m:oMath xmlns:m="http://schemas.openxmlformats.org/officeDocument/2006/math">
                  <m:r>
                    <a:rPr lang="en-US" sz="2800" b="0" i="1" smtClean="0">
                      <a:solidFill>
                        <a:schemeClr val="tx1"/>
                      </a:solidFill>
                      <a:latin typeface="Cambria Math" panose="02040503050406030204" pitchFamily="18" charset="0"/>
                    </a:rPr>
                    <m:t>𝑞</m:t>
                  </m:r>
                </m:oMath>
              </a14:m>
              <a:r>
                <a:rPr lang="en-US" sz="2800" dirty="0">
                  <a:solidFill>
                    <a:schemeClr val="tx1"/>
                  </a:solidFill>
                  <a:latin typeface="+mj-lt"/>
                </a:rPr>
                <a:t> are prime numbers.</a:t>
              </a:r>
            </a:p>
          </dgm:t>
        </dgm:pt>
      </mc:Choice>
      <mc:Fallback xmlns="">
        <dgm:pt modelId="{826D3D10-3249-DC43-8F58-FF04E0B25A28}">
          <dgm:prSet phldrT="[Text]" custT="1"/>
          <dgm:spPr>
            <a:solidFill>
              <a:schemeClr val="accent4">
                <a:lumMod val="20000"/>
                <a:lumOff val="80000"/>
              </a:schemeClr>
            </a:solidFill>
          </dgm:spPr>
          <dgm:t>
            <a:bodyPr/>
            <a:lstStyle/>
            <a:p>
              <a:r>
                <a:rPr lang="en-US" sz="2800" dirty="0">
                  <a:solidFill>
                    <a:schemeClr val="tx1"/>
                  </a:solidFill>
                  <a:latin typeface="+mj-lt"/>
                </a:rPr>
                <a:t>Let </a:t>
              </a:r>
              <a:r>
                <a:rPr lang="en-US" sz="2800" b="0" i="0">
                  <a:solidFill>
                    <a:schemeClr val="tx1"/>
                  </a:solidFill>
                  <a:latin typeface="+mj-lt"/>
                </a:rPr>
                <a:t>𝑁=𝑝𝑞</a:t>
              </a:r>
              <a:r>
                <a:rPr lang="en-US" sz="2800" dirty="0">
                  <a:solidFill>
                    <a:schemeClr val="tx1"/>
                  </a:solidFill>
                  <a:latin typeface="+mj-lt"/>
                </a:rPr>
                <a:t>  where </a:t>
              </a:r>
              <a:r>
                <a:rPr lang="en-US" sz="2800" b="0" i="0">
                  <a:solidFill>
                    <a:schemeClr val="tx1"/>
                  </a:solidFill>
                  <a:latin typeface="+mj-lt"/>
                </a:rPr>
                <a:t>𝑝</a:t>
              </a:r>
              <a:r>
                <a:rPr lang="en-US" sz="2800" dirty="0">
                  <a:solidFill>
                    <a:schemeClr val="tx1"/>
                  </a:solidFill>
                  <a:latin typeface="+mj-lt"/>
                </a:rPr>
                <a:t> and </a:t>
              </a:r>
              <a:r>
                <a:rPr lang="en-US" sz="2800" b="0" i="0">
                  <a:solidFill>
                    <a:schemeClr val="tx1"/>
                  </a:solidFill>
                  <a:latin typeface="+mj-lt"/>
                </a:rPr>
                <a:t>𝑞</a:t>
              </a:r>
              <a:r>
                <a:rPr lang="en-US" sz="2800" dirty="0">
                  <a:solidFill>
                    <a:schemeClr val="tx1"/>
                  </a:solidFill>
                  <a:latin typeface="+mj-lt"/>
                </a:rPr>
                <a:t> are prime numbers.</a:t>
              </a:r>
            </a:p>
          </dgm:t>
        </dgm:pt>
      </mc:Fallback>
    </mc:AlternateContent>
    <dgm:pt modelId="{0A944B0C-C50C-2A47-8F85-0813BD523CAB}" type="parTrans" cxnId="{96A580D2-C32D-E043-B83F-26D8A072029E}">
      <dgm:prSet/>
      <dgm:spPr/>
      <dgm:t>
        <a:bodyPr/>
        <a:lstStyle/>
        <a:p>
          <a:endParaRPr lang="en-US" sz="2400">
            <a:solidFill>
              <a:schemeClr val="tx1"/>
            </a:solidFill>
            <a:latin typeface="+mj-lt"/>
          </a:endParaRPr>
        </a:p>
      </dgm:t>
    </dgm:pt>
    <dgm:pt modelId="{720E4A5A-409A-354D-8898-242222479325}" type="sibTrans" cxnId="{96A580D2-C32D-E043-B83F-26D8A072029E}">
      <dgm:prSet custT="1"/>
      <dgm:spPr/>
      <dgm:t>
        <a:bodyPr/>
        <a:lstStyle/>
        <a:p>
          <a:endParaRPr lang="en-US" sz="2400">
            <a:solidFill>
              <a:schemeClr val="tx1"/>
            </a:solidFill>
            <a:latin typeface="+mj-lt"/>
          </a:endParaRPr>
        </a:p>
      </dgm:t>
    </dgm:pt>
    <mc:AlternateContent xmlns:mc="http://schemas.openxmlformats.org/markup-compatibility/2006" xmlns:a14="http://schemas.microsoft.com/office/drawing/2010/main">
      <mc:Choice Requires="a14">
        <dgm:pt modelId="{E6BCB12E-7525-AC4F-AC6A-43699781DE7B}">
          <dgm:prSet phldrT="[Text]" custT="1"/>
          <dgm:spPr>
            <a:solidFill>
              <a:schemeClr val="bg1">
                <a:lumMod val="95000"/>
              </a:schemeClr>
            </a:solidFill>
          </dgm:spPr>
          <dgm:t>
            <a:bodyPr/>
            <a:lstStyle/>
            <a:p>
              <a:r>
                <a:rPr lang="en-US" sz="2800" b="0" dirty="0">
                  <a:solidFill>
                    <a:schemeClr val="tx1"/>
                  </a:solidFill>
                  <a:latin typeface="+mj-lt"/>
                </a:rPr>
                <a:t>If </a:t>
              </a:r>
              <a14:m>
                <m:oMath xmlns:m="http://schemas.openxmlformats.org/officeDocument/2006/math">
                  <m:r>
                    <a:rPr lang="en-US" sz="2800" b="0" i="1" smtClean="0">
                      <a:solidFill>
                        <a:schemeClr val="tx1"/>
                      </a:solidFill>
                      <a:latin typeface="Cambria Math" panose="02040503050406030204" pitchFamily="18" charset="0"/>
                    </a:rPr>
                    <m:t>𝑧</m:t>
                  </m:r>
                </m:oMath>
              </a14:m>
              <a:r>
                <a:rPr lang="en-US" sz="2800" b="0" dirty="0">
                  <a:solidFill>
                    <a:schemeClr val="tx1"/>
                  </a:solidFill>
                  <a:latin typeface="+mj-lt"/>
                </a:rPr>
                <a:t> shares a nontrivial factor with </a:t>
              </a:r>
              <a14:m>
                <m:oMath xmlns:m="http://schemas.openxmlformats.org/officeDocument/2006/math">
                  <m:r>
                    <a:rPr lang="en-US" sz="2800" b="0" i="1" smtClean="0">
                      <a:solidFill>
                        <a:schemeClr val="tx1"/>
                      </a:solidFill>
                      <a:latin typeface="Cambria Math" panose="02040503050406030204" pitchFamily="18" charset="0"/>
                    </a:rPr>
                    <m:t>𝑁</m:t>
                  </m:r>
                </m:oMath>
              </a14:m>
              <a:r>
                <a:rPr lang="en-US" sz="2800" b="0" dirty="0">
                  <a:solidFill>
                    <a:schemeClr val="tx1"/>
                  </a:solidFill>
                  <a:latin typeface="+mj-lt"/>
                </a:rPr>
                <a:t>, then </a:t>
              </a:r>
              <a14:m>
                <m:oMath xmlns:m="http://schemas.openxmlformats.org/officeDocument/2006/math">
                  <m:r>
                    <a:rPr lang="en-US" sz="2800" b="0" i="1" smtClean="0">
                      <a:solidFill>
                        <a:schemeClr val="tx1"/>
                      </a:solidFill>
                      <a:latin typeface="Cambria Math" panose="02040503050406030204" pitchFamily="18" charset="0"/>
                    </a:rPr>
                    <m:t>𝑔𝑐𝑑</m:t>
                  </m:r>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𝑧</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𝑁</m:t>
                      </m:r>
                    </m:e>
                  </m:d>
                </m:oMath>
              </a14:m>
              <a:r>
                <a:rPr lang="en-US" sz="2800" b="0" dirty="0">
                  <a:solidFill>
                    <a:schemeClr val="tx1"/>
                  </a:solidFill>
                  <a:latin typeface="+mj-lt"/>
                </a:rPr>
                <a:t> can reveal </a:t>
              </a:r>
              <a14:m>
                <m:oMath xmlns:m="http://schemas.openxmlformats.org/officeDocument/2006/math">
                  <m:r>
                    <a:rPr lang="en-US" sz="2800" b="0" i="1" smtClean="0">
                      <a:solidFill>
                        <a:schemeClr val="tx1"/>
                      </a:solidFill>
                      <a:latin typeface="Cambria Math" panose="02040503050406030204" pitchFamily="18" charset="0"/>
                    </a:rPr>
                    <m:t>𝑝</m:t>
                  </m:r>
                </m:oMath>
              </a14:m>
              <a:r>
                <a:rPr lang="en-US" sz="2800" b="0" dirty="0">
                  <a:solidFill>
                    <a:schemeClr val="tx1"/>
                  </a:solidFill>
                  <a:latin typeface="+mj-lt"/>
                </a:rPr>
                <a:t> or </a:t>
              </a:r>
              <a14:m>
                <m:oMath xmlns:m="http://schemas.openxmlformats.org/officeDocument/2006/math">
                  <m:r>
                    <a:rPr lang="en-US" sz="2800" b="0" i="1" smtClean="0">
                      <a:solidFill>
                        <a:schemeClr val="tx1"/>
                      </a:solidFill>
                      <a:latin typeface="Cambria Math" panose="02040503050406030204" pitchFamily="18" charset="0"/>
                    </a:rPr>
                    <m:t>𝑞</m:t>
                  </m:r>
                </m:oMath>
              </a14:m>
              <a:r>
                <a:rPr lang="en-US" sz="2800" b="0" dirty="0">
                  <a:solidFill>
                    <a:schemeClr val="tx1"/>
                  </a:solidFill>
                  <a:latin typeface="+mj-lt"/>
                </a:rPr>
                <a:t>.</a:t>
              </a:r>
            </a:p>
          </dgm:t>
        </dgm:pt>
      </mc:Choice>
      <mc:Fallback xmlns="">
        <dgm:pt modelId="{E6BCB12E-7525-AC4F-AC6A-43699781DE7B}">
          <dgm:prSet phldrT="[Text]" custT="1"/>
          <dgm:spPr>
            <a:solidFill>
              <a:schemeClr val="bg1">
                <a:lumMod val="95000"/>
              </a:schemeClr>
            </a:solidFill>
          </dgm:spPr>
          <dgm:t>
            <a:bodyPr/>
            <a:lstStyle/>
            <a:p>
              <a:r>
                <a:rPr lang="en-US" sz="2800" b="0" dirty="0">
                  <a:solidFill>
                    <a:schemeClr val="tx1"/>
                  </a:solidFill>
                  <a:latin typeface="+mj-lt"/>
                </a:rPr>
                <a:t>If </a:t>
              </a:r>
              <a:r>
                <a:rPr lang="en-US" sz="2800" b="0" i="0">
                  <a:solidFill>
                    <a:schemeClr val="tx1"/>
                  </a:solidFill>
                  <a:latin typeface="+mj-lt"/>
                </a:rPr>
                <a:t>𝑧</a:t>
              </a:r>
              <a:r>
                <a:rPr lang="en-US" sz="2800" b="0" dirty="0">
                  <a:solidFill>
                    <a:schemeClr val="tx1"/>
                  </a:solidFill>
                  <a:latin typeface="+mj-lt"/>
                </a:rPr>
                <a:t> shares a nontrivial factor with </a:t>
              </a:r>
              <a:r>
                <a:rPr lang="en-US" sz="2800" b="0" i="0">
                  <a:solidFill>
                    <a:schemeClr val="tx1"/>
                  </a:solidFill>
                  <a:latin typeface="+mj-lt"/>
                </a:rPr>
                <a:t>𝑁</a:t>
              </a:r>
              <a:r>
                <a:rPr lang="en-US" sz="2800" b="0" dirty="0">
                  <a:solidFill>
                    <a:schemeClr val="tx1"/>
                  </a:solidFill>
                  <a:latin typeface="+mj-lt"/>
                </a:rPr>
                <a:t>, then </a:t>
              </a:r>
              <a:r>
                <a:rPr lang="en-US" sz="2800" b="0" i="0">
                  <a:solidFill>
                    <a:schemeClr val="tx1"/>
                  </a:solidFill>
                  <a:latin typeface="+mj-lt"/>
                </a:rPr>
                <a:t>𝑔𝑐𝑑(𝑧,𝑁)</a:t>
              </a:r>
              <a:r>
                <a:rPr lang="en-US" sz="2800" b="0" dirty="0">
                  <a:solidFill>
                    <a:schemeClr val="tx1"/>
                  </a:solidFill>
                  <a:latin typeface="+mj-lt"/>
                </a:rPr>
                <a:t> can reveal </a:t>
              </a:r>
              <a:r>
                <a:rPr lang="en-US" sz="2800" b="0" i="0">
                  <a:solidFill>
                    <a:schemeClr val="tx1"/>
                  </a:solidFill>
                  <a:latin typeface="+mj-lt"/>
                </a:rPr>
                <a:t>𝑝</a:t>
              </a:r>
              <a:r>
                <a:rPr lang="en-US" sz="2800" b="0" dirty="0">
                  <a:solidFill>
                    <a:schemeClr val="tx1"/>
                  </a:solidFill>
                  <a:latin typeface="+mj-lt"/>
                </a:rPr>
                <a:t> or </a:t>
              </a:r>
              <a:r>
                <a:rPr lang="en-US" sz="2800" b="0" i="0">
                  <a:solidFill>
                    <a:schemeClr val="tx1"/>
                  </a:solidFill>
                  <a:latin typeface="+mj-lt"/>
                </a:rPr>
                <a:t>𝑞</a:t>
              </a:r>
              <a:r>
                <a:rPr lang="en-US" sz="2800" b="0" dirty="0">
                  <a:solidFill>
                    <a:schemeClr val="tx1"/>
                  </a:solidFill>
                  <a:latin typeface="+mj-lt"/>
                </a:rPr>
                <a:t>.</a:t>
              </a:r>
            </a:p>
          </dgm:t>
        </dgm:pt>
      </mc:Fallback>
    </mc:AlternateContent>
    <dgm:pt modelId="{C735E750-E216-B446-A84F-991EBA4F4CF0}" type="parTrans" cxnId="{B20046A8-07A9-8D4A-962B-53DE402E21EF}">
      <dgm:prSet/>
      <dgm:spPr/>
      <dgm:t>
        <a:bodyPr/>
        <a:lstStyle/>
        <a:p>
          <a:endParaRPr lang="en-US" sz="2400">
            <a:solidFill>
              <a:schemeClr val="tx1"/>
            </a:solidFill>
            <a:latin typeface="+mj-lt"/>
          </a:endParaRPr>
        </a:p>
      </dgm:t>
    </dgm:pt>
    <dgm:pt modelId="{92F0C86C-B933-204A-8644-2A5EC83DA1CC}" type="sibTrans" cxnId="{B20046A8-07A9-8D4A-962B-53DE402E21EF}">
      <dgm:prSet custT="1"/>
      <dgm:spPr/>
      <dgm:t>
        <a:bodyPr/>
        <a:lstStyle/>
        <a:p>
          <a:endParaRPr lang="en-US" sz="2400">
            <a:solidFill>
              <a:schemeClr val="tx1"/>
            </a:solidFill>
            <a:latin typeface="+mj-lt"/>
          </a:endParaRPr>
        </a:p>
      </dgm:t>
    </dgm:pt>
    <mc:AlternateContent xmlns:mc="http://schemas.openxmlformats.org/markup-compatibility/2006" xmlns:a14="http://schemas.microsoft.com/office/drawing/2010/main">
      <mc:Choice Requires="a14">
        <dgm:pt modelId="{BBB1A04C-2494-7447-B82B-8B4CA95170FB}">
          <dgm:prSet custT="1"/>
          <dgm:spPr>
            <a:solidFill>
              <a:schemeClr val="accent5">
                <a:lumMod val="20000"/>
                <a:lumOff val="80000"/>
              </a:schemeClr>
            </a:solidFill>
          </dgm:spPr>
          <dgm:t>
            <a:bodyPr/>
            <a:lstStyle/>
            <a:p>
              <a:r>
                <a:rPr lang="en-US" sz="2800" dirty="0">
                  <a:solidFill>
                    <a:schemeClr val="tx1"/>
                  </a:solidFill>
                  <a:latin typeface="+mj-lt"/>
                </a:rPr>
                <a:t>Therefore, factoring </a:t>
              </a:r>
              <a14:m>
                <m:oMath xmlns:m="http://schemas.openxmlformats.org/officeDocument/2006/math">
                  <m:r>
                    <a:rPr lang="en-US" sz="2800" b="0" i="1" smtClean="0">
                      <a:solidFill>
                        <a:schemeClr val="tx1"/>
                      </a:solidFill>
                      <a:latin typeface="Cambria Math" panose="02040503050406030204" pitchFamily="18" charset="0"/>
                    </a:rPr>
                    <m:t>𝑁</m:t>
                  </m:r>
                </m:oMath>
              </a14:m>
              <a:r>
                <a:rPr lang="en-US" sz="2800" dirty="0">
                  <a:solidFill>
                    <a:schemeClr val="tx1"/>
                  </a:solidFill>
                  <a:latin typeface="+mj-lt"/>
                </a:rPr>
                <a:t> is reduced to the problem of finding the period </a:t>
              </a:r>
              <a14:m>
                <m:oMath xmlns:m="http://schemas.openxmlformats.org/officeDocument/2006/math">
                  <m:r>
                    <a:rPr lang="en-US" sz="2800" b="0" i="1" smtClean="0">
                      <a:solidFill>
                        <a:schemeClr val="tx1"/>
                      </a:solidFill>
                      <a:latin typeface="Cambria Math" panose="02040503050406030204" pitchFamily="18" charset="0"/>
                    </a:rPr>
                    <m:t>𝑟</m:t>
                  </m:r>
                </m:oMath>
              </a14:m>
              <a:endParaRPr lang="en-US" sz="2800" dirty="0">
                <a:solidFill>
                  <a:schemeClr val="tx1"/>
                </a:solidFill>
                <a:latin typeface="+mj-lt"/>
              </a:endParaRPr>
            </a:p>
          </dgm:t>
        </dgm:pt>
      </mc:Choice>
      <mc:Fallback xmlns="">
        <dgm:pt modelId="{BBB1A04C-2494-7447-B82B-8B4CA95170FB}">
          <dgm:prSet custT="1"/>
          <dgm:spPr>
            <a:solidFill>
              <a:schemeClr val="accent5">
                <a:lumMod val="20000"/>
                <a:lumOff val="80000"/>
              </a:schemeClr>
            </a:solidFill>
          </dgm:spPr>
          <dgm:t>
            <a:bodyPr/>
            <a:lstStyle/>
            <a:p>
              <a:r>
                <a:rPr lang="en-US" sz="2800" dirty="0">
                  <a:solidFill>
                    <a:schemeClr val="tx1"/>
                  </a:solidFill>
                  <a:latin typeface="+mj-lt"/>
                </a:rPr>
                <a:t>Therefore, factoring </a:t>
              </a:r>
              <a:r>
                <a:rPr lang="en-US" sz="2800" b="0" i="0">
                  <a:solidFill>
                    <a:schemeClr val="tx1"/>
                  </a:solidFill>
                  <a:latin typeface="Cambria Math" panose="02040503050406030204" pitchFamily="18" charset="0"/>
                </a:rPr>
                <a:t>𝑁</a:t>
              </a:r>
              <a:r>
                <a:rPr lang="en-US" sz="2800" dirty="0">
                  <a:solidFill>
                    <a:schemeClr val="tx1"/>
                  </a:solidFill>
                  <a:latin typeface="+mj-lt"/>
                </a:rPr>
                <a:t> is reduced to the problem of finding the period </a:t>
              </a:r>
              <a:r>
                <a:rPr lang="en-US" sz="2800" b="0" i="0">
                  <a:solidFill>
                    <a:schemeClr val="tx1"/>
                  </a:solidFill>
                  <a:latin typeface="Cambria Math" panose="02040503050406030204" pitchFamily="18" charset="0"/>
                </a:rPr>
                <a:t>𝑟</a:t>
              </a:r>
              <a:endParaRPr lang="en-US" sz="2800" dirty="0">
                <a:solidFill>
                  <a:schemeClr val="tx1"/>
                </a:solidFill>
                <a:latin typeface="+mj-lt"/>
              </a:endParaRPr>
            </a:p>
          </dgm:t>
        </dgm:pt>
      </mc:Fallback>
    </mc:AlternateContent>
    <dgm:pt modelId="{9F45E791-E448-554D-A273-B3DA6921BB56}" type="parTrans" cxnId="{E4B92C6C-8893-2849-AE70-302DB9D03B22}">
      <dgm:prSet/>
      <dgm:spPr/>
      <dgm:t>
        <a:bodyPr/>
        <a:lstStyle/>
        <a:p>
          <a:endParaRPr lang="en-US" sz="2400">
            <a:solidFill>
              <a:schemeClr val="tx1"/>
            </a:solidFill>
            <a:latin typeface="+mj-lt"/>
          </a:endParaRPr>
        </a:p>
      </dgm:t>
    </dgm:pt>
    <dgm:pt modelId="{57F24458-FC49-2545-B604-CC110F479487}" type="sibTrans" cxnId="{E4B92C6C-8893-2849-AE70-302DB9D03B22}">
      <dgm:prSet/>
      <dgm:spPr/>
      <dgm:t>
        <a:bodyPr/>
        <a:lstStyle/>
        <a:p>
          <a:endParaRPr lang="en-US" sz="2400">
            <a:solidFill>
              <a:schemeClr val="tx1"/>
            </a:solidFill>
            <a:latin typeface="+mj-lt"/>
          </a:endParaRPr>
        </a:p>
      </dgm:t>
    </dgm:pt>
    <mc:AlternateContent xmlns:mc="http://schemas.openxmlformats.org/markup-compatibility/2006" xmlns:a14="http://schemas.microsoft.com/office/drawing/2010/main">
      <mc:Choice Requires="a14">
        <dgm:pt modelId="{D8272584-1761-694F-9645-92867D404B0A}">
          <dgm:prSet custT="1"/>
          <dgm:spPr>
            <a:solidFill>
              <a:schemeClr val="accent6">
                <a:lumMod val="20000"/>
                <a:lumOff val="80000"/>
              </a:schemeClr>
            </a:solidFill>
          </dgm:spPr>
          <dgm:t>
            <a:bodyPr/>
            <a:lstStyle/>
            <a:p>
              <a:r>
                <a:rPr lang="en-US" sz="2800" dirty="0">
                  <a:solidFill>
                    <a:schemeClr val="tx1"/>
                  </a:solidFill>
                  <a:latin typeface="+mj-lt"/>
                </a:rPr>
                <a:t>Shor constructs such numbers as  </a:t>
              </a:r>
              <a14:m>
                <m:oMath xmlns:m="http://schemas.openxmlformats.org/officeDocument/2006/math">
                  <m:r>
                    <a:rPr lang="en-US" sz="2800" b="0" i="1" smtClean="0">
                      <a:solidFill>
                        <a:schemeClr val="tx1"/>
                      </a:solidFill>
                      <a:latin typeface="Cambria Math" panose="02040503050406030204" pitchFamily="18" charset="0"/>
                    </a:rPr>
                    <m:t>𝑧</m:t>
                  </m:r>
                  <m:r>
                    <a:rPr lang="en-US" sz="2800" b="0" i="1" smtClean="0">
                      <a:solidFill>
                        <a:schemeClr val="tx1"/>
                      </a:solidFill>
                      <a:latin typeface="Cambria Math" panose="02040503050406030204" pitchFamily="18" charset="0"/>
                    </a:rPr>
                    <m:t>=</m:t>
                  </m:r>
                  <m:sSup>
                    <m:sSupPr>
                      <m:ctrlPr>
                        <a:rPr lang="en-US" sz="2800" i="1" smtClean="0">
                          <a:solidFill>
                            <a:schemeClr val="tx1"/>
                          </a:solidFill>
                          <a:latin typeface="Cambria Math" panose="02040503050406030204" pitchFamily="18" charset="0"/>
                        </a:rPr>
                      </m:ctrlPr>
                    </m:sSupPr>
                    <m:e>
                      <m:r>
                        <a:rPr lang="en-US" sz="2800" i="1">
                          <a:solidFill>
                            <a:schemeClr val="tx1"/>
                          </a:solidFill>
                          <a:latin typeface="Cambria Math" panose="02040503050406030204" pitchFamily="18" charset="0"/>
                        </a:rPr>
                        <m:t>𝑎</m:t>
                      </m:r>
                    </m:e>
                    <m:sup>
                      <m:r>
                        <a:rPr lang="en-US" sz="2800" i="1">
                          <a:solidFill>
                            <a:schemeClr val="tx1"/>
                          </a:solidFill>
                          <a:latin typeface="Cambria Math" panose="02040503050406030204" pitchFamily="18" charset="0"/>
                        </a:rPr>
                        <m:t>𝑟</m:t>
                      </m:r>
                      <m:r>
                        <a:rPr lang="en-US" sz="2800" b="0" i="1" smtClean="0">
                          <a:solidFill>
                            <a:schemeClr val="tx1"/>
                          </a:solidFill>
                          <a:latin typeface="Cambria Math" panose="02040503050406030204" pitchFamily="18" charset="0"/>
                        </a:rPr>
                        <m:t>/2</m:t>
                      </m:r>
                    </m:sup>
                  </m:sSup>
                  <m:r>
                    <a:rPr lang="en-US" sz="280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1</m:t>
                  </m:r>
                </m:oMath>
              </a14:m>
              <a:r>
                <a:rPr lang="en-US" sz="2800" b="0" i="1" dirty="0">
                  <a:solidFill>
                    <a:schemeClr val="tx1"/>
                  </a:solidFill>
                  <a:latin typeface="+mj-lt"/>
                </a:rPr>
                <a:t> </a:t>
              </a:r>
              <a:r>
                <a:rPr lang="en-US" sz="2800" b="0" i="0" dirty="0">
                  <a:solidFill>
                    <a:schemeClr val="tx1"/>
                  </a:solidFill>
                  <a:latin typeface="+mj-lt"/>
                </a:rPr>
                <a:t>where</a:t>
              </a:r>
              <a:br>
                <a:rPr lang="en-US" sz="2800" b="0" i="1" dirty="0">
                  <a:solidFill>
                    <a:schemeClr val="tx1"/>
                  </a:solidFill>
                  <a:latin typeface="+mj-lt"/>
                </a:rPr>
              </a:br>
              <a14:m>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  ∎</m:t>
                  </m:r>
                  <m:r>
                    <a:rPr lang="en-US" sz="2800" b="0" i="1"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𝑎</m:t>
                  </m:r>
                  <m:r>
                    <a:rPr lang="en-US" sz="2800" b="0" i="1" smtClean="0">
                      <a:solidFill>
                        <a:schemeClr val="tx1"/>
                      </a:solidFill>
                      <a:latin typeface="Cambria Math" panose="02040503050406030204" pitchFamily="18" charset="0"/>
                    </a:rPr>
                    <m:t>&lt;</m:t>
                  </m:r>
                  <m:r>
                    <a:rPr lang="en-US" sz="2800" b="0" i="1" smtClean="0">
                      <a:solidFill>
                        <a:schemeClr val="tx1"/>
                      </a:solidFill>
                      <a:latin typeface="Cambria Math" panose="02040503050406030204" pitchFamily="18" charset="0"/>
                    </a:rPr>
                    <m:t>𝑁</m:t>
                  </m:r>
                </m:oMath>
              </a14:m>
              <a:r>
                <a:rPr lang="en-US" sz="2800" dirty="0">
                  <a:solidFill>
                    <a:schemeClr val="tx1"/>
                  </a:solidFill>
                  <a:latin typeface="+mj-lt"/>
                </a:rPr>
                <a:t> is a random integer, such that </a:t>
              </a:r>
              <a14:m>
                <m:oMath xmlns:m="http://schemas.openxmlformats.org/officeDocument/2006/math">
                  <m:r>
                    <m:rPr>
                      <m:sty m:val="p"/>
                    </m:rPr>
                    <a:rPr lang="en-US" sz="2800" b="0" i="0" smtClean="0">
                      <a:solidFill>
                        <a:schemeClr val="tx1"/>
                      </a:solidFill>
                      <a:latin typeface="Cambria Math" panose="02040503050406030204" pitchFamily="18" charset="0"/>
                    </a:rPr>
                    <m:t>gcd</m:t>
                  </m:r>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𝑎</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𝑁</m:t>
                      </m:r>
                    </m:e>
                  </m:d>
                  <m:r>
                    <a:rPr lang="en-US" sz="2800" b="0" i="1" smtClean="0">
                      <a:solidFill>
                        <a:schemeClr val="tx1"/>
                      </a:solidFill>
                      <a:latin typeface="Cambria Math" panose="02040503050406030204" pitchFamily="18" charset="0"/>
                    </a:rPr>
                    <m:t>=1</m:t>
                  </m:r>
                </m:oMath>
              </a14:m>
              <a:r>
                <a:rPr lang="en-US" sz="2800" b="0" dirty="0">
                  <a:solidFill>
                    <a:schemeClr val="tx1"/>
                  </a:solidFill>
                  <a:latin typeface="+mj-lt"/>
                </a:rPr>
                <a:t> </a:t>
              </a:r>
              <a:br>
                <a:rPr lang="en-US" sz="2800" dirty="0">
                  <a:solidFill>
                    <a:schemeClr val="tx1"/>
                  </a:solidFill>
                  <a:latin typeface="+mj-lt"/>
                </a:rPr>
              </a:br>
              <a:r>
                <a:rPr lang="en-US" sz="2800" dirty="0">
                  <a:solidFill>
                    <a:schemeClr val="tx1"/>
                  </a:solidFill>
                  <a:latin typeface="+mj-lt"/>
                </a:rPr>
                <a:t>  </a:t>
              </a:r>
              <a14:m>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  </m:t>
                  </m:r>
                  <m:r>
                    <a:rPr lang="en-US" sz="2800" b="0" i="1" smtClean="0">
                      <a:solidFill>
                        <a:schemeClr val="tx1"/>
                      </a:solidFill>
                      <a:latin typeface="Cambria Math" panose="02040503050406030204" pitchFamily="18" charset="0"/>
                      <a:ea typeface="Cambria Math" panose="02040503050406030204" pitchFamily="18" charset="0"/>
                    </a:rPr>
                    <m:t>𝑟</m:t>
                  </m:r>
                </m:oMath>
              </a14:m>
              <a:r>
                <a:rPr lang="en-US" sz="2800" dirty="0">
                  <a:solidFill>
                    <a:schemeClr val="tx1"/>
                  </a:solidFill>
                  <a:latin typeface="+mj-lt"/>
                </a:rPr>
                <a:t> is the period of </a:t>
              </a:r>
              <a14:m>
                <m:oMath xmlns:m="http://schemas.openxmlformats.org/officeDocument/2006/math">
                  <m:sSup>
                    <m:sSupPr>
                      <m:ctrlPr>
                        <a:rPr lang="en-US" sz="280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𝑓</m:t>
                      </m:r>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e>
                      </m:d>
                      <m:r>
                        <a:rPr lang="en-US" sz="2800" b="0" i="1" smtClean="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𝑎</m:t>
                      </m:r>
                    </m:e>
                    <m:sup>
                      <m:r>
                        <a:rPr lang="en-US" sz="2800" b="0" i="1" smtClean="0">
                          <a:solidFill>
                            <a:schemeClr val="tx1"/>
                          </a:solidFill>
                          <a:latin typeface="Cambria Math" panose="02040503050406030204" pitchFamily="18" charset="0"/>
                        </a:rPr>
                        <m:t>𝑥</m:t>
                      </m:r>
                    </m:sup>
                  </m:sSup>
                  <m:r>
                    <a:rPr lang="en-US" sz="2800" b="0" i="1" smtClean="0">
                      <a:solidFill>
                        <a:schemeClr val="tx1"/>
                      </a:solidFill>
                      <a:latin typeface="Cambria Math" panose="02040503050406030204" pitchFamily="18" charset="0"/>
                    </a:rPr>
                    <m:t>(</m:t>
                  </m:r>
                  <m:r>
                    <m:rPr>
                      <m:sty m:val="p"/>
                    </m:rPr>
                    <a:rPr lang="en-US" sz="2800" b="0" i="0" smtClean="0">
                      <a:solidFill>
                        <a:schemeClr val="tx1"/>
                      </a:solidFill>
                      <a:latin typeface="Cambria Math" panose="02040503050406030204" pitchFamily="18" charset="0"/>
                    </a:rPr>
                    <m:t>mod</m:t>
                  </m:r>
                  <m:r>
                    <a:rPr lang="en-US" sz="2800" b="0" i="1"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𝑁</m:t>
                  </m:r>
                  <m:r>
                    <a:rPr lang="en-US" sz="2800" b="0" i="1" smtClean="0">
                      <a:solidFill>
                        <a:schemeClr val="tx1"/>
                      </a:solidFill>
                      <a:latin typeface="Cambria Math" panose="02040503050406030204" pitchFamily="18" charset="0"/>
                    </a:rPr>
                    <m:t>)</m:t>
                  </m:r>
                </m:oMath>
              </a14:m>
              <a:endParaRPr lang="en-US" sz="2800" dirty="0">
                <a:solidFill>
                  <a:schemeClr val="tx1"/>
                </a:solidFill>
                <a:latin typeface="+mj-lt"/>
              </a:endParaRPr>
            </a:p>
          </dgm:t>
        </dgm:pt>
      </mc:Choice>
      <mc:Fallback xmlns="">
        <dgm:pt modelId="{D8272584-1761-694F-9645-92867D404B0A}">
          <dgm:prSet custT="1"/>
          <dgm:spPr>
            <a:solidFill>
              <a:schemeClr val="accent6">
                <a:lumMod val="20000"/>
                <a:lumOff val="80000"/>
              </a:schemeClr>
            </a:solidFill>
          </dgm:spPr>
          <dgm:t>
            <a:bodyPr/>
            <a:lstStyle/>
            <a:p>
              <a:r>
                <a:rPr lang="en-US" sz="2800" dirty="0">
                  <a:solidFill>
                    <a:schemeClr val="tx1"/>
                  </a:solidFill>
                  <a:latin typeface="+mj-lt"/>
                </a:rPr>
                <a:t>Shor constructs such numbers as  </a:t>
              </a:r>
              <a:r>
                <a:rPr lang="en-US" sz="2800" b="0" i="0">
                  <a:solidFill>
                    <a:schemeClr val="tx1"/>
                  </a:solidFill>
                  <a:latin typeface="Cambria Math" panose="02040503050406030204" pitchFamily="18" charset="0"/>
                </a:rPr>
                <a:t>𝑧=</a:t>
              </a:r>
              <a:r>
                <a:rPr lang="en-US" sz="2800" i="0">
                  <a:solidFill>
                    <a:schemeClr val="tx1"/>
                  </a:solidFill>
                  <a:latin typeface="Cambria Math" panose="02040503050406030204" pitchFamily="18" charset="0"/>
                </a:rPr>
                <a:t>𝑎^(𝑟</a:t>
              </a:r>
              <a:r>
                <a:rPr lang="en-US" sz="2800" b="0" i="0">
                  <a:solidFill>
                    <a:schemeClr val="tx1"/>
                  </a:solidFill>
                  <a:latin typeface="Cambria Math" panose="02040503050406030204" pitchFamily="18" charset="0"/>
                </a:rPr>
                <a:t>/2)</a:t>
              </a:r>
              <a:r>
                <a:rPr lang="en-US" sz="2800" i="0">
                  <a:solidFill>
                    <a:schemeClr val="tx1"/>
                  </a:solidFill>
                  <a:latin typeface="Cambria Math" panose="02040503050406030204" pitchFamily="18" charset="0"/>
                  <a:ea typeface="Cambria Math" panose="02040503050406030204" pitchFamily="18" charset="0"/>
                </a:rPr>
                <a:t>±</a:t>
              </a:r>
              <a:r>
                <a:rPr lang="en-US" sz="2800" b="0" i="0">
                  <a:solidFill>
                    <a:schemeClr val="tx1"/>
                  </a:solidFill>
                  <a:latin typeface="Cambria Math" panose="02040503050406030204" pitchFamily="18" charset="0"/>
                  <a:ea typeface="Cambria Math" panose="02040503050406030204" pitchFamily="18" charset="0"/>
                </a:rPr>
                <a:t>1</a:t>
              </a:r>
              <a:r>
                <a:rPr lang="en-US" sz="2800" b="0" i="1" dirty="0">
                  <a:solidFill>
                    <a:schemeClr val="tx1"/>
                  </a:solidFill>
                  <a:latin typeface="+mj-lt"/>
                </a:rPr>
                <a:t> </a:t>
              </a:r>
              <a:r>
                <a:rPr lang="en-US" sz="2800" b="0" i="0" dirty="0">
                  <a:solidFill>
                    <a:schemeClr val="tx1"/>
                  </a:solidFill>
                  <a:latin typeface="+mj-lt"/>
                </a:rPr>
                <a:t>where</a:t>
              </a:r>
              <a:br>
                <a:rPr lang="en-US" sz="2800" b="0" i="1" dirty="0">
                  <a:solidFill>
                    <a:schemeClr val="tx1"/>
                  </a:solidFill>
                  <a:latin typeface="+mj-lt"/>
                </a:rPr>
              </a:br>
              <a:r>
                <a:rPr lang="en-US" sz="2800" b="0" i="0">
                  <a:solidFill>
                    <a:schemeClr val="tx1"/>
                  </a:solidFill>
                  <a:latin typeface="Cambria Math" panose="02040503050406030204" pitchFamily="18" charset="0"/>
                  <a:ea typeface="Cambria Math" panose="02040503050406030204" pitchFamily="18" charset="0"/>
                </a:rPr>
                <a:t>  ∎</a:t>
              </a:r>
              <a:r>
                <a:rPr lang="en-US" sz="2800" b="0" i="0">
                  <a:solidFill>
                    <a:schemeClr val="tx1"/>
                  </a:solidFill>
                  <a:latin typeface="Cambria Math" panose="02040503050406030204" pitchFamily="18" charset="0"/>
                </a:rPr>
                <a:t> 𝑎&lt;𝑁</a:t>
              </a:r>
              <a:r>
                <a:rPr lang="en-US" sz="2800" dirty="0">
                  <a:solidFill>
                    <a:schemeClr val="tx1"/>
                  </a:solidFill>
                  <a:latin typeface="+mj-lt"/>
                </a:rPr>
                <a:t> is a random integer, such that </a:t>
              </a:r>
              <a:r>
                <a:rPr lang="en-US" sz="2800" b="0" i="0">
                  <a:solidFill>
                    <a:schemeClr val="tx1"/>
                  </a:solidFill>
                  <a:latin typeface="Cambria Math" panose="02040503050406030204" pitchFamily="18" charset="0"/>
                </a:rPr>
                <a:t>gcd(𝑎,𝑁)=1</a:t>
              </a:r>
              <a:r>
                <a:rPr lang="en-US" sz="2800" b="0" dirty="0">
                  <a:solidFill>
                    <a:schemeClr val="tx1"/>
                  </a:solidFill>
                  <a:latin typeface="+mj-lt"/>
                </a:rPr>
                <a:t> </a:t>
              </a:r>
              <a:br>
                <a:rPr lang="en-US" sz="2800" dirty="0">
                  <a:solidFill>
                    <a:schemeClr val="tx1"/>
                  </a:solidFill>
                  <a:latin typeface="+mj-lt"/>
                </a:rPr>
              </a:br>
              <a:r>
                <a:rPr lang="en-US" sz="2800" dirty="0">
                  <a:solidFill>
                    <a:schemeClr val="tx1"/>
                  </a:solidFill>
                  <a:latin typeface="+mj-lt"/>
                </a:rPr>
                <a:t>  </a:t>
              </a:r>
              <a:r>
                <a:rPr lang="en-US" sz="2800" b="0" i="0">
                  <a:solidFill>
                    <a:schemeClr val="tx1"/>
                  </a:solidFill>
                  <a:latin typeface="Cambria Math" panose="02040503050406030204" pitchFamily="18" charset="0"/>
                  <a:ea typeface="Cambria Math" panose="02040503050406030204" pitchFamily="18" charset="0"/>
                </a:rPr>
                <a:t>∎  𝑟</a:t>
              </a:r>
              <a:r>
                <a:rPr lang="en-US" sz="2800" dirty="0">
                  <a:solidFill>
                    <a:schemeClr val="tx1"/>
                  </a:solidFill>
                  <a:latin typeface="+mj-lt"/>
                </a:rPr>
                <a:t> is the period of </a:t>
              </a:r>
              <a:r>
                <a:rPr lang="en-US" sz="2800" i="0">
                  <a:solidFill>
                    <a:schemeClr val="tx1"/>
                  </a:solidFill>
                  <a:latin typeface="Cambria Math" panose="02040503050406030204" pitchFamily="18" charset="0"/>
                </a:rPr>
                <a:t>〖</a:t>
              </a:r>
              <a:r>
                <a:rPr lang="en-US" sz="2800" b="0" i="0">
                  <a:solidFill>
                    <a:schemeClr val="tx1"/>
                  </a:solidFill>
                  <a:latin typeface="Cambria Math" panose="02040503050406030204" pitchFamily="18" charset="0"/>
                </a:rPr>
                <a:t>𝑓(𝑥)=</a:t>
              </a:r>
              <a:r>
                <a:rPr lang="en-US" sz="2800" i="0">
                  <a:solidFill>
                    <a:schemeClr val="tx1"/>
                  </a:solidFill>
                  <a:latin typeface="Cambria Math" panose="02040503050406030204" pitchFamily="18" charset="0"/>
                </a:rPr>
                <a:t>𝑎〗^</a:t>
              </a:r>
              <a:r>
                <a:rPr lang="en-US" sz="2800" b="0" i="0">
                  <a:solidFill>
                    <a:schemeClr val="tx1"/>
                  </a:solidFill>
                  <a:latin typeface="Cambria Math" panose="02040503050406030204" pitchFamily="18" charset="0"/>
                </a:rPr>
                <a:t>𝑥 (mod 𝑁)</a:t>
              </a:r>
              <a:endParaRPr lang="en-US" sz="2800" dirty="0">
                <a:solidFill>
                  <a:schemeClr val="tx1"/>
                </a:solidFill>
                <a:latin typeface="+mj-lt"/>
              </a:endParaRPr>
            </a:p>
          </dgm:t>
        </dgm:pt>
      </mc:Fallback>
    </mc:AlternateContent>
    <dgm:pt modelId="{53ABB99E-B142-654A-A83D-F8AB63C0010D}" type="parTrans" cxnId="{5965DDAF-D6B9-F245-A95E-B5C34AB78F34}">
      <dgm:prSet/>
      <dgm:spPr/>
      <dgm:t>
        <a:bodyPr/>
        <a:lstStyle/>
        <a:p>
          <a:endParaRPr lang="en-US">
            <a:solidFill>
              <a:schemeClr val="tx1"/>
            </a:solidFill>
            <a:latin typeface="+mj-lt"/>
          </a:endParaRPr>
        </a:p>
      </dgm:t>
    </dgm:pt>
    <dgm:pt modelId="{AB9E36A6-5A89-D349-AC73-190EA7F52DED}" type="sibTrans" cxnId="{5965DDAF-D6B9-F245-A95E-B5C34AB78F34}">
      <dgm:prSet/>
      <dgm:spPr/>
      <dgm:t>
        <a:bodyPr/>
        <a:lstStyle/>
        <a:p>
          <a:endParaRPr lang="en-US">
            <a:solidFill>
              <a:schemeClr val="tx1"/>
            </a:solidFill>
            <a:latin typeface="+mj-lt"/>
          </a:endParaRPr>
        </a:p>
      </dgm:t>
    </dgm:pt>
    <dgm:pt modelId="{BF397E04-6E78-E14C-9501-E6D102FAE879}" type="pres">
      <dgm:prSet presAssocID="{93939AFC-B808-CB45-97A2-FD8A75A7F129}" presName="outerComposite" presStyleCnt="0">
        <dgm:presLayoutVars>
          <dgm:chMax val="5"/>
          <dgm:dir/>
          <dgm:resizeHandles val="exact"/>
        </dgm:presLayoutVars>
      </dgm:prSet>
      <dgm:spPr/>
    </dgm:pt>
    <dgm:pt modelId="{AF434DDC-847D-7A46-96BA-3A95D3873AFE}" type="pres">
      <dgm:prSet presAssocID="{93939AFC-B808-CB45-97A2-FD8A75A7F129}" presName="dummyMaxCanvas" presStyleCnt="0">
        <dgm:presLayoutVars/>
      </dgm:prSet>
      <dgm:spPr/>
    </dgm:pt>
    <dgm:pt modelId="{12470C67-0CD5-9C46-85A6-B827803C8BC8}" type="pres">
      <dgm:prSet presAssocID="{93939AFC-B808-CB45-97A2-FD8A75A7F129}" presName="FourNodes_1" presStyleLbl="node1" presStyleIdx="0" presStyleCnt="4" custScaleX="108044">
        <dgm:presLayoutVars>
          <dgm:bulletEnabled val="1"/>
        </dgm:presLayoutVars>
      </dgm:prSet>
      <dgm:spPr/>
    </dgm:pt>
    <dgm:pt modelId="{6F24E93E-20E5-A34F-90BC-678154F66B20}" type="pres">
      <dgm:prSet presAssocID="{93939AFC-B808-CB45-97A2-FD8A75A7F129}" presName="FourNodes_2" presStyleLbl="node1" presStyleIdx="1" presStyleCnt="4" custScaleX="108044">
        <dgm:presLayoutVars>
          <dgm:bulletEnabled val="1"/>
        </dgm:presLayoutVars>
      </dgm:prSet>
      <dgm:spPr/>
    </dgm:pt>
    <dgm:pt modelId="{BD3C29D1-5617-9E4A-B28C-E4A131E35204}" type="pres">
      <dgm:prSet presAssocID="{93939AFC-B808-CB45-97A2-FD8A75A7F129}" presName="FourNodes_3" presStyleLbl="node1" presStyleIdx="2" presStyleCnt="4" custScaleX="108044">
        <dgm:presLayoutVars>
          <dgm:bulletEnabled val="1"/>
        </dgm:presLayoutVars>
      </dgm:prSet>
      <dgm:spPr/>
    </dgm:pt>
    <dgm:pt modelId="{CA53DBC3-E23F-0D42-8E62-4D6A1EAFDBA3}" type="pres">
      <dgm:prSet presAssocID="{93939AFC-B808-CB45-97A2-FD8A75A7F129}" presName="FourNodes_4" presStyleLbl="node1" presStyleIdx="3" presStyleCnt="4">
        <dgm:presLayoutVars>
          <dgm:bulletEnabled val="1"/>
        </dgm:presLayoutVars>
      </dgm:prSet>
      <dgm:spPr/>
    </dgm:pt>
    <dgm:pt modelId="{30C32FE3-58A6-7643-9530-D91BA1CE112D}" type="pres">
      <dgm:prSet presAssocID="{93939AFC-B808-CB45-97A2-FD8A75A7F129}" presName="FourConn_1-2" presStyleLbl="fgAccFollowNode1" presStyleIdx="0" presStyleCnt="3">
        <dgm:presLayoutVars>
          <dgm:bulletEnabled val="1"/>
        </dgm:presLayoutVars>
      </dgm:prSet>
      <dgm:spPr/>
    </dgm:pt>
    <dgm:pt modelId="{EBF8F89E-53B0-6A47-92B1-06495D8EC858}" type="pres">
      <dgm:prSet presAssocID="{93939AFC-B808-CB45-97A2-FD8A75A7F129}" presName="FourConn_2-3" presStyleLbl="fgAccFollowNode1" presStyleIdx="1" presStyleCnt="3">
        <dgm:presLayoutVars>
          <dgm:bulletEnabled val="1"/>
        </dgm:presLayoutVars>
      </dgm:prSet>
      <dgm:spPr/>
    </dgm:pt>
    <dgm:pt modelId="{0EA72948-8188-B74D-AB03-552851AC92CE}" type="pres">
      <dgm:prSet presAssocID="{93939AFC-B808-CB45-97A2-FD8A75A7F129}" presName="FourConn_3-4" presStyleLbl="fgAccFollowNode1" presStyleIdx="2" presStyleCnt="3">
        <dgm:presLayoutVars>
          <dgm:bulletEnabled val="1"/>
        </dgm:presLayoutVars>
      </dgm:prSet>
      <dgm:spPr/>
    </dgm:pt>
    <dgm:pt modelId="{5F46BE68-7BFB-944B-8437-2703B7DD3C5A}" type="pres">
      <dgm:prSet presAssocID="{93939AFC-B808-CB45-97A2-FD8A75A7F129}" presName="FourNodes_1_text" presStyleLbl="node1" presStyleIdx="3" presStyleCnt="4">
        <dgm:presLayoutVars>
          <dgm:bulletEnabled val="1"/>
        </dgm:presLayoutVars>
      </dgm:prSet>
      <dgm:spPr/>
    </dgm:pt>
    <dgm:pt modelId="{DACAD4CD-6F23-B645-B041-F8BDA1FB3418}" type="pres">
      <dgm:prSet presAssocID="{93939AFC-B808-CB45-97A2-FD8A75A7F129}" presName="FourNodes_2_text" presStyleLbl="node1" presStyleIdx="3" presStyleCnt="4">
        <dgm:presLayoutVars>
          <dgm:bulletEnabled val="1"/>
        </dgm:presLayoutVars>
      </dgm:prSet>
      <dgm:spPr/>
    </dgm:pt>
    <dgm:pt modelId="{3E7D27F4-E3C0-8C42-8604-7B390A28B445}" type="pres">
      <dgm:prSet presAssocID="{93939AFC-B808-CB45-97A2-FD8A75A7F129}" presName="FourNodes_3_text" presStyleLbl="node1" presStyleIdx="3" presStyleCnt="4">
        <dgm:presLayoutVars>
          <dgm:bulletEnabled val="1"/>
        </dgm:presLayoutVars>
      </dgm:prSet>
      <dgm:spPr/>
    </dgm:pt>
    <dgm:pt modelId="{FCDB59DE-BFE5-614A-9201-54CE5A19C01A}" type="pres">
      <dgm:prSet presAssocID="{93939AFC-B808-CB45-97A2-FD8A75A7F129}" presName="FourNodes_4_text" presStyleLbl="node1" presStyleIdx="3" presStyleCnt="4">
        <dgm:presLayoutVars>
          <dgm:bulletEnabled val="1"/>
        </dgm:presLayoutVars>
      </dgm:prSet>
      <dgm:spPr/>
    </dgm:pt>
  </dgm:ptLst>
  <dgm:cxnLst>
    <dgm:cxn modelId="{3B57F107-FB40-FC4F-9080-C4EA592A0CE2}" type="presOf" srcId="{826D3D10-3249-DC43-8F58-FF04E0B25A28}" destId="{5F46BE68-7BFB-944B-8437-2703B7DD3C5A}" srcOrd="1" destOrd="0" presId="urn:microsoft.com/office/officeart/2005/8/layout/vProcess5"/>
    <dgm:cxn modelId="{EF624A11-E8BD-1B44-89E0-A65EEFE4E6E2}" type="presOf" srcId="{BBB1A04C-2494-7447-B82B-8B4CA95170FB}" destId="{CA53DBC3-E23F-0D42-8E62-4D6A1EAFDBA3}" srcOrd="0" destOrd="0" presId="urn:microsoft.com/office/officeart/2005/8/layout/vProcess5"/>
    <dgm:cxn modelId="{975D541D-3A1F-324B-BE94-F67C809AFE9D}" type="presOf" srcId="{E6BCB12E-7525-AC4F-AC6A-43699781DE7B}" destId="{6F24E93E-20E5-A34F-90BC-678154F66B20}" srcOrd="0" destOrd="0" presId="urn:microsoft.com/office/officeart/2005/8/layout/vProcess5"/>
    <dgm:cxn modelId="{03A9BE26-853A-F049-B4DD-C357A97BE725}" type="presOf" srcId="{92F0C86C-B933-204A-8644-2A5EC83DA1CC}" destId="{EBF8F89E-53B0-6A47-92B1-06495D8EC858}" srcOrd="0" destOrd="0" presId="urn:microsoft.com/office/officeart/2005/8/layout/vProcess5"/>
    <dgm:cxn modelId="{53666A2E-0411-5E4D-A69D-115A9D9B724F}" type="presOf" srcId="{BBB1A04C-2494-7447-B82B-8B4CA95170FB}" destId="{FCDB59DE-BFE5-614A-9201-54CE5A19C01A}" srcOrd="1" destOrd="0" presId="urn:microsoft.com/office/officeart/2005/8/layout/vProcess5"/>
    <dgm:cxn modelId="{79848F31-114B-084F-8D70-2151C1AC70DF}" type="presOf" srcId="{826D3D10-3249-DC43-8F58-FF04E0B25A28}" destId="{12470C67-0CD5-9C46-85A6-B827803C8BC8}" srcOrd="0" destOrd="0" presId="urn:microsoft.com/office/officeart/2005/8/layout/vProcess5"/>
    <dgm:cxn modelId="{B3CFD442-5CA9-8A40-BBA7-28F209BB3F03}" type="presOf" srcId="{E6BCB12E-7525-AC4F-AC6A-43699781DE7B}" destId="{DACAD4CD-6F23-B645-B041-F8BDA1FB3418}" srcOrd="1" destOrd="0" presId="urn:microsoft.com/office/officeart/2005/8/layout/vProcess5"/>
    <dgm:cxn modelId="{E4B92C6C-8893-2849-AE70-302DB9D03B22}" srcId="{93939AFC-B808-CB45-97A2-FD8A75A7F129}" destId="{BBB1A04C-2494-7447-B82B-8B4CA95170FB}" srcOrd="3" destOrd="0" parTransId="{9F45E791-E448-554D-A273-B3DA6921BB56}" sibTransId="{57F24458-FC49-2545-B604-CC110F479487}"/>
    <dgm:cxn modelId="{BB37788A-5418-5C49-B408-2CD31D3C8017}" type="presOf" srcId="{93939AFC-B808-CB45-97A2-FD8A75A7F129}" destId="{BF397E04-6E78-E14C-9501-E6D102FAE879}" srcOrd="0" destOrd="0" presId="urn:microsoft.com/office/officeart/2005/8/layout/vProcess5"/>
    <dgm:cxn modelId="{B20046A8-07A9-8D4A-962B-53DE402E21EF}" srcId="{93939AFC-B808-CB45-97A2-FD8A75A7F129}" destId="{E6BCB12E-7525-AC4F-AC6A-43699781DE7B}" srcOrd="1" destOrd="0" parTransId="{C735E750-E216-B446-A84F-991EBA4F4CF0}" sibTransId="{92F0C86C-B933-204A-8644-2A5EC83DA1CC}"/>
    <dgm:cxn modelId="{5965DDAF-D6B9-F245-A95E-B5C34AB78F34}" srcId="{93939AFC-B808-CB45-97A2-FD8A75A7F129}" destId="{D8272584-1761-694F-9645-92867D404B0A}" srcOrd="2" destOrd="0" parTransId="{53ABB99E-B142-654A-A83D-F8AB63C0010D}" sibTransId="{AB9E36A6-5A89-D349-AC73-190EA7F52DED}"/>
    <dgm:cxn modelId="{13B17CB7-5ED6-2247-9191-1981FB745FCB}" type="presOf" srcId="{D8272584-1761-694F-9645-92867D404B0A}" destId="{3E7D27F4-E3C0-8C42-8604-7B390A28B445}" srcOrd="1" destOrd="0" presId="urn:microsoft.com/office/officeart/2005/8/layout/vProcess5"/>
    <dgm:cxn modelId="{21C896BC-BAFA-284C-B193-4F693FFED921}" type="presOf" srcId="{D8272584-1761-694F-9645-92867D404B0A}" destId="{BD3C29D1-5617-9E4A-B28C-E4A131E35204}" srcOrd="0" destOrd="0" presId="urn:microsoft.com/office/officeart/2005/8/layout/vProcess5"/>
    <dgm:cxn modelId="{96A580D2-C32D-E043-B83F-26D8A072029E}" srcId="{93939AFC-B808-CB45-97A2-FD8A75A7F129}" destId="{826D3D10-3249-DC43-8F58-FF04E0B25A28}" srcOrd="0" destOrd="0" parTransId="{0A944B0C-C50C-2A47-8F85-0813BD523CAB}" sibTransId="{720E4A5A-409A-354D-8898-242222479325}"/>
    <dgm:cxn modelId="{541BF4D9-1DB3-E24E-983C-C8CEF447B1AE}" type="presOf" srcId="{AB9E36A6-5A89-D349-AC73-190EA7F52DED}" destId="{0EA72948-8188-B74D-AB03-552851AC92CE}" srcOrd="0" destOrd="0" presId="urn:microsoft.com/office/officeart/2005/8/layout/vProcess5"/>
    <dgm:cxn modelId="{799167F7-4C22-AA4D-AB4A-A404792B844A}" type="presOf" srcId="{720E4A5A-409A-354D-8898-242222479325}" destId="{30C32FE3-58A6-7643-9530-D91BA1CE112D}" srcOrd="0" destOrd="0" presId="urn:microsoft.com/office/officeart/2005/8/layout/vProcess5"/>
    <dgm:cxn modelId="{17F729E2-AF56-CA4D-89A4-6B54B642666B}" type="presParOf" srcId="{BF397E04-6E78-E14C-9501-E6D102FAE879}" destId="{AF434DDC-847D-7A46-96BA-3A95D3873AFE}" srcOrd="0" destOrd="0" presId="urn:microsoft.com/office/officeart/2005/8/layout/vProcess5"/>
    <dgm:cxn modelId="{FC9258F4-383E-FE4F-B5DE-8B6545E0110A}" type="presParOf" srcId="{BF397E04-6E78-E14C-9501-E6D102FAE879}" destId="{12470C67-0CD5-9C46-85A6-B827803C8BC8}" srcOrd="1" destOrd="0" presId="urn:microsoft.com/office/officeart/2005/8/layout/vProcess5"/>
    <dgm:cxn modelId="{79D5C347-E8BC-B548-8F44-449B26CDE054}" type="presParOf" srcId="{BF397E04-6E78-E14C-9501-E6D102FAE879}" destId="{6F24E93E-20E5-A34F-90BC-678154F66B20}" srcOrd="2" destOrd="0" presId="urn:microsoft.com/office/officeart/2005/8/layout/vProcess5"/>
    <dgm:cxn modelId="{AC1670AF-95AD-B149-9DFE-E9406F00FBDC}" type="presParOf" srcId="{BF397E04-6E78-E14C-9501-E6D102FAE879}" destId="{BD3C29D1-5617-9E4A-B28C-E4A131E35204}" srcOrd="3" destOrd="0" presId="urn:microsoft.com/office/officeart/2005/8/layout/vProcess5"/>
    <dgm:cxn modelId="{441C3EA6-1D30-B54C-8CAE-12B9D685C914}" type="presParOf" srcId="{BF397E04-6E78-E14C-9501-E6D102FAE879}" destId="{CA53DBC3-E23F-0D42-8E62-4D6A1EAFDBA3}" srcOrd="4" destOrd="0" presId="urn:microsoft.com/office/officeart/2005/8/layout/vProcess5"/>
    <dgm:cxn modelId="{25CFDE67-0BF2-554F-BF4B-226A878CAA63}" type="presParOf" srcId="{BF397E04-6E78-E14C-9501-E6D102FAE879}" destId="{30C32FE3-58A6-7643-9530-D91BA1CE112D}" srcOrd="5" destOrd="0" presId="urn:microsoft.com/office/officeart/2005/8/layout/vProcess5"/>
    <dgm:cxn modelId="{9550ACC2-595A-C34F-9AED-54AEDFDFA28E}" type="presParOf" srcId="{BF397E04-6E78-E14C-9501-E6D102FAE879}" destId="{EBF8F89E-53B0-6A47-92B1-06495D8EC858}" srcOrd="6" destOrd="0" presId="urn:microsoft.com/office/officeart/2005/8/layout/vProcess5"/>
    <dgm:cxn modelId="{70A3CC21-8DB6-2A44-8282-862E51E99559}" type="presParOf" srcId="{BF397E04-6E78-E14C-9501-E6D102FAE879}" destId="{0EA72948-8188-B74D-AB03-552851AC92CE}" srcOrd="7" destOrd="0" presId="urn:microsoft.com/office/officeart/2005/8/layout/vProcess5"/>
    <dgm:cxn modelId="{D4ECC5F9-99C4-B94A-AA02-935635768C99}" type="presParOf" srcId="{BF397E04-6E78-E14C-9501-E6D102FAE879}" destId="{5F46BE68-7BFB-944B-8437-2703B7DD3C5A}" srcOrd="8" destOrd="0" presId="urn:microsoft.com/office/officeart/2005/8/layout/vProcess5"/>
    <dgm:cxn modelId="{74635E6F-8D58-0C41-9A1D-D39062178F4B}" type="presParOf" srcId="{BF397E04-6E78-E14C-9501-E6D102FAE879}" destId="{DACAD4CD-6F23-B645-B041-F8BDA1FB3418}" srcOrd="9" destOrd="0" presId="urn:microsoft.com/office/officeart/2005/8/layout/vProcess5"/>
    <dgm:cxn modelId="{E61064E8-90B0-C343-BB31-8E42F7FC4F39}" type="presParOf" srcId="{BF397E04-6E78-E14C-9501-E6D102FAE879}" destId="{3E7D27F4-E3C0-8C42-8604-7B390A28B445}" srcOrd="10" destOrd="0" presId="urn:microsoft.com/office/officeart/2005/8/layout/vProcess5"/>
    <dgm:cxn modelId="{F2B325E0-B048-0847-8F1B-00BE5D549DEC}" type="presParOf" srcId="{BF397E04-6E78-E14C-9501-E6D102FAE879}" destId="{FCDB59DE-BFE5-614A-9201-54CE5A19C01A}"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3939AFC-B808-CB45-97A2-FD8A75A7F129}" type="doc">
      <dgm:prSet loTypeId="urn:microsoft.com/office/officeart/2005/8/layout/vProcess5" loCatId="" qsTypeId="urn:microsoft.com/office/officeart/2005/8/quickstyle/simple1" qsCatId="simple" csTypeId="urn:microsoft.com/office/officeart/2005/8/colors/colorful1" csCatId="colorful" phldr="1"/>
      <dgm:spPr/>
    </dgm:pt>
    <dgm:pt modelId="{826D3D10-3249-DC43-8F58-FF04E0B25A28}">
      <dgm:prSet phldrT="[Text]" custT="1"/>
      <dgm:spPr>
        <a:blipFill>
          <a:blip xmlns:r="http://schemas.openxmlformats.org/officeDocument/2006/relationships" r:embed="rId1"/>
          <a:stretch>
            <a:fillRect l="-490"/>
          </a:stretch>
        </a:blipFill>
      </dgm:spPr>
      <dgm:t>
        <a:bodyPr/>
        <a:lstStyle/>
        <a:p>
          <a:r>
            <a:rPr lang="en-US">
              <a:noFill/>
            </a:rPr>
            <a:t> </a:t>
          </a:r>
        </a:p>
      </dgm:t>
    </dgm:pt>
    <dgm:pt modelId="{0A944B0C-C50C-2A47-8F85-0813BD523CAB}" type="parTrans" cxnId="{96A580D2-C32D-E043-B83F-26D8A072029E}">
      <dgm:prSet/>
      <dgm:spPr/>
      <dgm:t>
        <a:bodyPr/>
        <a:lstStyle/>
        <a:p>
          <a:endParaRPr lang="en-US" sz="2400">
            <a:solidFill>
              <a:schemeClr val="tx1"/>
            </a:solidFill>
            <a:latin typeface="+mj-lt"/>
          </a:endParaRPr>
        </a:p>
      </dgm:t>
    </dgm:pt>
    <dgm:pt modelId="{720E4A5A-409A-354D-8898-242222479325}" type="sibTrans" cxnId="{96A580D2-C32D-E043-B83F-26D8A072029E}">
      <dgm:prSet custT="1"/>
      <dgm:spPr/>
      <dgm:t>
        <a:bodyPr/>
        <a:lstStyle/>
        <a:p>
          <a:endParaRPr lang="en-US" sz="2400">
            <a:solidFill>
              <a:schemeClr val="tx1"/>
            </a:solidFill>
            <a:latin typeface="+mj-lt"/>
          </a:endParaRPr>
        </a:p>
      </dgm:t>
    </dgm:pt>
    <dgm:pt modelId="{E6BCB12E-7525-AC4F-AC6A-43699781DE7B}">
      <dgm:prSet phldrT="[Text]" custT="1"/>
      <dgm:spPr>
        <a:blipFill>
          <a:blip xmlns:r="http://schemas.openxmlformats.org/officeDocument/2006/relationships" r:embed="rId2"/>
          <a:stretch>
            <a:fillRect l="-613"/>
          </a:stretch>
        </a:blipFill>
      </dgm:spPr>
      <dgm:t>
        <a:bodyPr/>
        <a:lstStyle/>
        <a:p>
          <a:r>
            <a:rPr lang="en-US">
              <a:noFill/>
            </a:rPr>
            <a:t> </a:t>
          </a:r>
        </a:p>
      </dgm:t>
    </dgm:pt>
    <dgm:pt modelId="{C735E750-E216-B446-A84F-991EBA4F4CF0}" type="parTrans" cxnId="{B20046A8-07A9-8D4A-962B-53DE402E21EF}">
      <dgm:prSet/>
      <dgm:spPr/>
      <dgm:t>
        <a:bodyPr/>
        <a:lstStyle/>
        <a:p>
          <a:endParaRPr lang="en-US" sz="2400">
            <a:solidFill>
              <a:schemeClr val="tx1"/>
            </a:solidFill>
            <a:latin typeface="+mj-lt"/>
          </a:endParaRPr>
        </a:p>
      </dgm:t>
    </dgm:pt>
    <dgm:pt modelId="{92F0C86C-B933-204A-8644-2A5EC83DA1CC}" type="sibTrans" cxnId="{B20046A8-07A9-8D4A-962B-53DE402E21EF}">
      <dgm:prSet custT="1"/>
      <dgm:spPr/>
      <dgm:t>
        <a:bodyPr/>
        <a:lstStyle/>
        <a:p>
          <a:endParaRPr lang="en-US" sz="2400">
            <a:solidFill>
              <a:schemeClr val="tx1"/>
            </a:solidFill>
            <a:latin typeface="+mj-lt"/>
          </a:endParaRPr>
        </a:p>
      </dgm:t>
    </dgm:pt>
    <dgm:pt modelId="{BBB1A04C-2494-7447-B82B-8B4CA95170FB}">
      <dgm:prSet custT="1"/>
      <dgm:spPr>
        <a:blipFill>
          <a:blip xmlns:r="http://schemas.openxmlformats.org/officeDocument/2006/relationships" r:embed="rId3"/>
          <a:stretch>
            <a:fillRect l="-661"/>
          </a:stretch>
        </a:blipFill>
      </dgm:spPr>
      <dgm:t>
        <a:bodyPr/>
        <a:lstStyle/>
        <a:p>
          <a:r>
            <a:rPr lang="en-US">
              <a:noFill/>
            </a:rPr>
            <a:t> </a:t>
          </a:r>
        </a:p>
      </dgm:t>
    </dgm:pt>
    <dgm:pt modelId="{9F45E791-E448-554D-A273-B3DA6921BB56}" type="parTrans" cxnId="{E4B92C6C-8893-2849-AE70-302DB9D03B22}">
      <dgm:prSet/>
      <dgm:spPr/>
      <dgm:t>
        <a:bodyPr/>
        <a:lstStyle/>
        <a:p>
          <a:endParaRPr lang="en-US" sz="2400">
            <a:solidFill>
              <a:schemeClr val="tx1"/>
            </a:solidFill>
            <a:latin typeface="+mj-lt"/>
          </a:endParaRPr>
        </a:p>
      </dgm:t>
    </dgm:pt>
    <dgm:pt modelId="{57F24458-FC49-2545-B604-CC110F479487}" type="sibTrans" cxnId="{E4B92C6C-8893-2849-AE70-302DB9D03B22}">
      <dgm:prSet/>
      <dgm:spPr/>
      <dgm:t>
        <a:bodyPr/>
        <a:lstStyle/>
        <a:p>
          <a:endParaRPr lang="en-US" sz="2400">
            <a:solidFill>
              <a:schemeClr val="tx1"/>
            </a:solidFill>
            <a:latin typeface="+mj-lt"/>
          </a:endParaRPr>
        </a:p>
      </dgm:t>
    </dgm:pt>
    <dgm:pt modelId="{D8272584-1761-694F-9645-92867D404B0A}">
      <dgm:prSet custT="1"/>
      <dgm:spPr>
        <a:blipFill>
          <a:blip xmlns:r="http://schemas.openxmlformats.org/officeDocument/2006/relationships" r:embed="rId4"/>
          <a:stretch>
            <a:fillRect l="-735" t="-5714" b="-11429"/>
          </a:stretch>
        </a:blipFill>
      </dgm:spPr>
      <dgm:t>
        <a:bodyPr/>
        <a:lstStyle/>
        <a:p>
          <a:r>
            <a:rPr lang="en-US">
              <a:noFill/>
            </a:rPr>
            <a:t> </a:t>
          </a:r>
        </a:p>
      </dgm:t>
    </dgm:pt>
    <dgm:pt modelId="{53ABB99E-B142-654A-A83D-F8AB63C0010D}" type="parTrans" cxnId="{5965DDAF-D6B9-F245-A95E-B5C34AB78F34}">
      <dgm:prSet/>
      <dgm:spPr/>
      <dgm:t>
        <a:bodyPr/>
        <a:lstStyle/>
        <a:p>
          <a:endParaRPr lang="en-US">
            <a:solidFill>
              <a:schemeClr val="tx1"/>
            </a:solidFill>
            <a:latin typeface="+mj-lt"/>
          </a:endParaRPr>
        </a:p>
      </dgm:t>
    </dgm:pt>
    <dgm:pt modelId="{AB9E36A6-5A89-D349-AC73-190EA7F52DED}" type="sibTrans" cxnId="{5965DDAF-D6B9-F245-A95E-B5C34AB78F34}">
      <dgm:prSet/>
      <dgm:spPr/>
      <dgm:t>
        <a:bodyPr/>
        <a:lstStyle/>
        <a:p>
          <a:endParaRPr lang="en-US">
            <a:solidFill>
              <a:schemeClr val="tx1"/>
            </a:solidFill>
            <a:latin typeface="+mj-lt"/>
          </a:endParaRPr>
        </a:p>
      </dgm:t>
    </dgm:pt>
    <dgm:pt modelId="{BF397E04-6E78-E14C-9501-E6D102FAE879}" type="pres">
      <dgm:prSet presAssocID="{93939AFC-B808-CB45-97A2-FD8A75A7F129}" presName="outerComposite" presStyleCnt="0">
        <dgm:presLayoutVars>
          <dgm:chMax val="5"/>
          <dgm:dir/>
          <dgm:resizeHandles val="exact"/>
        </dgm:presLayoutVars>
      </dgm:prSet>
      <dgm:spPr/>
    </dgm:pt>
    <dgm:pt modelId="{AF434DDC-847D-7A46-96BA-3A95D3873AFE}" type="pres">
      <dgm:prSet presAssocID="{93939AFC-B808-CB45-97A2-FD8A75A7F129}" presName="dummyMaxCanvas" presStyleCnt="0">
        <dgm:presLayoutVars/>
      </dgm:prSet>
      <dgm:spPr/>
    </dgm:pt>
    <dgm:pt modelId="{12470C67-0CD5-9C46-85A6-B827803C8BC8}" type="pres">
      <dgm:prSet presAssocID="{93939AFC-B808-CB45-97A2-FD8A75A7F129}" presName="FourNodes_1" presStyleLbl="node1" presStyleIdx="0" presStyleCnt="4" custScaleX="108044">
        <dgm:presLayoutVars>
          <dgm:bulletEnabled val="1"/>
        </dgm:presLayoutVars>
      </dgm:prSet>
      <dgm:spPr/>
    </dgm:pt>
    <dgm:pt modelId="{6F24E93E-20E5-A34F-90BC-678154F66B20}" type="pres">
      <dgm:prSet presAssocID="{93939AFC-B808-CB45-97A2-FD8A75A7F129}" presName="FourNodes_2" presStyleLbl="node1" presStyleIdx="1" presStyleCnt="4" custScaleX="108044">
        <dgm:presLayoutVars>
          <dgm:bulletEnabled val="1"/>
        </dgm:presLayoutVars>
      </dgm:prSet>
      <dgm:spPr/>
    </dgm:pt>
    <dgm:pt modelId="{BD3C29D1-5617-9E4A-B28C-E4A131E35204}" type="pres">
      <dgm:prSet presAssocID="{93939AFC-B808-CB45-97A2-FD8A75A7F129}" presName="FourNodes_3" presStyleLbl="node1" presStyleIdx="2" presStyleCnt="4" custScaleX="108044">
        <dgm:presLayoutVars>
          <dgm:bulletEnabled val="1"/>
        </dgm:presLayoutVars>
      </dgm:prSet>
      <dgm:spPr/>
    </dgm:pt>
    <dgm:pt modelId="{CA53DBC3-E23F-0D42-8E62-4D6A1EAFDBA3}" type="pres">
      <dgm:prSet presAssocID="{93939AFC-B808-CB45-97A2-FD8A75A7F129}" presName="FourNodes_4" presStyleLbl="node1" presStyleIdx="3" presStyleCnt="4">
        <dgm:presLayoutVars>
          <dgm:bulletEnabled val="1"/>
        </dgm:presLayoutVars>
      </dgm:prSet>
      <dgm:spPr/>
    </dgm:pt>
    <dgm:pt modelId="{30C32FE3-58A6-7643-9530-D91BA1CE112D}" type="pres">
      <dgm:prSet presAssocID="{93939AFC-B808-CB45-97A2-FD8A75A7F129}" presName="FourConn_1-2" presStyleLbl="fgAccFollowNode1" presStyleIdx="0" presStyleCnt="3">
        <dgm:presLayoutVars>
          <dgm:bulletEnabled val="1"/>
        </dgm:presLayoutVars>
      </dgm:prSet>
      <dgm:spPr/>
    </dgm:pt>
    <dgm:pt modelId="{EBF8F89E-53B0-6A47-92B1-06495D8EC858}" type="pres">
      <dgm:prSet presAssocID="{93939AFC-B808-CB45-97A2-FD8A75A7F129}" presName="FourConn_2-3" presStyleLbl="fgAccFollowNode1" presStyleIdx="1" presStyleCnt="3">
        <dgm:presLayoutVars>
          <dgm:bulletEnabled val="1"/>
        </dgm:presLayoutVars>
      </dgm:prSet>
      <dgm:spPr/>
    </dgm:pt>
    <dgm:pt modelId="{0EA72948-8188-B74D-AB03-552851AC92CE}" type="pres">
      <dgm:prSet presAssocID="{93939AFC-B808-CB45-97A2-FD8A75A7F129}" presName="FourConn_3-4" presStyleLbl="fgAccFollowNode1" presStyleIdx="2" presStyleCnt="3">
        <dgm:presLayoutVars>
          <dgm:bulletEnabled val="1"/>
        </dgm:presLayoutVars>
      </dgm:prSet>
      <dgm:spPr/>
    </dgm:pt>
    <dgm:pt modelId="{5F46BE68-7BFB-944B-8437-2703B7DD3C5A}" type="pres">
      <dgm:prSet presAssocID="{93939AFC-B808-CB45-97A2-FD8A75A7F129}" presName="FourNodes_1_text" presStyleLbl="node1" presStyleIdx="3" presStyleCnt="4">
        <dgm:presLayoutVars>
          <dgm:bulletEnabled val="1"/>
        </dgm:presLayoutVars>
      </dgm:prSet>
      <dgm:spPr/>
    </dgm:pt>
    <dgm:pt modelId="{DACAD4CD-6F23-B645-B041-F8BDA1FB3418}" type="pres">
      <dgm:prSet presAssocID="{93939AFC-B808-CB45-97A2-FD8A75A7F129}" presName="FourNodes_2_text" presStyleLbl="node1" presStyleIdx="3" presStyleCnt="4">
        <dgm:presLayoutVars>
          <dgm:bulletEnabled val="1"/>
        </dgm:presLayoutVars>
      </dgm:prSet>
      <dgm:spPr/>
    </dgm:pt>
    <dgm:pt modelId="{3E7D27F4-E3C0-8C42-8604-7B390A28B445}" type="pres">
      <dgm:prSet presAssocID="{93939AFC-B808-CB45-97A2-FD8A75A7F129}" presName="FourNodes_3_text" presStyleLbl="node1" presStyleIdx="3" presStyleCnt="4">
        <dgm:presLayoutVars>
          <dgm:bulletEnabled val="1"/>
        </dgm:presLayoutVars>
      </dgm:prSet>
      <dgm:spPr/>
    </dgm:pt>
    <dgm:pt modelId="{FCDB59DE-BFE5-614A-9201-54CE5A19C01A}" type="pres">
      <dgm:prSet presAssocID="{93939AFC-B808-CB45-97A2-FD8A75A7F129}" presName="FourNodes_4_text" presStyleLbl="node1" presStyleIdx="3" presStyleCnt="4">
        <dgm:presLayoutVars>
          <dgm:bulletEnabled val="1"/>
        </dgm:presLayoutVars>
      </dgm:prSet>
      <dgm:spPr/>
    </dgm:pt>
  </dgm:ptLst>
  <dgm:cxnLst>
    <dgm:cxn modelId="{3B57F107-FB40-FC4F-9080-C4EA592A0CE2}" type="presOf" srcId="{826D3D10-3249-DC43-8F58-FF04E0B25A28}" destId="{5F46BE68-7BFB-944B-8437-2703B7DD3C5A}" srcOrd="1" destOrd="0" presId="urn:microsoft.com/office/officeart/2005/8/layout/vProcess5"/>
    <dgm:cxn modelId="{EF624A11-E8BD-1B44-89E0-A65EEFE4E6E2}" type="presOf" srcId="{BBB1A04C-2494-7447-B82B-8B4CA95170FB}" destId="{CA53DBC3-E23F-0D42-8E62-4D6A1EAFDBA3}" srcOrd="0" destOrd="0" presId="urn:microsoft.com/office/officeart/2005/8/layout/vProcess5"/>
    <dgm:cxn modelId="{975D541D-3A1F-324B-BE94-F67C809AFE9D}" type="presOf" srcId="{E6BCB12E-7525-AC4F-AC6A-43699781DE7B}" destId="{6F24E93E-20E5-A34F-90BC-678154F66B20}" srcOrd="0" destOrd="0" presId="urn:microsoft.com/office/officeart/2005/8/layout/vProcess5"/>
    <dgm:cxn modelId="{03A9BE26-853A-F049-B4DD-C357A97BE725}" type="presOf" srcId="{92F0C86C-B933-204A-8644-2A5EC83DA1CC}" destId="{EBF8F89E-53B0-6A47-92B1-06495D8EC858}" srcOrd="0" destOrd="0" presId="urn:microsoft.com/office/officeart/2005/8/layout/vProcess5"/>
    <dgm:cxn modelId="{53666A2E-0411-5E4D-A69D-115A9D9B724F}" type="presOf" srcId="{BBB1A04C-2494-7447-B82B-8B4CA95170FB}" destId="{FCDB59DE-BFE5-614A-9201-54CE5A19C01A}" srcOrd="1" destOrd="0" presId="urn:microsoft.com/office/officeart/2005/8/layout/vProcess5"/>
    <dgm:cxn modelId="{79848F31-114B-084F-8D70-2151C1AC70DF}" type="presOf" srcId="{826D3D10-3249-DC43-8F58-FF04E0B25A28}" destId="{12470C67-0CD5-9C46-85A6-B827803C8BC8}" srcOrd="0" destOrd="0" presId="urn:microsoft.com/office/officeart/2005/8/layout/vProcess5"/>
    <dgm:cxn modelId="{B3CFD442-5CA9-8A40-BBA7-28F209BB3F03}" type="presOf" srcId="{E6BCB12E-7525-AC4F-AC6A-43699781DE7B}" destId="{DACAD4CD-6F23-B645-B041-F8BDA1FB3418}" srcOrd="1" destOrd="0" presId="urn:microsoft.com/office/officeart/2005/8/layout/vProcess5"/>
    <dgm:cxn modelId="{E4B92C6C-8893-2849-AE70-302DB9D03B22}" srcId="{93939AFC-B808-CB45-97A2-FD8A75A7F129}" destId="{BBB1A04C-2494-7447-B82B-8B4CA95170FB}" srcOrd="3" destOrd="0" parTransId="{9F45E791-E448-554D-A273-B3DA6921BB56}" sibTransId="{57F24458-FC49-2545-B604-CC110F479487}"/>
    <dgm:cxn modelId="{BB37788A-5418-5C49-B408-2CD31D3C8017}" type="presOf" srcId="{93939AFC-B808-CB45-97A2-FD8A75A7F129}" destId="{BF397E04-6E78-E14C-9501-E6D102FAE879}" srcOrd="0" destOrd="0" presId="urn:microsoft.com/office/officeart/2005/8/layout/vProcess5"/>
    <dgm:cxn modelId="{B20046A8-07A9-8D4A-962B-53DE402E21EF}" srcId="{93939AFC-B808-CB45-97A2-FD8A75A7F129}" destId="{E6BCB12E-7525-AC4F-AC6A-43699781DE7B}" srcOrd="1" destOrd="0" parTransId="{C735E750-E216-B446-A84F-991EBA4F4CF0}" sibTransId="{92F0C86C-B933-204A-8644-2A5EC83DA1CC}"/>
    <dgm:cxn modelId="{5965DDAF-D6B9-F245-A95E-B5C34AB78F34}" srcId="{93939AFC-B808-CB45-97A2-FD8A75A7F129}" destId="{D8272584-1761-694F-9645-92867D404B0A}" srcOrd="2" destOrd="0" parTransId="{53ABB99E-B142-654A-A83D-F8AB63C0010D}" sibTransId="{AB9E36A6-5A89-D349-AC73-190EA7F52DED}"/>
    <dgm:cxn modelId="{13B17CB7-5ED6-2247-9191-1981FB745FCB}" type="presOf" srcId="{D8272584-1761-694F-9645-92867D404B0A}" destId="{3E7D27F4-E3C0-8C42-8604-7B390A28B445}" srcOrd="1" destOrd="0" presId="urn:microsoft.com/office/officeart/2005/8/layout/vProcess5"/>
    <dgm:cxn modelId="{21C896BC-BAFA-284C-B193-4F693FFED921}" type="presOf" srcId="{D8272584-1761-694F-9645-92867D404B0A}" destId="{BD3C29D1-5617-9E4A-B28C-E4A131E35204}" srcOrd="0" destOrd="0" presId="urn:microsoft.com/office/officeart/2005/8/layout/vProcess5"/>
    <dgm:cxn modelId="{96A580D2-C32D-E043-B83F-26D8A072029E}" srcId="{93939AFC-B808-CB45-97A2-FD8A75A7F129}" destId="{826D3D10-3249-DC43-8F58-FF04E0B25A28}" srcOrd="0" destOrd="0" parTransId="{0A944B0C-C50C-2A47-8F85-0813BD523CAB}" sibTransId="{720E4A5A-409A-354D-8898-242222479325}"/>
    <dgm:cxn modelId="{541BF4D9-1DB3-E24E-983C-C8CEF447B1AE}" type="presOf" srcId="{AB9E36A6-5A89-D349-AC73-190EA7F52DED}" destId="{0EA72948-8188-B74D-AB03-552851AC92CE}" srcOrd="0" destOrd="0" presId="urn:microsoft.com/office/officeart/2005/8/layout/vProcess5"/>
    <dgm:cxn modelId="{799167F7-4C22-AA4D-AB4A-A404792B844A}" type="presOf" srcId="{720E4A5A-409A-354D-8898-242222479325}" destId="{30C32FE3-58A6-7643-9530-D91BA1CE112D}" srcOrd="0" destOrd="0" presId="urn:microsoft.com/office/officeart/2005/8/layout/vProcess5"/>
    <dgm:cxn modelId="{17F729E2-AF56-CA4D-89A4-6B54B642666B}" type="presParOf" srcId="{BF397E04-6E78-E14C-9501-E6D102FAE879}" destId="{AF434DDC-847D-7A46-96BA-3A95D3873AFE}" srcOrd="0" destOrd="0" presId="urn:microsoft.com/office/officeart/2005/8/layout/vProcess5"/>
    <dgm:cxn modelId="{FC9258F4-383E-FE4F-B5DE-8B6545E0110A}" type="presParOf" srcId="{BF397E04-6E78-E14C-9501-E6D102FAE879}" destId="{12470C67-0CD5-9C46-85A6-B827803C8BC8}" srcOrd="1" destOrd="0" presId="urn:microsoft.com/office/officeart/2005/8/layout/vProcess5"/>
    <dgm:cxn modelId="{79D5C347-E8BC-B548-8F44-449B26CDE054}" type="presParOf" srcId="{BF397E04-6E78-E14C-9501-E6D102FAE879}" destId="{6F24E93E-20E5-A34F-90BC-678154F66B20}" srcOrd="2" destOrd="0" presId="urn:microsoft.com/office/officeart/2005/8/layout/vProcess5"/>
    <dgm:cxn modelId="{AC1670AF-95AD-B149-9DFE-E9406F00FBDC}" type="presParOf" srcId="{BF397E04-6E78-E14C-9501-E6D102FAE879}" destId="{BD3C29D1-5617-9E4A-B28C-E4A131E35204}" srcOrd="3" destOrd="0" presId="urn:microsoft.com/office/officeart/2005/8/layout/vProcess5"/>
    <dgm:cxn modelId="{441C3EA6-1D30-B54C-8CAE-12B9D685C914}" type="presParOf" srcId="{BF397E04-6E78-E14C-9501-E6D102FAE879}" destId="{CA53DBC3-E23F-0D42-8E62-4D6A1EAFDBA3}" srcOrd="4" destOrd="0" presId="urn:microsoft.com/office/officeart/2005/8/layout/vProcess5"/>
    <dgm:cxn modelId="{25CFDE67-0BF2-554F-BF4B-226A878CAA63}" type="presParOf" srcId="{BF397E04-6E78-E14C-9501-E6D102FAE879}" destId="{30C32FE3-58A6-7643-9530-D91BA1CE112D}" srcOrd="5" destOrd="0" presId="urn:microsoft.com/office/officeart/2005/8/layout/vProcess5"/>
    <dgm:cxn modelId="{9550ACC2-595A-C34F-9AED-54AEDFDFA28E}" type="presParOf" srcId="{BF397E04-6E78-E14C-9501-E6D102FAE879}" destId="{EBF8F89E-53B0-6A47-92B1-06495D8EC858}" srcOrd="6" destOrd="0" presId="urn:microsoft.com/office/officeart/2005/8/layout/vProcess5"/>
    <dgm:cxn modelId="{70A3CC21-8DB6-2A44-8282-862E51E99559}" type="presParOf" srcId="{BF397E04-6E78-E14C-9501-E6D102FAE879}" destId="{0EA72948-8188-B74D-AB03-552851AC92CE}" srcOrd="7" destOrd="0" presId="urn:microsoft.com/office/officeart/2005/8/layout/vProcess5"/>
    <dgm:cxn modelId="{D4ECC5F9-99C4-B94A-AA02-935635768C99}" type="presParOf" srcId="{BF397E04-6E78-E14C-9501-E6D102FAE879}" destId="{5F46BE68-7BFB-944B-8437-2703B7DD3C5A}" srcOrd="8" destOrd="0" presId="urn:microsoft.com/office/officeart/2005/8/layout/vProcess5"/>
    <dgm:cxn modelId="{74635E6F-8D58-0C41-9A1D-D39062178F4B}" type="presParOf" srcId="{BF397E04-6E78-E14C-9501-E6D102FAE879}" destId="{DACAD4CD-6F23-B645-B041-F8BDA1FB3418}" srcOrd="9" destOrd="0" presId="urn:microsoft.com/office/officeart/2005/8/layout/vProcess5"/>
    <dgm:cxn modelId="{E61064E8-90B0-C343-BB31-8E42F7FC4F39}" type="presParOf" srcId="{BF397E04-6E78-E14C-9501-E6D102FAE879}" destId="{3E7D27F4-E3C0-8C42-8604-7B390A28B445}" srcOrd="10" destOrd="0" presId="urn:microsoft.com/office/officeart/2005/8/layout/vProcess5"/>
    <dgm:cxn modelId="{F2B325E0-B048-0847-8F1B-00BE5D549DEC}" type="presParOf" srcId="{BF397E04-6E78-E14C-9501-E6D102FAE879}" destId="{FCDB59DE-BFE5-614A-9201-54CE5A19C01A}"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BBA4C2C-5DED-3940-9699-838D93932BEA}" type="doc">
      <dgm:prSet loTypeId="urn:microsoft.com/office/officeart/2005/8/layout/hChevron3" loCatId="" qsTypeId="urn:microsoft.com/office/officeart/2005/8/quickstyle/simple1" qsCatId="simple" csTypeId="urn:microsoft.com/office/officeart/2005/8/colors/colorful2" csCatId="colorful" phldr="1"/>
      <dgm:spPr/>
    </dgm:pt>
    <dgm:pt modelId="{196F0884-153E-4B43-BCC3-D931BABB15D5}">
      <dgm:prSet phldrT="[Text]" custT="1"/>
      <dgm:spPr>
        <a:solidFill>
          <a:schemeClr val="bg1">
            <a:lumMod val="95000"/>
          </a:schemeClr>
        </a:solidFill>
      </dgm:spPr>
      <dgm:t>
        <a:bodyPr/>
        <a:lstStyle/>
        <a:p>
          <a:pPr algn="l"/>
          <a:r>
            <a:rPr lang="en-US" sz="2800" dirty="0">
              <a:solidFill>
                <a:schemeClr val="tx1"/>
              </a:solidFill>
            </a:rPr>
            <a:t>Period finding</a:t>
          </a:r>
        </a:p>
      </dgm:t>
    </dgm:pt>
    <dgm:pt modelId="{DD8E6762-39CD-D84B-A71B-F62CCDAD0349}" type="parTrans" cxnId="{7006D361-43DA-AD45-BDBB-E592BDBA1660}">
      <dgm:prSet/>
      <dgm:spPr/>
      <dgm:t>
        <a:bodyPr/>
        <a:lstStyle/>
        <a:p>
          <a:endParaRPr lang="en-US" sz="3200">
            <a:solidFill>
              <a:schemeClr val="tx1"/>
            </a:solidFill>
          </a:endParaRPr>
        </a:p>
      </dgm:t>
    </dgm:pt>
    <dgm:pt modelId="{6E4EF3C9-7164-0E4E-8F70-0988B503B8B2}" type="sibTrans" cxnId="{7006D361-43DA-AD45-BDBB-E592BDBA1660}">
      <dgm:prSet/>
      <dgm:spPr/>
      <dgm:t>
        <a:bodyPr/>
        <a:lstStyle/>
        <a:p>
          <a:endParaRPr lang="en-US" sz="3200">
            <a:solidFill>
              <a:schemeClr val="tx1"/>
            </a:solidFill>
          </a:endParaRPr>
        </a:p>
      </dgm:t>
    </dgm:pt>
    <mc:AlternateContent xmlns:mc="http://schemas.openxmlformats.org/markup-compatibility/2006" xmlns:a14="http://schemas.microsoft.com/office/drawing/2010/main">
      <mc:Choice Requires="a14">
        <dgm:pt modelId="{538601FA-003E-1F40-9A11-315274D31737}">
          <dgm:prSet phldrT="[Text]" custT="1"/>
          <dgm:spPr>
            <a:solidFill>
              <a:schemeClr val="accent5">
                <a:lumMod val="20000"/>
                <a:lumOff val="80000"/>
              </a:schemeClr>
            </a:solidFill>
          </dgm:spPr>
          <dgm:t>
            <a:bodyPr/>
            <a:lstStyle/>
            <a:p>
              <a:pPr algn="ctr"/>
              <a:r>
                <a:rPr lang="en-US" sz="2800" dirty="0">
                  <a:solidFill>
                    <a:schemeClr val="tx1"/>
                  </a:solidFill>
                  <a:latin typeface="+mj-lt"/>
                </a:rPr>
                <a:t>For a given function </a:t>
              </a:r>
              <a14:m>
                <m:oMath xmlns:m="http://schemas.openxmlformats.org/officeDocument/2006/math">
                  <m:r>
                    <a:rPr lang="en-US" sz="2800" b="0" i="1" smtClean="0">
                      <a:solidFill>
                        <a:schemeClr val="tx1"/>
                      </a:solidFill>
                      <a:latin typeface="Cambria Math" panose="02040503050406030204" pitchFamily="18" charset="0"/>
                    </a:rPr>
                    <m:t>𝑓</m:t>
                  </m:r>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e>
                  </m:d>
                  <m:r>
                    <a:rPr lang="en-US" sz="2800" b="0" i="1" smtClean="0">
                      <a:solidFill>
                        <a:schemeClr val="tx1"/>
                      </a:solidFill>
                      <a:latin typeface="Cambria Math" panose="02040503050406030204" pitchFamily="18" charset="0"/>
                    </a:rPr>
                    <m:t>=</m:t>
                  </m:r>
                  <m:sSup>
                    <m:sSupPr>
                      <m:ctrlPr>
                        <a:rPr lang="en-US" sz="280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𝑎</m:t>
                      </m:r>
                    </m:e>
                    <m:sup>
                      <m:r>
                        <a:rPr lang="en-US" sz="2800" b="0" i="1" smtClean="0">
                          <a:solidFill>
                            <a:schemeClr val="tx1"/>
                          </a:solidFill>
                          <a:latin typeface="Cambria Math" panose="02040503050406030204" pitchFamily="18" charset="0"/>
                        </a:rPr>
                        <m:t>𝑥</m:t>
                      </m:r>
                    </m:sup>
                  </m:sSup>
                  <m:r>
                    <m:rPr>
                      <m:sty m:val="p"/>
                    </m:rPr>
                    <a:rPr lang="en-US" sz="2800" b="0" i="0" smtClean="0">
                      <a:solidFill>
                        <a:schemeClr val="tx1"/>
                      </a:solidFill>
                      <a:latin typeface="Cambria Math" panose="02040503050406030204" pitchFamily="18" charset="0"/>
                    </a:rPr>
                    <m:t>mod</m:t>
                  </m:r>
                  <m:r>
                    <a:rPr lang="en-US" sz="2800" b="0" i="1"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𝑁</m:t>
                  </m:r>
                </m:oMath>
              </a14:m>
              <a:r>
                <a:rPr lang="en-US" sz="2800" i="0" dirty="0">
                  <a:solidFill>
                    <a:schemeClr val="tx1"/>
                  </a:solidFill>
                  <a:latin typeface="+mj-lt"/>
                  <a:ea typeface="Cambria Math" panose="02040503050406030204" pitchFamily="18" charset="0"/>
                </a:rPr>
                <a:t>,</a:t>
              </a:r>
              <a:br>
                <a:rPr lang="en-US" sz="2800" i="0" dirty="0">
                  <a:solidFill>
                    <a:schemeClr val="tx1"/>
                  </a:solidFill>
                  <a:latin typeface="+mj-lt"/>
                  <a:ea typeface="Cambria Math" panose="02040503050406030204" pitchFamily="18" charset="0"/>
                </a:rPr>
              </a:br>
              <a:r>
                <a:rPr lang="en-US" sz="2800" i="0" dirty="0">
                  <a:solidFill>
                    <a:schemeClr val="tx1"/>
                  </a:solidFill>
                  <a:latin typeface="+mj-lt"/>
                  <a:ea typeface="Cambria Math" panose="02040503050406030204" pitchFamily="18" charset="0"/>
                </a:rPr>
                <a:t>Starting from</a:t>
              </a:r>
              <a14:m>
                <m:oMath xmlns:m="http://schemas.openxmlformats.org/officeDocument/2006/math">
                  <m:r>
                    <a:rPr lang="en-US" sz="2800" b="0" i="0"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𝑓</m:t>
                  </m:r>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0</m:t>
                      </m:r>
                    </m:e>
                  </m:d>
                  <m:r>
                    <a:rPr lang="en-US" sz="2800" b="0" i="1" smtClean="0">
                      <a:solidFill>
                        <a:schemeClr val="tx1"/>
                      </a:solidFill>
                      <a:latin typeface="Cambria Math" panose="02040503050406030204" pitchFamily="18" charset="0"/>
                    </a:rPr>
                    <m:t>=1</m:t>
                  </m:r>
                </m:oMath>
              </a14:m>
              <a:r>
                <a:rPr lang="en-US" sz="2800" i="0" dirty="0">
                  <a:solidFill>
                    <a:schemeClr val="tx1"/>
                  </a:solidFill>
                  <a:latin typeface="+mj-lt"/>
                  <a:ea typeface="Cambria Math" panose="02040503050406030204" pitchFamily="18" charset="0"/>
                </a:rPr>
                <a:t>, find the smallest </a:t>
              </a:r>
              <a14:m>
                <m:oMath xmlns:m="http://schemas.openxmlformats.org/officeDocument/2006/math">
                  <m:r>
                    <a:rPr lang="en-US" sz="2800" b="0" i="1" smtClean="0">
                      <a:solidFill>
                        <a:schemeClr val="tx1"/>
                      </a:solidFill>
                      <a:latin typeface="Cambria Math" panose="02040503050406030204" pitchFamily="18" charset="0"/>
                    </a:rPr>
                    <m:t>𝑟</m:t>
                  </m:r>
                </m:oMath>
              </a14:m>
              <a:br>
                <a:rPr lang="en-US" sz="2800" b="0" i="0" dirty="0">
                  <a:solidFill>
                    <a:schemeClr val="tx1"/>
                  </a:solidFill>
                  <a:latin typeface="+mj-lt"/>
                </a:rPr>
              </a:br>
              <a:r>
                <a:rPr lang="en-US" sz="2800" i="0" dirty="0">
                  <a:solidFill>
                    <a:schemeClr val="tx1"/>
                  </a:solidFill>
                  <a:latin typeface="+mj-lt"/>
                  <a:ea typeface="Cambria Math" panose="02040503050406030204" pitchFamily="18" charset="0"/>
                </a:rPr>
                <a:t>for which</a:t>
              </a:r>
              <a14:m>
                <m:oMath xmlns:m="http://schemas.openxmlformats.org/officeDocument/2006/math">
                  <m:r>
                    <a:rPr lang="en-US" sz="2800" b="0" i="0"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𝑓</m:t>
                  </m:r>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𝑟</m:t>
                      </m:r>
                    </m:e>
                  </m:d>
                  <m:r>
                    <a:rPr lang="en-US" sz="2800" b="0" i="1" smtClean="0">
                      <a:solidFill>
                        <a:schemeClr val="tx1"/>
                      </a:solidFill>
                      <a:latin typeface="Cambria Math" panose="02040503050406030204" pitchFamily="18" charset="0"/>
                    </a:rPr>
                    <m:t>=1</m:t>
                  </m:r>
                </m:oMath>
              </a14:m>
              <a:endParaRPr lang="en-US" sz="2800" i="0" dirty="0">
                <a:solidFill>
                  <a:schemeClr val="tx1"/>
                </a:solidFill>
                <a:latin typeface="+mj-lt"/>
                <a:ea typeface="Cambria Math" panose="02040503050406030204" pitchFamily="18" charset="0"/>
              </a:endParaRPr>
            </a:p>
          </dgm:t>
        </dgm:pt>
      </mc:Choice>
      <mc:Fallback xmlns="">
        <dgm:pt modelId="{538601FA-003E-1F40-9A11-315274D31737}">
          <dgm:prSet phldrT="[Text]" custT="1"/>
          <dgm:spPr>
            <a:solidFill>
              <a:schemeClr val="accent5">
                <a:lumMod val="20000"/>
                <a:lumOff val="80000"/>
              </a:schemeClr>
            </a:solidFill>
          </dgm:spPr>
          <dgm:t>
            <a:bodyPr/>
            <a:lstStyle/>
            <a:p>
              <a:pPr algn="ctr"/>
              <a:r>
                <a:rPr lang="en-US" sz="2800" dirty="0">
                  <a:solidFill>
                    <a:schemeClr val="tx1"/>
                  </a:solidFill>
                  <a:latin typeface="+mj-lt"/>
                </a:rPr>
                <a:t>For a given function </a:t>
              </a:r>
              <a:r>
                <a:rPr lang="en-US" sz="2800" b="0" i="0">
                  <a:solidFill>
                    <a:schemeClr val="tx1"/>
                  </a:solidFill>
                  <a:latin typeface="Cambria Math" panose="02040503050406030204" pitchFamily="18" charset="0"/>
                </a:rPr>
                <a:t>𝑓(𝑥)=𝑎^𝑥 mod 𝑁</a:t>
              </a:r>
              <a:r>
                <a:rPr lang="en-US" sz="2800" i="0" dirty="0">
                  <a:solidFill>
                    <a:schemeClr val="tx1"/>
                  </a:solidFill>
                  <a:latin typeface="+mj-lt"/>
                  <a:ea typeface="Cambria Math" panose="02040503050406030204" pitchFamily="18" charset="0"/>
                </a:rPr>
                <a:t>,</a:t>
              </a:r>
              <a:br>
                <a:rPr lang="en-US" sz="2800" i="0" dirty="0">
                  <a:solidFill>
                    <a:schemeClr val="tx1"/>
                  </a:solidFill>
                  <a:latin typeface="+mj-lt"/>
                  <a:ea typeface="Cambria Math" panose="02040503050406030204" pitchFamily="18" charset="0"/>
                </a:rPr>
              </a:br>
              <a:r>
                <a:rPr lang="en-US" sz="2800" i="0" dirty="0">
                  <a:solidFill>
                    <a:schemeClr val="tx1"/>
                  </a:solidFill>
                  <a:latin typeface="+mj-lt"/>
                  <a:ea typeface="Cambria Math" panose="02040503050406030204" pitchFamily="18" charset="0"/>
                </a:rPr>
                <a:t>Starting from</a:t>
              </a:r>
              <a:r>
                <a:rPr lang="en-US" sz="2800" b="0" i="0">
                  <a:solidFill>
                    <a:schemeClr val="tx1"/>
                  </a:solidFill>
                  <a:latin typeface="Cambria Math" panose="02040503050406030204" pitchFamily="18" charset="0"/>
                </a:rPr>
                <a:t> 𝑓(0)=1</a:t>
              </a:r>
              <a:r>
                <a:rPr lang="en-US" sz="2800" i="0" dirty="0">
                  <a:solidFill>
                    <a:schemeClr val="tx1"/>
                  </a:solidFill>
                  <a:latin typeface="+mj-lt"/>
                  <a:ea typeface="Cambria Math" panose="02040503050406030204" pitchFamily="18" charset="0"/>
                </a:rPr>
                <a:t>, find the smallest </a:t>
              </a:r>
              <a:r>
                <a:rPr lang="en-US" sz="2800" b="0" i="0">
                  <a:solidFill>
                    <a:schemeClr val="tx1"/>
                  </a:solidFill>
                  <a:latin typeface="Cambria Math" panose="02040503050406030204" pitchFamily="18" charset="0"/>
                </a:rPr>
                <a:t>𝑟</a:t>
              </a:r>
              <a:br>
                <a:rPr lang="en-US" sz="2800" b="0" i="0" dirty="0">
                  <a:solidFill>
                    <a:schemeClr val="tx1"/>
                  </a:solidFill>
                  <a:latin typeface="+mj-lt"/>
                </a:rPr>
              </a:br>
              <a:r>
                <a:rPr lang="en-US" sz="2800" i="0" dirty="0">
                  <a:solidFill>
                    <a:schemeClr val="tx1"/>
                  </a:solidFill>
                  <a:latin typeface="+mj-lt"/>
                  <a:ea typeface="Cambria Math" panose="02040503050406030204" pitchFamily="18" charset="0"/>
                </a:rPr>
                <a:t>for which</a:t>
              </a:r>
              <a:r>
                <a:rPr lang="en-US" sz="2800" b="0" i="0">
                  <a:solidFill>
                    <a:schemeClr val="tx1"/>
                  </a:solidFill>
                  <a:latin typeface="Cambria Math" panose="02040503050406030204" pitchFamily="18" charset="0"/>
                </a:rPr>
                <a:t> 𝑓(𝑟)=1</a:t>
              </a:r>
              <a:endParaRPr lang="en-US" sz="2800" i="0" dirty="0">
                <a:solidFill>
                  <a:schemeClr val="tx1"/>
                </a:solidFill>
                <a:latin typeface="+mj-lt"/>
                <a:ea typeface="Cambria Math" panose="02040503050406030204" pitchFamily="18" charset="0"/>
              </a:endParaRPr>
            </a:p>
          </dgm:t>
        </dgm:pt>
      </mc:Fallback>
    </mc:AlternateContent>
    <dgm:pt modelId="{2851EF8D-52AA-3E4E-AC86-3CCB77577061}" type="parTrans" cxnId="{A2AC26A9-C494-A641-8F0D-740F34402D7D}">
      <dgm:prSet/>
      <dgm:spPr/>
      <dgm:t>
        <a:bodyPr/>
        <a:lstStyle/>
        <a:p>
          <a:endParaRPr lang="en-US" sz="3200">
            <a:solidFill>
              <a:schemeClr val="tx1"/>
            </a:solidFill>
          </a:endParaRPr>
        </a:p>
      </dgm:t>
    </dgm:pt>
    <dgm:pt modelId="{41CAD2B2-ECC0-3543-A481-A846B72869D0}" type="sibTrans" cxnId="{A2AC26A9-C494-A641-8F0D-740F34402D7D}">
      <dgm:prSet/>
      <dgm:spPr/>
      <dgm:t>
        <a:bodyPr/>
        <a:lstStyle/>
        <a:p>
          <a:endParaRPr lang="en-US" sz="3200">
            <a:solidFill>
              <a:schemeClr val="tx1"/>
            </a:solidFill>
          </a:endParaRPr>
        </a:p>
      </dgm:t>
    </dgm:pt>
    <dgm:pt modelId="{1F85FE15-0DD2-0943-8E72-FF83FF050C4E}" type="pres">
      <dgm:prSet presAssocID="{0BBA4C2C-5DED-3940-9699-838D93932BEA}" presName="Name0" presStyleCnt="0">
        <dgm:presLayoutVars>
          <dgm:dir/>
          <dgm:resizeHandles val="exact"/>
        </dgm:presLayoutVars>
      </dgm:prSet>
      <dgm:spPr/>
    </dgm:pt>
    <dgm:pt modelId="{C042C814-BA0C-E44F-80E9-1EE4C22CA83D}" type="pres">
      <dgm:prSet presAssocID="{196F0884-153E-4B43-BCC3-D931BABB15D5}" presName="parTxOnly" presStyleLbl="node1" presStyleIdx="0" presStyleCnt="2" custScaleX="40155" custLinFactNeighborX="742">
        <dgm:presLayoutVars>
          <dgm:bulletEnabled val="1"/>
        </dgm:presLayoutVars>
      </dgm:prSet>
      <dgm:spPr/>
    </dgm:pt>
    <dgm:pt modelId="{9302BE9F-4EE8-E548-9001-74D777CAA615}" type="pres">
      <dgm:prSet presAssocID="{6E4EF3C9-7164-0E4E-8F70-0988B503B8B2}" presName="parSpace" presStyleCnt="0"/>
      <dgm:spPr/>
    </dgm:pt>
    <dgm:pt modelId="{878896BA-557A-5049-8A92-AC0CF143522C}" type="pres">
      <dgm:prSet presAssocID="{538601FA-003E-1F40-9A11-315274D31737}" presName="parTxOnly" presStyleLbl="node1" presStyleIdx="1" presStyleCnt="2">
        <dgm:presLayoutVars>
          <dgm:bulletEnabled val="1"/>
        </dgm:presLayoutVars>
      </dgm:prSet>
      <dgm:spPr/>
    </dgm:pt>
  </dgm:ptLst>
  <dgm:cxnLst>
    <dgm:cxn modelId="{A578433D-6FD0-B344-93B8-303015F7B420}" type="presOf" srcId="{196F0884-153E-4B43-BCC3-D931BABB15D5}" destId="{C042C814-BA0C-E44F-80E9-1EE4C22CA83D}" srcOrd="0" destOrd="0" presId="urn:microsoft.com/office/officeart/2005/8/layout/hChevron3"/>
    <dgm:cxn modelId="{7006D361-43DA-AD45-BDBB-E592BDBA1660}" srcId="{0BBA4C2C-5DED-3940-9699-838D93932BEA}" destId="{196F0884-153E-4B43-BCC3-D931BABB15D5}" srcOrd="0" destOrd="0" parTransId="{DD8E6762-39CD-D84B-A71B-F62CCDAD0349}" sibTransId="{6E4EF3C9-7164-0E4E-8F70-0988B503B8B2}"/>
    <dgm:cxn modelId="{D57C2271-B076-E947-A3A9-8C9476D1F3A0}" type="presOf" srcId="{538601FA-003E-1F40-9A11-315274D31737}" destId="{878896BA-557A-5049-8A92-AC0CF143522C}" srcOrd="0" destOrd="0" presId="urn:microsoft.com/office/officeart/2005/8/layout/hChevron3"/>
    <dgm:cxn modelId="{CDC30F95-3841-174D-B071-C58CFE83A16E}" type="presOf" srcId="{0BBA4C2C-5DED-3940-9699-838D93932BEA}" destId="{1F85FE15-0DD2-0943-8E72-FF83FF050C4E}" srcOrd="0" destOrd="0" presId="urn:microsoft.com/office/officeart/2005/8/layout/hChevron3"/>
    <dgm:cxn modelId="{A2AC26A9-C494-A641-8F0D-740F34402D7D}" srcId="{0BBA4C2C-5DED-3940-9699-838D93932BEA}" destId="{538601FA-003E-1F40-9A11-315274D31737}" srcOrd="1" destOrd="0" parTransId="{2851EF8D-52AA-3E4E-AC86-3CCB77577061}" sibTransId="{41CAD2B2-ECC0-3543-A481-A846B72869D0}"/>
    <dgm:cxn modelId="{01F579A9-C93E-B649-B22F-86B461B839E9}" type="presParOf" srcId="{1F85FE15-0DD2-0943-8E72-FF83FF050C4E}" destId="{C042C814-BA0C-E44F-80E9-1EE4C22CA83D}" srcOrd="0" destOrd="0" presId="urn:microsoft.com/office/officeart/2005/8/layout/hChevron3"/>
    <dgm:cxn modelId="{CAB0CD16-1E8B-0542-A661-CCB19C0CDF90}" type="presParOf" srcId="{1F85FE15-0DD2-0943-8E72-FF83FF050C4E}" destId="{9302BE9F-4EE8-E548-9001-74D777CAA615}" srcOrd="1" destOrd="0" presId="urn:microsoft.com/office/officeart/2005/8/layout/hChevron3"/>
    <dgm:cxn modelId="{CFC8EC15-8F28-FD49-8397-DFE7FE4A5934}" type="presParOf" srcId="{1F85FE15-0DD2-0943-8E72-FF83FF050C4E}" destId="{878896BA-557A-5049-8A92-AC0CF143522C}" srcOrd="2"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BBA4C2C-5DED-3940-9699-838D93932BEA}" type="doc">
      <dgm:prSet loTypeId="urn:microsoft.com/office/officeart/2005/8/layout/hChevron3" loCatId="" qsTypeId="urn:microsoft.com/office/officeart/2005/8/quickstyle/simple1" qsCatId="simple" csTypeId="urn:microsoft.com/office/officeart/2005/8/colors/colorful2" csCatId="colorful" phldr="1"/>
      <dgm:spPr/>
    </dgm:pt>
    <dgm:pt modelId="{196F0884-153E-4B43-BCC3-D931BABB15D5}">
      <dgm:prSet phldrT="[Text]" custT="1"/>
      <dgm:spPr>
        <a:solidFill>
          <a:schemeClr val="bg1">
            <a:lumMod val="95000"/>
          </a:schemeClr>
        </a:solidFill>
      </dgm:spPr>
      <dgm:t>
        <a:bodyPr/>
        <a:lstStyle/>
        <a:p>
          <a:pPr algn="l"/>
          <a:r>
            <a:rPr lang="en-US" sz="2800" dirty="0">
              <a:solidFill>
                <a:schemeClr val="tx1"/>
              </a:solidFill>
            </a:rPr>
            <a:t>Period finding</a:t>
          </a:r>
        </a:p>
      </dgm:t>
    </dgm:pt>
    <dgm:pt modelId="{DD8E6762-39CD-D84B-A71B-F62CCDAD0349}" type="parTrans" cxnId="{7006D361-43DA-AD45-BDBB-E592BDBA1660}">
      <dgm:prSet/>
      <dgm:spPr/>
      <dgm:t>
        <a:bodyPr/>
        <a:lstStyle/>
        <a:p>
          <a:endParaRPr lang="en-US" sz="3200">
            <a:solidFill>
              <a:schemeClr val="tx1"/>
            </a:solidFill>
          </a:endParaRPr>
        </a:p>
      </dgm:t>
    </dgm:pt>
    <dgm:pt modelId="{6E4EF3C9-7164-0E4E-8F70-0988B503B8B2}" type="sibTrans" cxnId="{7006D361-43DA-AD45-BDBB-E592BDBA1660}">
      <dgm:prSet/>
      <dgm:spPr/>
      <dgm:t>
        <a:bodyPr/>
        <a:lstStyle/>
        <a:p>
          <a:endParaRPr lang="en-US" sz="3200">
            <a:solidFill>
              <a:schemeClr val="tx1"/>
            </a:solidFill>
          </a:endParaRPr>
        </a:p>
      </dgm:t>
    </dgm:pt>
    <dgm:pt modelId="{538601FA-003E-1F40-9A11-315274D31737}">
      <dgm:prSet phldrT="[Text]" custT="1"/>
      <dgm:spPr>
        <a:blipFill>
          <a:blip xmlns:r="http://schemas.openxmlformats.org/officeDocument/2006/relationships" r:embed="rId1"/>
          <a:stretch>
            <a:fillRect t="-8824" b="-11765"/>
          </a:stretch>
        </a:blipFill>
      </dgm:spPr>
      <dgm:t>
        <a:bodyPr/>
        <a:lstStyle/>
        <a:p>
          <a:r>
            <a:rPr lang="en-US">
              <a:noFill/>
            </a:rPr>
            <a:t> </a:t>
          </a:r>
        </a:p>
      </dgm:t>
    </dgm:pt>
    <dgm:pt modelId="{2851EF8D-52AA-3E4E-AC86-3CCB77577061}" type="parTrans" cxnId="{A2AC26A9-C494-A641-8F0D-740F34402D7D}">
      <dgm:prSet/>
      <dgm:spPr/>
      <dgm:t>
        <a:bodyPr/>
        <a:lstStyle/>
        <a:p>
          <a:endParaRPr lang="en-US" sz="3200">
            <a:solidFill>
              <a:schemeClr val="tx1"/>
            </a:solidFill>
          </a:endParaRPr>
        </a:p>
      </dgm:t>
    </dgm:pt>
    <dgm:pt modelId="{41CAD2B2-ECC0-3543-A481-A846B72869D0}" type="sibTrans" cxnId="{A2AC26A9-C494-A641-8F0D-740F34402D7D}">
      <dgm:prSet/>
      <dgm:spPr/>
      <dgm:t>
        <a:bodyPr/>
        <a:lstStyle/>
        <a:p>
          <a:endParaRPr lang="en-US" sz="3200">
            <a:solidFill>
              <a:schemeClr val="tx1"/>
            </a:solidFill>
          </a:endParaRPr>
        </a:p>
      </dgm:t>
    </dgm:pt>
    <dgm:pt modelId="{1F85FE15-0DD2-0943-8E72-FF83FF050C4E}" type="pres">
      <dgm:prSet presAssocID="{0BBA4C2C-5DED-3940-9699-838D93932BEA}" presName="Name0" presStyleCnt="0">
        <dgm:presLayoutVars>
          <dgm:dir/>
          <dgm:resizeHandles val="exact"/>
        </dgm:presLayoutVars>
      </dgm:prSet>
      <dgm:spPr/>
    </dgm:pt>
    <dgm:pt modelId="{C042C814-BA0C-E44F-80E9-1EE4C22CA83D}" type="pres">
      <dgm:prSet presAssocID="{196F0884-153E-4B43-BCC3-D931BABB15D5}" presName="parTxOnly" presStyleLbl="node1" presStyleIdx="0" presStyleCnt="2" custScaleX="40155" custLinFactNeighborX="742">
        <dgm:presLayoutVars>
          <dgm:bulletEnabled val="1"/>
        </dgm:presLayoutVars>
      </dgm:prSet>
      <dgm:spPr/>
    </dgm:pt>
    <dgm:pt modelId="{9302BE9F-4EE8-E548-9001-74D777CAA615}" type="pres">
      <dgm:prSet presAssocID="{6E4EF3C9-7164-0E4E-8F70-0988B503B8B2}" presName="parSpace" presStyleCnt="0"/>
      <dgm:spPr/>
    </dgm:pt>
    <dgm:pt modelId="{878896BA-557A-5049-8A92-AC0CF143522C}" type="pres">
      <dgm:prSet presAssocID="{538601FA-003E-1F40-9A11-315274D31737}" presName="parTxOnly" presStyleLbl="node1" presStyleIdx="1" presStyleCnt="2">
        <dgm:presLayoutVars>
          <dgm:bulletEnabled val="1"/>
        </dgm:presLayoutVars>
      </dgm:prSet>
      <dgm:spPr/>
    </dgm:pt>
  </dgm:ptLst>
  <dgm:cxnLst>
    <dgm:cxn modelId="{A578433D-6FD0-B344-93B8-303015F7B420}" type="presOf" srcId="{196F0884-153E-4B43-BCC3-D931BABB15D5}" destId="{C042C814-BA0C-E44F-80E9-1EE4C22CA83D}" srcOrd="0" destOrd="0" presId="urn:microsoft.com/office/officeart/2005/8/layout/hChevron3"/>
    <dgm:cxn modelId="{7006D361-43DA-AD45-BDBB-E592BDBA1660}" srcId="{0BBA4C2C-5DED-3940-9699-838D93932BEA}" destId="{196F0884-153E-4B43-BCC3-D931BABB15D5}" srcOrd="0" destOrd="0" parTransId="{DD8E6762-39CD-D84B-A71B-F62CCDAD0349}" sibTransId="{6E4EF3C9-7164-0E4E-8F70-0988B503B8B2}"/>
    <dgm:cxn modelId="{D57C2271-B076-E947-A3A9-8C9476D1F3A0}" type="presOf" srcId="{538601FA-003E-1F40-9A11-315274D31737}" destId="{878896BA-557A-5049-8A92-AC0CF143522C}" srcOrd="0" destOrd="0" presId="urn:microsoft.com/office/officeart/2005/8/layout/hChevron3"/>
    <dgm:cxn modelId="{CDC30F95-3841-174D-B071-C58CFE83A16E}" type="presOf" srcId="{0BBA4C2C-5DED-3940-9699-838D93932BEA}" destId="{1F85FE15-0DD2-0943-8E72-FF83FF050C4E}" srcOrd="0" destOrd="0" presId="urn:microsoft.com/office/officeart/2005/8/layout/hChevron3"/>
    <dgm:cxn modelId="{A2AC26A9-C494-A641-8F0D-740F34402D7D}" srcId="{0BBA4C2C-5DED-3940-9699-838D93932BEA}" destId="{538601FA-003E-1F40-9A11-315274D31737}" srcOrd="1" destOrd="0" parTransId="{2851EF8D-52AA-3E4E-AC86-3CCB77577061}" sibTransId="{41CAD2B2-ECC0-3543-A481-A846B72869D0}"/>
    <dgm:cxn modelId="{01F579A9-C93E-B649-B22F-86B461B839E9}" type="presParOf" srcId="{1F85FE15-0DD2-0943-8E72-FF83FF050C4E}" destId="{C042C814-BA0C-E44F-80E9-1EE4C22CA83D}" srcOrd="0" destOrd="0" presId="urn:microsoft.com/office/officeart/2005/8/layout/hChevron3"/>
    <dgm:cxn modelId="{CAB0CD16-1E8B-0542-A661-CCB19C0CDF90}" type="presParOf" srcId="{1F85FE15-0DD2-0943-8E72-FF83FF050C4E}" destId="{9302BE9F-4EE8-E548-9001-74D777CAA615}" srcOrd="1" destOrd="0" presId="urn:microsoft.com/office/officeart/2005/8/layout/hChevron3"/>
    <dgm:cxn modelId="{CFC8EC15-8F28-FD49-8397-DFE7FE4A5934}" type="presParOf" srcId="{1F85FE15-0DD2-0943-8E72-FF83FF050C4E}" destId="{878896BA-557A-5049-8A92-AC0CF143522C}" srcOrd="2"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BE0B7E-B2BD-D142-9283-674CC3846DB4}">
      <dsp:nvSpPr>
        <dsp:cNvPr id="0" name=""/>
        <dsp:cNvSpPr/>
      </dsp:nvSpPr>
      <dsp:spPr>
        <a:xfrm>
          <a:off x="0" y="684782"/>
          <a:ext cx="10987086" cy="1134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F12D5B-19AE-1043-B926-953B02B4DD7E}">
      <dsp:nvSpPr>
        <dsp:cNvPr id="0" name=""/>
        <dsp:cNvSpPr/>
      </dsp:nvSpPr>
      <dsp:spPr>
        <a:xfrm>
          <a:off x="549354" y="20581"/>
          <a:ext cx="7690960" cy="13284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700" tIns="0" rIns="290700" bIns="0" numCol="1" spcCol="1270" anchor="ctr" anchorCtr="0">
          <a:noAutofit/>
        </a:bodyPr>
        <a:lstStyle/>
        <a:p>
          <a:pPr marL="0" lvl="0" indent="0" algn="l" defTabSz="2000250">
            <a:lnSpc>
              <a:spcPct val="90000"/>
            </a:lnSpc>
            <a:spcBef>
              <a:spcPct val="0"/>
            </a:spcBef>
            <a:spcAft>
              <a:spcPct val="35000"/>
            </a:spcAft>
            <a:buNone/>
          </a:pPr>
          <a:r>
            <a:rPr lang="en-US" sz="4500" i="0" kern="1200" dirty="0"/>
            <a:t>Grover algorithm</a:t>
          </a:r>
        </a:p>
      </dsp:txBody>
      <dsp:txXfrm>
        <a:off x="614201" y="85428"/>
        <a:ext cx="7561266" cy="1198706"/>
      </dsp:txXfrm>
    </dsp:sp>
    <dsp:sp modelId="{8165A3F0-BD47-AF4F-96D5-7892F3FD5A25}">
      <dsp:nvSpPr>
        <dsp:cNvPr id="0" name=""/>
        <dsp:cNvSpPr/>
      </dsp:nvSpPr>
      <dsp:spPr>
        <a:xfrm>
          <a:off x="0" y="2725982"/>
          <a:ext cx="10987086" cy="11340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5AC87C-9E2A-3B43-9D39-D57666A85262}">
      <dsp:nvSpPr>
        <dsp:cNvPr id="0" name=""/>
        <dsp:cNvSpPr/>
      </dsp:nvSpPr>
      <dsp:spPr>
        <a:xfrm>
          <a:off x="549354" y="2061782"/>
          <a:ext cx="7690960" cy="132840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700" tIns="0" rIns="290700" bIns="0" numCol="1" spcCol="1270" anchor="ctr" anchorCtr="0">
          <a:noAutofit/>
        </a:bodyPr>
        <a:lstStyle/>
        <a:p>
          <a:pPr marL="0" lvl="0" indent="0" algn="l" defTabSz="2000250">
            <a:lnSpc>
              <a:spcPct val="90000"/>
            </a:lnSpc>
            <a:spcBef>
              <a:spcPct val="0"/>
            </a:spcBef>
            <a:spcAft>
              <a:spcPct val="35000"/>
            </a:spcAft>
            <a:buNone/>
          </a:pPr>
          <a:r>
            <a:rPr lang="en-US" sz="4500" i="0" kern="1200"/>
            <a:t>Shor's </a:t>
          </a:r>
          <a:r>
            <a:rPr lang="en-US" sz="4500" i="0" kern="1200" dirty="0"/>
            <a:t>algorithm</a:t>
          </a:r>
        </a:p>
      </dsp:txBody>
      <dsp:txXfrm>
        <a:off x="614201" y="2126629"/>
        <a:ext cx="7561266" cy="11987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06416-5AAE-4A4D-9171-57A104A73C01}">
      <dsp:nvSpPr>
        <dsp:cNvPr id="0" name=""/>
        <dsp:cNvSpPr/>
      </dsp:nvSpPr>
      <dsp:spPr>
        <a:xfrm>
          <a:off x="948266" y="0"/>
          <a:ext cx="5418667" cy="5418667"/>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601225-0234-6E4D-BF0A-FF34726E603D}">
      <dsp:nvSpPr>
        <dsp:cNvPr id="0" name=""/>
        <dsp:cNvSpPr/>
      </dsp:nvSpPr>
      <dsp:spPr>
        <a:xfrm>
          <a:off x="3657599" y="544777"/>
          <a:ext cx="3522133" cy="128270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ZA" sz="3200" b="0" kern="1200" dirty="0"/>
            <a:t>modular arithmetic</a:t>
          </a:r>
          <a:endParaRPr lang="en-US" sz="3200" kern="1200" dirty="0"/>
        </a:p>
      </dsp:txBody>
      <dsp:txXfrm>
        <a:off x="3720215" y="607393"/>
        <a:ext cx="3396901" cy="1157468"/>
      </dsp:txXfrm>
    </dsp:sp>
    <dsp:sp modelId="{24FDE7BD-4049-3744-B287-3C461C6A02CB}">
      <dsp:nvSpPr>
        <dsp:cNvPr id="0" name=""/>
        <dsp:cNvSpPr/>
      </dsp:nvSpPr>
      <dsp:spPr>
        <a:xfrm>
          <a:off x="3657599" y="1987814"/>
          <a:ext cx="3522133" cy="128270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ZA" sz="3200" b="0" kern="1200" dirty="0"/>
            <a:t>number theory</a:t>
          </a:r>
          <a:endParaRPr lang="en-US" sz="3200" kern="1200" dirty="0"/>
        </a:p>
      </dsp:txBody>
      <dsp:txXfrm>
        <a:off x="3720215" y="2050430"/>
        <a:ext cx="3396901" cy="1157468"/>
      </dsp:txXfrm>
    </dsp:sp>
    <dsp:sp modelId="{63E8C0F4-9B4B-5547-B619-B83166D702EE}">
      <dsp:nvSpPr>
        <dsp:cNvPr id="0" name=""/>
        <dsp:cNvSpPr/>
      </dsp:nvSpPr>
      <dsp:spPr>
        <a:xfrm>
          <a:off x="3657599" y="3430852"/>
          <a:ext cx="3522133" cy="128270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ZA" sz="3200" b="0" kern="1200" dirty="0"/>
            <a:t>period finding</a:t>
          </a:r>
          <a:endParaRPr lang="en-US" sz="3200" kern="1200" dirty="0"/>
        </a:p>
      </dsp:txBody>
      <dsp:txXfrm>
        <a:off x="3720215" y="3493468"/>
        <a:ext cx="3396901" cy="11574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2C814-BA0C-E44F-80E9-1EE4C22CA83D}">
      <dsp:nvSpPr>
        <dsp:cNvPr id="0" name=""/>
        <dsp:cNvSpPr/>
      </dsp:nvSpPr>
      <dsp:spPr>
        <a:xfrm>
          <a:off x="0" y="0"/>
          <a:ext cx="5479944" cy="1116562"/>
        </a:xfrm>
        <a:prstGeom prst="homePlate">
          <a:avLst/>
        </a:prstGeom>
        <a:solidFill>
          <a:schemeClr val="accent4">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l" defTabSz="1244600">
            <a:lnSpc>
              <a:spcPct val="90000"/>
            </a:lnSpc>
            <a:spcBef>
              <a:spcPct val="0"/>
            </a:spcBef>
            <a:spcAft>
              <a:spcPct val="35000"/>
            </a:spcAft>
            <a:buNone/>
          </a:pPr>
          <a:r>
            <a:rPr lang="en-ZA" sz="2800" b="0" kern="1200" dirty="0">
              <a:solidFill>
                <a:schemeClr val="tx1"/>
              </a:solidFill>
              <a:latin typeface="+mj-lt"/>
            </a:rPr>
            <a:t>Two observations:</a:t>
          </a:r>
          <a:endParaRPr lang="en-US" sz="2800" kern="1200" dirty="0">
            <a:solidFill>
              <a:schemeClr val="tx1"/>
            </a:solidFill>
            <a:latin typeface="+mj-lt"/>
          </a:endParaRPr>
        </a:p>
      </dsp:txBody>
      <dsp:txXfrm>
        <a:off x="0" y="0"/>
        <a:ext cx="5200804" cy="1116562"/>
      </dsp:txXfrm>
    </dsp:sp>
    <dsp:sp modelId="{878896BA-557A-5049-8A92-AC0CF143522C}">
      <dsp:nvSpPr>
        <dsp:cNvPr id="0" name=""/>
        <dsp:cNvSpPr/>
      </dsp:nvSpPr>
      <dsp:spPr>
        <a:xfrm>
          <a:off x="4140910" y="0"/>
          <a:ext cx="6707972" cy="1116562"/>
        </a:xfrm>
        <a:prstGeom prst="chevron">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l" defTabSz="1244600">
            <a:lnSpc>
              <a:spcPct val="90000"/>
            </a:lnSpc>
            <a:spcBef>
              <a:spcPct val="0"/>
            </a:spcBef>
            <a:spcAft>
              <a:spcPct val="35000"/>
            </a:spcAft>
            <a:buNone/>
          </a:pPr>
          <a:r>
            <a:rPr lang="en-US" sz="2800" i="0" kern="1200" dirty="0" err="1">
              <a:solidFill>
                <a:schemeClr val="tx1"/>
              </a:solidFill>
              <a:latin typeface="Cambria Math" panose="02040503050406030204" pitchFamily="18" charset="0"/>
              <a:ea typeface="Cambria Math" panose="02040503050406030204" pitchFamily="18" charset="0"/>
            </a:rPr>
            <a:t>gcd</a:t>
          </a:r>
          <a:r>
            <a:rPr lang="en-US" sz="2800" i="0" kern="1200" dirty="0">
              <a:solidFill>
                <a:schemeClr val="tx1"/>
              </a:solidFill>
              <a:latin typeface="Cambria Math" panose="02040503050406030204" pitchFamily="18" charset="0"/>
              <a:ea typeface="Cambria Math" panose="02040503050406030204" pitchFamily="18" charset="0"/>
            </a:rPr>
            <a:t>(a, 0) =  |a|     </a:t>
          </a:r>
          <a:r>
            <a:rPr lang="en-US" sz="2800" i="0" kern="1200" dirty="0" err="1">
              <a:solidFill>
                <a:schemeClr val="tx1"/>
              </a:solidFill>
              <a:latin typeface="Cambria Math" panose="02040503050406030204" pitchFamily="18" charset="0"/>
              <a:ea typeface="Cambria Math" panose="02040503050406030204" pitchFamily="18" charset="0"/>
            </a:rPr>
            <a:t>gcd</a:t>
          </a:r>
          <a:r>
            <a:rPr lang="en-US" sz="2800" i="0" kern="1200" dirty="0">
              <a:solidFill>
                <a:schemeClr val="tx1"/>
              </a:solidFill>
              <a:latin typeface="Cambria Math" panose="02040503050406030204" pitchFamily="18" charset="0"/>
              <a:ea typeface="Cambria Math" panose="02040503050406030204" pitchFamily="18" charset="0"/>
            </a:rPr>
            <a:t>(0, b) =  |b|</a:t>
          </a:r>
        </a:p>
        <a:p>
          <a:pPr marL="0" lvl="0" indent="0" algn="l" defTabSz="1244600">
            <a:lnSpc>
              <a:spcPct val="90000"/>
            </a:lnSpc>
            <a:spcBef>
              <a:spcPct val="0"/>
            </a:spcBef>
            <a:spcAft>
              <a:spcPct val="35000"/>
            </a:spcAft>
            <a:buNone/>
          </a:pPr>
          <a:r>
            <a:rPr lang="en-US" sz="2800" i="0" kern="1200" dirty="0" err="1">
              <a:solidFill>
                <a:srgbClr val="0000FF"/>
              </a:solidFill>
              <a:latin typeface="Cambria Math" panose="02040503050406030204" pitchFamily="18" charset="0"/>
              <a:ea typeface="Cambria Math" panose="02040503050406030204" pitchFamily="18" charset="0"/>
            </a:rPr>
            <a:t>gcd</a:t>
          </a:r>
          <a:r>
            <a:rPr lang="en-US" sz="2800" i="0" kern="1200" dirty="0">
              <a:solidFill>
                <a:srgbClr val="0000FF"/>
              </a:solidFill>
              <a:latin typeface="Cambria Math" panose="02040503050406030204" pitchFamily="18" charset="0"/>
              <a:ea typeface="Cambria Math" panose="02040503050406030204" pitchFamily="18" charset="0"/>
            </a:rPr>
            <a:t>(a, b) =  </a:t>
          </a:r>
          <a:r>
            <a:rPr lang="en-US" sz="2800" i="0" kern="1200" dirty="0" err="1">
              <a:solidFill>
                <a:srgbClr val="0000FF"/>
              </a:solidFill>
              <a:latin typeface="Cambria Math" panose="02040503050406030204" pitchFamily="18" charset="0"/>
              <a:ea typeface="Cambria Math" panose="02040503050406030204" pitchFamily="18" charset="0"/>
            </a:rPr>
            <a:t>gcd</a:t>
          </a:r>
          <a:r>
            <a:rPr lang="en-US" sz="2800" i="0" kern="1200" dirty="0">
              <a:solidFill>
                <a:srgbClr val="0000FF"/>
              </a:solidFill>
              <a:latin typeface="Cambria Math" panose="02040503050406030204" pitchFamily="18" charset="0"/>
              <a:ea typeface="Cambria Math" panose="02040503050406030204" pitchFamily="18" charset="0"/>
            </a:rPr>
            <a:t>(b, a mod b),      a&gt;b</a:t>
          </a:r>
        </a:p>
      </dsp:txBody>
      <dsp:txXfrm>
        <a:off x="4699191" y="0"/>
        <a:ext cx="5591410" cy="11165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470C67-0CD5-9C46-85A6-B827803C8BC8}">
      <dsp:nvSpPr>
        <dsp:cNvPr id="0" name=""/>
        <dsp:cNvSpPr/>
      </dsp:nvSpPr>
      <dsp:spPr>
        <a:xfrm>
          <a:off x="-192542" y="0"/>
          <a:ext cx="10344620" cy="1304448"/>
        </a:xfrm>
        <a:prstGeom prst="roundRect">
          <a:avLst>
            <a:gd name="adj" fmla="val 10000"/>
          </a:avLst>
        </a:prstGeom>
        <a:solidFill>
          <a:schemeClr val="accent4">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latin typeface="+mj-lt"/>
            </a:rPr>
            <a:t>Let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𝑁</m:t>
              </m:r>
              <m:r>
                <a:rPr lang="en-US" sz="2800" b="0" i="1" kern="1200" smtClean="0">
                  <a:solidFill>
                    <a:schemeClr val="tx1"/>
                  </a:solidFill>
                  <a:latin typeface="Cambria Math" panose="02040503050406030204" pitchFamily="18" charset="0"/>
                </a:rPr>
                <m:t>=</m:t>
              </m:r>
              <m:r>
                <a:rPr lang="en-US" sz="2800" b="0" i="1" kern="1200" smtClean="0">
                  <a:solidFill>
                    <a:schemeClr val="tx1"/>
                  </a:solidFill>
                  <a:latin typeface="Cambria Math" panose="02040503050406030204" pitchFamily="18" charset="0"/>
                </a:rPr>
                <m:t>𝑝𝑞</m:t>
              </m:r>
            </m:oMath>
          </a14:m>
          <a:r>
            <a:rPr lang="en-US" sz="2800" kern="1200" dirty="0">
              <a:solidFill>
                <a:schemeClr val="tx1"/>
              </a:solidFill>
              <a:latin typeface="+mj-lt"/>
            </a:rPr>
            <a:t>  where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𝑝</m:t>
              </m:r>
            </m:oMath>
          </a14:m>
          <a:r>
            <a:rPr lang="en-US" sz="2800" kern="1200" dirty="0">
              <a:solidFill>
                <a:schemeClr val="tx1"/>
              </a:solidFill>
              <a:latin typeface="+mj-lt"/>
            </a:rPr>
            <a:t> and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𝑞</m:t>
              </m:r>
            </m:oMath>
          </a14:m>
          <a:r>
            <a:rPr lang="en-US" sz="2800" kern="1200" dirty="0">
              <a:solidFill>
                <a:schemeClr val="tx1"/>
              </a:solidFill>
              <a:latin typeface="+mj-lt"/>
            </a:rPr>
            <a:t> are prime numbers.</a:t>
          </a:r>
        </a:p>
      </dsp:txBody>
      <dsp:txXfrm>
        <a:off x="-154336" y="38206"/>
        <a:ext cx="8710845" cy="1228036"/>
      </dsp:txXfrm>
    </dsp:sp>
    <dsp:sp modelId="{6F24E93E-20E5-A34F-90BC-678154F66B20}">
      <dsp:nvSpPr>
        <dsp:cNvPr id="0" name=""/>
        <dsp:cNvSpPr/>
      </dsp:nvSpPr>
      <dsp:spPr>
        <a:xfrm>
          <a:off x="609318" y="1541620"/>
          <a:ext cx="10344620" cy="1304448"/>
        </a:xfrm>
        <a:prstGeom prst="roundRect">
          <a:avLst>
            <a:gd name="adj" fmla="val 10000"/>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0" kern="1200" dirty="0">
              <a:solidFill>
                <a:schemeClr val="tx1"/>
              </a:solidFill>
              <a:latin typeface="+mj-lt"/>
            </a:rPr>
            <a:t>If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𝑧</m:t>
              </m:r>
            </m:oMath>
          </a14:m>
          <a:r>
            <a:rPr lang="en-US" sz="2800" b="0" kern="1200" dirty="0">
              <a:solidFill>
                <a:schemeClr val="tx1"/>
              </a:solidFill>
              <a:latin typeface="+mj-lt"/>
            </a:rPr>
            <a:t> shares a nontrivial factor with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𝑁</m:t>
              </m:r>
            </m:oMath>
          </a14:m>
          <a:r>
            <a:rPr lang="en-US" sz="2800" b="0" kern="1200" dirty="0">
              <a:solidFill>
                <a:schemeClr val="tx1"/>
              </a:solidFill>
              <a:latin typeface="+mj-lt"/>
            </a:rPr>
            <a:t>, then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𝑔𝑐𝑑</m:t>
              </m:r>
              <m:d>
                <m:dPr>
                  <m:ctrlPr>
                    <a:rPr lang="en-US" sz="2800" b="0" i="1" kern="1200" smtClean="0">
                      <a:solidFill>
                        <a:schemeClr val="tx1"/>
                      </a:solidFill>
                      <a:latin typeface="Cambria Math" panose="02040503050406030204" pitchFamily="18" charset="0"/>
                    </a:rPr>
                  </m:ctrlPr>
                </m:dPr>
                <m:e>
                  <m:r>
                    <a:rPr lang="en-US" sz="2800" b="0" i="1" kern="1200" smtClean="0">
                      <a:solidFill>
                        <a:schemeClr val="tx1"/>
                      </a:solidFill>
                      <a:latin typeface="Cambria Math" panose="02040503050406030204" pitchFamily="18" charset="0"/>
                    </a:rPr>
                    <m:t>𝑧</m:t>
                  </m:r>
                  <m:r>
                    <a:rPr lang="en-US" sz="2800" b="0" i="1" kern="1200" smtClean="0">
                      <a:solidFill>
                        <a:schemeClr val="tx1"/>
                      </a:solidFill>
                      <a:latin typeface="Cambria Math" panose="02040503050406030204" pitchFamily="18" charset="0"/>
                    </a:rPr>
                    <m:t>,</m:t>
                  </m:r>
                  <m:r>
                    <a:rPr lang="en-US" sz="2800" b="0" i="1" kern="1200" smtClean="0">
                      <a:solidFill>
                        <a:schemeClr val="tx1"/>
                      </a:solidFill>
                      <a:latin typeface="Cambria Math" panose="02040503050406030204" pitchFamily="18" charset="0"/>
                    </a:rPr>
                    <m:t>𝑁</m:t>
                  </m:r>
                </m:e>
              </m:d>
            </m:oMath>
          </a14:m>
          <a:r>
            <a:rPr lang="en-US" sz="2800" b="0" kern="1200" dirty="0">
              <a:solidFill>
                <a:schemeClr val="tx1"/>
              </a:solidFill>
              <a:latin typeface="+mj-lt"/>
            </a:rPr>
            <a:t> can reveal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𝑝</m:t>
              </m:r>
            </m:oMath>
          </a14:m>
          <a:r>
            <a:rPr lang="en-US" sz="2800" b="0" kern="1200" dirty="0">
              <a:solidFill>
                <a:schemeClr val="tx1"/>
              </a:solidFill>
              <a:latin typeface="+mj-lt"/>
            </a:rPr>
            <a:t> or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𝑞</m:t>
              </m:r>
            </m:oMath>
          </a14:m>
          <a:r>
            <a:rPr lang="en-US" sz="2800" b="0" kern="1200" dirty="0">
              <a:solidFill>
                <a:schemeClr val="tx1"/>
              </a:solidFill>
              <a:latin typeface="+mj-lt"/>
            </a:rPr>
            <a:t>.</a:t>
          </a:r>
        </a:p>
      </dsp:txBody>
      <dsp:txXfrm>
        <a:off x="647524" y="1579826"/>
        <a:ext cx="8485751" cy="1228036"/>
      </dsp:txXfrm>
    </dsp:sp>
    <dsp:sp modelId="{BD3C29D1-5617-9E4A-B28C-E4A131E35204}">
      <dsp:nvSpPr>
        <dsp:cNvPr id="0" name=""/>
        <dsp:cNvSpPr/>
      </dsp:nvSpPr>
      <dsp:spPr>
        <a:xfrm>
          <a:off x="1399210" y="3083241"/>
          <a:ext cx="10344620" cy="1304448"/>
        </a:xfrm>
        <a:prstGeom prst="roundRect">
          <a:avLst>
            <a:gd name="adj" fmla="val 10000"/>
          </a:avLst>
        </a:prstGeom>
        <a:solidFill>
          <a:schemeClr val="accent6">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latin typeface="+mj-lt"/>
            </a:rPr>
            <a:t>Shor constructs such numbers as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𝑧</m:t>
              </m:r>
              <m:r>
                <a:rPr lang="en-US" sz="2800" b="0" i="1" kern="1200" smtClean="0">
                  <a:solidFill>
                    <a:schemeClr val="tx1"/>
                  </a:solidFill>
                  <a:latin typeface="Cambria Math" panose="02040503050406030204" pitchFamily="18" charset="0"/>
                </a:rPr>
                <m:t>=</m:t>
              </m:r>
              <m:sSup>
                <m:sSupPr>
                  <m:ctrlPr>
                    <a:rPr lang="en-US" sz="2800" i="1" kern="1200" smtClean="0">
                      <a:solidFill>
                        <a:schemeClr val="tx1"/>
                      </a:solidFill>
                      <a:latin typeface="Cambria Math" panose="02040503050406030204" pitchFamily="18" charset="0"/>
                    </a:rPr>
                  </m:ctrlPr>
                </m:sSupPr>
                <m:e>
                  <m:r>
                    <a:rPr lang="en-US" sz="2800" i="1" kern="1200">
                      <a:solidFill>
                        <a:schemeClr val="tx1"/>
                      </a:solidFill>
                      <a:latin typeface="Cambria Math" panose="02040503050406030204" pitchFamily="18" charset="0"/>
                    </a:rPr>
                    <m:t>𝑎</m:t>
                  </m:r>
                </m:e>
                <m:sup>
                  <m:r>
                    <a:rPr lang="en-US" sz="2800" i="1" kern="1200">
                      <a:solidFill>
                        <a:schemeClr val="tx1"/>
                      </a:solidFill>
                      <a:latin typeface="Cambria Math" panose="02040503050406030204" pitchFamily="18" charset="0"/>
                    </a:rPr>
                    <m:t>𝑟</m:t>
                  </m:r>
                  <m:r>
                    <a:rPr lang="en-US" sz="2800" b="0" i="1" kern="1200" smtClean="0">
                      <a:solidFill>
                        <a:schemeClr val="tx1"/>
                      </a:solidFill>
                      <a:latin typeface="Cambria Math" panose="02040503050406030204" pitchFamily="18" charset="0"/>
                    </a:rPr>
                    <m:t>/2</m:t>
                  </m:r>
                </m:sup>
              </m:sSup>
              <m:r>
                <a:rPr lang="en-US" sz="2800" i="1" kern="1200" smtClean="0">
                  <a:solidFill>
                    <a:schemeClr val="tx1"/>
                  </a:solidFill>
                  <a:latin typeface="Cambria Math" panose="02040503050406030204" pitchFamily="18" charset="0"/>
                  <a:ea typeface="Cambria Math" panose="02040503050406030204" pitchFamily="18" charset="0"/>
                </a:rPr>
                <m:t>±</m:t>
              </m:r>
              <m:r>
                <a:rPr lang="en-US" sz="2800" b="0" i="1" kern="1200" smtClean="0">
                  <a:solidFill>
                    <a:schemeClr val="tx1"/>
                  </a:solidFill>
                  <a:latin typeface="Cambria Math" panose="02040503050406030204" pitchFamily="18" charset="0"/>
                  <a:ea typeface="Cambria Math" panose="02040503050406030204" pitchFamily="18" charset="0"/>
                </a:rPr>
                <m:t>1</m:t>
              </m:r>
            </m:oMath>
          </a14:m>
          <a:r>
            <a:rPr lang="en-US" sz="2800" b="0" i="1" kern="1200" dirty="0">
              <a:solidFill>
                <a:schemeClr val="tx1"/>
              </a:solidFill>
              <a:latin typeface="+mj-lt"/>
            </a:rPr>
            <a:t> </a:t>
          </a:r>
          <a:r>
            <a:rPr lang="en-US" sz="2800" b="0" i="0" kern="1200" dirty="0">
              <a:solidFill>
                <a:schemeClr val="tx1"/>
              </a:solidFill>
              <a:latin typeface="+mj-lt"/>
            </a:rPr>
            <a:t>where</a:t>
          </a:r>
          <a:br>
            <a:rPr lang="en-US" sz="2800" b="0" i="1" kern="1200" dirty="0">
              <a:solidFill>
                <a:schemeClr val="tx1"/>
              </a:solidFill>
              <a:latin typeface="+mj-lt"/>
            </a:rPr>
          </a:b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ea typeface="Cambria Math" panose="02040503050406030204" pitchFamily="18" charset="0"/>
                </a:rPr>
                <m:t>  ∎</m:t>
              </m:r>
              <m:r>
                <a:rPr lang="en-US" sz="2800" b="0" i="1" kern="1200" smtClean="0">
                  <a:solidFill>
                    <a:schemeClr val="tx1"/>
                  </a:solidFill>
                  <a:latin typeface="Cambria Math" panose="02040503050406030204" pitchFamily="18" charset="0"/>
                </a:rPr>
                <m:t> </m:t>
              </m:r>
              <m:r>
                <a:rPr lang="en-US" sz="2800" b="0" i="1" kern="1200" smtClean="0">
                  <a:solidFill>
                    <a:schemeClr val="tx1"/>
                  </a:solidFill>
                  <a:latin typeface="Cambria Math" panose="02040503050406030204" pitchFamily="18" charset="0"/>
                </a:rPr>
                <m:t>𝑎</m:t>
              </m:r>
              <m:r>
                <a:rPr lang="en-US" sz="2800" b="0" i="1" kern="1200" smtClean="0">
                  <a:solidFill>
                    <a:schemeClr val="tx1"/>
                  </a:solidFill>
                  <a:latin typeface="Cambria Math" panose="02040503050406030204" pitchFamily="18" charset="0"/>
                </a:rPr>
                <m:t>&lt;</m:t>
              </m:r>
              <m:r>
                <a:rPr lang="en-US" sz="2800" b="0" i="1" kern="1200" smtClean="0">
                  <a:solidFill>
                    <a:schemeClr val="tx1"/>
                  </a:solidFill>
                  <a:latin typeface="Cambria Math" panose="02040503050406030204" pitchFamily="18" charset="0"/>
                </a:rPr>
                <m:t>𝑁</m:t>
              </m:r>
            </m:oMath>
          </a14:m>
          <a:r>
            <a:rPr lang="en-US" sz="2800" kern="1200" dirty="0">
              <a:solidFill>
                <a:schemeClr val="tx1"/>
              </a:solidFill>
              <a:latin typeface="+mj-lt"/>
            </a:rPr>
            <a:t> is a random integer, such that </a:t>
          </a:r>
          <a14:m xmlns:a14="http://schemas.microsoft.com/office/drawing/2010/main">
            <m:oMath xmlns:m="http://schemas.openxmlformats.org/officeDocument/2006/math">
              <m:r>
                <m:rPr>
                  <m:sty m:val="p"/>
                </m:rPr>
                <a:rPr lang="en-US" sz="2800" b="0" i="0" kern="1200" smtClean="0">
                  <a:solidFill>
                    <a:schemeClr val="tx1"/>
                  </a:solidFill>
                  <a:latin typeface="Cambria Math" panose="02040503050406030204" pitchFamily="18" charset="0"/>
                </a:rPr>
                <m:t>gcd</m:t>
              </m:r>
              <m:d>
                <m:dPr>
                  <m:ctrlPr>
                    <a:rPr lang="en-US" sz="2800" b="0" i="1" kern="1200" smtClean="0">
                      <a:solidFill>
                        <a:schemeClr val="tx1"/>
                      </a:solidFill>
                      <a:latin typeface="Cambria Math" panose="02040503050406030204" pitchFamily="18" charset="0"/>
                    </a:rPr>
                  </m:ctrlPr>
                </m:dPr>
                <m:e>
                  <m:r>
                    <a:rPr lang="en-US" sz="2800" b="0" i="1" kern="1200" smtClean="0">
                      <a:solidFill>
                        <a:schemeClr val="tx1"/>
                      </a:solidFill>
                      <a:latin typeface="Cambria Math" panose="02040503050406030204" pitchFamily="18" charset="0"/>
                    </a:rPr>
                    <m:t>𝑎</m:t>
                  </m:r>
                  <m:r>
                    <a:rPr lang="en-US" sz="2800" b="0" i="1" kern="1200" smtClean="0">
                      <a:solidFill>
                        <a:schemeClr val="tx1"/>
                      </a:solidFill>
                      <a:latin typeface="Cambria Math" panose="02040503050406030204" pitchFamily="18" charset="0"/>
                    </a:rPr>
                    <m:t>,</m:t>
                  </m:r>
                  <m:r>
                    <a:rPr lang="en-US" sz="2800" b="0" i="1" kern="1200" smtClean="0">
                      <a:solidFill>
                        <a:schemeClr val="tx1"/>
                      </a:solidFill>
                      <a:latin typeface="Cambria Math" panose="02040503050406030204" pitchFamily="18" charset="0"/>
                    </a:rPr>
                    <m:t>𝑁</m:t>
                  </m:r>
                </m:e>
              </m:d>
              <m:r>
                <a:rPr lang="en-US" sz="2800" b="0" i="1" kern="1200" smtClean="0">
                  <a:solidFill>
                    <a:schemeClr val="tx1"/>
                  </a:solidFill>
                  <a:latin typeface="Cambria Math" panose="02040503050406030204" pitchFamily="18" charset="0"/>
                </a:rPr>
                <m:t>=1</m:t>
              </m:r>
            </m:oMath>
          </a14:m>
          <a:r>
            <a:rPr lang="en-US" sz="2800" b="0" kern="1200" dirty="0">
              <a:solidFill>
                <a:schemeClr val="tx1"/>
              </a:solidFill>
              <a:latin typeface="+mj-lt"/>
            </a:rPr>
            <a:t> </a:t>
          </a:r>
          <a:br>
            <a:rPr lang="en-US" sz="2800" kern="1200" dirty="0">
              <a:solidFill>
                <a:schemeClr val="tx1"/>
              </a:solidFill>
              <a:latin typeface="+mj-lt"/>
            </a:rPr>
          </a:br>
          <a:r>
            <a:rPr lang="en-US" sz="2800" kern="1200" dirty="0">
              <a:solidFill>
                <a:schemeClr val="tx1"/>
              </a:solidFill>
              <a:latin typeface="+mj-lt"/>
            </a:rPr>
            <a:t>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ea typeface="Cambria Math" panose="02040503050406030204" pitchFamily="18" charset="0"/>
                </a:rPr>
                <m:t>∎  </m:t>
              </m:r>
              <m:r>
                <a:rPr lang="en-US" sz="2800" b="0" i="1" kern="1200" smtClean="0">
                  <a:solidFill>
                    <a:schemeClr val="tx1"/>
                  </a:solidFill>
                  <a:latin typeface="Cambria Math" panose="02040503050406030204" pitchFamily="18" charset="0"/>
                  <a:ea typeface="Cambria Math" panose="02040503050406030204" pitchFamily="18" charset="0"/>
                </a:rPr>
                <m:t>𝑟</m:t>
              </m:r>
            </m:oMath>
          </a14:m>
          <a:r>
            <a:rPr lang="en-US" sz="2800" kern="1200" dirty="0">
              <a:solidFill>
                <a:schemeClr val="tx1"/>
              </a:solidFill>
              <a:latin typeface="+mj-lt"/>
            </a:rPr>
            <a:t> is the period of </a:t>
          </a:r>
          <a14:m xmlns:a14="http://schemas.microsoft.com/office/drawing/2010/main">
            <m:oMath xmlns:m="http://schemas.openxmlformats.org/officeDocument/2006/math">
              <m:sSup>
                <m:sSupPr>
                  <m:ctrlPr>
                    <a:rPr lang="en-US" sz="2800" i="1" kern="1200" smtClean="0">
                      <a:solidFill>
                        <a:schemeClr val="tx1"/>
                      </a:solidFill>
                      <a:latin typeface="Cambria Math" panose="02040503050406030204" pitchFamily="18" charset="0"/>
                    </a:rPr>
                  </m:ctrlPr>
                </m:sSupPr>
                <m:e>
                  <m:r>
                    <a:rPr lang="en-US" sz="2800" b="0" i="1" kern="1200" smtClean="0">
                      <a:solidFill>
                        <a:schemeClr val="tx1"/>
                      </a:solidFill>
                      <a:latin typeface="Cambria Math" panose="02040503050406030204" pitchFamily="18" charset="0"/>
                    </a:rPr>
                    <m:t>𝑓</m:t>
                  </m:r>
                  <m:d>
                    <m:dPr>
                      <m:ctrlPr>
                        <a:rPr lang="en-US" sz="2800" b="0" i="1" kern="1200" smtClean="0">
                          <a:solidFill>
                            <a:schemeClr val="tx1"/>
                          </a:solidFill>
                          <a:latin typeface="Cambria Math" panose="02040503050406030204" pitchFamily="18" charset="0"/>
                        </a:rPr>
                      </m:ctrlPr>
                    </m:dPr>
                    <m:e>
                      <m:r>
                        <a:rPr lang="en-US" sz="2800" b="0" i="1" kern="1200" smtClean="0">
                          <a:solidFill>
                            <a:schemeClr val="tx1"/>
                          </a:solidFill>
                          <a:latin typeface="Cambria Math" panose="02040503050406030204" pitchFamily="18" charset="0"/>
                        </a:rPr>
                        <m:t>𝑥</m:t>
                      </m:r>
                    </m:e>
                  </m:d>
                  <m:r>
                    <a:rPr lang="en-US" sz="2800" b="0" i="1" kern="1200" smtClean="0">
                      <a:solidFill>
                        <a:schemeClr val="tx1"/>
                      </a:solidFill>
                      <a:latin typeface="Cambria Math" panose="02040503050406030204" pitchFamily="18" charset="0"/>
                    </a:rPr>
                    <m:t>=</m:t>
                  </m:r>
                  <m:r>
                    <a:rPr lang="en-US" sz="2800" i="1" kern="1200">
                      <a:solidFill>
                        <a:schemeClr val="tx1"/>
                      </a:solidFill>
                      <a:latin typeface="Cambria Math" panose="02040503050406030204" pitchFamily="18" charset="0"/>
                    </a:rPr>
                    <m:t>𝑎</m:t>
                  </m:r>
                </m:e>
                <m:sup>
                  <m:r>
                    <a:rPr lang="en-US" sz="2800" b="0" i="1" kern="1200" smtClean="0">
                      <a:solidFill>
                        <a:schemeClr val="tx1"/>
                      </a:solidFill>
                      <a:latin typeface="Cambria Math" panose="02040503050406030204" pitchFamily="18" charset="0"/>
                    </a:rPr>
                    <m:t>𝑥</m:t>
                  </m:r>
                </m:sup>
              </m:sSup>
              <m:r>
                <a:rPr lang="en-US" sz="2800" b="0" i="1" kern="1200" smtClean="0">
                  <a:solidFill>
                    <a:schemeClr val="tx1"/>
                  </a:solidFill>
                  <a:latin typeface="Cambria Math" panose="02040503050406030204" pitchFamily="18" charset="0"/>
                </a:rPr>
                <m:t>(</m:t>
              </m:r>
              <m:r>
                <m:rPr>
                  <m:sty m:val="p"/>
                </m:rPr>
                <a:rPr lang="en-US" sz="2800" b="0" i="0" kern="1200" smtClean="0">
                  <a:solidFill>
                    <a:schemeClr val="tx1"/>
                  </a:solidFill>
                  <a:latin typeface="Cambria Math" panose="02040503050406030204" pitchFamily="18" charset="0"/>
                </a:rPr>
                <m:t>mod</m:t>
              </m:r>
              <m:r>
                <a:rPr lang="en-US" sz="2800" b="0" i="1" kern="1200" smtClean="0">
                  <a:solidFill>
                    <a:schemeClr val="tx1"/>
                  </a:solidFill>
                  <a:latin typeface="Cambria Math" panose="02040503050406030204" pitchFamily="18" charset="0"/>
                </a:rPr>
                <m:t> </m:t>
              </m:r>
              <m:r>
                <a:rPr lang="en-US" sz="2800" b="0" i="1" kern="1200" smtClean="0">
                  <a:solidFill>
                    <a:schemeClr val="tx1"/>
                  </a:solidFill>
                  <a:latin typeface="Cambria Math" panose="02040503050406030204" pitchFamily="18" charset="0"/>
                </a:rPr>
                <m:t>𝑁</m:t>
              </m:r>
              <m:r>
                <a:rPr lang="en-US" sz="2800" b="0" i="1" kern="1200" smtClean="0">
                  <a:solidFill>
                    <a:schemeClr val="tx1"/>
                  </a:solidFill>
                  <a:latin typeface="Cambria Math" panose="02040503050406030204" pitchFamily="18" charset="0"/>
                </a:rPr>
                <m:t>)</m:t>
              </m:r>
            </m:oMath>
          </a14:m>
          <a:endParaRPr lang="en-US" sz="2800" kern="1200" dirty="0">
            <a:solidFill>
              <a:schemeClr val="tx1"/>
            </a:solidFill>
            <a:latin typeface="+mj-lt"/>
          </a:endParaRPr>
        </a:p>
      </dsp:txBody>
      <dsp:txXfrm>
        <a:off x="1437416" y="3121447"/>
        <a:ext cx="8498681" cy="1228036"/>
      </dsp:txXfrm>
    </dsp:sp>
    <dsp:sp modelId="{CA53DBC3-E23F-0D42-8E62-4D6A1EAFDBA3}">
      <dsp:nvSpPr>
        <dsp:cNvPr id="0" name=""/>
        <dsp:cNvSpPr/>
      </dsp:nvSpPr>
      <dsp:spPr>
        <a:xfrm>
          <a:off x="2586155" y="4624862"/>
          <a:ext cx="9574452" cy="1304448"/>
        </a:xfrm>
        <a:prstGeom prst="roundRect">
          <a:avLst>
            <a:gd name="adj" fmla="val 10000"/>
          </a:avLst>
        </a:prstGeom>
        <a:solidFill>
          <a:schemeClr val="accent5">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latin typeface="+mj-lt"/>
            </a:rPr>
            <a:t>Therefore, factoring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𝑁</m:t>
              </m:r>
            </m:oMath>
          </a14:m>
          <a:r>
            <a:rPr lang="en-US" sz="2800" kern="1200" dirty="0">
              <a:solidFill>
                <a:schemeClr val="tx1"/>
              </a:solidFill>
              <a:latin typeface="+mj-lt"/>
            </a:rPr>
            <a:t> is reduced to the problem of finding the period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𝑟</m:t>
              </m:r>
            </m:oMath>
          </a14:m>
          <a:endParaRPr lang="en-US" sz="2800" kern="1200" dirty="0">
            <a:solidFill>
              <a:schemeClr val="tx1"/>
            </a:solidFill>
            <a:latin typeface="+mj-lt"/>
          </a:endParaRPr>
        </a:p>
      </dsp:txBody>
      <dsp:txXfrm>
        <a:off x="2624361" y="4663068"/>
        <a:ext cx="7848288" cy="1228036"/>
      </dsp:txXfrm>
    </dsp:sp>
    <dsp:sp modelId="{30C32FE3-58A6-7643-9530-D91BA1CE112D}">
      <dsp:nvSpPr>
        <dsp:cNvPr id="0" name=""/>
        <dsp:cNvSpPr/>
      </dsp:nvSpPr>
      <dsp:spPr>
        <a:xfrm>
          <a:off x="8919102" y="999088"/>
          <a:ext cx="847891" cy="847891"/>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solidFill>
              <a:schemeClr val="tx1"/>
            </a:solidFill>
            <a:latin typeface="+mj-lt"/>
          </a:endParaRPr>
        </a:p>
      </dsp:txBody>
      <dsp:txXfrm>
        <a:off x="9109877" y="999088"/>
        <a:ext cx="466341" cy="638038"/>
      </dsp:txXfrm>
    </dsp:sp>
    <dsp:sp modelId="{EBF8F89E-53B0-6A47-92B1-06495D8EC858}">
      <dsp:nvSpPr>
        <dsp:cNvPr id="0" name=""/>
        <dsp:cNvSpPr/>
      </dsp:nvSpPr>
      <dsp:spPr>
        <a:xfrm>
          <a:off x="9720963" y="2540709"/>
          <a:ext cx="847891" cy="847891"/>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solidFill>
              <a:schemeClr val="tx1"/>
            </a:solidFill>
            <a:latin typeface="+mj-lt"/>
          </a:endParaRPr>
        </a:p>
      </dsp:txBody>
      <dsp:txXfrm>
        <a:off x="9911738" y="2540709"/>
        <a:ext cx="466341" cy="638038"/>
      </dsp:txXfrm>
    </dsp:sp>
    <dsp:sp modelId="{0EA72948-8188-B74D-AB03-552851AC92CE}">
      <dsp:nvSpPr>
        <dsp:cNvPr id="0" name=""/>
        <dsp:cNvSpPr/>
      </dsp:nvSpPr>
      <dsp:spPr>
        <a:xfrm>
          <a:off x="10510855" y="4082330"/>
          <a:ext cx="847891" cy="847891"/>
        </a:xfrm>
        <a:prstGeom prst="downArrow">
          <a:avLst>
            <a:gd name="adj1" fmla="val 55000"/>
            <a:gd name="adj2" fmla="val 45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solidFill>
              <a:schemeClr val="tx1"/>
            </a:solidFill>
            <a:latin typeface="+mj-lt"/>
          </a:endParaRPr>
        </a:p>
      </dsp:txBody>
      <dsp:txXfrm>
        <a:off x="10701630" y="4082330"/>
        <a:ext cx="466341" cy="6380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2C814-BA0C-E44F-80E9-1EE4C22CA83D}">
      <dsp:nvSpPr>
        <dsp:cNvPr id="0" name=""/>
        <dsp:cNvSpPr/>
      </dsp:nvSpPr>
      <dsp:spPr>
        <a:xfrm>
          <a:off x="15660" y="0"/>
          <a:ext cx="3816010" cy="1259698"/>
        </a:xfrm>
        <a:prstGeom prst="homePlate">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Period finding</a:t>
          </a:r>
        </a:p>
      </dsp:txBody>
      <dsp:txXfrm>
        <a:off x="15660" y="0"/>
        <a:ext cx="3501086" cy="1259698"/>
      </dsp:txXfrm>
    </dsp:sp>
    <dsp:sp modelId="{878896BA-557A-5049-8A92-AC0CF143522C}">
      <dsp:nvSpPr>
        <dsp:cNvPr id="0" name=""/>
        <dsp:cNvSpPr/>
      </dsp:nvSpPr>
      <dsp:spPr>
        <a:xfrm>
          <a:off x="1916928" y="0"/>
          <a:ext cx="9503200" cy="1259698"/>
        </a:xfrm>
        <a:prstGeom prst="chevron">
          <a:avLst/>
        </a:prstGeom>
        <a:solidFill>
          <a:schemeClr val="accent5">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latin typeface="+mj-lt"/>
            </a:rPr>
            <a:t>For a given function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𝑓</m:t>
              </m:r>
              <m:d>
                <m:dPr>
                  <m:ctrlPr>
                    <a:rPr lang="en-US" sz="2800" b="0" i="1" kern="1200" smtClean="0">
                      <a:solidFill>
                        <a:schemeClr val="tx1"/>
                      </a:solidFill>
                      <a:latin typeface="Cambria Math" panose="02040503050406030204" pitchFamily="18" charset="0"/>
                    </a:rPr>
                  </m:ctrlPr>
                </m:dPr>
                <m:e>
                  <m:r>
                    <a:rPr lang="en-US" sz="2800" b="0" i="1" kern="1200" smtClean="0">
                      <a:solidFill>
                        <a:schemeClr val="tx1"/>
                      </a:solidFill>
                      <a:latin typeface="Cambria Math" panose="02040503050406030204" pitchFamily="18" charset="0"/>
                    </a:rPr>
                    <m:t>𝑥</m:t>
                  </m:r>
                </m:e>
              </m:d>
              <m:r>
                <a:rPr lang="en-US" sz="2800" b="0" i="1" kern="1200" smtClean="0">
                  <a:solidFill>
                    <a:schemeClr val="tx1"/>
                  </a:solidFill>
                  <a:latin typeface="Cambria Math" panose="02040503050406030204" pitchFamily="18" charset="0"/>
                </a:rPr>
                <m:t>=</m:t>
              </m:r>
              <m:sSup>
                <m:sSupPr>
                  <m:ctrlPr>
                    <a:rPr lang="en-US" sz="2800" i="1" kern="1200" smtClean="0">
                      <a:solidFill>
                        <a:schemeClr val="tx1"/>
                      </a:solidFill>
                      <a:latin typeface="Cambria Math" panose="02040503050406030204" pitchFamily="18" charset="0"/>
                    </a:rPr>
                  </m:ctrlPr>
                </m:sSupPr>
                <m:e>
                  <m:r>
                    <a:rPr lang="en-US" sz="2800" b="0" i="1" kern="1200" smtClean="0">
                      <a:solidFill>
                        <a:schemeClr val="tx1"/>
                      </a:solidFill>
                      <a:latin typeface="Cambria Math" panose="02040503050406030204" pitchFamily="18" charset="0"/>
                    </a:rPr>
                    <m:t>𝑎</m:t>
                  </m:r>
                </m:e>
                <m:sup>
                  <m:r>
                    <a:rPr lang="en-US" sz="2800" b="0" i="1" kern="1200" smtClean="0">
                      <a:solidFill>
                        <a:schemeClr val="tx1"/>
                      </a:solidFill>
                      <a:latin typeface="Cambria Math" panose="02040503050406030204" pitchFamily="18" charset="0"/>
                    </a:rPr>
                    <m:t>𝑥</m:t>
                  </m:r>
                </m:sup>
              </m:sSup>
              <m:r>
                <m:rPr>
                  <m:sty m:val="p"/>
                </m:rPr>
                <a:rPr lang="en-US" sz="2800" b="0" i="0" kern="1200" smtClean="0">
                  <a:solidFill>
                    <a:schemeClr val="tx1"/>
                  </a:solidFill>
                  <a:latin typeface="Cambria Math" panose="02040503050406030204" pitchFamily="18" charset="0"/>
                </a:rPr>
                <m:t>mod</m:t>
              </m:r>
              <m:r>
                <a:rPr lang="en-US" sz="2800" b="0" i="1" kern="1200" smtClean="0">
                  <a:solidFill>
                    <a:schemeClr val="tx1"/>
                  </a:solidFill>
                  <a:latin typeface="Cambria Math" panose="02040503050406030204" pitchFamily="18" charset="0"/>
                </a:rPr>
                <m:t> </m:t>
              </m:r>
              <m:r>
                <a:rPr lang="en-US" sz="2800" b="0" i="1" kern="1200" smtClean="0">
                  <a:solidFill>
                    <a:schemeClr val="tx1"/>
                  </a:solidFill>
                  <a:latin typeface="Cambria Math" panose="02040503050406030204" pitchFamily="18" charset="0"/>
                </a:rPr>
                <m:t>𝑁</m:t>
              </m:r>
            </m:oMath>
          </a14:m>
          <a:r>
            <a:rPr lang="en-US" sz="2800" i="0" kern="1200" dirty="0">
              <a:solidFill>
                <a:schemeClr val="tx1"/>
              </a:solidFill>
              <a:latin typeface="+mj-lt"/>
              <a:ea typeface="Cambria Math" panose="02040503050406030204" pitchFamily="18" charset="0"/>
            </a:rPr>
            <a:t>,</a:t>
          </a:r>
          <a:br>
            <a:rPr lang="en-US" sz="2800" i="0" kern="1200" dirty="0">
              <a:solidFill>
                <a:schemeClr val="tx1"/>
              </a:solidFill>
              <a:latin typeface="+mj-lt"/>
              <a:ea typeface="Cambria Math" panose="02040503050406030204" pitchFamily="18" charset="0"/>
            </a:rPr>
          </a:br>
          <a:r>
            <a:rPr lang="en-US" sz="2800" i="0" kern="1200" dirty="0">
              <a:solidFill>
                <a:schemeClr val="tx1"/>
              </a:solidFill>
              <a:latin typeface="+mj-lt"/>
              <a:ea typeface="Cambria Math" panose="02040503050406030204" pitchFamily="18" charset="0"/>
            </a:rPr>
            <a:t>Starting from</a:t>
          </a:r>
          <a14:m xmlns:a14="http://schemas.microsoft.com/office/drawing/2010/main">
            <m:oMath xmlns:m="http://schemas.openxmlformats.org/officeDocument/2006/math">
              <m:r>
                <a:rPr lang="en-US" sz="2800" b="0" i="0" kern="1200" smtClean="0">
                  <a:solidFill>
                    <a:schemeClr val="tx1"/>
                  </a:solidFill>
                  <a:latin typeface="Cambria Math" panose="02040503050406030204" pitchFamily="18" charset="0"/>
                </a:rPr>
                <m:t> </m:t>
              </m:r>
              <m:r>
                <a:rPr lang="en-US" sz="2800" b="0" i="1" kern="1200" smtClean="0">
                  <a:solidFill>
                    <a:schemeClr val="tx1"/>
                  </a:solidFill>
                  <a:latin typeface="Cambria Math" panose="02040503050406030204" pitchFamily="18" charset="0"/>
                </a:rPr>
                <m:t>𝑓</m:t>
              </m:r>
              <m:d>
                <m:dPr>
                  <m:ctrlPr>
                    <a:rPr lang="en-US" sz="2800" b="0" i="1" kern="1200" smtClean="0">
                      <a:solidFill>
                        <a:schemeClr val="tx1"/>
                      </a:solidFill>
                      <a:latin typeface="Cambria Math" panose="02040503050406030204" pitchFamily="18" charset="0"/>
                    </a:rPr>
                  </m:ctrlPr>
                </m:dPr>
                <m:e>
                  <m:r>
                    <a:rPr lang="en-US" sz="2800" b="0" i="1" kern="1200" smtClean="0">
                      <a:solidFill>
                        <a:schemeClr val="tx1"/>
                      </a:solidFill>
                      <a:latin typeface="Cambria Math" panose="02040503050406030204" pitchFamily="18" charset="0"/>
                    </a:rPr>
                    <m:t>0</m:t>
                  </m:r>
                </m:e>
              </m:d>
              <m:r>
                <a:rPr lang="en-US" sz="2800" b="0" i="1" kern="1200" smtClean="0">
                  <a:solidFill>
                    <a:schemeClr val="tx1"/>
                  </a:solidFill>
                  <a:latin typeface="Cambria Math" panose="02040503050406030204" pitchFamily="18" charset="0"/>
                </a:rPr>
                <m:t>=1</m:t>
              </m:r>
            </m:oMath>
          </a14:m>
          <a:r>
            <a:rPr lang="en-US" sz="2800" i="0" kern="1200" dirty="0">
              <a:solidFill>
                <a:schemeClr val="tx1"/>
              </a:solidFill>
              <a:latin typeface="+mj-lt"/>
              <a:ea typeface="Cambria Math" panose="02040503050406030204" pitchFamily="18" charset="0"/>
            </a:rPr>
            <a:t>, find the smallest </a:t>
          </a: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𝑟</m:t>
              </m:r>
            </m:oMath>
          </a14:m>
          <a:br>
            <a:rPr lang="en-US" sz="2800" b="0" i="0" kern="1200" dirty="0">
              <a:solidFill>
                <a:schemeClr val="tx1"/>
              </a:solidFill>
              <a:latin typeface="+mj-lt"/>
            </a:rPr>
          </a:br>
          <a:r>
            <a:rPr lang="en-US" sz="2800" i="0" kern="1200" dirty="0">
              <a:solidFill>
                <a:schemeClr val="tx1"/>
              </a:solidFill>
              <a:latin typeface="+mj-lt"/>
              <a:ea typeface="Cambria Math" panose="02040503050406030204" pitchFamily="18" charset="0"/>
            </a:rPr>
            <a:t>for which</a:t>
          </a:r>
          <a14:m xmlns:a14="http://schemas.microsoft.com/office/drawing/2010/main">
            <m:oMath xmlns:m="http://schemas.openxmlformats.org/officeDocument/2006/math">
              <m:r>
                <a:rPr lang="en-US" sz="2800" b="0" i="0" kern="1200" smtClean="0">
                  <a:solidFill>
                    <a:schemeClr val="tx1"/>
                  </a:solidFill>
                  <a:latin typeface="Cambria Math" panose="02040503050406030204" pitchFamily="18" charset="0"/>
                </a:rPr>
                <m:t> </m:t>
              </m:r>
              <m:r>
                <a:rPr lang="en-US" sz="2800" b="0" i="1" kern="1200" smtClean="0">
                  <a:solidFill>
                    <a:schemeClr val="tx1"/>
                  </a:solidFill>
                  <a:latin typeface="Cambria Math" panose="02040503050406030204" pitchFamily="18" charset="0"/>
                </a:rPr>
                <m:t>𝑓</m:t>
              </m:r>
              <m:d>
                <m:dPr>
                  <m:ctrlPr>
                    <a:rPr lang="en-US" sz="2800" b="0" i="1" kern="1200" smtClean="0">
                      <a:solidFill>
                        <a:schemeClr val="tx1"/>
                      </a:solidFill>
                      <a:latin typeface="Cambria Math" panose="02040503050406030204" pitchFamily="18" charset="0"/>
                    </a:rPr>
                  </m:ctrlPr>
                </m:dPr>
                <m:e>
                  <m:r>
                    <a:rPr lang="en-US" sz="2800" b="0" i="1" kern="1200" smtClean="0">
                      <a:solidFill>
                        <a:schemeClr val="tx1"/>
                      </a:solidFill>
                      <a:latin typeface="Cambria Math" panose="02040503050406030204" pitchFamily="18" charset="0"/>
                    </a:rPr>
                    <m:t>𝑟</m:t>
                  </m:r>
                </m:e>
              </m:d>
              <m:r>
                <a:rPr lang="en-US" sz="2800" b="0" i="1" kern="1200" smtClean="0">
                  <a:solidFill>
                    <a:schemeClr val="tx1"/>
                  </a:solidFill>
                  <a:latin typeface="Cambria Math" panose="02040503050406030204" pitchFamily="18" charset="0"/>
                </a:rPr>
                <m:t>=1</m:t>
              </m:r>
            </m:oMath>
          </a14:m>
          <a:endParaRPr lang="en-US" sz="2800" i="0" kern="1200" dirty="0">
            <a:solidFill>
              <a:schemeClr val="tx1"/>
            </a:solidFill>
            <a:latin typeface="+mj-lt"/>
            <a:ea typeface="Cambria Math" panose="02040503050406030204" pitchFamily="18" charset="0"/>
          </a:endParaRPr>
        </a:p>
      </dsp:txBody>
      <dsp:txXfrm>
        <a:off x="2546777" y="0"/>
        <a:ext cx="8243502" cy="125969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BEB82-778D-AD40-9C78-E0B63E5D4744}" type="datetimeFigureOut">
              <a:rPr lang="en-US" smtClean="0"/>
              <a:t>9/4/26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CE5E3-B8BD-D040-AC87-D640191DD8F1}" type="slidenum">
              <a:rPr lang="en-US" smtClean="0"/>
              <a:t>‹#›</a:t>
            </a:fld>
            <a:endParaRPr lang="en-US"/>
          </a:p>
        </p:txBody>
      </p:sp>
    </p:spTree>
    <p:extLst>
      <p:ext uri="{BB962C8B-B14F-4D97-AF65-F5344CB8AC3E}">
        <p14:creationId xmlns:p14="http://schemas.microsoft.com/office/powerpoint/2010/main" val="81190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1</a:t>
            </a:fld>
            <a:endParaRPr lang="en-US"/>
          </a:p>
        </p:txBody>
      </p:sp>
    </p:spTree>
    <p:extLst>
      <p:ext uri="{BB962C8B-B14F-4D97-AF65-F5344CB8AC3E}">
        <p14:creationId xmlns:p14="http://schemas.microsoft.com/office/powerpoint/2010/main" val="202478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i="0" dirty="0"/>
          </a:p>
        </p:txBody>
      </p:sp>
      <p:sp>
        <p:nvSpPr>
          <p:cNvPr id="4" name="Slide Number Placeholder 3"/>
          <p:cNvSpPr>
            <a:spLocks noGrp="1"/>
          </p:cNvSpPr>
          <p:nvPr>
            <p:ph type="sldNum" sz="quarter" idx="5"/>
          </p:nvPr>
        </p:nvSpPr>
        <p:spPr/>
        <p:txBody>
          <a:bodyPr/>
          <a:lstStyle/>
          <a:p>
            <a:fld id="{1B2CE5E3-B8BD-D040-AC87-D640191DD8F1}" type="slidenum">
              <a:rPr lang="en-US" smtClean="0"/>
              <a:t>2</a:t>
            </a:fld>
            <a:endParaRPr lang="en-US"/>
          </a:p>
        </p:txBody>
      </p:sp>
    </p:spTree>
    <p:extLst>
      <p:ext uri="{BB962C8B-B14F-4D97-AF65-F5344CB8AC3E}">
        <p14:creationId xmlns:p14="http://schemas.microsoft.com/office/powerpoint/2010/main" val="1724803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At the 1996 ACM Symposium, Indian-American computer scientist </a:t>
            </a:r>
            <a:r>
              <a:rPr lang="en-ZA" dirty="0" err="1"/>
              <a:t>Lov</a:t>
            </a:r>
            <a:r>
              <a:rPr lang="en-ZA" dirty="0"/>
              <a:t> Grover presented his paper, </a:t>
            </a:r>
            <a:r>
              <a:rPr lang="en-ZA" i="1" dirty="0"/>
              <a:t>“A Fast Quantum Mechanical Algorithm for Database Search.”</a:t>
            </a:r>
            <a:r>
              <a:rPr lang="en-ZA" dirty="0"/>
              <a:t> In this work, he introduced a quantum algorithm that can search unstructured data significantly faster than classical methods. Today, this algorithm is widely known as </a:t>
            </a:r>
            <a:r>
              <a:rPr lang="en-ZA" b="1" dirty="0"/>
              <a:t>Grover’s algorithm</a:t>
            </a:r>
            <a:r>
              <a:rPr lang="en-ZA" dirty="0"/>
              <a:t>.</a:t>
            </a:r>
          </a:p>
          <a:p>
            <a:pPr algn="just"/>
            <a:endParaRPr lang="en-US" sz="1200" dirty="0"/>
          </a:p>
          <a:p>
            <a:pPr algn="just"/>
            <a:r>
              <a:rPr lang="en-US" sz="1200" dirty="0"/>
              <a:t>References:</a:t>
            </a:r>
          </a:p>
          <a:p>
            <a:r>
              <a:rPr lang="en-US" sz="1200" dirty="0"/>
              <a:t>Grover L.K.: A fast quantum mechanical algorithm for database search, Proceedings, 28th Annual ACM Symposium on the Theory of Computing, (May 1996) p. 212</a:t>
            </a:r>
          </a:p>
          <a:p>
            <a:pPr algn="just"/>
            <a:r>
              <a:rPr lang="en-US" sz="1200" dirty="0"/>
              <a:t>https://</a:t>
            </a:r>
            <a:r>
              <a:rPr lang="en-US" sz="1200" dirty="0" err="1"/>
              <a:t>arxiv.org</a:t>
            </a:r>
            <a:r>
              <a:rPr lang="en-US" sz="1200" dirty="0"/>
              <a:t>/abs/quant-</a:t>
            </a:r>
            <a:r>
              <a:rPr lang="en-US" sz="1200" dirty="0" err="1"/>
              <a:t>ph</a:t>
            </a:r>
            <a:r>
              <a:rPr lang="en-US" sz="1200" dirty="0"/>
              <a:t>/9605043</a:t>
            </a:r>
          </a:p>
        </p:txBody>
      </p:sp>
      <p:sp>
        <p:nvSpPr>
          <p:cNvPr id="4" name="Slide Number Placeholder 3"/>
          <p:cNvSpPr>
            <a:spLocks noGrp="1"/>
          </p:cNvSpPr>
          <p:nvPr>
            <p:ph type="sldNum" sz="quarter" idx="5"/>
          </p:nvPr>
        </p:nvSpPr>
        <p:spPr/>
        <p:txBody>
          <a:bodyPr/>
          <a:lstStyle/>
          <a:p>
            <a:fld id="{1B2CE5E3-B8BD-D040-AC87-D640191DD8F1}" type="slidenum">
              <a:rPr lang="en-US" smtClean="0"/>
              <a:t>3</a:t>
            </a:fld>
            <a:endParaRPr lang="en-US"/>
          </a:p>
        </p:txBody>
      </p:sp>
    </p:spTree>
    <p:extLst>
      <p:ext uri="{BB962C8B-B14F-4D97-AF65-F5344CB8AC3E}">
        <p14:creationId xmlns:p14="http://schemas.microsoft.com/office/powerpoint/2010/main" val="757216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Grover's algorithm does not directly solve the search problem, but it shows that the number of queries needed to find a solution can be quadratically smaller on a quantum computer than on a classical one.</a:t>
                </a:r>
              </a:p>
              <a:p>
                <a:pPr algn="just"/>
                <a:endParaRPr lang="en-ZA" dirty="0"/>
              </a:p>
              <a:p>
                <a:pPr algn="just"/>
                <a:r>
                  <a:rPr lang="en-ZA" dirty="0"/>
                  <a:t>Imagine a box full of unsorted address cards. The classical method for finding a specific card relies on trial and error: draw a card, check whether it is the right one, and repeat. You might get lucky and find it on the first try, but in the worst case, it will be the last one you check. On average, you would go through about half the cards before finding the correct one.</a:t>
                </a:r>
              </a:p>
              <a:p>
                <a:pPr algn="just"/>
                <a:endParaRPr lang="en-ZA" dirty="0"/>
              </a:p>
              <a:p>
                <a:pPr algn="just"/>
                <a:r>
                  <a:rPr lang="en-ZA" dirty="0"/>
                  <a:t>In the quantum version, all possible card indices are put into superposition and sent to an oracle. The oracle marks the correct index, and quantum interference then amplifies the amplitude of that state. When we measure the register, the correct index is obtained with high probability.</a:t>
                </a:r>
              </a:p>
              <a:p>
                <a:pPr algn="just"/>
                <a:endParaRPr lang="en-ZA" dirty="0"/>
              </a:p>
              <a:p>
                <a:pPr algn="just"/>
                <a:r>
                  <a:rPr lang="en-ZA" dirty="0"/>
                  <a:t>Suppose we want to find a specific entry among one trillion (10</a:t>
                </a:r>
                <a:r>
                  <a:rPr lang="en-ZA" baseline="30000" dirty="0"/>
                  <a:t>12</a:t>
                </a:r>
                <a:r>
                  <a:rPr lang="en-ZA" dirty="0"/>
                  <a:t>) unsorted records using both classical and quantum computers. For this simplified comparison, assume that each query takes one microsecond.</a:t>
                </a:r>
              </a:p>
              <a:p>
                <a:pPr algn="just"/>
                <a:endParaRPr lang="en-ZA" dirty="0"/>
              </a:p>
              <a:p>
                <a:pPr marL="171450" indent="-171450" algn="just">
                  <a:buFont typeface="Arial" panose="020B0604020202020204" pitchFamily="34" charset="0"/>
                  <a:buChar char="•"/>
                </a:pPr>
                <a:r>
                  <a:rPr lang="en-ZA" b="0" dirty="0"/>
                  <a:t>A classical computer would require, on average, about half a trillion queries, taking approximately six days. </a:t>
                </a:r>
              </a:p>
              <a:p>
                <a:pPr marL="171450" indent="-171450" algn="just">
                  <a:buFont typeface="Arial" panose="020B0604020202020204" pitchFamily="34" charset="0"/>
                  <a:buChar char="•"/>
                </a:pPr>
                <a:r>
                  <a:rPr lang="en-ZA" b="0" dirty="0"/>
                  <a:t>A quantum computer using Grover's algorithm would require on the order of</a:t>
                </a:r>
                <a:r>
                  <a:rPr lang="en-ZA" b="0" baseline="0" dirty="0"/>
                  <a:t> </a:t>
                </a:r>
                <a14:m>
                  <m:oMath xmlns:m="http://schemas.openxmlformats.org/officeDocument/2006/math">
                    <m:rad>
                      <m:radPr>
                        <m:degHide m:val="on"/>
                        <m:ctrlPr>
                          <a:rPr lang="en-US" sz="1200" b="0" i="1" smtClean="0">
                            <a:latin typeface="Cambria Math" panose="02040503050406030204" pitchFamily="18" charset="0"/>
                          </a:rPr>
                        </m:ctrlPr>
                      </m:radPr>
                      <m:deg/>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12</m:t>
                            </m:r>
                          </m:sup>
                        </m:sSup>
                      </m:e>
                    </m:rad>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6</m:t>
                        </m:r>
                      </m:sup>
                    </m:sSup>
                  </m:oMath>
                </a14:m>
                <a:r>
                  <a:rPr lang="en-ZA" b="0" dirty="0"/>
                  <a:t> queries, corresponding to about one second in this simplified example.</a:t>
                </a:r>
              </a:p>
              <a:p>
                <a:pPr algn="just"/>
                <a:endParaRPr lang="en-ZA" dirty="0"/>
              </a:p>
              <a:p>
                <a:pPr algn="just"/>
                <a:r>
                  <a:rPr lang="en-ZA" dirty="0"/>
                  <a:t>This illustrates Grover's quadratic speedup: the number of required queries scales as </a:t>
                </a:r>
                <a14:m>
                  <m:oMath xmlns:m="http://schemas.openxmlformats.org/officeDocument/2006/math">
                    <m:r>
                      <m:rPr>
                        <m:sty m:val="p"/>
                      </m:rPr>
                      <a:rPr lang="en-US" sz="1200" b="0" i="0" smtClean="0">
                        <a:latin typeface="Cambria Math" panose="02040503050406030204" pitchFamily="18" charset="0"/>
                      </a:rPr>
                      <m:t>O</m:t>
                    </m:r>
                    <m:r>
                      <a:rPr lang="en-US" sz="1200" b="0" i="0" smtClean="0">
                        <a:latin typeface="Cambria Math" panose="02040503050406030204" pitchFamily="18" charset="0"/>
                      </a:rPr>
                      <m:t>(</m:t>
                    </m:r>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𝑁</m:t>
                        </m:r>
                      </m:e>
                    </m:rad>
                  </m:oMath>
                </a14:m>
                <a:r>
                  <a:rPr lang="en-US" sz="1200" dirty="0"/>
                  <a:t>)</a:t>
                </a:r>
                <a:r>
                  <a:rPr lang="en-ZA" dirty="0"/>
                  <a:t>, compared with </a:t>
                </a:r>
                <a14:m>
                  <m:oMath xmlns:m="http://schemas.openxmlformats.org/officeDocument/2006/math">
                    <m:r>
                      <m:rPr>
                        <m:sty m:val="p"/>
                      </m:rPr>
                      <a:rPr lang="en-US" sz="1200" b="0" i="0" smtClean="0">
                        <a:latin typeface="Cambria Math" panose="02040503050406030204" pitchFamily="18" charset="0"/>
                      </a:rPr>
                      <m:t>O</m:t>
                    </m:r>
                    <m:r>
                      <a:rPr lang="en-US" sz="1200" b="0" i="0" smtClean="0">
                        <a:latin typeface="Cambria Math" panose="02040503050406030204" pitchFamily="18" charset="0"/>
                      </a:rPr>
                      <m:t>(</m:t>
                    </m:r>
                    <m:r>
                      <a:rPr lang="en-US" sz="1200" i="1" smtClean="0">
                        <a:latin typeface="Cambria Math" panose="02040503050406030204" pitchFamily="18" charset="0"/>
                      </a:rPr>
                      <m:t>𝑁</m:t>
                    </m:r>
                  </m:oMath>
                </a14:m>
                <a:r>
                  <a:rPr lang="en-US" sz="1200" dirty="0"/>
                  <a:t>)</a:t>
                </a:r>
                <a:r>
                  <a:rPr lang="en-ZA" dirty="0"/>
                  <a:t> for classical search.</a:t>
                </a:r>
              </a:p>
            </p:txBody>
          </p:sp>
        </mc:Choice>
        <mc:Fallback xmlns="">
          <p:sp>
            <p:nvSpPr>
              <p:cNvPr id="3" name="Notes Placeholder 2"/>
              <p:cNvSpPr>
                <a:spLocks noGrp="1"/>
              </p:cNvSpPr>
              <p:nvPr>
                <p:ph type="body" idx="1"/>
              </p:nvPr>
            </p:nvSpPr>
            <p:spPr/>
            <p:txBody>
              <a:bodyPr/>
              <a:lstStyle/>
              <a:p>
                <a:pPr marL="0" indent="0">
                  <a:buNone/>
                </a:pPr>
                <a:r>
                  <a:rPr lang="en-US" sz="2200" dirty="0"/>
                  <a:t>Let’s say that we have a file with a trillion unsorted cards and a classical and a quantum computer that can check one card in one microsecond – so they operate with the same speed. </a:t>
                </a:r>
              </a:p>
              <a:p>
                <a:pPr marL="0" indent="0">
                  <a:buNone/>
                </a:pPr>
                <a:r>
                  <a:rPr lang="en-US" sz="2200" dirty="0"/>
                  <a:t>To find a specific card a classical computer must check records randomly, one by one. In the best case scenario, the first guess might be the right one, so only one step would be needed. In the worst case scenario,  the last guess will be the right one, so N-1 steps would be needed. But in average, a record is usually found after N/2 checks, which would take one week on average.</a:t>
                </a:r>
              </a:p>
              <a:p>
                <a:pPr marL="0" indent="0">
                  <a:buNone/>
                </a:pPr>
                <a:endParaRPr lang="en-US" sz="2200" dirty="0"/>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US" sz="2200" dirty="0"/>
                  <a:t>To perform the same task quantum computer would need only one second, in other words it is 600 thousands time faster.  This is achieved by putting all cards into superposition and in a single step identifying the target card. This is followed by some additional steps so the search result  can be extracted after  </a:t>
                </a:r>
                <a:r>
                  <a:rPr lang="en-US" sz="2000" i="0">
                    <a:latin typeface="Cambria Math" panose="02040503050406030204" pitchFamily="18" charset="0"/>
                  </a:rPr>
                  <a:t>√</a:t>
                </a:r>
                <a:r>
                  <a:rPr lang="en-US" sz="2000" b="0" i="0">
                    <a:latin typeface="Cambria Math" panose="02040503050406030204" pitchFamily="18" charset="0"/>
                  </a:rPr>
                  <a:t>𝑁</a:t>
                </a:r>
                <a:r>
                  <a:rPr lang="en-US" sz="2000" dirty="0"/>
                  <a:t> iterations.</a:t>
                </a:r>
                <a:endParaRPr lang="en-US" sz="2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a:t>
            </a:fld>
            <a:endParaRPr lang="en-US"/>
          </a:p>
        </p:txBody>
      </p:sp>
    </p:spTree>
    <p:extLst>
      <p:ext uri="{BB962C8B-B14F-4D97-AF65-F5344CB8AC3E}">
        <p14:creationId xmlns:p14="http://schemas.microsoft.com/office/powerpoint/2010/main" val="4103094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operation of Grover’s algorithm can be illustrated with a simple example, shown in the diagram. Imagine a small phone directory with four unsorted entries, each labelled by a binary index. Since two qubits can represent 2</a:t>
            </a:r>
            <a:r>
              <a:rPr lang="en-ZA" b="0" baseline="30000" dirty="0"/>
              <a:t>2</a:t>
            </a:r>
            <a:r>
              <a:rPr lang="en-ZA" b="0" dirty="0"/>
              <a:t>=4 possible indices, two qubits are enough to perform this search. The goal is to find Eve’s phone number. In this example, the search is performed by index rather than by name, so the algorithm searches for the entry marked 10.</a:t>
            </a:r>
          </a:p>
          <a:p>
            <a:pPr algn="just"/>
            <a:endParaRPr lang="en-ZA" dirty="0"/>
          </a:p>
          <a:p>
            <a:pPr algn="just"/>
            <a:r>
              <a:rPr lang="en-ZA" dirty="0"/>
              <a:t>In a real-world application, the search space could contain millions of unsorted items, such as phone numbers, records, dates, or database entries.</a:t>
            </a:r>
          </a:p>
        </p:txBody>
      </p:sp>
      <p:sp>
        <p:nvSpPr>
          <p:cNvPr id="4" name="Slide Number Placeholder 3"/>
          <p:cNvSpPr>
            <a:spLocks noGrp="1"/>
          </p:cNvSpPr>
          <p:nvPr>
            <p:ph type="sldNum" sz="quarter" idx="5"/>
          </p:nvPr>
        </p:nvSpPr>
        <p:spPr/>
        <p:txBody>
          <a:bodyPr/>
          <a:lstStyle/>
          <a:p>
            <a:fld id="{1B2CE5E3-B8BD-D040-AC87-D640191DD8F1}" type="slidenum">
              <a:rPr lang="en-US" smtClean="0"/>
              <a:t>5</a:t>
            </a:fld>
            <a:endParaRPr lang="en-US"/>
          </a:p>
        </p:txBody>
      </p:sp>
    </p:spTree>
    <p:extLst>
      <p:ext uri="{BB962C8B-B14F-4D97-AF65-F5344CB8AC3E}">
        <p14:creationId xmlns:p14="http://schemas.microsoft.com/office/powerpoint/2010/main" val="3823600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Font typeface="+mj-lt"/>
                  <a:buNone/>
                </a:pPr>
                <a:r>
                  <a:rPr lang="en-ZA" b="0" dirty="0"/>
                  <a:t>Grover’s algorithm performs the search in four main steps:</a:t>
                </a:r>
              </a:p>
              <a:p>
                <a:pPr marL="0" indent="0">
                  <a:buFont typeface="+mj-lt"/>
                  <a:buNone/>
                </a:pPr>
                <a:endParaRPr lang="en-ZA" b="0" dirty="0"/>
              </a:p>
              <a:p>
                <a:pPr marL="228600" indent="-228600">
                  <a:buFont typeface="+mj-lt"/>
                  <a:buAutoNum type="arabicPeriod"/>
                </a:pPr>
                <a:r>
                  <a:rPr lang="en-ZA" b="1" dirty="0"/>
                  <a:t>Superposition:</a:t>
                </a:r>
                <a:r>
                  <a:rPr lang="en-ZA" dirty="0"/>
                  <a:t> First, the qubits are placed into an equal superposition, representing all four directory indices at once.</a:t>
                </a:r>
              </a:p>
              <a:p>
                <a:pPr marL="228600" indent="-228600">
                  <a:buFont typeface="+mj-lt"/>
                  <a:buAutoNum type="arabicPeriod"/>
                </a:pPr>
                <a:endParaRPr lang="en-ZA" dirty="0"/>
              </a:p>
              <a:p>
                <a:pPr marL="228600" indent="-228600">
                  <a:buFont typeface="+mj-lt"/>
                  <a:buAutoNum type="arabicPeriod"/>
                </a:pPr>
                <a:r>
                  <a:rPr lang="en-ZA" b="1" dirty="0"/>
                  <a:t>Oracle:</a:t>
                </a:r>
                <a:r>
                  <a:rPr lang="en-ZA" dirty="0"/>
                  <a:t> Next, the oracle, which is designed to recognize </a:t>
                </a:r>
                <a:r>
                  <a:rPr lang="en-ZA" b="0" dirty="0"/>
                  <a:t>Eve’s entry, </a:t>
                </a:r>
                <a:r>
                  <a:rPr lang="en-ZA" dirty="0"/>
                  <a:t>marks the </a:t>
                </a:r>
                <a:r>
                  <a:rPr lang="en-ZA" b="1" dirty="0"/>
                  <a:t>target state </a:t>
                </a:r>
                <a14:m>
                  <m:oMath xmlns:m="http://schemas.openxmlformats.org/officeDocument/2006/math">
                    <m:d>
                      <m:dPr>
                        <m:begChr m:val="|"/>
                        <m:endChr m:val="⟩"/>
                        <m:ctrlPr>
                          <a:rPr lang="en-ZA" sz="1200" i="1" kern="1200" smtClean="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r>
                      <a:rPr lang="en-US" sz="1200" b="0" i="1" kern="1200" smtClean="0">
                        <a:solidFill>
                          <a:schemeClr val="tx1"/>
                        </a:solidFill>
                        <a:effectLst/>
                        <a:latin typeface="Cambria Math" panose="02040503050406030204" pitchFamily="18" charset="0"/>
                        <a:ea typeface="+mn-ea"/>
                        <a:cs typeface="+mn-cs"/>
                      </a:rPr>
                      <m:t>=</m:t>
                    </m:r>
                    <m:d>
                      <m:dPr>
                        <m:begChr m:val="|"/>
                        <m:endChr m:val="⟩"/>
                        <m:ctrlPr>
                          <a:rPr lang="en-ZA" sz="1200" i="1" kern="1200" smtClean="0">
                            <a:solidFill>
                              <a:schemeClr val="tx1"/>
                            </a:solidFill>
                            <a:effectLst/>
                            <a:latin typeface="Cambria Math" panose="02040503050406030204" pitchFamily="18" charset="0"/>
                            <a:ea typeface="+mn-ea"/>
                            <a:cs typeface="+mn-cs"/>
                          </a:rPr>
                        </m:ctrlPr>
                      </m:dPr>
                      <m:e>
                        <m:r>
                          <a:rPr lang="en-US" sz="1200" b="0" i="1" kern="1200" smtClean="0">
                            <a:solidFill>
                              <a:schemeClr val="tx1"/>
                            </a:solidFill>
                            <a:effectLst/>
                            <a:latin typeface="Cambria Math" panose="02040503050406030204" pitchFamily="18" charset="0"/>
                            <a:ea typeface="+mn-ea"/>
                            <a:cs typeface="+mn-cs"/>
                          </a:rPr>
                          <m:t>10</m:t>
                        </m:r>
                      </m:e>
                    </m:d>
                  </m:oMath>
                </a14:m>
                <a:r>
                  <a:rPr lang="en-ZA" dirty="0"/>
                  <a:t> by flipping the sign of its amplitude. </a:t>
                </a:r>
              </a:p>
              <a:p>
                <a:pPr marL="228600" indent="-228600">
                  <a:buFont typeface="+mj-lt"/>
                  <a:buAutoNum type="arabicPeriod"/>
                </a:pPr>
                <a:endParaRPr lang="en-ZA" dirty="0"/>
              </a:p>
              <a:p>
                <a:pPr marL="228600" indent="-228600">
                  <a:buFont typeface="+mj-lt"/>
                  <a:buAutoNum type="arabicPeriod"/>
                </a:pPr>
                <a:r>
                  <a:rPr lang="en-ZA" b="1" dirty="0"/>
                  <a:t>Amplification:</a:t>
                </a:r>
                <a:r>
                  <a:rPr lang="en-ZA" dirty="0"/>
                  <a:t> The amplitude of the marked state ∣10⟩ is amplified, while the amplitudes of the other states decrease. If necessary, the oracle and amplification steps are repeated. </a:t>
                </a:r>
              </a:p>
              <a:p>
                <a:pPr marL="228600" indent="-228600">
                  <a:buFont typeface="+mj-lt"/>
                  <a:buAutoNum type="arabicPeriod"/>
                </a:pPr>
                <a:endParaRPr lang="en-ZA" dirty="0"/>
              </a:p>
              <a:p>
                <a:pPr marL="228600" indent="-228600">
                  <a:buFont typeface="+mj-lt"/>
                  <a:buAutoNum type="arabicPeriod"/>
                </a:pPr>
                <a:r>
                  <a:rPr lang="en-ZA" b="1" dirty="0"/>
                  <a:t>Measurement:</a:t>
                </a:r>
                <a:r>
                  <a:rPr lang="en-ZA" dirty="0"/>
                  <a:t> Finally, ∣10⟩ has the largest amplitude, so measurement returns </a:t>
                </a:r>
                <a:r>
                  <a:rPr lang="en-ZA" b="1" dirty="0"/>
                  <a:t>10</a:t>
                </a:r>
                <a:r>
                  <a:rPr lang="en-ZA" dirty="0"/>
                  <a:t>, the index of Eve’s phone number, with high probability.</a:t>
                </a:r>
              </a:p>
              <a:p>
                <a:pPr marL="0" indent="0">
                  <a:buFont typeface="+mj-lt"/>
                  <a:buNone/>
                </a:pPr>
                <a:endParaRPr lang="en-ZA" dirty="0"/>
              </a:p>
              <a:p>
                <a:pPr marL="0" indent="0" algn="just">
                  <a:buFont typeface="+mj-lt"/>
                  <a:buNone/>
                </a:pPr>
                <a:r>
                  <a:rPr lang="en-ZA" b="0" dirty="0"/>
                  <a:t>The diagram below the amplitudes shows the operations used in each step. </a:t>
                </a:r>
                <a14:m>
                  <m:oMath xmlns:m="http://schemas.openxmlformats.org/officeDocument/2006/math">
                    <m:sSup>
                      <m:sSupPr>
                        <m:ctrlPr>
                          <a:rPr lang="en-US" sz="1200" b="0" i="1" smtClean="0">
                            <a:latin typeface="Cambria Math" panose="02040503050406030204" pitchFamily="18" charset="0"/>
                          </a:rPr>
                        </m:ctrlPr>
                      </m:sSupPr>
                      <m:e>
                        <m:r>
                          <m:rPr>
                            <m:sty m:val="p"/>
                          </m:rPr>
                          <a:rPr lang="en-US" sz="1200" b="0" i="0">
                            <a:latin typeface="Cambria Math" panose="02040503050406030204" pitchFamily="18" charset="0"/>
                          </a:rPr>
                          <m:t>H</m:t>
                        </m:r>
                      </m:e>
                      <m:sup>
                        <m:r>
                          <a:rPr lang="en-US" sz="1200" b="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sup>
                    </m:sSup>
                  </m:oMath>
                </a14:m>
                <a:r>
                  <a:rPr lang="en-ZA" b="0" dirty="0"/>
                  <a:t> creates the equal superposition, O represents the oracle, and D, called the </a:t>
                </a:r>
                <a:r>
                  <a:rPr lang="en-ZA" b="1" dirty="0"/>
                  <a:t>diffusion operator </a:t>
                </a:r>
                <a:r>
                  <a:rPr lang="en-ZA" b="0" dirty="0"/>
                  <a:t>or</a:t>
                </a:r>
                <a:r>
                  <a:rPr lang="en-ZA" b="1" dirty="0"/>
                  <a:t> diffuser</a:t>
                </a:r>
                <a:r>
                  <a:rPr lang="en-ZA" b="0" dirty="0"/>
                  <a:t>, performs amplitude amplification. Finally, measurement returns the search result.</a:t>
                </a:r>
              </a:p>
              <a:p>
                <a:pPr marL="0" indent="0">
                  <a:buFont typeface="+mj-lt"/>
                  <a:buNone/>
                </a:pPr>
                <a:endParaRPr lang="en-ZA" dirty="0"/>
              </a:p>
              <a:p>
                <a:pPr marL="0" indent="0">
                  <a:buFont typeface="+mj-lt"/>
                  <a:buNone/>
                </a:pPr>
                <a:endParaRPr lang="en-US" dirty="0"/>
              </a:p>
            </p:txBody>
          </p:sp>
        </mc:Choice>
        <mc:Fallback xmlns="">
          <p:sp>
            <p:nvSpPr>
              <p:cNvPr id="3" name="Notes Placeholder 2"/>
              <p:cNvSpPr>
                <a:spLocks noGrp="1"/>
              </p:cNvSpPr>
              <p:nvPr>
                <p:ph type="body" idx="1"/>
              </p:nvPr>
            </p:nvSpPr>
            <p:spPr/>
            <p:txBody>
              <a:bodyPr/>
              <a:lstStyle/>
              <a:p>
                <a:pPr marL="0" indent="0">
                  <a:buFont typeface="+mj-lt"/>
                  <a:buNone/>
                </a:pPr>
                <a:r>
                  <a:rPr lang="en-ZA" b="0" dirty="0"/>
                  <a:t>Grover’s algorithm performs the search in four main steps:</a:t>
                </a:r>
              </a:p>
              <a:p>
                <a:pPr marL="0" indent="0">
                  <a:buFont typeface="+mj-lt"/>
                  <a:buNone/>
                </a:pPr>
                <a:endParaRPr lang="en-ZA" b="0" dirty="0"/>
              </a:p>
              <a:p>
                <a:pPr marL="228600" indent="-228600">
                  <a:buFont typeface="+mj-lt"/>
                  <a:buAutoNum type="arabicPeriod"/>
                </a:pPr>
                <a:r>
                  <a:rPr lang="en-ZA" b="1" dirty="0"/>
                  <a:t>Superposition:</a:t>
                </a:r>
                <a:r>
                  <a:rPr lang="en-ZA" dirty="0"/>
                  <a:t> First, the qubits are placed into an equal superposition, representing all four directory indices at once.</a:t>
                </a:r>
              </a:p>
              <a:p>
                <a:pPr marL="228600" indent="-228600">
                  <a:buFont typeface="+mj-lt"/>
                  <a:buAutoNum type="arabicPeriod"/>
                </a:pPr>
                <a:endParaRPr lang="en-ZA" dirty="0"/>
              </a:p>
              <a:p>
                <a:pPr marL="228600" indent="-228600">
                  <a:buFont typeface="+mj-lt"/>
                  <a:buAutoNum type="arabicPeriod"/>
                </a:pPr>
                <a:r>
                  <a:rPr lang="en-ZA" b="1" dirty="0"/>
                  <a:t>Oracle:</a:t>
                </a:r>
                <a:r>
                  <a:rPr lang="en-ZA" dirty="0"/>
                  <a:t> Next, the oracle, which is designed to recognize </a:t>
                </a:r>
                <a:r>
                  <a:rPr lang="en-ZA" b="0" dirty="0"/>
                  <a:t>Eve’s entry, </a:t>
                </a:r>
                <a:r>
                  <a:rPr lang="en-ZA" dirty="0"/>
                  <a:t>marks the </a:t>
                </a:r>
                <a:r>
                  <a:rPr lang="en-ZA" b="1" dirty="0"/>
                  <a:t>target state </a:t>
                </a:r>
                <a:r>
                  <a:rPr lang="en-ZA" sz="1200" i="0" kern="1200">
                    <a:solidFill>
                      <a:schemeClr val="tx1"/>
                    </a:solidFill>
                    <a:effectLst/>
                    <a:latin typeface="Cambria Math" panose="02040503050406030204" pitchFamily="18" charset="0"/>
                    <a:ea typeface="+mn-ea"/>
                    <a:cs typeface="+mn-cs"/>
                  </a:rPr>
                  <a:t>|</a:t>
                </a:r>
                <a:r>
                  <a:rPr lang="sr-Latn-RS" sz="1200" i="0" kern="1200">
                    <a:solidFill>
                      <a:schemeClr val="tx1"/>
                    </a:solidFill>
                    <a:effectLst/>
                    <a:latin typeface="Cambria Math" panose="02040503050406030204" pitchFamily="18" charset="0"/>
                    <a:ea typeface="+mn-ea"/>
                    <a:cs typeface="+mn-cs"/>
                  </a:rPr>
                  <a:t>𝑥</a:t>
                </a:r>
                <a:r>
                  <a:rPr lang="en-ZA" sz="1200" i="0" kern="1200">
                    <a:solidFill>
                      <a:schemeClr val="tx1"/>
                    </a:solidFill>
                    <a:effectLst/>
                    <a:latin typeface="Cambria Math" panose="02040503050406030204" pitchFamily="18" charset="0"/>
                    <a:ea typeface="+mn-ea"/>
                    <a:cs typeface="+mn-cs"/>
                  </a:rPr>
                  <a:t>^</a:t>
                </a:r>
                <a:r>
                  <a:rPr lang="sr-Latn-RS" sz="1200" i="0" kern="1200">
                    <a:solidFill>
                      <a:schemeClr val="tx1"/>
                    </a:solidFill>
                    <a:effectLst/>
                    <a:latin typeface="Cambria Math" panose="02040503050406030204" pitchFamily="18" charset="0"/>
                    <a:ea typeface="+mn-ea"/>
                    <a:cs typeface="+mn-cs"/>
                  </a:rPr>
                  <a:t>∗ ⟩</a:t>
                </a:r>
                <a:r>
                  <a:rPr lang="en-US" sz="1200" b="0" i="0" kern="1200">
                    <a:solidFill>
                      <a:schemeClr val="tx1"/>
                    </a:solidFill>
                    <a:effectLst/>
                    <a:latin typeface="Cambria Math" panose="02040503050406030204" pitchFamily="18" charset="0"/>
                    <a:ea typeface="+mn-ea"/>
                    <a:cs typeface="+mn-cs"/>
                  </a:rPr>
                  <a:t>=</a:t>
                </a:r>
                <a:r>
                  <a:rPr lang="en-ZA" sz="1200" i="0" kern="1200">
                    <a:solidFill>
                      <a:schemeClr val="tx1"/>
                    </a:solidFill>
                    <a:effectLst/>
                    <a:latin typeface="Cambria Math" panose="02040503050406030204" pitchFamily="18" charset="0"/>
                    <a:ea typeface="+mn-ea"/>
                    <a:cs typeface="+mn-cs"/>
                  </a:rPr>
                  <a:t>|</a:t>
                </a:r>
                <a:r>
                  <a:rPr lang="en-US" sz="1200" b="0" i="0" kern="1200">
                    <a:solidFill>
                      <a:schemeClr val="tx1"/>
                    </a:solidFill>
                    <a:effectLst/>
                    <a:latin typeface="Cambria Math" panose="02040503050406030204" pitchFamily="18" charset="0"/>
                    <a:ea typeface="+mn-ea"/>
                    <a:cs typeface="+mn-cs"/>
                  </a:rPr>
                  <a:t>10</a:t>
                </a:r>
                <a:r>
                  <a:rPr lang="sr-Latn-RS" sz="1200" b="0" i="0" kern="1200">
                    <a:solidFill>
                      <a:schemeClr val="tx1"/>
                    </a:solidFill>
                    <a:effectLst/>
                    <a:latin typeface="Cambria Math" panose="02040503050406030204" pitchFamily="18" charset="0"/>
                    <a:ea typeface="+mn-ea"/>
                    <a:cs typeface="+mn-cs"/>
                  </a:rPr>
                  <a:t>⟩</a:t>
                </a:r>
                <a:r>
                  <a:rPr lang="en-ZA" dirty="0"/>
                  <a:t> by flipping the sign of its amplitude. </a:t>
                </a:r>
              </a:p>
              <a:p>
                <a:pPr marL="228600" indent="-228600">
                  <a:buFont typeface="+mj-lt"/>
                  <a:buAutoNum type="arabicPeriod"/>
                </a:pPr>
                <a:endParaRPr lang="en-ZA" dirty="0"/>
              </a:p>
              <a:p>
                <a:pPr marL="228600" indent="-228600">
                  <a:buFont typeface="+mj-lt"/>
                  <a:buAutoNum type="arabicPeriod"/>
                </a:pPr>
                <a:r>
                  <a:rPr lang="en-ZA" b="1" dirty="0"/>
                  <a:t>Amplification:</a:t>
                </a:r>
                <a:r>
                  <a:rPr lang="en-ZA" dirty="0"/>
                  <a:t> The amplitude of the marked state ∣10⟩ is amplified, while the amplitudes of the other states decrease. If necessary, the oracle and amplification steps are repeated. </a:t>
                </a:r>
              </a:p>
              <a:p>
                <a:pPr marL="228600" indent="-228600">
                  <a:buFont typeface="+mj-lt"/>
                  <a:buAutoNum type="arabicPeriod"/>
                </a:pPr>
                <a:endParaRPr lang="en-ZA" dirty="0"/>
              </a:p>
              <a:p>
                <a:pPr marL="228600" indent="-228600">
                  <a:buFont typeface="+mj-lt"/>
                  <a:buAutoNum type="arabicPeriod"/>
                </a:pPr>
                <a:r>
                  <a:rPr lang="en-ZA" b="1" dirty="0"/>
                  <a:t>Measurement:</a:t>
                </a:r>
                <a:r>
                  <a:rPr lang="en-ZA" dirty="0"/>
                  <a:t> Finally, ∣10⟩ has the largest amplitude, so measurement returns </a:t>
                </a:r>
                <a:r>
                  <a:rPr lang="en-ZA" b="1" dirty="0"/>
                  <a:t>10</a:t>
                </a:r>
                <a:r>
                  <a:rPr lang="en-ZA" dirty="0"/>
                  <a:t>, the index of Eve’s phone number, with high probability.</a:t>
                </a:r>
              </a:p>
              <a:p>
                <a:pPr marL="0" indent="0">
                  <a:buFont typeface="+mj-lt"/>
                  <a:buNone/>
                </a:pPr>
                <a:endParaRPr lang="en-ZA" dirty="0"/>
              </a:p>
              <a:p>
                <a:pPr marL="0" indent="0" algn="just">
                  <a:buFont typeface="+mj-lt"/>
                  <a:buNone/>
                </a:pPr>
                <a:r>
                  <a:rPr lang="en-ZA" b="0" dirty="0"/>
                  <a:t>The diagram below the amplitudes shows the operations used in each step. </a:t>
                </a:r>
                <a:r>
                  <a:rPr lang="en-US" sz="1200" b="0" i="0">
                    <a:latin typeface="Cambria Math" panose="02040503050406030204" pitchFamily="18" charset="0"/>
                  </a:rPr>
                  <a:t>H^(</a:t>
                </a:r>
                <a:r>
                  <a:rPr lang="en-US" sz="1200" b="0" i="0">
                    <a:latin typeface="Cambria Math" panose="02040503050406030204" pitchFamily="18" charset="0"/>
                    <a:ea typeface="Cambria Math" panose="02040503050406030204" pitchFamily="18" charset="0"/>
                  </a:rPr>
                  <a:t>⨂2)</a:t>
                </a:r>
                <a:r>
                  <a:rPr lang="en-ZA" b="0" dirty="0"/>
                  <a:t> creates the equal superposition, O represents the oracle, and D, called the </a:t>
                </a:r>
                <a:r>
                  <a:rPr lang="en-ZA" b="1" dirty="0"/>
                  <a:t>diffusion operator or diffuser</a:t>
                </a:r>
                <a:r>
                  <a:rPr lang="en-ZA" b="0" dirty="0"/>
                  <a:t>, performs amplitude amplification. Finally, measurement returns the search result.</a:t>
                </a:r>
              </a:p>
              <a:p>
                <a:pPr marL="0" indent="0">
                  <a:buFont typeface="+mj-lt"/>
                  <a:buNone/>
                </a:pPr>
                <a:endParaRPr lang="en-ZA" dirty="0"/>
              </a:p>
              <a:p>
                <a:pPr marL="0" indent="0">
                  <a:buFont typeface="+mj-lt"/>
                  <a:buNone/>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a:t>
            </a:fld>
            <a:endParaRPr lang="en-US"/>
          </a:p>
        </p:txBody>
      </p:sp>
    </p:spTree>
    <p:extLst>
      <p:ext uri="{BB962C8B-B14F-4D97-AF65-F5344CB8AC3E}">
        <p14:creationId xmlns:p14="http://schemas.microsoft.com/office/powerpoint/2010/main" val="1896573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the first step of Grover’s algorithm, </a:t>
                </a:r>
                <a:r>
                  <a:rPr lang="en-ZA" b="0" dirty="0"/>
                  <a:t>Hadamard gates are applied to all qubits</a:t>
                </a:r>
                <a:r>
                  <a:rPr lang="en-ZA" dirty="0"/>
                  <a:t>, creating an equal superposition in which the basis states represent all possible indices.</a:t>
                </a:r>
              </a:p>
              <a:p>
                <a:pPr algn="just"/>
                <a:endParaRPr lang="en-ZA" dirty="0"/>
              </a:p>
              <a:p>
                <a:pPr algn="just"/>
                <a:r>
                  <a:rPr lang="en-ZA" dirty="0"/>
                  <a:t>For example, with two qubits, the four indices are represented by the basis states ∣00⟩, ∣01⟩, ∣10⟩, and ∣11⟩. In this equal superposition, every basis state has the same probability amplitude.</a:t>
                </a:r>
              </a:p>
            </p:txBody>
          </p:sp>
        </mc:Choice>
        <mc:Fallback xmlns="">
          <p:sp>
            <p:nvSpPr>
              <p:cNvPr id="3" name="Notes Placeholder 2"/>
              <p:cNvSpPr>
                <a:spLocks noGrp="1"/>
              </p:cNvSpPr>
              <p:nvPr>
                <p:ph type="body" idx="1"/>
              </p:nvPr>
            </p:nvSpPr>
            <p:spPr/>
            <p:txBody>
              <a:bodyPr/>
              <a:lstStyle/>
              <a:p>
                <a:pPr algn="just"/>
                <a:r>
                  <a:rPr lang="en-ZA" b="0" dirty="0"/>
                  <a:t>In the first step of Grover’s algorithm, Hadamard gates are applied to the qubits, placing them into a superposition such that the basis vectors encode all possible indices.</a:t>
                </a:r>
              </a:p>
              <a:p>
                <a:pPr algn="just"/>
                <a:endParaRPr lang="en-ZA" b="0" dirty="0"/>
              </a:p>
              <a:p>
                <a:pPr algn="just"/>
                <a:r>
                  <a:rPr lang="en-ZA" b="0" dirty="0"/>
                  <a:t>In our example, the indices are encoded by the basis states </a:t>
                </a:r>
                <a:r>
                  <a:rPr lang="en-US" sz="1200" b="0" i="0">
                    <a:latin typeface="Cambria Math" panose="02040503050406030204" pitchFamily="18" charset="0"/>
                  </a:rPr>
                  <a:t>|00⟩,|01⟩,|10⟩</a:t>
                </a:r>
                <a:r>
                  <a:rPr lang="en-ZA" b="0" dirty="0"/>
                  <a:t> and </a:t>
                </a:r>
                <a:r>
                  <a:rPr lang="en-US" sz="1200" b="0" i="0">
                    <a:latin typeface="Cambria Math" panose="02040503050406030204" pitchFamily="18" charset="0"/>
                  </a:rPr>
                  <a:t>|11⟩</a:t>
                </a:r>
                <a:endParaRPr lang="en-ZA" b="0" dirty="0"/>
              </a:p>
              <a:p>
                <a:pPr algn="just"/>
                <a:r>
                  <a:rPr lang="en-ZA" b="0" dirty="0"/>
                  <a:t>In this equal superposition state, all basis states have the same probability amplitude.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7</a:t>
            </a:fld>
            <a:endParaRPr lang="en-US"/>
          </a:p>
        </p:txBody>
      </p:sp>
    </p:spTree>
    <p:extLst>
      <p:ext uri="{BB962C8B-B14F-4D97-AF65-F5344CB8AC3E}">
        <p14:creationId xmlns:p14="http://schemas.microsoft.com/office/powerpoint/2010/main" val="3957977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the second step, the oracle identifies and marks the target index by flipping the sign of its amplitude. In general, the oracle acts as a phase operator:</a:t>
                </a:r>
              </a:p>
              <a:p>
                <a:pPr algn="just"/>
                <a:endParaRPr lang="en-ZA" dirty="0"/>
              </a:p>
              <a:p>
                <a:pPr/>
                <a14:m>
                  <m:oMathPara xmlns:m="http://schemas.openxmlformats.org/officeDocument/2006/math">
                    <m:oMathParaPr>
                      <m:jc m:val="centerGroup"/>
                    </m:oMathParaPr>
                    <m:oMath xmlns:m="http://schemas.openxmlformats.org/officeDocument/2006/math">
                      <m:r>
                        <m:rPr>
                          <m:sty m:val="p"/>
                        </m:rPr>
                        <a:rPr lang="sr-Latn-RS" sz="1200" b="0" i="0" smtClean="0">
                          <a:solidFill>
                            <a:schemeClr val="tx1"/>
                          </a:solidFill>
                          <a:latin typeface="Cambria Math" panose="02040503050406030204" pitchFamily="18" charset="0"/>
                        </a:rPr>
                        <m:t>O</m:t>
                      </m:r>
                      <m:d>
                        <m:dPr>
                          <m:begChr m:val="|"/>
                          <m:end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𝑥</m:t>
                          </m:r>
                        </m:e>
                      </m:d>
                      <m:r>
                        <a:rPr lang="en-US" sz="1200" i="0">
                          <a:solidFill>
                            <a:schemeClr val="tx1"/>
                          </a:solidFill>
                          <a:latin typeface="Cambria Math" panose="02040503050406030204" pitchFamily="18" charset="0"/>
                        </a:rPr>
                        <m:t>=</m:t>
                      </m:r>
                      <m:sSup>
                        <m:sSupPr>
                          <m:ctrlPr>
                            <a:rPr lang="en-US" sz="1200" i="1" smtClean="0">
                              <a:solidFill>
                                <a:schemeClr val="tx1"/>
                              </a:solidFill>
                              <a:latin typeface="Cambria Math" panose="02040503050406030204" pitchFamily="18" charset="0"/>
                            </a:rPr>
                          </m:ctrlPr>
                        </m:sSupPr>
                        <m:e>
                          <m:r>
                            <a:rPr lang="en-US" sz="1200" i="1">
                              <a:solidFill>
                                <a:schemeClr val="tx1"/>
                              </a:solidFill>
                              <a:latin typeface="Cambria Math" panose="02040503050406030204" pitchFamily="18" charset="0"/>
                            </a:rPr>
                            <m:t>(−1)</m:t>
                          </m:r>
                        </m:e>
                        <m:sup>
                          <m:r>
                            <a:rPr lang="en-US" sz="1200" i="1">
                              <a:solidFill>
                                <a:schemeClr val="tx1"/>
                              </a:solidFill>
                              <a:latin typeface="Cambria Math" panose="02040503050406030204" pitchFamily="18" charset="0"/>
                            </a:rPr>
                            <m:t>𝑓</m:t>
                          </m:r>
                          <m:r>
                            <a:rPr lang="en-US" sz="1200" i="1">
                              <a:solidFill>
                                <a:schemeClr val="tx1"/>
                              </a:solidFill>
                              <a:latin typeface="Cambria Math" panose="02040503050406030204" pitchFamily="18" charset="0"/>
                            </a:rPr>
                            <m:t>(</m:t>
                          </m:r>
                          <m:r>
                            <a:rPr lang="en-US" sz="1200" i="1">
                              <a:solidFill>
                                <a:schemeClr val="tx1"/>
                              </a:solidFill>
                              <a:latin typeface="Cambria Math" panose="02040503050406030204" pitchFamily="18" charset="0"/>
                            </a:rPr>
                            <m:t>𝑥</m:t>
                          </m:r>
                          <m:r>
                            <a:rPr lang="en-US" sz="1200" i="1">
                              <a:solidFill>
                                <a:schemeClr val="tx1"/>
                              </a:solidFill>
                              <a:latin typeface="Cambria Math" panose="02040503050406030204" pitchFamily="18" charset="0"/>
                            </a:rPr>
                            <m:t>)</m:t>
                          </m:r>
                        </m:sup>
                      </m:sSup>
                      <m:d>
                        <m:dPr>
                          <m:begChr m:val="|"/>
                          <m:endChr m:val="⟩"/>
                          <m:ctrlPr>
                            <a:rPr lang="en-US" sz="1200" i="1" smtClean="0">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𝑥</m:t>
                          </m:r>
                        </m:e>
                      </m:d>
                    </m:oMath>
                  </m:oMathPara>
                </a14:m>
                <a:endParaRPr lang="en-ZA" dirty="0"/>
              </a:p>
              <a:p>
                <a:endParaRPr lang="en-ZA" dirty="0"/>
              </a:p>
              <a:p>
                <a:pPr algn="just"/>
                <a:r>
                  <a:rPr lang="en-ZA" dirty="0"/>
                  <a:t>where </a:t>
                </a:r>
                <a14:m>
                  <m:oMath xmlns:m="http://schemas.openxmlformats.org/officeDocument/2006/math">
                    <m:r>
                      <a:rPr lang="en-US" sz="1200" i="1" smtClean="0">
                        <a:solidFill>
                          <a:schemeClr val="tx1"/>
                        </a:solidFill>
                        <a:latin typeface="Cambria Math" panose="02040503050406030204" pitchFamily="18" charset="0"/>
                      </a:rPr>
                      <m:t>𝑓</m:t>
                    </m:r>
                    <m:d>
                      <m:dPr>
                        <m:ctrlPr>
                          <a:rPr lang="en-US" sz="1200" i="1" smtClean="0">
                            <a:solidFill>
                              <a:schemeClr val="tx1"/>
                            </a:solidFill>
                            <a:latin typeface="Cambria Math" panose="02040503050406030204" pitchFamily="18" charset="0"/>
                          </a:rPr>
                        </m:ctrlPr>
                      </m:dPr>
                      <m:e>
                        <m:r>
                          <a:rPr lang="en-US" sz="1200" i="1" smtClean="0">
                            <a:solidFill>
                              <a:schemeClr val="tx1"/>
                            </a:solidFill>
                            <a:latin typeface="Cambria Math" panose="02040503050406030204" pitchFamily="18" charset="0"/>
                          </a:rPr>
                          <m:t>𝑥</m:t>
                        </m:r>
                      </m:e>
                    </m:d>
                    <m:r>
                      <a:rPr lang="en-US" sz="1200" b="0" i="1" smtClean="0">
                        <a:solidFill>
                          <a:schemeClr val="tx1"/>
                        </a:solidFill>
                        <a:latin typeface="Cambria Math" panose="02040503050406030204" pitchFamily="18" charset="0"/>
                      </a:rPr>
                      <m:t>=1</m:t>
                    </m:r>
                  </m:oMath>
                </a14:m>
                <a:r>
                  <a:rPr lang="en-ZA" dirty="0"/>
                  <a:t> for the target state and </a:t>
                </a:r>
                <a14:m>
                  <m:oMath xmlns:m="http://schemas.openxmlformats.org/officeDocument/2006/math">
                    <m:r>
                      <a:rPr lang="en-US" sz="1200" i="1" smtClean="0">
                        <a:solidFill>
                          <a:schemeClr val="tx1"/>
                        </a:solidFill>
                        <a:latin typeface="Cambria Math" panose="02040503050406030204" pitchFamily="18" charset="0"/>
                      </a:rPr>
                      <m:t>𝑓</m:t>
                    </m:r>
                    <m:d>
                      <m:dPr>
                        <m:ctrlPr>
                          <a:rPr lang="en-US" sz="1200" i="1" smtClean="0">
                            <a:solidFill>
                              <a:schemeClr val="tx1"/>
                            </a:solidFill>
                            <a:latin typeface="Cambria Math" panose="02040503050406030204" pitchFamily="18" charset="0"/>
                          </a:rPr>
                        </m:ctrlPr>
                      </m:dPr>
                      <m:e>
                        <m:r>
                          <a:rPr lang="en-US" sz="1200" i="1" smtClean="0">
                            <a:solidFill>
                              <a:schemeClr val="tx1"/>
                            </a:solidFill>
                            <a:latin typeface="Cambria Math" panose="02040503050406030204" pitchFamily="18" charset="0"/>
                          </a:rPr>
                          <m:t>𝑥</m:t>
                        </m:r>
                      </m:e>
                    </m:d>
                    <m:r>
                      <a:rPr lang="en-US" sz="1200" b="0" i="1" smtClean="0">
                        <a:solidFill>
                          <a:schemeClr val="tx1"/>
                        </a:solidFill>
                        <a:latin typeface="Cambria Math" panose="02040503050406030204" pitchFamily="18" charset="0"/>
                      </a:rPr>
                      <m:t>=0 </m:t>
                    </m:r>
                  </m:oMath>
                </a14:m>
                <a:r>
                  <a:rPr lang="en-ZA" dirty="0"/>
                  <a:t>for all other states. This means that the oracle multiplies the amplitude of the target state by −1, while leaving all other amplitudes unchanged.</a:t>
                </a:r>
              </a:p>
              <a:p>
                <a:pPr algn="just"/>
                <a:endParaRPr lang="en-ZA" dirty="0"/>
              </a:p>
              <a:p>
                <a:pPr algn="just"/>
                <a:r>
                  <a:rPr lang="en-ZA" dirty="0"/>
                  <a:t>Its matrix is simply the identity matrix with the diagonal entry corresponding to the target state changed from +1 to −1. In this example, the target is ∣10⟩, so the oracle changes its amplitude from positive to negative while all other amplitudes remain the same.</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effectLst/>
                    <a:latin typeface="+mn-lt"/>
                    <a:ea typeface="+mn-ea"/>
                    <a:cs typeface="+mn-cs"/>
                  </a:rPr>
                  <a:t>In this step, the oracle examines all input states in parallel and leaves them unchanged, except for the target state |10⟩ whose phase is flipped by 𝜋 radians We can compare the oracle to a template with a hole over the correct answer, so one can invert the probability amplitude by pushing it down.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The phase flip function that oracle performs can be expressed as </a:t>
                </a:r>
                <a:r>
                  <a:rPr lang="en-US" sz="2000" i="0">
                    <a:latin typeface="Cambria Math" panose="02040503050406030204" pitchFamily="18" charset="0"/>
                    <a:ea typeface="Cambria Math" panose="02040503050406030204" pitchFamily="18" charset="0"/>
                  </a:rPr>
                  <a:t>±</a:t>
                </a:r>
                <a:r>
                  <a:rPr lang="en-US" sz="2000" b="0" i="0">
                    <a:latin typeface="Cambria Math" panose="02040503050406030204" pitchFamily="18" charset="0"/>
                    <a:ea typeface="Cambria Math" panose="02040503050406030204" pitchFamily="18" charset="0"/>
                  </a:rPr>
                  <a:t>1</a:t>
                </a:r>
                <a:r>
                  <a:rPr lang="en-US" sz="2000" dirty="0"/>
                  <a:t> flip</a:t>
                </a:r>
                <a:r>
                  <a:rPr lang="en-US" sz="2000" baseline="0" dirty="0"/>
                  <a:t>-flop as shown in the formula.</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Since the only change is the phase flip, we can use the identity matrix as a template, with -1 at the basis we wish to invert.</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8</a:t>
            </a:fld>
            <a:endParaRPr lang="en-US"/>
          </a:p>
        </p:txBody>
      </p:sp>
    </p:spTree>
    <p:extLst>
      <p:ext uri="{BB962C8B-B14F-4D97-AF65-F5344CB8AC3E}">
        <p14:creationId xmlns:p14="http://schemas.microsoft.com/office/powerpoint/2010/main" val="1918764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To formally describe the oracle and the diffusion operator, we first need to introduce the outer product notation.</a:t>
                </a:r>
              </a:p>
              <a:p>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outer product is the product of a ket and a bra vector. It produces a matrix whose entries are the products of each ket component with each bra component.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p:txBody>
          </p:sp>
        </mc:Choice>
        <mc:Fallback xmlns="">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000" dirty="0" err="1"/>
                  <a:t>Spoljašnji</a:t>
                </a:r>
                <a:r>
                  <a:rPr lang="en-US" sz="2000" dirty="0"/>
                  <a:t> </a:t>
                </a:r>
                <a:r>
                  <a:rPr lang="en-US" sz="2000" dirty="0" err="1"/>
                  <a:t>porizvod</a:t>
                </a:r>
                <a:r>
                  <a:rPr lang="en-US" sz="2000" dirty="0"/>
                  <a:t> </a:t>
                </a:r>
                <a:r>
                  <a:rPr lang="en-US" sz="2000" dirty="0" err="1"/>
                  <a:t>je</a:t>
                </a:r>
                <a:r>
                  <a:rPr lang="en-US" sz="2000" dirty="0"/>
                  <a:t> </a:t>
                </a:r>
                <a:r>
                  <a:rPr lang="en-US" sz="2000" dirty="0" err="1"/>
                  <a:t>proizvod</a:t>
                </a:r>
                <a:r>
                  <a:rPr lang="en-US" sz="2000" dirty="0"/>
                  <a:t> </a:t>
                </a:r>
                <a:r>
                  <a:rPr lang="en-US" sz="2000" dirty="0" err="1"/>
                  <a:t>ket</a:t>
                </a:r>
                <a:r>
                  <a:rPr lang="en-US" sz="2000" dirty="0"/>
                  <a:t> </a:t>
                </a:r>
                <a:r>
                  <a:rPr lang="en-US" sz="2000" dirty="0" err="1"/>
                  <a:t>i</a:t>
                </a:r>
                <a:r>
                  <a:rPr lang="en-US" sz="2000" dirty="0"/>
                  <a:t> bra </a:t>
                </a:r>
                <a:r>
                  <a:rPr lang="en-US" sz="2000" dirty="0" err="1"/>
                  <a:t>vektora</a:t>
                </a:r>
                <a:r>
                  <a:rPr lang="en-US" sz="2000" dirty="0"/>
                  <a:t>. </a:t>
                </a:r>
                <a:r>
                  <a:rPr lang="en-US" sz="2000" dirty="0" err="1"/>
                  <a:t>Rezultat</a:t>
                </a:r>
                <a:r>
                  <a:rPr lang="en-US" sz="2000" dirty="0"/>
                  <a:t> </a:t>
                </a:r>
                <a:r>
                  <a:rPr lang="en-US" sz="2000" dirty="0" err="1"/>
                  <a:t>spoljasnjeg</a:t>
                </a:r>
                <a:r>
                  <a:rPr lang="en-US" sz="2000" dirty="0"/>
                  <a:t> </a:t>
                </a:r>
                <a:r>
                  <a:rPr lang="en-US" sz="2000" dirty="0" err="1"/>
                  <a:t>proizvoda</a:t>
                </a:r>
                <a:r>
                  <a:rPr lang="en-US" sz="2000" dirty="0"/>
                  <a:t> </a:t>
                </a:r>
                <a:r>
                  <a:rPr lang="en-US" sz="2000" dirty="0" err="1"/>
                  <a:t>je</a:t>
                </a:r>
                <a:r>
                  <a:rPr lang="en-US" sz="2000" dirty="0"/>
                  <a:t> </a:t>
                </a:r>
                <a:r>
                  <a:rPr lang="en-US" sz="2000" dirty="0" err="1"/>
                  <a:t>matrica</a:t>
                </a:r>
                <a:r>
                  <a:rPr lang="en-US" sz="2000" dirty="0"/>
                  <a:t>. </a:t>
                </a:r>
                <a:r>
                  <a:rPr lang="en-US" sz="2000" dirty="0" err="1"/>
                  <a:t>Trag</a:t>
                </a:r>
                <a:r>
                  <a:rPr lang="en-US" sz="2000" dirty="0"/>
                  <a:t> </a:t>
                </a:r>
                <a:r>
                  <a:rPr lang="en-US" sz="2000" dirty="0" err="1"/>
                  <a:t>matrice</a:t>
                </a:r>
                <a:r>
                  <a:rPr lang="en-US" sz="2000" dirty="0"/>
                  <a:t> </a:t>
                </a:r>
                <a:r>
                  <a:rPr lang="en-US" sz="2000" dirty="0" err="1"/>
                  <a:t>spoljasnjeg</a:t>
                </a:r>
                <a:r>
                  <a:rPr lang="en-US" sz="2000" dirty="0"/>
                  <a:t> </a:t>
                </a:r>
                <a:r>
                  <a:rPr lang="en-US" sz="2000" dirty="0" err="1"/>
                  <a:t>proizvoda</a:t>
                </a:r>
                <a:r>
                  <a:rPr lang="en-US" sz="2000" dirty="0"/>
                  <a:t> </a:t>
                </a:r>
                <a:r>
                  <a:rPr lang="en-US" sz="2000" dirty="0" err="1"/>
                  <a:t>je</a:t>
                </a:r>
                <a:r>
                  <a:rPr lang="en-US" sz="2000" dirty="0"/>
                  <a:t> </a:t>
                </a:r>
                <a:r>
                  <a:rPr lang="en-US" sz="2000" dirty="0" err="1"/>
                  <a:t>unutrasnji</a:t>
                </a:r>
                <a:r>
                  <a:rPr lang="en-US" sz="2000" dirty="0"/>
                  <a:t> </a:t>
                </a:r>
                <a:r>
                  <a:rPr lang="en-US" sz="2000" dirty="0" err="1"/>
                  <a:t>proizvod</a:t>
                </a:r>
                <a:r>
                  <a:rPr lang="en-US" sz="2000" dirty="0"/>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err="1"/>
                  <a:t>Spoljašnji</a:t>
                </a:r>
                <a:r>
                  <a:rPr lang="en-US" sz="2000" dirty="0"/>
                  <a:t> </a:t>
                </a:r>
                <a:r>
                  <a:rPr lang="en-US" sz="2000" dirty="0" err="1"/>
                  <a:t>proizvod</a:t>
                </a:r>
                <a:r>
                  <a:rPr lang="en-US" sz="2000" dirty="0"/>
                  <a:t> </a:t>
                </a:r>
                <a:r>
                  <a:rPr lang="en-US" sz="2000" dirty="0" err="1"/>
                  <a:t>vektora</a:t>
                </a:r>
                <a:r>
                  <a:rPr lang="en-US" sz="2000" dirty="0"/>
                  <a:t> </a:t>
                </a:r>
                <a:r>
                  <a:rPr lang="en-US" sz="2000" dirty="0" err="1"/>
                  <a:t>sa</a:t>
                </a:r>
                <a:r>
                  <a:rPr lang="en-US" sz="2000" dirty="0"/>
                  <a:t> </a:t>
                </a:r>
                <a:r>
                  <a:rPr lang="en-US" sz="2000" dirty="0" err="1"/>
                  <a:t>samim</a:t>
                </a:r>
                <a:r>
                  <a:rPr lang="en-US" sz="2000" dirty="0"/>
                  <a:t> </a:t>
                </a:r>
                <a:r>
                  <a:rPr lang="en-US" sz="2000" dirty="0" err="1"/>
                  <a:t>sobom</a:t>
                </a:r>
                <a:r>
                  <a:rPr lang="en-US" sz="2000" dirty="0"/>
                  <a:t> </a:t>
                </a:r>
                <a:r>
                  <a:rPr lang="en-US" sz="2000" dirty="0" err="1"/>
                  <a:t>naziva</a:t>
                </a:r>
                <a:r>
                  <a:rPr lang="en-US" sz="2000" dirty="0"/>
                  <a:t> se </a:t>
                </a:r>
                <a:r>
                  <a:rPr lang="en-US" sz="2000" dirty="0" err="1"/>
                  <a:t>matrica</a:t>
                </a:r>
                <a:r>
                  <a:rPr lang="en-US" sz="2000" dirty="0"/>
                  <a:t> </a:t>
                </a:r>
                <a:r>
                  <a:rPr lang="en-US" sz="2000" dirty="0" err="1"/>
                  <a:t>gustine</a:t>
                </a:r>
                <a:r>
                  <a:rPr lang="en-US" sz="2000" dirty="0"/>
                  <a:t> I </a:t>
                </a:r>
                <a:r>
                  <a:rPr lang="en-US" sz="2000" dirty="0" err="1"/>
                  <a:t>obelezava</a:t>
                </a:r>
                <a:r>
                  <a:rPr lang="en-US" sz="2000" dirty="0"/>
                  <a:t> se </a:t>
                </a:r>
                <a:r>
                  <a:rPr lang="en-US" sz="2000" dirty="0" err="1"/>
                  <a:t>slovom</a:t>
                </a:r>
                <a:r>
                  <a:rPr lang="en-US" sz="2000" dirty="0"/>
                  <a:t> </a:t>
                </a:r>
                <a:r>
                  <a:rPr lang="en-US" sz="2000" i="0">
                    <a:latin typeface="Cambria Math" panose="02040503050406030204" pitchFamily="18" charset="0"/>
                  </a:rPr>
                  <a:t>𝜌</a:t>
                </a:r>
                <a:r>
                  <a:rPr lang="en-US" sz="200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9</a:t>
            </a:fld>
            <a:endParaRPr lang="en-US"/>
          </a:p>
        </p:txBody>
      </p:sp>
    </p:spTree>
    <p:extLst>
      <p:ext uri="{BB962C8B-B14F-4D97-AF65-F5344CB8AC3E}">
        <p14:creationId xmlns:p14="http://schemas.microsoft.com/office/powerpoint/2010/main" val="2493756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l"/>
                <a:r>
                  <a:rPr lang="en-ZA" dirty="0"/>
                  <a:t>The oracle must flip the phase of the marked (target) state </a:t>
                </a:r>
                <a14:m>
                  <m:oMath xmlns:m="http://schemas.openxmlformats.org/officeDocument/2006/math">
                    <m:d>
                      <m:dPr>
                        <m:begChr m:val="|"/>
                        <m:endChr m:val="⟩"/>
                        <m:ctrlPr>
                          <a:rPr lang="en-ZA" sz="1200" i="1" kern="1200" smtClean="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oMath>
                </a14:m>
                <a:r>
                  <a:rPr lang="en-ZA" dirty="0"/>
                  <a:t>, so its action is</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1200" i="1" kern="1200" smtClean="0">
                          <a:solidFill>
                            <a:schemeClr val="tx1"/>
                          </a:solidFill>
                          <a:effectLst/>
                          <a:latin typeface="Cambria Math" panose="02040503050406030204" pitchFamily="18" charset="0"/>
                          <a:ea typeface="+mn-ea"/>
                          <a:cs typeface="+mn-cs"/>
                        </a:rPr>
                        <m:t>𝑂</m:t>
                      </m:r>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smtClean="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r>
                        <a:rPr lang="sr-Latn-RS" sz="1200" i="1" kern="1200">
                          <a:solidFill>
                            <a:schemeClr val="tx1"/>
                          </a:solidFill>
                          <a:effectLst/>
                          <a:latin typeface="Cambria Math" panose="02040503050406030204" pitchFamily="18" charset="0"/>
                          <a:ea typeface="+mn-ea"/>
                          <a:cs typeface="+mn-cs"/>
                        </a:rPr>
                        <m:t>=−</m:t>
                      </m:r>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oMath>
                  </m:oMathPara>
                </a14:m>
                <a:endParaRPr lang="en-Z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200" kern="1200" dirty="0">
                  <a:solidFill>
                    <a:schemeClr val="tx1"/>
                  </a:solidFill>
                  <a:effectLst/>
                  <a:latin typeface="+mn-lt"/>
                  <a:ea typeface="+mn-ea"/>
                  <a:cs typeface="+mn-cs"/>
                </a:endParaRPr>
              </a:p>
              <a:p>
                <a:pPr algn="l"/>
                <a:r>
                  <a:rPr lang="en-ZA" dirty="0"/>
                  <a:t>The same transformation can be written as</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1200" i="1" kern="1200" smtClean="0">
                          <a:solidFill>
                            <a:schemeClr val="tx1"/>
                          </a:solidFill>
                          <a:effectLst/>
                          <a:latin typeface="Cambria Math" panose="02040503050406030204" pitchFamily="18" charset="0"/>
                          <a:ea typeface="+mn-ea"/>
                          <a:cs typeface="+mn-cs"/>
                        </a:rPr>
                        <m:t>𝑂</m:t>
                      </m:r>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r>
                        <a:rPr lang="sr-Latn-RS" sz="1200" i="1" kern="1200">
                          <a:solidFill>
                            <a:schemeClr val="tx1"/>
                          </a:solidFill>
                          <a:effectLst/>
                          <a:latin typeface="Cambria Math" panose="02040503050406030204" pitchFamily="18" charset="0"/>
                          <a:ea typeface="+mn-ea"/>
                          <a:cs typeface="+mn-cs"/>
                        </a:rPr>
                        <m:t>=</m:t>
                      </m:r>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r>
                        <a:rPr lang="sr-Latn-RS" sz="1200" i="1" kern="1200">
                          <a:solidFill>
                            <a:schemeClr val="tx1"/>
                          </a:solidFill>
                          <a:effectLst/>
                          <a:latin typeface="Cambria Math" panose="02040503050406030204" pitchFamily="18" charset="0"/>
                          <a:ea typeface="+mn-ea"/>
                          <a:cs typeface="+mn-cs"/>
                        </a:rPr>
                        <m:t>−2</m:t>
                      </m:r>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oMath>
                  </m:oMathPara>
                </a14:m>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p>
              <a:p>
                <a:pPr algn="l"/>
                <a:r>
                  <a:rPr lang="en-ZA" dirty="0"/>
                  <a:t>The first term can be written using the identity operator, </a:t>
                </a:r>
                <a14:m>
                  <m:oMath xmlns:m="http://schemas.openxmlformats.org/officeDocument/2006/math">
                    <m:r>
                      <a:rPr lang="sr-Latn-RS" sz="1200" i="1" kern="1200" smtClean="0">
                        <a:solidFill>
                          <a:schemeClr val="tx1"/>
                        </a:solidFill>
                        <a:effectLst/>
                        <a:latin typeface="Cambria Math" panose="02040503050406030204" pitchFamily="18" charset="0"/>
                        <a:ea typeface="+mn-ea"/>
                        <a:cs typeface="+mn-cs"/>
                      </a:rPr>
                      <m:t>𝐼</m:t>
                    </m:r>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oMath>
                </a14:m>
                <a:r>
                  <a:rPr lang="en-ZA" dirty="0">
                    <a:effectLst/>
                  </a:rPr>
                  <a:t> </a:t>
                </a:r>
                <a:r>
                  <a:rPr lang="en-ZA" dirty="0"/>
                  <a:t>, while the second term can be expressed using the fact that </a:t>
                </a:r>
                <a14:m>
                  <m:oMath xmlns:m="http://schemas.openxmlformats.org/officeDocument/2006/math">
                    <m:d>
                      <m:dPr>
                        <m:begChr m:val="⟨"/>
                        <m:endChr m:val="⟩"/>
                        <m:ctrlPr>
                          <a:rPr lang="en-ZA" sz="1200" i="1" kern="1200" smtClean="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r>
                      <a:rPr lang="sr-Latn-RS" sz="1200" i="1" kern="1200">
                        <a:solidFill>
                          <a:schemeClr val="tx1"/>
                        </a:solidFill>
                        <a:effectLst/>
                        <a:latin typeface="Cambria Math" panose="02040503050406030204" pitchFamily="18" charset="0"/>
                        <a:ea typeface="+mn-ea"/>
                        <a:cs typeface="+mn-cs"/>
                      </a:rPr>
                      <m:t>=1</m:t>
                    </m:r>
                  </m:oMath>
                </a14:m>
                <a:r>
                  <a:rPr lang="en-ZA" dirty="0"/>
                  <a:t>. Therefore,</a:t>
                </a:r>
              </a:p>
              <a:p>
                <a:pPr algn="l"/>
                <a:endParaRPr lang="en-ZA" dirty="0"/>
              </a:p>
              <a:p>
                <a:pPr algn="l"/>
                <a14:m>
                  <m:oMathPara xmlns:m="http://schemas.openxmlformats.org/officeDocument/2006/math">
                    <m:oMathParaPr>
                      <m:jc m:val="centerGroup"/>
                    </m:oMathParaPr>
                    <m:oMath xmlns:m="http://schemas.openxmlformats.org/officeDocument/2006/math">
                      <m:r>
                        <a:rPr lang="sr-Latn-RS" sz="1200" i="1" kern="1200" smtClean="0">
                          <a:solidFill>
                            <a:schemeClr val="tx1"/>
                          </a:solidFill>
                          <a:effectLst/>
                          <a:latin typeface="Cambria Math" panose="02040503050406030204" pitchFamily="18" charset="0"/>
                          <a:ea typeface="+mn-ea"/>
                          <a:cs typeface="+mn-cs"/>
                        </a:rPr>
                        <m:t>𝑂</m:t>
                      </m:r>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r>
                        <a:rPr lang="sr-Latn-RS" sz="1200" i="1" kern="1200">
                          <a:solidFill>
                            <a:schemeClr val="tx1"/>
                          </a:solidFill>
                          <a:effectLst/>
                          <a:latin typeface="Cambria Math" panose="02040503050406030204" pitchFamily="18" charset="0"/>
                          <a:ea typeface="+mn-ea"/>
                          <a:cs typeface="+mn-cs"/>
                        </a:rPr>
                        <m:t>=</m:t>
                      </m:r>
                      <m:r>
                        <a:rPr lang="sr-Latn-RS" sz="1200" i="1" kern="1200">
                          <a:solidFill>
                            <a:schemeClr val="tx1"/>
                          </a:solidFill>
                          <a:effectLst/>
                          <a:latin typeface="Cambria Math" panose="02040503050406030204" pitchFamily="18" charset="0"/>
                          <a:ea typeface="+mn-ea"/>
                          <a:cs typeface="+mn-cs"/>
                        </a:rPr>
                        <m:t>𝐼</m:t>
                      </m:r>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r>
                        <a:rPr lang="sr-Latn-RS" sz="1200" i="1" kern="1200">
                          <a:solidFill>
                            <a:schemeClr val="tx1"/>
                          </a:solidFill>
                          <a:effectLst/>
                          <a:latin typeface="Cambria Math" panose="02040503050406030204" pitchFamily="18" charset="0"/>
                          <a:ea typeface="+mn-ea"/>
                          <a:cs typeface="+mn-cs"/>
                        </a:rPr>
                        <m:t>−2</m:t>
                      </m:r>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r>
                        <a:rPr lang="sr-Latn-RS" sz="1200" i="1" kern="1200">
                          <a:solidFill>
                            <a:schemeClr val="tx1"/>
                          </a:solidFill>
                          <a:effectLst/>
                          <a:latin typeface="Cambria Math" panose="02040503050406030204" pitchFamily="18" charset="0"/>
                          <a:ea typeface="+mn-ea"/>
                          <a:cs typeface="+mn-cs"/>
                        </a:rPr>
                        <m:t>=</m:t>
                      </m:r>
                      <m:d>
                        <m:dPr>
                          <m:ctrlPr>
                            <a:rPr lang="en-ZA"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panose="02040503050406030204" pitchFamily="18" charset="0"/>
                              <a:ea typeface="+mn-ea"/>
                              <a:cs typeface="+mn-cs"/>
                            </a:rPr>
                            <m:t>𝐼</m:t>
                          </m:r>
                          <m:r>
                            <a:rPr lang="sr-Latn-RS" sz="1200" i="1" kern="1200">
                              <a:solidFill>
                                <a:schemeClr val="tx1"/>
                              </a:solidFill>
                              <a:effectLst/>
                              <a:latin typeface="Cambria Math" panose="02040503050406030204" pitchFamily="18" charset="0"/>
                              <a:ea typeface="+mn-ea"/>
                              <a:cs typeface="+mn-cs"/>
                            </a:rPr>
                            <m:t>−2</m:t>
                          </m:r>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r>
                            <a:rPr lang="sr-Latn-RS" sz="1200" kern="1200">
                              <a:solidFill>
                                <a:schemeClr val="tx1"/>
                              </a:solidFill>
                              <a:effectLst/>
                              <a:latin typeface="Cambria Math" panose="02040503050406030204" pitchFamily="18" charset="0"/>
                              <a:ea typeface="+mn-ea"/>
                              <a:cs typeface="+mn-cs"/>
                            </a:rPr>
                            <m:t>⟨</m:t>
                          </m:r>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r>
                            <a:rPr lang="sr-Latn-RS" sz="1200" kern="1200">
                              <a:solidFill>
                                <a:schemeClr val="tx1"/>
                              </a:solidFill>
                              <a:effectLst/>
                              <a:latin typeface="Cambria Math" panose="02040503050406030204" pitchFamily="18" charset="0"/>
                              <a:ea typeface="+mn-ea"/>
                              <a:cs typeface="+mn-cs"/>
                            </a:rPr>
                            <m:t>|</m:t>
                          </m:r>
                        </m:e>
                      </m:d>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oMath>
                  </m:oMathPara>
                </a14:m>
                <a:endParaRPr lang="en-ZA" dirty="0"/>
              </a:p>
              <a:p>
                <a:pPr algn="l"/>
                <a:endParaRPr lang="en-ZA" dirty="0"/>
              </a:p>
              <a:p>
                <a:pPr algn="l"/>
                <a:r>
                  <a:rPr lang="en-ZA" dirty="0"/>
                  <a:t>This gives the general oracle operator</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1200" i="1" kern="1200" smtClean="0">
                          <a:solidFill>
                            <a:schemeClr val="tx1"/>
                          </a:solidFill>
                          <a:effectLst/>
                          <a:latin typeface="Cambria Math" panose="02040503050406030204" pitchFamily="18" charset="0"/>
                          <a:ea typeface="+mn-ea"/>
                          <a:cs typeface="+mn-cs"/>
                        </a:rPr>
                        <m:t>𝑂</m:t>
                      </m:r>
                      <m:r>
                        <a:rPr lang="sr-Latn-RS" sz="1200" i="1" kern="1200" smtClean="0">
                          <a:solidFill>
                            <a:schemeClr val="tx1"/>
                          </a:solidFill>
                          <a:effectLst/>
                          <a:latin typeface="Cambria Math" panose="02040503050406030204" pitchFamily="18" charset="0"/>
                          <a:ea typeface="+mn-ea"/>
                          <a:cs typeface="+mn-cs"/>
                        </a:rPr>
                        <m:t>=</m:t>
                      </m:r>
                      <m:r>
                        <a:rPr lang="sr-Latn-RS" sz="1200" i="1" kern="1200" smtClean="0">
                          <a:solidFill>
                            <a:schemeClr val="tx1"/>
                          </a:solidFill>
                          <a:effectLst/>
                          <a:latin typeface="Cambria Math" panose="02040503050406030204" pitchFamily="18" charset="0"/>
                          <a:ea typeface="+mn-ea"/>
                          <a:cs typeface="+mn-cs"/>
                        </a:rPr>
                        <m:t>𝐼</m:t>
                      </m:r>
                      <m:r>
                        <a:rPr lang="sr-Latn-RS" sz="1200" i="1" kern="1200" smtClean="0">
                          <a:solidFill>
                            <a:schemeClr val="tx1"/>
                          </a:solidFill>
                          <a:effectLst/>
                          <a:latin typeface="Cambria Math" panose="02040503050406030204" pitchFamily="18" charset="0"/>
                          <a:ea typeface="+mn-ea"/>
                          <a:cs typeface="+mn-cs"/>
                        </a:rPr>
                        <m:t>−2</m:t>
                      </m:r>
                      <m:d>
                        <m:dPr>
                          <m:begChr m:val="|"/>
                          <m:endChr m:val="⟩"/>
                          <m:ctrlPr>
                            <a:rPr lang="en-ZA" sz="1200" i="1" kern="1200">
                              <a:solidFill>
                                <a:schemeClr val="tx1"/>
                              </a:solidFill>
                              <a:effectLst/>
                              <a:latin typeface="Cambria Math" panose="02040503050406030204" pitchFamily="18" charset="0"/>
                              <a:ea typeface="+mn-ea"/>
                              <a:cs typeface="+mn-cs"/>
                            </a:rPr>
                          </m:ctrlPr>
                        </m:dPr>
                        <m:e>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e>
                      </m:d>
                      <m:r>
                        <a:rPr lang="sr-Latn-RS" sz="1200" kern="1200">
                          <a:solidFill>
                            <a:schemeClr val="tx1"/>
                          </a:solidFill>
                          <a:effectLst/>
                          <a:latin typeface="Cambria Math" panose="02040503050406030204" pitchFamily="18" charset="0"/>
                          <a:ea typeface="+mn-ea"/>
                          <a:cs typeface="+mn-cs"/>
                        </a:rPr>
                        <m:t>⟨</m:t>
                      </m:r>
                      <m:sSup>
                        <m:sSupPr>
                          <m:ctrlPr>
                            <a:rPr lang="en-ZA"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panose="02040503050406030204" pitchFamily="18" charset="0"/>
                              <a:ea typeface="+mn-ea"/>
                              <a:cs typeface="+mn-cs"/>
                            </a:rPr>
                            <m:t>𝑥</m:t>
                          </m:r>
                        </m:e>
                        <m:sup>
                          <m:r>
                            <a:rPr lang="sr-Latn-RS" sz="1200" i="1" kern="1200">
                              <a:solidFill>
                                <a:schemeClr val="tx1"/>
                              </a:solidFill>
                              <a:effectLst/>
                              <a:latin typeface="Cambria Math" panose="02040503050406030204" pitchFamily="18" charset="0"/>
                              <a:ea typeface="+mn-ea"/>
                              <a:cs typeface="+mn-cs"/>
                            </a:rPr>
                            <m:t>∗</m:t>
                          </m:r>
                        </m:sup>
                      </m:sSup>
                      <m:r>
                        <a:rPr lang="sr-Latn-RS" sz="1200" kern="1200">
                          <a:solidFill>
                            <a:schemeClr val="tx1"/>
                          </a:solidFill>
                          <a:effectLst/>
                          <a:latin typeface="Cambria Math" panose="02040503050406030204" pitchFamily="18" charset="0"/>
                          <a:ea typeface="+mn-ea"/>
                          <a:cs typeface="+mn-cs"/>
                        </a:rPr>
                        <m:t>|</m:t>
                      </m:r>
                    </m:oMath>
                  </m:oMathPara>
                </a14:m>
                <a:endParaRPr lang="en-ZA" sz="1200" kern="1200" dirty="0">
                  <a:solidFill>
                    <a:schemeClr val="tx1"/>
                  </a:solidFill>
                  <a:effectLst/>
                  <a:latin typeface="+mn-lt"/>
                  <a:ea typeface="+mn-ea"/>
                  <a:cs typeface="+mn-cs"/>
                </a:endParaRPr>
              </a:p>
              <a:p>
                <a:pPr algn="l"/>
                <a:endParaRPr lang="en-ZA" dirty="0"/>
              </a:p>
              <a:p>
                <a:pPr algn="l"/>
                <a:r>
                  <a:rPr lang="en-ZA" dirty="0"/>
                  <a:t>For the phone-directory example, the target is</a:t>
                </a:r>
              </a:p>
              <a:p>
                <a:pPr algn="l"/>
                <a14:m>
                  <m:oMathPara xmlns:m="http://schemas.openxmlformats.org/officeDocument/2006/math">
                    <m:oMathParaPr>
                      <m:jc m:val="centerGroup"/>
                    </m:oMathParaPr>
                    <m:oMath xmlns:m="http://schemas.openxmlformats.org/officeDocument/2006/math">
                      <m:d>
                        <m:dPr>
                          <m:begChr m:val="|"/>
                          <m:endChr m:val="⟩"/>
                          <m:ctrlPr>
                            <a:rPr lang="en-ZA" i="1" smtClean="0">
                              <a:latin typeface="Cambria Math" panose="02040503050406030204" pitchFamily="18" charset="0"/>
                            </a:rPr>
                          </m:ctrlPr>
                        </m:dPr>
                        <m:e>
                          <m:sSup>
                            <m:sSupPr>
                              <m:ctrlPr>
                                <a:rPr lang="en-ZA" i="1">
                                  <a:latin typeface="Cambria Math" panose="02040503050406030204" pitchFamily="18" charset="0"/>
                                </a:rPr>
                              </m:ctrlPr>
                            </m:sSupPr>
                            <m:e>
                              <m:r>
                                <a:rPr lang="sr-Latn-RS" i="1">
                                  <a:latin typeface="Cambria Math" panose="02040503050406030204" pitchFamily="18" charset="0"/>
                                </a:rPr>
                                <m:t>𝑥</m:t>
                              </m:r>
                            </m:e>
                            <m:sup>
                              <m:r>
                                <a:rPr lang="sr-Latn-RS" i="1">
                                  <a:latin typeface="Cambria Math" panose="02040503050406030204" pitchFamily="18" charset="0"/>
                                </a:rPr>
                                <m:t>∗</m:t>
                              </m:r>
                            </m:sup>
                          </m:sSup>
                        </m:e>
                      </m:d>
                      <m:r>
                        <a:rPr lang="sr-Latn-RS" i="1">
                          <a:latin typeface="Cambria Math" panose="02040503050406030204" pitchFamily="18" charset="0"/>
                        </a:rPr>
                        <m:t>=</m:t>
                      </m:r>
                      <m:d>
                        <m:dPr>
                          <m:begChr m:val="|"/>
                          <m:endChr m:val="⟩"/>
                          <m:ctrlPr>
                            <a:rPr lang="en-ZA" i="1">
                              <a:latin typeface="Cambria Math" panose="02040503050406030204" pitchFamily="18" charset="0"/>
                            </a:rPr>
                          </m:ctrlPr>
                        </m:dPr>
                        <m:e>
                          <m:r>
                            <a:rPr lang="sr-Latn-RS" i="1">
                              <a:latin typeface="Cambria Math" panose="02040503050406030204" pitchFamily="18" charset="0"/>
                            </a:rPr>
                            <m:t>10</m:t>
                          </m:r>
                        </m:e>
                      </m:d>
                      <m:r>
                        <a:rPr lang="sr-Latn-RS" i="1">
                          <a:latin typeface="Cambria Math" panose="02040503050406030204" pitchFamily="18" charset="0"/>
                        </a:rPr>
                        <m:t>=</m:t>
                      </m:r>
                      <m:d>
                        <m:dPr>
                          <m:ctrlPr>
                            <a:rPr lang="en-ZA" i="1">
                              <a:latin typeface="Cambria Math" panose="02040503050406030204" pitchFamily="18" charset="0"/>
                            </a:rPr>
                          </m:ctrlPr>
                        </m:dPr>
                        <m:e>
                          <m:m>
                            <m:mPr>
                              <m:mcs>
                                <m:mc>
                                  <m:mcPr>
                                    <m:count m:val="1"/>
                                    <m:mcJc m:val="center"/>
                                  </m:mcPr>
                                </m:mc>
                              </m:mcs>
                              <m:ctrlPr>
                                <a:rPr lang="en-ZA" i="1">
                                  <a:latin typeface="Cambria Math" panose="02040503050406030204" pitchFamily="18" charset="0"/>
                                </a:rPr>
                              </m:ctrlPr>
                            </m:mPr>
                            <m:mr>
                              <m:e>
                                <m:r>
                                  <a:rPr lang="sr-Latn-RS" i="1">
                                    <a:latin typeface="Cambria Math" panose="02040503050406030204" pitchFamily="18" charset="0"/>
                                  </a:rPr>
                                  <m:t>0</m:t>
                                </m:r>
                              </m:e>
                            </m:mr>
                            <m:mr>
                              <m:e>
                                <m:r>
                                  <a:rPr lang="sr-Latn-RS" i="1">
                                    <a:latin typeface="Cambria Math" panose="02040503050406030204" pitchFamily="18" charset="0"/>
                                  </a:rPr>
                                  <m:t>0</m:t>
                                </m:r>
                              </m:e>
                            </m:mr>
                            <m:mr>
                              <m:e>
                                <m:r>
                                  <a:rPr lang="sr-Latn-RS" i="1">
                                    <a:latin typeface="Cambria Math" panose="02040503050406030204" pitchFamily="18" charset="0"/>
                                  </a:rPr>
                                  <m:t>1</m:t>
                                </m:r>
                              </m:e>
                            </m:mr>
                            <m:mr>
                              <m:e>
                                <m:r>
                                  <a:rPr lang="sr-Latn-RS" i="1">
                                    <a:latin typeface="Cambria Math" panose="02040503050406030204" pitchFamily="18" charset="0"/>
                                  </a:rPr>
                                  <m:t>0</m:t>
                                </m:r>
                              </m:e>
                            </m:mr>
                          </m:m>
                        </m:e>
                      </m:d>
                    </m:oMath>
                  </m:oMathPara>
                </a14:m>
                <a:endParaRPr lang="en-ZA" dirty="0"/>
              </a:p>
              <a:p>
                <a:pPr algn="l"/>
                <a:r>
                  <a:rPr lang="en-ZA" dirty="0"/>
                  <a:t>Substituting this state gives</a:t>
                </a:r>
              </a:p>
              <a:p>
                <a:pPr algn="l"/>
                <a14:m>
                  <m:oMathPara xmlns:m="http://schemas.openxmlformats.org/officeDocument/2006/math">
                    <m:oMathParaPr>
                      <m:jc m:val="centerGroup"/>
                    </m:oMathParaPr>
                    <m:oMath xmlns:m="http://schemas.openxmlformats.org/officeDocument/2006/math">
                      <m:m>
                        <m:mPr>
                          <m:mcs>
                            <m:mc>
                              <m:mcPr>
                                <m:count m:val="2"/>
                                <m:mcJc m:val="center"/>
                              </m:mcPr>
                            </m:mc>
                          </m:mcs>
                          <m:ctrlPr>
                            <a:rPr lang="en-ZA" sz="1200" i="1" kern="1200" smtClean="0">
                              <a:solidFill>
                                <a:schemeClr val="tx1"/>
                              </a:solidFill>
                              <a:effectLst/>
                              <a:latin typeface="Cambria Math" panose="02040503050406030204" pitchFamily="18" charset="0"/>
                              <a:ea typeface="+mn-ea"/>
                              <a:cs typeface="+mn-cs"/>
                            </a:rPr>
                          </m:ctrlPr>
                        </m:mPr>
                        <m:mr>
                          <m:e>
                            <m:r>
                              <m:rPr>
                                <m:brk m:alnAt="7"/>
                              </m:rPr>
                              <a:rPr lang="en-US" sz="1200" b="0" i="1" kern="1200" smtClean="0">
                                <a:solidFill>
                                  <a:schemeClr val="tx1"/>
                                </a:solidFill>
                                <a:effectLst/>
                                <a:latin typeface="Cambria Math" panose="02040503050406030204" pitchFamily="18" charset="0"/>
                                <a:ea typeface="+mn-ea"/>
                                <a:cs typeface="+mn-cs"/>
                              </a:rPr>
                              <m:t>𝑂</m:t>
                            </m:r>
                            <m:r>
                              <a:rPr lang="en-US" sz="1200" b="0" i="1" kern="1200" smtClean="0">
                                <a:solidFill>
                                  <a:schemeClr val="tx1"/>
                                </a:solidFill>
                                <a:effectLst/>
                                <a:latin typeface="Cambria Math" panose="02040503050406030204" pitchFamily="18" charset="0"/>
                                <a:ea typeface="+mn-ea"/>
                                <a:cs typeface="+mn-cs"/>
                              </a:rPr>
                              <m:t>=</m:t>
                            </m:r>
                          </m:e>
                          <m:e>
                            <m:r>
                              <a:rPr lang="sr-Latn-RS" i="1" smtClean="0">
                                <a:latin typeface="Cambria Math" panose="02040503050406030204" pitchFamily="18" charset="0"/>
                              </a:rPr>
                              <m:t>𝐼</m:t>
                            </m:r>
                            <m:r>
                              <a:rPr lang="sr-Latn-RS" i="1" smtClean="0">
                                <a:latin typeface="Cambria Math" panose="02040503050406030204" pitchFamily="18" charset="0"/>
                              </a:rPr>
                              <m:t>−2</m:t>
                            </m:r>
                            <m:d>
                              <m:dPr>
                                <m:begChr m:val="|"/>
                                <m:endChr m:val="⟩"/>
                                <m:ctrlPr>
                                  <a:rPr lang="en-ZA" i="1">
                                    <a:latin typeface="Cambria Math" panose="02040503050406030204" pitchFamily="18" charset="0"/>
                                  </a:rPr>
                                </m:ctrlPr>
                              </m:dPr>
                              <m:e>
                                <m:sSup>
                                  <m:sSupPr>
                                    <m:ctrlPr>
                                      <a:rPr lang="en-ZA" i="1">
                                        <a:latin typeface="Cambria Math" panose="02040503050406030204" pitchFamily="18" charset="0"/>
                                      </a:rPr>
                                    </m:ctrlPr>
                                  </m:sSupPr>
                                  <m:e>
                                    <m:r>
                                      <a:rPr lang="sr-Latn-RS" i="1">
                                        <a:latin typeface="Cambria Math" panose="02040503050406030204" pitchFamily="18" charset="0"/>
                                      </a:rPr>
                                      <m:t>𝑥</m:t>
                                    </m:r>
                                  </m:e>
                                  <m:sup>
                                    <m:r>
                                      <a:rPr lang="sr-Latn-RS" i="1">
                                        <a:latin typeface="Cambria Math" panose="02040503050406030204" pitchFamily="18" charset="0"/>
                                      </a:rPr>
                                      <m:t>∗</m:t>
                                    </m:r>
                                  </m:sup>
                                </m:sSup>
                              </m:e>
                            </m:d>
                            <m:r>
                              <a:rPr lang="sr-Latn-RS">
                                <a:latin typeface="Cambria Math" panose="02040503050406030204" pitchFamily="18" charset="0"/>
                              </a:rPr>
                              <m:t>⟨</m:t>
                            </m:r>
                            <m:sSup>
                              <m:sSupPr>
                                <m:ctrlPr>
                                  <a:rPr lang="en-ZA" i="1">
                                    <a:latin typeface="Cambria Math" panose="02040503050406030204" pitchFamily="18" charset="0"/>
                                  </a:rPr>
                                </m:ctrlPr>
                              </m:sSupPr>
                              <m:e>
                                <m:r>
                                  <a:rPr lang="sr-Latn-RS" i="1">
                                    <a:latin typeface="Cambria Math" panose="02040503050406030204" pitchFamily="18" charset="0"/>
                                  </a:rPr>
                                  <m:t>𝑥</m:t>
                                </m:r>
                              </m:e>
                              <m:sup>
                                <m:r>
                                  <a:rPr lang="sr-Latn-RS" i="1">
                                    <a:latin typeface="Cambria Math" panose="02040503050406030204" pitchFamily="18" charset="0"/>
                                  </a:rPr>
                                  <m:t>∗</m:t>
                                </m:r>
                              </m:sup>
                            </m:sSup>
                            <m:r>
                              <a:rPr lang="sr-Latn-RS">
                                <a:latin typeface="Cambria Math" panose="02040503050406030204" pitchFamily="18" charset="0"/>
                              </a:rPr>
                              <m:t>|</m:t>
                            </m:r>
                          </m:e>
                        </m:mr>
                        <m:mr>
                          <m:e>
                            <m:r>
                              <a:rPr lang="sr-Latn-RS" sz="1200" i="1" kern="1200">
                                <a:solidFill>
                                  <a:schemeClr val="tx1"/>
                                </a:solidFill>
                                <a:effectLst/>
                                <a:latin typeface="Cambria Math" panose="02040503050406030204" pitchFamily="18" charset="0"/>
                                <a:ea typeface="+mn-ea"/>
                                <a:cs typeface="+mn-cs"/>
                              </a:rPr>
                              <m:t>=</m:t>
                            </m:r>
                          </m:e>
                          <m:e>
                            <m:d>
                              <m:dPr>
                                <m:ctrlPr>
                                  <a:rPr lang="en-ZA" sz="1200" i="1" kern="1200">
                                    <a:solidFill>
                                      <a:schemeClr val="tx1"/>
                                    </a:solidFill>
                                    <a:effectLst/>
                                    <a:latin typeface="Cambria Math" panose="02040503050406030204" pitchFamily="18" charset="0"/>
                                    <a:ea typeface="+mn-ea"/>
                                    <a:cs typeface="+mn-cs"/>
                                  </a:rPr>
                                </m:ctrlPr>
                              </m:dPr>
                              <m:e>
                                <m:m>
                                  <m:mPr>
                                    <m:mcs>
                                      <m:mc>
                                        <m:mcPr>
                                          <m:count m:val="4"/>
                                          <m:mcJc m:val="center"/>
                                        </m:mcPr>
                                      </m:mc>
                                    </m:mcs>
                                    <m:ctrlPr>
                                      <a:rPr lang="en-ZA" sz="1200" i="1" kern="1200">
                                        <a:solidFill>
                                          <a:schemeClr val="tx1"/>
                                        </a:solidFill>
                                        <a:effectLst/>
                                        <a:latin typeface="Cambria Math" panose="02040503050406030204" pitchFamily="18" charset="0"/>
                                        <a:ea typeface="+mn-ea"/>
                                        <a:cs typeface="+mn-cs"/>
                                      </a:rPr>
                                    </m:ctrlPr>
                                  </m:mPr>
                                  <m:mr>
                                    <m:e>
                                      <m:r>
                                        <a:rPr lang="sr-Latn-RS" sz="1200" kern="1200">
                                          <a:solidFill>
                                            <a:schemeClr val="tx1"/>
                                          </a:solidFill>
                                          <a:effectLst/>
                                          <a:latin typeface="Cambria Math" panose="02040503050406030204" pitchFamily="18" charset="0"/>
                                          <a:ea typeface="+mn-ea"/>
                                          <a:cs typeface="+mn-cs"/>
                                        </a:rPr>
                                        <m:t>1</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1</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1</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1</m:t>
                                      </m:r>
                                    </m:e>
                                  </m:mr>
                                </m:m>
                              </m:e>
                            </m:d>
                            <m:r>
                              <a:rPr lang="sr-Latn-RS" sz="1200" i="1" kern="1200">
                                <a:solidFill>
                                  <a:schemeClr val="tx1"/>
                                </a:solidFill>
                                <a:effectLst/>
                                <a:latin typeface="Cambria Math" panose="02040503050406030204" pitchFamily="18" charset="0"/>
                                <a:ea typeface="+mn-ea"/>
                                <a:cs typeface="+mn-cs"/>
                              </a:rPr>
                              <m:t>−2</m:t>
                            </m:r>
                            <m:d>
                              <m:dPr>
                                <m:ctrlPr>
                                  <a:rPr lang="en-ZA"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en-ZA" sz="1200" i="1" kern="1200">
                                        <a:solidFill>
                                          <a:schemeClr val="tx1"/>
                                        </a:solidFill>
                                        <a:effectLst/>
                                        <a:latin typeface="Cambria Math" panose="02040503050406030204" pitchFamily="18" charset="0"/>
                                        <a:ea typeface="+mn-ea"/>
                                        <a:cs typeface="+mn-cs"/>
                                      </a:rPr>
                                    </m:ctrlPr>
                                  </m:mPr>
                                  <m:mr>
                                    <m:e>
                                      <m:r>
                                        <a:rPr lang="sr-Latn-RS" sz="1200" i="1" kern="1200">
                                          <a:solidFill>
                                            <a:schemeClr val="tx1"/>
                                          </a:solidFill>
                                          <a:effectLst/>
                                          <a:latin typeface="Cambria Math" panose="02040503050406030204" pitchFamily="18" charset="0"/>
                                          <a:ea typeface="+mn-ea"/>
                                          <a:cs typeface="+mn-cs"/>
                                        </a:rPr>
                                        <m:t>0</m:t>
                                      </m:r>
                                    </m:e>
                                  </m:mr>
                                  <m:mr>
                                    <m:e>
                                      <m:r>
                                        <a:rPr lang="sr-Latn-RS" sz="1200" i="1" kern="1200">
                                          <a:solidFill>
                                            <a:schemeClr val="tx1"/>
                                          </a:solidFill>
                                          <a:effectLst/>
                                          <a:latin typeface="Cambria Math" panose="02040503050406030204" pitchFamily="18" charset="0"/>
                                          <a:ea typeface="+mn-ea"/>
                                          <a:cs typeface="+mn-cs"/>
                                        </a:rPr>
                                        <m:t>0</m:t>
                                      </m:r>
                                    </m:e>
                                  </m:mr>
                                  <m:mr>
                                    <m:e>
                                      <m:r>
                                        <a:rPr lang="sr-Latn-RS" sz="1200" i="1" kern="1200">
                                          <a:solidFill>
                                            <a:schemeClr val="tx1"/>
                                          </a:solidFill>
                                          <a:effectLst/>
                                          <a:latin typeface="Cambria Math" panose="02040503050406030204" pitchFamily="18" charset="0"/>
                                          <a:ea typeface="+mn-ea"/>
                                          <a:cs typeface="+mn-cs"/>
                                        </a:rPr>
                                        <m:t>1</m:t>
                                      </m:r>
                                    </m:e>
                                  </m:mr>
                                  <m:mr>
                                    <m:e>
                                      <m:r>
                                        <a:rPr lang="sr-Latn-RS" sz="1200" i="1" kern="1200">
                                          <a:solidFill>
                                            <a:schemeClr val="tx1"/>
                                          </a:solidFill>
                                          <a:effectLst/>
                                          <a:latin typeface="Cambria Math" panose="02040503050406030204" pitchFamily="18" charset="0"/>
                                          <a:ea typeface="+mn-ea"/>
                                          <a:cs typeface="+mn-cs"/>
                                        </a:rPr>
                                        <m:t>0</m:t>
                                      </m:r>
                                    </m:e>
                                  </m:mr>
                                </m:m>
                              </m:e>
                            </m:d>
                            <m:d>
                              <m:dPr>
                                <m:ctrlPr>
                                  <a:rPr lang="en-ZA" sz="1200" i="1" kern="1200">
                                    <a:solidFill>
                                      <a:schemeClr val="tx1"/>
                                    </a:solidFill>
                                    <a:effectLst/>
                                    <a:latin typeface="Cambria Math" panose="02040503050406030204" pitchFamily="18" charset="0"/>
                                    <a:ea typeface="+mn-ea"/>
                                    <a:cs typeface="+mn-cs"/>
                                  </a:rPr>
                                </m:ctrlPr>
                              </m:dPr>
                              <m:e>
                                <m:m>
                                  <m:mPr>
                                    <m:mcs>
                                      <m:mc>
                                        <m:mcPr>
                                          <m:count m:val="4"/>
                                          <m:mcJc m:val="center"/>
                                        </m:mcPr>
                                      </m:mc>
                                    </m:mcs>
                                    <m:ctrlPr>
                                      <a:rPr lang="en-ZA" sz="1200" i="1" kern="1200">
                                        <a:solidFill>
                                          <a:schemeClr val="tx1"/>
                                        </a:solidFill>
                                        <a:effectLst/>
                                        <a:latin typeface="Cambria Math" panose="02040503050406030204" pitchFamily="18" charset="0"/>
                                        <a:ea typeface="+mn-ea"/>
                                        <a:cs typeface="+mn-cs"/>
                                      </a:rPr>
                                    </m:ctrlPr>
                                  </m:mPr>
                                  <m:mr>
                                    <m:e>
                                      <m:r>
                                        <a:rPr lang="sr-Latn-RS" sz="1200" i="1" kern="1200">
                                          <a:solidFill>
                                            <a:schemeClr val="tx1"/>
                                          </a:solidFill>
                                          <a:effectLst/>
                                          <a:latin typeface="Cambria Math" panose="02040503050406030204" pitchFamily="18" charset="0"/>
                                          <a:ea typeface="+mn-ea"/>
                                          <a:cs typeface="+mn-cs"/>
                                        </a:rPr>
                                        <m:t>0</m:t>
                                      </m:r>
                                    </m:e>
                                    <m:e>
                                      <m:r>
                                        <a:rPr lang="sr-Latn-RS" sz="1200" i="1" kern="1200">
                                          <a:solidFill>
                                            <a:schemeClr val="tx1"/>
                                          </a:solidFill>
                                          <a:effectLst/>
                                          <a:latin typeface="Cambria Math" panose="02040503050406030204" pitchFamily="18" charset="0"/>
                                          <a:ea typeface="+mn-ea"/>
                                          <a:cs typeface="+mn-cs"/>
                                        </a:rPr>
                                        <m:t>0</m:t>
                                      </m:r>
                                    </m:e>
                                    <m:e>
                                      <m:r>
                                        <a:rPr lang="sr-Latn-RS" sz="1200" i="1" kern="1200">
                                          <a:solidFill>
                                            <a:schemeClr val="tx1"/>
                                          </a:solidFill>
                                          <a:effectLst/>
                                          <a:latin typeface="Cambria Math" panose="02040503050406030204" pitchFamily="18" charset="0"/>
                                          <a:ea typeface="+mn-ea"/>
                                          <a:cs typeface="+mn-cs"/>
                                        </a:rPr>
                                        <m:t>1</m:t>
                                      </m:r>
                                    </m:e>
                                    <m:e>
                                      <m:r>
                                        <a:rPr lang="sr-Latn-RS" sz="1200" i="1" kern="1200">
                                          <a:solidFill>
                                            <a:schemeClr val="tx1"/>
                                          </a:solidFill>
                                          <a:effectLst/>
                                          <a:latin typeface="Cambria Math" panose="02040503050406030204" pitchFamily="18" charset="0"/>
                                          <a:ea typeface="+mn-ea"/>
                                          <a:cs typeface="+mn-cs"/>
                                        </a:rPr>
                                        <m:t>0</m:t>
                                      </m:r>
                                    </m:e>
                                  </m:mr>
                                </m:m>
                              </m:e>
                            </m:d>
                          </m:e>
                        </m:mr>
                        <m:mr>
                          <m:e>
                            <m:r>
                              <a:rPr lang="sr-Latn-RS" sz="1200" i="1" kern="1200">
                                <a:solidFill>
                                  <a:schemeClr val="tx1"/>
                                </a:solidFill>
                                <a:effectLst/>
                                <a:latin typeface="Cambria Math" panose="02040503050406030204" pitchFamily="18" charset="0"/>
                                <a:ea typeface="+mn-ea"/>
                                <a:cs typeface="+mn-cs"/>
                              </a:rPr>
                              <m:t>=</m:t>
                            </m:r>
                          </m:e>
                          <m:e>
                            <m:d>
                              <m:dPr>
                                <m:ctrlPr>
                                  <a:rPr lang="en-ZA" sz="1200" i="1" kern="1200">
                                    <a:solidFill>
                                      <a:schemeClr val="tx1"/>
                                    </a:solidFill>
                                    <a:effectLst/>
                                    <a:latin typeface="Cambria Math" panose="02040503050406030204" pitchFamily="18" charset="0"/>
                                    <a:ea typeface="+mn-ea"/>
                                    <a:cs typeface="+mn-cs"/>
                                  </a:rPr>
                                </m:ctrlPr>
                              </m:dPr>
                              <m:e>
                                <m:m>
                                  <m:mPr>
                                    <m:mcs>
                                      <m:mc>
                                        <m:mcPr>
                                          <m:count m:val="4"/>
                                          <m:mcJc m:val="center"/>
                                        </m:mcPr>
                                      </m:mc>
                                    </m:mcs>
                                    <m:ctrlPr>
                                      <a:rPr lang="en-ZA" sz="1200" i="1" kern="1200">
                                        <a:solidFill>
                                          <a:schemeClr val="tx1"/>
                                        </a:solidFill>
                                        <a:effectLst/>
                                        <a:latin typeface="Cambria Math" panose="02040503050406030204" pitchFamily="18" charset="0"/>
                                        <a:ea typeface="+mn-ea"/>
                                        <a:cs typeface="+mn-cs"/>
                                      </a:rPr>
                                    </m:ctrlPr>
                                  </m:mPr>
                                  <m:mr>
                                    <m:e>
                                      <m:r>
                                        <a:rPr lang="sr-Latn-RS" sz="1200" kern="1200">
                                          <a:solidFill>
                                            <a:schemeClr val="tx1"/>
                                          </a:solidFill>
                                          <a:effectLst/>
                                          <a:latin typeface="Cambria Math" panose="02040503050406030204" pitchFamily="18" charset="0"/>
                                          <a:ea typeface="+mn-ea"/>
                                          <a:cs typeface="+mn-cs"/>
                                        </a:rPr>
                                        <m:t>1</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1</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1</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1</m:t>
                                      </m:r>
                                    </m:e>
                                  </m:mr>
                                </m:m>
                              </m:e>
                            </m:d>
                            <m:r>
                              <a:rPr lang="sr-Latn-RS" sz="1200" i="1" kern="1200">
                                <a:solidFill>
                                  <a:schemeClr val="tx1"/>
                                </a:solidFill>
                                <a:effectLst/>
                                <a:latin typeface="Cambria Math" panose="02040503050406030204" pitchFamily="18" charset="0"/>
                                <a:ea typeface="+mn-ea"/>
                                <a:cs typeface="+mn-cs"/>
                              </a:rPr>
                              <m:t>−2</m:t>
                            </m:r>
                            <m:d>
                              <m:dPr>
                                <m:ctrlPr>
                                  <a:rPr lang="en-ZA" sz="1200" i="1" kern="1200">
                                    <a:solidFill>
                                      <a:schemeClr val="tx1"/>
                                    </a:solidFill>
                                    <a:effectLst/>
                                    <a:latin typeface="Cambria Math" panose="02040503050406030204" pitchFamily="18" charset="0"/>
                                    <a:ea typeface="+mn-ea"/>
                                    <a:cs typeface="+mn-cs"/>
                                  </a:rPr>
                                </m:ctrlPr>
                              </m:dPr>
                              <m:e>
                                <m:m>
                                  <m:mPr>
                                    <m:mcs>
                                      <m:mc>
                                        <m:mcPr>
                                          <m:count m:val="4"/>
                                          <m:mcJc m:val="center"/>
                                        </m:mcPr>
                                      </m:mc>
                                    </m:mcs>
                                    <m:ctrlPr>
                                      <a:rPr lang="en-ZA" sz="1200" i="1" kern="1200">
                                        <a:solidFill>
                                          <a:schemeClr val="tx1"/>
                                        </a:solidFill>
                                        <a:effectLst/>
                                        <a:latin typeface="Cambria Math" panose="02040503050406030204" pitchFamily="18" charset="0"/>
                                        <a:ea typeface="+mn-ea"/>
                                        <a:cs typeface="+mn-cs"/>
                                      </a:rPr>
                                    </m:ctrlPr>
                                  </m:mP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1</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mr>
                                </m:m>
                              </m:e>
                            </m:d>
                          </m:e>
                        </m:mr>
                        <m:mr>
                          <m:e>
                            <m:r>
                              <a:rPr lang="sr-Latn-RS" sz="1200" i="1" kern="1200">
                                <a:solidFill>
                                  <a:schemeClr val="tx1"/>
                                </a:solidFill>
                                <a:effectLst/>
                                <a:latin typeface="Cambria Math" panose="02040503050406030204" pitchFamily="18" charset="0"/>
                                <a:ea typeface="+mn-ea"/>
                                <a:cs typeface="+mn-cs"/>
                              </a:rPr>
                              <m:t>=</m:t>
                            </m:r>
                          </m:e>
                          <m:e>
                            <m:d>
                              <m:dPr>
                                <m:ctrlPr>
                                  <a:rPr lang="en-ZA" sz="1200" i="1" kern="1200">
                                    <a:solidFill>
                                      <a:schemeClr val="tx1"/>
                                    </a:solidFill>
                                    <a:effectLst/>
                                    <a:latin typeface="Cambria Math" panose="02040503050406030204" pitchFamily="18" charset="0"/>
                                    <a:ea typeface="+mn-ea"/>
                                    <a:cs typeface="+mn-cs"/>
                                  </a:rPr>
                                </m:ctrlPr>
                              </m:dPr>
                              <m:e>
                                <m:m>
                                  <m:mPr>
                                    <m:mcs>
                                      <m:mc>
                                        <m:mcPr>
                                          <m:count m:val="4"/>
                                          <m:mcJc m:val="center"/>
                                        </m:mcPr>
                                      </m:mc>
                                    </m:mcs>
                                    <m:ctrlPr>
                                      <a:rPr lang="en-ZA" sz="1200" i="1" kern="1200">
                                        <a:solidFill>
                                          <a:schemeClr val="tx1"/>
                                        </a:solidFill>
                                        <a:effectLst/>
                                        <a:latin typeface="Cambria Math" panose="02040503050406030204" pitchFamily="18" charset="0"/>
                                        <a:ea typeface="+mn-ea"/>
                                        <a:cs typeface="+mn-cs"/>
                                      </a:rPr>
                                    </m:ctrlPr>
                                  </m:mPr>
                                  <m:mr>
                                    <m:e>
                                      <m:r>
                                        <a:rPr lang="sr-Latn-RS" sz="1200" kern="1200">
                                          <a:solidFill>
                                            <a:schemeClr val="tx1"/>
                                          </a:solidFill>
                                          <a:effectLst/>
                                          <a:latin typeface="Cambria Math" panose="02040503050406030204" pitchFamily="18" charset="0"/>
                                          <a:ea typeface="+mn-ea"/>
                                          <a:cs typeface="+mn-cs"/>
                                        </a:rPr>
                                        <m:t>1</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1</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i="1" kern="1200">
                                          <a:solidFill>
                                            <a:schemeClr val="tx1"/>
                                          </a:solidFill>
                                          <a:effectLst/>
                                          <a:latin typeface="Cambria Math" panose="02040503050406030204" pitchFamily="18" charset="0"/>
                                          <a:ea typeface="+mn-ea"/>
                                          <a:cs typeface="+mn-cs"/>
                                        </a:rPr>
                                        <m:t>−</m:t>
                                      </m:r>
                                      <m:r>
                                        <a:rPr lang="sr-Latn-RS" sz="1200" kern="1200">
                                          <a:solidFill>
                                            <a:schemeClr val="tx1"/>
                                          </a:solidFill>
                                          <a:effectLst/>
                                          <a:latin typeface="Cambria Math" panose="02040503050406030204" pitchFamily="18" charset="0"/>
                                          <a:ea typeface="+mn-ea"/>
                                          <a:cs typeface="+mn-cs"/>
                                        </a:rPr>
                                        <m:t>1</m:t>
                                      </m:r>
                                    </m:e>
                                    <m:e>
                                      <m:r>
                                        <a:rPr lang="sr-Latn-RS" sz="1200" kern="1200">
                                          <a:solidFill>
                                            <a:schemeClr val="tx1"/>
                                          </a:solidFill>
                                          <a:effectLst/>
                                          <a:latin typeface="Cambria Math" panose="02040503050406030204" pitchFamily="18" charset="0"/>
                                          <a:ea typeface="+mn-ea"/>
                                          <a:cs typeface="+mn-cs"/>
                                        </a:rPr>
                                        <m:t>0</m:t>
                                      </m:r>
                                    </m:e>
                                  </m:mr>
                                  <m:mr>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0</m:t>
                                      </m:r>
                                    </m:e>
                                    <m:e>
                                      <m:r>
                                        <a:rPr lang="sr-Latn-RS" sz="1200" kern="1200">
                                          <a:solidFill>
                                            <a:schemeClr val="tx1"/>
                                          </a:solidFill>
                                          <a:effectLst/>
                                          <a:latin typeface="Cambria Math" panose="02040503050406030204" pitchFamily="18" charset="0"/>
                                          <a:ea typeface="+mn-ea"/>
                                          <a:cs typeface="+mn-cs"/>
                                        </a:rPr>
                                        <m:t>1</m:t>
                                      </m:r>
                                    </m:e>
                                  </m:mr>
                                </m:m>
                              </m:e>
                            </m:d>
                          </m:e>
                        </m:mr>
                      </m:m>
                    </m:oMath>
                  </m:oMathPara>
                </a14:m>
                <a:endParaRPr lang="en-ZA" dirty="0"/>
              </a:p>
              <a:p>
                <a:pPr algn="l"/>
                <a:endParaRPr lang="en-ZA" dirty="0"/>
              </a:p>
              <a:p>
                <a:pPr algn="just"/>
                <a:r>
                  <a:rPr lang="en-ZA" b="0" dirty="0"/>
                  <a:t>This produces exactly the oracle introduced earlier: the identity matrix with the diagonal element corresponding to the target ∣10⟩ changed from +1 to −1.</a:t>
                </a:r>
              </a:p>
              <a:p>
                <a:pPr algn="l"/>
                <a:endParaRPr lang="en-US" dirty="0"/>
              </a:p>
            </p:txBody>
          </p:sp>
        </mc:Choice>
        <mc:Fallback xmlns="">
          <p:sp>
            <p:nvSpPr>
              <p:cNvPr id="3" name="Notes Placeholder 2"/>
              <p:cNvSpPr>
                <a:spLocks noGrp="1"/>
              </p:cNvSpPr>
              <p:nvPr>
                <p:ph type="body" idx="1"/>
              </p:nvPr>
            </p:nvSpPr>
            <p:spPr/>
            <p:txBody>
              <a:bodyPr/>
              <a:lstStyle/>
              <a:p>
                <a:pPr algn="l"/>
                <a:r>
                  <a:rPr lang="en-ZA" dirty="0"/>
                  <a:t>The oracle must flip the phase of the marked (target) state </a:t>
                </a:r>
                <a:r>
                  <a:rPr lang="en-ZA" sz="1200" i="0" kern="1200">
                    <a:solidFill>
                      <a:schemeClr val="tx1"/>
                    </a:solidFill>
                    <a:effectLst/>
                    <a:latin typeface="Cambria Math" panose="02040503050406030204" pitchFamily="18" charset="0"/>
                    <a:ea typeface="+mn-ea"/>
                    <a:cs typeface="+mn-cs"/>
                  </a:rPr>
                  <a:t>|</a:t>
                </a:r>
                <a:r>
                  <a:rPr lang="sr-Latn-RS" sz="1200" i="0" kern="1200">
                    <a:solidFill>
                      <a:schemeClr val="tx1"/>
                    </a:solidFill>
                    <a:effectLst/>
                    <a:latin typeface="Cambria Math" panose="02040503050406030204" pitchFamily="18" charset="0"/>
                    <a:ea typeface="+mn-ea"/>
                    <a:cs typeface="+mn-cs"/>
                  </a:rPr>
                  <a:t>𝑥</a:t>
                </a:r>
                <a:r>
                  <a:rPr lang="en-ZA" sz="1200" i="0" kern="1200">
                    <a:solidFill>
                      <a:schemeClr val="tx1"/>
                    </a:solidFill>
                    <a:effectLst/>
                    <a:latin typeface="Cambria Math" panose="02040503050406030204" pitchFamily="18" charset="0"/>
                    <a:ea typeface="+mn-ea"/>
                    <a:cs typeface="+mn-cs"/>
                  </a:rPr>
                  <a:t>^</a:t>
                </a:r>
                <a:r>
                  <a:rPr lang="sr-Latn-RS" sz="1200" i="0" kern="1200">
                    <a:solidFill>
                      <a:schemeClr val="tx1"/>
                    </a:solidFill>
                    <a:effectLst/>
                    <a:latin typeface="Cambria Math" panose="02040503050406030204" pitchFamily="18" charset="0"/>
                    <a:ea typeface="+mn-ea"/>
                    <a:cs typeface="+mn-cs"/>
                  </a:rPr>
                  <a:t>∗ ⟩</a:t>
                </a:r>
                <a:r>
                  <a:rPr lang="en-ZA" dirty="0"/>
                  <a:t>, so its action is</a:t>
                </a:r>
              </a:p>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i="0" kern="1200">
                    <a:solidFill>
                      <a:schemeClr val="tx1"/>
                    </a:solidFill>
                    <a:effectLst/>
                    <a:latin typeface="+mn-lt"/>
                    <a:ea typeface="+mn-ea"/>
                    <a:cs typeface="+mn-cs"/>
                  </a:rPr>
                  <a:t>𝑂</a:t>
                </a:r>
                <a:r>
                  <a:rPr lang="en-ZA" sz="1200" i="0" kern="1200">
                    <a:solidFill>
                      <a:schemeClr val="tx1"/>
                    </a:solidFill>
                    <a:effectLst/>
                    <a:latin typeface="+mn-lt"/>
                    <a:ea typeface="+mn-ea"/>
                    <a:cs typeface="+mn-cs"/>
                  </a:rPr>
                  <a:t>|</a:t>
                </a:r>
                <a:r>
                  <a:rPr lang="sr-Latn-RS" sz="1200" i="0" kern="1200">
                    <a:solidFill>
                      <a:schemeClr val="tx1"/>
                    </a:solidFill>
                    <a:effectLst/>
                    <a:latin typeface="Cambria Math" panose="02040503050406030204" pitchFamily="18" charset="0"/>
                    <a:ea typeface="+mn-ea"/>
                    <a:cs typeface="+mn-cs"/>
                  </a:rPr>
                  <a:t>𝑥</a:t>
                </a:r>
                <a:r>
                  <a:rPr lang="en-ZA" sz="1200" i="0" kern="1200">
                    <a:solidFill>
                      <a:schemeClr val="tx1"/>
                    </a:solidFill>
                    <a:effectLst/>
                    <a:latin typeface="Cambria Math" panose="02040503050406030204" pitchFamily="18" charset="0"/>
                    <a:ea typeface="+mn-ea"/>
                    <a:cs typeface="+mn-cs"/>
                  </a:rPr>
                  <a:t>^</a:t>
                </a:r>
                <a:r>
                  <a:rPr lang="sr-Latn-RS" sz="1200" i="0" kern="1200">
                    <a:solidFill>
                      <a:schemeClr val="tx1"/>
                    </a:solidFill>
                    <a:effectLst/>
                    <a:latin typeface="Cambria Math" panose="02040503050406030204" pitchFamily="18" charset="0"/>
                    <a:ea typeface="+mn-ea"/>
                    <a:cs typeface="+mn-cs"/>
                  </a:rPr>
                  <a:t>∗</a:t>
                </a:r>
                <a:r>
                  <a:rPr lang="sr-Latn-RS" sz="1200" i="0" kern="1200">
                    <a:solidFill>
                      <a:schemeClr val="tx1"/>
                    </a:solidFill>
                    <a:effectLst/>
                    <a:latin typeface="+mn-lt"/>
                    <a:ea typeface="+mn-ea"/>
                    <a:cs typeface="+mn-cs"/>
                  </a:rPr>
                  <a:t>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a:t>
                </a:r>
                <a:endParaRPr lang="en-Z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200" kern="1200" dirty="0">
                  <a:solidFill>
                    <a:schemeClr val="tx1"/>
                  </a:solidFill>
                  <a:effectLst/>
                  <a:latin typeface="+mn-lt"/>
                  <a:ea typeface="+mn-ea"/>
                  <a:cs typeface="+mn-cs"/>
                </a:endParaRPr>
              </a:p>
              <a:p>
                <a:pPr algn="l"/>
                <a:r>
                  <a:rPr lang="en-ZA" dirty="0"/>
                  <a:t>The same transformation can be written as</a:t>
                </a:r>
              </a:p>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i="0" kern="1200">
                    <a:solidFill>
                      <a:schemeClr val="tx1"/>
                    </a:solidFill>
                    <a:effectLst/>
                    <a:latin typeface="+mn-lt"/>
                    <a:ea typeface="+mn-ea"/>
                    <a:cs typeface="+mn-cs"/>
                  </a:rPr>
                  <a:t>𝑂</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⟩−2</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a:t>
                </a:r>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p>
              <a:p>
                <a:pPr algn="l"/>
                <a:r>
                  <a:rPr lang="en-ZA" dirty="0"/>
                  <a:t>The first term can be written using the identity operator, </a:t>
                </a:r>
                <a:r>
                  <a:rPr lang="sr-Latn-RS" sz="1200" i="0" kern="1200">
                    <a:solidFill>
                      <a:schemeClr val="tx1"/>
                    </a:solidFill>
                    <a:effectLst/>
                    <a:latin typeface="+mn-lt"/>
                    <a:ea typeface="+mn-ea"/>
                    <a:cs typeface="+mn-cs"/>
                  </a:rPr>
                  <a:t>𝐼</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a:t>
                </a:r>
                <a:r>
                  <a:rPr lang="en-ZA" dirty="0">
                    <a:effectLst/>
                  </a:rPr>
                  <a:t> </a:t>
                </a:r>
                <a:r>
                  <a:rPr lang="en-ZA" dirty="0"/>
                  <a:t>, while the second term can be expressed using the fact that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⟩=1</a:t>
                </a:r>
                <a:r>
                  <a:rPr lang="en-ZA" dirty="0"/>
                  <a:t>. Therefore,</a:t>
                </a:r>
              </a:p>
              <a:p>
                <a:pPr algn="l"/>
                <a:endParaRPr lang="en-ZA" dirty="0"/>
              </a:p>
              <a:p>
                <a:pPr algn="l"/>
                <a:r>
                  <a:rPr lang="sr-Latn-RS" sz="1200" i="0" kern="1200">
                    <a:solidFill>
                      <a:schemeClr val="tx1"/>
                    </a:solidFill>
                    <a:effectLst/>
                    <a:latin typeface="+mn-lt"/>
                    <a:ea typeface="+mn-ea"/>
                    <a:cs typeface="+mn-cs"/>
                  </a:rPr>
                  <a:t>𝑂</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⟩=𝐼</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⟩−2</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𝐼−2</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a:t>
                </a:r>
                <a:endParaRPr lang="en-ZA" dirty="0"/>
              </a:p>
              <a:p>
                <a:pPr algn="l"/>
                <a:endParaRPr lang="en-ZA" dirty="0"/>
              </a:p>
              <a:p>
                <a:pPr algn="l"/>
                <a:r>
                  <a:rPr lang="en-ZA" dirty="0"/>
                  <a:t>This gives the general oracle operator</a:t>
                </a:r>
              </a:p>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i="0" kern="1200">
                    <a:solidFill>
                      <a:schemeClr val="tx1"/>
                    </a:solidFill>
                    <a:effectLst/>
                    <a:latin typeface="+mn-lt"/>
                    <a:ea typeface="+mn-ea"/>
                    <a:cs typeface="+mn-cs"/>
                  </a:rPr>
                  <a:t>𝑂=𝐼−2</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⟩⟨𝑥</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a:t>
                </a:r>
                <a:endParaRPr lang="en-ZA" sz="1200" kern="1200" dirty="0">
                  <a:solidFill>
                    <a:schemeClr val="tx1"/>
                  </a:solidFill>
                  <a:effectLst/>
                  <a:latin typeface="+mn-lt"/>
                  <a:ea typeface="+mn-ea"/>
                  <a:cs typeface="+mn-cs"/>
                </a:endParaRPr>
              </a:p>
              <a:p>
                <a:pPr algn="l"/>
                <a:endParaRPr lang="en-ZA" dirty="0"/>
              </a:p>
              <a:p>
                <a:pPr algn="l"/>
                <a:r>
                  <a:rPr lang="en-ZA" dirty="0"/>
                  <a:t>For the phone-directory example, the target is</a:t>
                </a:r>
              </a:p>
              <a:p>
                <a:pPr algn="l"/>
                <a:r>
                  <a:rPr lang="en-ZA" i="0">
                    <a:latin typeface="Cambria Math" panose="02040503050406030204" pitchFamily="18" charset="0"/>
                  </a:rPr>
                  <a:t>|</a:t>
                </a:r>
                <a:r>
                  <a:rPr lang="sr-Latn-RS" i="0">
                    <a:latin typeface="Cambria Math" panose="02040503050406030204" pitchFamily="18" charset="0"/>
                  </a:rPr>
                  <a:t>𝑥</a:t>
                </a:r>
                <a:r>
                  <a:rPr lang="en-ZA" i="0">
                    <a:latin typeface="Cambria Math" panose="02040503050406030204" pitchFamily="18" charset="0"/>
                  </a:rPr>
                  <a:t>^</a:t>
                </a:r>
                <a:r>
                  <a:rPr lang="sr-Latn-RS" i="0">
                    <a:latin typeface="Cambria Math" panose="02040503050406030204" pitchFamily="18" charset="0"/>
                  </a:rPr>
                  <a:t>∗ ⟩=</a:t>
                </a:r>
                <a:r>
                  <a:rPr lang="en-ZA" i="0">
                    <a:latin typeface="Cambria Math" panose="02040503050406030204" pitchFamily="18" charset="0"/>
                  </a:rPr>
                  <a:t>|</a:t>
                </a:r>
                <a:r>
                  <a:rPr lang="sr-Latn-RS" i="0">
                    <a:latin typeface="Cambria Math" panose="02040503050406030204" pitchFamily="18" charset="0"/>
                  </a:rPr>
                  <a:t>10⟩=</a:t>
                </a:r>
                <a:r>
                  <a:rPr lang="en-ZA" i="0">
                    <a:latin typeface="Cambria Math" panose="02040503050406030204" pitchFamily="18" charset="0"/>
                  </a:rPr>
                  <a:t>(■8(</a:t>
                </a:r>
                <a:r>
                  <a:rPr lang="sr-Latn-RS" i="0">
                    <a:latin typeface="Cambria Math" panose="02040503050406030204" pitchFamily="18" charset="0"/>
                  </a:rPr>
                  <a:t>0@0@1@0))</a:t>
                </a:r>
                <a:endParaRPr lang="en-ZA" dirty="0"/>
              </a:p>
              <a:p>
                <a:pPr algn="l"/>
                <a:r>
                  <a:rPr lang="en-ZA" dirty="0"/>
                  <a:t>Substituting this state gives</a:t>
                </a:r>
              </a:p>
              <a:p>
                <a:pPr algn="l"/>
                <a:r>
                  <a:rPr lang="en-ZA" sz="1200" i="0" kern="1200">
                    <a:solidFill>
                      <a:schemeClr val="tx1"/>
                    </a:solidFill>
                    <a:effectLst/>
                    <a:latin typeface="+mn-lt"/>
                    <a:ea typeface="+mn-ea"/>
                    <a:cs typeface="+mn-cs"/>
                  </a:rPr>
                  <a:t>■8(</a:t>
                </a:r>
                <a:r>
                  <a:rPr lang="en-US" sz="1200" b="0" i="0" kern="1200">
                    <a:solidFill>
                      <a:schemeClr val="tx1"/>
                    </a:solidFill>
                    <a:effectLst/>
                    <a:latin typeface="Cambria Math" panose="02040503050406030204" pitchFamily="18" charset="0"/>
                    <a:ea typeface="+mn-ea"/>
                    <a:cs typeface="+mn-cs"/>
                  </a:rPr>
                  <a:t>𝑂=</a:t>
                </a:r>
                <a:r>
                  <a:rPr lang="en-ZA" sz="1200" b="0" i="0" kern="1200">
                    <a:solidFill>
                      <a:schemeClr val="tx1"/>
                    </a:solidFill>
                    <a:effectLst/>
                    <a:latin typeface="+mn-lt"/>
                    <a:ea typeface="+mn-ea"/>
                    <a:cs typeface="+mn-cs"/>
                  </a:rPr>
                  <a:t>&amp;</a:t>
                </a:r>
                <a:r>
                  <a:rPr lang="sr-Latn-RS" i="0">
                    <a:latin typeface="Cambria Math" panose="02040503050406030204" pitchFamily="18" charset="0"/>
                  </a:rPr>
                  <a:t>𝐼−2</a:t>
                </a:r>
                <a:r>
                  <a:rPr lang="en-ZA" i="0">
                    <a:latin typeface="Cambria Math" panose="02040503050406030204" pitchFamily="18" charset="0"/>
                  </a:rPr>
                  <a:t>|</a:t>
                </a:r>
                <a:r>
                  <a:rPr lang="sr-Latn-RS" i="0">
                    <a:latin typeface="Cambria Math" panose="02040503050406030204" pitchFamily="18" charset="0"/>
                  </a:rPr>
                  <a:t>𝑥</a:t>
                </a:r>
                <a:r>
                  <a:rPr lang="en-ZA" i="0">
                    <a:latin typeface="Cambria Math" panose="02040503050406030204" pitchFamily="18" charset="0"/>
                  </a:rPr>
                  <a:t>^</a:t>
                </a:r>
                <a:r>
                  <a:rPr lang="sr-Latn-RS" i="0">
                    <a:latin typeface="Cambria Math" panose="02040503050406030204" pitchFamily="18" charset="0"/>
                  </a:rPr>
                  <a:t>∗ ⟩⟨𝑥</a:t>
                </a:r>
                <a:r>
                  <a:rPr lang="en-ZA" i="0">
                    <a:latin typeface="Cambria Math" panose="02040503050406030204" pitchFamily="18" charset="0"/>
                  </a:rPr>
                  <a:t>^</a:t>
                </a:r>
                <a:r>
                  <a:rPr lang="sr-Latn-RS" i="0">
                    <a:latin typeface="Cambria Math" panose="02040503050406030204" pitchFamily="18" charset="0"/>
                  </a:rPr>
                  <a:t>∗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=&amp;</a:t>
                </a:r>
                <a:r>
                  <a:rPr lang="en-ZA" sz="1200" i="0" kern="1200">
                    <a:solidFill>
                      <a:schemeClr val="tx1"/>
                    </a:solidFill>
                    <a:effectLst/>
                    <a:latin typeface="+mn-lt"/>
                    <a:ea typeface="+mn-ea"/>
                    <a:cs typeface="+mn-cs"/>
                  </a:rPr>
                  <a:t>(■8(</a:t>
                </a:r>
                <a:r>
                  <a:rPr lang="sr-Latn-RS" sz="1200" i="0" kern="1200">
                    <a:solidFill>
                      <a:schemeClr val="tx1"/>
                    </a:solidFill>
                    <a:effectLst/>
                    <a:latin typeface="+mn-lt"/>
                    <a:ea typeface="+mn-ea"/>
                    <a:cs typeface="+mn-cs"/>
                  </a:rPr>
                  <a:t>1&amp;0&amp;0&amp;0@0&amp;1&amp;0&amp;0@0&amp;0&amp;1&amp;0@0&amp;0&amp;0&amp;1))−2</a:t>
                </a:r>
                <a:r>
                  <a:rPr lang="en-ZA" sz="1200" i="0" kern="1200">
                    <a:solidFill>
                      <a:schemeClr val="tx1"/>
                    </a:solidFill>
                    <a:effectLst/>
                    <a:latin typeface="+mn-lt"/>
                    <a:ea typeface="+mn-ea"/>
                    <a:cs typeface="+mn-cs"/>
                  </a:rPr>
                  <a:t>(■8(</a:t>
                </a:r>
                <a:r>
                  <a:rPr lang="sr-Latn-RS" sz="1200" i="0" kern="1200">
                    <a:solidFill>
                      <a:schemeClr val="tx1"/>
                    </a:solidFill>
                    <a:effectLst/>
                    <a:latin typeface="+mn-lt"/>
                    <a:ea typeface="+mn-ea"/>
                    <a:cs typeface="+mn-cs"/>
                  </a:rPr>
                  <a:t>0@0@1@0))</a:t>
                </a:r>
                <a:r>
                  <a:rPr lang="en-ZA" sz="1200" i="0" kern="1200">
                    <a:solidFill>
                      <a:schemeClr val="tx1"/>
                    </a:solidFill>
                    <a:effectLst/>
                    <a:latin typeface="+mn-lt"/>
                    <a:ea typeface="+mn-ea"/>
                    <a:cs typeface="+mn-cs"/>
                  </a:rPr>
                  <a:t>(■8(</a:t>
                </a:r>
                <a:r>
                  <a:rPr lang="sr-Latn-RS" sz="1200" i="0" kern="1200">
                    <a:solidFill>
                      <a:schemeClr val="tx1"/>
                    </a:solidFill>
                    <a:effectLst/>
                    <a:latin typeface="+mn-lt"/>
                    <a:ea typeface="+mn-ea"/>
                    <a:cs typeface="+mn-cs"/>
                  </a:rPr>
                  <a:t>0&amp;0&amp;1&amp;0))@=&amp;</a:t>
                </a:r>
                <a:r>
                  <a:rPr lang="en-ZA" sz="1200" i="0" kern="1200">
                    <a:solidFill>
                      <a:schemeClr val="tx1"/>
                    </a:solidFill>
                    <a:effectLst/>
                    <a:latin typeface="+mn-lt"/>
                    <a:ea typeface="+mn-ea"/>
                    <a:cs typeface="+mn-cs"/>
                  </a:rPr>
                  <a:t>(■8(</a:t>
                </a:r>
                <a:r>
                  <a:rPr lang="sr-Latn-RS" sz="1200" i="0" kern="1200">
                    <a:solidFill>
                      <a:schemeClr val="tx1"/>
                    </a:solidFill>
                    <a:effectLst/>
                    <a:latin typeface="+mn-lt"/>
                    <a:ea typeface="+mn-ea"/>
                    <a:cs typeface="+mn-cs"/>
                  </a:rPr>
                  <a:t>1&amp;0&amp;0&amp;0@0&amp;1&amp;0&amp;0@0&amp;0&amp;1&amp;0@0&amp;0&amp;0&amp;1))−2</a:t>
                </a:r>
                <a:r>
                  <a:rPr lang="en-ZA" sz="1200" i="0" kern="1200">
                    <a:solidFill>
                      <a:schemeClr val="tx1"/>
                    </a:solidFill>
                    <a:effectLst/>
                    <a:latin typeface="+mn-lt"/>
                    <a:ea typeface="+mn-ea"/>
                    <a:cs typeface="+mn-cs"/>
                  </a:rPr>
                  <a:t>(■8(</a:t>
                </a:r>
                <a:r>
                  <a:rPr lang="sr-Latn-RS" sz="1200" i="0" kern="1200">
                    <a:solidFill>
                      <a:schemeClr val="tx1"/>
                    </a:solidFill>
                    <a:effectLst/>
                    <a:latin typeface="+mn-lt"/>
                    <a:ea typeface="+mn-ea"/>
                    <a:cs typeface="+mn-cs"/>
                  </a:rPr>
                  <a:t>0&amp;0&amp;0&amp;0@0&amp;0&amp;0&amp;0@0&amp;0&amp;1&amp;0@0&amp;0&amp;0&amp;0))@=&amp;</a:t>
                </a:r>
                <a:r>
                  <a:rPr lang="en-ZA" sz="1200" i="0" kern="1200">
                    <a:solidFill>
                      <a:schemeClr val="tx1"/>
                    </a:solidFill>
                    <a:effectLst/>
                    <a:latin typeface="+mn-lt"/>
                    <a:ea typeface="+mn-ea"/>
                    <a:cs typeface="+mn-cs"/>
                  </a:rPr>
                  <a:t>(■8(</a:t>
                </a:r>
                <a:r>
                  <a:rPr lang="sr-Latn-RS" sz="1200" i="0" kern="1200">
                    <a:solidFill>
                      <a:schemeClr val="tx1"/>
                    </a:solidFill>
                    <a:effectLst/>
                    <a:latin typeface="+mn-lt"/>
                    <a:ea typeface="+mn-ea"/>
                    <a:cs typeface="+mn-cs"/>
                  </a:rPr>
                  <a:t>1&amp;0&amp;0&amp;0@0&amp;1&amp;0&amp;0@0&amp;0&amp;−1&amp;0@0&amp;0&amp;0&amp;1)) )</a:t>
                </a:r>
                <a:endParaRPr lang="en-ZA" dirty="0"/>
              </a:p>
              <a:p>
                <a:pPr algn="l"/>
                <a:endParaRPr lang="en-ZA" dirty="0"/>
              </a:p>
              <a:p>
                <a:pPr algn="just"/>
                <a:r>
                  <a:rPr lang="en-ZA" b="0" dirty="0"/>
                  <a:t>This produces exactly the oracle introduced earlier: the identity matrix with the diagonal element corresponding to the target ∣10⟩ changed from +1 to −1.</a:t>
                </a:r>
              </a:p>
              <a:p>
                <a:pPr algn="l"/>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10</a:t>
            </a:fld>
            <a:endParaRPr lang="en-US"/>
          </a:p>
        </p:txBody>
      </p:sp>
    </p:spTree>
    <p:extLst>
      <p:ext uri="{BB962C8B-B14F-4D97-AF65-F5344CB8AC3E}">
        <p14:creationId xmlns:p14="http://schemas.microsoft.com/office/powerpoint/2010/main" val="635814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At the circuit level, the oracle is constructed to flip the phase, or sign, of the target state’s amplitude, while leaving all other states unchanged.</a:t>
            </a:r>
            <a:endParaRPr lang="en-ZA" b="0" dirty="0"/>
          </a:p>
          <a:p>
            <a:pPr algn="just"/>
            <a:endParaRPr lang="en-ZA" b="0" dirty="0"/>
          </a:p>
          <a:p>
            <a:pPr algn="just"/>
            <a:r>
              <a:rPr lang="en-ZA" b="0" dirty="0"/>
              <a:t>For the two-qubit example, a CZ gate can perform this operation. The CZ gate is activated only when both qubits are in state ∣1⟩, so ∣11⟩→−∣11⟩. If the desired target contains a 0, an X gate is placed before and after the corresponding qubit. This temporarily converts the target pattern into ∣11⟩, allowing the CZ gate to recognize it. The final X gate then restores the original basis state.</a:t>
            </a:r>
          </a:p>
          <a:p>
            <a:pPr algn="just"/>
            <a:endParaRPr lang="en-ZA" b="0" dirty="0"/>
          </a:p>
          <a:p>
            <a:pPr algn="just"/>
            <a:r>
              <a:rPr lang="en-ZA" b="0" dirty="0"/>
              <a:t>For the target ∣10⟩, the X gates are applied to the second qubit, temporarily converting ∣10⟩ into ∣11⟩. In this way, the circuit implements the required oracle and flips only the amplitude of the target state.</a:t>
            </a:r>
          </a:p>
        </p:txBody>
      </p:sp>
      <p:sp>
        <p:nvSpPr>
          <p:cNvPr id="4" name="Slide Number Placeholder 3"/>
          <p:cNvSpPr>
            <a:spLocks noGrp="1"/>
          </p:cNvSpPr>
          <p:nvPr>
            <p:ph type="sldNum" sz="quarter" idx="5"/>
          </p:nvPr>
        </p:nvSpPr>
        <p:spPr/>
        <p:txBody>
          <a:bodyPr/>
          <a:lstStyle/>
          <a:p>
            <a:fld id="{1B2CE5E3-B8BD-D040-AC87-D640191DD8F1}" type="slidenum">
              <a:rPr lang="en-US" smtClean="0"/>
              <a:t>11</a:t>
            </a:fld>
            <a:endParaRPr lang="en-US"/>
          </a:p>
        </p:txBody>
      </p:sp>
    </p:spTree>
    <p:extLst>
      <p:ext uri="{BB962C8B-B14F-4D97-AF65-F5344CB8AC3E}">
        <p14:creationId xmlns:p14="http://schemas.microsoft.com/office/powerpoint/2010/main" val="2456227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third step of Grover’s algorithm is </a:t>
                </a:r>
                <a:r>
                  <a:rPr lang="en-ZA" b="1" dirty="0"/>
                  <a:t>amplitude amplification</a:t>
                </a:r>
                <a:r>
                  <a:rPr lang="en-ZA" dirty="0"/>
                  <a:t>. The diffuser performs this step by inverting all amplitudes about their </a:t>
                </a:r>
                <a:r>
                  <a:rPr lang="en-ZA" b="1" dirty="0"/>
                  <a:t>mean, or average value</a:t>
                </a:r>
                <a:r>
                  <a:rPr lang="en-ZA" dirty="0"/>
                  <a:t>. In this example, the average amplitude after the oracle is</a:t>
                </a:r>
                <a14:m>
                  <m:oMath xmlns:m="http://schemas.openxmlformats.org/officeDocument/2006/math">
                    <m:r>
                      <a:rPr lang="en-US" sz="1200" b="0" i="0" smtClean="0">
                        <a:latin typeface="Cambria Math" panose="02040503050406030204" pitchFamily="18" charset="0"/>
                      </a:rPr>
                      <m:t> </m:t>
                    </m:r>
                    <m:r>
                      <a:rPr lang="en-US" sz="1200" b="0" i="1" smtClean="0">
                        <a:latin typeface="Cambria Math" panose="02040503050406030204" pitchFamily="18" charset="0"/>
                      </a:rPr>
                      <m:t>𝑚</m:t>
                    </m:r>
                    <m:r>
                      <a:rPr lang="en-US" sz="1200" b="0" i="0" smtClean="0">
                        <a:latin typeface="Cambria Math" panose="02040503050406030204" pitchFamily="18" charset="0"/>
                      </a:rPr>
                      <m:t>=1/4</m:t>
                    </m:r>
                  </m:oMath>
                </a14:m>
                <a:r>
                  <a:rPr lang="en-ZA" dirty="0"/>
                  <a:t>. After the inversion, the amplitude of the marked state becomes the largest, while the amplitudes of the other states become zero.</a:t>
                </a:r>
              </a:p>
              <a:p>
                <a:pPr algn="just"/>
                <a:endParaRPr lang="en-ZA" dirty="0"/>
              </a:p>
              <a:p>
                <a:pPr algn="just"/>
                <a:r>
                  <a:rPr lang="en-ZA" b="0" dirty="0"/>
                  <a:t>In general, this does not always happen. The oracle and amplification steps may need to be repeated several times to make the target amplitude sufficiently large.</a:t>
                </a:r>
              </a:p>
            </p:txBody>
          </p:sp>
        </mc:Choice>
        <mc:Fallback xmlns="">
          <p:sp>
            <p:nvSpPr>
              <p:cNvPr id="3" name="Notes Placeholder 2"/>
              <p:cNvSpPr>
                <a:spLocks noGrp="1"/>
              </p:cNvSpPr>
              <p:nvPr>
                <p:ph type="body" idx="1"/>
              </p:nvPr>
            </p:nvSpPr>
            <p:spPr/>
            <p:txBody>
              <a:bodyPr/>
              <a:lstStyle/>
              <a:p>
                <a:pPr algn="just"/>
                <a:r>
                  <a:rPr lang="en-ZA" b="0" dirty="0"/>
                  <a:t>The third step of Grover's algorithm is amplitude amplification, which involves inverting all amplitudes about their average, i.e.</a:t>
                </a:r>
                <a:r>
                  <a:rPr lang="en-ZA" b="0" baseline="0" dirty="0"/>
                  <a:t> their mean</a:t>
                </a:r>
                <a:r>
                  <a:rPr lang="en-ZA" b="0" dirty="0"/>
                  <a:t>. In our example, the average amplitude is </a:t>
                </a:r>
                <a:r>
                  <a:rPr lang="en-US" sz="1200" b="0" i="0">
                    <a:latin typeface="Cambria Math" panose="02040503050406030204" pitchFamily="18" charset="0"/>
                  </a:rPr>
                  <a:t>𝑚=1/4</a:t>
                </a:r>
                <a:r>
                  <a:rPr lang="en-ZA" b="0" dirty="0"/>
                  <a:t>​. After this inversion, the amplitude of the marked (i.e., target) index becomes maximal, while the amplitudes of all other indices are reduced. The subsequent measurement yields the target index with 100% probability in this specific case.</a:t>
                </a:r>
              </a:p>
              <a:p>
                <a:pPr algn="just"/>
                <a:endParaRPr lang="en-ZA" b="0" dirty="0"/>
              </a:p>
              <a:p>
                <a:pPr algn="just"/>
                <a:r>
                  <a:rPr lang="en-ZA" b="0" dirty="0"/>
                  <a:t>In general, for larger databases, this probability is less than 100%, but still high enough that the correct result is obtained with high probability after a sufficient number of iterations.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12</a:t>
            </a:fld>
            <a:endParaRPr lang="en-US"/>
          </a:p>
        </p:txBody>
      </p:sp>
    </p:spTree>
    <p:extLst>
      <p:ext uri="{BB962C8B-B14F-4D97-AF65-F5344CB8AC3E}">
        <p14:creationId xmlns:p14="http://schemas.microsoft.com/office/powerpoint/2010/main" val="2997809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idea of inversion about the mean can also be pictured geometrically. Imagine a point with coordinates </a:t>
                </a:r>
                <a14:m>
                  <m:oMath xmlns:m="http://schemas.openxmlformats.org/officeDocument/2006/math">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r>
                          <a:rPr lang="en-US" sz="1200" b="0" i="1" smtClean="0">
                            <a:latin typeface="Cambria Math" panose="02040503050406030204" pitchFamily="18" charset="0"/>
                          </a:rPr>
                          <m:t>,</m:t>
                        </m:r>
                        <m:r>
                          <a:rPr lang="en-US" sz="1200" b="0" i="1" smtClean="0">
                            <a:latin typeface="Cambria Math" panose="02040503050406030204" pitchFamily="18" charset="0"/>
                          </a:rPr>
                          <m:t>𝑦</m:t>
                        </m:r>
                      </m:e>
                    </m:d>
                  </m:oMath>
                </a14:m>
                <a:r>
                  <a:rPr lang="en-ZA" dirty="0"/>
                  <a:t>. If we reflect it across a horizontal line at height </a:t>
                </a:r>
                <a14:m>
                  <m:oMath xmlns:m="http://schemas.openxmlformats.org/officeDocument/2006/math">
                    <m:r>
                      <m:rPr>
                        <m:sty m:val="p"/>
                      </m:rPr>
                      <a:rPr lang="en-US" sz="1200" b="0" i="0" smtClean="0">
                        <a:latin typeface="Cambria Math" panose="02040503050406030204" pitchFamily="18" charset="0"/>
                      </a:rPr>
                      <m:t>y</m:t>
                    </m:r>
                    <m:r>
                      <a:rPr lang="en-US" sz="1200" b="0" i="0" smtClean="0">
                        <a:latin typeface="Cambria Math" panose="02040503050406030204" pitchFamily="18" charset="0"/>
                      </a:rPr>
                      <m:t>=</m:t>
                    </m:r>
                    <m:r>
                      <a:rPr lang="en-US" sz="1200" b="0" i="1" smtClean="0">
                        <a:latin typeface="Cambria Math" panose="02040503050406030204" pitchFamily="18" charset="0"/>
                      </a:rPr>
                      <m:t>𝑚</m:t>
                    </m:r>
                  </m:oMath>
                </a14:m>
                <a:r>
                  <a:rPr lang="en-ZA" dirty="0"/>
                  <a:t>, the new point will be at </a:t>
                </a:r>
                <a14:m>
                  <m:oMath xmlns:m="http://schemas.openxmlformats.org/officeDocument/2006/math">
                    <m:d>
                      <m:dPr>
                        <m:ctrlPr>
                          <a:rPr lang="en-US" sz="1200" i="1" smtClean="0">
                            <a:latin typeface="Cambria Math" panose="02040503050406030204" pitchFamily="18" charset="0"/>
                          </a:rPr>
                        </m:ctrlPr>
                      </m:dPr>
                      <m:e>
                        <m:r>
                          <a:rPr lang="en-US" sz="1200" i="1">
                            <a:latin typeface="Cambria Math" panose="02040503050406030204" pitchFamily="18" charset="0"/>
                          </a:rPr>
                          <m:t>𝑥</m:t>
                        </m:r>
                        <m:r>
                          <a:rPr lang="en-US" sz="1200" i="1">
                            <a:latin typeface="Cambria Math" panose="02040503050406030204" pitchFamily="18" charset="0"/>
                          </a:rPr>
                          <m:t>,2</m:t>
                        </m:r>
                        <m:r>
                          <a:rPr lang="en-US" sz="1200" b="0" i="1" smtClean="0">
                            <a:latin typeface="Cambria Math" panose="02040503050406030204" pitchFamily="18" charset="0"/>
                          </a:rPr>
                          <m:t>𝑚</m:t>
                        </m:r>
                        <m:r>
                          <a:rPr lang="en-US" sz="1200" b="0" i="1" smtClean="0">
                            <a:latin typeface="Cambria Math" panose="02040503050406030204" pitchFamily="18" charset="0"/>
                          </a:rPr>
                          <m:t>−</m:t>
                        </m:r>
                        <m:r>
                          <a:rPr lang="en-US" sz="1200" b="0" i="1" smtClean="0">
                            <a:latin typeface="Cambria Math" panose="02040503050406030204" pitchFamily="18" charset="0"/>
                          </a:rPr>
                          <m:t>𝑦</m:t>
                        </m:r>
                      </m:e>
                    </m:d>
                  </m:oMath>
                </a14:m>
                <a:r>
                  <a:rPr lang="en-ZA" dirty="0"/>
                  <a:t>.</a:t>
                </a:r>
              </a:p>
              <a:p>
                <a:pPr algn="just"/>
                <a:endParaRPr lang="en-ZA" dirty="0"/>
              </a:p>
              <a:p>
                <a:pPr marL="0" indent="0" algn="l">
                  <a:buFont typeface="+mj-lt"/>
                  <a:buNone/>
                </a:pPr>
                <a:r>
                  <a:rPr lang="en-ZA" dirty="0"/>
                  <a:t>The same idea can be applied to a set of probability amplitudes. If their average value is</a:t>
                </a:r>
                <a14:m>
                  <m:oMath xmlns:m="http://schemas.openxmlformats.org/officeDocument/2006/math">
                    <m:r>
                      <a:rPr lang="en-US" sz="1200" b="0" i="0" smtClean="0">
                        <a:latin typeface="Cambria Math" panose="02040503050406030204" pitchFamily="18" charset="0"/>
                      </a:rPr>
                      <m:t> </m:t>
                    </m:r>
                    <m:r>
                      <a:rPr lang="en-US" sz="1200" b="0" i="1" smtClean="0">
                        <a:latin typeface="Cambria Math" panose="02040503050406030204" pitchFamily="18" charset="0"/>
                      </a:rPr>
                      <m:t>𝑚</m:t>
                    </m:r>
                  </m:oMath>
                </a14:m>
                <a:r>
                  <a:rPr lang="en-ZA" dirty="0"/>
                  <a:t>, the diffusion operator </a:t>
                </a:r>
                <a14:m>
                  <m:oMath xmlns:m="http://schemas.openxmlformats.org/officeDocument/2006/math">
                    <m:r>
                      <a:rPr lang="en-US" sz="1200" b="0" i="1" smtClean="0">
                        <a:latin typeface="Cambria Math" panose="02040503050406030204" pitchFamily="18" charset="0"/>
                      </a:rPr>
                      <m:t>𝐷</m:t>
                    </m:r>
                  </m:oMath>
                </a14:m>
                <a:r>
                  <a:rPr lang="en-ZA" dirty="0"/>
                  <a:t> transforms each amplitude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𝑎</m:t>
                        </m:r>
                      </m:e>
                      <m:sub>
                        <m:r>
                          <a:rPr lang="en-US" sz="1200" b="0" i="1" smtClean="0">
                            <a:latin typeface="Cambria Math" panose="02040503050406030204" pitchFamily="18" charset="0"/>
                          </a:rPr>
                          <m:t>𝑖</m:t>
                        </m:r>
                      </m:sub>
                    </m:sSub>
                  </m:oMath>
                </a14:m>
                <a:r>
                  <a:rPr lang="en-ZA" dirty="0"/>
                  <a:t>​ according to </a:t>
                </a:r>
                <a14:m>
                  <m:oMath xmlns:m="http://schemas.openxmlformats.org/officeDocument/2006/math">
                    <m:r>
                      <a:rPr lang="en-US" sz="1200" b="0" i="1" smtClean="0">
                        <a:latin typeface="Cambria Math" panose="02040503050406030204" pitchFamily="18" charset="0"/>
                      </a:rPr>
                      <m:t>2</m:t>
                    </m:r>
                    <m:r>
                      <a:rPr lang="en-US" sz="1200" b="0" i="1" smtClean="0">
                        <a:latin typeface="Cambria Math" panose="02040503050406030204" pitchFamily="18" charset="0"/>
                      </a:rPr>
                      <m:t>𝑚</m:t>
                    </m:r>
                    <m:r>
                      <a:rPr lang="en-US" sz="1200" b="0" i="1" smtClean="0">
                        <a:latin typeface="Cambria Math" panose="02040503050406030204" pitchFamily="18" charset="0"/>
                      </a:rPr>
                      <m:t>−</m:t>
                    </m:r>
                    <m:r>
                      <a:rPr lang="en-US" sz="1200" i="1">
                        <a:latin typeface="Cambria Math" panose="02040503050406030204" pitchFamily="18" charset="0"/>
                      </a:rPr>
                      <m:t>𝑎</m:t>
                    </m:r>
                    <m:r>
                      <a:rPr lang="en-US" sz="1200" b="0" i="1" baseline="-25000" smtClean="0">
                        <a:latin typeface="Cambria Math" panose="02040503050406030204" pitchFamily="18" charset="0"/>
                      </a:rPr>
                      <m:t>𝑖</m:t>
                    </m:r>
                  </m:oMath>
                </a14:m>
                <a:r>
                  <a:rPr lang="en-ZA" dirty="0"/>
                  <a:t>. In other words, amplitudes below the average move above it, while amplitudes above the average move below it. This transformation can be written as a matrix operation. Since the average amplitude is</a:t>
                </a:r>
              </a:p>
              <a:p>
                <a:pPr marL="0" indent="0" algn="l">
                  <a:buFont typeface="+mj-lt"/>
                  <a:buNone/>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𝑚</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m:t>
                          </m:r>
                        </m:num>
                        <m:den>
                          <m:r>
                            <a:rPr lang="en-US" sz="1200" b="0" i="1" smtClean="0">
                              <a:latin typeface="Cambria Math" panose="02040503050406030204" pitchFamily="18" charset="0"/>
                            </a:rPr>
                            <m:t>𝑁</m:t>
                          </m:r>
                        </m:den>
                      </m:f>
                      <m:nary>
                        <m:naryPr>
                          <m:chr m:val="∑"/>
                          <m:ctrlPr>
                            <a:rPr lang="en-US" sz="1200" i="1">
                              <a:latin typeface="Cambria Math" panose="02040503050406030204" pitchFamily="18" charset="0"/>
                            </a:rPr>
                          </m:ctrlPr>
                        </m:naryPr>
                        <m:sub>
                          <m:r>
                            <a:rPr lang="en-US" sz="1200" b="0" i="1" smtClean="0">
                              <a:latin typeface="Cambria Math" panose="02040503050406030204" pitchFamily="18" charset="0"/>
                            </a:rPr>
                            <m:t>𝑗</m:t>
                          </m:r>
                          <m:r>
                            <a:rPr lang="en-US" sz="1200" i="1">
                              <a:latin typeface="Cambria Math" panose="02040503050406030204" pitchFamily="18" charset="0"/>
                            </a:rPr>
                            <m:t>=</m:t>
                          </m:r>
                          <m:r>
                            <a:rPr lang="en-US" sz="1200" b="0" i="1" smtClean="0">
                              <a:latin typeface="Cambria Math" panose="02040503050406030204" pitchFamily="18" charset="0"/>
                            </a:rPr>
                            <m:t>0</m:t>
                          </m:r>
                        </m:sub>
                        <m:sup>
                          <m:r>
                            <a:rPr lang="en-US" sz="1200" i="1">
                              <a:latin typeface="Cambria Math" panose="02040503050406030204" pitchFamily="18" charset="0"/>
                            </a:rPr>
                            <m:t>𝑁</m:t>
                          </m:r>
                          <m:r>
                            <a:rPr lang="en-US" sz="1200" b="0" i="1" smtClean="0">
                              <a:latin typeface="Cambria Math" panose="02040503050406030204" pitchFamily="18" charset="0"/>
                            </a:rPr>
                            <m:t>−1</m:t>
                          </m:r>
                        </m:sup>
                        <m:e>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b="0" i="1" smtClean="0">
                                  <a:latin typeface="Cambria Math" panose="02040503050406030204" pitchFamily="18" charset="0"/>
                                </a:rPr>
                                <m:t>𝑗</m:t>
                              </m:r>
                            </m:sub>
                          </m:sSub>
                        </m:e>
                      </m:nary>
                    </m:oMath>
                  </m:oMathPara>
                </a14:m>
                <a:endParaRPr lang="en-ZA" dirty="0"/>
              </a:p>
              <a:p>
                <a:pPr marL="0" indent="0" algn="l">
                  <a:buFont typeface="+mj-lt"/>
                  <a:buNone/>
                </a:pPr>
                <a:r>
                  <a:rPr lang="en-ZA" dirty="0"/>
                  <a:t>each new amplitude becomes</a:t>
                </a:r>
              </a:p>
              <a:p>
                <a:pPr marL="0" indent="0" algn="l">
                  <a:buFont typeface="+mj-lt"/>
                  <a:buNone/>
                </a:pPr>
                <a14:m>
                  <m:oMathPara xmlns:m="http://schemas.openxmlformats.org/officeDocument/2006/math">
                    <m:oMathParaPr>
                      <m:jc m:val="centerGroup"/>
                    </m:oMathParaPr>
                    <m:oMath xmlns:m="http://schemas.openxmlformats.org/officeDocument/2006/math">
                      <m:sSup>
                        <m:sSupPr>
                          <m:ctrlPr>
                            <a:rPr lang="en-US" sz="1200" b="0" i="1" smtClean="0">
                              <a:latin typeface="Cambria Math" panose="02040503050406030204" pitchFamily="18" charset="0"/>
                            </a:rPr>
                          </m:ctrlPr>
                        </m:sSupPr>
                        <m:e>
                          <m:r>
                            <a:rPr lang="en-US" sz="1200" i="1" smtClean="0">
                              <a:latin typeface="Cambria Math" panose="02040503050406030204" pitchFamily="18" charset="0"/>
                            </a:rPr>
                            <m:t>𝑎</m:t>
                          </m:r>
                        </m:e>
                        <m:sup>
                          <m:r>
                            <a:rPr lang="en-US" sz="1200" b="0" i="1" smtClean="0">
                              <a:latin typeface="Cambria Math" panose="02040503050406030204" pitchFamily="18" charset="0"/>
                            </a:rPr>
                            <m:t>′</m:t>
                          </m:r>
                        </m:sup>
                      </m:sSup>
                      <m:r>
                        <a:rPr lang="en-US" sz="1200" b="0" i="1" baseline="-25000" smtClean="0">
                          <a:latin typeface="Cambria Math" panose="02040503050406030204" pitchFamily="18" charset="0"/>
                        </a:rPr>
                        <m:t>𝑖</m:t>
                      </m:r>
                      <m:r>
                        <a:rPr lang="en-US" sz="1200" b="0" i="1" smtClean="0">
                          <a:latin typeface="Cambria Math" panose="02040503050406030204" pitchFamily="18" charset="0"/>
                        </a:rPr>
                        <m:t>=2</m:t>
                      </m:r>
                      <m:r>
                        <a:rPr lang="en-US" sz="1200" b="0" i="1" smtClean="0">
                          <a:latin typeface="Cambria Math" panose="02040503050406030204" pitchFamily="18" charset="0"/>
                        </a:rPr>
                        <m:t>𝑚</m:t>
                      </m:r>
                      <m:r>
                        <a:rPr lang="en-US" sz="1200" b="0" i="1" smtClean="0">
                          <a:latin typeface="Cambria Math" panose="02040503050406030204" pitchFamily="18" charset="0"/>
                        </a:rPr>
                        <m:t>−</m:t>
                      </m:r>
                      <m:sSub>
                        <m:sSubPr>
                          <m:ctrlPr>
                            <a:rPr lang="en-US" sz="1200" i="1" smtClean="0">
                              <a:latin typeface="Cambria Math" panose="02040503050406030204" pitchFamily="18" charset="0"/>
                            </a:rPr>
                          </m:ctrlPr>
                        </m:sSubPr>
                        <m:e>
                          <m:r>
                            <a:rPr lang="en-US" sz="1200" i="1">
                              <a:latin typeface="Cambria Math" panose="02040503050406030204" pitchFamily="18" charset="0"/>
                            </a:rPr>
                            <m:t>𝑎</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2</m:t>
                          </m:r>
                        </m:num>
                        <m:den>
                          <m:r>
                            <a:rPr lang="en-US" sz="1200" b="0" i="1" smtClean="0">
                              <a:latin typeface="Cambria Math" panose="02040503050406030204" pitchFamily="18" charset="0"/>
                            </a:rPr>
                            <m:t>𝑁</m:t>
                          </m:r>
                        </m:den>
                      </m:f>
                      <m:nary>
                        <m:naryPr>
                          <m:chr m:val="∑"/>
                          <m:ctrlPr>
                            <a:rPr lang="en-US" sz="1200" i="1" smtClean="0">
                              <a:latin typeface="Cambria Math" panose="02040503050406030204" pitchFamily="18" charset="0"/>
                            </a:rPr>
                          </m:ctrlPr>
                        </m:naryPr>
                        <m:sub>
                          <m:r>
                            <a:rPr lang="en-US" sz="1200" b="0" i="1" smtClean="0">
                              <a:latin typeface="Cambria Math" panose="02040503050406030204" pitchFamily="18" charset="0"/>
                            </a:rPr>
                            <m:t>𝑗</m:t>
                          </m:r>
                          <m:r>
                            <a:rPr lang="en-US" sz="1200" i="1">
                              <a:latin typeface="Cambria Math" panose="02040503050406030204" pitchFamily="18" charset="0"/>
                            </a:rPr>
                            <m:t>=</m:t>
                          </m:r>
                          <m:r>
                            <a:rPr lang="en-US" sz="1200" b="0" i="1" smtClean="0">
                              <a:latin typeface="Cambria Math" panose="02040503050406030204" pitchFamily="18" charset="0"/>
                            </a:rPr>
                            <m:t>0</m:t>
                          </m:r>
                        </m:sub>
                        <m:sup>
                          <m:r>
                            <a:rPr lang="en-US" sz="1200" i="1">
                              <a:latin typeface="Cambria Math" panose="02040503050406030204" pitchFamily="18" charset="0"/>
                            </a:rPr>
                            <m:t>𝑁</m:t>
                          </m:r>
                          <m:r>
                            <a:rPr lang="en-US" sz="1200" b="0" i="1" smtClean="0">
                              <a:latin typeface="Cambria Math" panose="02040503050406030204" pitchFamily="18" charset="0"/>
                            </a:rPr>
                            <m:t>−1</m:t>
                          </m:r>
                        </m:sup>
                        <m:e>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b="0" i="1" smtClean="0">
                                  <a:latin typeface="Cambria Math" panose="02040503050406030204" pitchFamily="18" charset="0"/>
                                </a:rPr>
                                <m:t>𝑗</m:t>
                              </m:r>
                            </m:sub>
                          </m:sSub>
                        </m:e>
                      </m:nary>
                      <m:r>
                        <a:rPr lang="en-US" sz="1200" b="0" i="1" smtClean="0">
                          <a:latin typeface="Cambria Math" panose="02040503050406030204" pitchFamily="18" charset="0"/>
                        </a:rPr>
                        <m:t>−</m:t>
                      </m:r>
                      <m:sSub>
                        <m:sSubPr>
                          <m:ctrlPr>
                            <a:rPr lang="en-US" sz="1200" i="1" smtClean="0">
                              <a:latin typeface="Cambria Math" panose="02040503050406030204" pitchFamily="18" charset="0"/>
                            </a:rPr>
                          </m:ctrlPr>
                        </m:sSubPr>
                        <m:e>
                          <m:r>
                            <a:rPr lang="en-US" sz="1200" i="1">
                              <a:latin typeface="Cambria Math" panose="02040503050406030204" pitchFamily="18" charset="0"/>
                            </a:rPr>
                            <m:t>𝑎</m:t>
                          </m:r>
                        </m:e>
                        <m:sub>
                          <m:r>
                            <a:rPr lang="en-US" sz="1200" b="0" i="1" smtClean="0">
                              <a:latin typeface="Cambria Math" panose="02040503050406030204" pitchFamily="18" charset="0"/>
                            </a:rPr>
                            <m:t>𝑖</m:t>
                          </m:r>
                        </m:sub>
                      </m:sSub>
                    </m:oMath>
                  </m:oMathPara>
                </a14:m>
                <a:endParaRPr lang="en-ZA" dirty="0"/>
              </a:p>
              <a:p>
                <a:pPr marL="0" indent="0" algn="l">
                  <a:buFont typeface="+mj-lt"/>
                  <a:buNone/>
                </a:pPr>
                <a:r>
                  <a:rPr lang="en-ZA" dirty="0"/>
                  <a:t>This means that the coefficient multiplying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𝑎</m:t>
                        </m:r>
                      </m:e>
                      <m:sub>
                        <m:r>
                          <a:rPr lang="en-US" sz="1200" b="0" i="1" smtClean="0">
                            <a:latin typeface="Cambria Math" panose="02040503050406030204" pitchFamily="18" charset="0"/>
                          </a:rPr>
                          <m:t>𝑖</m:t>
                        </m:r>
                      </m:sub>
                    </m:sSub>
                  </m:oMath>
                </a14:m>
                <a:r>
                  <a:rPr lang="en-ZA" dirty="0"/>
                  <a:t>​ is </a:t>
                </a:r>
                <a14:m>
                  <m:oMath xmlns:m="http://schemas.openxmlformats.org/officeDocument/2006/math">
                    <m:r>
                      <a:rPr lang="en-US" sz="1200" b="0" i="0" smtClean="0">
                        <a:latin typeface="Cambria Math" panose="02040503050406030204" pitchFamily="18" charset="0"/>
                      </a:rPr>
                      <m:t>(</m:t>
                    </m:r>
                    <m:r>
                      <a:rPr lang="en-US" sz="1200" b="0" i="1" smtClean="0">
                        <a:latin typeface="Cambria Math" panose="02040503050406030204" pitchFamily="18" charset="0"/>
                      </a:rPr>
                      <m:t>2/</m:t>
                    </m:r>
                    <m:r>
                      <a:rPr lang="en-US" sz="1200" b="0" i="1" smtClean="0">
                        <a:latin typeface="Cambria Math" panose="02040503050406030204" pitchFamily="18" charset="0"/>
                      </a:rPr>
                      <m:t>𝑁</m:t>
                    </m:r>
                    <m:r>
                      <a:rPr lang="en-US" sz="1200" b="0" i="1" smtClean="0">
                        <a:latin typeface="Cambria Math" panose="02040503050406030204" pitchFamily="18" charset="0"/>
                      </a:rPr>
                      <m:t>−1)</m:t>
                    </m:r>
                  </m:oMath>
                </a14:m>
                <a:r>
                  <a:rPr lang="en-ZA" dirty="0"/>
                  <a:t>,  while the coefficient multiplying every other amplitude is </a:t>
                </a:r>
                <a14:m>
                  <m:oMath xmlns:m="http://schemas.openxmlformats.org/officeDocument/2006/math">
                    <m:r>
                      <a:rPr lang="en-US" sz="1200" b="0" i="1" smtClean="0">
                        <a:latin typeface="Cambria Math" panose="02040503050406030204" pitchFamily="18" charset="0"/>
                      </a:rPr>
                      <m:t>2/</m:t>
                    </m:r>
                    <m:r>
                      <a:rPr lang="en-US" sz="1200" b="0" i="1" smtClean="0">
                        <a:latin typeface="Cambria Math" panose="02040503050406030204" pitchFamily="18" charset="0"/>
                      </a:rPr>
                      <m:t>𝑁</m:t>
                    </m:r>
                  </m:oMath>
                </a14:m>
                <a:r>
                  <a:rPr lang="en-ZA" dirty="0"/>
                  <a:t>. These coefficients form the diffusion matrix </a:t>
                </a:r>
                <a14:m>
                  <m:oMath xmlns:m="http://schemas.openxmlformats.org/officeDocument/2006/math">
                    <m:r>
                      <a:rPr lang="en-US" sz="1200" b="0" i="1" smtClean="0">
                        <a:latin typeface="Cambria Math" panose="02040503050406030204" pitchFamily="18" charset="0"/>
                      </a:rPr>
                      <m:t>𝐷</m:t>
                    </m:r>
                  </m:oMath>
                </a14:m>
                <a:r>
                  <a:rPr lang="en-ZA" dirty="0"/>
                  <a:t> shown on the slide.</a:t>
                </a:r>
              </a:p>
              <a:p>
                <a:pPr marL="0" indent="0" algn="just">
                  <a:buFont typeface="+mj-lt"/>
                  <a:buNone/>
                </a:pPr>
                <a:endParaRPr lang="en-ZA" dirty="0"/>
              </a:p>
              <a:p>
                <a:pPr marL="0" indent="0" algn="just">
                  <a:buFont typeface="+mj-lt"/>
                  <a:buNone/>
                </a:pPr>
                <a:r>
                  <a:rPr lang="en-ZA" dirty="0"/>
                  <a:t>Grover originally introduced this operation as the </a:t>
                </a:r>
                <a:r>
                  <a:rPr lang="en-ZA" b="1" dirty="0"/>
                  <a:t>diffusion operator</a:t>
                </a:r>
                <a:r>
                  <a:rPr lang="en-ZA" dirty="0"/>
                  <a:t> and later also used the more descriptive name </a:t>
                </a:r>
                <a:r>
                  <a:rPr lang="en-ZA" b="1" dirty="0"/>
                  <a:t>inversion about the mean</a:t>
                </a:r>
                <a:r>
                  <a:rPr lang="en-ZA" dirty="0"/>
                  <a:t>. The term </a:t>
                </a:r>
                <a:r>
                  <a:rPr lang="en-ZA" i="1" dirty="0"/>
                  <a:t>diffusion operator</a:t>
                </a:r>
                <a:r>
                  <a:rPr lang="en-ZA" dirty="0"/>
                  <a:t> remains widely used today.</a:t>
                </a:r>
                <a:endParaRPr lang="en-US" sz="1200" dirty="0"/>
              </a:p>
            </p:txBody>
          </p:sp>
        </mc:Choice>
        <mc:Fallback xmlns="">
          <p:sp>
            <p:nvSpPr>
              <p:cNvPr id="3" name="Notes Placeholder 2"/>
              <p:cNvSpPr>
                <a:spLocks noGrp="1"/>
              </p:cNvSpPr>
              <p:nvPr>
                <p:ph type="body" idx="1"/>
              </p:nvPr>
            </p:nvSpPr>
            <p:spPr/>
            <p:txBody>
              <a:bodyPr/>
              <a:lstStyle/>
              <a:p>
                <a:r>
                  <a:rPr lang="en-US" sz="2000" dirty="0" err="1"/>
                  <a:t>Geometrijski</a:t>
                </a:r>
                <a:r>
                  <a:rPr lang="en-US" sz="2000" dirty="0"/>
                  <a:t> primer </a:t>
                </a:r>
                <a:r>
                  <a:rPr lang="en-US" sz="2000" dirty="0" err="1"/>
                  <a:t>na</a:t>
                </a:r>
                <a:r>
                  <a:rPr lang="en-US" sz="2000" dirty="0"/>
                  <a:t> </a:t>
                </a:r>
                <a:r>
                  <a:rPr lang="en-US" sz="2000" dirty="0" err="1"/>
                  <a:t>slici</a:t>
                </a:r>
                <a:r>
                  <a:rPr lang="en-US" sz="2000" dirty="0"/>
                  <a:t> </a:t>
                </a:r>
                <a:r>
                  <a:rPr lang="en-US" sz="2000" dirty="0" err="1"/>
                  <a:t>pokazuje</a:t>
                </a:r>
                <a:r>
                  <a:rPr lang="en-US" sz="2000" dirty="0"/>
                  <a:t> </a:t>
                </a:r>
                <a:r>
                  <a:rPr lang="en-US" sz="2000" dirty="0" err="1"/>
                  <a:t>šta</a:t>
                </a:r>
                <a:r>
                  <a:rPr lang="en-US" sz="2000" dirty="0"/>
                  <a:t> se </a:t>
                </a:r>
                <a:r>
                  <a:rPr lang="en-US" sz="2000" dirty="0" err="1"/>
                  <a:t>događa</a:t>
                </a:r>
                <a:r>
                  <a:rPr lang="en-US" sz="2000" dirty="0"/>
                  <a:t> u </a:t>
                </a:r>
                <a:r>
                  <a:rPr lang="en-US" sz="2000" dirty="0" err="1"/>
                  <a:t>procesu</a:t>
                </a:r>
                <a:r>
                  <a:rPr lang="en-US" sz="2000" dirty="0"/>
                  <a:t> </a:t>
                </a:r>
                <a:r>
                  <a:rPr lang="en-US" sz="2000" dirty="0" err="1"/>
                  <a:t>inverzije</a:t>
                </a:r>
                <a:r>
                  <a:rPr lang="en-US" sz="2000" dirty="0"/>
                  <a:t>. </a:t>
                </a:r>
                <a:r>
                  <a:rPr lang="en-US" sz="2000" dirty="0" err="1"/>
                  <a:t>Ako</a:t>
                </a:r>
                <a:r>
                  <a:rPr lang="en-US" sz="2000" dirty="0"/>
                  <a:t> se </a:t>
                </a:r>
                <a:r>
                  <a:rPr lang="en-US" sz="2000" dirty="0" err="1"/>
                  <a:t>tačka</a:t>
                </a:r>
                <a:r>
                  <a:rPr lang="en-US" sz="2000" dirty="0"/>
                  <a:t> </a:t>
                </a:r>
                <a:r>
                  <a:rPr lang="en-US" sz="2000" dirty="0" err="1"/>
                  <a:t>čije</a:t>
                </a:r>
                <a:r>
                  <a:rPr lang="en-US" sz="2000" dirty="0"/>
                  <a:t> </a:t>
                </a:r>
                <a:r>
                  <a:rPr lang="en-US" sz="2000" dirty="0" err="1"/>
                  <a:t>su</a:t>
                </a:r>
                <a:r>
                  <a:rPr lang="en-US" sz="2000" dirty="0"/>
                  <a:t> </a:t>
                </a:r>
                <a:r>
                  <a:rPr lang="en-US" sz="2000" dirty="0" err="1"/>
                  <a:t>koordinate</a:t>
                </a:r>
                <a:r>
                  <a:rPr lang="en-US" sz="2000" dirty="0"/>
                  <a:t> (</a:t>
                </a:r>
                <a:r>
                  <a:rPr lang="en-US" sz="2000" dirty="0" err="1"/>
                  <a:t>x,y</a:t>
                </a:r>
                <a:r>
                  <a:rPr lang="en-US" sz="2000" dirty="0"/>
                  <a:t>) </a:t>
                </a:r>
                <a:r>
                  <a:rPr lang="en-US" sz="2000" dirty="0" err="1"/>
                  <a:t>invertuje</a:t>
                </a:r>
                <a:r>
                  <a:rPr lang="en-US" sz="2000" dirty="0"/>
                  <a:t> </a:t>
                </a:r>
                <a:r>
                  <a:rPr lang="en-US" sz="2000" dirty="0" err="1"/>
                  <a:t>oko</a:t>
                </a:r>
                <a:r>
                  <a:rPr lang="en-US" sz="2000" dirty="0"/>
                  <a:t> </a:t>
                </a:r>
                <a:r>
                  <a:rPr lang="en-US" sz="2000" dirty="0" err="1"/>
                  <a:t>horizontalne</a:t>
                </a:r>
                <a:r>
                  <a:rPr lang="en-US" sz="2000" dirty="0"/>
                  <a:t> </a:t>
                </a:r>
                <a:r>
                  <a:rPr lang="en-US" sz="2000" dirty="0" err="1"/>
                  <a:t>linije</a:t>
                </a:r>
                <a:r>
                  <a:rPr lang="en-US" sz="2000" dirty="0"/>
                  <a:t> </a:t>
                </a:r>
                <a:r>
                  <a:rPr lang="en-US" sz="2000" dirty="0" err="1"/>
                  <a:t>na</a:t>
                </a:r>
                <a:r>
                  <a:rPr lang="en-US" sz="2000" dirty="0"/>
                  <a:t> </a:t>
                </a:r>
                <a:r>
                  <a:rPr lang="en-US" sz="2000" dirty="0" err="1"/>
                  <a:t>visini</a:t>
                </a:r>
                <a:r>
                  <a:rPr lang="en-US" sz="2000" dirty="0"/>
                  <a:t> y=m, </a:t>
                </a:r>
                <a:r>
                  <a:rPr lang="en-US" sz="2000" dirty="0" err="1"/>
                  <a:t>koordinate</a:t>
                </a:r>
                <a:r>
                  <a:rPr lang="en-US" sz="2000" dirty="0"/>
                  <a:t> </a:t>
                </a:r>
                <a:r>
                  <a:rPr lang="en-US" sz="2000" dirty="0" err="1"/>
                  <a:t>reflektovane</a:t>
                </a:r>
                <a:r>
                  <a:rPr lang="en-US" sz="2000" dirty="0"/>
                  <a:t> </a:t>
                </a:r>
                <a:r>
                  <a:rPr lang="en-US" sz="2000" dirty="0" err="1"/>
                  <a:t>tačke</a:t>
                </a:r>
                <a:r>
                  <a:rPr lang="en-US" sz="2000" dirty="0"/>
                  <a:t> se </a:t>
                </a:r>
                <a:r>
                  <a:rPr lang="en-US" sz="2000" dirty="0" err="1"/>
                  <a:t>dobijaju</a:t>
                </a:r>
                <a:r>
                  <a:rPr lang="en-US" sz="2000" dirty="0"/>
                  <a:t> </a:t>
                </a:r>
                <a:r>
                  <a:rPr lang="en-US" sz="2000" dirty="0" err="1"/>
                  <a:t>kao</a:t>
                </a:r>
                <a:r>
                  <a:rPr lang="en-US" sz="2000" dirty="0"/>
                  <a:t> (x,2m-y).</a:t>
                </a:r>
              </a:p>
              <a:p>
                <a:endParaRPr lang="en-US" sz="2000" dirty="0"/>
              </a:p>
              <a:p>
                <a:pPr marL="457200" indent="-457200">
                  <a:buFont typeface="+mj-lt"/>
                  <a:buAutoNum type="arabicPeriod"/>
                </a:pPr>
                <a:r>
                  <a:rPr lang="en-US" sz="2000" dirty="0" err="1"/>
                  <a:t>Groverov</a:t>
                </a:r>
                <a:r>
                  <a:rPr lang="en-US" sz="2000" dirty="0"/>
                  <a:t> </a:t>
                </a:r>
                <a:r>
                  <a:rPr lang="en-US" sz="2000" dirty="0" err="1"/>
                  <a:t>difuzion</a:t>
                </a:r>
                <a:r>
                  <a:rPr lang="en-US" sz="2000" dirty="0"/>
                  <a:t> operator, </a:t>
                </a:r>
                <a:r>
                  <a:rPr lang="en-US" sz="2000" dirty="0" err="1"/>
                  <a:t>nazovimo</a:t>
                </a:r>
                <a:r>
                  <a:rPr lang="en-US" sz="2000" dirty="0"/>
                  <a:t> </a:t>
                </a:r>
                <a:r>
                  <a:rPr lang="en-US" sz="2000" dirty="0" err="1"/>
                  <a:t>ga</a:t>
                </a:r>
                <a:r>
                  <a:rPr lang="en-US" sz="2000" dirty="0"/>
                  <a:t> 𝐷, </a:t>
                </a:r>
                <a:r>
                  <a:rPr lang="en-US" sz="2000" dirty="0" err="1"/>
                  <a:t>koristi</a:t>
                </a:r>
                <a:r>
                  <a:rPr lang="en-US" sz="2000" dirty="0"/>
                  <a:t> </a:t>
                </a:r>
                <a:r>
                  <a:rPr lang="en-US" sz="2000" dirty="0" err="1"/>
                  <a:t>isti</a:t>
                </a:r>
                <a:r>
                  <a:rPr lang="en-US" sz="2000" dirty="0"/>
                  <a:t> </a:t>
                </a:r>
                <a:r>
                  <a:rPr lang="en-US" sz="2000" dirty="0" err="1"/>
                  <a:t>princip</a:t>
                </a:r>
                <a:r>
                  <a:rPr lang="en-US" sz="2000" dirty="0"/>
                  <a:t> </a:t>
                </a:r>
                <a:r>
                  <a:rPr lang="en-US" sz="2000" dirty="0" err="1"/>
                  <a:t>samo</a:t>
                </a:r>
                <a:r>
                  <a:rPr lang="en-US" sz="2000" dirty="0"/>
                  <a:t> </a:t>
                </a:r>
                <a:r>
                  <a:rPr lang="en-US" sz="2000" dirty="0" err="1"/>
                  <a:t>primenjen</a:t>
                </a:r>
                <a:r>
                  <a:rPr lang="en-US" sz="2000" dirty="0"/>
                  <a:t> </a:t>
                </a:r>
                <a:r>
                  <a:rPr lang="en-US" sz="2000" dirty="0" err="1"/>
                  <a:t>na</a:t>
                </a:r>
                <a:r>
                  <a:rPr lang="en-US" sz="2000" dirty="0"/>
                  <a:t> </a:t>
                </a:r>
                <a:r>
                  <a:rPr lang="en-US" sz="2000" dirty="0" err="1"/>
                  <a:t>multidimenzionalni</a:t>
                </a:r>
                <a:r>
                  <a:rPr lang="en-US" sz="2000" dirty="0"/>
                  <a:t> </a:t>
                </a:r>
                <a:r>
                  <a:rPr lang="en-US" sz="2000" dirty="0" err="1"/>
                  <a:t>vektor</a:t>
                </a:r>
                <a:r>
                  <a:rPr lang="en-US" sz="2000" dirty="0"/>
                  <a:t>. </a:t>
                </a:r>
                <a:r>
                  <a:rPr lang="en-US" sz="2000" dirty="0" err="1"/>
                  <a:t>Dakle</a:t>
                </a:r>
                <a:r>
                  <a:rPr lang="en-US" sz="2000" dirty="0"/>
                  <a:t> operator 𝐷, </a:t>
                </a:r>
                <a:r>
                  <a:rPr lang="en-US" sz="2000" dirty="0" err="1"/>
                  <a:t>pomnožen</a:t>
                </a:r>
                <a:r>
                  <a:rPr lang="en-US" sz="2000" dirty="0"/>
                  <a:t> </a:t>
                </a:r>
                <a:r>
                  <a:rPr lang="en-US" sz="2000" dirty="0" err="1"/>
                  <a:t>sa</a:t>
                </a:r>
                <a:r>
                  <a:rPr lang="en-US" sz="2000" dirty="0"/>
                  <a:t> </a:t>
                </a:r>
                <a:r>
                  <a:rPr lang="en-US" sz="2000" dirty="0" err="1"/>
                  <a:t>vektorom</a:t>
                </a:r>
                <a:r>
                  <a:rPr lang="en-US" sz="2000" dirty="0"/>
                  <a:t> </a:t>
                </a:r>
                <a:r>
                  <a:rPr lang="en-US" sz="2000" dirty="0" err="1"/>
                  <a:t>datim</a:t>
                </a:r>
                <a:r>
                  <a:rPr lang="en-US" sz="2000" dirty="0"/>
                  <a:t> </a:t>
                </a:r>
                <a:r>
                  <a:rPr lang="en-US" sz="2000" dirty="0" err="1"/>
                  <a:t>koordinatma</a:t>
                </a:r>
                <a:r>
                  <a:rPr lang="en-US" sz="2000" dirty="0"/>
                  <a:t> 𝑎, </a:t>
                </a:r>
                <a:r>
                  <a:rPr lang="en-US" sz="2000" dirty="0" err="1"/>
                  <a:t>daje</a:t>
                </a:r>
                <a:r>
                  <a:rPr lang="en-US" sz="2000" dirty="0"/>
                  <a:t> </a:t>
                </a:r>
                <a:r>
                  <a:rPr lang="en-US" sz="2000" dirty="0" err="1"/>
                  <a:t>novi</a:t>
                </a:r>
                <a:r>
                  <a:rPr lang="en-US" sz="2000" dirty="0"/>
                  <a:t> </a:t>
                </a:r>
                <a:r>
                  <a:rPr lang="en-US" sz="2000" dirty="0" err="1"/>
                  <a:t>vektor</a:t>
                </a:r>
                <a:r>
                  <a:rPr lang="en-US" sz="2000" dirty="0"/>
                  <a:t> </a:t>
                </a:r>
                <a:r>
                  <a:rPr lang="en-US" sz="2000" dirty="0" err="1"/>
                  <a:t>sa</a:t>
                </a:r>
                <a:r>
                  <a:rPr lang="en-US" sz="2000" dirty="0"/>
                  <a:t> </a:t>
                </a:r>
                <a:r>
                  <a:rPr lang="en-US" sz="2000" dirty="0" err="1"/>
                  <a:t>koordinatma</a:t>
                </a:r>
                <a:r>
                  <a:rPr lang="en-US" sz="2000" dirty="0"/>
                  <a:t> 2𝑚−𝑎. U </a:t>
                </a:r>
                <a:r>
                  <a:rPr lang="en-US" sz="2000" dirty="0" err="1"/>
                  <a:t>groverovom</a:t>
                </a:r>
                <a:r>
                  <a:rPr lang="en-US" sz="2000" dirty="0"/>
                  <a:t> </a:t>
                </a:r>
                <a:r>
                  <a:rPr lang="en-US" sz="2000" dirty="0" err="1"/>
                  <a:t>algoritmu</a:t>
                </a:r>
                <a:r>
                  <a:rPr lang="en-US" sz="2000" dirty="0"/>
                  <a:t>, 𝑚 </a:t>
                </a:r>
                <a:r>
                  <a:rPr lang="en-US" sz="2000" dirty="0" err="1"/>
                  <a:t>je</a:t>
                </a:r>
                <a:r>
                  <a:rPr lang="en-US" sz="2000" dirty="0"/>
                  <a:t> </a:t>
                </a:r>
                <a:r>
                  <a:rPr lang="en-US" sz="2000" dirty="0" err="1"/>
                  <a:t>srednja</a:t>
                </a:r>
                <a:r>
                  <a:rPr lang="en-US" sz="2000" dirty="0"/>
                  <a:t> </a:t>
                </a:r>
                <a:r>
                  <a:rPr lang="en-US" sz="2000" dirty="0" err="1"/>
                  <a:t>vrednost</a:t>
                </a:r>
                <a:r>
                  <a:rPr lang="en-US" sz="2000" dirty="0"/>
                  <a:t> amplitude, </a:t>
                </a:r>
                <a:r>
                  <a:rPr lang="en-US" sz="2000" dirty="0" err="1"/>
                  <a:t>kao</a:t>
                </a:r>
                <a:r>
                  <a:rPr lang="en-US" sz="2000" dirty="0"/>
                  <a:t> u </a:t>
                </a:r>
                <a:r>
                  <a:rPr lang="en-US" sz="2000" dirty="0" err="1"/>
                  <a:t>izrazu</a:t>
                </a:r>
                <a:r>
                  <a:rPr lang="en-US" sz="2000" dirty="0"/>
                  <a:t> (1). </a:t>
                </a:r>
                <a:r>
                  <a:rPr lang="en-US" sz="2000" baseline="0" dirty="0"/>
                  <a:t>Grover </a:t>
                </a:r>
                <a:r>
                  <a:rPr lang="en-US" sz="2000" baseline="0" dirty="0" err="1"/>
                  <a:t>je</a:t>
                </a:r>
                <a:r>
                  <a:rPr lang="en-US" sz="2000" baseline="0" dirty="0"/>
                  <a:t> </a:t>
                </a:r>
                <a:r>
                  <a:rPr lang="en-US" sz="2000" baseline="0" dirty="0" err="1"/>
                  <a:t>ovaj</a:t>
                </a:r>
                <a:r>
                  <a:rPr lang="en-US" sz="2000" baseline="0" dirty="0"/>
                  <a:t> operator </a:t>
                </a:r>
                <a:r>
                  <a:rPr lang="en-US" sz="2000" baseline="0" dirty="0" err="1"/>
                  <a:t>prvobitno</a:t>
                </a:r>
                <a:r>
                  <a:rPr lang="en-US" sz="2000" baseline="0" dirty="0"/>
                  <a:t> </a:t>
                </a:r>
                <a:r>
                  <a:rPr lang="en-US" sz="2000" baseline="0" dirty="0" err="1"/>
                  <a:t>nazvao</a:t>
                </a:r>
                <a:r>
                  <a:rPr lang="en-US" sz="2000" baseline="0" dirty="0"/>
                  <a:t> ‘</a:t>
                </a:r>
                <a:r>
                  <a:rPr lang="en-US" sz="2000" baseline="0" dirty="0" err="1"/>
                  <a:t>diffuzioni</a:t>
                </a:r>
                <a:r>
                  <a:rPr lang="en-US" sz="2000" baseline="0" dirty="0"/>
                  <a:t> operator’ a </a:t>
                </a:r>
                <a:r>
                  <a:rPr lang="en-US" sz="2000" baseline="0" dirty="0" err="1"/>
                  <a:t>kasnije</a:t>
                </a:r>
                <a:r>
                  <a:rPr lang="en-US" sz="2000" baseline="0" dirty="0"/>
                  <a:t> </a:t>
                </a:r>
                <a:r>
                  <a:rPr lang="en-US" sz="2000" baseline="0" dirty="0" err="1"/>
                  <a:t>predložio</a:t>
                </a:r>
                <a:r>
                  <a:rPr lang="en-US" sz="2000" baseline="0" dirty="0"/>
                  <a:t> da to </a:t>
                </a:r>
                <a:r>
                  <a:rPr lang="en-US" sz="2000" baseline="0" dirty="0" err="1"/>
                  <a:t>bude</a:t>
                </a:r>
                <a:r>
                  <a:rPr lang="en-US" sz="2000" baseline="0" dirty="0"/>
                  <a:t> operator ‘</a:t>
                </a:r>
                <a:r>
                  <a:rPr lang="en-US" sz="2000" baseline="0" dirty="0" err="1"/>
                  <a:t>inverzije</a:t>
                </a:r>
                <a:r>
                  <a:rPr lang="en-US" sz="2000" baseline="0" dirty="0"/>
                  <a:t> </a:t>
                </a:r>
                <a:r>
                  <a:rPr lang="en-US" sz="2000" baseline="0" dirty="0" err="1"/>
                  <a:t>oko</a:t>
                </a:r>
                <a:r>
                  <a:rPr lang="en-US" sz="2000" baseline="0" dirty="0"/>
                  <a:t> </a:t>
                </a:r>
                <a:r>
                  <a:rPr lang="en-US" sz="2000" baseline="0" dirty="0" err="1"/>
                  <a:t>srednje</a:t>
                </a:r>
                <a:r>
                  <a:rPr lang="en-US" sz="2000" baseline="0" dirty="0"/>
                  <a:t> </a:t>
                </a:r>
                <a:r>
                  <a:rPr lang="en-US" sz="2000" baseline="0" dirty="0" err="1"/>
                  <a:t>vrednosti</a:t>
                </a:r>
                <a:r>
                  <a:rPr lang="en-US" sz="2000" baseline="0" dirty="0"/>
                  <a:t>’. </a:t>
                </a:r>
                <a:r>
                  <a:rPr lang="en-US" sz="2000" baseline="0" dirty="0" err="1"/>
                  <a:t>Iz</a:t>
                </a:r>
                <a:r>
                  <a:rPr lang="en-US" sz="2000" baseline="0" dirty="0"/>
                  <a:t> </a:t>
                </a:r>
                <a:r>
                  <a:rPr lang="en-US" sz="2000" baseline="0" dirty="0" err="1"/>
                  <a:t>nekog</a:t>
                </a:r>
                <a:r>
                  <a:rPr lang="en-US" sz="2000" baseline="0" dirty="0"/>
                  <a:t> </a:t>
                </a:r>
                <a:r>
                  <a:rPr lang="en-US" sz="2000" baseline="0" dirty="0" err="1"/>
                  <a:t>razloga</a:t>
                </a:r>
                <a:r>
                  <a:rPr lang="en-US" sz="2000" baseline="0" dirty="0"/>
                  <a:t>, </a:t>
                </a:r>
                <a:r>
                  <a:rPr lang="en-US" sz="2000" baseline="0" dirty="0" err="1"/>
                  <a:t>prvobitno</a:t>
                </a:r>
                <a:r>
                  <a:rPr lang="en-US" sz="2000" baseline="0" dirty="0"/>
                  <a:t> </a:t>
                </a:r>
                <a:r>
                  <a:rPr lang="en-US" sz="2000" baseline="0" dirty="0" err="1"/>
                  <a:t>ime</a:t>
                </a:r>
                <a:r>
                  <a:rPr lang="en-US" sz="2000" baseline="0" dirty="0"/>
                  <a:t> </a:t>
                </a:r>
                <a:r>
                  <a:rPr lang="en-US" sz="2000" baseline="0" dirty="0" err="1"/>
                  <a:t>je</a:t>
                </a:r>
                <a:r>
                  <a:rPr lang="en-US" sz="2000" baseline="0" dirty="0"/>
                  <a:t> </a:t>
                </a:r>
                <a:r>
                  <a:rPr lang="en-US" sz="2000" baseline="0" dirty="0" err="1"/>
                  <a:t>i</a:t>
                </a:r>
                <a:r>
                  <a:rPr lang="en-US" sz="2000" baseline="0" dirty="0"/>
                  <a:t> </a:t>
                </a:r>
                <a:r>
                  <a:rPr lang="en-US" sz="2000" baseline="0" dirty="0" err="1"/>
                  <a:t>dalje</a:t>
                </a:r>
                <a:r>
                  <a:rPr lang="en-US" sz="2000" baseline="0" dirty="0"/>
                  <a:t> </a:t>
                </a:r>
                <a:r>
                  <a:rPr lang="en-US" sz="2000" baseline="0" dirty="0" err="1"/>
                  <a:t>opstalo</a:t>
                </a:r>
                <a:r>
                  <a:rPr lang="en-US" sz="2000" baseline="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err="1"/>
                  <a:t>Može</a:t>
                </a:r>
                <a:r>
                  <a:rPr lang="en-US" sz="2000" baseline="0" dirty="0"/>
                  <a:t> se </a:t>
                </a:r>
                <a:r>
                  <a:rPr lang="en-US" sz="2000" baseline="0" dirty="0" err="1"/>
                  <a:t>pokazati</a:t>
                </a:r>
                <a:r>
                  <a:rPr lang="en-US" sz="2000" baseline="0" dirty="0"/>
                  <a:t> da operator 𝐷 </a:t>
                </a:r>
                <a:r>
                  <a:rPr lang="en-US" sz="2000" baseline="0" dirty="0" err="1"/>
                  <a:t>izražen</a:t>
                </a:r>
                <a:r>
                  <a:rPr lang="en-US" sz="2000" baseline="0" dirty="0"/>
                  <a:t> </a:t>
                </a:r>
                <a:r>
                  <a:rPr lang="en-US" sz="2000" baseline="0" dirty="0" err="1"/>
                  <a:t>preko</a:t>
                </a:r>
                <a:r>
                  <a:rPr lang="en-US" sz="2000" baseline="0" dirty="0"/>
                  <a:t> </a:t>
                </a:r>
                <a:r>
                  <a:rPr lang="en-US" sz="2000" baseline="0" dirty="0" err="1"/>
                  <a:t>broja</a:t>
                </a:r>
                <a:r>
                  <a:rPr lang="en-US" sz="2000" baseline="0" dirty="0"/>
                  <a:t> </a:t>
                </a:r>
                <a:r>
                  <a:rPr lang="en-US" sz="2000" baseline="0" dirty="0" err="1"/>
                  <a:t>tačaka</a:t>
                </a:r>
                <a:r>
                  <a:rPr lang="en-US" sz="2000" baseline="0" dirty="0"/>
                  <a:t> </a:t>
                </a:r>
                <a:r>
                  <a:rPr lang="en-US" sz="2000" i="1" baseline="0" dirty="0"/>
                  <a:t>N</a:t>
                </a:r>
                <a:r>
                  <a:rPr lang="en-US" sz="2000" baseline="0" dirty="0"/>
                  <a:t> </a:t>
                </a:r>
                <a:r>
                  <a:rPr lang="en-US" sz="2000" baseline="0" dirty="0" err="1"/>
                  <a:t>izgleda</a:t>
                </a:r>
                <a:r>
                  <a:rPr lang="en-US" sz="2000" baseline="0" dirty="0"/>
                  <a:t> </a:t>
                </a:r>
                <a:r>
                  <a:rPr lang="en-US" sz="2000" baseline="0" dirty="0" err="1"/>
                  <a:t>kao</a:t>
                </a:r>
                <a:r>
                  <a:rPr lang="en-US" sz="2000" baseline="0" dirty="0"/>
                  <a:t> u </a:t>
                </a:r>
                <a:r>
                  <a:rPr lang="en-US" sz="2000" baseline="0" dirty="0" err="1"/>
                  <a:t>matrici</a:t>
                </a:r>
                <a:r>
                  <a:rPr lang="en-US" sz="2000" baseline="0" dirty="0"/>
                  <a:t> (2).</a:t>
                </a:r>
              </a:p>
              <a:p>
                <a:pPr marL="457200" indent="-457200">
                  <a:buFont typeface="+mj-lt"/>
                  <a:buAutoNum type="arabicPeriod"/>
                </a:pPr>
                <a:r>
                  <a:rPr lang="en-US" sz="2000" baseline="0" dirty="0"/>
                  <a:t>Operator 𝐷 se </a:t>
                </a:r>
                <a:r>
                  <a:rPr lang="en-US" sz="2000" baseline="0" dirty="0" err="1"/>
                  <a:t>implementira</a:t>
                </a:r>
                <a:r>
                  <a:rPr lang="en-US" sz="2000" baseline="0" dirty="0"/>
                  <a:t> </a:t>
                </a:r>
                <a:r>
                  <a:rPr lang="en-US" sz="2000" baseline="0" dirty="0" err="1"/>
                  <a:t>tako</a:t>
                </a:r>
                <a:r>
                  <a:rPr lang="en-US" sz="2000" baseline="0" dirty="0"/>
                  <a:t> </a:t>
                </a:r>
                <a:r>
                  <a:rPr lang="en-US" sz="2000" baseline="0" dirty="0" err="1"/>
                  <a:t>što</a:t>
                </a:r>
                <a:r>
                  <a:rPr lang="en-US" sz="2000" baseline="0" dirty="0"/>
                  <a:t> se u </a:t>
                </a:r>
                <a:r>
                  <a:rPr lang="en-US" sz="2000" baseline="0" dirty="0" err="1"/>
                  <a:t>sendvič</a:t>
                </a:r>
                <a:r>
                  <a:rPr lang="en-US" sz="2000" baseline="0" dirty="0"/>
                  <a:t> </a:t>
                </a:r>
                <a:r>
                  <a:rPr lang="en-US" sz="2000" baseline="0" dirty="0" err="1"/>
                  <a:t>izmedju</a:t>
                </a:r>
                <a:r>
                  <a:rPr lang="en-US" sz="2000" baseline="0" dirty="0"/>
                  <a:t> </a:t>
                </a:r>
                <a:r>
                  <a:rPr lang="en-US" sz="2000" baseline="0" dirty="0" err="1"/>
                  <a:t>dva</a:t>
                </a:r>
                <a:r>
                  <a:rPr lang="en-US" sz="2000" baseline="0" dirty="0"/>
                  <a:t> </a:t>
                </a:r>
                <a:r>
                  <a:rPr lang="sr-Latn-RS" sz="2000" b="0" i="0">
                    <a:latin typeface="Cambria Math" panose="02040503050406030204" pitchFamily="18" charset="0"/>
                  </a:rPr>
                  <a:t>𝐻</a:t>
                </a:r>
                <a:r>
                  <a:rPr lang="en-US" sz="2000" baseline="0" dirty="0"/>
                  <a:t> </a:t>
                </a:r>
                <a:r>
                  <a:rPr lang="en-US" sz="2000" baseline="0" dirty="0" err="1"/>
                  <a:t>operatora</a:t>
                </a:r>
                <a:r>
                  <a:rPr lang="en-US" sz="2000" baseline="0" dirty="0"/>
                  <a:t> </a:t>
                </a:r>
                <a:r>
                  <a:rPr lang="en-US" sz="2000" baseline="0" dirty="0" err="1"/>
                  <a:t>stavi</a:t>
                </a:r>
                <a:r>
                  <a:rPr lang="en-US" sz="2000" baseline="0" dirty="0"/>
                  <a:t> </a:t>
                </a:r>
                <a:r>
                  <a:rPr lang="en-US" sz="2000" baseline="0" dirty="0" err="1"/>
                  <a:t>dijagonalna</a:t>
                </a:r>
                <a:r>
                  <a:rPr lang="en-US" sz="2000" baseline="0" dirty="0"/>
                  <a:t> </a:t>
                </a:r>
                <a:r>
                  <a:rPr lang="en-US" sz="2000" baseline="0" dirty="0" err="1"/>
                  <a:t>matrica</a:t>
                </a:r>
                <a:r>
                  <a:rPr lang="en-US" sz="2000" baseline="0" dirty="0"/>
                  <a:t> </a:t>
                </a:r>
                <a:r>
                  <a:rPr lang="en-US" sz="2000" baseline="0" dirty="0" err="1"/>
                  <a:t>sa</a:t>
                </a:r>
                <a:r>
                  <a:rPr lang="en-US" sz="2000" baseline="0" dirty="0"/>
                  <a:t> </a:t>
                </a:r>
                <a:r>
                  <a:rPr lang="en-US" sz="2000" baseline="0" dirty="0" err="1"/>
                  <a:t>vrednostima</a:t>
                </a:r>
                <a:r>
                  <a:rPr lang="en-US" sz="2000" baseline="0" dirty="0"/>
                  <a:t> -1, </a:t>
                </a:r>
                <a:r>
                  <a:rPr lang="en-US" sz="2000" baseline="0" dirty="0" err="1"/>
                  <a:t>osim</a:t>
                </a:r>
                <a:r>
                  <a:rPr lang="en-US" sz="2000" baseline="0" dirty="0"/>
                  <a:t> </a:t>
                </a:r>
                <a:r>
                  <a:rPr lang="en-US" sz="2000" baseline="0" dirty="0" err="1"/>
                  <a:t>prvog</a:t>
                </a:r>
                <a:r>
                  <a:rPr lang="en-US" sz="2000" baseline="0" dirty="0"/>
                  <a:t> </a:t>
                </a:r>
                <a:r>
                  <a:rPr lang="en-US" sz="2000" baseline="0" dirty="0" err="1"/>
                  <a:t>elementa</a:t>
                </a:r>
                <a:r>
                  <a:rPr lang="en-US" sz="2000" baseline="0" dirty="0"/>
                  <a:t> </a:t>
                </a:r>
                <a:r>
                  <a:rPr lang="en-US" sz="2000" baseline="0" dirty="0" err="1"/>
                  <a:t>koji</a:t>
                </a:r>
                <a:r>
                  <a:rPr lang="en-US" sz="2000" baseline="0" dirty="0"/>
                  <a:t> </a:t>
                </a:r>
                <a:r>
                  <a:rPr lang="en-US" sz="2000" baseline="0" dirty="0" err="1"/>
                  <a:t>je</a:t>
                </a:r>
                <a:r>
                  <a:rPr lang="en-US" sz="2000" baseline="0" dirty="0"/>
                  <a:t> +1. Ova se </a:t>
                </a:r>
                <a:r>
                  <a:rPr lang="en-US" sz="2000" baseline="0" dirty="0" err="1"/>
                  <a:t>matrica</a:t>
                </a:r>
                <a:r>
                  <a:rPr lang="en-US" sz="2000" baseline="0" dirty="0"/>
                  <a:t> </a:t>
                </a:r>
                <a:r>
                  <a:rPr lang="en-US" sz="2000" baseline="0" dirty="0" err="1"/>
                  <a:t>naziva</a:t>
                </a:r>
                <a:r>
                  <a:rPr lang="en-US" sz="2000" baseline="0" dirty="0"/>
                  <a:t> operator </a:t>
                </a:r>
                <a:r>
                  <a:rPr lang="en-US" sz="2000" baseline="0" dirty="0" err="1"/>
                  <a:t>refleksije</a:t>
                </a:r>
                <a:r>
                  <a:rPr lang="en-US" sz="2000" baseline="0" dirty="0"/>
                  <a:t> </a:t>
                </a:r>
                <a:r>
                  <a:rPr lang="en-US" sz="2000" baseline="0" dirty="0" err="1"/>
                  <a:t>i</a:t>
                </a:r>
                <a:r>
                  <a:rPr lang="en-US" sz="2000" baseline="0" dirty="0"/>
                  <a:t> </a:t>
                </a:r>
                <a:r>
                  <a:rPr lang="en-US" sz="2000" baseline="0" dirty="0" err="1"/>
                  <a:t>obelezava</a:t>
                </a:r>
                <a:r>
                  <a:rPr lang="en-US" sz="2000" baseline="0" dirty="0"/>
                  <a:t> </a:t>
                </a:r>
                <a:r>
                  <a:rPr lang="en-US" sz="2000" baseline="0" dirty="0" err="1"/>
                  <a:t>sa</a:t>
                </a:r>
                <a:r>
                  <a:rPr lang="en-US" sz="2000" baseline="0" dirty="0"/>
                  <a:t> </a:t>
                </a:r>
                <a:r>
                  <a:rPr lang="sr-Latn-RS" sz="2000" b="0" i="0">
                    <a:latin typeface="Cambria Math" panose="02040503050406030204" pitchFamily="18" charset="0"/>
                  </a:rPr>
                  <a:t>𝑅</a:t>
                </a:r>
                <a:r>
                  <a:rPr lang="en-US" sz="2000" baseline="0" dirty="0"/>
                  <a:t> </a:t>
                </a:r>
                <a:r>
                  <a:rPr lang="en-US" sz="2000" baseline="0" dirty="0" err="1"/>
                  <a:t>kao</a:t>
                </a:r>
                <a:r>
                  <a:rPr lang="en-US" sz="2000" baseline="0" dirty="0"/>
                  <a:t> u </a:t>
                </a:r>
                <a:r>
                  <a:rPr lang="en-US" sz="2000" baseline="0" dirty="0" err="1"/>
                  <a:t>izrazu</a:t>
                </a:r>
                <a:r>
                  <a:rPr lang="en-US" sz="2000" baseline="0" dirty="0"/>
                  <a:t> (3).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13</a:t>
            </a:fld>
            <a:endParaRPr lang="en-US"/>
          </a:p>
        </p:txBody>
      </p:sp>
    </p:spTree>
    <p:extLst>
      <p:ext uri="{BB962C8B-B14F-4D97-AF65-F5344CB8AC3E}">
        <p14:creationId xmlns:p14="http://schemas.microsoft.com/office/powerpoint/2010/main" val="2738561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mj-lt"/>
                  <a:buNone/>
                </a:pPr>
                <a:r>
                  <a:rPr lang="en-ZA" dirty="0"/>
                  <a:t>The diffusion operator can be constructed from the equal superposition state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𝑆</m:t>
                        </m:r>
                      </m:e>
                    </m:d>
                  </m:oMath>
                </a14:m>
                <a:r>
                  <a:rPr lang="en-ZA" dirty="0"/>
                  <a:t>, where every basis state has the same amplitude </a:t>
                </a:r>
                <a14:m>
                  <m:oMath xmlns:m="http://schemas.openxmlformats.org/officeDocument/2006/math">
                    <m:r>
                      <a:rPr lang="en-US" sz="1200" b="0" i="0" smtClean="0">
                        <a:latin typeface="Cambria Math" panose="02040503050406030204" pitchFamily="18" charset="0"/>
                      </a:rPr>
                      <m:t>1/</m:t>
                    </m:r>
                    <m:rad>
                      <m:radPr>
                        <m:degHide m:val="on"/>
                        <m:ctrlPr>
                          <a:rPr lang="en-US" sz="1200" i="1" smtClean="0">
                            <a:latin typeface="Cambria Math" panose="02040503050406030204" pitchFamily="18" charset="0"/>
                          </a:rPr>
                        </m:ctrlPr>
                      </m:radPr>
                      <m:deg/>
                      <m:e>
                        <m:r>
                          <a:rPr lang="en-US" sz="1200" i="1">
                            <a:latin typeface="Cambria Math" panose="02040503050406030204" pitchFamily="18" charset="0"/>
                          </a:rPr>
                          <m:t>𝑁</m:t>
                        </m:r>
                      </m:e>
                    </m:rad>
                  </m:oMath>
                </a14:m>
                <a:r>
                  <a:rPr lang="en-ZA" dirty="0"/>
                  <a:t>​.</a:t>
                </a:r>
              </a:p>
              <a:p>
                <a:pPr marL="0" indent="0" algn="just">
                  <a:buFont typeface="+mj-lt"/>
                  <a:buNone/>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𝑆</m:t>
                          </m:r>
                        </m:e>
                      </m:d>
                      <m:r>
                        <a:rPr lang="en-US" sz="1200" b="0" i="1" smtClean="0">
                          <a:latin typeface="Cambria Math" panose="02040503050406030204" pitchFamily="18" charset="0"/>
                        </a:rPr>
                        <m:t>=</m:t>
                      </m:r>
                      <m:d>
                        <m:dPr>
                          <m:ctrlPr>
                            <a:rPr lang="en-US" sz="1200" i="1" smtClean="0">
                              <a:latin typeface="Cambria Math" panose="02040503050406030204" pitchFamily="18" charset="0"/>
                            </a:rPr>
                          </m:ctrlPr>
                        </m:dPr>
                        <m:e>
                          <m:m>
                            <m:mPr>
                              <m:mcs>
                                <m:mc>
                                  <m:mcPr>
                                    <m:count m:val="1"/>
                                    <m:mcJc m:val="center"/>
                                  </m:mcPr>
                                </m:mc>
                              </m:mcs>
                              <m:ctrlPr>
                                <a:rPr lang="en-US" sz="1200" i="1" smtClean="0">
                                  <a:latin typeface="Cambria Math" panose="02040503050406030204" pitchFamily="18" charset="0"/>
                                </a:rPr>
                              </m:ctrlPr>
                            </m:mPr>
                            <m:mr>
                              <m:e>
                                <m:f>
                                  <m:fPr>
                                    <m:ctrlPr>
                                      <a:rPr lang="en-US" sz="1200" i="1">
                                        <a:latin typeface="Cambria Math" panose="02040503050406030204" pitchFamily="18" charset="0"/>
                                      </a:rPr>
                                    </m:ctrlPr>
                                  </m:fPr>
                                  <m:num>
                                    <m:r>
                                      <a:rPr lang="en-US" sz="1200">
                                        <a:latin typeface="Cambria Math" panose="02040503050406030204" pitchFamily="18" charset="0"/>
                                      </a:rPr>
                                      <m:t>1</m:t>
                                    </m:r>
                                  </m:num>
                                  <m:den>
                                    <m:rad>
                                      <m:radPr>
                                        <m:degHide m:val="on"/>
                                        <m:ctrlPr>
                                          <a:rPr lang="en-US" sz="1200" i="1">
                                            <a:latin typeface="Cambria Math" panose="02040503050406030204" pitchFamily="18" charset="0"/>
                                          </a:rPr>
                                        </m:ctrlPr>
                                      </m:radPr>
                                      <m:deg/>
                                      <m:e>
                                        <m:r>
                                          <a:rPr lang="en-US" sz="1200" i="1">
                                            <a:latin typeface="Cambria Math" panose="02040503050406030204" pitchFamily="18" charset="0"/>
                                          </a:rPr>
                                          <m:t>𝑁</m:t>
                                        </m:r>
                                      </m:e>
                                    </m:rad>
                                  </m:den>
                                </m:f>
                              </m:e>
                            </m:mr>
                            <m:mr>
                              <m:e>
                                <m:r>
                                  <a:rPr lang="en-US" sz="1200" i="1" smtClean="0">
                                    <a:latin typeface="Cambria Math" panose="02040503050406030204" pitchFamily="18" charset="0"/>
                                    <a:ea typeface="Cambria Math" panose="02040503050406030204" pitchFamily="18" charset="0"/>
                                  </a:rPr>
                                  <m:t>⋮</m:t>
                                </m:r>
                              </m:e>
                            </m:mr>
                            <m:mr>
                              <m:e>
                                <m:f>
                                  <m:fPr>
                                    <m:ctrlPr>
                                      <a:rPr lang="en-US" sz="1200" i="1">
                                        <a:latin typeface="Cambria Math" panose="02040503050406030204" pitchFamily="18" charset="0"/>
                                      </a:rPr>
                                    </m:ctrlPr>
                                  </m:fPr>
                                  <m:num>
                                    <m:r>
                                      <a:rPr lang="en-US" sz="1200">
                                        <a:latin typeface="Cambria Math" panose="02040503050406030204" pitchFamily="18" charset="0"/>
                                      </a:rPr>
                                      <m:t>1</m:t>
                                    </m:r>
                                  </m:num>
                                  <m:den>
                                    <m:rad>
                                      <m:radPr>
                                        <m:degHide m:val="on"/>
                                        <m:ctrlPr>
                                          <a:rPr lang="en-US" sz="1200" i="1">
                                            <a:latin typeface="Cambria Math" panose="02040503050406030204" pitchFamily="18" charset="0"/>
                                          </a:rPr>
                                        </m:ctrlPr>
                                      </m:radPr>
                                      <m:deg/>
                                      <m:e>
                                        <m:r>
                                          <a:rPr lang="en-US" sz="1200" i="1">
                                            <a:latin typeface="Cambria Math" panose="02040503050406030204" pitchFamily="18" charset="0"/>
                                          </a:rPr>
                                          <m:t>𝑁</m:t>
                                        </m:r>
                                      </m:e>
                                    </m:rad>
                                  </m:den>
                                </m:f>
                              </m:e>
                            </m:mr>
                          </m:m>
                        </m:e>
                      </m:d>
                    </m:oMath>
                  </m:oMathPara>
                </a14:m>
                <a:endParaRPr lang="en-ZA" dirty="0"/>
              </a:p>
              <a:p>
                <a:pPr marL="0" indent="0" algn="just">
                  <a:buFont typeface="+mj-lt"/>
                  <a:buNone/>
                </a:pPr>
                <a:r>
                  <a:rPr lang="en-ZA" dirty="0"/>
                  <a:t>Taking the outer product of this state with itself gives a matrix in which every element is </a:t>
                </a:r>
                <a14:m>
                  <m:oMath xmlns:m="http://schemas.openxmlformats.org/officeDocument/2006/math">
                    <m:r>
                      <a:rPr lang="en-US" sz="1200" b="0" i="0" smtClean="0">
                        <a:latin typeface="Cambria Math" panose="02040503050406030204" pitchFamily="18" charset="0"/>
                      </a:rPr>
                      <m:t>1/</m:t>
                    </m:r>
                    <m:r>
                      <a:rPr lang="en-US" sz="1200" i="1" smtClean="0">
                        <a:latin typeface="Cambria Math" panose="02040503050406030204" pitchFamily="18" charset="0"/>
                      </a:rPr>
                      <m:t>𝑁</m:t>
                    </m:r>
                  </m:oMath>
                </a14:m>
                <a:r>
                  <a:rPr lang="en-ZA" dirty="0"/>
                  <a:t>:</a:t>
                </a:r>
              </a:p>
              <a:p>
                <a:pPr marL="0" indent="0" algn="just">
                  <a:buFont typeface="+mj-lt"/>
                  <a:buNone/>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𝑆</m:t>
                          </m:r>
                        </m:e>
                      </m:d>
                      <m:r>
                        <a:rPr lang="en-US" sz="1200" i="0">
                          <a:latin typeface="Cambria Math" panose="02040503050406030204" pitchFamily="18" charset="0"/>
                        </a:rPr>
                        <m:t>⟨</m:t>
                      </m:r>
                      <m:r>
                        <a:rPr lang="en-US" sz="1200" i="1">
                          <a:latin typeface="Cambria Math" panose="02040503050406030204" pitchFamily="18" charset="0"/>
                        </a:rPr>
                        <m:t>𝑆</m:t>
                      </m:r>
                      <m:r>
                        <a:rPr lang="en-US" sz="1200" i="0">
                          <a:latin typeface="Cambria Math" panose="02040503050406030204" pitchFamily="18" charset="0"/>
                        </a:rPr>
                        <m:t>|=</m:t>
                      </m:r>
                      <m:d>
                        <m:dPr>
                          <m:ctrlPr>
                            <a:rPr lang="en-US" sz="1200" i="1" smtClean="0">
                              <a:latin typeface="Cambria Math" panose="02040503050406030204" pitchFamily="18" charset="0"/>
                            </a:rPr>
                          </m:ctrlPr>
                        </m:dPr>
                        <m:e>
                          <m:m>
                            <m:mPr>
                              <m:plcHide m:val="on"/>
                              <m:mcs>
                                <m:mc>
                                  <m:mcPr>
                                    <m:count m:val="3"/>
                                    <m:mcJc m:val="center"/>
                                  </m:mcPr>
                                </m:mc>
                              </m:mcs>
                              <m:ctrlPr>
                                <a:rPr lang="en-US" sz="1200" i="1">
                                  <a:latin typeface="Cambria Math" panose="02040503050406030204" pitchFamily="18" charset="0"/>
                                </a:rPr>
                              </m:ctrlPr>
                            </m:mPr>
                            <m:mr>
                              <m:e>
                                <m:f>
                                  <m:fPr>
                                    <m:ctrlPr>
                                      <a:rPr lang="en-US" sz="1200" i="1">
                                        <a:latin typeface="Cambria Math" panose="02040503050406030204" pitchFamily="18" charset="0"/>
                                      </a:rPr>
                                    </m:ctrlPr>
                                  </m:fPr>
                                  <m:num>
                                    <m:r>
                                      <a:rPr lang="en-US" sz="1200" i="0">
                                        <a:latin typeface="Cambria Math" panose="02040503050406030204" pitchFamily="18" charset="0"/>
                                      </a:rPr>
                                      <m:t>1</m:t>
                                    </m:r>
                                  </m:num>
                                  <m:den>
                                    <m:r>
                                      <a:rPr lang="en-US" sz="1200" i="1">
                                        <a:latin typeface="Cambria Math" panose="02040503050406030204" pitchFamily="18" charset="0"/>
                                      </a:rPr>
                                      <m:t>𝑁</m:t>
                                    </m:r>
                                  </m:den>
                                </m:f>
                              </m:e>
                              <m:e>
                                <m:r>
                                  <a:rPr lang="en-US" sz="1200" i="0">
                                    <a:latin typeface="Cambria Math" panose="02040503050406030204" pitchFamily="18" charset="0"/>
                                  </a:rPr>
                                  <m:t>⋯</m:t>
                                </m:r>
                              </m:e>
                              <m:e>
                                <m:f>
                                  <m:fPr>
                                    <m:ctrlPr>
                                      <a:rPr lang="en-US" sz="1200" i="1">
                                        <a:latin typeface="Cambria Math" panose="02040503050406030204" pitchFamily="18" charset="0"/>
                                      </a:rPr>
                                    </m:ctrlPr>
                                  </m:fPr>
                                  <m:num>
                                    <m:r>
                                      <a:rPr lang="en-US" sz="1200" i="0">
                                        <a:latin typeface="Cambria Math" panose="02040503050406030204" pitchFamily="18" charset="0"/>
                                      </a:rPr>
                                      <m:t>1</m:t>
                                    </m:r>
                                  </m:num>
                                  <m:den>
                                    <m:r>
                                      <a:rPr lang="en-US" sz="1200" i="1">
                                        <a:latin typeface="Cambria Math" panose="02040503050406030204" pitchFamily="18" charset="0"/>
                                      </a:rPr>
                                      <m:t>𝑁</m:t>
                                    </m:r>
                                  </m:den>
                                </m:f>
                              </m:e>
                            </m:mr>
                            <m:mr>
                              <m:e>
                                <m:r>
                                  <a:rPr lang="en-US" sz="1200" i="0">
                                    <a:latin typeface="Cambria Math" panose="02040503050406030204" pitchFamily="18" charset="0"/>
                                  </a:rPr>
                                  <m:t>⋮</m:t>
                                </m:r>
                              </m:e>
                              <m:e>
                                <m:r>
                                  <a:rPr lang="en-US" sz="1200" i="0">
                                    <a:latin typeface="Cambria Math" panose="02040503050406030204" pitchFamily="18" charset="0"/>
                                  </a:rPr>
                                  <m:t>⋱</m:t>
                                </m:r>
                              </m:e>
                              <m:e>
                                <m:r>
                                  <a:rPr lang="en-US" sz="1200" i="0">
                                    <a:latin typeface="Cambria Math" panose="02040503050406030204" pitchFamily="18" charset="0"/>
                                  </a:rPr>
                                  <m:t>⋮</m:t>
                                </m:r>
                              </m:e>
                            </m:mr>
                            <m:mr>
                              <m:e>
                                <m:f>
                                  <m:fPr>
                                    <m:ctrlPr>
                                      <a:rPr lang="en-US" sz="1200" i="1">
                                        <a:latin typeface="Cambria Math" panose="02040503050406030204" pitchFamily="18" charset="0"/>
                                      </a:rPr>
                                    </m:ctrlPr>
                                  </m:fPr>
                                  <m:num>
                                    <m:r>
                                      <a:rPr lang="en-US" sz="1200" i="0">
                                        <a:latin typeface="Cambria Math" panose="02040503050406030204" pitchFamily="18" charset="0"/>
                                      </a:rPr>
                                      <m:t>1</m:t>
                                    </m:r>
                                  </m:num>
                                  <m:den>
                                    <m:r>
                                      <a:rPr lang="en-US" sz="1200" i="1">
                                        <a:latin typeface="Cambria Math" panose="02040503050406030204" pitchFamily="18" charset="0"/>
                                      </a:rPr>
                                      <m:t>𝑁</m:t>
                                    </m:r>
                                  </m:den>
                                </m:f>
                              </m:e>
                              <m:e>
                                <m:r>
                                  <a:rPr lang="en-US" sz="1200" i="0">
                                    <a:latin typeface="Cambria Math" panose="02040503050406030204" pitchFamily="18" charset="0"/>
                                  </a:rPr>
                                  <m:t>⋯</m:t>
                                </m:r>
                              </m:e>
                              <m:e>
                                <m:f>
                                  <m:fPr>
                                    <m:ctrlPr>
                                      <a:rPr lang="en-US" sz="1200" i="1">
                                        <a:latin typeface="Cambria Math" panose="02040503050406030204" pitchFamily="18" charset="0"/>
                                      </a:rPr>
                                    </m:ctrlPr>
                                  </m:fPr>
                                  <m:num>
                                    <m:r>
                                      <a:rPr lang="en-US" sz="1200" i="0">
                                        <a:latin typeface="Cambria Math" panose="02040503050406030204" pitchFamily="18" charset="0"/>
                                      </a:rPr>
                                      <m:t>1</m:t>
                                    </m:r>
                                  </m:num>
                                  <m:den>
                                    <m:r>
                                      <a:rPr lang="en-US" sz="1200" i="1">
                                        <a:latin typeface="Cambria Math" panose="02040503050406030204" pitchFamily="18" charset="0"/>
                                      </a:rPr>
                                      <m:t>𝑁</m:t>
                                    </m:r>
                                  </m:den>
                                </m:f>
                              </m:e>
                            </m:mr>
                          </m:m>
                        </m:e>
                      </m:d>
                    </m:oMath>
                  </m:oMathPara>
                </a14:m>
                <a:endParaRPr lang="en-ZA" dirty="0"/>
              </a:p>
              <a:p>
                <a:pPr marL="0" indent="0" algn="just">
                  <a:buFont typeface="+mj-lt"/>
                  <a:buNone/>
                </a:pPr>
                <a:r>
                  <a:rPr lang="en-ZA" b="0" dirty="0"/>
                  <a:t>Doubling the matrix and subtracting the identity </a:t>
                </a:r>
                <a:r>
                  <a:rPr lang="en-ZA" dirty="0"/>
                  <a:t>changes the diagonal elements from </a:t>
                </a:r>
                <a14:m>
                  <m:oMath xmlns:m="http://schemas.openxmlformats.org/officeDocument/2006/math">
                    <m:r>
                      <a:rPr lang="en-US" sz="1200" b="0" i="1" smtClean="0">
                        <a:latin typeface="Cambria Math" panose="02040503050406030204" pitchFamily="18" charset="0"/>
                      </a:rPr>
                      <m:t>2/</m:t>
                    </m:r>
                    <m:r>
                      <a:rPr lang="en-US" sz="1200" b="0" i="1" smtClean="0">
                        <a:latin typeface="Cambria Math" panose="02040503050406030204" pitchFamily="18" charset="0"/>
                      </a:rPr>
                      <m:t>𝑁</m:t>
                    </m:r>
                  </m:oMath>
                </a14:m>
                <a:r>
                  <a:rPr lang="en-ZA" dirty="0"/>
                  <a:t> to </a:t>
                </a:r>
                <a14:m>
                  <m:oMath xmlns:m="http://schemas.openxmlformats.org/officeDocument/2006/math">
                    <m:r>
                      <a:rPr lang="en-US" sz="1200" b="0" i="0" smtClean="0">
                        <a:latin typeface="Cambria Math" panose="02040503050406030204" pitchFamily="18" charset="0"/>
                      </a:rPr>
                      <m:t>(</m:t>
                    </m:r>
                    <m:r>
                      <a:rPr lang="en-US" sz="1200" b="0" i="1" smtClean="0">
                        <a:latin typeface="Cambria Math" panose="02040503050406030204" pitchFamily="18" charset="0"/>
                      </a:rPr>
                      <m:t>2/</m:t>
                    </m:r>
                    <m:r>
                      <a:rPr lang="en-US" sz="1200" b="0" i="1" smtClean="0">
                        <a:latin typeface="Cambria Math" panose="02040503050406030204" pitchFamily="18" charset="0"/>
                      </a:rPr>
                      <m:t>𝑁</m:t>
                    </m:r>
                    <m:r>
                      <a:rPr lang="en-US" sz="1200" b="0" i="1" smtClean="0">
                        <a:latin typeface="Cambria Math" panose="02040503050406030204" pitchFamily="18" charset="0"/>
                      </a:rPr>
                      <m:t>−1)</m:t>
                    </m:r>
                  </m:oMath>
                </a14:m>
                <a:r>
                  <a:rPr lang="en-ZA" dirty="0"/>
                  <a:t>, while all other elements remain </a:t>
                </a:r>
                <a14:m>
                  <m:oMath xmlns:m="http://schemas.openxmlformats.org/officeDocument/2006/math">
                    <m:r>
                      <a:rPr lang="en-US" sz="1200" b="0" i="1" smtClean="0">
                        <a:latin typeface="Cambria Math" panose="02040503050406030204" pitchFamily="18" charset="0"/>
                      </a:rPr>
                      <m:t>2/</m:t>
                    </m:r>
                    <m:r>
                      <a:rPr lang="en-US" sz="1200" b="0" i="1" smtClean="0">
                        <a:latin typeface="Cambria Math" panose="02040503050406030204" pitchFamily="18" charset="0"/>
                      </a:rPr>
                      <m:t>𝑁</m:t>
                    </m:r>
                  </m:oMath>
                </a14:m>
                <a:r>
                  <a:rPr lang="en-ZA" dirty="0"/>
                  <a:t>. The result is exactly the diffusion matrix introduced previously</a:t>
                </a:r>
              </a:p>
              <a:p>
                <a:pPr marL="0" marR="0" lvl="0" indent="0" algn="just" defTabSz="914400" rtl="0" eaLnBrk="1" fontAlgn="auto" latinLnBrk="0" hangingPunct="1">
                  <a:lnSpc>
                    <a:spcPct val="100000"/>
                  </a:lnSpc>
                  <a:spcBef>
                    <a:spcPts val="0"/>
                  </a:spcBef>
                  <a:spcAft>
                    <a:spcPts val="0"/>
                  </a:spcAft>
                  <a:buClrTx/>
                  <a:buSzTx/>
                  <a:buFont typeface="+mj-lt"/>
                  <a:buNone/>
                  <a:tabLst/>
                  <a:defRPr/>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𝐷</m:t>
                      </m:r>
                      <m:r>
                        <a:rPr lang="en-US" sz="1200" i="0">
                          <a:latin typeface="Cambria Math" panose="02040503050406030204" pitchFamily="18" charset="0"/>
                        </a:rPr>
                        <m:t>=2</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i="0">
                          <a:latin typeface="Cambria Math" panose="02040503050406030204" pitchFamily="18" charset="0"/>
                        </a:rPr>
                        <m:t>⟨</m:t>
                      </m:r>
                      <m:r>
                        <a:rPr lang="en-US" sz="1200" i="1">
                          <a:latin typeface="Cambria Math" panose="02040503050406030204" pitchFamily="18" charset="0"/>
                        </a:rPr>
                        <m:t>𝑆</m:t>
                      </m:r>
                      <m:r>
                        <a:rPr lang="en-US" sz="1200" i="0">
                          <a:latin typeface="Cambria Math" panose="02040503050406030204" pitchFamily="18" charset="0"/>
                        </a:rPr>
                        <m:t>|−</m:t>
                      </m:r>
                      <m:r>
                        <a:rPr lang="en-US" sz="1200" i="1">
                          <a:latin typeface="Cambria Math" panose="02040503050406030204" pitchFamily="18" charset="0"/>
                        </a:rPr>
                        <m:t>𝐼</m:t>
                      </m:r>
                    </m:oMath>
                  </m:oMathPara>
                </a14:m>
                <a:endParaRPr lang="en-US" sz="1200" dirty="0"/>
              </a:p>
              <a:p>
                <a:pPr algn="just"/>
                <a:r>
                  <a:rPr lang="en-ZA" dirty="0"/>
                  <a:t>Geometrically,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𝑆</m:t>
                        </m:r>
                      </m:e>
                    </m:d>
                    <m:r>
                      <a:rPr lang="en-US" sz="1200" i="0">
                        <a:latin typeface="Cambria Math" panose="02040503050406030204" pitchFamily="18" charset="0"/>
                      </a:rPr>
                      <m:t>⟨</m:t>
                    </m:r>
                    <m:r>
                      <a:rPr lang="en-US" sz="1200" i="1">
                        <a:latin typeface="Cambria Math" panose="02040503050406030204" pitchFamily="18" charset="0"/>
                      </a:rPr>
                      <m:t>𝑆</m:t>
                    </m:r>
                    <m:r>
                      <a:rPr lang="en-US" sz="1200" i="0">
                        <a:latin typeface="Cambria Math" panose="02040503050406030204" pitchFamily="18" charset="0"/>
                      </a:rPr>
                      <m:t>|</m:t>
                    </m:r>
                  </m:oMath>
                </a14:m>
                <a:r>
                  <a:rPr lang="en-ZA" dirty="0"/>
                  <a:t> projects the state onto the direction of the equal superposition. Doubling this projection and subtracting the original state reflects the state about that direction.</a:t>
                </a:r>
                <a:r>
                  <a:rPr lang="en-ZA" b="0" dirty="0"/>
                  <a:t> In terms of probability amplitudes, this produces the inversion about the mean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𝑎</m:t>
                        </m:r>
                      </m:e>
                      <m:sub>
                        <m:r>
                          <a:rPr lang="en-US" sz="1200" b="0" i="1" smtClean="0">
                            <a:latin typeface="Cambria Math" panose="02040503050406030204" pitchFamily="18" charset="0"/>
                          </a:rPr>
                          <m:t>𝑖</m:t>
                        </m:r>
                      </m:sub>
                    </m:sSub>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rPr>
                      <m:t>2</m:t>
                    </m:r>
                    <m:r>
                      <a:rPr lang="en-US" sz="1200" b="0" i="1" smtClean="0">
                        <a:latin typeface="Cambria Math" panose="02040503050406030204" pitchFamily="18" charset="0"/>
                      </a:rPr>
                      <m:t>𝑚</m:t>
                    </m:r>
                    <m:r>
                      <a:rPr lang="en-US" sz="1200" b="0" i="1" smtClean="0">
                        <a:latin typeface="Cambria Math" panose="02040503050406030204" pitchFamily="18" charset="0"/>
                      </a:rPr>
                      <m:t>−</m:t>
                    </m:r>
                    <m:sSub>
                      <m:sSubPr>
                        <m:ctrlPr>
                          <a:rPr lang="en-US" sz="1200" i="1" smtClean="0">
                            <a:latin typeface="Cambria Math" panose="02040503050406030204" pitchFamily="18" charset="0"/>
                          </a:rPr>
                        </m:ctrlPr>
                      </m:sSubPr>
                      <m:e>
                        <m:r>
                          <a:rPr lang="en-US" sz="1200" i="1">
                            <a:latin typeface="Cambria Math" panose="02040503050406030204" pitchFamily="18" charset="0"/>
                          </a:rPr>
                          <m:t>𝑎</m:t>
                        </m:r>
                      </m:e>
                      <m:sub>
                        <m:r>
                          <a:rPr lang="en-US" sz="1200" b="0" i="1" smtClean="0">
                            <a:latin typeface="Cambria Math" panose="02040503050406030204" pitchFamily="18" charset="0"/>
                          </a:rPr>
                          <m:t>𝑖</m:t>
                        </m:r>
                      </m:sub>
                    </m:sSub>
                  </m:oMath>
                </a14:m>
                <a:r>
                  <a:rPr lang="en-ZA" dirty="0"/>
                  <a:t>. This is why the diffusion operator is also called the </a:t>
                </a:r>
                <a:r>
                  <a:rPr lang="en-ZA" b="0" dirty="0"/>
                  <a:t>inversion-about-the-mean operator</a:t>
                </a:r>
                <a:r>
                  <a:rPr lang="en-ZA" dirty="0"/>
                  <a:t>.</a:t>
                </a:r>
              </a:p>
            </p:txBody>
          </p:sp>
        </mc:Choice>
        <mc:Fallback xmlns="">
          <p:sp>
            <p:nvSpPr>
              <p:cNvPr id="3" name="Notes Placeholder 2"/>
              <p:cNvSpPr>
                <a:spLocks noGrp="1"/>
              </p:cNvSpPr>
              <p:nvPr>
                <p:ph type="body" idx="1"/>
              </p:nvPr>
            </p:nvSpPr>
            <p:spPr/>
            <p:txBody>
              <a:bodyPr/>
              <a:lstStyle/>
              <a:p>
                <a:pPr algn="just"/>
                <a:r>
                  <a:rPr lang="en-US" dirty="0"/>
                  <a:t>To construct the diffusion operator, we begin with the equal superposition state of qubits, represented by a vector in which all amplitudes are equal to </a:t>
                </a:r>
                <a:r>
                  <a:rPr lang="en-US" sz="1200" i="0">
                    <a:latin typeface="Cambria Math" panose="02040503050406030204" pitchFamily="18" charset="0"/>
                  </a:rPr>
                  <a:t>1∕√𝑁</a:t>
                </a:r>
                <a:r>
                  <a:rPr lang="en-US" dirty="0"/>
                  <a:t>​, where </a:t>
                </a:r>
                <a:r>
                  <a:rPr lang="en-US" sz="1200" i="0">
                    <a:latin typeface="Cambria Math" panose="02040503050406030204" pitchFamily="18" charset="0"/>
                  </a:rPr>
                  <a:t>𝑁</a:t>
                </a:r>
                <a:r>
                  <a:rPr lang="en-US" dirty="0"/>
                  <a:t> is the number of basis states. By computing the outer product of this state vector with itself, we obtain a matrix in which all elements are equal to </a:t>
                </a:r>
                <a:r>
                  <a:rPr lang="en-US" sz="1200" i="0">
                    <a:latin typeface="Cambria Math" panose="02040503050406030204" pitchFamily="18" charset="0"/>
                  </a:rPr>
                  <a:t>1∕√𝑁</a:t>
                </a:r>
                <a:r>
                  <a:rPr lang="en-US" dirty="0"/>
                  <a:t>​.</a:t>
                </a:r>
              </a:p>
              <a:p>
                <a:pPr algn="just"/>
                <a:endParaRPr lang="en-US" dirty="0"/>
              </a:p>
              <a:p>
                <a:pPr algn="just"/>
                <a:r>
                  <a:rPr lang="en-US" dirty="0"/>
                  <a:t>If we multiply this matrix by 2 and subtract the identity matrix, we obtain Grover’s diffusion operator. In Dirac notation, this operator is expressed as:</a:t>
                </a:r>
                <a:r>
                  <a:rPr lang="en-US" baseline="0" dirty="0"/>
                  <a:t> </a:t>
                </a:r>
                <a:r>
                  <a:rPr lang="en-US" sz="1200" i="0">
                    <a:latin typeface="Cambria Math" panose="02040503050406030204" pitchFamily="18" charset="0"/>
                  </a:rPr>
                  <a:t>𝐷=2|𝑆⟩⟨𝑆|−𝐼</a:t>
                </a:r>
                <a:r>
                  <a:rPr lang="en-US" sz="1200" dirty="0"/>
                  <a:t> </a:t>
                </a:r>
                <a:r>
                  <a:rPr lang="en-US" dirty="0"/>
                  <a:t>where </a:t>
                </a:r>
                <a:r>
                  <a:rPr lang="en-US" sz="1200" i="0">
                    <a:latin typeface="Cambria Math" panose="02040503050406030204" pitchFamily="18" charset="0"/>
                  </a:rPr>
                  <a:t>|𝑆⟩</a:t>
                </a:r>
                <a:r>
                  <a:rPr lang="en-US" dirty="0"/>
                  <a:t> is the equal superposition state.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14</a:t>
            </a:fld>
            <a:endParaRPr lang="en-US"/>
          </a:p>
        </p:txBody>
      </p:sp>
    </p:spTree>
    <p:extLst>
      <p:ext uri="{BB962C8B-B14F-4D97-AF65-F5344CB8AC3E}">
        <p14:creationId xmlns:p14="http://schemas.microsoft.com/office/powerpoint/2010/main" val="5024564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Grover also showed that the diffusion operator can be constructed using two Hadamard layers with a simple reflection operator placed between them. This operator has +1 for the state </a:t>
                </a:r>
                <a14:m>
                  <m:oMath xmlns:m="http://schemas.openxmlformats.org/officeDocument/2006/math">
                    <m:d>
                      <m:dPr>
                        <m:begChr m:val="|"/>
                        <m:endChr m:val="⟩"/>
                        <m:ctrlPr>
                          <a:rPr lang="en-ZA" sz="1200" i="1" smtClean="0">
                            <a:latin typeface="Cambria Math" panose="02040503050406030204" pitchFamily="18" charset="0"/>
                          </a:rPr>
                        </m:ctrlPr>
                      </m:dPr>
                      <m:e>
                        <m:sSup>
                          <m:sSupPr>
                            <m:ctrlPr>
                              <a:rPr lang="en-ZA" sz="1200" i="1" smtClean="0">
                                <a:latin typeface="Cambria Math" panose="02040503050406030204" pitchFamily="18" charset="0"/>
                              </a:rPr>
                            </m:ctrlPr>
                          </m:sSupPr>
                          <m:e>
                            <m:r>
                              <a:rPr lang="en-US" sz="1200" b="0" i="1" smtClean="0">
                                <a:latin typeface="Cambria Math" panose="02040503050406030204" pitchFamily="18" charset="0"/>
                              </a:rPr>
                              <m:t>0</m:t>
                            </m:r>
                          </m:e>
                          <m:sup>
                            <m:r>
                              <a:rPr lang="en-US" sz="1200" b="0" i="1" smtClean="0">
                                <a:latin typeface="Cambria Math" panose="02040503050406030204" pitchFamily="18" charset="0"/>
                              </a:rPr>
                              <m:t>𝑛</m:t>
                            </m:r>
                          </m:sup>
                        </m:sSup>
                      </m:e>
                    </m:d>
                  </m:oMath>
                </a14:m>
                <a:r>
                  <a:rPr lang="en-ZA" dirty="0"/>
                  <a:t> and −1 for all other basis states.</a:t>
                </a:r>
              </a:p>
              <a:p>
                <a:pPr algn="just"/>
                <a:endParaRPr lang="en-ZA" dirty="0"/>
              </a:p>
              <a:p>
                <a:pPr algn="just"/>
                <a:r>
                  <a:rPr lang="en-ZA" dirty="0"/>
                  <a:t>In general, a reflection (formally </a:t>
                </a:r>
                <a:r>
                  <a:rPr lang="en-ZA" b="0" dirty="0"/>
                  <a:t>Householder reflection</a:t>
                </a:r>
                <a:r>
                  <a:rPr lang="en-ZA" dirty="0"/>
                  <a:t>) about a normalized state </a:t>
                </a:r>
                <a14:m>
                  <m:oMath xmlns:m="http://schemas.openxmlformats.org/officeDocument/2006/math">
                    <m:d>
                      <m:dPr>
                        <m:begChr m:val="|"/>
                        <m:endChr m:val="⟩"/>
                        <m:ctrlPr>
                          <a:rPr lang="en-ZA" sz="1200" i="1" smtClean="0">
                            <a:latin typeface="Cambria Math" panose="02040503050406030204" pitchFamily="18" charset="0"/>
                          </a:rPr>
                        </m:ctrlPr>
                      </m:dPr>
                      <m:e>
                        <m:r>
                          <a:rPr lang="en-US" sz="1200" i="1" smtClean="0">
                            <a:latin typeface="Cambria Math" panose="02040503050406030204" pitchFamily="18" charset="0"/>
                          </a:rPr>
                          <m:t>𝑣</m:t>
                        </m:r>
                      </m:e>
                    </m:d>
                  </m:oMath>
                </a14:m>
                <a:r>
                  <a:rPr lang="en-ZA" dirty="0"/>
                  <a:t> can be written as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𝑣</m:t>
                        </m:r>
                      </m:sub>
                    </m:sSub>
                    <m:r>
                      <a:rPr lang="en-US" sz="1200" b="0" i="0" smtClean="0">
                        <a:latin typeface="Cambria Math" panose="02040503050406030204" pitchFamily="18" charset="0"/>
                      </a:rPr>
                      <m:t>=</m:t>
                    </m:r>
                    <m:r>
                      <a:rPr lang="sr-Latn-RS" sz="1200" i="1" smtClean="0">
                        <a:latin typeface="Cambria Math" panose="02040503050406030204" pitchFamily="18" charset="0"/>
                      </a:rPr>
                      <m:t>2</m:t>
                    </m:r>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𝑣</m:t>
                        </m:r>
                      </m:e>
                    </m:d>
                    <m:r>
                      <a:rPr lang="sr-Latn-RS" sz="1200">
                        <a:latin typeface="Cambria Math" panose="02040503050406030204" pitchFamily="18" charset="0"/>
                      </a:rPr>
                      <m:t>⟨</m:t>
                    </m:r>
                    <m:r>
                      <a:rPr lang="en-US" sz="1200" b="0" i="1" smtClean="0">
                        <a:latin typeface="Cambria Math" panose="02040503050406030204" pitchFamily="18" charset="0"/>
                      </a:rPr>
                      <m:t>𝑣</m:t>
                    </m:r>
                    <m:r>
                      <a:rPr lang="sr-Latn-RS" sz="1200">
                        <a:latin typeface="Cambria Math" panose="02040503050406030204" pitchFamily="18" charset="0"/>
                      </a:rPr>
                      <m:t>|</m:t>
                    </m:r>
                    <m:r>
                      <a:rPr lang="sr-Latn-RS" sz="1200" i="1">
                        <a:latin typeface="Cambria Math" panose="02040503050406030204" pitchFamily="18" charset="0"/>
                      </a:rPr>
                      <m:t>−</m:t>
                    </m:r>
                    <m:r>
                      <a:rPr lang="sr-Latn-RS" sz="1200" i="1">
                        <a:latin typeface="Cambria Math" panose="02040503050406030204" pitchFamily="18" charset="0"/>
                      </a:rPr>
                      <m:t>𝐼</m:t>
                    </m:r>
                  </m:oMath>
                </a14:m>
                <a:r>
                  <a:rPr lang="en-ZA" dirty="0"/>
                  <a:t>. This operator leaves the component along </a:t>
                </a:r>
                <a14:m>
                  <m:oMath xmlns:m="http://schemas.openxmlformats.org/officeDocument/2006/math">
                    <m:d>
                      <m:dPr>
                        <m:begChr m:val="|"/>
                        <m:endChr m:val="⟩"/>
                        <m:ctrlPr>
                          <a:rPr lang="en-ZA" sz="1200" i="1" smtClean="0">
                            <a:latin typeface="Cambria Math" panose="02040503050406030204" pitchFamily="18" charset="0"/>
                          </a:rPr>
                        </m:ctrlPr>
                      </m:dPr>
                      <m:e>
                        <m:r>
                          <a:rPr lang="en-US" sz="1200" i="1" smtClean="0">
                            <a:latin typeface="Cambria Math" panose="02040503050406030204" pitchFamily="18" charset="0"/>
                          </a:rPr>
                          <m:t>𝑣</m:t>
                        </m:r>
                      </m:e>
                    </m:d>
                  </m:oMath>
                </a14:m>
                <a:r>
                  <a:rPr lang="en-ZA" dirty="0"/>
                  <a:t> unchanged and flips the sign of every component perpendicular to it.</a:t>
                </a:r>
              </a:p>
              <a:p>
                <a:pPr algn="just"/>
                <a:endParaRPr lang="en-ZA" dirty="0"/>
              </a:p>
              <a:p>
                <a:pPr algn="just"/>
                <a:r>
                  <a:rPr lang="en-ZA" dirty="0"/>
                  <a:t>For Grover’s diffuser, the reflection is performed about the all-zero state </a:t>
                </a:r>
                <a14:m>
                  <m:oMath xmlns:m="http://schemas.openxmlformats.org/officeDocument/2006/math">
                    <m:d>
                      <m:dPr>
                        <m:begChr m:val="|"/>
                        <m:endChr m:val="⟩"/>
                        <m:ctrlPr>
                          <a:rPr lang="en-ZA" sz="1200" i="1" smtClean="0">
                            <a:latin typeface="Cambria Math" panose="02040503050406030204" pitchFamily="18" charset="0"/>
                          </a:rPr>
                        </m:ctrlPr>
                      </m:dPr>
                      <m:e>
                        <m:sSup>
                          <m:sSupPr>
                            <m:ctrlPr>
                              <a:rPr lang="en-ZA" sz="1200" i="1" smtClean="0">
                                <a:latin typeface="Cambria Math" panose="02040503050406030204" pitchFamily="18" charset="0"/>
                              </a:rPr>
                            </m:ctrlPr>
                          </m:sSupPr>
                          <m:e>
                            <m:r>
                              <a:rPr lang="en-US" sz="1200" b="0" i="1" smtClean="0">
                                <a:latin typeface="Cambria Math" panose="02040503050406030204" pitchFamily="18" charset="0"/>
                              </a:rPr>
                              <m:t>0</m:t>
                            </m:r>
                          </m:e>
                          <m:sup>
                            <m:r>
                              <a:rPr lang="en-US" sz="1200" b="0" i="1" smtClean="0">
                                <a:latin typeface="Cambria Math" panose="02040503050406030204" pitchFamily="18" charset="0"/>
                              </a:rPr>
                              <m:t>𝑛</m:t>
                            </m:r>
                          </m:sup>
                        </m:sSup>
                      </m:e>
                    </m:d>
                  </m:oMath>
                </a14:m>
                <a:r>
                  <a:rPr lang="en-ZA" dirty="0"/>
                  <a:t>.</a:t>
                </a:r>
                <a:r>
                  <a:rPr lang="en-ZA" baseline="0" dirty="0"/>
                  <a:t> </a:t>
                </a:r>
                <a:r>
                  <a:rPr lang="en-ZA" dirty="0"/>
                  <a:t>Therefore, </a:t>
                </a:r>
                <a14:m>
                  <m:oMath xmlns:m="http://schemas.openxmlformats.org/officeDocument/2006/math">
                    <m:r>
                      <a:rPr lang="sr-Latn-RS" sz="1200" i="1" smtClean="0">
                        <a:latin typeface="Cambria Math" panose="02040503050406030204" pitchFamily="18" charset="0"/>
                      </a:rPr>
                      <m:t>𝑅</m:t>
                    </m:r>
                    <m:r>
                      <a:rPr lang="sr-Latn-RS" sz="1200" i="1" smtClean="0">
                        <a:latin typeface="Cambria Math" panose="02040503050406030204" pitchFamily="18" charset="0"/>
                      </a:rPr>
                      <m:t>=2</m:t>
                    </m:r>
                    <m:d>
                      <m:dPr>
                        <m:begChr m:val="|"/>
                        <m:endChr m:val="⟩"/>
                        <m:ctrlPr>
                          <a:rPr lang="en-ZA" sz="1200" i="1">
                            <a:latin typeface="Cambria Math" panose="02040503050406030204" pitchFamily="18" charset="0"/>
                          </a:rPr>
                        </m:ctrlPr>
                      </m:dPr>
                      <m:e>
                        <m:r>
                          <a:rPr lang="sr-Latn-RS" sz="1200" i="1">
                            <a:latin typeface="Cambria Math" panose="02040503050406030204" pitchFamily="18" charset="0"/>
                          </a:rPr>
                          <m:t>0</m:t>
                        </m:r>
                      </m:e>
                    </m:d>
                    <m:r>
                      <a:rPr lang="sr-Latn-RS" sz="1200">
                        <a:latin typeface="Cambria Math" panose="02040503050406030204" pitchFamily="18" charset="0"/>
                      </a:rPr>
                      <m:t>⟨</m:t>
                    </m:r>
                    <m:r>
                      <a:rPr lang="sr-Latn-RS" sz="1200" i="1">
                        <a:latin typeface="Cambria Math" panose="02040503050406030204" pitchFamily="18" charset="0"/>
                      </a:rPr>
                      <m:t>0</m:t>
                    </m:r>
                    <m:r>
                      <a:rPr lang="sr-Latn-RS" sz="1200">
                        <a:latin typeface="Cambria Math" panose="02040503050406030204" pitchFamily="18" charset="0"/>
                      </a:rPr>
                      <m:t>|</m:t>
                    </m:r>
                    <m:r>
                      <a:rPr lang="sr-Latn-RS" sz="1200" i="1">
                        <a:latin typeface="Cambria Math" panose="02040503050406030204" pitchFamily="18" charset="0"/>
                      </a:rPr>
                      <m:t>−</m:t>
                    </m:r>
                    <m:r>
                      <a:rPr lang="sr-Latn-RS" sz="1200" i="1">
                        <a:latin typeface="Cambria Math" panose="02040503050406030204" pitchFamily="18" charset="0"/>
                      </a:rPr>
                      <m:t>𝐼</m:t>
                    </m:r>
                  </m:oMath>
                </a14:m>
                <a:r>
                  <a:rPr lang="en-ZA" dirty="0"/>
                  <a:t>, </a:t>
                </a:r>
                <a:r>
                  <a:rPr lang="en-US" sz="1200" dirty="0"/>
                  <a:t>Since </a:t>
                </a:r>
                <a14:m>
                  <m:oMath xmlns:m="http://schemas.openxmlformats.org/officeDocument/2006/math">
                    <m:d>
                      <m:dPr>
                        <m:begChr m:val="|"/>
                        <m:endChr m:val="⟩"/>
                        <m:ctrlPr>
                          <a:rPr lang="en-ZA" sz="1200" i="1">
                            <a:latin typeface="Cambria Math" panose="02040503050406030204" pitchFamily="18" charset="0"/>
                          </a:rPr>
                        </m:ctrlPr>
                      </m:dPr>
                      <m:e>
                        <m:sSup>
                          <m:sSupPr>
                            <m:ctrlPr>
                              <a:rPr lang="en-ZA" sz="1200" i="1">
                                <a:latin typeface="Cambria Math" panose="02040503050406030204" pitchFamily="18" charset="0"/>
                              </a:rPr>
                            </m:ctrlPr>
                          </m:sSupPr>
                          <m:e>
                            <m:r>
                              <a:rPr lang="en-US" sz="1200" i="1">
                                <a:latin typeface="Cambria Math" panose="02040503050406030204" pitchFamily="18" charset="0"/>
                              </a:rPr>
                              <m:t>0</m:t>
                            </m:r>
                          </m:e>
                          <m:sup>
                            <m:r>
                              <a:rPr lang="en-US" sz="1200" i="1">
                                <a:latin typeface="Cambria Math" panose="02040503050406030204" pitchFamily="18" charset="0"/>
                              </a:rPr>
                              <m:t>𝑛</m:t>
                            </m:r>
                          </m:sup>
                        </m:sSup>
                      </m:e>
                    </m:d>
                    <m:r>
                      <a:rPr lang="sr-Latn-RS" sz="1200">
                        <a:latin typeface="Cambria Math" panose="02040503050406030204" pitchFamily="18" charset="0"/>
                      </a:rPr>
                      <m:t>⟨</m:t>
                    </m:r>
                    <m:sSup>
                      <m:sSupPr>
                        <m:ctrlPr>
                          <a:rPr lang="en-ZA" sz="1200" i="1">
                            <a:latin typeface="Cambria Math" panose="02040503050406030204" pitchFamily="18" charset="0"/>
                          </a:rPr>
                        </m:ctrlPr>
                      </m:sSupPr>
                      <m:e>
                        <m:r>
                          <a:rPr lang="en-US" sz="1200" i="1">
                            <a:latin typeface="Cambria Math" panose="02040503050406030204" pitchFamily="18" charset="0"/>
                          </a:rPr>
                          <m:t>0</m:t>
                        </m:r>
                      </m:e>
                      <m:sup>
                        <m:r>
                          <a:rPr lang="en-US" sz="1200" i="1">
                            <a:latin typeface="Cambria Math" panose="02040503050406030204" pitchFamily="18" charset="0"/>
                          </a:rPr>
                          <m:t>𝑛</m:t>
                        </m:r>
                      </m:sup>
                    </m:sSup>
                    <m:r>
                      <a:rPr lang="sr-Latn-RS" sz="1200">
                        <a:latin typeface="Cambria Math" panose="02040503050406030204" pitchFamily="18" charset="0"/>
                      </a:rPr>
                      <m:t>|</m:t>
                    </m:r>
                    <m:r>
                      <a:rPr lang="en-US" sz="1200" b="0" i="0" smtClean="0">
                        <a:latin typeface="Cambria Math" panose="02040503050406030204" pitchFamily="18" charset="0"/>
                      </a:rPr>
                      <m:t>=</m:t>
                    </m:r>
                    <m:r>
                      <m:rPr>
                        <m:sty m:val="p"/>
                      </m:rPr>
                      <a:rPr lang="en-US" sz="1200" b="0" i="0" smtClean="0">
                        <a:latin typeface="Cambria Math" panose="02040503050406030204" pitchFamily="18" charset="0"/>
                      </a:rPr>
                      <m:t>diag</m:t>
                    </m:r>
                    <m:d>
                      <m:dPr>
                        <m:ctrlPr>
                          <a:rPr lang="en-US" sz="1200" i="1">
                            <a:latin typeface="Cambria Math" panose="02040503050406030204" pitchFamily="18" charset="0"/>
                          </a:rPr>
                        </m:ctrlPr>
                      </m:dPr>
                      <m:e>
                        <m:r>
                          <a:rPr lang="en-US" sz="1200" i="1">
                            <a:latin typeface="Cambria Math" panose="02040503050406030204" pitchFamily="18" charset="0"/>
                          </a:rPr>
                          <m:t>1,</m:t>
                        </m:r>
                        <m:r>
                          <a:rPr lang="en-US" sz="1200" b="0" i="1" smtClean="0">
                            <a:latin typeface="Cambria Math" panose="02040503050406030204" pitchFamily="18" charset="0"/>
                          </a:rPr>
                          <m:t>0</m:t>
                        </m:r>
                        <m:r>
                          <a:rPr lang="en-US" sz="1200"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rPr>
                          <m:t>,</m:t>
                        </m:r>
                        <m:r>
                          <a:rPr lang="en-US" sz="1200" b="0" i="1" smtClean="0">
                            <a:latin typeface="Cambria Math" panose="02040503050406030204" pitchFamily="18" charset="0"/>
                          </a:rPr>
                          <m:t>0</m:t>
                        </m:r>
                      </m:e>
                    </m:d>
                  </m:oMath>
                </a14:m>
                <a:r>
                  <a:rPr lang="en-US" sz="1200" dirty="0"/>
                  <a:t>, we get</a:t>
                </a:r>
                <a:r>
                  <a:rPr lang="en-US" sz="1200" baseline="0" dirty="0"/>
                  <a:t> </a:t>
                </a:r>
                <a14:m>
                  <m:oMath xmlns:m="http://schemas.openxmlformats.org/officeDocument/2006/math">
                    <m:r>
                      <a:rPr lang="sr-Latn-RS" sz="1200" i="1">
                        <a:latin typeface="Cambria Math" panose="02040503050406030204" pitchFamily="18" charset="0"/>
                      </a:rPr>
                      <m:t>𝑅</m:t>
                    </m:r>
                    <m:r>
                      <a:rPr lang="sr-Latn-RS" sz="1200" i="1">
                        <a:latin typeface="Cambria Math" panose="02040503050406030204" pitchFamily="18" charset="0"/>
                      </a:rPr>
                      <m:t>=</m:t>
                    </m:r>
                    <m:r>
                      <m:rPr>
                        <m:sty m:val="p"/>
                      </m:rPr>
                      <a:rPr lang="en-US" sz="1200">
                        <a:latin typeface="Cambria Math" panose="02040503050406030204" pitchFamily="18" charset="0"/>
                      </a:rPr>
                      <m:t>diag</m:t>
                    </m:r>
                    <m:d>
                      <m:dPr>
                        <m:ctrlPr>
                          <a:rPr lang="en-US" sz="1200" i="1">
                            <a:latin typeface="Cambria Math" panose="02040503050406030204" pitchFamily="18" charset="0"/>
                          </a:rPr>
                        </m:ctrlPr>
                      </m:dPr>
                      <m:e>
                        <m:r>
                          <a:rPr lang="en-US" sz="1200" i="1">
                            <a:latin typeface="Cambria Math" panose="02040503050406030204" pitchFamily="18" charset="0"/>
                          </a:rPr>
                          <m:t>1,−1,</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rPr>
                          <m:t>,−1</m:t>
                        </m:r>
                      </m:e>
                    </m:d>
                  </m:oMath>
                </a14:m>
                <a:r>
                  <a:rPr lang="en-ZA" dirty="0"/>
                  <a:t>. The</a:t>
                </a:r>
                <a:r>
                  <a:rPr lang="en-ZA" baseline="0" dirty="0"/>
                  <a:t> matrix </a:t>
                </a:r>
                <a14:m>
                  <m:oMath xmlns:m="http://schemas.openxmlformats.org/officeDocument/2006/math">
                    <m:r>
                      <a:rPr lang="sr-Latn-RS" sz="1200" i="1" smtClean="0">
                        <a:latin typeface="Cambria Math" panose="02040503050406030204" pitchFamily="18" charset="0"/>
                      </a:rPr>
                      <m:t>𝑅</m:t>
                    </m:r>
                  </m:oMath>
                </a14:m>
                <a:r>
                  <a:rPr lang="en-ZA" dirty="0"/>
                  <a:t> has +1 for the state </a:t>
                </a:r>
                <a14:m>
                  <m:oMath xmlns:m="http://schemas.openxmlformats.org/officeDocument/2006/math">
                    <m:d>
                      <m:dPr>
                        <m:begChr m:val="|"/>
                        <m:endChr m:val="⟩"/>
                        <m:ctrlPr>
                          <a:rPr lang="en-ZA" sz="1200" i="1" smtClean="0">
                            <a:latin typeface="Cambria Math" panose="02040503050406030204" pitchFamily="18" charset="0"/>
                          </a:rPr>
                        </m:ctrlPr>
                      </m:dPr>
                      <m:e>
                        <m:sSup>
                          <m:sSupPr>
                            <m:ctrlPr>
                              <a:rPr lang="en-ZA" sz="1200" i="1" smtClean="0">
                                <a:latin typeface="Cambria Math" panose="02040503050406030204" pitchFamily="18" charset="0"/>
                              </a:rPr>
                            </m:ctrlPr>
                          </m:sSupPr>
                          <m:e>
                            <m:r>
                              <a:rPr lang="en-US" sz="1200" b="0" i="1" smtClean="0">
                                <a:latin typeface="Cambria Math" panose="02040503050406030204" pitchFamily="18" charset="0"/>
                              </a:rPr>
                              <m:t>0</m:t>
                            </m:r>
                          </m:e>
                          <m:sup>
                            <m:r>
                              <a:rPr lang="en-US" sz="1200" b="0" i="1" smtClean="0">
                                <a:latin typeface="Cambria Math" panose="02040503050406030204" pitchFamily="18" charset="0"/>
                              </a:rPr>
                              <m:t>𝑛</m:t>
                            </m:r>
                          </m:sup>
                        </m:sSup>
                      </m:e>
                    </m:d>
                  </m:oMath>
                </a14:m>
                <a:r>
                  <a:rPr lang="en-ZA" dirty="0"/>
                  <a:t> and -1 for all other basis states.</a:t>
                </a:r>
              </a:p>
              <a:p>
                <a:pPr algn="just"/>
                <a:endParaRPr lang="en-ZA" dirty="0"/>
              </a:p>
              <a:p>
                <a:pPr algn="just"/>
                <a:r>
                  <a:rPr lang="en-ZA" dirty="0"/>
                  <a:t>The Hadamard layers transform the reflection about </a:t>
                </a:r>
                <a14:m>
                  <m:oMath xmlns:m="http://schemas.openxmlformats.org/officeDocument/2006/math">
                    <m:d>
                      <m:dPr>
                        <m:begChr m:val="|"/>
                        <m:endChr m:val="⟩"/>
                        <m:ctrlPr>
                          <a:rPr lang="en-ZA" sz="1200" i="1" smtClean="0">
                            <a:latin typeface="Cambria Math" panose="02040503050406030204" pitchFamily="18" charset="0"/>
                          </a:rPr>
                        </m:ctrlPr>
                      </m:dPr>
                      <m:e>
                        <m:sSup>
                          <m:sSupPr>
                            <m:ctrlPr>
                              <a:rPr lang="en-ZA" sz="1200" i="1" smtClean="0">
                                <a:latin typeface="Cambria Math" panose="02040503050406030204" pitchFamily="18" charset="0"/>
                              </a:rPr>
                            </m:ctrlPr>
                          </m:sSupPr>
                          <m:e>
                            <m:r>
                              <a:rPr lang="en-US" sz="1200" b="0" i="1" smtClean="0">
                                <a:latin typeface="Cambria Math" panose="02040503050406030204" pitchFamily="18" charset="0"/>
                              </a:rPr>
                              <m:t>0</m:t>
                            </m:r>
                          </m:e>
                          <m:sup>
                            <m:r>
                              <a:rPr lang="en-US" sz="1200" b="0" i="1" smtClean="0">
                                <a:latin typeface="Cambria Math" panose="02040503050406030204" pitchFamily="18" charset="0"/>
                              </a:rPr>
                              <m:t>𝑛</m:t>
                            </m:r>
                          </m:sup>
                        </m:sSup>
                      </m:e>
                    </m:d>
                  </m:oMath>
                </a14:m>
                <a:r>
                  <a:rPr lang="en-ZA" dirty="0"/>
                  <a:t> into a reflection about the equal-superposition state </a:t>
                </a:r>
                <a14:m>
                  <m:oMath xmlns:m="http://schemas.openxmlformats.org/officeDocument/2006/math">
                    <m:d>
                      <m:dPr>
                        <m:begChr m:val="|"/>
                        <m:endChr m:val="⟩"/>
                        <m:ctrlPr>
                          <a:rPr lang="en-ZA" sz="1200" i="1" smtClean="0">
                            <a:latin typeface="Cambria Math" panose="02040503050406030204" pitchFamily="18" charset="0"/>
                          </a:rPr>
                        </m:ctrlPr>
                      </m:dPr>
                      <m:e>
                        <m:r>
                          <a:rPr lang="en-US" sz="1200" b="0" i="1" smtClean="0">
                            <a:latin typeface="Cambria Math" panose="02040503050406030204" pitchFamily="18" charset="0"/>
                          </a:rPr>
                          <m:t>𝑆</m:t>
                        </m:r>
                      </m:e>
                    </m:d>
                  </m:oMath>
                </a14:m>
                <a:r>
                  <a:rPr lang="en-ZA" dirty="0"/>
                  <a:t>, producing the diffusion operator:</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𝐷</m:t>
                      </m:r>
                      <m:r>
                        <a:rPr lang="en-US" sz="1200" b="0" i="1" smtClean="0">
                          <a:latin typeface="Cambria Math" panose="02040503050406030204" pitchFamily="18" charset="0"/>
                        </a:rPr>
                        <m:t>=</m:t>
                      </m:r>
                      <m:r>
                        <a:rPr lang="en-US" sz="1200" smtClean="0">
                          <a:latin typeface="Cambria Math" panose="02040503050406030204" pitchFamily="18" charset="0"/>
                        </a:rPr>
                        <m:t>2</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a:latin typeface="Cambria Math" panose="02040503050406030204" pitchFamily="18" charset="0"/>
                        </a:rPr>
                        <m:t>⟨</m:t>
                      </m:r>
                      <m:r>
                        <a:rPr lang="en-US" sz="1200" i="1">
                          <a:latin typeface="Cambria Math" panose="02040503050406030204" pitchFamily="18" charset="0"/>
                        </a:rPr>
                        <m:t>𝑆</m:t>
                      </m:r>
                      <m:r>
                        <a:rPr lang="en-US" sz="1200">
                          <a:latin typeface="Cambria Math" panose="02040503050406030204" pitchFamily="18" charset="0"/>
                        </a:rPr>
                        <m:t>|−</m:t>
                      </m:r>
                      <m:r>
                        <a:rPr lang="en-US" sz="1200" i="1">
                          <a:latin typeface="Cambria Math" panose="02040503050406030204" pitchFamily="18" charset="0"/>
                        </a:rPr>
                        <m:t>𝐼</m:t>
                      </m:r>
                      <m:r>
                        <a:rPr lang="en-US" sz="1200" b="0" i="0"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𝐻</m:t>
                          </m:r>
                        </m:e>
                        <m:sup>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𝑛</m:t>
                          </m:r>
                        </m:sup>
                      </m:sSup>
                      <m:r>
                        <a:rPr lang="en-US" sz="1200" b="0" i="1" smtClean="0">
                          <a:latin typeface="Cambria Math" panose="02040503050406030204" pitchFamily="18" charset="0"/>
                        </a:rPr>
                        <m:t>𝑅</m:t>
                      </m:r>
                      <m:sSup>
                        <m:sSupPr>
                          <m:ctrlPr>
                            <a:rPr lang="en-US" sz="1200" i="1">
                              <a:latin typeface="Cambria Math" panose="02040503050406030204" pitchFamily="18" charset="0"/>
                            </a:rPr>
                          </m:ctrlPr>
                        </m:sSupPr>
                        <m:e>
                          <m:r>
                            <a:rPr lang="en-US" sz="1200" i="1">
                              <a:latin typeface="Cambria Math" panose="02040503050406030204" pitchFamily="18" charset="0"/>
                            </a:rPr>
                            <m:t>𝐻</m:t>
                          </m:r>
                        </m:e>
                        <m:sup>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𝑛</m:t>
                          </m:r>
                        </m:sup>
                      </m:sSup>
                      <m:sSup>
                        <m:sSupPr>
                          <m:ctrlPr>
                            <a:rPr lang="en-US" sz="1200" i="1">
                              <a:latin typeface="Cambria Math" panose="02040503050406030204" pitchFamily="18" charset="0"/>
                            </a:rPr>
                          </m:ctrlPr>
                        </m:sSupPr>
                        <m:e>
                          <m:r>
                            <a:rPr lang="en-US" sz="1200" b="0" i="1" smtClean="0">
                              <a:latin typeface="Cambria Math" panose="02040503050406030204" pitchFamily="18" charset="0"/>
                            </a:rPr>
                            <m:t>=</m:t>
                          </m:r>
                          <m:r>
                            <a:rPr lang="en-US" sz="1200" i="1">
                              <a:latin typeface="Cambria Math" panose="02040503050406030204" pitchFamily="18" charset="0"/>
                            </a:rPr>
                            <m:t>𝐻</m:t>
                          </m:r>
                        </m:e>
                        <m:sup>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𝑛</m:t>
                          </m:r>
                        </m:sup>
                      </m:sSup>
                      <m:d>
                        <m:dPr>
                          <m:ctrlPr>
                            <a:rPr lang="en-US" sz="1200" i="1" smtClean="0">
                              <a:latin typeface="Cambria Math" panose="02040503050406030204" pitchFamily="18" charset="0"/>
                              <a:ea typeface="Cambria Math" panose="02040503050406030204" pitchFamily="18" charset="0"/>
                            </a:rPr>
                          </m:ctrlPr>
                        </m:dPr>
                        <m:e>
                          <m:m>
                            <m:mPr>
                              <m:mcs>
                                <m:mc>
                                  <m:mcPr>
                                    <m:count m:val="4"/>
                                    <m:mcJc m:val="center"/>
                                  </m:mcPr>
                                </m:mc>
                              </m:mcs>
                              <m:ctrlPr>
                                <a:rPr lang="en-US" sz="1200" i="1" smtClean="0">
                                  <a:latin typeface="Cambria Math" panose="02040503050406030204" pitchFamily="18" charset="0"/>
                                  <a:ea typeface="Cambria Math" panose="02040503050406030204" pitchFamily="18" charset="0"/>
                                </a:rPr>
                              </m:ctrlPr>
                            </m:mPr>
                            <m:mr>
                              <m:e>
                                <m:r>
                                  <m:rPr>
                                    <m:brk m:alnAt="7"/>
                                  </m:rPr>
                                  <a:rPr lang="en-US" sz="1200" b="0" i="1" smtClean="0">
                                    <a:solidFill>
                                      <a:srgbClr val="FF0000"/>
                                    </a:solidFill>
                                    <a:latin typeface="Cambria Math" panose="02040503050406030204" pitchFamily="18" charset="0"/>
                                    <a:ea typeface="Cambria Math" panose="02040503050406030204" pitchFamily="18" charset="0"/>
                                  </a:rPr>
                                  <m:t>1</m:t>
                                </m:r>
                              </m:e>
                              <m:e>
                                <m:r>
                                  <a:rPr lang="en-US" sz="1200" b="0" i="1" smtClean="0">
                                    <a:latin typeface="Cambria Math" panose="02040503050406030204" pitchFamily="18" charset="0"/>
                                    <a:ea typeface="Cambria Math" panose="02040503050406030204" pitchFamily="18" charset="0"/>
                                  </a:rPr>
                                  <m:t>0</m:t>
                                </m:r>
                              </m:e>
                              <m:e>
                                <m:r>
                                  <a:rPr lang="en-US" sz="1200" i="1" smtClean="0">
                                    <a:latin typeface="Cambria Math" panose="02040503050406030204" pitchFamily="18" charset="0"/>
                                    <a:ea typeface="Cambria Math" panose="02040503050406030204" pitchFamily="18" charset="0"/>
                                  </a:rPr>
                                  <m:t>⋯</m:t>
                                </m:r>
                              </m:e>
                              <m:e>
                                <m:r>
                                  <a:rPr lang="en-US" sz="1200" b="0" i="1" smtClean="0">
                                    <a:latin typeface="Cambria Math" panose="02040503050406030204" pitchFamily="18" charset="0"/>
                                    <a:ea typeface="Cambria Math" panose="02040503050406030204" pitchFamily="18" charset="0"/>
                                  </a:rPr>
                                  <m:t>0</m:t>
                                </m:r>
                              </m:e>
                            </m:mr>
                            <m:mr>
                              <m:e>
                                <m:r>
                                  <a:rPr lang="en-US" sz="1200" b="0" i="1" smtClean="0">
                                    <a:latin typeface="Cambria Math" panose="02040503050406030204" pitchFamily="18" charset="0"/>
                                    <a:ea typeface="Cambria Math" panose="02040503050406030204" pitchFamily="18" charset="0"/>
                                  </a:rPr>
                                  <m:t>0</m:t>
                                </m:r>
                              </m:e>
                              <m:e>
                                <m:r>
                                  <a:rPr lang="en-US" sz="1200" b="0" i="1" smtClean="0">
                                    <a:solidFill>
                                      <a:srgbClr val="FF0000"/>
                                    </a:solidFill>
                                    <a:latin typeface="Cambria Math" panose="02040503050406030204" pitchFamily="18" charset="0"/>
                                    <a:ea typeface="Cambria Math" panose="02040503050406030204" pitchFamily="18" charset="0"/>
                                  </a:rPr>
                                  <m:t>−1</m:t>
                                </m:r>
                              </m:e>
                              <m:e>
                                <m:r>
                                  <a:rPr lang="en-US" sz="1200" i="1">
                                    <a:latin typeface="Cambria Math" panose="02040503050406030204" pitchFamily="18" charset="0"/>
                                    <a:ea typeface="Cambria Math" panose="02040503050406030204" pitchFamily="18" charset="0"/>
                                  </a:rPr>
                                  <m:t>⋯</m:t>
                                </m:r>
                              </m:e>
                              <m:e>
                                <m:r>
                                  <a:rPr lang="en-US" sz="1200" b="0" i="1" smtClean="0">
                                    <a:latin typeface="Cambria Math" panose="02040503050406030204" pitchFamily="18" charset="0"/>
                                    <a:ea typeface="Cambria Math" panose="02040503050406030204" pitchFamily="18" charset="0"/>
                                  </a:rPr>
                                  <m:t>0</m:t>
                                </m:r>
                              </m:e>
                            </m:mr>
                            <m:mr>
                              <m:e>
                                <m:r>
                                  <a:rPr lang="en-US" sz="1200" i="1" smtClean="0">
                                    <a:latin typeface="Cambria Math" panose="02040503050406030204" pitchFamily="18" charset="0"/>
                                    <a:ea typeface="Cambria Math" panose="02040503050406030204" pitchFamily="18" charset="0"/>
                                  </a:rPr>
                                  <m:t>⋮</m:t>
                                </m:r>
                              </m:e>
                              <m:e>
                                <m:r>
                                  <a:rPr lang="en-US" sz="1200" i="1">
                                    <a:latin typeface="Cambria Math" panose="02040503050406030204" pitchFamily="18" charset="0"/>
                                    <a:ea typeface="Cambria Math" panose="02040503050406030204" pitchFamily="18" charset="0"/>
                                  </a:rPr>
                                  <m:t>⋮</m:t>
                                </m:r>
                              </m:e>
                              <m:e>
                                <m:r>
                                  <a:rPr lang="en-US" sz="1200" i="1" smtClean="0">
                                    <a:latin typeface="Cambria Math" panose="02040503050406030204" pitchFamily="18" charset="0"/>
                                    <a:ea typeface="Cambria Math" panose="02040503050406030204" pitchFamily="18" charset="0"/>
                                  </a:rPr>
                                  <m:t>⋱</m:t>
                                </m:r>
                              </m:e>
                              <m:e>
                                <m:r>
                                  <a:rPr lang="en-US" sz="1200" i="1">
                                    <a:latin typeface="Cambria Math" panose="02040503050406030204" pitchFamily="18" charset="0"/>
                                    <a:ea typeface="Cambria Math" panose="02040503050406030204" pitchFamily="18" charset="0"/>
                                  </a:rPr>
                                  <m:t>⋮</m:t>
                                </m:r>
                              </m:e>
                            </m:mr>
                            <m:mr>
                              <m:e>
                                <m:r>
                                  <a:rPr lang="en-US" sz="1200" b="0" i="1" smtClean="0">
                                    <a:latin typeface="Cambria Math" panose="02040503050406030204" pitchFamily="18" charset="0"/>
                                    <a:ea typeface="Cambria Math" panose="02040503050406030204" pitchFamily="18" charset="0"/>
                                  </a:rPr>
                                  <m:t>0</m:t>
                                </m:r>
                              </m:e>
                              <m:e>
                                <m:r>
                                  <a:rPr lang="en-US" sz="1200" b="0" i="1" smtClean="0">
                                    <a:latin typeface="Cambria Math" panose="02040503050406030204" pitchFamily="18" charset="0"/>
                                    <a:ea typeface="Cambria Math" panose="02040503050406030204" pitchFamily="18" charset="0"/>
                                  </a:rPr>
                                  <m:t>0</m:t>
                                </m:r>
                              </m:e>
                              <m:e>
                                <m:r>
                                  <a:rPr lang="en-US" sz="1200" i="1">
                                    <a:latin typeface="Cambria Math" panose="02040503050406030204" pitchFamily="18" charset="0"/>
                                    <a:ea typeface="Cambria Math" panose="02040503050406030204" pitchFamily="18" charset="0"/>
                                  </a:rPr>
                                  <m:t>⋯</m:t>
                                </m:r>
                              </m:e>
                              <m:e>
                                <m:r>
                                  <a:rPr lang="en-US" sz="1200" b="0" i="1" smtClean="0">
                                    <a:solidFill>
                                      <a:srgbClr val="FF0000"/>
                                    </a:solidFill>
                                    <a:latin typeface="Cambria Math" panose="02040503050406030204" pitchFamily="18" charset="0"/>
                                    <a:ea typeface="Cambria Math" panose="02040503050406030204" pitchFamily="18" charset="0"/>
                                  </a:rPr>
                                  <m:t>−1</m:t>
                                </m:r>
                              </m:e>
                            </m:mr>
                          </m:m>
                        </m:e>
                      </m:d>
                      <m:sSup>
                        <m:sSupPr>
                          <m:ctrlPr>
                            <a:rPr lang="en-US" sz="1200" i="1">
                              <a:latin typeface="Cambria Math" panose="02040503050406030204" pitchFamily="18" charset="0"/>
                            </a:rPr>
                          </m:ctrlPr>
                        </m:sSupPr>
                        <m:e>
                          <m:r>
                            <a:rPr lang="en-US" sz="1200" i="1">
                              <a:latin typeface="Cambria Math" panose="02040503050406030204" pitchFamily="18" charset="0"/>
                            </a:rPr>
                            <m:t>𝐻</m:t>
                          </m:r>
                        </m:e>
                        <m:sup>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𝑛</m:t>
                          </m:r>
                        </m:sup>
                      </m:sSup>
                    </m:oMath>
                  </m:oMathPara>
                </a14:m>
                <a:endParaRPr lang="en-US" sz="120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dirty="0"/>
              </a:p>
              <a:p>
                <a:pPr algn="just"/>
                <a:r>
                  <a:rPr lang="en-ZA" b="0" dirty="0"/>
                  <a:t>Thus, </a:t>
                </a:r>
                <a14:m>
                  <m:oMath xmlns:m="http://schemas.openxmlformats.org/officeDocument/2006/math">
                    <m:r>
                      <a:rPr lang="en-US" sz="1200" b="0" i="1" smtClean="0">
                        <a:latin typeface="Cambria Math" panose="02040503050406030204" pitchFamily="18" charset="0"/>
                      </a:rPr>
                      <m:t>𝐷</m:t>
                    </m:r>
                  </m:oMath>
                </a14:m>
                <a:r>
                  <a:rPr lang="en-ZA" b="0" dirty="0"/>
                  <a:t> acts as a reflection about the equal-superposition state </a:t>
                </a:r>
                <a14:m>
                  <m:oMath xmlns:m="http://schemas.openxmlformats.org/officeDocument/2006/math">
                    <m:d>
                      <m:dPr>
                        <m:begChr m:val="|"/>
                        <m:endChr m:val="⟩"/>
                        <m:ctrlPr>
                          <a:rPr lang="en-ZA" sz="1200" b="0" i="1" smtClean="0">
                            <a:latin typeface="Cambria Math" panose="02040503050406030204" pitchFamily="18" charset="0"/>
                          </a:rPr>
                        </m:ctrlPr>
                      </m:dPr>
                      <m:e>
                        <m:r>
                          <a:rPr lang="en-US" sz="1200" b="0" i="1" smtClean="0">
                            <a:latin typeface="Cambria Math" panose="02040503050406030204" pitchFamily="18" charset="0"/>
                          </a:rPr>
                          <m:t>𝑆</m:t>
                        </m:r>
                      </m:e>
                    </m:d>
                  </m:oMath>
                </a14:m>
                <a:r>
                  <a:rPr lang="en-ZA" b="0" dirty="0"/>
                  <a:t>, which produces the inversion about the mean used for amplitude amplification.</a:t>
                </a:r>
              </a:p>
            </p:txBody>
          </p:sp>
        </mc:Choice>
        <mc:Fallback xmlns="">
          <p:sp>
            <p:nvSpPr>
              <p:cNvPr id="3" name="Notes Placeholder 2"/>
              <p:cNvSpPr>
                <a:spLocks noGrp="1"/>
              </p:cNvSpPr>
              <p:nvPr>
                <p:ph type="body" idx="1"/>
              </p:nvPr>
            </p:nvSpPr>
            <p:spPr/>
            <p:txBody>
              <a:bodyPr/>
              <a:lstStyle/>
              <a:p>
                <a:pPr algn="just"/>
                <a:r>
                  <a:rPr lang="en-ZA" b="0" dirty="0"/>
                  <a:t>Grover also showed that the diffusion operator </a:t>
                </a:r>
                <a:r>
                  <a:rPr lang="en-US" sz="1200" b="0" i="0">
                    <a:latin typeface="Cambria Math" panose="02040503050406030204" pitchFamily="18" charset="0"/>
                  </a:rPr>
                  <a:t>𝐷</a:t>
                </a:r>
                <a:r>
                  <a:rPr lang="en-ZA" b="0" dirty="0"/>
                  <a:t> can be implemented by placing a diagonal matrix between two Hadamard operators, where all the diagonal elements are −1 except for the first element, which is +1. This matrix is called the reflection operator and is denoted by </a:t>
                </a:r>
                <a:r>
                  <a:rPr lang="en-US" sz="1200" b="0" i="0">
                    <a:latin typeface="Cambria Math" panose="02040503050406030204" pitchFamily="18" charset="0"/>
                  </a:rPr>
                  <a:t>𝑅</a:t>
                </a:r>
                <a:r>
                  <a:rPr lang="en-ZA" b="0" dirty="0"/>
                  <a:t>.</a:t>
                </a:r>
              </a:p>
              <a:p>
                <a:pPr algn="just"/>
                <a:endParaRPr lang="en-ZA" b="0" dirty="0"/>
              </a:p>
              <a:p>
                <a:pPr algn="just"/>
                <a:r>
                  <a:rPr lang="en-ZA" b="0" dirty="0"/>
                  <a:t>The reflection operator is named as such because it reflects a vector across a certain axis of reflection. During reflection, the components of the vector along the axis remain unchanged, while the components orthogonal to the axis are negated. Following a similar line of reasoning as used in deriving the diffusion operator, it can be shown that the reflection matrix is:</a:t>
                </a:r>
              </a:p>
              <a:p>
                <a:pPr algn="just"/>
                <a:r>
                  <a:rPr lang="sr-Latn-RS" sz="1200" i="0">
                    <a:latin typeface="Cambria Math" panose="02040503050406030204" pitchFamily="18" charset="0"/>
                  </a:rPr>
                  <a:t>𝑅=2</a:t>
                </a:r>
                <a:r>
                  <a:rPr lang="en-ZA" sz="1200" i="0">
                    <a:latin typeface="Cambria Math" panose="02040503050406030204" pitchFamily="18" charset="0"/>
                  </a:rPr>
                  <a:t>|</a:t>
                </a:r>
                <a:r>
                  <a:rPr lang="sr-Latn-RS" sz="1200" i="0">
                    <a:latin typeface="Cambria Math" panose="02040503050406030204" pitchFamily="18" charset="0"/>
                  </a:rPr>
                  <a:t>0⟩⟨0|−𝐼</a:t>
                </a:r>
                <a:r>
                  <a:rPr lang="en-ZA" b="0" dirty="0"/>
                  <a:t>. The oracle, together with the diffusion operator, is often referred to as Grover's operator.</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15</a:t>
            </a:fld>
            <a:endParaRPr lang="en-US"/>
          </a:p>
        </p:txBody>
      </p:sp>
    </p:spTree>
    <p:extLst>
      <p:ext uri="{BB962C8B-B14F-4D97-AF65-F5344CB8AC3E}">
        <p14:creationId xmlns:p14="http://schemas.microsoft.com/office/powerpoint/2010/main" val="3384684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reflection can be implemented, </a:t>
                </a:r>
                <a:r>
                  <a:rPr lang="en-ZA" b="0" dirty="0"/>
                  <a:t>up to an irrelevant global phase</a:t>
                </a:r>
                <a:r>
                  <a:rPr lang="en-ZA" dirty="0"/>
                  <a:t>, using X gates on both qubits and a CZ gate:</a:t>
                </a:r>
              </a:p>
              <a:p>
                <a:pPr algn="just"/>
                <a14:m>
                  <m:oMathPara xmlns:m="http://schemas.openxmlformats.org/officeDocument/2006/math">
                    <m:oMathParaPr>
                      <m:jc m:val="centerGroup"/>
                    </m:oMathParaPr>
                    <m:oMath xmlns:m="http://schemas.openxmlformats.org/officeDocument/2006/math">
                      <m:r>
                        <a:rPr lang="sr-Latn-RS" sz="1200" i="1" smtClean="0">
                          <a:latin typeface="Cambria Math" panose="02040503050406030204" pitchFamily="18" charset="0"/>
                        </a:rPr>
                        <m:t>𝑅</m:t>
                      </m:r>
                      <m:r>
                        <a:rPr lang="sr-Latn-RS" sz="1200" i="1" smtClean="0">
                          <a:latin typeface="Cambria Math" panose="02040503050406030204" pitchFamily="18" charset="0"/>
                          <a:ea typeface="Cambria Math" panose="02040503050406030204" pitchFamily="18" charset="0"/>
                        </a:rPr>
                        <m:t>~</m:t>
                      </m:r>
                      <m:sSup>
                        <m:sSupPr>
                          <m:ctrlPr>
                            <a:rPr lang="sr-Latn-R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𝑋</m:t>
                          </m:r>
                        </m:e>
                        <m:sup>
                          <m:r>
                            <a:rPr lang="sr-Latn-R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𝐶𝑍</m:t>
                      </m:r>
                      <m:sSup>
                        <m:sSupPr>
                          <m:ctrlPr>
                            <a:rPr lang="sr-Latn-R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𝑋</m:t>
                          </m:r>
                        </m:e>
                        <m:sup>
                          <m:r>
                            <a:rPr lang="sr-Latn-R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sup>
                      </m:sSup>
                    </m:oMath>
                  </m:oMathPara>
                </a14:m>
                <a:endParaRPr lang="en-ZA" dirty="0"/>
              </a:p>
              <a:p>
                <a:pPr algn="just"/>
                <a:r>
                  <a:rPr lang="en-ZA" dirty="0"/>
                  <a:t>Combining this with the outer Hadamard layers gives the complete two-qubit diffuser:</a:t>
                </a:r>
              </a:p>
              <a:p>
                <a:pPr algn="just"/>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ea typeface="Cambria Math" panose="02040503050406030204" pitchFamily="18" charset="0"/>
                        </a:rPr>
                        <m:t>𝐷</m:t>
                      </m:r>
                      <m:r>
                        <a:rPr lang="sr-Latn-RS" sz="1200" i="1" smtClean="0">
                          <a:latin typeface="Cambria Math" panose="02040503050406030204" pitchFamily="18" charset="0"/>
                          <a:ea typeface="Cambria Math" panose="02040503050406030204" pitchFamily="18" charset="0"/>
                        </a:rPr>
                        <m:t>~</m:t>
                      </m:r>
                      <m:sSup>
                        <m:sSupPr>
                          <m:ctrlPr>
                            <a:rPr lang="sr-Latn-R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𝐻</m:t>
                          </m:r>
                        </m:e>
                        <m:sup>
                          <m:r>
                            <a:rPr lang="sr-Latn-R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sup>
                      </m:sSup>
                      <m:sSup>
                        <m:sSupPr>
                          <m:ctrlPr>
                            <a:rPr lang="sr-Latn-R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𝑋</m:t>
                          </m:r>
                        </m:e>
                        <m:sup>
                          <m:r>
                            <a:rPr lang="sr-Latn-R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𝐶𝑍</m:t>
                      </m:r>
                      <m:sSup>
                        <m:sSupPr>
                          <m:ctrlPr>
                            <a:rPr lang="sr-Latn-R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𝑋</m:t>
                          </m:r>
                        </m:e>
                        <m:sup>
                          <m:r>
                            <a:rPr lang="sr-Latn-R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sup>
                      </m:sSup>
                      <m:sSup>
                        <m:sSupPr>
                          <m:ctrlPr>
                            <a:rPr lang="sr-Latn-R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𝐻</m:t>
                          </m:r>
                        </m:e>
                        <m:sup>
                          <m:r>
                            <a:rPr lang="sr-Latn-R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sup>
                      </m:sSup>
                    </m:oMath>
                  </m:oMathPara>
                </a14:m>
                <a:endParaRPr lang="en-ZA" dirty="0"/>
              </a:p>
              <a:p>
                <a:pPr algn="just"/>
                <a:endParaRPr lang="en-ZA" dirty="0"/>
              </a:p>
              <a:p>
                <a:pPr marL="171450" indent="-171450" algn="l">
                  <a:buFont typeface="Arial" panose="020B0604020202020204" pitchFamily="34" charset="0"/>
                  <a:buChar char="•"/>
                </a:pPr>
                <a:r>
                  <a:rPr lang="en-ZA" dirty="0"/>
                  <a:t>The first layer of H gates changes from computational to X-basis, where the "average state" is just |00&gt;.</a:t>
                </a:r>
              </a:p>
              <a:p>
                <a:pPr marL="171450" indent="-171450" algn="l">
                  <a:buFont typeface="Arial" panose="020B0604020202020204" pitchFamily="34" charset="0"/>
                  <a:buChar char="•"/>
                </a:pPr>
                <a:r>
                  <a:rPr lang="en-ZA" dirty="0"/>
                  <a:t>The X gates turn |00&gt; into |11&gt;.</a:t>
                </a:r>
              </a:p>
              <a:p>
                <a:pPr marL="171450" indent="-171450" algn="l">
                  <a:buFont typeface="Arial" panose="020B0604020202020204" pitchFamily="34" charset="0"/>
                  <a:buChar char="•"/>
                </a:pPr>
                <a:r>
                  <a:rPr lang="en-ZA" dirty="0"/>
                  <a:t>The CZ flips the sign of |11&gt;.</a:t>
                </a:r>
              </a:p>
              <a:p>
                <a:pPr marL="171450" indent="-171450" algn="l">
                  <a:buFont typeface="Arial" panose="020B0604020202020204" pitchFamily="34" charset="0"/>
                  <a:buChar char="•"/>
                </a:pPr>
                <a:r>
                  <a:rPr lang="en-ZA" dirty="0"/>
                  <a:t>The second layer of X gates turns |11&gt; back to |00&gt;, but the minus sign stays.</a:t>
                </a:r>
              </a:p>
              <a:p>
                <a:pPr marL="171450" indent="-171450" algn="l">
                  <a:buFont typeface="Arial" panose="020B0604020202020204" pitchFamily="34" charset="0"/>
                  <a:buChar char="•"/>
                </a:pPr>
                <a:r>
                  <a:rPr lang="en-ZA" dirty="0"/>
                  <a:t>The final layer of H gates changes the basis back to computational, resulting in inversion about the average.</a:t>
                </a:r>
              </a:p>
              <a:p>
                <a:pPr marL="171450" indent="-171450" algn="just">
                  <a:buFont typeface="Arial" panose="020B0604020202020204" pitchFamily="34" charset="0"/>
                  <a:buChar char="•"/>
                </a:pPr>
                <a:endParaRPr lang="en-ZA" dirty="0"/>
              </a:p>
              <a:p>
                <a:pPr algn="just"/>
                <a:r>
                  <a:rPr lang="en-ZA" b="0" dirty="0"/>
                  <a:t>The oracle determines which state is the target and marks it by a phase flip. The diffuser does not need to know which state was marked; it simply inverts all amplitudes about their average. As a result, the amplitude modified by the oracle becomes amplified. Unlike the oracle, which depends on the target being searched for, the diffuser has the same structure for a given number of qubits. </a:t>
                </a:r>
              </a:p>
            </p:txBody>
          </p:sp>
        </mc:Choice>
        <mc:Fallback xmlns="">
          <p:sp>
            <p:nvSpPr>
              <p:cNvPr id="3" name="Notes Placeholder 2"/>
              <p:cNvSpPr>
                <a:spLocks noGrp="1"/>
              </p:cNvSpPr>
              <p:nvPr>
                <p:ph type="body" idx="1"/>
              </p:nvPr>
            </p:nvSpPr>
            <p:spPr/>
            <p:txBody>
              <a:bodyPr/>
              <a:lstStyle/>
              <a:p>
                <a:pPr algn="just"/>
                <a:r>
                  <a:rPr lang="en-ZA" dirty="0"/>
                  <a:t>The reflection can be implemented, </a:t>
                </a:r>
                <a:r>
                  <a:rPr lang="en-ZA" b="1" dirty="0"/>
                  <a:t>up to an irrelevant global phase</a:t>
                </a:r>
                <a:r>
                  <a:rPr lang="en-ZA" dirty="0"/>
                  <a:t>, using X gates on both qubits and a CZ gate:</a:t>
                </a:r>
              </a:p>
              <a:p>
                <a:pPr algn="just"/>
                <a:r>
                  <a:rPr lang="sr-Latn-RS" sz="1200" i="0">
                    <a:latin typeface="Cambria Math" panose="02040503050406030204" pitchFamily="18" charset="0"/>
                  </a:rPr>
                  <a:t>𝑅</a:t>
                </a:r>
                <a:r>
                  <a:rPr lang="sr-Latn-R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𝑋</a:t>
                </a:r>
                <a:r>
                  <a:rPr lang="sr-Latn-RS" sz="1200" b="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2</a:t>
                </a:r>
                <a:r>
                  <a:rPr lang="sr-Latn-R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 𝐶𝑍𝑋</a:t>
                </a:r>
                <a:r>
                  <a:rPr lang="sr-Latn-RS" sz="1200" b="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2</a:t>
                </a:r>
                <a:r>
                  <a:rPr lang="sr-Latn-RS" sz="1200" b="0" i="0">
                    <a:latin typeface="Cambria Math" panose="02040503050406030204" pitchFamily="18" charset="0"/>
                    <a:ea typeface="Cambria Math" panose="02040503050406030204" pitchFamily="18" charset="0"/>
                  </a:rPr>
                  <a:t>)</a:t>
                </a:r>
                <a:endParaRPr lang="en-ZA" dirty="0"/>
              </a:p>
              <a:p>
                <a:pPr algn="just"/>
                <a:r>
                  <a:rPr lang="en-ZA" dirty="0"/>
                  <a:t>Combining this with the outer Hadamard layers gives the complete two-qubit diffuser:</a:t>
                </a:r>
              </a:p>
              <a:p>
                <a:pPr algn="just"/>
                <a:r>
                  <a:rPr lang="en-US" sz="1200" b="0" i="0">
                    <a:latin typeface="Cambria Math" panose="02040503050406030204" pitchFamily="18" charset="0"/>
                    <a:ea typeface="Cambria Math" panose="02040503050406030204" pitchFamily="18" charset="0"/>
                  </a:rPr>
                  <a:t>𝐷</a:t>
                </a:r>
                <a:r>
                  <a:rPr lang="sr-Latn-R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𝐻</a:t>
                </a:r>
                <a:r>
                  <a:rPr lang="sr-Latn-RS" sz="1200" b="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2</a:t>
                </a:r>
                <a:r>
                  <a:rPr lang="sr-Latn-RS" sz="1200" b="0" i="0">
                    <a:latin typeface="Cambria Math" panose="02040503050406030204" pitchFamily="18" charset="0"/>
                    <a:ea typeface="Cambria Math" panose="02040503050406030204" pitchFamily="18" charset="0"/>
                  </a:rPr>
                  <a:t>) </a:t>
                </a:r>
                <a:r>
                  <a:rPr lang="en-US" sz="1200" b="0" i="0">
                    <a:latin typeface="Cambria Math" panose="02040503050406030204" pitchFamily="18" charset="0"/>
                    <a:ea typeface="Cambria Math" panose="02040503050406030204" pitchFamily="18" charset="0"/>
                  </a:rPr>
                  <a:t>𝑋</a:t>
                </a:r>
                <a:r>
                  <a:rPr lang="sr-Latn-RS" sz="1200" b="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2</a:t>
                </a:r>
                <a:r>
                  <a:rPr lang="sr-Latn-R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 𝐶𝑍𝑋</a:t>
                </a:r>
                <a:r>
                  <a:rPr lang="sr-Latn-RS" sz="1200" b="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2</a:t>
                </a:r>
                <a:r>
                  <a:rPr lang="sr-Latn-RS" sz="1200" b="0" i="0">
                    <a:latin typeface="Cambria Math" panose="02040503050406030204" pitchFamily="18" charset="0"/>
                    <a:ea typeface="Cambria Math" panose="02040503050406030204" pitchFamily="18" charset="0"/>
                  </a:rPr>
                  <a:t>) </a:t>
                </a:r>
                <a:r>
                  <a:rPr lang="en-US" sz="1200" b="0" i="0">
                    <a:latin typeface="Cambria Math" panose="02040503050406030204" pitchFamily="18" charset="0"/>
                    <a:ea typeface="Cambria Math" panose="02040503050406030204" pitchFamily="18" charset="0"/>
                  </a:rPr>
                  <a:t>𝐻</a:t>
                </a:r>
                <a:r>
                  <a:rPr lang="sr-Latn-RS" sz="1200" b="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2</a:t>
                </a:r>
                <a:r>
                  <a:rPr lang="sr-Latn-RS" sz="1200" b="0" i="0">
                    <a:latin typeface="Cambria Math" panose="02040503050406030204" pitchFamily="18" charset="0"/>
                    <a:ea typeface="Cambria Math" panose="02040503050406030204" pitchFamily="18" charset="0"/>
                  </a:rPr>
                  <a:t>)</a:t>
                </a:r>
                <a:endParaRPr lang="en-ZA" dirty="0"/>
              </a:p>
              <a:p>
                <a:pPr algn="just"/>
                <a:endParaRPr lang="en-ZA" dirty="0"/>
              </a:p>
              <a:p>
                <a:pPr algn="just"/>
                <a:r>
                  <a:rPr lang="en-ZA" b="0" dirty="0"/>
                  <a:t>The oracle determines which state is the target and marks it by a phase flip. The diffuser does not need to know which state was marked; it simply inverts all amplitudes about their average. As a result, the amplitude modified by the oracle becomes amplified. Unlike the oracle, which depends on the target being searched for, the diffuser has the same structure for a given number of qubits.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16</a:t>
            </a:fld>
            <a:endParaRPr lang="en-US"/>
          </a:p>
        </p:txBody>
      </p:sp>
    </p:spTree>
    <p:extLst>
      <p:ext uri="{BB962C8B-B14F-4D97-AF65-F5344CB8AC3E}">
        <p14:creationId xmlns:p14="http://schemas.microsoft.com/office/powerpoint/2010/main" val="3850711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At the final step, measurement returns the target index with the highest probability. In this simple example, that probability is 100%. For larger data sets, it is generally lower, but repeating the oracle and amplification steps the appropriate number of times makes the target state stand out strongly enough to be measured with high probability.</a:t>
                </a:r>
              </a:p>
            </p:txBody>
          </p:sp>
        </mc:Choice>
        <mc:Fallback xmlns="">
          <p:sp>
            <p:nvSpPr>
              <p:cNvPr id="3" name="Notes Placeholder 2"/>
              <p:cNvSpPr>
                <a:spLocks noGrp="1"/>
              </p:cNvSpPr>
              <p:nvPr>
                <p:ph type="body" idx="1"/>
              </p:nvPr>
            </p:nvSpPr>
            <p:spPr/>
            <p:txBody>
              <a:bodyPr/>
              <a:lstStyle/>
              <a:p>
                <a:pPr algn="just"/>
                <a:r>
                  <a:rPr lang="en-ZA" b="0" dirty="0"/>
                  <a:t>The third step of Grover's algorithm is amplitude amplification, which involves inverting all amplitudes about their average, i.e.</a:t>
                </a:r>
                <a:r>
                  <a:rPr lang="en-ZA" b="0" baseline="0" dirty="0"/>
                  <a:t> their mean</a:t>
                </a:r>
                <a:r>
                  <a:rPr lang="en-ZA" b="0" dirty="0"/>
                  <a:t>. In our example, the average amplitude is </a:t>
                </a:r>
                <a:r>
                  <a:rPr lang="en-US" sz="1200" b="0" i="0">
                    <a:latin typeface="Cambria Math" panose="02040503050406030204" pitchFamily="18" charset="0"/>
                  </a:rPr>
                  <a:t>𝑚=1/4</a:t>
                </a:r>
                <a:r>
                  <a:rPr lang="en-ZA" b="0" dirty="0"/>
                  <a:t>​. After this inversion, the amplitude of the marked (i.e., target) index becomes maximal, while the amplitudes of all other indices are reduced. The subsequent measurement yields the target index with 100% probability in this specific case.</a:t>
                </a:r>
              </a:p>
              <a:p>
                <a:pPr algn="just"/>
                <a:endParaRPr lang="en-ZA" b="0" dirty="0"/>
              </a:p>
              <a:p>
                <a:pPr algn="just"/>
                <a:r>
                  <a:rPr lang="en-ZA" b="0" dirty="0"/>
                  <a:t>In general, for larger databases, this probability is less than 100%, but still high enough that the correct result is obtained with high probability after a sufficient number of iterations.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17</a:t>
            </a:fld>
            <a:endParaRPr lang="en-US"/>
          </a:p>
        </p:txBody>
      </p:sp>
    </p:spTree>
    <p:extLst>
      <p:ext uri="{BB962C8B-B14F-4D97-AF65-F5344CB8AC3E}">
        <p14:creationId xmlns:p14="http://schemas.microsoft.com/office/powerpoint/2010/main" val="1649475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Returning to the phone-directory example</a:t>
                </a:r>
                <a:r>
                  <a:rPr lang="en-ZA" dirty="0"/>
                  <a:t>, the search space contains </a:t>
                </a:r>
                <a14:m>
                  <m:oMath xmlns:m="http://schemas.openxmlformats.org/officeDocument/2006/math">
                    <m:r>
                      <a:rPr lang="en-US" sz="1200" b="0" i="1" smtClean="0">
                        <a:latin typeface="Cambria Math" panose="02040503050406030204" pitchFamily="18" charset="0"/>
                      </a:rPr>
                      <m:t>𝑁</m:t>
                    </m:r>
                    <m:r>
                      <a:rPr lang="en-US" sz="1200" b="0" i="1" smtClean="0">
                        <a:latin typeface="Cambria Math" panose="02040503050406030204" pitchFamily="18" charset="0"/>
                      </a:rPr>
                      <m:t>=4</m:t>
                    </m:r>
                  </m:oMath>
                </a14:m>
                <a:r>
                  <a:rPr lang="en-ZA" dirty="0"/>
                  <a:t> entries, represented by two qubits. Eve’s phone number is stored at index </a:t>
                </a:r>
                <a14:m>
                  <m:oMath xmlns:m="http://schemas.openxmlformats.org/officeDocument/2006/math">
                    <m:r>
                      <a:rPr lang="en-US" sz="1200" b="0" i="1" smtClean="0">
                        <a:latin typeface="Cambria Math" panose="02040503050406030204" pitchFamily="18" charset="0"/>
                      </a:rPr>
                      <m:t>𝑥</m:t>
                    </m:r>
                    <m:r>
                      <a:rPr lang="en-US" sz="1200" b="0" i="1" smtClean="0">
                        <a:latin typeface="Cambria Math" panose="02040503050406030204" pitchFamily="18" charset="0"/>
                      </a:rPr>
                      <m:t>=2</m:t>
                    </m:r>
                  </m:oMath>
                </a14:m>
                <a:r>
                  <a:rPr lang="en-ZA" dirty="0"/>
                  <a:t>, corresponding to the target state </a:t>
                </a:r>
                <a14:m>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oMath>
                </a14:m>
                <a:r>
                  <a:rPr lang="en-ZA" dirty="0"/>
                  <a:t>. The complete Grover search can now be followed step by step.</a:t>
                </a:r>
              </a:p>
              <a:p>
                <a:pPr algn="l"/>
                <a:br>
                  <a:rPr lang="en-ZA" b="0" dirty="0"/>
                </a:br>
                <a:r>
                  <a:rPr lang="en-ZA" b="1" dirty="0"/>
                  <a:t>Step 1: Initialization</a:t>
                </a:r>
                <a:br>
                  <a:rPr lang="en-ZA" dirty="0"/>
                </a:br>
                <a:r>
                  <a:rPr lang="en-ZA" dirty="0"/>
                  <a:t>The two qubits start in the state ∣00⟩. Applying Hadamard gates to both qubits creates an equal superposition of all four basis states::</a:t>
                </a:r>
              </a:p>
              <a:p>
                <a:pPr algn="l"/>
                <a14:m>
                  <m:oMathPara xmlns:m="http://schemas.openxmlformats.org/officeDocument/2006/math">
                    <m:oMathParaPr>
                      <m:jc m:val="centerGroup"/>
                    </m:oMathParaPr>
                    <m:oMath xmlns:m="http://schemas.openxmlformats.org/officeDocument/2006/math">
                      <m:d>
                        <m:dPr>
                          <m:ctrlPr>
                            <a:rPr lang="en-US" sz="1200" b="0" i="1" smtClean="0">
                              <a:latin typeface="Cambria Math" panose="02040503050406030204" pitchFamily="18" charset="0"/>
                            </a:rPr>
                          </m:ctrlPr>
                        </m:dPr>
                        <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00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r>
                                <a:rPr lang="en-US" sz="1200" b="0" i="1" smtClean="0">
                                  <a:latin typeface="Cambria Math" panose="02040503050406030204" pitchFamily="18" charset="0"/>
                                </a:rPr>
                                <m:t>1</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11</m:t>
                              </m:r>
                            </m:e>
                          </m:d>
                        </m:e>
                      </m:d>
                      <m:r>
                        <a:rPr lang="en-US" sz="1200" b="0" i="1" smtClean="0">
                          <a:latin typeface="Cambria Math" panose="02040503050406030204" pitchFamily="18" charset="0"/>
                        </a:rPr>
                        <m:t>/2</m:t>
                      </m:r>
                    </m:oMath>
                  </m:oMathPara>
                </a14:m>
                <a:endParaRPr lang="en-ZA" b="0" dirty="0"/>
              </a:p>
              <a:p>
                <a:pPr algn="l"/>
                <a:r>
                  <a:rPr lang="en-ZA" dirty="0"/>
                  <a:t>At this point, every state has the same amplitude of </a:t>
                </a:r>
                <a14:m>
                  <m:oMath xmlns:m="http://schemas.openxmlformats.org/officeDocument/2006/math">
                    <m:r>
                      <a:rPr lang="en-US" sz="1200" b="0" i="0" smtClean="0">
                        <a:latin typeface="Cambria Math" panose="02040503050406030204" pitchFamily="18" charset="0"/>
                      </a:rPr>
                      <m:t>1</m:t>
                    </m:r>
                    <m:r>
                      <a:rPr lang="en-US" sz="1200" b="0" i="1" smtClean="0">
                        <a:latin typeface="Cambria Math" panose="02040503050406030204" pitchFamily="18" charset="0"/>
                      </a:rPr>
                      <m:t>/2</m:t>
                    </m:r>
                  </m:oMath>
                </a14:m>
                <a:r>
                  <a:rPr lang="en-ZA" dirty="0"/>
                  <a:t>.</a:t>
                </a:r>
              </a:p>
              <a:p>
                <a:pPr algn="l"/>
                <a:endParaRPr lang="en-ZA" b="0" dirty="0"/>
              </a:p>
              <a:p>
                <a:pPr algn="l"/>
                <a:r>
                  <a:rPr lang="en-ZA" b="1" dirty="0"/>
                  <a:t>Step 2: Oracle</a:t>
                </a:r>
                <a:br>
                  <a:rPr lang="en-ZA" dirty="0"/>
                </a:br>
                <a:r>
                  <a:rPr lang="en-ZA" dirty="0"/>
                  <a:t>The oracle marks the target state ∣10⟩ by flipping the sign of its amplitude:</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sz="1200" b="0" i="1" smtClean="0">
                              <a:latin typeface="Cambria Math" panose="02040503050406030204" pitchFamily="18" charset="0"/>
                            </a:rPr>
                          </m:ctrlPr>
                        </m:dPr>
                        <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00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r>
                                <a:rPr lang="en-US" sz="1200" b="0" i="1" smtClean="0">
                                  <a:latin typeface="Cambria Math" panose="02040503050406030204" pitchFamily="18" charset="0"/>
                                </a:rPr>
                                <m:t>1</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11</m:t>
                              </m:r>
                            </m:e>
                          </m:d>
                        </m:e>
                      </m:d>
                      <m:r>
                        <a:rPr lang="en-US" sz="1200" b="0" i="1" smtClean="0">
                          <a:latin typeface="Cambria Math" panose="02040503050406030204" pitchFamily="18" charset="0"/>
                        </a:rPr>
                        <m:t>/2</m:t>
                      </m:r>
                    </m:oMath>
                  </m:oMathPara>
                </a14:m>
                <a:endParaRPr lang="en-ZA" b="0" dirty="0"/>
              </a:p>
              <a:p>
                <a:pPr algn="l"/>
                <a:r>
                  <a:rPr lang="en-ZA" dirty="0"/>
                  <a:t>The amplitude of ∣10⟩ is now negative, while the other amplitudes remain positive.</a:t>
                </a:r>
                <a:endParaRPr lang="en-ZA" b="0" dirty="0"/>
              </a:p>
              <a:p>
                <a:pPr algn="l"/>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b="1" dirty="0"/>
                  <a:t>Step 3 (Diffuser): First Hadamard Layer</a:t>
                </a:r>
                <a:br>
                  <a:rPr lang="en-ZA" dirty="0"/>
                </a:br>
                <a:r>
                  <a:rPr lang="en-ZA" dirty="0"/>
                  <a:t>Applying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𝐻</m:t>
                        </m:r>
                      </m:e>
                      <m:sup>
                        <m:r>
                          <a:rPr lang="en-US" sz="1200" i="1">
                            <a:latin typeface="Cambria Math" panose="02040503050406030204" pitchFamily="18" charset="0"/>
                            <a:ea typeface="Cambria Math" panose="02040503050406030204" pitchFamily="18" charset="0"/>
                          </a:rPr>
                          <m:t>⊗2</m:t>
                        </m:r>
                      </m:sup>
                    </m:sSup>
                  </m:oMath>
                </a14:m>
                <a:r>
                  <a:rPr lang="en-ZA" dirty="0"/>
                  <a:t> transforms the state into</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sz="1200" b="0" i="1" smtClean="0">
                              <a:latin typeface="Cambria Math" panose="02040503050406030204" pitchFamily="18" charset="0"/>
                            </a:rPr>
                          </m:ctrlPr>
                        </m:dPr>
                        <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00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r>
                                <a:rPr lang="en-US" sz="1200" b="0" i="1" smtClean="0">
                                  <a:latin typeface="Cambria Math" panose="02040503050406030204" pitchFamily="18" charset="0"/>
                                </a:rPr>
                                <m:t>1</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11</m:t>
                              </m:r>
                            </m:e>
                          </m:d>
                        </m:e>
                      </m:d>
                      <m:r>
                        <a:rPr lang="en-US" sz="1200" b="0" i="1" smtClean="0">
                          <a:latin typeface="Cambria Math" panose="02040503050406030204" pitchFamily="18" charset="0"/>
                        </a:rPr>
                        <m:t>/2</m:t>
                      </m:r>
                    </m:oMath>
                  </m:oMathPara>
                </a14:m>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This transforms the basis so that the reflection can be performed around the ∣00⟩ direction.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b="1" dirty="0"/>
                  <a:t>Step 4 (Diffuser): Reflection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The reflection operator </a:t>
                </a:r>
                <a14:m>
                  <m:oMath xmlns:m="http://schemas.openxmlformats.org/officeDocument/2006/math">
                    <m:r>
                      <a:rPr lang="en-US" sz="1200" b="0" i="1" smtClean="0">
                        <a:latin typeface="Cambria Math" panose="02040503050406030204" pitchFamily="18" charset="0"/>
                      </a:rPr>
                      <m:t>𝑅</m:t>
                    </m:r>
                    <m:r>
                      <a:rPr lang="en-US" sz="1200" b="0" i="0" smtClean="0">
                        <a:latin typeface="Cambria Math" panose="02040503050406030204" pitchFamily="18" charset="0"/>
                      </a:rPr>
                      <m:t>=</m:t>
                    </m:r>
                    <m:r>
                      <m:rPr>
                        <m:sty m:val="p"/>
                      </m:rPr>
                      <a:rPr lang="en-US" sz="1200" smtClean="0">
                        <a:latin typeface="Cambria Math" panose="02040503050406030204" pitchFamily="18" charset="0"/>
                      </a:rPr>
                      <m:t>diag</m:t>
                    </m:r>
                    <m:d>
                      <m:dPr>
                        <m:ctrlPr>
                          <a:rPr lang="en-US" sz="1200" i="1">
                            <a:latin typeface="Cambria Math" panose="02040503050406030204" pitchFamily="18" charset="0"/>
                          </a:rPr>
                        </m:ctrlPr>
                      </m:dPr>
                      <m:e>
                        <m:r>
                          <a:rPr lang="en-US" sz="1200" i="1">
                            <a:latin typeface="Cambria Math" panose="02040503050406030204" pitchFamily="18" charset="0"/>
                          </a:rPr>
                          <m:t>1,−1,</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rPr>
                          <m:t>,−1</m:t>
                        </m:r>
                      </m:e>
                    </m:d>
                  </m:oMath>
                </a14:m>
                <a:r>
                  <a:rPr lang="en-ZA" b="0" dirty="0"/>
                  <a:t> </a:t>
                </a:r>
                <a:r>
                  <a:rPr lang="en-ZA" dirty="0"/>
                  <a:t>eaves the amplitude of ∣00⟩ unchanged and flips the signs of all other amplitudes:</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sz="1200" b="0" i="1" smtClean="0">
                              <a:latin typeface="Cambria Math" panose="02040503050406030204" pitchFamily="18" charset="0"/>
                            </a:rPr>
                          </m:ctrlPr>
                        </m:dPr>
                        <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00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r>
                                <a:rPr lang="en-US" sz="1200" b="0" i="1" smtClean="0">
                                  <a:latin typeface="Cambria Math" panose="02040503050406030204" pitchFamily="18" charset="0"/>
                                </a:rPr>
                                <m:t>1</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11</m:t>
                              </m:r>
                            </m:e>
                          </m:d>
                        </m:e>
                      </m:d>
                      <m:r>
                        <a:rPr lang="en-US" sz="1200" b="0" i="1" smtClean="0">
                          <a:latin typeface="Cambria Math" panose="02040503050406030204" pitchFamily="18" charset="0"/>
                        </a:rPr>
                        <m:t>/2</m:t>
                      </m:r>
                    </m:oMath>
                  </m:oMathPara>
                </a14:m>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b="1" dirty="0"/>
                  <a:t>Step 5 (Diffuser): Second Hadamard Layer</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𝐻</m:t>
                          </m:r>
                        </m:e>
                        <m:sup>
                          <m:r>
                            <a:rPr lang="en-US" sz="1200" i="1">
                              <a:latin typeface="Cambria Math" panose="02040503050406030204" pitchFamily="18" charset="0"/>
                              <a:ea typeface="Cambria Math" panose="02040503050406030204" pitchFamily="18" charset="0"/>
                            </a:rPr>
                            <m:t>⊗2</m:t>
                          </m:r>
                        </m:sup>
                      </m:sSup>
                      <m:d>
                        <m:dPr>
                          <m:ctrlPr>
                            <a:rPr lang="en-US" sz="1200" b="0" i="1" smtClean="0">
                              <a:latin typeface="Cambria Math" panose="02040503050406030204" pitchFamily="18" charset="0"/>
                            </a:rPr>
                          </m:ctrlPr>
                        </m:dPr>
                        <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00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r>
                                <a:rPr lang="en-US" sz="1200" b="0" i="1" smtClean="0">
                                  <a:latin typeface="Cambria Math" panose="02040503050406030204" pitchFamily="18" charset="0"/>
                                </a:rPr>
                                <m:t>1</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11</m:t>
                              </m:r>
                            </m:e>
                          </m:d>
                        </m:e>
                      </m:d>
                      <m:r>
                        <a:rPr lang="en-US" sz="1200" b="0" i="1" smtClean="0">
                          <a:latin typeface="Cambria Math" panose="02040503050406030204" pitchFamily="18" charset="0"/>
                        </a:rPr>
                        <m:t>/2=</m:t>
                      </m:r>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1</m:t>
                          </m:r>
                          <m:r>
                            <a:rPr lang="en-US" sz="1200" i="1">
                              <a:latin typeface="Cambria Math" panose="02040503050406030204" pitchFamily="18" charset="0"/>
                            </a:rPr>
                            <m:t>0</m:t>
                          </m:r>
                        </m:e>
                      </m:d>
                    </m:oMath>
                  </m:oMathPara>
                </a14:m>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So after the complete diffuser, the target state has amplitude 1.</a:t>
                </a:r>
              </a:p>
              <a:p>
                <a:pPr algn="l"/>
                <a:endParaRPr lang="en-ZA" dirty="0"/>
              </a:p>
              <a:p>
                <a:pPr algn="just"/>
                <a:r>
                  <a:rPr lang="en-ZA" b="0" dirty="0"/>
                  <a:t>Measuring this final state returns the target ∣10⟩ with a theoretical probability of 100%; on real quantum hardware, noise and other imperfections may produce a small number of other outcomes.</a:t>
                </a:r>
              </a:p>
            </p:txBody>
          </p:sp>
        </mc:Choice>
        <mc:Fallback xmlns="">
          <p:sp>
            <p:nvSpPr>
              <p:cNvPr id="3" name="Notes Placeholder 2"/>
              <p:cNvSpPr>
                <a:spLocks noGrp="1"/>
              </p:cNvSpPr>
              <p:nvPr>
                <p:ph type="body" idx="1"/>
              </p:nvPr>
            </p:nvSpPr>
            <p:spPr/>
            <p:txBody>
              <a:bodyPr/>
              <a:lstStyle/>
              <a:p>
                <a:r>
                  <a:rPr lang="en-US" sz="2000" dirty="0" err="1"/>
                  <a:t>Slika</a:t>
                </a:r>
                <a:r>
                  <a:rPr lang="en-US" sz="2000" dirty="0"/>
                  <a:t> </a:t>
                </a:r>
                <a:r>
                  <a:rPr lang="en-US" sz="2000" dirty="0" err="1"/>
                  <a:t>prikazuje</a:t>
                </a:r>
                <a:r>
                  <a:rPr lang="en-US" sz="2000" dirty="0"/>
                  <a:t> </a:t>
                </a:r>
                <a:r>
                  <a:rPr lang="en-US" sz="2000" dirty="0" err="1"/>
                  <a:t>evoluciju</a:t>
                </a:r>
                <a:r>
                  <a:rPr lang="en-US" sz="2000" dirty="0"/>
                  <a:t> </a:t>
                </a:r>
                <a:r>
                  <a:rPr lang="en-US" sz="2000" dirty="0" err="1"/>
                  <a:t>sistema</a:t>
                </a:r>
                <a:r>
                  <a:rPr lang="en-US" sz="2000" dirty="0"/>
                  <a:t> od </a:t>
                </a:r>
                <a:r>
                  <a:rPr lang="en-US" sz="2000" dirty="0" err="1"/>
                  <a:t>dva</a:t>
                </a:r>
                <a:r>
                  <a:rPr lang="en-US" sz="2000" dirty="0"/>
                  <a:t> </a:t>
                </a:r>
                <a:r>
                  <a:rPr lang="en-US" sz="2000" dirty="0" err="1"/>
                  <a:t>kubita</a:t>
                </a:r>
                <a:r>
                  <a:rPr lang="en-US" sz="2000" dirty="0"/>
                  <a:t> </a:t>
                </a:r>
                <a:r>
                  <a:rPr lang="en-US" sz="2000" dirty="0" err="1"/>
                  <a:t>kroz</a:t>
                </a:r>
                <a:r>
                  <a:rPr lang="en-US" sz="2000" dirty="0"/>
                  <a:t> </a:t>
                </a:r>
                <a:r>
                  <a:rPr lang="en-US" sz="2000" dirty="0" err="1"/>
                  <a:t>Groverovo</a:t>
                </a:r>
                <a:r>
                  <a:rPr lang="en-US" sz="2000" dirty="0"/>
                  <a:t> </a:t>
                </a:r>
                <a:r>
                  <a:rPr lang="en-US" sz="2000" dirty="0" err="1"/>
                  <a:t>kolo</a:t>
                </a:r>
                <a:r>
                  <a:rPr lang="en-US" sz="2000" dirty="0"/>
                  <a:t>, </a:t>
                </a:r>
                <a:r>
                  <a:rPr lang="en-US" sz="2000" dirty="0" err="1"/>
                  <a:t>gde</a:t>
                </a:r>
                <a:r>
                  <a:rPr lang="en-US" sz="2000" dirty="0"/>
                  <a:t> </a:t>
                </a:r>
                <a:r>
                  <a:rPr lang="en-US" sz="2000" dirty="0" err="1"/>
                  <a:t>je</a:t>
                </a:r>
                <a:r>
                  <a:rPr lang="en-US" sz="2000" dirty="0"/>
                  <a:t> N=4 </a:t>
                </a:r>
                <a:r>
                  <a:rPr lang="en-US" sz="2000" dirty="0" err="1"/>
                  <a:t>i</a:t>
                </a:r>
                <a:r>
                  <a:rPr lang="en-US" sz="2000" dirty="0"/>
                  <a:t> </a:t>
                </a:r>
                <a:r>
                  <a:rPr lang="en-US" sz="2000" dirty="0" err="1"/>
                  <a:t>x</a:t>
                </a:r>
                <a:r>
                  <a:rPr lang="en-US" sz="2000" baseline="-25000" dirty="0" err="1"/>
                  <a:t>t</a:t>
                </a:r>
                <a:r>
                  <a:rPr lang="en-US" sz="2000" dirty="0"/>
                  <a:t>=10.</a:t>
                </a:r>
              </a:p>
              <a:p>
                <a:endParaRPr lang="en-US" sz="2000" dirty="0"/>
              </a:p>
              <a:p>
                <a:pPr marL="457200" indent="-457200">
                  <a:buFont typeface="+mj-lt"/>
                  <a:buAutoNum type="arabicPeriod"/>
                </a:pPr>
                <a:r>
                  <a:rPr lang="en-US" sz="2000" dirty="0"/>
                  <a:t>Na </a:t>
                </a:r>
                <a:r>
                  <a:rPr lang="en-US" sz="2000" dirty="0" err="1"/>
                  <a:t>ulaz</a:t>
                </a:r>
                <a:r>
                  <a:rPr lang="en-US" sz="2000" dirty="0"/>
                  <a:t> </a:t>
                </a:r>
                <a:r>
                  <a:rPr lang="en-US" sz="2000" dirty="0" err="1"/>
                  <a:t>dolaze</a:t>
                </a:r>
                <a:r>
                  <a:rPr lang="en-US" sz="2000" dirty="0"/>
                  <a:t> </a:t>
                </a:r>
                <a:r>
                  <a:rPr lang="en-US" sz="2000" dirty="0" err="1"/>
                  <a:t>dva</a:t>
                </a:r>
                <a:r>
                  <a:rPr lang="en-US" sz="2000" dirty="0"/>
                  <a:t> </a:t>
                </a:r>
                <a:r>
                  <a:rPr lang="en-US" sz="2000" dirty="0" err="1"/>
                  <a:t>kubita</a:t>
                </a:r>
                <a:r>
                  <a:rPr lang="en-US" sz="2000" dirty="0"/>
                  <a:t> u </a:t>
                </a:r>
                <a:r>
                  <a:rPr lang="en-US" sz="2000" dirty="0" err="1"/>
                  <a:t>stanju</a:t>
                </a:r>
                <a:r>
                  <a:rPr lang="en-US" sz="2000" dirty="0"/>
                  <a:t> </a:t>
                </a:r>
                <a:r>
                  <a:rPr lang="en-US" sz="2000" i="0">
                    <a:latin typeface="Cambria Math" panose="02040503050406030204" pitchFamily="18" charset="0"/>
                  </a:rPr>
                  <a:t>|00⟩</a:t>
                </a:r>
                <a:r>
                  <a:rPr lang="en-US" sz="2000" dirty="0"/>
                  <a:t> koje, </a:t>
                </a:r>
                <a:r>
                  <a:rPr lang="en-US" sz="2000" dirty="0" err="1"/>
                  <a:t>posle</a:t>
                </a:r>
                <a:r>
                  <a:rPr lang="en-US" sz="2000" baseline="0" dirty="0"/>
                  <a:t> </a:t>
                </a:r>
                <a:r>
                  <a:rPr lang="en-US" sz="2000" baseline="0" dirty="0" err="1"/>
                  <a:t>prolaska</a:t>
                </a:r>
                <a:r>
                  <a:rPr lang="en-US" sz="2000" baseline="0" dirty="0"/>
                  <a:t> </a:t>
                </a:r>
                <a:r>
                  <a:rPr lang="en-US" sz="2000" baseline="0" dirty="0" err="1"/>
                  <a:t>kroz</a:t>
                </a:r>
                <a:r>
                  <a:rPr lang="en-US" sz="2000" baseline="0" dirty="0"/>
                  <a:t> </a:t>
                </a:r>
                <a:r>
                  <a:rPr lang="en-US" sz="2000" baseline="0" dirty="0" err="1"/>
                  <a:t>adamarova</a:t>
                </a:r>
                <a:r>
                  <a:rPr lang="en-US" sz="2000" baseline="0" dirty="0"/>
                  <a:t> H kola, </a:t>
                </a:r>
                <a:r>
                  <a:rPr lang="en-US" sz="2000" baseline="0" dirty="0" err="1"/>
                  <a:t>postaje</a:t>
                </a:r>
                <a:r>
                  <a:rPr lang="en-US" sz="2000" baseline="0" dirty="0"/>
                  <a:t> </a:t>
                </a:r>
                <a:r>
                  <a:rPr lang="en-US" sz="2000" baseline="0" dirty="0" err="1"/>
                  <a:t>stanje</a:t>
                </a:r>
                <a:r>
                  <a:rPr lang="en-US" sz="2000" baseline="0" dirty="0"/>
                  <a:t> </a:t>
                </a:r>
                <a:r>
                  <a:rPr lang="en-US" sz="2000" baseline="0" dirty="0" err="1"/>
                  <a:t>jednake</a:t>
                </a:r>
                <a:r>
                  <a:rPr lang="en-US" sz="2000" baseline="0" dirty="0"/>
                  <a:t> </a:t>
                </a:r>
                <a:r>
                  <a:rPr lang="en-US" sz="2000" baseline="0" dirty="0" err="1"/>
                  <a:t>superpozicije</a:t>
                </a:r>
                <a:r>
                  <a:rPr lang="en-US" sz="2000" baseline="0" dirty="0"/>
                  <a:t> </a:t>
                </a:r>
                <a:r>
                  <a:rPr lang="en-US" sz="2000" baseline="0" dirty="0" err="1"/>
                  <a:t>vektora</a:t>
                </a:r>
                <a:r>
                  <a:rPr lang="en-US" sz="2000" baseline="0" dirty="0"/>
                  <a:t> </a:t>
                </a:r>
                <a:r>
                  <a:rPr lang="en-US" sz="2000" baseline="0" dirty="0" err="1"/>
                  <a:t>baze</a:t>
                </a:r>
                <a:r>
                  <a:rPr lang="en-US" sz="2000" baseline="0" dirty="0"/>
                  <a:t> </a:t>
                </a:r>
                <a:r>
                  <a:rPr lang="en-US" sz="2000" baseline="0" dirty="0" err="1"/>
                  <a:t>koji</a:t>
                </a:r>
                <a:r>
                  <a:rPr lang="en-US" sz="2000" baseline="0" dirty="0"/>
                  <a:t> </a:t>
                </a:r>
                <a:r>
                  <a:rPr lang="en-US" sz="2000" baseline="0" dirty="0" err="1"/>
                  <a:t>kodiraju</a:t>
                </a:r>
                <a:r>
                  <a:rPr lang="en-US" sz="2000" baseline="0" dirty="0"/>
                  <a:t> </a:t>
                </a:r>
                <a:r>
                  <a:rPr lang="en-US" sz="2000" baseline="0" dirty="0" err="1"/>
                  <a:t>sva</a:t>
                </a:r>
                <a:r>
                  <a:rPr lang="en-US" sz="2000" baseline="0" dirty="0"/>
                  <a:t> </a:t>
                </a:r>
                <a:r>
                  <a:rPr lang="en-US" sz="2000" baseline="0" dirty="0" err="1"/>
                  <a:t>četiri</a:t>
                </a:r>
                <a:r>
                  <a:rPr lang="en-US" sz="2000" baseline="0" dirty="0"/>
                  <a:t> </a:t>
                </a:r>
                <a:r>
                  <a:rPr lang="en-US" sz="2000" baseline="0" dirty="0" err="1"/>
                  <a:t>indeksa</a:t>
                </a:r>
                <a:r>
                  <a:rPr lang="en-US" sz="2000" baseline="0" dirty="0"/>
                  <a:t>.</a:t>
                </a:r>
              </a:p>
              <a:p>
                <a:pPr marL="457200" indent="-457200">
                  <a:buFont typeface="+mj-lt"/>
                  <a:buAutoNum type="arabicPeriod"/>
                </a:pPr>
                <a:r>
                  <a:rPr lang="en-US" sz="2000" dirty="0" err="1"/>
                  <a:t>Orakle</a:t>
                </a:r>
                <a:r>
                  <a:rPr lang="en-US" sz="2000" dirty="0"/>
                  <a:t> </a:t>
                </a:r>
                <a:r>
                  <a:rPr lang="en-US" sz="2000" dirty="0" err="1"/>
                  <a:t>invertuje</a:t>
                </a:r>
                <a:r>
                  <a:rPr lang="en-US" sz="2000" dirty="0"/>
                  <a:t> </a:t>
                </a:r>
                <a:r>
                  <a:rPr lang="en-US" sz="2000" dirty="0" err="1"/>
                  <a:t>traženi</a:t>
                </a:r>
                <a:r>
                  <a:rPr lang="en-US" sz="2000" dirty="0"/>
                  <a:t> </a:t>
                </a:r>
                <a:r>
                  <a:rPr lang="en-US" sz="2000" dirty="0" err="1"/>
                  <a:t>indeks</a:t>
                </a:r>
                <a:r>
                  <a:rPr lang="en-US" sz="2000" dirty="0"/>
                  <a:t> </a:t>
                </a:r>
                <a:r>
                  <a:rPr lang="en-US" sz="2000" i="0">
                    <a:latin typeface="Cambria Math" panose="02040503050406030204" pitchFamily="18" charset="0"/>
                  </a:rPr>
                  <a:t>|</a:t>
                </a:r>
                <a:r>
                  <a:rPr lang="en-US" sz="2000" b="0" i="0">
                    <a:latin typeface="Cambria Math" panose="02040503050406030204" pitchFamily="18" charset="0"/>
                  </a:rPr>
                  <a:t>1</a:t>
                </a:r>
                <a:r>
                  <a:rPr lang="en-US" sz="2000" i="0">
                    <a:latin typeface="Cambria Math" panose="02040503050406030204" pitchFamily="18" charset="0"/>
                  </a:rPr>
                  <a:t>0⟩</a:t>
                </a:r>
                <a:r>
                  <a:rPr lang="en-US" sz="2000" dirty="0"/>
                  <a:t>.</a:t>
                </a:r>
              </a:p>
              <a:p>
                <a:pPr marL="457200" indent="-457200">
                  <a:buFont typeface="+mj-lt"/>
                  <a:buAutoNum type="arabicPeriod"/>
                </a:pPr>
                <a:r>
                  <a:rPr lang="en-US" sz="2000" dirty="0" err="1"/>
                  <a:t>Prolaskom</a:t>
                </a:r>
                <a:r>
                  <a:rPr lang="en-US" sz="2000" dirty="0"/>
                  <a:t> </a:t>
                </a:r>
                <a:r>
                  <a:rPr lang="en-US" sz="2000" dirty="0" err="1"/>
                  <a:t>kroz</a:t>
                </a:r>
                <a:r>
                  <a:rPr lang="en-US" sz="2000" dirty="0"/>
                  <a:t> </a:t>
                </a:r>
                <a:r>
                  <a:rPr lang="en-US" sz="2000" dirty="0" err="1"/>
                  <a:t>prva</a:t>
                </a:r>
                <a:r>
                  <a:rPr lang="en-US" sz="2000" dirty="0"/>
                  <a:t> H kola </a:t>
                </a:r>
                <a:r>
                  <a:rPr lang="en-US" sz="2000" dirty="0" err="1"/>
                  <a:t>groverovog</a:t>
                </a:r>
                <a:r>
                  <a:rPr lang="en-US" sz="2000" dirty="0"/>
                  <a:t> </a:t>
                </a:r>
                <a:r>
                  <a:rPr lang="en-US" sz="2000" dirty="0" err="1"/>
                  <a:t>operatora</a:t>
                </a:r>
                <a:r>
                  <a:rPr lang="en-US" sz="2000" dirty="0"/>
                  <a:t> </a:t>
                </a:r>
                <a:r>
                  <a:rPr lang="en-US" sz="2000" dirty="0" err="1"/>
                  <a:t>dolazi</a:t>
                </a:r>
                <a:r>
                  <a:rPr lang="en-US" sz="2000" dirty="0"/>
                  <a:t> do </a:t>
                </a:r>
                <a:r>
                  <a:rPr lang="en-US" sz="2000" dirty="0" err="1"/>
                  <a:t>interferencije</a:t>
                </a:r>
                <a:r>
                  <a:rPr lang="en-US" sz="2000" dirty="0"/>
                  <a:t>.</a:t>
                </a:r>
              </a:p>
              <a:p>
                <a:pPr marL="457200" indent="-457200">
                  <a:buFont typeface="+mj-lt"/>
                  <a:buAutoNum type="arabicPeriod"/>
                </a:pPr>
                <a:r>
                  <a:rPr lang="en-US" sz="2000" dirty="0"/>
                  <a:t>Operator </a:t>
                </a:r>
                <a:r>
                  <a:rPr lang="en-US" sz="2000" dirty="0" err="1"/>
                  <a:t>reflleksije</a:t>
                </a:r>
                <a:r>
                  <a:rPr lang="en-US" sz="2000" dirty="0"/>
                  <a:t> </a:t>
                </a:r>
                <a:r>
                  <a:rPr lang="en-US" sz="2000" dirty="0" err="1"/>
                  <a:t>invertuje</a:t>
                </a:r>
                <a:r>
                  <a:rPr lang="en-US" sz="2000" dirty="0"/>
                  <a:t> </a:t>
                </a:r>
                <a:r>
                  <a:rPr lang="en-US" sz="2000" dirty="0" err="1"/>
                  <a:t>sva</a:t>
                </a:r>
                <a:r>
                  <a:rPr lang="en-US" sz="2000" dirty="0"/>
                  <a:t> ne-</a:t>
                </a:r>
                <a:r>
                  <a:rPr lang="en-US" sz="2000" i="0">
                    <a:latin typeface="Cambria Math" panose="02040503050406030204" pitchFamily="18" charset="0"/>
                  </a:rPr>
                  <a:t>|0</a:t>
                </a:r>
                <a:r>
                  <a:rPr lang="en-US" sz="2000" b="0" i="0">
                    <a:latin typeface="Cambria Math" panose="02040503050406030204" pitchFamily="18" charset="0"/>
                  </a:rPr>
                  <a:t>⟩</a:t>
                </a:r>
                <a:r>
                  <a:rPr lang="en-US" sz="2000" dirty="0"/>
                  <a:t> </a:t>
                </a:r>
                <a:r>
                  <a:rPr lang="en-US" sz="2000" dirty="0" err="1"/>
                  <a:t>stanja</a:t>
                </a:r>
                <a:r>
                  <a:rPr lang="en-US" sz="2000" dirty="0"/>
                  <a:t>.</a:t>
                </a:r>
              </a:p>
              <a:p>
                <a:pPr marL="457200" indent="-457200">
                  <a:buFont typeface="+mj-lt"/>
                  <a:buAutoNum type="arabicPeriod"/>
                </a:pPr>
                <a:r>
                  <a:rPr lang="en-US" sz="2000" dirty="0" err="1"/>
                  <a:t>Operatori</a:t>
                </a:r>
                <a:r>
                  <a:rPr lang="en-US" sz="2000" dirty="0"/>
                  <a:t> H </a:t>
                </a:r>
                <a:r>
                  <a:rPr lang="en-US" sz="2000" dirty="0" err="1"/>
                  <a:t>unose</a:t>
                </a:r>
                <a:r>
                  <a:rPr lang="en-US" sz="2000" dirty="0"/>
                  <a:t> </a:t>
                </a:r>
                <a:r>
                  <a:rPr lang="en-US" sz="2000" dirty="0" err="1"/>
                  <a:t>interferenciju</a:t>
                </a:r>
                <a:r>
                  <a:rPr lang="en-US" sz="2000" dirty="0"/>
                  <a:t> </a:t>
                </a:r>
                <a:r>
                  <a:rPr lang="en-US" sz="2000" dirty="0" err="1"/>
                  <a:t>koja</a:t>
                </a:r>
                <a:r>
                  <a:rPr lang="en-US" sz="2000" dirty="0"/>
                  <a:t> </a:t>
                </a:r>
                <a:r>
                  <a:rPr lang="en-US" sz="2000" dirty="0" err="1"/>
                  <a:t>maksimizuje</a:t>
                </a:r>
                <a:r>
                  <a:rPr lang="en-US" sz="2000" dirty="0"/>
                  <a:t> </a:t>
                </a:r>
                <a:r>
                  <a:rPr lang="en-US" sz="2000" dirty="0" err="1"/>
                  <a:t>traženi</a:t>
                </a:r>
                <a:r>
                  <a:rPr lang="en-US" sz="2000" dirty="0"/>
                  <a:t> </a:t>
                </a:r>
                <a:r>
                  <a:rPr lang="en-US" sz="2000" dirty="0" err="1"/>
                  <a:t>i</a:t>
                </a:r>
                <a:r>
                  <a:rPr lang="en-US" sz="2000" dirty="0"/>
                  <a:t> </a:t>
                </a:r>
                <a:r>
                  <a:rPr lang="en-US" sz="2000" dirty="0" err="1"/>
                  <a:t>poništava</a:t>
                </a:r>
                <a:r>
                  <a:rPr lang="en-US" sz="2000" dirty="0"/>
                  <a:t> </a:t>
                </a:r>
                <a:r>
                  <a:rPr lang="en-US" sz="2000" dirty="0" err="1"/>
                  <a:t>neželjene</a:t>
                </a:r>
                <a:r>
                  <a:rPr lang="en-US" sz="2000" dirty="0"/>
                  <a:t> </a:t>
                </a:r>
                <a:r>
                  <a:rPr lang="en-US" sz="2000" dirty="0" err="1"/>
                  <a:t>indekse</a:t>
                </a: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18</a:t>
            </a:fld>
            <a:endParaRPr lang="en-US"/>
          </a:p>
        </p:txBody>
      </p:sp>
    </p:spTree>
    <p:extLst>
      <p:ext uri="{BB962C8B-B14F-4D97-AF65-F5344CB8AC3E}">
        <p14:creationId xmlns:p14="http://schemas.microsoft.com/office/powerpoint/2010/main" val="1177501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circuit in the figure shows a complete implementation of Grover’s algorithm for N=4, corresponding to the phone-directory example, where the target is Eve’s entry at index ∣10⟩.</a:t>
            </a:r>
          </a:p>
          <a:p>
            <a:pPr algn="just"/>
            <a:endParaRPr lang="en-ZA" b="0" dirty="0"/>
          </a:p>
          <a:p>
            <a:pPr algn="just"/>
            <a:r>
              <a:rPr lang="en-ZA" b="0" dirty="0"/>
              <a:t>The circuit first creates an equal superposition of all four indices. The oracle then marks ∣10⟩ by flipping its amplitude, and the diffuser amplifies the marked state. Finally, measurement returns the target index with the highest probability.</a:t>
            </a:r>
          </a:p>
          <a:p>
            <a:pPr algn="just"/>
            <a:endParaRPr lang="en-ZA" b="0" dirty="0"/>
          </a:p>
          <a:p>
            <a:pPr algn="just"/>
            <a:r>
              <a:rPr lang="en-ZA" dirty="0"/>
              <a:t>IBM quantum computers use little-endian ordering, so measurement results display the qubits in reverse order. Therefore, the target represented in the circuit as q</a:t>
            </a:r>
            <a:r>
              <a:rPr lang="en-ZA" baseline="-25000" dirty="0"/>
              <a:t>0</a:t>
            </a:r>
            <a:r>
              <a:rPr lang="en-ZA" dirty="0"/>
              <a:t>​q</a:t>
            </a:r>
            <a:r>
              <a:rPr lang="en-ZA" baseline="-25000" dirty="0"/>
              <a:t>1</a:t>
            </a:r>
            <a:r>
              <a:rPr lang="en-ZA" dirty="0"/>
              <a:t>​=10 appears in the measurement output as </a:t>
            </a:r>
            <a:r>
              <a:rPr lang="en-ZA" b="0" dirty="0"/>
              <a:t>01</a:t>
            </a:r>
            <a:r>
              <a:rPr lang="en-ZA" dirty="0"/>
              <a:t>, which is clearly the dominant result in the histogram.</a:t>
            </a:r>
          </a:p>
          <a:p>
            <a:pPr algn="just"/>
            <a:endParaRPr lang="en-ZA" dirty="0"/>
          </a:p>
          <a:p>
            <a:pPr algn="just"/>
            <a:r>
              <a:rPr lang="en-ZA" dirty="0"/>
              <a:t>The small number of other outcomes comes from imperfections in real quantum hardware, including noise, gate errors, and measurement errors. These effects slightly disturb the ideal result, where this two-qubit Grover example would return the target with 100% probability.</a:t>
            </a:r>
          </a:p>
        </p:txBody>
      </p:sp>
      <p:sp>
        <p:nvSpPr>
          <p:cNvPr id="4" name="Slide Number Placeholder 3"/>
          <p:cNvSpPr>
            <a:spLocks noGrp="1"/>
          </p:cNvSpPr>
          <p:nvPr>
            <p:ph type="sldNum" sz="quarter" idx="5"/>
          </p:nvPr>
        </p:nvSpPr>
        <p:spPr/>
        <p:txBody>
          <a:bodyPr/>
          <a:lstStyle/>
          <a:p>
            <a:fld id="{1B2CE5E3-B8BD-D040-AC87-D640191DD8F1}" type="slidenum">
              <a:rPr lang="en-US" smtClean="0"/>
              <a:t>19</a:t>
            </a:fld>
            <a:endParaRPr lang="en-US"/>
          </a:p>
        </p:txBody>
      </p:sp>
    </p:spTree>
    <p:extLst>
      <p:ext uri="{BB962C8B-B14F-4D97-AF65-F5344CB8AC3E}">
        <p14:creationId xmlns:p14="http://schemas.microsoft.com/office/powerpoint/2010/main" val="2398519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For larger problems with more than two qubits, Grover’s algorithm requires a multi-controlled Z (MCZ) operation, which is not always provided as a standard operation in quantum programming frameworks. However, the multi-controlled X (MCX) gate is commonly available.</a:t>
            </a:r>
          </a:p>
          <a:p>
            <a:pPr algn="just"/>
            <a:endParaRPr lang="en-ZA" b="0" dirty="0"/>
          </a:p>
          <a:p>
            <a:pPr algn="just"/>
            <a:r>
              <a:rPr lang="en-ZA" b="0" dirty="0"/>
              <a:t>The relation HXH=Z provides a simple way to construct an MCZ from an MCX. By placing Hadamard gates before and after the target qubit of an MCX gate, the controlled X operation is converted into a controlled Z operation.</a:t>
            </a:r>
          </a:p>
          <a:p>
            <a:pPr algn="just"/>
            <a:endParaRPr lang="en-ZA" b="0" dirty="0"/>
          </a:p>
          <a:p>
            <a:pPr algn="just"/>
            <a:r>
              <a:rPr lang="en-ZA" b="0" dirty="0"/>
              <a:t>In this way, the multi-controlled phase flips required by Grover’s algorithm can be implemented using commonly supported MCX gates.</a:t>
            </a:r>
          </a:p>
        </p:txBody>
      </p:sp>
      <p:sp>
        <p:nvSpPr>
          <p:cNvPr id="4" name="Slide Number Placeholder 3"/>
          <p:cNvSpPr>
            <a:spLocks noGrp="1"/>
          </p:cNvSpPr>
          <p:nvPr>
            <p:ph type="sldNum" sz="quarter" idx="5"/>
          </p:nvPr>
        </p:nvSpPr>
        <p:spPr/>
        <p:txBody>
          <a:bodyPr/>
          <a:lstStyle/>
          <a:p>
            <a:fld id="{1B2CE5E3-B8BD-D040-AC87-D640191DD8F1}" type="slidenum">
              <a:rPr lang="en-US" smtClean="0"/>
              <a:t>20</a:t>
            </a:fld>
            <a:endParaRPr lang="en-US"/>
          </a:p>
        </p:txBody>
      </p:sp>
    </p:spTree>
    <p:extLst>
      <p:ext uri="{BB962C8B-B14F-4D97-AF65-F5344CB8AC3E}">
        <p14:creationId xmlns:p14="http://schemas.microsoft.com/office/powerpoint/2010/main" val="723699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 figure shows the same Grover search pattern extended to a </a:t>
            </a:r>
            <a:r>
              <a:rPr lang="en-ZA" b="0" dirty="0"/>
              <a:t>three-qubit circuit</a:t>
            </a:r>
            <a:r>
              <a:rPr lang="en-ZA" dirty="0"/>
              <a:t>, giving a search space of N=8 possible states. In this example, the oracle is designed to mark the target state ∣111⟩ by flipping the sign of its amplitude. The diffuser then amplifies the marked state, increasing the probability of obtaining ∣111⟩ when the qubits are measured.</a:t>
            </a:r>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21</a:t>
            </a:fld>
            <a:endParaRPr lang="en-US"/>
          </a:p>
        </p:txBody>
      </p:sp>
    </p:spTree>
    <p:extLst>
      <p:ext uri="{BB962C8B-B14F-4D97-AF65-F5344CB8AC3E}">
        <p14:creationId xmlns:p14="http://schemas.microsoft.com/office/powerpoint/2010/main" val="25555744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Grover’s algorithm also has a useful geometric interpretation. Although the search space may contain many basis states, the algorithm can be represented in a two-dimensional plane defined by the target state and a normalized combination of all non-target states.</a:t>
                </a:r>
              </a:p>
              <a:p>
                <a:pPr algn="just"/>
                <a:endParaRPr lang="en-US" sz="12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b="1" dirty="0"/>
                  <a:t>1. </a:t>
                </a:r>
                <a:r>
                  <a:rPr lang="en-ZA" dirty="0"/>
                  <a:t>The target state is represented by the vertical vector</a:t>
                </a:r>
                <a:r>
                  <a:rPr lang="en-US" sz="1200" dirty="0">
                    <a:solidFill>
                      <a:schemeClr val="tx1"/>
                    </a:solidFill>
                  </a:rPr>
                  <a:t> </a:t>
                </a:r>
                <a14:m>
                  <m:oMath xmlns:m="http://schemas.openxmlformats.org/officeDocument/2006/math">
                    <m:d>
                      <m:dPr>
                        <m:begChr m:val="|"/>
                        <m:endChr m:val="⟩"/>
                        <m:ctrlPr>
                          <a:rPr lang="en-US" sz="1200" i="1" smtClean="0">
                            <a:latin typeface="Cambria Math" panose="02040503050406030204" pitchFamily="18" charset="0"/>
                          </a:rPr>
                        </m:ctrlPr>
                      </m:dPr>
                      <m:e>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m:t>
                            </m:r>
                          </m:sup>
                        </m:sSup>
                      </m:e>
                    </m:d>
                  </m:oMath>
                </a14:m>
                <a:r>
                  <a:rPr lang="en-US" sz="1200" dirty="0">
                    <a:solidFill>
                      <a:schemeClr val="tx1"/>
                    </a:solidFill>
                  </a:rPr>
                  <a:t>. All </a:t>
                </a:r>
                <a14:m>
                  <m:oMath xmlns:m="http://schemas.openxmlformats.org/officeDocument/2006/math">
                    <m:r>
                      <a:rPr lang="sr-Latn-RS" i="1" smtClean="0">
                        <a:latin typeface="Cambria Math" panose="02040503050406030204" pitchFamily="18" charset="0"/>
                      </a:rPr>
                      <m:t>𝑁</m:t>
                    </m:r>
                    <m:r>
                      <a:rPr lang="en-US" b="0" i="1" smtClean="0">
                        <a:latin typeface="Cambria Math" panose="02040503050406030204" pitchFamily="18" charset="0"/>
                      </a:rPr>
                      <m:t>−1</m:t>
                    </m:r>
                  </m:oMath>
                </a14:m>
                <a:r>
                  <a:rPr lang="en-US" sz="1200" dirty="0">
                    <a:solidFill>
                      <a:schemeClr val="tx1"/>
                    </a:solidFill>
                  </a:rPr>
                  <a:t> non-target </a:t>
                </a:r>
                <a:r>
                  <a:rPr lang="en-ZA" dirty="0"/>
                  <a:t>states are combined into a single normalized vector</a:t>
                </a:r>
                <a:r>
                  <a:rPr lang="en-US" sz="1200" dirty="0">
                    <a:solidFill>
                      <a:schemeClr val="tx1"/>
                    </a:solidFill>
                  </a:rPr>
                  <a:t> </a:t>
                </a:r>
                <a14:m>
                  <m:oMath xmlns:m="http://schemas.openxmlformats.org/officeDocument/2006/math">
                    <m:d>
                      <m:dPr>
                        <m:begChr m:val="|"/>
                        <m:endChr m:val="⟩"/>
                        <m:ctrlPr>
                          <a:rPr lang="en-US" sz="1200" i="1" smtClean="0">
                            <a:latin typeface="Cambria Math" panose="02040503050406030204" pitchFamily="18" charset="0"/>
                          </a:rPr>
                        </m:ctrlPr>
                      </m:dPr>
                      <m:e>
                        <m:r>
                          <a:rPr lang="en-US" sz="1200" i="1" smtClean="0">
                            <a:latin typeface="Cambria Math" panose="02040503050406030204" pitchFamily="18" charset="0"/>
                          </a:rPr>
                          <m:t>𝑥</m:t>
                        </m:r>
                      </m:e>
                    </m:d>
                  </m:oMath>
                </a14:m>
                <a:endParaRPr lang="en-US" sz="1200" dirty="0"/>
              </a:p>
              <a:p>
                <a:pPr marL="0" marR="0" lvl="0" indent="0" algn="just" defTabSz="914400" rtl="0" eaLnBrk="1" fontAlgn="auto" latinLnBrk="0" hangingPunct="1">
                  <a:lnSpc>
                    <a:spcPct val="100000"/>
                  </a:lnSpc>
                  <a:spcBef>
                    <a:spcPts val="0"/>
                  </a:spcBef>
                  <a:spcAft>
                    <a:spcPts val="0"/>
                  </a:spcAft>
                  <a:buClrTx/>
                  <a:buSzTx/>
                  <a:buFont typeface="+mj-lt"/>
                  <a:buNone/>
                  <a:tabLst/>
                  <a:defRPr/>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m:t>
                          </m:r>
                        </m:num>
                        <m:den>
                          <m:rad>
                            <m:radPr>
                              <m:degHide m:val="on"/>
                              <m:ctrlPr>
                                <a:rPr lang="en-US" sz="1200" b="0" i="1" smtClean="0">
                                  <a:latin typeface="Cambria Math" panose="02040503050406030204" pitchFamily="18" charset="0"/>
                                </a:rPr>
                              </m:ctrlPr>
                            </m:radPr>
                            <m:deg/>
                            <m:e>
                              <m:r>
                                <a:rPr lang="en-US" sz="1200" b="0" i="1" smtClean="0">
                                  <a:latin typeface="Cambria Math" panose="02040503050406030204" pitchFamily="18" charset="0"/>
                                </a:rPr>
                                <m:t>𝑁</m:t>
                              </m:r>
                              <m:r>
                                <a:rPr lang="en-US" sz="1200" b="0" i="1" smtClean="0">
                                  <a:latin typeface="Cambria Math" panose="02040503050406030204" pitchFamily="18" charset="0"/>
                                </a:rPr>
                                <m:t>−1</m:t>
                              </m:r>
                            </m:e>
                          </m:rad>
                        </m:den>
                      </m:f>
                      <m:nary>
                        <m:naryPr>
                          <m:chr m:val="∑"/>
                          <m:supHide m:val="on"/>
                          <m:ctrlPr>
                            <a:rPr lang="en-US" sz="1200" b="0" i="1" smtClean="0">
                              <a:latin typeface="Cambria Math" panose="02040503050406030204" pitchFamily="18" charset="0"/>
                            </a:rPr>
                          </m:ctrlPr>
                        </m:naryPr>
                        <m:sub>
                          <m:r>
                            <a:rPr lang="en-US" sz="1200" b="0" i="1" smtClean="0">
                              <a:latin typeface="Cambria Math" panose="02040503050406030204" pitchFamily="18" charset="0"/>
                            </a:rPr>
                            <m:t>𝑘</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𝑥</m:t>
                              </m:r>
                            </m:e>
                            <m:sup>
                              <m:r>
                                <a:rPr lang="en-US" sz="1200" b="0" i="1" smtClean="0">
                                  <a:latin typeface="Cambria Math" panose="02040503050406030204" pitchFamily="18" charset="0"/>
                                  <a:ea typeface="Cambria Math" panose="02040503050406030204" pitchFamily="18" charset="0"/>
                                </a:rPr>
                                <m:t>∗</m:t>
                              </m:r>
                            </m:sup>
                          </m:sSup>
                        </m:sub>
                        <m:sup/>
                        <m:e>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𝑘</m:t>
                              </m:r>
                            </m:e>
                          </m:d>
                        </m:e>
                      </m:nary>
                    </m:oMath>
                  </m:oMathPara>
                </a14:m>
                <a:endParaRPr lang="en-US" sz="1200" dirty="0"/>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dirty="0"/>
                  <a:t>These two vectors are orthogonal and define the two-dimensional search plane.</a:t>
                </a:r>
                <a:endParaRPr lang="en-US" sz="120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US" sz="12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sz="1200" b="1" dirty="0">
                    <a:solidFill>
                      <a:schemeClr val="tx1"/>
                    </a:solidFill>
                  </a:rPr>
                  <a:t>2.</a:t>
                </a:r>
                <a:r>
                  <a:rPr lang="en-US" sz="1200" dirty="0">
                    <a:solidFill>
                      <a:schemeClr val="tx1"/>
                    </a:solidFill>
                  </a:rPr>
                  <a:t> </a:t>
                </a:r>
                <a:r>
                  <a:rPr lang="en-ZA" dirty="0"/>
                  <a:t>The initial equal superposition of all </a:t>
                </a:r>
                <a14:m>
                  <m:oMath xmlns:m="http://schemas.openxmlformats.org/officeDocument/2006/math">
                    <m:r>
                      <a:rPr lang="sr-Latn-RS" i="1" smtClean="0">
                        <a:latin typeface="Cambria Math" panose="02040503050406030204" pitchFamily="18" charset="0"/>
                      </a:rPr>
                      <m:t>𝑁</m:t>
                    </m:r>
                  </m:oMath>
                </a14:m>
                <a:r>
                  <a:rPr lang="en-US" b="0" i="0" dirty="0">
                    <a:latin typeface="Cambria Math" panose="02040503050406030204" pitchFamily="18" charset="0"/>
                  </a:rPr>
                  <a:t> states</a:t>
                </a:r>
                <a:r>
                  <a:rPr lang="en-US" b="0" i="0" baseline="0" dirty="0">
                    <a:latin typeface="Cambria Math" panose="02040503050406030204" pitchFamily="18" charset="0"/>
                  </a:rPr>
                  <a:t> </a:t>
                </a:r>
                <a:r>
                  <a:rPr lang="en-ZA" dirty="0"/>
                  <a:t>s represented by the normalized vector </a:t>
                </a:r>
                <a14:m>
                  <m:oMath xmlns:m="http://schemas.openxmlformats.org/officeDocument/2006/math">
                    <m:d>
                      <m:dPr>
                        <m:begChr m:val="|"/>
                        <m:endChr m:val="⟩"/>
                        <m:ctrlPr>
                          <a:rPr lang="en-ZA" i="1" smtClean="0">
                            <a:latin typeface="Cambria Math" panose="02040503050406030204" pitchFamily="18" charset="0"/>
                          </a:rPr>
                        </m:ctrlPr>
                      </m:dPr>
                      <m:e>
                        <m:sSub>
                          <m:sSubPr>
                            <m:ctrlPr>
                              <a:rPr lang="en-ZA" i="1">
                                <a:latin typeface="Cambria Math" panose="02040503050406030204" pitchFamily="18" charset="0"/>
                              </a:rPr>
                            </m:ctrlPr>
                          </m:sSubPr>
                          <m:e>
                            <m:r>
                              <a:rPr lang="sr-Latn-RS" i="1">
                                <a:latin typeface="Cambria Math" panose="02040503050406030204" pitchFamily="18" charset="0"/>
                              </a:rPr>
                              <m:t>𝑆</m:t>
                            </m:r>
                          </m:e>
                          <m:sub>
                            <m:r>
                              <a:rPr lang="sr-Latn-RS" i="1">
                                <a:latin typeface="Cambria Math" panose="02040503050406030204" pitchFamily="18" charset="0"/>
                              </a:rPr>
                              <m:t>0</m:t>
                            </m:r>
                          </m:sub>
                        </m:sSub>
                      </m:e>
                    </m:d>
                  </m:oMath>
                </a14:m>
                <a:r>
                  <a:rPr lang="en-US" b="0" i="0" dirty="0">
                    <a:latin typeface="Cambria Math" panose="02040503050406030204" pitchFamily="18" charset="0"/>
                  </a:rPr>
                  <a:t>. </a:t>
                </a:r>
                <a:r>
                  <a:rPr lang="en-ZA" dirty="0"/>
                  <a:t>In this two-dimensional plane,</a:t>
                </a:r>
              </a:p>
              <a:p>
                <a:pPr marL="0" marR="0" lvl="0" indent="0" algn="just" defTabSz="914400" rtl="0" eaLnBrk="1" fontAlgn="auto" latinLnBrk="0" hangingPunct="1">
                  <a:lnSpc>
                    <a:spcPct val="100000"/>
                  </a:lnSpc>
                  <a:spcBef>
                    <a:spcPts val="0"/>
                  </a:spcBef>
                  <a:spcAft>
                    <a:spcPts val="0"/>
                  </a:spcAft>
                  <a:buClrTx/>
                  <a:buSzTx/>
                  <a:buFont typeface="+mj-lt"/>
                  <a:buNone/>
                  <a:tabLst/>
                  <a:defRPr/>
                </a:pPr>
                <a14:m>
                  <m:oMathPara xmlns:m="http://schemas.openxmlformats.org/officeDocument/2006/math">
                    <m:oMathParaPr>
                      <m:jc m:val="centerGroup"/>
                    </m:oMathParaPr>
                    <m:oMath xmlns:m="http://schemas.openxmlformats.org/officeDocument/2006/math">
                      <m:d>
                        <m:dPr>
                          <m:begChr m:val="|"/>
                          <m:endChr m:val="⟩"/>
                          <m:ctrlPr>
                            <a:rPr lang="en-ZA" i="1" smtClean="0">
                              <a:latin typeface="Cambria Math" panose="02040503050406030204" pitchFamily="18" charset="0"/>
                            </a:rPr>
                          </m:ctrlPr>
                        </m:dPr>
                        <m:e>
                          <m:sSub>
                            <m:sSubPr>
                              <m:ctrlPr>
                                <a:rPr lang="en-ZA" i="1">
                                  <a:latin typeface="Cambria Math" panose="02040503050406030204" pitchFamily="18" charset="0"/>
                                </a:rPr>
                              </m:ctrlPr>
                            </m:sSubPr>
                            <m:e>
                              <m:r>
                                <a:rPr lang="sr-Latn-RS" i="1">
                                  <a:latin typeface="Cambria Math" panose="02040503050406030204" pitchFamily="18" charset="0"/>
                                </a:rPr>
                                <m:t>𝑆</m:t>
                              </m:r>
                            </m:e>
                            <m:sub>
                              <m:r>
                                <a:rPr lang="sr-Latn-RS" i="1">
                                  <a:latin typeface="Cambria Math" panose="02040503050406030204" pitchFamily="18" charset="0"/>
                                </a:rPr>
                                <m:t>0</m:t>
                              </m:r>
                            </m:sub>
                          </m:sSub>
                        </m:e>
                      </m:d>
                      <m:r>
                        <a:rPr lang="sr-Latn-RS" i="1">
                          <a:latin typeface="Cambria Math" panose="02040503050406030204" pitchFamily="18" charset="0"/>
                        </a:rPr>
                        <m:t>=</m:t>
                      </m:r>
                      <m:rad>
                        <m:radPr>
                          <m:degHide m:val="on"/>
                          <m:ctrlPr>
                            <a:rPr lang="en-ZA" i="1">
                              <a:latin typeface="Cambria Math" panose="02040503050406030204" pitchFamily="18" charset="0"/>
                            </a:rPr>
                          </m:ctrlPr>
                        </m:radPr>
                        <m:deg/>
                        <m:e>
                          <m:f>
                            <m:fPr>
                              <m:ctrlPr>
                                <a:rPr lang="en-ZA" i="1">
                                  <a:latin typeface="Cambria Math" panose="02040503050406030204" pitchFamily="18" charset="0"/>
                                </a:rPr>
                              </m:ctrlPr>
                            </m:fPr>
                            <m:num>
                              <m:r>
                                <a:rPr lang="sr-Latn-RS" i="1">
                                  <a:latin typeface="Cambria Math" panose="02040503050406030204" pitchFamily="18" charset="0"/>
                                </a:rPr>
                                <m:t>𝑁</m:t>
                              </m:r>
                              <m:r>
                                <a:rPr lang="sr-Latn-RS" i="1">
                                  <a:latin typeface="Cambria Math" panose="02040503050406030204" pitchFamily="18" charset="0"/>
                                </a:rPr>
                                <m:t>−</m:t>
                              </m:r>
                              <m:r>
                                <a:rPr lang="sr-Latn-RS">
                                  <a:latin typeface="Cambria Math" panose="02040503050406030204" pitchFamily="18" charset="0"/>
                                </a:rPr>
                                <m:t>1</m:t>
                              </m:r>
                            </m:num>
                            <m:den>
                              <m:r>
                                <a:rPr lang="sr-Latn-RS" i="1">
                                  <a:latin typeface="Cambria Math" panose="02040503050406030204" pitchFamily="18" charset="0"/>
                                </a:rPr>
                                <m:t>𝑁</m:t>
                              </m:r>
                            </m:den>
                          </m:f>
                        </m:e>
                      </m:rad>
                      <m:d>
                        <m:dPr>
                          <m:begChr m:val="|"/>
                          <m:endChr m:val="⟩"/>
                          <m:ctrlPr>
                            <a:rPr lang="en-ZA" i="1">
                              <a:latin typeface="Cambria Math" panose="02040503050406030204" pitchFamily="18" charset="0"/>
                            </a:rPr>
                          </m:ctrlPr>
                        </m:dPr>
                        <m:e>
                          <m:r>
                            <a:rPr lang="en-US" b="0" i="1" smtClean="0">
                              <a:latin typeface="Cambria Math" panose="02040503050406030204" pitchFamily="18" charset="0"/>
                            </a:rPr>
                            <m:t>𝑥</m:t>
                          </m:r>
                        </m:e>
                      </m:d>
                      <m:r>
                        <a:rPr lang="sr-Latn-RS">
                          <a:latin typeface="Cambria Math" panose="02040503050406030204" pitchFamily="18" charset="0"/>
                        </a:rPr>
                        <m:t>+</m:t>
                      </m:r>
                      <m:f>
                        <m:fPr>
                          <m:ctrlPr>
                            <a:rPr lang="en-ZA" i="1">
                              <a:latin typeface="Cambria Math" panose="02040503050406030204" pitchFamily="18" charset="0"/>
                            </a:rPr>
                          </m:ctrlPr>
                        </m:fPr>
                        <m:num>
                          <m:r>
                            <a:rPr lang="sr-Latn-RS">
                              <a:latin typeface="Cambria Math" panose="02040503050406030204" pitchFamily="18" charset="0"/>
                            </a:rPr>
                            <m:t>1</m:t>
                          </m:r>
                        </m:num>
                        <m:den>
                          <m:rad>
                            <m:radPr>
                              <m:degHide m:val="on"/>
                              <m:ctrlPr>
                                <a:rPr lang="en-ZA" i="1">
                                  <a:latin typeface="Cambria Math" panose="02040503050406030204" pitchFamily="18" charset="0"/>
                                </a:rPr>
                              </m:ctrlPr>
                            </m:radPr>
                            <m:deg/>
                            <m:e>
                              <m:r>
                                <a:rPr lang="sr-Latn-RS" i="1">
                                  <a:latin typeface="Cambria Math" panose="02040503050406030204" pitchFamily="18" charset="0"/>
                                </a:rPr>
                                <m:t>𝑁</m:t>
                              </m:r>
                            </m:e>
                          </m:rad>
                        </m:den>
                      </m:f>
                      <m:d>
                        <m:dPr>
                          <m:begChr m:val="|"/>
                          <m:endChr m:val="⟩"/>
                          <m:ctrlPr>
                            <a:rPr lang="en-ZA" i="1">
                              <a:latin typeface="Cambria Math" panose="02040503050406030204" pitchFamily="18" charset="0"/>
                            </a:rPr>
                          </m:ctrlPr>
                        </m:dPr>
                        <m:e>
                          <m:sSup>
                            <m:sSupPr>
                              <m:ctrlPr>
                                <a:rPr lang="en-ZA" i="1">
                                  <a:latin typeface="Cambria Math" panose="02040503050406030204" pitchFamily="18" charset="0"/>
                                </a:rPr>
                              </m:ctrlPr>
                            </m:sSupPr>
                            <m:e>
                              <m:r>
                                <a:rPr lang="sr-Latn-RS" i="1">
                                  <a:latin typeface="Cambria Math" panose="02040503050406030204" pitchFamily="18" charset="0"/>
                                </a:rPr>
                                <m:t>𝑥</m:t>
                              </m:r>
                            </m:e>
                            <m:sup>
                              <m:r>
                                <a:rPr lang="sr-Latn-RS" i="1">
                                  <a:latin typeface="Cambria Math" panose="02040503050406030204" pitchFamily="18" charset="0"/>
                                </a:rPr>
                                <m:t>∗</m:t>
                              </m:r>
                            </m:sup>
                          </m:sSup>
                        </m:e>
                      </m:d>
                    </m:oMath>
                  </m:oMathPara>
                </a14:m>
                <a:endParaRPr lang="en-US" dirty="0"/>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b="1" dirty="0"/>
                  <a:t>3. </a:t>
                </a:r>
                <a:r>
                  <a:rPr lang="en-US" dirty="0"/>
                  <a:t>If </a:t>
                </a:r>
                <a14:m>
                  <m:oMath xmlns:m="http://schemas.openxmlformats.org/officeDocument/2006/math">
                    <m:r>
                      <a:rPr lang="sr-Latn-RS" sz="1200" i="1" smtClean="0">
                        <a:latin typeface="Cambria Math" panose="02040503050406030204" pitchFamily="18" charset="0"/>
                      </a:rPr>
                      <m:t>𝜃</m:t>
                    </m:r>
                  </m:oMath>
                </a14:m>
                <a:r>
                  <a:rPr lang="en-US" dirty="0"/>
                  <a:t> </a:t>
                </a:r>
                <a:r>
                  <a:rPr lang="en-ZA" dirty="0"/>
                  <a:t>is the angle between </a:t>
                </a:r>
                <a14:m>
                  <m:oMath xmlns:m="http://schemas.openxmlformats.org/officeDocument/2006/math">
                    <m:d>
                      <m:dPr>
                        <m:begChr m:val="|"/>
                        <m:endChr m:val="⟩"/>
                        <m:ctrlPr>
                          <a:rPr lang="en-ZA" i="1" smtClean="0">
                            <a:latin typeface="Cambria Math" panose="02040503050406030204" pitchFamily="18" charset="0"/>
                          </a:rPr>
                        </m:ctrlPr>
                      </m:dPr>
                      <m:e>
                        <m:sSub>
                          <m:sSubPr>
                            <m:ctrlPr>
                              <a:rPr lang="en-ZA" i="1">
                                <a:latin typeface="Cambria Math" panose="02040503050406030204" pitchFamily="18" charset="0"/>
                              </a:rPr>
                            </m:ctrlPr>
                          </m:sSubPr>
                          <m:e>
                            <m:r>
                              <a:rPr lang="sr-Latn-RS" i="1">
                                <a:latin typeface="Cambria Math" panose="02040503050406030204" pitchFamily="18" charset="0"/>
                              </a:rPr>
                              <m:t>𝑆</m:t>
                            </m:r>
                          </m:e>
                          <m:sub>
                            <m:r>
                              <a:rPr lang="sr-Latn-RS" i="1">
                                <a:latin typeface="Cambria Math" panose="02040503050406030204" pitchFamily="18" charset="0"/>
                              </a:rPr>
                              <m:t>0</m:t>
                            </m:r>
                          </m:sub>
                        </m:sSub>
                      </m:e>
                    </m:d>
                  </m:oMath>
                </a14:m>
                <a:r>
                  <a:rPr lang="en-US" dirty="0"/>
                  <a:t> and </a:t>
                </a:r>
                <a:r>
                  <a:rPr lang="en-ZA" dirty="0"/>
                  <a:t>the non-target direction </a:t>
                </a:r>
                <a14:m>
                  <m:oMath xmlns:m="http://schemas.openxmlformats.org/officeDocument/2006/math">
                    <m:d>
                      <m:dPr>
                        <m:begChr m:val="|"/>
                        <m:endChr m:val="⟩"/>
                        <m:ctrlPr>
                          <a:rPr lang="en-ZA"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then </a:t>
                </a:r>
              </a:p>
              <a:p>
                <a:pPr marL="0" marR="0" lvl="0" indent="0" algn="just" defTabSz="914400" rtl="0" eaLnBrk="1" fontAlgn="auto" latinLnBrk="0" hangingPunct="1">
                  <a:lnSpc>
                    <a:spcPct val="100000"/>
                  </a:lnSpc>
                  <a:spcBef>
                    <a:spcPts val="0"/>
                  </a:spcBef>
                  <a:spcAft>
                    <a:spcPts val="0"/>
                  </a:spcAft>
                  <a:buClrTx/>
                  <a:buSzTx/>
                  <a:buFont typeface="+mj-lt"/>
                  <a:buNone/>
                  <a:tabLst/>
                  <a:defRPr/>
                </a:pPr>
                <a14:m>
                  <m:oMathPara xmlns:m="http://schemas.openxmlformats.org/officeDocument/2006/math">
                    <m:oMathParaPr>
                      <m:jc m:val="centerGroup"/>
                    </m:oMathParaPr>
                    <m:oMath xmlns:m="http://schemas.openxmlformats.org/officeDocument/2006/math">
                      <m:func>
                        <m:funcPr>
                          <m:ctrlPr>
                            <a:rPr lang="en-ZA" sz="1200" i="1" smtClean="0">
                              <a:latin typeface="Cambria Math" panose="02040503050406030204" pitchFamily="18" charset="0"/>
                            </a:rPr>
                          </m:ctrlPr>
                        </m:funcPr>
                        <m:fName>
                          <m:r>
                            <m:rPr>
                              <m:sty m:val="p"/>
                            </m:rPr>
                            <a:rPr lang="sr-Latn-RS" sz="1200" i="0">
                              <a:latin typeface="Cambria Math" panose="02040503050406030204" pitchFamily="18" charset="0"/>
                            </a:rPr>
                            <m:t>cos</m:t>
                          </m:r>
                        </m:fName>
                        <m:e>
                          <m:r>
                            <a:rPr lang="sr-Latn-RS" sz="1200" i="1">
                              <a:latin typeface="Cambria Math" panose="02040503050406030204" pitchFamily="18" charset="0"/>
                            </a:rPr>
                            <m:t>𝜃</m:t>
                          </m:r>
                          <m:r>
                            <a:rPr lang="sr-Latn-RS" sz="1200" i="1">
                              <a:latin typeface="Cambria Math" panose="02040503050406030204" pitchFamily="18" charset="0"/>
                            </a:rPr>
                            <m:t>=</m:t>
                          </m:r>
                          <m:d>
                            <m:dPr>
                              <m:begChr m:val="⟨"/>
                              <m:endChr m:val="⟩"/>
                              <m:ctrlPr>
                                <a:rPr lang="en-ZA" sz="1200" i="1">
                                  <a:latin typeface="Cambria Math" panose="02040503050406030204" pitchFamily="18" charset="0"/>
                                </a:rPr>
                              </m:ctrlPr>
                            </m:dPr>
                            <m:e>
                              <m:r>
                                <a:rPr lang="en-US" sz="1200" b="0" i="1" smtClean="0">
                                  <a:latin typeface="Cambria Math" panose="02040503050406030204" pitchFamily="18" charset="0"/>
                                </a:rPr>
                                <m:t>𝑥</m:t>
                              </m:r>
                            </m:e>
                            <m:e>
                              <m:sSub>
                                <m:sSubPr>
                                  <m:ctrlPr>
                                    <a:rPr lang="en-ZA" sz="1200" i="1" smtClean="0">
                                      <a:latin typeface="Cambria Math" panose="02040503050406030204" pitchFamily="18" charset="0"/>
                                    </a:rPr>
                                  </m:ctrlPr>
                                </m:sSubPr>
                                <m:e>
                                  <m:r>
                                    <a:rPr lang="sr-Latn-RS" sz="1200" i="1">
                                      <a:latin typeface="Cambria Math" panose="02040503050406030204" pitchFamily="18" charset="0"/>
                                    </a:rPr>
                                    <m:t>𝑆</m:t>
                                  </m:r>
                                </m:e>
                                <m:sub>
                                  <m:r>
                                    <a:rPr lang="sr-Latn-RS" sz="1200" i="1">
                                      <a:latin typeface="Cambria Math" panose="02040503050406030204" pitchFamily="18" charset="0"/>
                                    </a:rPr>
                                    <m:t>0</m:t>
                                  </m:r>
                                </m:sub>
                              </m:sSub>
                            </m:e>
                          </m:d>
                          <m:r>
                            <a:rPr lang="sr-Latn-RS" sz="1200" b="0" i="1" smtClean="0">
                              <a:latin typeface="Cambria Math" panose="02040503050406030204" pitchFamily="18" charset="0"/>
                            </a:rPr>
                            <m:t>=</m:t>
                          </m:r>
                          <m:rad>
                            <m:radPr>
                              <m:degHide m:val="on"/>
                              <m:ctrlPr>
                                <a:rPr lang="en-ZA" sz="1200" i="1">
                                  <a:latin typeface="Cambria Math" panose="02040503050406030204" pitchFamily="18" charset="0"/>
                                </a:rPr>
                              </m:ctrlPr>
                            </m:radPr>
                            <m:deg/>
                            <m:e>
                              <m:f>
                                <m:fPr>
                                  <m:ctrlPr>
                                    <a:rPr lang="en-ZA" sz="1200" i="1">
                                      <a:latin typeface="Cambria Math" panose="02040503050406030204" pitchFamily="18" charset="0"/>
                                    </a:rPr>
                                  </m:ctrlPr>
                                </m:fPr>
                                <m:num>
                                  <m:r>
                                    <a:rPr lang="sr-Latn-RS" sz="1200" i="1">
                                      <a:latin typeface="Cambria Math" panose="02040503050406030204" pitchFamily="18" charset="0"/>
                                    </a:rPr>
                                    <m:t>𝑁</m:t>
                                  </m:r>
                                  <m:r>
                                    <a:rPr lang="sr-Latn-RS" sz="1200" i="1">
                                      <a:latin typeface="Cambria Math" panose="02040503050406030204" pitchFamily="18" charset="0"/>
                                    </a:rPr>
                                    <m:t>−</m:t>
                                  </m:r>
                                  <m:r>
                                    <a:rPr lang="sr-Latn-RS" sz="1200">
                                      <a:latin typeface="Cambria Math" panose="02040503050406030204" pitchFamily="18" charset="0"/>
                                    </a:rPr>
                                    <m:t>1</m:t>
                                  </m:r>
                                </m:num>
                                <m:den>
                                  <m:r>
                                    <a:rPr lang="sr-Latn-RS" sz="1200" i="1">
                                      <a:latin typeface="Cambria Math" panose="02040503050406030204" pitchFamily="18" charset="0"/>
                                    </a:rPr>
                                    <m:t>𝑁</m:t>
                                  </m:r>
                                </m:den>
                              </m:f>
                            </m:e>
                          </m:rad>
                          <m:r>
                            <m:rPr>
                              <m:brk m:alnAt="2"/>
                            </m:rPr>
                            <a:rPr lang="sr-Latn-RS" sz="1200" b="0" i="1" smtClean="0">
                              <a:latin typeface="Cambria Math" panose="02040503050406030204" pitchFamily="18" charset="0"/>
                            </a:rPr>
                            <m:t>.</m:t>
                          </m:r>
                          <m:r>
                            <a:rPr lang="sr-Latn-RS" sz="1200" b="0" i="1" smtClean="0">
                              <a:latin typeface="Cambria Math" panose="02040503050406030204" pitchFamily="18" charset="0"/>
                            </a:rPr>
                            <m:t>   </m:t>
                          </m:r>
                          <m:groupChr>
                            <m:groupChrPr>
                              <m:chr m:val="→"/>
                              <m:vertJc m:val="bot"/>
                              <m:ctrlPr>
                                <a:rPr lang="en-ZA" sz="1400" i="1">
                                  <a:latin typeface="Cambria Math" panose="02040503050406030204" pitchFamily="18" charset="0"/>
                                </a:rPr>
                              </m:ctrlPr>
                            </m:groupChrPr>
                            <m:e>
                              <m:sSup>
                                <m:sSupPr>
                                  <m:ctrlPr>
                                    <a:rPr lang="en-ZA" i="1">
                                      <a:latin typeface="Cambria Math" panose="02040503050406030204" pitchFamily="18" charset="0"/>
                                    </a:rPr>
                                  </m:ctrlPr>
                                </m:sSupPr>
                                <m:e>
                                  <m:r>
                                    <a:rPr lang="sr-Latn-RS" i="1">
                                      <a:latin typeface="Cambria Math" panose="02040503050406030204" pitchFamily="18" charset="0"/>
                                    </a:rPr>
                                    <m:t>𝑐𝑜𝑠</m:t>
                                  </m:r>
                                </m:e>
                                <m:sup>
                                  <m:r>
                                    <a:rPr lang="sr-Latn-RS" i="1">
                                      <a:latin typeface="Cambria Math" panose="02040503050406030204" pitchFamily="18" charset="0"/>
                                    </a:rPr>
                                    <m:t>2</m:t>
                                  </m:r>
                                </m:sup>
                              </m:sSup>
                              <m:r>
                                <a:rPr lang="sr-Latn-RS" i="1">
                                  <a:latin typeface="Cambria Math" panose="02040503050406030204" pitchFamily="18" charset="0"/>
                                </a:rPr>
                                <m:t>𝜃</m:t>
                              </m:r>
                              <m:r>
                                <a:rPr lang="sr-Latn-RS" i="1">
                                  <a:latin typeface="Cambria Math" panose="02040503050406030204" pitchFamily="18" charset="0"/>
                                </a:rPr>
                                <m:t>+</m:t>
                              </m:r>
                              <m:sSup>
                                <m:sSupPr>
                                  <m:ctrlPr>
                                    <a:rPr lang="en-ZA" i="1">
                                      <a:latin typeface="Cambria Math" panose="02040503050406030204" pitchFamily="18" charset="0"/>
                                    </a:rPr>
                                  </m:ctrlPr>
                                </m:sSupPr>
                                <m:e>
                                  <m:r>
                                    <a:rPr lang="sr-Latn-RS" i="1">
                                      <a:latin typeface="Cambria Math" panose="02040503050406030204" pitchFamily="18" charset="0"/>
                                    </a:rPr>
                                    <m:t>𝑠𝑖𝑛</m:t>
                                  </m:r>
                                </m:e>
                                <m:sup>
                                  <m:r>
                                    <a:rPr lang="sr-Latn-RS" i="1">
                                      <a:latin typeface="Cambria Math" panose="02040503050406030204" pitchFamily="18" charset="0"/>
                                    </a:rPr>
                                    <m:t>2</m:t>
                                  </m:r>
                                </m:sup>
                              </m:sSup>
                              <m:r>
                                <a:rPr lang="sr-Latn-RS" i="1">
                                  <a:latin typeface="Cambria Math" panose="02040503050406030204" pitchFamily="18" charset="0"/>
                                </a:rPr>
                                <m:t>𝜃</m:t>
                              </m:r>
                              <m:r>
                                <a:rPr lang="sr-Latn-RS" i="1">
                                  <a:latin typeface="Cambria Math" panose="02040503050406030204" pitchFamily="18" charset="0"/>
                                </a:rPr>
                                <m:t>=1</m:t>
                              </m:r>
                            </m:e>
                          </m:groupChr>
                        </m:e>
                      </m:func>
                      <m:func>
                        <m:funcPr>
                          <m:ctrlPr>
                            <a:rPr lang="en-ZA" sz="1200" i="1" smtClean="0">
                              <a:latin typeface="Cambria Math" panose="02040503050406030204" pitchFamily="18" charset="0"/>
                            </a:rPr>
                          </m:ctrlPr>
                        </m:funcPr>
                        <m:fName>
                          <m:r>
                            <a:rPr lang="sr-Latn-RS" sz="1200" i="1">
                              <a:latin typeface="Cambria Math" panose="02040503050406030204" pitchFamily="18" charset="0"/>
                            </a:rPr>
                            <m:t>𝑠𝑖𝑛</m:t>
                          </m:r>
                        </m:fName>
                        <m:e>
                          <m:r>
                            <a:rPr lang="sr-Latn-RS" sz="1200" i="1">
                              <a:latin typeface="Cambria Math" panose="02040503050406030204" pitchFamily="18" charset="0"/>
                            </a:rPr>
                            <m:t>𝜃</m:t>
                          </m:r>
                          <m:r>
                            <a:rPr lang="sr-Latn-RS" sz="1200" i="1">
                              <a:latin typeface="Cambria Math" panose="02040503050406030204" pitchFamily="18" charset="0"/>
                            </a:rPr>
                            <m:t>=</m:t>
                          </m:r>
                          <m:f>
                            <m:fPr>
                              <m:ctrlPr>
                                <a:rPr lang="sr-Latn-RS" sz="1200" i="1" smtClean="0">
                                  <a:latin typeface="Cambria Math" panose="02040503050406030204" pitchFamily="18" charset="0"/>
                                </a:rPr>
                              </m:ctrlPr>
                            </m:fPr>
                            <m:num>
                              <m:r>
                                <a:rPr lang="sr-Latn-RS" sz="1200" b="0" i="1" smtClean="0">
                                  <a:latin typeface="Cambria Math" panose="02040503050406030204" pitchFamily="18" charset="0"/>
                                </a:rPr>
                                <m:t>1</m:t>
                              </m:r>
                            </m:num>
                            <m:den>
                              <m:rad>
                                <m:radPr>
                                  <m:degHide m:val="on"/>
                                  <m:ctrlPr>
                                    <a:rPr lang="en-ZA" sz="1200" i="1">
                                      <a:latin typeface="Cambria Math" panose="02040503050406030204" pitchFamily="18" charset="0"/>
                                    </a:rPr>
                                  </m:ctrlPr>
                                </m:radPr>
                                <m:deg/>
                                <m:e>
                                  <m:r>
                                    <a:rPr lang="sr-Latn-RS" sz="1200" i="1">
                                      <a:latin typeface="Cambria Math" panose="02040503050406030204" pitchFamily="18" charset="0"/>
                                    </a:rPr>
                                    <m:t>𝑁</m:t>
                                  </m:r>
                                </m:e>
                              </m:rad>
                            </m:den>
                          </m:f>
                        </m:e>
                      </m:func>
                    </m:oMath>
                  </m:oMathPara>
                </a14:m>
                <a:endParaRPr lang="en-US" dirty="0"/>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dirty="0"/>
                  <a:t>For a large search space, </a:t>
                </a:r>
                <a14:m>
                  <m:oMath xmlns:m="http://schemas.openxmlformats.org/officeDocument/2006/math">
                    <m:f>
                      <m:fPr>
                        <m:type m:val="lin"/>
                        <m:ctrlPr>
                          <a:rPr lang="sr-Latn-RS" sz="1200" b="0" i="1" smtClean="0">
                            <a:latin typeface="Cambria Math" panose="02040503050406030204" pitchFamily="18" charset="0"/>
                          </a:rPr>
                        </m:ctrlPr>
                      </m:fPr>
                      <m:num>
                        <m:r>
                          <a:rPr lang="sr-Latn-RS" sz="1200" b="0" i="1" smtClean="0">
                            <a:latin typeface="Cambria Math" panose="02040503050406030204" pitchFamily="18" charset="0"/>
                          </a:rPr>
                          <m:t>1</m:t>
                        </m:r>
                      </m:num>
                      <m:den>
                        <m:rad>
                          <m:radPr>
                            <m:degHide m:val="on"/>
                            <m:ctrlPr>
                              <a:rPr lang="en-ZA" sz="1200" i="1">
                                <a:latin typeface="Cambria Math" panose="02040503050406030204" pitchFamily="18" charset="0"/>
                              </a:rPr>
                            </m:ctrlPr>
                          </m:radPr>
                          <m:deg/>
                          <m:e>
                            <m:r>
                              <a:rPr lang="sr-Latn-RS" sz="1200" i="1">
                                <a:latin typeface="Cambria Math" panose="02040503050406030204" pitchFamily="18" charset="0"/>
                              </a:rPr>
                              <m:t>𝑁</m:t>
                            </m:r>
                          </m:e>
                        </m:rad>
                      </m:den>
                    </m:f>
                    <m:r>
                      <a:rPr lang="sr-Latn-RS" sz="120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1</m:t>
                    </m:r>
                  </m:oMath>
                </a14:m>
                <a:r>
                  <a:rPr lang="en-US" dirty="0"/>
                  <a:t>, </a:t>
                </a:r>
                <a:r>
                  <a:rPr lang="en-ZA" dirty="0"/>
                  <a:t>so </a:t>
                </a:r>
                <a14:m>
                  <m:oMath xmlns:m="http://schemas.openxmlformats.org/officeDocument/2006/math">
                    <m:r>
                      <a:rPr lang="sr-Latn-RS" sz="1200" i="1" smtClean="0">
                        <a:latin typeface="Cambria Math" panose="02040503050406030204" pitchFamily="18" charset="0"/>
                      </a:rPr>
                      <m:t>𝜃</m:t>
                    </m:r>
                  </m:oMath>
                </a14:m>
                <a:r>
                  <a:rPr lang="el-GR" dirty="0"/>
                  <a:t> </a:t>
                </a:r>
                <a:r>
                  <a:rPr lang="en-ZA" dirty="0"/>
                  <a:t>is small. Using the small-angle approximation </a:t>
                </a:r>
                <a14:m>
                  <m:oMath xmlns:m="http://schemas.openxmlformats.org/officeDocument/2006/math">
                    <m:func>
                      <m:funcPr>
                        <m:ctrlPr>
                          <a:rPr lang="en-ZA" sz="1200" i="1" smtClean="0">
                            <a:latin typeface="Cambria Math" panose="02040503050406030204" pitchFamily="18" charset="0"/>
                          </a:rPr>
                        </m:ctrlPr>
                      </m:funcPr>
                      <m:fName>
                        <m:r>
                          <m:rPr>
                            <m:sty m:val="p"/>
                          </m:rPr>
                          <a:rPr lang="sr-Latn-RS" sz="1200" i="0">
                            <a:latin typeface="Cambria Math" panose="02040503050406030204" pitchFamily="18" charset="0"/>
                          </a:rPr>
                          <m:t>sin</m:t>
                        </m:r>
                      </m:fName>
                      <m:e>
                        <m:r>
                          <a:rPr lang="sr-Latn-RS" sz="1200" i="1">
                            <a:latin typeface="Cambria Math" panose="02040503050406030204" pitchFamily="18" charset="0"/>
                          </a:rPr>
                          <m:t>𝜃</m:t>
                        </m:r>
                        <m:r>
                          <a:rPr lang="sr-Latn-RS" sz="1200" i="1" smtClean="0">
                            <a:latin typeface="Cambria Math" panose="02040503050406030204" pitchFamily="18" charset="0"/>
                            <a:ea typeface="Cambria Math" panose="02040503050406030204" pitchFamily="18" charset="0"/>
                          </a:rPr>
                          <m:t>≈</m:t>
                        </m:r>
                        <m:r>
                          <a:rPr lang="sr-Latn-RS" sz="1200" i="1">
                            <a:latin typeface="Cambria Math" panose="02040503050406030204" pitchFamily="18" charset="0"/>
                          </a:rPr>
                          <m:t>𝜃</m:t>
                        </m:r>
                      </m:e>
                    </m:func>
                  </m:oMath>
                </a14:m>
                <a:r>
                  <a:rPr lang="en-US" dirty="0"/>
                  <a:t>,</a:t>
                </a:r>
              </a:p>
              <a:p>
                <a:pPr marL="0" marR="0" lvl="0" indent="0" algn="just" defTabSz="914400" rtl="0" eaLnBrk="1" fontAlgn="auto" latinLnBrk="0" hangingPunct="1">
                  <a:lnSpc>
                    <a:spcPct val="100000"/>
                  </a:lnSpc>
                  <a:spcBef>
                    <a:spcPts val="0"/>
                  </a:spcBef>
                  <a:spcAft>
                    <a:spcPts val="0"/>
                  </a:spcAft>
                  <a:buClrTx/>
                  <a:buSzTx/>
                  <a:buFont typeface="+mj-lt"/>
                  <a:buNone/>
                  <a:tabLst/>
                  <a:defRPr/>
                </a:pPr>
                <a14:m>
                  <m:oMathPara xmlns:m="http://schemas.openxmlformats.org/officeDocument/2006/math">
                    <m:oMathParaPr>
                      <m:jc m:val="centerGroup"/>
                    </m:oMathParaPr>
                    <m:oMath xmlns:m="http://schemas.openxmlformats.org/officeDocument/2006/math">
                      <m:r>
                        <a:rPr lang="sr-Latn-RS" sz="1200" i="1" smtClean="0">
                          <a:latin typeface="Cambria Math" panose="02040503050406030204" pitchFamily="18" charset="0"/>
                        </a:rPr>
                        <m:t>𝜃</m:t>
                      </m:r>
                      <m:r>
                        <a:rPr lang="sr-Latn-RS" sz="1200" i="1" smtClean="0">
                          <a:latin typeface="Cambria Math" panose="02040503050406030204" pitchFamily="18" charset="0"/>
                        </a:rPr>
                        <m:t>=</m:t>
                      </m:r>
                      <m:f>
                        <m:fPr>
                          <m:ctrlPr>
                            <a:rPr lang="en-ZA" sz="1200" i="1">
                              <a:latin typeface="Cambria Math" panose="02040503050406030204" pitchFamily="18" charset="0"/>
                            </a:rPr>
                          </m:ctrlPr>
                        </m:fPr>
                        <m:num>
                          <m:r>
                            <a:rPr lang="sr-Latn-RS" sz="1200" i="1">
                              <a:latin typeface="Cambria Math" panose="02040503050406030204" pitchFamily="18" charset="0"/>
                            </a:rPr>
                            <m:t>1</m:t>
                          </m:r>
                        </m:num>
                        <m:den>
                          <m:rad>
                            <m:radPr>
                              <m:degHide m:val="on"/>
                              <m:ctrlPr>
                                <a:rPr lang="en-ZA" sz="1200" i="1">
                                  <a:latin typeface="Cambria Math" panose="02040503050406030204" pitchFamily="18" charset="0"/>
                                </a:rPr>
                              </m:ctrlPr>
                            </m:radPr>
                            <m:deg/>
                            <m:e>
                              <m:r>
                                <a:rPr lang="sr-Latn-RS" sz="1200" i="1">
                                  <a:latin typeface="Cambria Math" panose="02040503050406030204" pitchFamily="18" charset="0"/>
                                </a:rPr>
                                <m:t>𝑁</m:t>
                              </m:r>
                            </m:e>
                          </m:rad>
                        </m:den>
                      </m:f>
                    </m:oMath>
                  </m:oMathPara>
                </a14:m>
                <a:endParaRPr lang="en-US" dirty="0"/>
              </a:p>
            </p:txBody>
          </p:sp>
        </mc:Choice>
        <mc:Fallback xmlns="">
          <p:sp>
            <p:nvSpPr>
              <p:cNvPr id="3" name="Notes Placeholder 2"/>
              <p:cNvSpPr>
                <a:spLocks noGrp="1"/>
              </p:cNvSpPr>
              <p:nvPr>
                <p:ph type="body" idx="1"/>
              </p:nvPr>
            </p:nvSpPr>
            <p:spPr/>
            <p:txBody>
              <a:bodyPr/>
              <a:lstStyle/>
              <a:p>
                <a:r>
                  <a:rPr lang="en-US" sz="2000" dirty="0"/>
                  <a:t>The angle between the state of the register and the </a:t>
                </a:r>
                <a:r>
                  <a:rPr lang="en-US" sz="2000" dirty="0">
                    <a:effectLst/>
                  </a:rPr>
                  <a:t>|good⟩</a:t>
                </a:r>
                <a:r>
                  <a:rPr lang="en-US" sz="2000" dirty="0"/>
                  <a:t> state will decrease with each iteration, resulting in a higher probability of measuring a valid result. The angle between the result and the ‘good’ state </a:t>
                </a:r>
                <a:r>
                  <a:rPr lang="en-US" sz="2000" i="0">
                    <a:latin typeface="Cambria Math" panose="02040503050406030204" pitchFamily="18" charset="0"/>
                    <a:ea typeface="Cambria Math" panose="02040503050406030204" pitchFamily="18" charset="0"/>
                  </a:rPr>
                  <a:t>𝛼</a:t>
                </a:r>
                <a:r>
                  <a:rPr lang="en-US" sz="2000" dirty="0"/>
                  <a:t> can be calculated as shown. For k iterations this angle becomes smaller and smaller.</a:t>
                </a:r>
              </a:p>
              <a:p>
                <a:pPr marL="457200" indent="-457200">
                  <a:buFont typeface="+mj-lt"/>
                  <a:buAutoNum type="arabicPeriod"/>
                </a:pPr>
                <a:r>
                  <a:rPr lang="en-US" sz="2000" dirty="0"/>
                  <a:t>To calculate the probability of measuring a correct result we square the inner product of expected result and the current vector.</a:t>
                </a:r>
              </a:p>
              <a:p>
                <a:pPr marL="457200" indent="-457200">
                  <a:buFont typeface="+mj-lt"/>
                  <a:buAutoNum type="arabicPeriod"/>
                </a:pPr>
                <a:r>
                  <a:rPr lang="en-US" sz="2000" dirty="0"/>
                  <a:t>From here we can find the optimal number of iterations knowing that sine function squared reaches it maximum at </a:t>
                </a:r>
                <a:r>
                  <a:rPr lang="en-US" sz="2000" i="0">
                    <a:latin typeface="Cambria Math" panose="02040503050406030204" pitchFamily="18" charset="0"/>
                    <a:ea typeface="Cambria Math" panose="02040503050406030204" pitchFamily="18" charset="0"/>
                  </a:rPr>
                  <a:t>𝜋∕</a:t>
                </a:r>
                <a:r>
                  <a:rPr lang="en-US" sz="2000" b="0" i="0">
                    <a:latin typeface="Cambria Math" panose="02040503050406030204" pitchFamily="18" charset="0"/>
                    <a:ea typeface="Cambria Math" panose="02040503050406030204" pitchFamily="18" charset="0"/>
                  </a:rPr>
                  <a:t>2</a:t>
                </a:r>
                <a:r>
                  <a:rPr lang="en-US" sz="2000" dirty="0"/>
                  <a:t>. </a:t>
                </a:r>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22</a:t>
            </a:fld>
            <a:endParaRPr lang="en-US"/>
          </a:p>
        </p:txBody>
      </p:sp>
    </p:spTree>
    <p:extLst>
      <p:ext uri="{BB962C8B-B14F-4D97-AF65-F5344CB8AC3E}">
        <p14:creationId xmlns:p14="http://schemas.microsoft.com/office/powerpoint/2010/main" val="12485909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After the oracle is applied, the state vector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𝑆</m:t>
                            </m:r>
                          </m:e>
                          <m:sub>
                            <m:r>
                              <a:rPr lang="sr-Latn-RS" sz="1200" b="0" i="1" smtClean="0">
                                <a:solidFill>
                                  <a:schemeClr val="tx1"/>
                                </a:solidFill>
                                <a:latin typeface="Cambria Math" panose="02040503050406030204" pitchFamily="18" charset="0"/>
                              </a:rPr>
                              <m:t>0</m:t>
                            </m:r>
                          </m:sub>
                        </m:sSub>
                      </m:e>
                    </m:d>
                  </m:oMath>
                </a14:m>
                <a:r>
                  <a:rPr lang="en-ZA" dirty="0"/>
                  <a:t> is reflected about the non-target direction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𝑥</m:t>
                        </m:r>
                      </m:e>
                    </m:d>
                  </m:oMath>
                </a14:m>
                <a:r>
                  <a:rPr lang="en-ZA" dirty="0"/>
                  <a:t>, producing the new state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𝑆</m:t>
                            </m:r>
                          </m:e>
                          <m:sub>
                            <m:r>
                              <a:rPr lang="en-US" sz="1200" b="0" i="1" smtClean="0">
                                <a:solidFill>
                                  <a:schemeClr val="tx1"/>
                                </a:solidFill>
                                <a:latin typeface="Cambria Math" panose="02040503050406030204" pitchFamily="18" charset="0"/>
                              </a:rPr>
                              <m:t>1</m:t>
                            </m:r>
                          </m:sub>
                        </m:sSub>
                      </m:e>
                    </m:d>
                  </m:oMath>
                </a14:m>
                <a:r>
                  <a:rPr lang="en-ZA" dirty="0"/>
                  <a:t>. Geometrically, this reflection changes the sign of the component along the target direction </a:t>
                </a:r>
                <a14:m>
                  <m:oMath xmlns:m="http://schemas.openxmlformats.org/officeDocument/2006/math">
                    <m:d>
                      <m:dPr>
                        <m:begChr m:val="|"/>
                        <m:endChr m:val="⟩"/>
                        <m:ctrlPr>
                          <a:rPr lang="en-US" sz="1200" i="1" smtClean="0">
                            <a:latin typeface="Cambria Math" panose="02040503050406030204" pitchFamily="18" charset="0"/>
                          </a:rPr>
                        </m:ctrlPr>
                      </m:dPr>
                      <m:e>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m:t>
                            </m:r>
                          </m:sup>
                        </m:sSup>
                      </m:e>
                    </m:d>
                  </m:oMath>
                </a14:m>
                <a:r>
                  <a:rPr lang="en-ZA" dirty="0"/>
                  <a:t>, while leaving the component along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𝑥</m:t>
                        </m:r>
                      </m:e>
                    </m:d>
                  </m:oMath>
                </a14:m>
                <a:r>
                  <a:rPr lang="en-ZA" dirty="0"/>
                  <a:t> unchanged. As a result, the amplitude of the target state changes sign, which is exactly the phase flip performed by the oracle.</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dirty="0"/>
                  <a:t>The angle between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𝑆</m:t>
                            </m:r>
                          </m:e>
                          <m:sub>
                            <m:r>
                              <a:rPr lang="sr-Latn-RS" sz="1200" b="0" i="1" smtClean="0">
                                <a:solidFill>
                                  <a:schemeClr val="tx1"/>
                                </a:solidFill>
                                <a:latin typeface="Cambria Math" panose="02040503050406030204" pitchFamily="18" charset="0"/>
                              </a:rPr>
                              <m:t>0</m:t>
                            </m:r>
                          </m:sub>
                        </m:sSub>
                      </m:e>
                    </m:d>
                  </m:oMath>
                </a14:m>
                <a:r>
                  <a:rPr lang="en-ZA" dirty="0"/>
                  <a:t> and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𝑥</m:t>
                        </m:r>
                      </m:e>
                    </m:d>
                  </m:oMath>
                </a14:m>
                <a:r>
                  <a:rPr lang="en-ZA" dirty="0"/>
                  <a:t> is </a:t>
                </a:r>
                <a14:m>
                  <m:oMath xmlns:m="http://schemas.openxmlformats.org/officeDocument/2006/math">
                    <m:r>
                      <a:rPr lang="en-US" sz="1200" i="1" smtClean="0">
                        <a:latin typeface="Cambria Math" panose="02040503050406030204" pitchFamily="18" charset="0"/>
                        <a:ea typeface="Cambria Math" panose="02040503050406030204" pitchFamily="18" charset="0"/>
                      </a:rPr>
                      <m:t>𝜃</m:t>
                    </m:r>
                  </m:oMath>
                </a14:m>
                <a:r>
                  <a:rPr lang="el-GR" dirty="0"/>
                  <a:t>, </a:t>
                </a:r>
                <a:r>
                  <a:rPr lang="en-ZA" dirty="0"/>
                  <a:t>so the reflected vector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𝑆</m:t>
                            </m:r>
                          </m:e>
                          <m:sub>
                            <m:r>
                              <a:rPr lang="en-US" sz="1200" b="0" i="1" smtClean="0">
                                <a:solidFill>
                                  <a:schemeClr val="tx1"/>
                                </a:solidFill>
                                <a:latin typeface="Cambria Math" panose="02040503050406030204" pitchFamily="18" charset="0"/>
                              </a:rPr>
                              <m:t>1</m:t>
                            </m:r>
                          </m:sub>
                        </m:sSub>
                      </m:e>
                    </m:d>
                  </m:oMath>
                </a14:m>
                <a:r>
                  <a:rPr lang="en-ZA" dirty="0"/>
                  <a:t> lies at the same angle </a:t>
                </a:r>
                <a14:m>
                  <m:oMath xmlns:m="http://schemas.openxmlformats.org/officeDocument/2006/math">
                    <m:r>
                      <a:rPr lang="en-US" sz="1200" i="1" smtClean="0">
                        <a:latin typeface="Cambria Math" panose="02040503050406030204" pitchFamily="18" charset="0"/>
                        <a:ea typeface="Cambria Math" panose="02040503050406030204" pitchFamily="18" charset="0"/>
                      </a:rPr>
                      <m:t>𝜃</m:t>
                    </m:r>
                  </m:oMath>
                </a14:m>
                <a:r>
                  <a:rPr lang="el-GR" dirty="0"/>
                  <a:t> </a:t>
                </a:r>
                <a:r>
                  <a:rPr lang="en-ZA" dirty="0"/>
                  <a:t>on the opposite side of the ∣x⟩ axis.</a:t>
                </a:r>
              </a:p>
            </p:txBody>
          </p:sp>
        </mc:Choice>
        <mc:Fallback xmlns="">
          <p:sp>
            <p:nvSpPr>
              <p:cNvPr id="3" name="Notes Placeholder 2"/>
              <p:cNvSpPr>
                <a:spLocks noGrp="1"/>
              </p:cNvSpPr>
              <p:nvPr>
                <p:ph type="body" idx="1"/>
              </p:nvPr>
            </p:nvSpPr>
            <p:spPr/>
            <p:txBody>
              <a:bodyPr/>
              <a:lstStyle/>
              <a:p>
                <a:r>
                  <a:rPr lang="en-US" sz="2000" dirty="0"/>
                  <a:t>The angle between the state of the register and the </a:t>
                </a:r>
                <a:r>
                  <a:rPr lang="en-US" sz="2000" dirty="0">
                    <a:effectLst/>
                  </a:rPr>
                  <a:t>|good⟩</a:t>
                </a:r>
                <a:r>
                  <a:rPr lang="en-US" sz="2000" dirty="0"/>
                  <a:t> state will decrease with each iteration, resulting in a higher probability of measuring a valid result. The angle between the result and the ‘good’ state </a:t>
                </a:r>
                <a:r>
                  <a:rPr lang="en-US" sz="2000" i="0">
                    <a:latin typeface="Cambria Math" panose="02040503050406030204" pitchFamily="18" charset="0"/>
                    <a:ea typeface="Cambria Math" panose="02040503050406030204" pitchFamily="18" charset="0"/>
                  </a:rPr>
                  <a:t>𝛼</a:t>
                </a:r>
                <a:r>
                  <a:rPr lang="en-US" sz="2000" dirty="0"/>
                  <a:t> can be calculated as shown. For k iterations this angle becomes smaller and smaller.</a:t>
                </a:r>
              </a:p>
              <a:p>
                <a:pPr marL="457200" indent="-457200">
                  <a:buFont typeface="+mj-lt"/>
                  <a:buAutoNum type="arabicPeriod"/>
                </a:pPr>
                <a:r>
                  <a:rPr lang="en-US" sz="2000" dirty="0"/>
                  <a:t>To calculate the probability of measuring a correct result we square the inner product of expected result and the current vector.</a:t>
                </a:r>
              </a:p>
              <a:p>
                <a:pPr marL="457200" indent="-457200">
                  <a:buFont typeface="+mj-lt"/>
                  <a:buAutoNum type="arabicPeriod"/>
                </a:pPr>
                <a:r>
                  <a:rPr lang="en-US" sz="2000" dirty="0"/>
                  <a:t>From here we can find the optimal number of iterations knowing that sine function squared reaches it maximum at </a:t>
                </a:r>
                <a:r>
                  <a:rPr lang="en-US" sz="2000" i="0">
                    <a:latin typeface="Cambria Math" panose="02040503050406030204" pitchFamily="18" charset="0"/>
                    <a:ea typeface="Cambria Math" panose="02040503050406030204" pitchFamily="18" charset="0"/>
                  </a:rPr>
                  <a:t>𝜋∕</a:t>
                </a:r>
                <a:r>
                  <a:rPr lang="en-US" sz="2000" b="0" i="0">
                    <a:latin typeface="Cambria Math" panose="02040503050406030204" pitchFamily="18" charset="0"/>
                    <a:ea typeface="Cambria Math" panose="02040503050406030204" pitchFamily="18" charset="0"/>
                  </a:rPr>
                  <a:t>2</a:t>
                </a:r>
                <a:r>
                  <a:rPr lang="en-US" sz="2000" dirty="0"/>
                  <a:t>. </a:t>
                </a:r>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23</a:t>
            </a:fld>
            <a:endParaRPr lang="en-US"/>
          </a:p>
        </p:txBody>
      </p:sp>
    </p:spTree>
    <p:extLst>
      <p:ext uri="{BB962C8B-B14F-4D97-AF65-F5344CB8AC3E}">
        <p14:creationId xmlns:p14="http://schemas.microsoft.com/office/powerpoint/2010/main" val="387760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dirty="0"/>
                  <a:t>Applying the diffusion operator reflects the state</a:t>
                </a:r>
                <a:r>
                  <a:rPr lang="en-US" sz="1200" baseline="0" dirty="0">
                    <a:solidFill>
                      <a:schemeClr val="tx1"/>
                    </a:solidFill>
                  </a:rPr>
                  <a:t>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𝑆</m:t>
                            </m:r>
                          </m:e>
                          <m:sub>
                            <m:r>
                              <a:rPr lang="en-US" sz="1200" b="0" i="1" smtClean="0">
                                <a:solidFill>
                                  <a:schemeClr val="tx1"/>
                                </a:solidFill>
                                <a:latin typeface="Cambria Math" panose="02040503050406030204" pitchFamily="18" charset="0"/>
                              </a:rPr>
                              <m:t>1</m:t>
                            </m:r>
                          </m:sub>
                        </m:sSub>
                      </m:e>
                    </m:d>
                  </m:oMath>
                </a14:m>
                <a:r>
                  <a:rPr lang="en-US" sz="1200" baseline="0" dirty="0">
                    <a:solidFill>
                      <a:schemeClr val="tx1"/>
                    </a:solidFill>
                  </a:rPr>
                  <a:t> a</a:t>
                </a:r>
                <a:r>
                  <a:rPr lang="en-ZA" dirty="0"/>
                  <a:t>bout the initial equal-superposition vector</a:t>
                </a:r>
                <a:r>
                  <a:rPr lang="en-US" sz="1200" baseline="0" dirty="0">
                    <a:solidFill>
                      <a:schemeClr val="tx1"/>
                    </a:solidFill>
                  </a:rPr>
                  <a:t>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𝑆</m:t>
                            </m:r>
                          </m:e>
                          <m:sub>
                            <m:r>
                              <a:rPr lang="en-US" sz="1200" b="0" i="1" smtClean="0">
                                <a:solidFill>
                                  <a:schemeClr val="tx1"/>
                                </a:solidFill>
                                <a:latin typeface="Cambria Math" panose="02040503050406030204" pitchFamily="18" charset="0"/>
                              </a:rPr>
                              <m:t>0</m:t>
                            </m:r>
                          </m:sub>
                        </m:sSub>
                      </m:e>
                    </m:d>
                  </m:oMath>
                </a14:m>
                <a:r>
                  <a:rPr lang="en-US" sz="1200" baseline="0" dirty="0">
                    <a:solidFill>
                      <a:schemeClr val="tx1"/>
                    </a:solidFill>
                  </a:rPr>
                  <a:t>, </a:t>
                </a:r>
                <a:r>
                  <a:rPr lang="en-ZA" dirty="0"/>
                  <a:t>producing a new state</a:t>
                </a:r>
                <a:r>
                  <a:rPr lang="en-US" sz="1200" baseline="0" dirty="0">
                    <a:solidFill>
                      <a:schemeClr val="tx1"/>
                    </a:solidFill>
                  </a:rPr>
                  <a:t>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𝑆</m:t>
                            </m:r>
                          </m:e>
                          <m:sub>
                            <m:r>
                              <a:rPr lang="en-US" sz="1200" b="0" i="1" smtClean="0">
                                <a:solidFill>
                                  <a:schemeClr val="tx1"/>
                                </a:solidFill>
                                <a:latin typeface="Cambria Math" panose="02040503050406030204" pitchFamily="18" charset="0"/>
                              </a:rPr>
                              <m:t>2</m:t>
                            </m:r>
                          </m:sub>
                        </m:sSub>
                      </m:e>
                    </m:d>
                  </m:oMath>
                </a14:m>
                <a:r>
                  <a:rPr lang="en-US" sz="1200" baseline="0" dirty="0">
                    <a:solidFill>
                      <a:schemeClr val="tx1"/>
                    </a:solidFill>
                  </a:rPr>
                  <a:t>. </a:t>
                </a:r>
                <a:r>
                  <a:rPr lang="en-ZA" dirty="0"/>
                  <a:t>This second reflection moves the state closer to the target direction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p>
                          <m:sSupPr>
                            <m:ctrlPr>
                              <a:rPr lang="en-US" sz="120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𝑥</m:t>
                            </m:r>
                          </m:e>
                          <m:sup>
                            <m:r>
                              <a:rPr lang="en-US" sz="1200" b="0" i="1" smtClean="0">
                                <a:solidFill>
                                  <a:schemeClr val="tx1"/>
                                </a:solidFill>
                                <a:latin typeface="Cambria Math" panose="02040503050406030204" pitchFamily="18" charset="0"/>
                              </a:rPr>
                              <m:t>∗</m:t>
                            </m:r>
                          </m:sup>
                        </m:sSup>
                      </m:e>
                    </m:d>
                  </m:oMath>
                </a14:m>
                <a:r>
                  <a:rPr lang="en-ZA" dirty="0"/>
                  <a:t>.</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ZA" sz="1200" baseline="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dirty="0"/>
                  <a:t>Together, the oracle and diffuser produce a rotation of approximately </a:t>
                </a:r>
                <a:r>
                  <a:rPr lang="en-US" sz="1200" dirty="0"/>
                  <a:t>2</a:t>
                </a:r>
                <a14:m>
                  <m:oMath xmlns:m="http://schemas.openxmlformats.org/officeDocument/2006/math">
                    <m:r>
                      <a:rPr lang="en-US" sz="1200" i="1">
                        <a:latin typeface="Cambria Math" panose="02040503050406030204" pitchFamily="18" charset="0"/>
                        <a:ea typeface="Cambria Math" panose="02040503050406030204" pitchFamily="18" charset="0"/>
                      </a:rPr>
                      <m:t>𝜃</m:t>
                    </m:r>
                  </m:oMath>
                </a14:m>
                <a:r>
                  <a:rPr lang="el-GR" dirty="0"/>
                  <a:t> </a:t>
                </a:r>
                <a:r>
                  <a:rPr lang="en-ZA" dirty="0"/>
                  <a:t>toward the target. After </a:t>
                </a:r>
                <a14:m>
                  <m:oMath xmlns:m="http://schemas.openxmlformats.org/officeDocument/2006/math">
                    <m:r>
                      <m:rPr>
                        <m:nor/>
                      </m:rPr>
                      <a:rPr lang="en-US" sz="1200" b="0" i="1" dirty="0" smtClean="0"/>
                      <m:t>k</m:t>
                    </m:r>
                  </m:oMath>
                </a14:m>
                <a:r>
                  <a:rPr lang="en-ZA" dirty="0"/>
                  <a:t> iterations, the state has therefore rotated by approximately </a:t>
                </a:r>
                <a14:m>
                  <m:oMath xmlns:m="http://schemas.openxmlformats.org/officeDocument/2006/math">
                    <m:r>
                      <m:rPr>
                        <m:nor/>
                      </m:rPr>
                      <a:rPr lang="en-US" sz="1200" dirty="0" smtClean="0"/>
                      <m:t>2</m:t>
                    </m:r>
                    <m:r>
                      <m:rPr>
                        <m:nor/>
                      </m:rPr>
                      <a:rPr lang="en-US" sz="1200" b="0" i="0" dirty="0" smtClean="0"/>
                      <m:t>k</m:t>
                    </m:r>
                    <m:r>
                      <a:rPr lang="en-US" sz="1200" i="1">
                        <a:latin typeface="Cambria Math" panose="02040503050406030204" pitchFamily="18" charset="0"/>
                        <a:ea typeface="Cambria Math" panose="02040503050406030204" pitchFamily="18" charset="0"/>
                      </a:rPr>
                      <m:t>𝜃</m:t>
                    </m:r>
                  </m:oMath>
                </a14:m>
                <a:r>
                  <a:rPr lang="el-GR" dirty="0"/>
                  <a:t>, </a:t>
                </a:r>
                <a:r>
                  <a:rPr lang="en-ZA" dirty="0"/>
                  <a:t>in addition to its initial angle </a:t>
                </a:r>
                <a14:m>
                  <m:oMath xmlns:m="http://schemas.openxmlformats.org/officeDocument/2006/math">
                    <m:r>
                      <a:rPr lang="en-US" sz="1200" i="1" smtClean="0">
                        <a:latin typeface="Cambria Math" panose="02040503050406030204" pitchFamily="18" charset="0"/>
                        <a:ea typeface="Cambria Math" panose="02040503050406030204" pitchFamily="18" charset="0"/>
                      </a:rPr>
                      <m:t>𝜃</m:t>
                    </m:r>
                  </m:oMath>
                </a14:m>
                <a:r>
                  <a:rPr lang="el-GR" dirty="0"/>
                  <a:t>.</a:t>
                </a:r>
                <a:endParaRPr lang="en-US" dirty="0"/>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sz="1200" baseline="0" dirty="0">
                  <a:solidFill>
                    <a:schemeClr val="tx1"/>
                  </a:solidFill>
                </a:endParaRPr>
              </a:p>
              <a:p>
                <a:r>
                  <a:rPr lang="en-ZA" dirty="0"/>
                  <a:t>The target direction corresponds to an angle of </a:t>
                </a:r>
                <a14:m>
                  <m:oMath xmlns:m="http://schemas.openxmlformats.org/officeDocument/2006/math">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𝜋</m:t>
                        </m:r>
                      </m:num>
                      <m:den>
                        <m:r>
                          <a:rPr lang="en-US" sz="1200" b="0" i="1" smtClean="0">
                            <a:solidFill>
                              <a:schemeClr val="tx1"/>
                            </a:solidFill>
                            <a:latin typeface="Cambria Math" panose="02040503050406030204" pitchFamily="18" charset="0"/>
                            <a:ea typeface="Cambria Math" panose="02040503050406030204" pitchFamily="18" charset="0"/>
                          </a:rPr>
                          <m:t>2</m:t>
                        </m:r>
                      </m:den>
                    </m:f>
                  </m:oMath>
                </a14:m>
                <a:r>
                  <a:rPr lang="el-GR" dirty="0"/>
                  <a:t>, </a:t>
                </a:r>
                <a:r>
                  <a:rPr lang="en-ZA" dirty="0"/>
                  <a:t>so the optimal number of iterations occurs approximately when </a:t>
                </a:r>
                <a14:m>
                  <m:oMath xmlns:m="http://schemas.openxmlformats.org/officeDocument/2006/math">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𝑘</m:t>
                        </m:r>
                        <m:r>
                          <a:rPr lang="en-US" sz="1200" b="0" i="1" smtClean="0">
                            <a:latin typeface="Cambria Math" panose="02040503050406030204" pitchFamily="18" charset="0"/>
                            <a:ea typeface="Cambria Math" panose="02040503050406030204" pitchFamily="18" charset="0"/>
                          </a:rPr>
                          <m:t>+1</m:t>
                        </m:r>
                      </m:e>
                    </m:d>
                    <m:r>
                      <a:rPr lang="en-US" sz="1200" i="1">
                        <a:latin typeface="Cambria Math" panose="02040503050406030204" pitchFamily="18" charset="0"/>
                        <a:ea typeface="Cambria Math" panose="02040503050406030204" pitchFamily="18" charset="0"/>
                      </a:rPr>
                      <m:t>𝜃</m:t>
                    </m:r>
                    <m:r>
                      <a:rPr lang="en-US" sz="1200" i="1" smtClean="0">
                        <a:latin typeface="Cambria Math" panose="02040503050406030204" pitchFamily="18" charset="0"/>
                        <a:ea typeface="Cambria Math" panose="02040503050406030204" pitchFamily="18" charset="0"/>
                      </a:rPr>
                      <m:t>≈</m:t>
                    </m:r>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𝜋</m:t>
                        </m:r>
                      </m:num>
                      <m:den>
                        <m:r>
                          <a:rPr lang="en-US" sz="1200" b="0" i="1" smtClean="0">
                            <a:solidFill>
                              <a:schemeClr val="tx1"/>
                            </a:solidFill>
                            <a:latin typeface="Cambria Math" panose="02040503050406030204" pitchFamily="18" charset="0"/>
                            <a:ea typeface="Cambria Math" panose="02040503050406030204" pitchFamily="18" charset="0"/>
                          </a:rPr>
                          <m:t>2</m:t>
                        </m:r>
                      </m:den>
                    </m:f>
                  </m:oMath>
                </a14:m>
                <a:r>
                  <a:rPr lang="en-ZA" dirty="0"/>
                  <a:t>. For large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𝑁</m:t>
                    </m:r>
                  </m:oMath>
                </a14:m>
                <a:r>
                  <a:rPr lang="en-ZA" dirty="0"/>
                  <a:t>, where </a:t>
                </a:r>
                <a14:m>
                  <m:oMath xmlns:m="http://schemas.openxmlformats.org/officeDocument/2006/math">
                    <m:r>
                      <a:rPr lang="en-US" sz="1200" i="1" smtClean="0">
                        <a:latin typeface="Cambria Math" panose="02040503050406030204" pitchFamily="18" charset="0"/>
                        <a:ea typeface="Cambria Math" panose="02040503050406030204" pitchFamily="18" charset="0"/>
                      </a:rPr>
                      <m:t>𝜃</m:t>
                    </m:r>
                    <m:r>
                      <a:rPr lang="en-US" sz="1200" i="1" smtClean="0">
                        <a:latin typeface="Cambria Math" panose="02040503050406030204" pitchFamily="18" charset="0"/>
                        <a:ea typeface="Cambria Math" panose="02040503050406030204" pitchFamily="18" charset="0"/>
                      </a:rPr>
                      <m:t>≈1/</m:t>
                    </m:r>
                    <m:rad>
                      <m:radPr>
                        <m:degHide m:val="on"/>
                        <m:ctrlPr>
                          <a:rPr lang="en-US" sz="1200" i="1" smtClean="0">
                            <a:latin typeface="Cambria Math" panose="02040503050406030204" pitchFamily="18" charset="0"/>
                            <a:ea typeface="Cambria Math" panose="02040503050406030204" pitchFamily="18" charset="0"/>
                          </a:rPr>
                        </m:ctrlPr>
                      </m:radPr>
                      <m:deg/>
                      <m:e>
                        <m:r>
                          <a:rPr lang="en-US" sz="1200" i="1">
                            <a:latin typeface="Cambria Math" panose="02040503050406030204" pitchFamily="18" charset="0"/>
                            <a:ea typeface="Cambria Math" panose="02040503050406030204" pitchFamily="18" charset="0"/>
                          </a:rPr>
                          <m:t>𝑁</m:t>
                        </m:r>
                      </m:e>
                    </m:rad>
                  </m:oMath>
                </a14:m>
                <a:r>
                  <a:rPr lang="en-ZA" dirty="0"/>
                  <a:t>​, this gives</a:t>
                </a:r>
              </a:p>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𝑘</m:t>
                          </m:r>
                        </m:e>
                        <m:sub>
                          <m:r>
                            <a:rPr lang="en-US" sz="1200" i="1">
                              <a:latin typeface="Cambria Math" panose="02040503050406030204" pitchFamily="18" charset="0"/>
                              <a:ea typeface="Cambria Math" panose="02040503050406030204" pitchFamily="18" charset="0"/>
                            </a:rPr>
                            <m:t>𝑜𝑝𝑡</m:t>
                          </m:r>
                        </m:sub>
                      </m:sSub>
                      <m:r>
                        <a:rPr lang="en-US" sz="1200" i="1">
                          <a:latin typeface="Cambria Math" panose="02040503050406030204" pitchFamily="18" charset="0"/>
                          <a:ea typeface="Cambria Math" panose="02040503050406030204" pitchFamily="18" charset="0"/>
                        </a:rPr>
                        <m:t>=</m:t>
                      </m:r>
                      <m:f>
                        <m:fPr>
                          <m:ctrlPr>
                            <a:rPr lang="en-US" sz="1200" i="1">
                              <a:latin typeface="Cambria Math" panose="02040503050406030204" pitchFamily="18" charset="0"/>
                              <a:ea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𝜋</m:t>
                          </m:r>
                        </m:num>
                        <m:den>
                          <m:r>
                            <a:rPr lang="en-US" sz="1200" i="1">
                              <a:latin typeface="Cambria Math" panose="02040503050406030204" pitchFamily="18" charset="0"/>
                              <a:ea typeface="Cambria Math" panose="02040503050406030204" pitchFamily="18" charset="0"/>
                            </a:rPr>
                            <m:t>4</m:t>
                          </m:r>
                        </m:den>
                      </m:f>
                      <m:rad>
                        <m:radPr>
                          <m:degHide m:val="on"/>
                          <m:ctrlPr>
                            <a:rPr lang="en-US" sz="1200" i="1">
                              <a:latin typeface="Cambria Math" panose="02040503050406030204" pitchFamily="18" charset="0"/>
                              <a:ea typeface="Cambria Math" panose="02040503050406030204" pitchFamily="18" charset="0"/>
                            </a:rPr>
                          </m:ctrlPr>
                        </m:radPr>
                        <m:deg/>
                        <m:e>
                          <m:r>
                            <a:rPr lang="en-US" sz="1200" i="1">
                              <a:latin typeface="Cambria Math" panose="02040503050406030204" pitchFamily="18" charset="0"/>
                              <a:ea typeface="Cambria Math" panose="02040503050406030204" pitchFamily="18" charset="0"/>
                            </a:rPr>
                            <m:t>𝑁</m:t>
                          </m:r>
                        </m:e>
                      </m:rad>
                    </m:oMath>
                  </m:oMathPara>
                </a14:m>
                <a:endParaRPr lang="en-ZA" dirty="0"/>
              </a:p>
              <a:p>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This is the geometric reason why Grover’s algorithm requires </a:t>
                </a:r>
                <a14:m>
                  <m:oMath xmlns:m="http://schemas.openxmlformats.org/officeDocument/2006/math">
                    <m:r>
                      <m:rPr>
                        <m:sty m:val="p"/>
                      </m:rPr>
                      <a:rPr lang="en-US" sz="1200" b="0" i="0" baseline="0" smtClean="0">
                        <a:solidFill>
                          <a:schemeClr val="tx1"/>
                        </a:solidFill>
                        <a:latin typeface="Cambria Math" panose="02040503050406030204" pitchFamily="18" charset="0"/>
                      </a:rPr>
                      <m:t>O</m:t>
                    </m:r>
                    <m:r>
                      <a:rPr lang="en-US" sz="1200" b="0" i="1" baseline="0" smtClean="0">
                        <a:solidFill>
                          <a:schemeClr val="tx1"/>
                        </a:solidFill>
                        <a:latin typeface="Cambria Math" panose="02040503050406030204" pitchFamily="18" charset="0"/>
                      </a:rPr>
                      <m:t>(</m:t>
                    </m:r>
                    <m:rad>
                      <m:radPr>
                        <m:degHide m:val="on"/>
                        <m:ctrlPr>
                          <a:rPr lang="en-US" sz="1200" i="1" smtClean="0">
                            <a:solidFill>
                              <a:schemeClr val="tx1"/>
                            </a:solidFill>
                            <a:latin typeface="Cambria Math" panose="02040503050406030204" pitchFamily="18" charset="0"/>
                            <a:ea typeface="Cambria Math" panose="02040503050406030204" pitchFamily="18" charset="0"/>
                          </a:rPr>
                        </m:ctrlPr>
                      </m:radPr>
                      <m:deg/>
                      <m:e>
                        <m:r>
                          <a:rPr lang="en-US" sz="1200" i="1">
                            <a:solidFill>
                              <a:schemeClr val="tx1"/>
                            </a:solidFill>
                            <a:latin typeface="Cambria Math" panose="02040503050406030204" pitchFamily="18" charset="0"/>
                            <a:ea typeface="Cambria Math" panose="02040503050406030204" pitchFamily="18" charset="0"/>
                          </a:rPr>
                          <m:t>𝑁</m:t>
                        </m:r>
                      </m:e>
                    </m:rad>
                    <m:r>
                      <a:rPr lang="en-US" sz="1200" b="0" i="1" baseline="0" smtClean="0">
                        <a:solidFill>
                          <a:schemeClr val="tx1"/>
                        </a:solidFill>
                        <a:latin typeface="Cambria Math" panose="02040503050406030204" pitchFamily="18" charset="0"/>
                      </a:rPr>
                      <m:t>)</m:t>
                    </m:r>
                  </m:oMath>
                </a14:m>
                <a:r>
                  <a:rPr lang="en-ZA" dirty="0"/>
                  <a:t> iterations. The number of iterations is important. Continuing beyond the optimal point rotates the state past the target direction, reducing the probability of measuring the correct result.</a:t>
                </a:r>
              </a:p>
            </p:txBody>
          </p:sp>
        </mc:Choice>
        <mc:Fallback xmlns="">
          <p:sp>
            <p:nvSpPr>
              <p:cNvPr id="3" name="Notes Placeholder 2"/>
              <p:cNvSpPr>
                <a:spLocks noGrp="1"/>
              </p:cNvSpPr>
              <p:nvPr>
                <p:ph type="body" idx="1"/>
              </p:nvPr>
            </p:nvSpPr>
            <p:spPr/>
            <p:txBody>
              <a:bodyPr/>
              <a:lstStyle/>
              <a:p>
                <a:r>
                  <a:rPr lang="en-US" sz="2000" dirty="0"/>
                  <a:t>The angle between the state of the register and the </a:t>
                </a:r>
                <a:r>
                  <a:rPr lang="en-US" sz="2000" dirty="0">
                    <a:effectLst/>
                  </a:rPr>
                  <a:t>|good⟩</a:t>
                </a:r>
                <a:r>
                  <a:rPr lang="en-US" sz="2000" dirty="0"/>
                  <a:t> state will decrease with each iteration, resulting in a higher probability of measuring a valid result. The angle between the result and the ‘good’ state </a:t>
                </a:r>
                <a:r>
                  <a:rPr lang="en-US" sz="2000" i="0">
                    <a:latin typeface="Cambria Math" panose="02040503050406030204" pitchFamily="18" charset="0"/>
                    <a:ea typeface="Cambria Math" panose="02040503050406030204" pitchFamily="18" charset="0"/>
                  </a:rPr>
                  <a:t>𝛼</a:t>
                </a:r>
                <a:r>
                  <a:rPr lang="en-US" sz="2000" dirty="0"/>
                  <a:t> can be calculated as shown. For k iterations this angle becomes smaller and smaller.</a:t>
                </a:r>
              </a:p>
              <a:p>
                <a:pPr marL="457200" indent="-457200">
                  <a:buFont typeface="+mj-lt"/>
                  <a:buAutoNum type="arabicPeriod"/>
                </a:pPr>
                <a:r>
                  <a:rPr lang="en-US" sz="2000" dirty="0"/>
                  <a:t>To calculate the probability of measuring a correct result we square the inner product of expected result and the current vector.</a:t>
                </a:r>
              </a:p>
              <a:p>
                <a:pPr marL="457200" indent="-457200">
                  <a:buFont typeface="+mj-lt"/>
                  <a:buAutoNum type="arabicPeriod"/>
                </a:pPr>
                <a:r>
                  <a:rPr lang="en-US" sz="2000" dirty="0"/>
                  <a:t>From here we can find the optimal number of iterations knowing that sine function squared reaches it maximum at </a:t>
                </a:r>
                <a:r>
                  <a:rPr lang="en-US" sz="2000" i="0">
                    <a:latin typeface="Cambria Math" panose="02040503050406030204" pitchFamily="18" charset="0"/>
                    <a:ea typeface="Cambria Math" panose="02040503050406030204" pitchFamily="18" charset="0"/>
                  </a:rPr>
                  <a:t>𝜋∕</a:t>
                </a:r>
                <a:r>
                  <a:rPr lang="en-US" sz="2000" b="0" i="0">
                    <a:latin typeface="Cambria Math" panose="02040503050406030204" pitchFamily="18" charset="0"/>
                    <a:ea typeface="Cambria Math" panose="02040503050406030204" pitchFamily="18" charset="0"/>
                  </a:rPr>
                  <a:t>2</a:t>
                </a:r>
                <a:r>
                  <a:rPr lang="en-US" sz="2000" dirty="0"/>
                  <a:t>. </a:t>
                </a:r>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24</a:t>
            </a:fld>
            <a:endParaRPr lang="en-US"/>
          </a:p>
        </p:txBody>
      </p:sp>
    </p:spTree>
    <p:extLst>
      <p:ext uri="{BB962C8B-B14F-4D97-AF65-F5344CB8AC3E}">
        <p14:creationId xmlns:p14="http://schemas.microsoft.com/office/powerpoint/2010/main" val="2023680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the initial equal superposition, every basis state has the same amplitude </a:t>
                </a:r>
                <a14:m>
                  <m:oMath xmlns:m="http://schemas.openxmlformats.org/officeDocument/2006/math">
                    <m:r>
                      <a:rPr lang="en-US" sz="1200" b="0" i="0" smtClean="0">
                        <a:latin typeface="Cambria Math" panose="02040503050406030204" pitchFamily="18" charset="0"/>
                      </a:rPr>
                      <m:t>1/</m:t>
                    </m:r>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𝑁</m:t>
                        </m:r>
                      </m:e>
                    </m:rad>
                  </m:oMath>
                </a14:m>
                <a:r>
                  <a:rPr lang="en-ZA" dirty="0"/>
                  <a:t>​. After the oracle flips the target amplitude, the new average becomes</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𝑚</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𝑁</m:t>
                              </m:r>
                              <m:r>
                                <a:rPr lang="en-US" sz="1200" b="0" i="1" smtClean="0">
                                  <a:latin typeface="Cambria Math" panose="02040503050406030204" pitchFamily="18" charset="0"/>
                                </a:rPr>
                                <m:t>−1</m:t>
                              </m:r>
                            </m:num>
                            <m:den>
                              <m:rad>
                                <m:radPr>
                                  <m:degHide m:val="on"/>
                                  <m:ctrlPr>
                                    <a:rPr lang="en-US" sz="1200" i="1">
                                      <a:latin typeface="Cambria Math" panose="02040503050406030204" pitchFamily="18" charset="0"/>
                                    </a:rPr>
                                  </m:ctrlPr>
                                </m:radPr>
                                <m:deg/>
                                <m:e>
                                  <m:r>
                                    <a:rPr lang="en-US" sz="1200" i="1">
                                      <a:latin typeface="Cambria Math" panose="02040503050406030204" pitchFamily="18" charset="0"/>
                                    </a:rPr>
                                    <m:t>𝑁</m:t>
                                  </m:r>
                                </m:e>
                              </m:rad>
                            </m:den>
                          </m:f>
                          <m:r>
                            <a:rPr lang="en-US" sz="1200" b="0" i="1" smtClean="0">
                              <a:latin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1</m:t>
                              </m:r>
                            </m:num>
                            <m:den>
                              <m:rad>
                                <m:radPr>
                                  <m:degHide m:val="on"/>
                                  <m:ctrlPr>
                                    <a:rPr lang="en-US" sz="1200" i="1">
                                      <a:latin typeface="Cambria Math" panose="02040503050406030204" pitchFamily="18" charset="0"/>
                                    </a:rPr>
                                  </m:ctrlPr>
                                </m:radPr>
                                <m:deg/>
                                <m:e>
                                  <m:r>
                                    <a:rPr lang="en-US" sz="1200" i="1">
                                      <a:latin typeface="Cambria Math" panose="02040503050406030204" pitchFamily="18" charset="0"/>
                                    </a:rPr>
                                    <m:t>𝑁</m:t>
                                  </m:r>
                                </m:e>
                              </m:rad>
                            </m:den>
                          </m:f>
                        </m:num>
                        <m:den>
                          <m:r>
                            <a:rPr lang="en-US" sz="1200" b="0" i="1" smtClean="0">
                              <a:latin typeface="Cambria Math" panose="02040503050406030204" pitchFamily="18" charset="0"/>
                            </a:rPr>
                            <m:t>𝑁</m:t>
                          </m:r>
                        </m:den>
                      </m:f>
                    </m:oMath>
                  </m:oMathPara>
                </a14:m>
                <a:endParaRPr lang="en-US" sz="1200" dirty="0"/>
              </a:p>
              <a:p>
                <a:pPr algn="just"/>
                <a:r>
                  <a:rPr lang="en-ZA" dirty="0"/>
                  <a:t>The table shows that as </a:t>
                </a:r>
                <a14:m>
                  <m:oMath xmlns:m="http://schemas.openxmlformats.org/officeDocument/2006/math">
                    <m:r>
                      <a:rPr lang="en-US" sz="1200" b="0" i="1" smtClean="0">
                        <a:latin typeface="Cambria Math" panose="02040503050406030204" pitchFamily="18" charset="0"/>
                      </a:rPr>
                      <m:t>𝑁</m:t>
                    </m:r>
                  </m:oMath>
                </a14:m>
                <a:r>
                  <a:rPr lang="en-ZA" dirty="0"/>
                  <a:t> increases, this average approaches the initial amplitude </a:t>
                </a:r>
                <a14:m>
                  <m:oMath xmlns:m="http://schemas.openxmlformats.org/officeDocument/2006/math">
                    <m:r>
                      <a:rPr lang="en-US" sz="1200" b="0" i="0" smtClean="0">
                        <a:latin typeface="Cambria Math" panose="02040503050406030204" pitchFamily="18" charset="0"/>
                      </a:rPr>
                      <m:t>1/</m:t>
                    </m:r>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𝑁</m:t>
                        </m:r>
                      </m:e>
                    </m:rad>
                  </m:oMath>
                </a14:m>
                <a:r>
                  <a:rPr lang="en-ZA" dirty="0"/>
                  <a:t>​. This explains geometrically why the diffuser can be viewed as a reflection about the initial equal-superposition direction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𝑆</m:t>
                            </m:r>
                          </m:e>
                          <m:sub>
                            <m:r>
                              <a:rPr lang="en-US" sz="1200" b="0" i="1" smtClean="0">
                                <a:solidFill>
                                  <a:schemeClr val="tx1"/>
                                </a:solidFill>
                                <a:latin typeface="Cambria Math" panose="02040503050406030204" pitchFamily="18" charset="0"/>
                              </a:rPr>
                              <m:t>0</m:t>
                            </m:r>
                          </m:sub>
                        </m:sSub>
                      </m:e>
                    </m:d>
                  </m:oMath>
                </a14:m>
                <a:r>
                  <a:rPr lang="en-ZA" dirty="0"/>
                  <a:t>. </a:t>
                </a:r>
              </a:p>
              <a:p>
                <a:pPr algn="just"/>
                <a:endParaRPr lang="en-ZA" dirty="0"/>
              </a:p>
              <a:p>
                <a:pPr algn="just"/>
                <a:r>
                  <a:rPr lang="en-ZA" dirty="0"/>
                  <a:t>After the oracle, the target amplitude changes from </a:t>
                </a:r>
                <a14:m>
                  <m:oMath xmlns:m="http://schemas.openxmlformats.org/officeDocument/2006/math">
                    <m:r>
                      <a:rPr lang="en-US" sz="1200" b="0" i="0" smtClean="0">
                        <a:latin typeface="Cambria Math" panose="02040503050406030204" pitchFamily="18" charset="0"/>
                      </a:rPr>
                      <m:t>1/</m:t>
                    </m:r>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𝑁</m:t>
                        </m:r>
                      </m:e>
                    </m:rad>
                  </m:oMath>
                </a14:m>
                <a:r>
                  <a:rPr lang="en-ZA" dirty="0"/>
                  <a:t>​ to </a:t>
                </a:r>
                <a14:m>
                  <m:oMath xmlns:m="http://schemas.openxmlformats.org/officeDocument/2006/math">
                    <m:r>
                      <a:rPr lang="en-US" sz="1200" b="0" i="0" smtClean="0">
                        <a:latin typeface="Cambria Math" panose="02040503050406030204" pitchFamily="18" charset="0"/>
                      </a:rPr>
                      <m:t>−1/</m:t>
                    </m:r>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𝑁</m:t>
                        </m:r>
                      </m:e>
                    </m:rad>
                  </m:oMath>
                </a14:m>
                <a:r>
                  <a:rPr lang="en-ZA" dirty="0"/>
                  <a:t>​. The diffuser reflects it about the mean:</a:t>
                </a:r>
              </a:p>
              <a:p>
                <a:pPr algn="just"/>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m:t>
                      </m:r>
                      <m:r>
                        <a:rPr lang="en-US" sz="1200" b="0" i="1" smtClean="0">
                          <a:latin typeface="Cambria Math" panose="02040503050406030204" pitchFamily="18" charset="0"/>
                        </a:rPr>
                        <m:t>𝑚</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m:t>
                          </m:r>
                        </m:num>
                        <m:den>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𝑁</m:t>
                              </m:r>
                            </m:e>
                          </m:rad>
                        </m:den>
                      </m:f>
                      <m:r>
                        <a:rPr lang="en-US" sz="1200" b="0" i="1" smtClean="0">
                          <a:latin typeface="Cambria Math" panose="02040503050406030204" pitchFamily="18" charset="0"/>
                          <a:ea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3</m:t>
                          </m:r>
                        </m:num>
                        <m:den>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𝑁</m:t>
                              </m:r>
                            </m:e>
                          </m:rad>
                        </m:den>
                      </m:f>
                    </m:oMath>
                  </m:oMathPara>
                </a14:m>
                <a:endParaRPr lang="en-ZA" dirty="0"/>
              </a:p>
              <a:p>
                <a:pPr algn="just"/>
                <a:r>
                  <a:rPr lang="en-ZA" dirty="0"/>
                  <a:t>With each Grover iteration, the target amplitude grows further while the other amplitudes decrease. This rapid amplification explains why only about </a:t>
                </a:r>
                <a14:m>
                  <m:oMath xmlns:m="http://schemas.openxmlformats.org/officeDocument/2006/math">
                    <m:r>
                      <a:rPr lang="en-US" sz="1200" i="1" smtClean="0">
                        <a:latin typeface="Cambria Math" panose="02040503050406030204" pitchFamily="18" charset="0"/>
                        <a:ea typeface="Cambria Math" panose="02040503050406030204" pitchFamily="18" charset="0"/>
                      </a:rPr>
                      <m:t>𝜋</m:t>
                    </m:r>
                    <m:rad>
                      <m:radPr>
                        <m:degHide m:val="on"/>
                        <m:ctrlPr>
                          <a:rPr lang="en-US" sz="1200" i="1">
                            <a:latin typeface="Cambria Math" panose="02040503050406030204" pitchFamily="18" charset="0"/>
                            <a:ea typeface="Cambria Math" panose="02040503050406030204" pitchFamily="18" charset="0"/>
                          </a:rPr>
                        </m:ctrlPr>
                      </m:radPr>
                      <m:deg/>
                      <m:e>
                        <m:r>
                          <a:rPr lang="en-US" sz="1200" i="1">
                            <a:latin typeface="Cambria Math" panose="02040503050406030204" pitchFamily="18" charset="0"/>
                            <a:ea typeface="Cambria Math" panose="02040503050406030204" pitchFamily="18" charset="0"/>
                          </a:rPr>
                          <m:t>𝑁</m:t>
                        </m:r>
                      </m:e>
                    </m:rad>
                    <m:r>
                      <a:rPr lang="en-US" sz="1200" b="0" i="1" smtClean="0">
                        <a:latin typeface="Cambria Math" panose="02040503050406030204" pitchFamily="18" charset="0"/>
                        <a:ea typeface="Cambria Math" panose="02040503050406030204" pitchFamily="18" charset="0"/>
                      </a:rPr>
                      <m:t>/4</m:t>
                    </m:r>
                  </m:oMath>
                </a14:m>
                <a:r>
                  <a:rPr lang="en-ZA" dirty="0"/>
                  <a:t> iterations are needed.</a:t>
                </a:r>
              </a:p>
              <a:p>
                <a:pPr algn="just"/>
                <a:endParaRPr lang="en-ZA" dirty="0"/>
              </a:p>
              <a:p>
                <a:pPr algn="just"/>
                <a:r>
                  <a:rPr lang="en-ZA" b="0" dirty="0"/>
                  <a:t>For example, for a database with N=1,000,000 entries, a classical search would require about 500,000 queries on average, while Grover’s algorithm requires only about 785 iterations.</a:t>
                </a:r>
              </a:p>
              <a:p>
                <a:pPr algn="just"/>
                <a:endParaRPr lang="en-ZA" dirty="0"/>
              </a:p>
              <a:p>
                <a:pPr algn="just"/>
                <a:endParaRPr lang="en-US" sz="1200" dirty="0">
                  <a:latin typeface="+mn-lt"/>
                </a:endParaRPr>
              </a:p>
            </p:txBody>
          </p:sp>
        </mc:Choice>
        <mc:Fallback xmlns="">
          <p:sp>
            <p:nvSpPr>
              <p:cNvPr id="3" name="Notes Placeholder 2"/>
              <p:cNvSpPr>
                <a:spLocks noGrp="1"/>
              </p:cNvSpPr>
              <p:nvPr>
                <p:ph type="body" idx="1"/>
              </p:nvPr>
            </p:nvSpPr>
            <p:spPr/>
            <p:txBody>
              <a:bodyPr/>
              <a:lstStyle/>
              <a:p>
                <a:r>
                  <a:rPr lang="en-US" sz="2000" dirty="0">
                    <a:latin typeface="+mn-lt"/>
                  </a:rPr>
                  <a:t>Our first example perform search in a single step, but for bigger size problems more iterations are required.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mn-lt"/>
                  </a:rPr>
                  <a:t>If we look at the superposition state, we can see that the bigger the N, the smaller the amplitude </a:t>
                </a:r>
                <a:r>
                  <a:rPr lang="en-US" sz="2000" baseline="0" dirty="0">
                    <a:latin typeface="+mn-lt"/>
                  </a:rPr>
                  <a:t> </a:t>
                </a:r>
                <a:r>
                  <a:rPr lang="en-US" sz="2000" b="0" i="0">
                    <a:latin typeface="+mn-lt"/>
                  </a:rPr>
                  <a:t>1∕√𝑁</a:t>
                </a:r>
                <a:r>
                  <a:rPr lang="en-US" sz="2000" dirty="0">
                    <a:latin typeface="+mn-lt"/>
                  </a:rPr>
                  <a:t> is</a:t>
                </a:r>
                <a:r>
                  <a:rPr lang="en-US" sz="2000" baseline="0" dirty="0">
                    <a:latin typeface="+mn-lt"/>
                  </a:rPr>
                  <a:t> and smaller the difference between the amplitude and the mean. </a:t>
                </a:r>
                <a:r>
                  <a:rPr lang="en-US" sz="2000" kern="1200" dirty="0">
                    <a:solidFill>
                      <a:schemeClr val="tx1"/>
                    </a:solidFill>
                    <a:effectLst/>
                    <a:latin typeface="+mn-lt"/>
                    <a:ea typeface="+mn-ea"/>
                    <a:cs typeface="+mn-cs"/>
                  </a:rPr>
                  <a:t>When 𝑁 is big enough, we can assume that that the mean is almost equal to the initial amplitude, 𝑚 ≈ 1/√𝑁.</a:t>
                </a:r>
                <a:r>
                  <a:rPr lang="en-US" sz="2000" kern="1200" baseline="0" dirty="0">
                    <a:solidFill>
                      <a:schemeClr val="tx1"/>
                    </a:solidFill>
                    <a:effectLst/>
                    <a:latin typeface="+mn-lt"/>
                    <a:ea typeface="+mn-ea"/>
                    <a:cs typeface="+mn-cs"/>
                  </a:rPr>
                  <a: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kern="1200" dirty="0">
                    <a:solidFill>
                      <a:schemeClr val="tx1"/>
                    </a:solidFill>
                    <a:effectLst/>
                    <a:latin typeface="+mn-lt"/>
                    <a:ea typeface="+mn-ea"/>
                    <a:cs typeface="+mn-cs"/>
                  </a:rPr>
                  <a:t>The amplitude graphs show that after the initial amplitude flip, the target amplitude is below the mean by approximately 2/√𝑁. After inversion about the mean, the target amplitude is above the mean by the same value. In total, the target amplitude increases to approximately ~3/√𝑁.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kern="1200" dirty="0">
                    <a:solidFill>
                      <a:schemeClr val="tx1"/>
                    </a:solidFill>
                    <a:effectLst/>
                    <a:latin typeface="+mn-lt"/>
                    <a:ea typeface="+mn-ea"/>
                    <a:cs typeface="+mn-cs"/>
                  </a:rPr>
                  <a:t>With every iteration, the target amplitude increases. After √𝑁 repeats, the</a:t>
                </a:r>
                <a:r>
                  <a:rPr lang="en-US" sz="2000" kern="1200" baseline="0" dirty="0">
                    <a:solidFill>
                      <a:schemeClr val="tx1"/>
                    </a:solidFill>
                    <a:effectLst/>
                    <a:latin typeface="+mn-lt"/>
                    <a:ea typeface="+mn-ea"/>
                    <a:cs typeface="+mn-cs"/>
                  </a:rPr>
                  <a:t> </a:t>
                </a:r>
                <a:r>
                  <a:rPr lang="en-US" sz="2000" kern="1200" dirty="0">
                    <a:solidFill>
                      <a:schemeClr val="tx1"/>
                    </a:solidFill>
                    <a:effectLst/>
                    <a:latin typeface="+mn-lt"/>
                    <a:ea typeface="+mn-ea"/>
                    <a:cs typeface="+mn-cs"/>
                  </a:rPr>
                  <a:t>target amplitude reaches its maximum. Beyond this point, the target amplitude’s value may start reversing as shown in this example for N-8. It has been shown that the optimal number of iteration is </a:t>
                </a:r>
                <a:r>
                  <a:rPr lang="en-US" sz="2000" b="0" i="0">
                    <a:latin typeface="Cambria Math" panose="02040503050406030204" pitchFamily="18" charset="0"/>
                    <a:ea typeface="Cambria Math" panose="02040503050406030204" pitchFamily="18" charset="0"/>
                  </a:rPr>
                  <a:t>〖𝜋√</a:t>
                </a:r>
                <a:r>
                  <a:rPr lang="en-US" sz="2000" b="0" i="0">
                    <a:latin typeface="Cambria Math" panose="02040503050406030204" pitchFamily="18" charset="0"/>
                  </a:rPr>
                  <a:t>𝑁</a:t>
                </a:r>
                <a:r>
                  <a:rPr lang="en-US" sz="2000" b="0" i="0">
                    <a:latin typeface="Cambria Math" panose="02040503050406030204" pitchFamily="18" charset="0"/>
                    <a:ea typeface="Cambria Math" panose="02040503050406030204" pitchFamily="18" charset="0"/>
                  </a:rPr>
                  <a:t>〗∕4</a:t>
                </a:r>
                <a:r>
                  <a:rPr lang="en-US" sz="2000" dirty="0"/>
                  <a:t>. If search produce k solutions this number becomes even smaller.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mn-lt"/>
                </a:endParaRPr>
              </a:p>
              <a:p>
                <a:endParaRPr lang="en-US" sz="2000" dirty="0">
                  <a:latin typeface="+mn-lt"/>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25</a:t>
            </a:fld>
            <a:endParaRPr lang="en-US"/>
          </a:p>
        </p:txBody>
      </p:sp>
    </p:spTree>
    <p:extLst>
      <p:ext uri="{BB962C8B-B14F-4D97-AF65-F5344CB8AC3E}">
        <p14:creationId xmlns:p14="http://schemas.microsoft.com/office/powerpoint/2010/main" val="31008458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For multiple solutions, the oracle can contain a separate </a:t>
                </a:r>
                <a:r>
                  <a:rPr lang="en-ZA" b="0" dirty="0"/>
                  <a:t>marking block </a:t>
                </a:r>
                <a:r>
                  <a:rPr lang="en-ZA" dirty="0"/>
                  <a:t>for each target state. </a:t>
                </a:r>
                <a:r>
                  <a:rPr lang="en-ZA" b="0" dirty="0"/>
                  <a:t>If there are two target states</a:t>
                </a:r>
                <a:r>
                  <a:rPr lang="en-ZA" dirty="0"/>
                  <a:t>,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𝑂</m:t>
                        </m:r>
                      </m:e>
                      <m:sub>
                        <m:r>
                          <a:rPr lang="en-US" sz="1200">
                            <a:latin typeface="Cambria Math" panose="02040503050406030204" pitchFamily="18" charset="0"/>
                          </a:rPr>
                          <m:t>1</m:t>
                        </m:r>
                      </m:sub>
                    </m:sSub>
                  </m:oMath>
                </a14:m>
                <a:r>
                  <a:rPr lang="en-ZA" dirty="0"/>
                  <a:t>​ marks the first solution and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𝑂</m:t>
                        </m:r>
                      </m:e>
                      <m:sub>
                        <m:r>
                          <a:rPr lang="en-US" sz="1200" b="0" i="0" smtClean="0">
                            <a:latin typeface="Cambria Math" panose="02040503050406030204" pitchFamily="18" charset="0"/>
                          </a:rPr>
                          <m:t>2</m:t>
                        </m:r>
                      </m:sub>
                    </m:sSub>
                  </m:oMath>
                </a14:m>
                <a:r>
                  <a:rPr lang="en-ZA" dirty="0"/>
                  <a:t>​ marks the second. Together, these two marking operations form a single oracle</a:t>
                </a:r>
                <a:r>
                  <a:rPr lang="en-ZA" baseline="0" dirty="0"/>
                  <a:t> </a:t>
                </a:r>
                <a14:m>
                  <m:oMath xmlns:m="http://schemas.openxmlformats.org/officeDocument/2006/math">
                    <m:r>
                      <a:rPr lang="en-US" sz="1200" i="1" smtClean="0">
                        <a:latin typeface="Cambria Math" panose="02040503050406030204" pitchFamily="18" charset="0"/>
                      </a:rPr>
                      <m:t>𝑂</m:t>
                    </m:r>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𝑂</m:t>
                        </m:r>
                      </m:e>
                      <m:sub>
                        <m:r>
                          <a:rPr lang="en-US" sz="1200" i="1">
                            <a:latin typeface="Cambria Math" panose="02040503050406030204" pitchFamily="18" charset="0"/>
                          </a:rPr>
                          <m:t>1</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𝑂</m:t>
                        </m:r>
                      </m:e>
                      <m:sub>
                        <m:r>
                          <a:rPr lang="en-US" sz="1200" b="0" i="1" smtClean="0">
                            <a:latin typeface="Cambria Math" panose="02040503050406030204" pitchFamily="18" charset="0"/>
                          </a:rPr>
                          <m:t>2</m:t>
                        </m:r>
                      </m:sub>
                    </m:sSub>
                  </m:oMath>
                </a14:m>
                <a:r>
                  <a:rPr lang="en-ZA" i="1" dirty="0"/>
                  <a:t>.</a:t>
                </a:r>
              </a:p>
              <a:p>
                <a:pPr algn="just"/>
                <a:endParaRPr lang="en-ZA" dirty="0"/>
              </a:p>
              <a:p>
                <a:pPr algn="just"/>
                <a:r>
                  <a:rPr lang="en-ZA" dirty="0"/>
                  <a:t>Each Grover iteration consists of the complete oracle followed by the diffuser. Together, the oracle and diffuser form the </a:t>
                </a:r>
                <a:r>
                  <a:rPr lang="en-ZA" b="1" dirty="0"/>
                  <a:t>Grover operator </a:t>
                </a:r>
                <a14:m>
                  <m:oMath xmlns:m="http://schemas.openxmlformats.org/officeDocument/2006/math">
                    <m:r>
                      <a:rPr lang="en-US" sz="1200" b="0" i="1" smtClean="0">
                        <a:latin typeface="Cambria Math" panose="02040503050406030204" pitchFamily="18" charset="0"/>
                      </a:rPr>
                      <m:t>𝐺</m:t>
                    </m:r>
                    <m:r>
                      <a:rPr lang="en-US" sz="1200" b="0" i="1" smtClean="0">
                        <a:latin typeface="Cambria Math" panose="02040503050406030204" pitchFamily="18" charset="0"/>
                      </a:rPr>
                      <m:t>=</m:t>
                    </m:r>
                    <m:r>
                      <a:rPr lang="en-US" sz="1200" b="0" i="1" smtClean="0">
                        <a:latin typeface="Cambria Math" panose="02040503050406030204" pitchFamily="18" charset="0"/>
                      </a:rPr>
                      <m:t>𝐷𝑂</m:t>
                    </m:r>
                  </m:oMath>
                </a14:m>
                <a:r>
                  <a:rPr lang="en-ZA" dirty="0"/>
                  <a:t>, where the oracle acts first and the diffuser acts second.</a:t>
                </a:r>
              </a:p>
              <a:p>
                <a:pPr algn="just"/>
                <a:endParaRPr lang="en-ZA" dirty="0"/>
              </a:p>
              <a:p>
                <a:pPr algn="just"/>
                <a:r>
                  <a:rPr lang="en-ZA" dirty="0"/>
                  <a:t>For a single target,</a:t>
                </a:r>
                <a:r>
                  <a:rPr lang="en-ZA" baseline="0" dirty="0"/>
                  <a:t>	</a:t>
                </a:r>
                <a14:m>
                  <m:oMath xmlns:m="http://schemas.openxmlformats.org/officeDocument/2006/math">
                    <m:r>
                      <a:rPr lang="en-US" sz="1200" b="0" i="1" smtClean="0">
                        <a:latin typeface="Cambria Math" panose="02040503050406030204" pitchFamily="18" charset="0"/>
                      </a:rPr>
                      <m:t>𝑂</m:t>
                    </m:r>
                    <m:r>
                      <a:rPr lang="en-US" sz="1200" b="0" i="1" smtClean="0">
                        <a:latin typeface="Cambria Math" panose="02040503050406030204" pitchFamily="18" charset="0"/>
                      </a:rPr>
                      <m:t>=</m:t>
                    </m:r>
                    <m:r>
                      <a:rPr lang="sr-Latn-RS" sz="1200" i="1" smtClean="0">
                        <a:latin typeface="Cambria Math" panose="02040503050406030204" pitchFamily="18" charset="0"/>
                      </a:rPr>
                      <m:t>𝐼</m:t>
                    </m:r>
                    <m:r>
                      <a:rPr lang="sr-Latn-RS" sz="1200" i="1" smtClean="0">
                        <a:latin typeface="Cambria Math" panose="02040503050406030204" pitchFamily="18" charset="0"/>
                      </a:rPr>
                      <m:t>−2</m:t>
                    </m:r>
                    <m:d>
                      <m:dPr>
                        <m:begChr m:val="|"/>
                        <m:endChr m:val="⟩"/>
                        <m:ctrlPr>
                          <a:rPr lang="en-ZA" sz="1200" i="1">
                            <a:latin typeface="Cambria Math" panose="02040503050406030204" pitchFamily="18" charset="0"/>
                          </a:rPr>
                        </m:ctrlPr>
                      </m:dPr>
                      <m:e>
                        <m:sSup>
                          <m:sSupPr>
                            <m:ctrlPr>
                              <a:rPr lang="en-ZA" sz="1200" i="1">
                                <a:latin typeface="Cambria Math" panose="02040503050406030204" pitchFamily="18" charset="0"/>
                              </a:rPr>
                            </m:ctrlPr>
                          </m:sSupPr>
                          <m:e>
                            <m:r>
                              <a:rPr lang="sr-Latn-RS" sz="1200" i="1">
                                <a:latin typeface="Cambria Math" panose="02040503050406030204" pitchFamily="18" charset="0"/>
                              </a:rPr>
                              <m:t>𝑥</m:t>
                            </m:r>
                          </m:e>
                          <m:sup>
                            <m:r>
                              <a:rPr lang="sr-Latn-RS" sz="1200" i="1">
                                <a:latin typeface="Cambria Math" panose="02040503050406030204" pitchFamily="18" charset="0"/>
                              </a:rPr>
                              <m:t>∗</m:t>
                            </m:r>
                          </m:sup>
                        </m:sSup>
                      </m:e>
                    </m:d>
                    <m:r>
                      <a:rPr lang="sr-Latn-RS" sz="1200">
                        <a:latin typeface="Cambria Math" panose="02040503050406030204" pitchFamily="18" charset="0"/>
                      </a:rPr>
                      <m:t>⟨</m:t>
                    </m:r>
                    <m:sSup>
                      <m:sSupPr>
                        <m:ctrlPr>
                          <a:rPr lang="en-ZA" sz="1200" i="1">
                            <a:latin typeface="Cambria Math" panose="02040503050406030204" pitchFamily="18" charset="0"/>
                          </a:rPr>
                        </m:ctrlPr>
                      </m:sSupPr>
                      <m:e>
                        <m:r>
                          <a:rPr lang="sr-Latn-RS" sz="1200" i="1">
                            <a:latin typeface="Cambria Math" panose="02040503050406030204" pitchFamily="18" charset="0"/>
                          </a:rPr>
                          <m:t>𝑥</m:t>
                        </m:r>
                      </m:e>
                      <m:sup>
                        <m:r>
                          <a:rPr lang="sr-Latn-RS" sz="1200" i="1">
                            <a:latin typeface="Cambria Math" panose="02040503050406030204" pitchFamily="18" charset="0"/>
                          </a:rPr>
                          <m:t>∗</m:t>
                        </m:r>
                      </m:sup>
                    </m:sSup>
                    <m:r>
                      <a:rPr lang="sr-Latn-RS" sz="1200">
                        <a:latin typeface="Cambria Math" panose="02040503050406030204" pitchFamily="18" charset="0"/>
                      </a:rPr>
                      <m:t>|</m:t>
                    </m:r>
                    <m:r>
                      <a:rPr lang="en-US" sz="1200" b="0" i="0" smtClean="0">
                        <a:latin typeface="Cambria Math" panose="02040503050406030204" pitchFamily="18" charset="0"/>
                      </a:rPr>
                      <m:t>,  </m:t>
                    </m:r>
                    <m:r>
                      <a:rPr lang="en-US" sz="1200" b="0" i="1" smtClean="0">
                        <a:latin typeface="Cambria Math" panose="02040503050406030204" pitchFamily="18" charset="0"/>
                      </a:rPr>
                      <m:t>𝐷</m:t>
                    </m:r>
                    <m:r>
                      <a:rPr lang="en-US" sz="1200" b="0" i="0" smtClean="0">
                        <a:latin typeface="Cambria Math" panose="02040503050406030204" pitchFamily="18" charset="0"/>
                      </a:rPr>
                      <m:t>=</m:t>
                    </m:r>
                    <m:r>
                      <a:rPr lang="en-US" sz="1200" i="0" smtClean="0">
                        <a:latin typeface="Cambria Math" panose="02040503050406030204" pitchFamily="18" charset="0"/>
                      </a:rPr>
                      <m:t>2</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i="0">
                        <a:latin typeface="Cambria Math" panose="02040503050406030204" pitchFamily="18" charset="0"/>
                      </a:rPr>
                      <m:t>⟨</m:t>
                    </m:r>
                    <m:r>
                      <a:rPr lang="en-US" sz="1200" i="1">
                        <a:latin typeface="Cambria Math" panose="02040503050406030204" pitchFamily="18" charset="0"/>
                      </a:rPr>
                      <m:t>𝑆</m:t>
                    </m:r>
                    <m:r>
                      <a:rPr lang="en-US" sz="1200" i="0">
                        <a:latin typeface="Cambria Math" panose="02040503050406030204" pitchFamily="18" charset="0"/>
                      </a:rPr>
                      <m:t>|−</m:t>
                    </m:r>
                    <m:r>
                      <a:rPr lang="en-US" sz="1200" i="1">
                        <a:latin typeface="Cambria Math" panose="02040503050406030204" pitchFamily="18" charset="0"/>
                      </a:rPr>
                      <m:t>𝐼</m:t>
                    </m:r>
                  </m:oMath>
                </a14:m>
                <a:endParaRPr lang="en-US" sz="1200" dirty="0"/>
              </a:p>
              <a:p>
                <a:pPr algn="just"/>
                <a:r>
                  <a:rPr lang="en-ZA" dirty="0"/>
                  <a:t>so</a:t>
                </a:r>
                <a:r>
                  <a:rPr lang="en-ZA" baseline="0" dirty="0"/>
                  <a:t>		</a:t>
                </a:r>
                <a14:m>
                  <m:oMath xmlns:m="http://schemas.openxmlformats.org/officeDocument/2006/math">
                    <m:r>
                      <a:rPr lang="en-US" sz="1200" b="0" i="1" smtClean="0">
                        <a:latin typeface="Cambria Math" panose="02040503050406030204" pitchFamily="18" charset="0"/>
                      </a:rPr>
                      <m:t>𝐺</m:t>
                    </m:r>
                    <m:r>
                      <a:rPr lang="en-US" sz="1200" b="0" i="1" smtClean="0">
                        <a:latin typeface="Cambria Math" panose="02040503050406030204" pitchFamily="18" charset="0"/>
                      </a:rPr>
                      <m:t>=</m:t>
                    </m:r>
                    <m:d>
                      <m:dPr>
                        <m:ctrlPr>
                          <a:rPr lang="en-US" sz="1200" b="0" i="1" smtClean="0">
                            <a:latin typeface="Cambria Math" panose="02040503050406030204" pitchFamily="18" charset="0"/>
                          </a:rPr>
                        </m:ctrlPr>
                      </m:dPr>
                      <m:e>
                        <m:r>
                          <a:rPr lang="en-US" sz="1200" i="0" smtClean="0">
                            <a:latin typeface="Cambria Math" panose="02040503050406030204" pitchFamily="18" charset="0"/>
                          </a:rPr>
                          <m:t>2</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i="0">
                            <a:latin typeface="Cambria Math" panose="02040503050406030204" pitchFamily="18" charset="0"/>
                          </a:rPr>
                          <m:t>⟨</m:t>
                        </m:r>
                        <m:r>
                          <a:rPr lang="en-US" sz="1200" i="1">
                            <a:latin typeface="Cambria Math" panose="02040503050406030204" pitchFamily="18" charset="0"/>
                          </a:rPr>
                          <m:t>𝑆</m:t>
                        </m:r>
                        <m:r>
                          <a:rPr lang="en-US" sz="1200" i="0">
                            <a:latin typeface="Cambria Math" panose="02040503050406030204" pitchFamily="18" charset="0"/>
                          </a:rPr>
                          <m:t>|−</m:t>
                        </m:r>
                        <m:r>
                          <a:rPr lang="en-US" sz="1200" i="1">
                            <a:latin typeface="Cambria Math" panose="02040503050406030204" pitchFamily="18" charset="0"/>
                          </a:rPr>
                          <m:t>𝐼</m:t>
                        </m:r>
                      </m:e>
                    </m:d>
                    <m:d>
                      <m:dPr>
                        <m:ctrlPr>
                          <a:rPr lang="en-US" sz="1200" b="0" i="1" smtClean="0">
                            <a:latin typeface="Cambria Math" panose="02040503050406030204" pitchFamily="18" charset="0"/>
                          </a:rPr>
                        </m:ctrlPr>
                      </m:dPr>
                      <m:e>
                        <m:r>
                          <a:rPr lang="sr-Latn-RS" sz="1200" i="1" smtClean="0">
                            <a:latin typeface="Cambria Math" panose="02040503050406030204" pitchFamily="18" charset="0"/>
                          </a:rPr>
                          <m:t>𝐼</m:t>
                        </m:r>
                        <m:r>
                          <a:rPr lang="sr-Latn-RS" sz="1200" i="1" smtClean="0">
                            <a:latin typeface="Cambria Math" panose="02040503050406030204" pitchFamily="18" charset="0"/>
                          </a:rPr>
                          <m:t>−2</m:t>
                        </m:r>
                        <m:d>
                          <m:dPr>
                            <m:begChr m:val="|"/>
                            <m:endChr m:val="⟩"/>
                            <m:ctrlPr>
                              <a:rPr lang="en-ZA" sz="1200" i="1">
                                <a:latin typeface="Cambria Math" panose="02040503050406030204" pitchFamily="18" charset="0"/>
                              </a:rPr>
                            </m:ctrlPr>
                          </m:dPr>
                          <m:e>
                            <m:sSup>
                              <m:sSupPr>
                                <m:ctrlPr>
                                  <a:rPr lang="en-ZA" sz="1200" i="1">
                                    <a:latin typeface="Cambria Math" panose="02040503050406030204" pitchFamily="18" charset="0"/>
                                  </a:rPr>
                                </m:ctrlPr>
                              </m:sSupPr>
                              <m:e>
                                <m:r>
                                  <a:rPr lang="sr-Latn-RS" sz="1200" i="1">
                                    <a:latin typeface="Cambria Math" panose="02040503050406030204" pitchFamily="18" charset="0"/>
                                  </a:rPr>
                                  <m:t>𝑥</m:t>
                                </m:r>
                              </m:e>
                              <m:sup>
                                <m:r>
                                  <a:rPr lang="sr-Latn-RS" sz="1200" i="1">
                                    <a:latin typeface="Cambria Math" panose="02040503050406030204" pitchFamily="18" charset="0"/>
                                  </a:rPr>
                                  <m:t>∗</m:t>
                                </m:r>
                              </m:sup>
                            </m:sSup>
                          </m:e>
                        </m:d>
                        <m:r>
                          <a:rPr lang="sr-Latn-RS" sz="1200">
                            <a:latin typeface="Cambria Math" panose="02040503050406030204" pitchFamily="18" charset="0"/>
                          </a:rPr>
                          <m:t>⟨</m:t>
                        </m:r>
                        <m:sSup>
                          <m:sSupPr>
                            <m:ctrlPr>
                              <a:rPr lang="en-ZA" sz="1200" i="1">
                                <a:latin typeface="Cambria Math" panose="02040503050406030204" pitchFamily="18" charset="0"/>
                              </a:rPr>
                            </m:ctrlPr>
                          </m:sSupPr>
                          <m:e>
                            <m:r>
                              <a:rPr lang="sr-Latn-RS" sz="1200" i="1">
                                <a:latin typeface="Cambria Math" panose="02040503050406030204" pitchFamily="18" charset="0"/>
                              </a:rPr>
                              <m:t>𝑥</m:t>
                            </m:r>
                          </m:e>
                          <m:sup>
                            <m:r>
                              <a:rPr lang="sr-Latn-RS" sz="1200" i="1">
                                <a:latin typeface="Cambria Math" panose="02040503050406030204" pitchFamily="18" charset="0"/>
                              </a:rPr>
                              <m:t>∗</m:t>
                            </m:r>
                          </m:sup>
                        </m:sSup>
                        <m:r>
                          <a:rPr lang="sr-Latn-RS" sz="1200">
                            <a:latin typeface="Cambria Math" panose="02040503050406030204" pitchFamily="18" charset="0"/>
                          </a:rPr>
                          <m:t>|</m:t>
                        </m:r>
                      </m:e>
                    </m:d>
                  </m:oMath>
                </a14:m>
                <a:endParaRPr lang="en-ZA" dirty="0"/>
              </a:p>
              <a:p>
                <a:pPr algn="just"/>
                <a:endParaRPr lang="en-ZA" dirty="0"/>
              </a:p>
              <a:p>
                <a:pPr algn="just"/>
                <a:r>
                  <a:rPr lang="en-ZA" dirty="0"/>
                  <a:t>For </a:t>
                </a:r>
                <a14:m>
                  <m:oMath xmlns:m="http://schemas.openxmlformats.org/officeDocument/2006/math">
                    <m:r>
                      <a:rPr lang="en-US" sz="1200" b="0" i="1" smtClean="0">
                        <a:latin typeface="Cambria Math" panose="02040503050406030204" pitchFamily="18" charset="0"/>
                      </a:rPr>
                      <m:t>𝑀</m:t>
                    </m:r>
                  </m:oMath>
                </a14:m>
                <a:r>
                  <a:rPr lang="en-ZA" dirty="0"/>
                  <a:t> target states, the oracle contains </a:t>
                </a:r>
                <a14:m>
                  <m:oMath xmlns:m="http://schemas.openxmlformats.org/officeDocument/2006/math">
                    <m:r>
                      <a:rPr lang="en-US" sz="1200" b="0" i="1" smtClean="0">
                        <a:latin typeface="Cambria Math" panose="02040503050406030204" pitchFamily="18" charset="0"/>
                      </a:rPr>
                      <m:t>𝑀</m:t>
                    </m:r>
                  </m:oMath>
                </a14:m>
                <a:r>
                  <a:rPr lang="en-ZA" dirty="0"/>
                  <a:t> marking blocks followed by </a:t>
                </a:r>
                <a:r>
                  <a:rPr lang="en-ZA" b="0" dirty="0"/>
                  <a:t>one diffuser per Grover iteration. </a:t>
                </a:r>
                <a:r>
                  <a:rPr lang="en-ZA" dirty="0"/>
                  <a:t>Since these marking blocks are phase-flip operators, their order does not affect the result.</a:t>
                </a:r>
              </a:p>
              <a:p>
                <a:pPr algn="just"/>
                <a:r>
                  <a:rPr lang="en-ZA" dirty="0"/>
                  <a:t>If there are </a:t>
                </a:r>
                <a14:m>
                  <m:oMath xmlns:m="http://schemas.openxmlformats.org/officeDocument/2006/math">
                    <m:r>
                      <a:rPr lang="en-US" sz="1200" b="0" i="1" smtClean="0">
                        <a:latin typeface="Cambria Math" panose="02040503050406030204" pitchFamily="18" charset="0"/>
                      </a:rPr>
                      <m:t>𝑀</m:t>
                    </m:r>
                  </m:oMath>
                </a14:m>
                <a:r>
                  <a:rPr lang="en-ZA" dirty="0"/>
                  <a:t> solutions among </a:t>
                </a:r>
                <a14:m>
                  <m:oMath xmlns:m="http://schemas.openxmlformats.org/officeDocument/2006/math">
                    <m:r>
                      <a:rPr lang="en-US" sz="1200" b="0" i="1" smtClean="0">
                        <a:latin typeface="Cambria Math" panose="02040503050406030204" pitchFamily="18" charset="0"/>
                      </a:rPr>
                      <m:t>𝑁</m:t>
                    </m:r>
                  </m:oMath>
                </a14:m>
                <a:r>
                  <a:rPr lang="en-ZA" dirty="0"/>
                  <a:t> possible states, the approximate optimal number of iterations becomes</a:t>
                </a:r>
              </a:p>
              <a:p>
                <a:pPr algn="just"/>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𝑘</m:t>
                          </m:r>
                        </m:e>
                        <m:sub>
                          <m:r>
                            <a:rPr lang="en-US" sz="1200" i="1">
                              <a:latin typeface="Cambria Math" panose="02040503050406030204" pitchFamily="18" charset="0"/>
                              <a:ea typeface="Cambria Math" panose="02040503050406030204" pitchFamily="18" charset="0"/>
                            </a:rPr>
                            <m:t>𝑜𝑝𝑡</m:t>
                          </m:r>
                        </m:sub>
                      </m:sSub>
                      <m:r>
                        <a:rPr lang="en-US" sz="1200" i="1">
                          <a:latin typeface="Cambria Math" panose="02040503050406030204" pitchFamily="18" charset="0"/>
                          <a:ea typeface="Cambria Math" panose="02040503050406030204" pitchFamily="18" charset="0"/>
                        </a:rPr>
                        <m:t>=</m:t>
                      </m:r>
                      <m:f>
                        <m:fPr>
                          <m:ctrlPr>
                            <a:rPr lang="en-US" sz="1200" i="1">
                              <a:latin typeface="Cambria Math" panose="02040503050406030204" pitchFamily="18" charset="0"/>
                              <a:ea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𝜋</m:t>
                          </m:r>
                        </m:num>
                        <m:den>
                          <m:r>
                            <a:rPr lang="en-US" sz="1200" i="1">
                              <a:latin typeface="Cambria Math" panose="02040503050406030204" pitchFamily="18" charset="0"/>
                              <a:ea typeface="Cambria Math" panose="02040503050406030204" pitchFamily="18" charset="0"/>
                            </a:rPr>
                            <m:t>4</m:t>
                          </m:r>
                        </m:den>
                      </m:f>
                      <m:rad>
                        <m:radPr>
                          <m:degHide m:val="on"/>
                          <m:ctrlPr>
                            <a:rPr lang="en-US" sz="1200" i="1">
                              <a:latin typeface="Cambria Math" panose="02040503050406030204" pitchFamily="18" charset="0"/>
                              <a:ea typeface="Cambria Math" panose="02040503050406030204" pitchFamily="18" charset="0"/>
                            </a:rPr>
                          </m:ctrlPr>
                        </m:radPr>
                        <m:deg/>
                        <m:e>
                          <m:f>
                            <m:fPr>
                              <m:ctrlPr>
                                <a:rPr lang="en-US" sz="1200" i="1" smtClean="0">
                                  <a:latin typeface="Cambria Math" panose="02040503050406030204" pitchFamily="18" charset="0"/>
                                  <a:ea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𝑁</m:t>
                              </m:r>
                            </m:num>
                            <m:den>
                              <m:r>
                                <a:rPr lang="en-US" sz="1200" b="0" i="1" smtClean="0">
                                  <a:latin typeface="Cambria Math" panose="02040503050406030204" pitchFamily="18" charset="0"/>
                                  <a:ea typeface="Cambria Math" panose="02040503050406030204" pitchFamily="18" charset="0"/>
                                </a:rPr>
                                <m:t>𝑀</m:t>
                              </m:r>
                            </m:den>
                          </m:f>
                        </m:e>
                      </m:rad>
                    </m:oMath>
                  </m:oMathPara>
                </a14:m>
                <a:endParaRPr lang="en-ZA" dirty="0"/>
              </a:p>
            </p:txBody>
          </p:sp>
        </mc:Choice>
        <mc:Fallback xmlns="">
          <p:sp>
            <p:nvSpPr>
              <p:cNvPr id="3" name="Notes Placeholder 2"/>
              <p:cNvSpPr>
                <a:spLocks noGrp="1"/>
              </p:cNvSpPr>
              <p:nvPr>
                <p:ph type="body" idx="1"/>
              </p:nvPr>
            </p:nvSpPr>
            <p:spPr/>
            <p:txBody>
              <a:bodyPr/>
              <a:lstStyle/>
              <a:p>
                <a:pPr algn="just"/>
                <a:r>
                  <a:rPr lang="en-ZA" dirty="0"/>
                  <a:t>For multiple solutions, the oracle can contain a separate </a:t>
                </a:r>
                <a:r>
                  <a:rPr lang="en-ZA" b="0" dirty="0"/>
                  <a:t>marking block </a:t>
                </a:r>
                <a:r>
                  <a:rPr lang="en-ZA" dirty="0"/>
                  <a:t>for each target state. </a:t>
                </a:r>
                <a:r>
                  <a:rPr lang="en-ZA" b="0" dirty="0"/>
                  <a:t>If there are two target states</a:t>
                </a:r>
                <a:r>
                  <a:rPr lang="en-ZA" dirty="0"/>
                  <a:t>, </a:t>
                </a:r>
                <a:r>
                  <a:rPr lang="en-US" sz="1200" b="0" i="0">
                    <a:latin typeface="Cambria Math" panose="02040503050406030204" pitchFamily="18" charset="0"/>
                  </a:rPr>
                  <a:t>𝑂_</a:t>
                </a:r>
                <a:r>
                  <a:rPr lang="en-US" sz="1200" i="0">
                    <a:latin typeface="Cambria Math" panose="02040503050406030204" pitchFamily="18" charset="0"/>
                  </a:rPr>
                  <a:t>1</a:t>
                </a:r>
                <a:r>
                  <a:rPr lang="en-ZA" dirty="0"/>
                  <a:t>​ marks the first solution and </a:t>
                </a:r>
                <a:r>
                  <a:rPr lang="en-US" sz="1200" i="0">
                    <a:latin typeface="Cambria Math" panose="02040503050406030204" pitchFamily="18" charset="0"/>
                  </a:rPr>
                  <a:t>𝑂_</a:t>
                </a:r>
                <a:r>
                  <a:rPr lang="en-US" sz="1200" b="0" i="0">
                    <a:latin typeface="Cambria Math" panose="02040503050406030204" pitchFamily="18" charset="0"/>
                  </a:rPr>
                  <a:t>2</a:t>
                </a:r>
                <a:r>
                  <a:rPr lang="en-ZA" dirty="0"/>
                  <a:t>​ marks the second. Together, these two marking operations form a single oracle</a:t>
                </a:r>
                <a:r>
                  <a:rPr lang="en-ZA" baseline="0" dirty="0"/>
                  <a:t> </a:t>
                </a:r>
                <a:r>
                  <a:rPr lang="en-US" sz="1200" i="0">
                    <a:latin typeface="Cambria Math" panose="02040503050406030204" pitchFamily="18" charset="0"/>
                  </a:rPr>
                  <a:t>𝑂</a:t>
                </a:r>
                <a:r>
                  <a:rPr lang="en-US" sz="1200" b="0" i="0">
                    <a:latin typeface="Cambria Math" panose="02040503050406030204" pitchFamily="18" charset="0"/>
                  </a:rPr>
                  <a:t>=</a:t>
                </a:r>
                <a:r>
                  <a:rPr lang="en-US" sz="1200" i="0">
                    <a:latin typeface="Cambria Math" panose="02040503050406030204" pitchFamily="18" charset="0"/>
                  </a:rPr>
                  <a:t>𝑂_1 𝑂_</a:t>
                </a:r>
                <a:r>
                  <a:rPr lang="en-US" sz="1200" b="0" i="0">
                    <a:latin typeface="Cambria Math" panose="02040503050406030204" pitchFamily="18" charset="0"/>
                  </a:rPr>
                  <a:t>2</a:t>
                </a:r>
                <a:r>
                  <a:rPr lang="en-ZA" i="1" dirty="0"/>
                  <a:t>.</a:t>
                </a:r>
              </a:p>
              <a:p>
                <a:pPr algn="just"/>
                <a:endParaRPr lang="en-ZA" dirty="0"/>
              </a:p>
              <a:p>
                <a:pPr algn="just"/>
                <a:r>
                  <a:rPr lang="en-ZA" dirty="0"/>
                  <a:t>Each Grover iteration consists of the complete oracle followed by the diffuser. Together, the oracle and diffuser form the </a:t>
                </a:r>
                <a:r>
                  <a:rPr lang="en-ZA" b="1" dirty="0"/>
                  <a:t>Grover operator </a:t>
                </a:r>
                <a:r>
                  <a:rPr lang="en-US" sz="1200" b="0" i="0">
                    <a:latin typeface="Cambria Math" panose="02040503050406030204" pitchFamily="18" charset="0"/>
                  </a:rPr>
                  <a:t>𝐺=𝐷𝑂</a:t>
                </a:r>
                <a:r>
                  <a:rPr lang="en-ZA" dirty="0"/>
                  <a:t>, where the oracle acts first and the diffuser acts second.</a:t>
                </a:r>
              </a:p>
              <a:p>
                <a:pPr algn="just"/>
                <a:r>
                  <a:rPr lang="en-ZA" dirty="0"/>
                  <a:t>For a single target,</a:t>
                </a:r>
                <a:r>
                  <a:rPr lang="en-ZA" baseline="0" dirty="0"/>
                  <a:t>	</a:t>
                </a:r>
                <a:r>
                  <a:rPr lang="en-US" sz="1200" b="0" i="0">
                    <a:latin typeface="Cambria Math" panose="02040503050406030204" pitchFamily="18" charset="0"/>
                  </a:rPr>
                  <a:t>𝑂=</a:t>
                </a:r>
                <a:r>
                  <a:rPr lang="sr-Latn-RS" sz="1200" i="0">
                    <a:latin typeface="Cambria Math" panose="02040503050406030204" pitchFamily="18" charset="0"/>
                  </a:rPr>
                  <a:t>𝐼−2</a:t>
                </a:r>
                <a:r>
                  <a:rPr lang="en-ZA" sz="1200" i="0">
                    <a:latin typeface="Cambria Math" panose="02040503050406030204" pitchFamily="18" charset="0"/>
                  </a:rPr>
                  <a:t>|</a:t>
                </a:r>
                <a:r>
                  <a:rPr lang="sr-Latn-RS" sz="1200" i="0">
                    <a:latin typeface="Cambria Math" panose="02040503050406030204" pitchFamily="18" charset="0"/>
                  </a:rPr>
                  <a:t>𝑥</a:t>
                </a:r>
                <a:r>
                  <a:rPr lang="en-ZA" sz="1200" i="0">
                    <a:latin typeface="Cambria Math" panose="02040503050406030204" pitchFamily="18" charset="0"/>
                  </a:rPr>
                  <a:t>^</a:t>
                </a:r>
                <a:r>
                  <a:rPr lang="sr-Latn-RS" sz="1200" i="0">
                    <a:latin typeface="Cambria Math" panose="02040503050406030204" pitchFamily="18" charset="0"/>
                  </a:rPr>
                  <a:t>∗ ⟩⟨𝑥</a:t>
                </a:r>
                <a:r>
                  <a:rPr lang="en-ZA" sz="1200" i="0">
                    <a:latin typeface="Cambria Math" panose="02040503050406030204" pitchFamily="18" charset="0"/>
                  </a:rPr>
                  <a:t>^</a:t>
                </a:r>
                <a:r>
                  <a:rPr lang="sr-Latn-RS" sz="1200" i="0">
                    <a:latin typeface="Cambria Math" panose="02040503050406030204" pitchFamily="18" charset="0"/>
                  </a:rPr>
                  <a:t>∗ |</a:t>
                </a:r>
                <a:r>
                  <a:rPr lang="en-US" sz="1200" b="0" i="0">
                    <a:latin typeface="Cambria Math" panose="02040503050406030204" pitchFamily="18" charset="0"/>
                  </a:rPr>
                  <a:t>,  𝐷=</a:t>
                </a:r>
                <a:r>
                  <a:rPr lang="en-US" sz="1200" i="0">
                    <a:latin typeface="Cambria Math" panose="02040503050406030204" pitchFamily="18" charset="0"/>
                  </a:rPr>
                  <a:t>2|𝑆⟩⟨𝑆|−𝐼</a:t>
                </a:r>
                <a:endParaRPr lang="en-US" sz="1200" dirty="0"/>
              </a:p>
              <a:p>
                <a:pPr algn="just"/>
                <a:r>
                  <a:rPr lang="en-ZA" dirty="0"/>
                  <a:t>so</a:t>
                </a:r>
                <a:r>
                  <a:rPr lang="en-ZA" baseline="0" dirty="0"/>
                  <a:t>		</a:t>
                </a:r>
                <a:r>
                  <a:rPr lang="en-US" sz="1200" b="0" i="0">
                    <a:latin typeface="Cambria Math" panose="02040503050406030204" pitchFamily="18" charset="0"/>
                  </a:rPr>
                  <a:t>𝐺=(</a:t>
                </a:r>
                <a:r>
                  <a:rPr lang="en-US" sz="1200" i="0">
                    <a:latin typeface="Cambria Math" panose="02040503050406030204" pitchFamily="18" charset="0"/>
                  </a:rPr>
                  <a:t>2├|𝑆⟩⟨𝑆|−𝐼</a:t>
                </a:r>
                <a:r>
                  <a:rPr lang="en-US" sz="1200" b="0" i="0">
                    <a:latin typeface="Cambria Math" panose="02040503050406030204" pitchFamily="18" charset="0"/>
                  </a:rPr>
                  <a:t>)(</a:t>
                </a:r>
                <a:r>
                  <a:rPr lang="sr-Latn-RS" sz="1200" i="0">
                    <a:latin typeface="Cambria Math" panose="02040503050406030204" pitchFamily="18" charset="0"/>
                  </a:rPr>
                  <a:t>𝐼−2</a:t>
                </a:r>
                <a:r>
                  <a:rPr lang="en-ZA" sz="1200" i="0">
                    <a:latin typeface="Cambria Math" panose="02040503050406030204" pitchFamily="18" charset="0"/>
                  </a:rPr>
                  <a:t>├|</a:t>
                </a:r>
                <a:r>
                  <a:rPr lang="sr-Latn-RS" sz="1200" i="0">
                    <a:latin typeface="Cambria Math" panose="02040503050406030204" pitchFamily="18" charset="0"/>
                  </a:rPr>
                  <a:t>𝑥</a:t>
                </a:r>
                <a:r>
                  <a:rPr lang="en-ZA" sz="1200" i="0">
                    <a:latin typeface="Cambria Math" panose="02040503050406030204" pitchFamily="18" charset="0"/>
                  </a:rPr>
                  <a:t>^</a:t>
                </a:r>
                <a:r>
                  <a:rPr lang="sr-Latn-RS" sz="1200" i="0">
                    <a:latin typeface="Cambria Math" panose="02040503050406030204" pitchFamily="18" charset="0"/>
                  </a:rPr>
                  <a:t>∗ ⟩⟨𝑥</a:t>
                </a:r>
                <a:r>
                  <a:rPr lang="en-ZA" sz="1200" i="0">
                    <a:latin typeface="Cambria Math" panose="02040503050406030204" pitchFamily="18" charset="0"/>
                  </a:rPr>
                  <a:t>^</a:t>
                </a:r>
                <a:r>
                  <a:rPr lang="sr-Latn-RS" sz="1200" i="0">
                    <a:latin typeface="Cambria Math" panose="02040503050406030204" pitchFamily="18" charset="0"/>
                  </a:rPr>
                  <a:t>∗ |</a:t>
                </a:r>
                <a:r>
                  <a:rPr lang="en-US" sz="1200" b="0" i="0">
                    <a:latin typeface="Cambria Math" panose="02040503050406030204" pitchFamily="18" charset="0"/>
                  </a:rPr>
                  <a:t>)</a:t>
                </a:r>
                <a:endParaRPr lang="en-ZA" dirty="0"/>
              </a:p>
              <a:p>
                <a:pPr algn="just"/>
                <a:endParaRPr lang="en-ZA" dirty="0"/>
              </a:p>
              <a:p>
                <a:pPr algn="just"/>
                <a:r>
                  <a:rPr lang="en-ZA" dirty="0"/>
                  <a:t>For </a:t>
                </a:r>
                <a:r>
                  <a:rPr lang="en-US" sz="1200" b="0" i="0">
                    <a:latin typeface="Cambria Math" panose="02040503050406030204" pitchFamily="18" charset="0"/>
                  </a:rPr>
                  <a:t>𝑀</a:t>
                </a:r>
                <a:r>
                  <a:rPr lang="en-ZA" dirty="0"/>
                  <a:t> target states, the oracle contains </a:t>
                </a:r>
                <a:r>
                  <a:rPr lang="en-US" sz="1200" b="0" i="0">
                    <a:latin typeface="Cambria Math" panose="02040503050406030204" pitchFamily="18" charset="0"/>
                  </a:rPr>
                  <a:t>𝑀</a:t>
                </a:r>
                <a:r>
                  <a:rPr lang="en-ZA" dirty="0"/>
                  <a:t> marking blocks followed by </a:t>
                </a:r>
                <a:r>
                  <a:rPr lang="en-ZA" b="0" dirty="0"/>
                  <a:t>one diffuser per Grover iteration. </a:t>
                </a:r>
                <a:r>
                  <a:rPr lang="en-ZA" dirty="0"/>
                  <a:t>Since these marking blocks are phase-flip operators, their order does not affect the result.</a:t>
                </a:r>
              </a:p>
              <a:p>
                <a:pPr algn="just"/>
                <a:r>
                  <a:rPr lang="en-ZA" dirty="0"/>
                  <a:t>If there are </a:t>
                </a:r>
                <a:r>
                  <a:rPr lang="en-US" sz="1200" b="0" i="0">
                    <a:latin typeface="Cambria Math" panose="02040503050406030204" pitchFamily="18" charset="0"/>
                  </a:rPr>
                  <a:t>𝑀</a:t>
                </a:r>
                <a:r>
                  <a:rPr lang="en-ZA" dirty="0"/>
                  <a:t> solutions among </a:t>
                </a:r>
                <a:r>
                  <a:rPr lang="en-US" sz="1200" b="0" i="0">
                    <a:latin typeface="Cambria Math" panose="02040503050406030204" pitchFamily="18" charset="0"/>
                  </a:rPr>
                  <a:t>𝑁</a:t>
                </a:r>
                <a:r>
                  <a:rPr lang="en-ZA" dirty="0"/>
                  <a:t> possible states, the approximate optimal number of iterations becomes</a:t>
                </a:r>
              </a:p>
              <a:p>
                <a:pPr algn="just"/>
                <a:r>
                  <a:rPr lang="en-US" sz="1200" i="0">
                    <a:latin typeface="Cambria Math" panose="02040503050406030204" pitchFamily="18" charset="0"/>
                    <a:ea typeface="Cambria Math" panose="02040503050406030204" pitchFamily="18" charset="0"/>
                  </a:rPr>
                  <a:t>𝑘_𝑜𝑝𝑡=𝜋/4 √(</a:t>
                </a:r>
                <a:r>
                  <a:rPr lang="en-US" sz="1200" b="0" i="0">
                    <a:latin typeface="Cambria Math" panose="02040503050406030204" pitchFamily="18" charset="0"/>
                    <a:ea typeface="Cambria Math" panose="02040503050406030204" pitchFamily="18" charset="0"/>
                  </a:rPr>
                  <a:t>𝑁/𝑀)</a:t>
                </a:r>
                <a:endParaRPr lang="en-ZA"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26</a:t>
            </a:fld>
            <a:endParaRPr lang="en-US"/>
          </a:p>
        </p:txBody>
      </p:sp>
    </p:spTree>
    <p:extLst>
      <p:ext uri="{BB962C8B-B14F-4D97-AF65-F5344CB8AC3E}">
        <p14:creationId xmlns:p14="http://schemas.microsoft.com/office/powerpoint/2010/main" val="3359206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Grover’s algorithm can also be used to solve Boolean satisfiability problems, or SAT problems. The goal is to find an assignment of Boolean variables that makes a given Boolean expression evaluate to True.</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In this simple example, the Boolean function is </a:t>
                </a:r>
                <a14:m>
                  <m:oMath xmlns:m="http://schemas.openxmlformats.org/officeDocument/2006/math">
                    <m:r>
                      <a:rPr lang="en-US" sz="1200" b="0" i="1" smtClean="0">
                        <a:latin typeface="Cambria Math" panose="02040503050406030204" pitchFamily="18" charset="0"/>
                      </a:rPr>
                      <m:t>𝑓</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r>
                      <a:rPr lang="sr-Latn-RS" sz="1200" b="0" i="1" smtClean="0">
                        <a:latin typeface="Cambria Math" panose="02040503050406030204" pitchFamily="18" charset="0"/>
                      </a:rPr>
                      <m:t>=</m:t>
                    </m:r>
                    <m:sSub>
                      <m:sSubPr>
                        <m:ctrlPr>
                          <a:rPr lang="sr-Latn-RS" sz="1200" b="0" i="1" smtClean="0">
                            <a:latin typeface="Cambria Math" panose="02040503050406030204" pitchFamily="18" charset="0"/>
                          </a:rPr>
                        </m:ctrlPr>
                      </m:sSubPr>
                      <m:e>
                        <m:r>
                          <a:rPr lang="sr-Latn-RS" sz="1200" b="0" i="1" smtClean="0">
                            <a:latin typeface="Cambria Math" panose="02040503050406030204" pitchFamily="18" charset="0"/>
                          </a:rPr>
                          <m:t>𝑥</m:t>
                        </m:r>
                      </m:e>
                      <m:sub>
                        <m:r>
                          <a:rPr lang="sr-Latn-RS" sz="1200" b="0" i="1" smtClean="0">
                            <a:latin typeface="Cambria Math" panose="02040503050406030204" pitchFamily="18" charset="0"/>
                          </a:rPr>
                          <m:t>1</m:t>
                        </m:r>
                      </m:sub>
                    </m:sSub>
                    <m:sSub>
                      <m:sSubPr>
                        <m:ctrlPr>
                          <a:rPr lang="sr-Latn-RS" sz="1200" i="1">
                            <a:latin typeface="Cambria Math" panose="02040503050406030204" pitchFamily="18" charset="0"/>
                          </a:rPr>
                        </m:ctrlPr>
                      </m:sSubPr>
                      <m:e>
                        <m:r>
                          <a:rPr lang="sr-Latn-RS" sz="1200" i="1" smtClean="0">
                            <a:latin typeface="Cambria Math" panose="02040503050406030204" pitchFamily="18" charset="0"/>
                            <a:ea typeface="Cambria Math" panose="02040503050406030204" pitchFamily="18" charset="0"/>
                          </a:rPr>
                          <m:t>⋀</m:t>
                        </m:r>
                        <m:r>
                          <a:rPr lang="sr-Latn-RS" sz="1200" i="1">
                            <a:latin typeface="Cambria Math" panose="02040503050406030204" pitchFamily="18" charset="0"/>
                          </a:rPr>
                          <m:t>𝑥</m:t>
                        </m:r>
                      </m:e>
                      <m:sub>
                        <m:r>
                          <a:rPr lang="sr-Latn-RS" sz="1200" b="0" i="1" smtClean="0">
                            <a:latin typeface="Cambria Math" panose="02040503050406030204" pitchFamily="18" charset="0"/>
                          </a:rPr>
                          <m:t>2</m:t>
                        </m:r>
                      </m:sub>
                    </m:sSub>
                  </m:oMath>
                </a14:m>
                <a:r>
                  <a:rPr lang="en-US" sz="1200" b="0" dirty="0"/>
                  <a:t>. </a:t>
                </a:r>
                <a:r>
                  <a:rPr lang="en-ZA" b="0" dirty="0"/>
                  <a:t>The truth table shows that the function is True only when both variables are 1, so the satisfying assignment is ∣11⟩.</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To implement the oracle, the input qubits </a:t>
                </a:r>
                <a14:m>
                  <m:oMath xmlns:m="http://schemas.openxmlformats.org/officeDocument/2006/math">
                    <m:sSub>
                      <m:sSubPr>
                        <m:ctrlPr>
                          <a:rPr lang="sr-Latn-RS" sz="1200" b="0" i="1" smtClean="0">
                            <a:latin typeface="Cambria Math" panose="02040503050406030204" pitchFamily="18" charset="0"/>
                          </a:rPr>
                        </m:ctrlPr>
                      </m:sSubPr>
                      <m:e>
                        <m:r>
                          <a:rPr lang="sr-Latn-RS" sz="1200" b="0" i="1" smtClean="0">
                            <a:latin typeface="Cambria Math" panose="02040503050406030204" pitchFamily="18" charset="0"/>
                          </a:rPr>
                          <m:t>𝑥</m:t>
                        </m:r>
                      </m:e>
                      <m:sub>
                        <m:r>
                          <a:rPr lang="sr-Latn-RS" sz="1200" b="0" i="1" smtClean="0">
                            <a:latin typeface="Cambria Math" panose="02040503050406030204" pitchFamily="18" charset="0"/>
                          </a:rPr>
                          <m:t>1</m:t>
                        </m:r>
                      </m:sub>
                    </m:sSub>
                  </m:oMath>
                </a14:m>
                <a:r>
                  <a:rPr lang="en-ZA" b="0" dirty="0"/>
                  <a:t>​ and </a:t>
                </a:r>
                <a14:m>
                  <m:oMath xmlns:m="http://schemas.openxmlformats.org/officeDocument/2006/math">
                    <m:sSub>
                      <m:sSubPr>
                        <m:ctrlPr>
                          <a:rPr lang="sr-Latn-RS" sz="1200" b="0" i="1" smtClean="0">
                            <a:latin typeface="Cambria Math" panose="02040503050406030204" pitchFamily="18" charset="0"/>
                          </a:rPr>
                        </m:ctrlPr>
                      </m:sSubPr>
                      <m:e>
                        <m:r>
                          <a:rPr lang="sr-Latn-RS" sz="1200" b="0" i="1" smtClean="0">
                            <a:latin typeface="Cambria Math" panose="02040503050406030204" pitchFamily="18" charset="0"/>
                          </a:rPr>
                          <m:t>𝑥</m:t>
                        </m:r>
                      </m:e>
                      <m:sub>
                        <m:r>
                          <a:rPr lang="en-US" sz="1200" b="0" i="1" smtClean="0">
                            <a:latin typeface="Cambria Math" panose="02040503050406030204" pitchFamily="18" charset="0"/>
                          </a:rPr>
                          <m:t>2</m:t>
                        </m:r>
                      </m:sub>
                    </m:sSub>
                  </m:oMath>
                </a14:m>
                <a:r>
                  <a:rPr lang="en-ZA" b="0" dirty="0"/>
                  <a:t>​ are first placed in superposition, while an ancilla qubit is prepared in the ∣−⟩ state. </a:t>
                </a:r>
                <a:r>
                  <a:rPr lang="en-ZA" dirty="0"/>
                  <a:t>Since the ancilla is prepared in the ∣−⟩ state, this action produces a phase flip through phase kickback, marking the satisfying state. For </a:t>
                </a:r>
                <a14:m>
                  <m:oMath xmlns:m="http://schemas.openxmlformats.org/officeDocument/2006/math">
                    <m:r>
                      <a:rPr lang="en-US" sz="1200" b="0" i="1" smtClean="0">
                        <a:latin typeface="Cambria Math" panose="02040503050406030204" pitchFamily="18" charset="0"/>
                      </a:rPr>
                      <m:t>𝑓</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r>
                      <a:rPr lang="sr-Latn-RS" sz="1200" b="0" i="1" smtClean="0">
                        <a:latin typeface="Cambria Math" panose="02040503050406030204" pitchFamily="18" charset="0"/>
                      </a:rPr>
                      <m:t>=</m:t>
                    </m:r>
                    <m:sSub>
                      <m:sSubPr>
                        <m:ctrlPr>
                          <a:rPr lang="sr-Latn-RS" sz="1200" b="0" i="1" smtClean="0">
                            <a:latin typeface="Cambria Math" panose="02040503050406030204" pitchFamily="18" charset="0"/>
                          </a:rPr>
                        </m:ctrlPr>
                      </m:sSubPr>
                      <m:e>
                        <m:r>
                          <a:rPr lang="sr-Latn-RS" sz="1200" b="0" i="1" smtClean="0">
                            <a:latin typeface="Cambria Math" panose="02040503050406030204" pitchFamily="18" charset="0"/>
                          </a:rPr>
                          <m:t>𝑥</m:t>
                        </m:r>
                      </m:e>
                      <m:sub>
                        <m:r>
                          <a:rPr lang="sr-Latn-RS" sz="1200" b="0" i="1" smtClean="0">
                            <a:latin typeface="Cambria Math" panose="02040503050406030204" pitchFamily="18" charset="0"/>
                          </a:rPr>
                          <m:t>1</m:t>
                        </m:r>
                      </m:sub>
                    </m:sSub>
                    <m:sSub>
                      <m:sSubPr>
                        <m:ctrlPr>
                          <a:rPr lang="sr-Latn-RS" sz="1200" i="1">
                            <a:latin typeface="Cambria Math" panose="02040503050406030204" pitchFamily="18" charset="0"/>
                          </a:rPr>
                        </m:ctrlPr>
                      </m:sSubPr>
                      <m:e>
                        <m:r>
                          <a:rPr lang="sr-Latn-RS" sz="1200" i="1" smtClean="0">
                            <a:latin typeface="Cambria Math" panose="02040503050406030204" pitchFamily="18" charset="0"/>
                            <a:ea typeface="Cambria Math" panose="02040503050406030204" pitchFamily="18" charset="0"/>
                          </a:rPr>
                          <m:t>⋀</m:t>
                        </m:r>
                        <m:r>
                          <a:rPr lang="sr-Latn-RS" sz="1200" i="1">
                            <a:latin typeface="Cambria Math" panose="02040503050406030204" pitchFamily="18" charset="0"/>
                          </a:rPr>
                          <m:t>𝑥</m:t>
                        </m:r>
                      </m:e>
                      <m:sub>
                        <m:r>
                          <a:rPr lang="sr-Latn-RS" sz="1200" b="0" i="1" smtClean="0">
                            <a:latin typeface="Cambria Math" panose="02040503050406030204" pitchFamily="18" charset="0"/>
                          </a:rPr>
                          <m:t>2</m:t>
                        </m:r>
                      </m:sub>
                    </m:sSub>
                  </m:oMath>
                </a14:m>
                <a:r>
                  <a:rPr lang="en-ZA" b="0" dirty="0"/>
                  <a:t> t</a:t>
                </a:r>
                <a:r>
                  <a:rPr lang="en-ZA" dirty="0"/>
                  <a:t>he CCX directly implements the Boolean condition, since it is activated only when  </a:t>
                </a:r>
                <a14:m>
                  <m:oMath xmlns:m="http://schemas.openxmlformats.org/officeDocument/2006/math">
                    <m:sSub>
                      <m:sSubPr>
                        <m:ctrlPr>
                          <a:rPr lang="sr-Latn-RS" sz="1200" b="0" i="1" smtClean="0">
                            <a:latin typeface="Cambria Math" panose="02040503050406030204" pitchFamily="18" charset="0"/>
                          </a:rPr>
                        </m:ctrlPr>
                      </m:sSubPr>
                      <m:e>
                        <m:r>
                          <a:rPr lang="sr-Latn-RS" sz="1200" b="0" i="1" smtClean="0">
                            <a:latin typeface="Cambria Math" panose="02040503050406030204" pitchFamily="18" charset="0"/>
                          </a:rPr>
                          <m:t>𝑥</m:t>
                        </m:r>
                      </m:e>
                      <m:sub>
                        <m:r>
                          <a:rPr lang="sr-Latn-R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sr-Latn-RS" sz="1200" b="0" i="1" smtClean="0">
                            <a:latin typeface="Cambria Math" panose="02040503050406030204" pitchFamily="18" charset="0"/>
                          </a:rPr>
                        </m:ctrlPr>
                      </m:sSubPr>
                      <m:e>
                        <m:r>
                          <a:rPr lang="sr-Latn-RS" sz="1200" b="0" i="1" smtClean="0">
                            <a:latin typeface="Cambria Math" panose="02040503050406030204" pitchFamily="18" charset="0"/>
                          </a:rPr>
                          <m:t>𝑥</m:t>
                        </m:r>
                      </m:e>
                      <m:sub>
                        <m:r>
                          <a:rPr lang="en-US" sz="1200" b="0" i="1" smtClean="0">
                            <a:latin typeface="Cambria Math" panose="02040503050406030204" pitchFamily="18" charset="0"/>
                          </a:rPr>
                          <m:t>2</m:t>
                        </m:r>
                      </m:sub>
                    </m:sSub>
                  </m:oMath>
                </a14:m>
                <a:r>
                  <a:rPr lang="en-ZA" b="0" dirty="0"/>
                  <a:t>. </a:t>
                </a:r>
                <a:r>
                  <a:rPr lang="en-ZA" dirty="0"/>
                  <a:t>For more complicated SAT expressions, the oracle generally requires a </a:t>
                </a:r>
                <a:r>
                  <a:rPr lang="en-ZA" b="0" dirty="0"/>
                  <a:t>circuit of multiple gates </a:t>
                </a:r>
                <a:r>
                  <a:rPr lang="en-ZA" dirty="0"/>
                  <a:t>to evaluate the Boolean function.</a:t>
                </a:r>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algn="just"/>
                <a:r>
                  <a:rPr lang="en-ZA" b="0" dirty="0"/>
                  <a:t>The diffuser then amplifies the marked state, making the satisfying assignment ∣11⟩ the most likely measurement result. In this ideal N=4 example, a single Grover iteration returns ∣11⟩ with 100% probability.</a:t>
                </a:r>
              </a:p>
            </p:txBody>
          </p:sp>
        </mc:Choice>
        <mc:Fallback xmlns="">
          <p:sp>
            <p:nvSpPr>
              <p:cNvPr id="3" name="Notes Placeholder 2"/>
              <p:cNvSpPr>
                <a:spLocks noGrp="1"/>
              </p:cNvSpPr>
              <p:nvPr>
                <p:ph type="body" idx="1"/>
              </p:nvPr>
            </p:nvSpPr>
            <p:spPr/>
            <p:txBody>
              <a:bodyPr/>
              <a:lstStyle/>
              <a:p>
                <a:pPr algn="just"/>
                <a:r>
                  <a:rPr lang="en-US" sz="1200" dirty="0"/>
                  <a:t>Groverov </a:t>
                </a:r>
                <a:r>
                  <a:rPr lang="en-US" sz="1200" dirty="0" err="1"/>
                  <a:t>algoritam</a:t>
                </a:r>
                <a:r>
                  <a:rPr lang="en-US" sz="1200" dirty="0"/>
                  <a:t> se </a:t>
                </a:r>
                <a:r>
                  <a:rPr lang="en-US" sz="1200" dirty="0" err="1"/>
                  <a:t>takođe</a:t>
                </a:r>
                <a:r>
                  <a:rPr lang="en-US" sz="1200" dirty="0"/>
                  <a:t> </a:t>
                </a:r>
                <a:r>
                  <a:rPr lang="en-US" sz="1200" dirty="0" err="1"/>
                  <a:t>može</a:t>
                </a:r>
                <a:r>
                  <a:rPr lang="en-US" sz="1200" dirty="0"/>
                  <a:t> </a:t>
                </a:r>
                <a:r>
                  <a:rPr lang="en-US" sz="1200" dirty="0" err="1"/>
                  <a:t>koristiti</a:t>
                </a:r>
                <a:r>
                  <a:rPr lang="en-US" sz="1200" dirty="0"/>
                  <a:t> </a:t>
                </a:r>
                <a:r>
                  <a:rPr lang="en-US" sz="1200" dirty="0" err="1"/>
                  <a:t>za</a:t>
                </a:r>
                <a:r>
                  <a:rPr lang="en-US" sz="1200" dirty="0"/>
                  <a:t> </a:t>
                </a:r>
                <a:r>
                  <a:rPr lang="en-US" sz="1200" dirty="0" err="1"/>
                  <a:t>rešavanje</a:t>
                </a:r>
                <a:r>
                  <a:rPr lang="en-US" sz="1200" dirty="0"/>
                  <a:t> </a:t>
                </a:r>
                <a:r>
                  <a:rPr lang="en-US" sz="1200" dirty="0" err="1"/>
                  <a:t>problema</a:t>
                </a:r>
                <a:r>
                  <a:rPr lang="en-US" sz="1200" dirty="0"/>
                  <a:t> </a:t>
                </a:r>
                <a:r>
                  <a:rPr lang="en-US" sz="1200" dirty="0" err="1"/>
                  <a:t>zadovoljivosti</a:t>
                </a:r>
                <a:r>
                  <a:rPr lang="en-US" sz="1200" dirty="0"/>
                  <a:t> </a:t>
                </a:r>
                <a:r>
                  <a:rPr lang="en-US" sz="1200" dirty="0" err="1"/>
                  <a:t>ili</a:t>
                </a:r>
                <a:r>
                  <a:rPr lang="en-US" sz="1200" dirty="0"/>
                  <a:t> SAT </a:t>
                </a:r>
                <a:r>
                  <a:rPr lang="en-US" sz="1200" dirty="0" err="1"/>
                  <a:t>problema</a:t>
                </a:r>
                <a:r>
                  <a:rPr lang="en-US" sz="1200" dirty="0"/>
                  <a:t>. SAT problem se </a:t>
                </a:r>
                <a:r>
                  <a:rPr lang="en-US" sz="1200" dirty="0" err="1"/>
                  <a:t>sastoji</a:t>
                </a:r>
                <a:r>
                  <a:rPr lang="en-US" sz="1200" dirty="0"/>
                  <a:t> u </a:t>
                </a:r>
                <a:r>
                  <a:rPr lang="en-US" sz="1200" dirty="0" err="1"/>
                  <a:t>utvrđivanju</a:t>
                </a:r>
                <a:r>
                  <a:rPr lang="en-US" sz="1200" dirty="0"/>
                  <a:t> da li se </a:t>
                </a:r>
                <a:r>
                  <a:rPr lang="en-US" sz="1200" dirty="0" err="1"/>
                  <a:t>promenljivima</a:t>
                </a:r>
                <a:r>
                  <a:rPr lang="en-US" sz="1200" dirty="0"/>
                  <a:t> </a:t>
                </a:r>
                <a:r>
                  <a:rPr lang="en-US" sz="1200" dirty="0" err="1"/>
                  <a:t>nekog</a:t>
                </a:r>
                <a:r>
                  <a:rPr lang="en-US" sz="1200" dirty="0"/>
                  <a:t> </a:t>
                </a:r>
                <a:r>
                  <a:rPr lang="en-US" sz="1200" dirty="0" err="1"/>
                  <a:t>bulovog</a:t>
                </a:r>
                <a:r>
                  <a:rPr lang="en-US" sz="1200" dirty="0"/>
                  <a:t> </a:t>
                </a:r>
                <a:r>
                  <a:rPr lang="en-US" sz="1200" dirty="0" err="1"/>
                  <a:t>izraza</a:t>
                </a:r>
                <a:r>
                  <a:rPr lang="en-US" sz="1200" dirty="0"/>
                  <a:t> </a:t>
                </a:r>
                <a:r>
                  <a:rPr lang="en-US" sz="1200" dirty="0" err="1"/>
                  <a:t>mogu</a:t>
                </a:r>
                <a:r>
                  <a:rPr lang="en-US" sz="1200" dirty="0"/>
                  <a:t> </a:t>
                </a:r>
                <a:r>
                  <a:rPr lang="en-US" sz="1200" dirty="0" err="1"/>
                  <a:t>dodeliti</a:t>
                </a:r>
                <a:r>
                  <a:rPr lang="en-US" sz="1200" dirty="0"/>
                  <a:t> </a:t>
                </a:r>
                <a:r>
                  <a:rPr lang="en-US" sz="1200" dirty="0" err="1"/>
                  <a:t>vrednosti</a:t>
                </a:r>
                <a:r>
                  <a:rPr lang="en-US" sz="1200" dirty="0"/>
                  <a:t> </a:t>
                </a:r>
                <a:r>
                  <a:rPr lang="en-US" sz="1200" dirty="0" err="1"/>
                  <a:t>tako</a:t>
                </a:r>
                <a:r>
                  <a:rPr lang="en-US" sz="1200" dirty="0"/>
                  <a:t> da </a:t>
                </a:r>
                <a:r>
                  <a:rPr lang="en-US" sz="1200" dirty="0" err="1"/>
                  <a:t>ceo</a:t>
                </a:r>
                <a:r>
                  <a:rPr lang="en-US" sz="1200" dirty="0"/>
                  <a:t> </a:t>
                </a:r>
                <a:r>
                  <a:rPr lang="en-US" sz="1200" dirty="0" err="1"/>
                  <a:t>izraz</a:t>
                </a:r>
                <a:r>
                  <a:rPr lang="en-US" sz="1200" dirty="0"/>
                  <a:t> </a:t>
                </a:r>
                <a:r>
                  <a:rPr lang="en-US" sz="1200" dirty="0" err="1"/>
                  <a:t>ima</a:t>
                </a:r>
                <a:r>
                  <a:rPr lang="en-US" sz="1200" dirty="0"/>
                  <a:t> </a:t>
                </a:r>
                <a:r>
                  <a:rPr lang="en-US" sz="1200" dirty="0" err="1"/>
                  <a:t>vrednost</a:t>
                </a:r>
                <a:r>
                  <a:rPr lang="en-US" sz="1200" dirty="0"/>
                  <a:t> TAČNO, </a:t>
                </a:r>
                <a:r>
                  <a:rPr lang="en-US" sz="1200" dirty="0" err="1"/>
                  <a:t>ili</a:t>
                </a:r>
                <a:r>
                  <a:rPr lang="en-US" sz="1200" dirty="0"/>
                  <a:t> NETAČNO. </a:t>
                </a:r>
              </a:p>
              <a:p>
                <a:pPr algn="just"/>
                <a:endParaRPr lang="en-US" sz="120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a:t>U </a:t>
                </a:r>
                <a:r>
                  <a:rPr lang="en-US" sz="1200" dirty="0" err="1"/>
                  <a:t>primeru</a:t>
                </a:r>
                <a:r>
                  <a:rPr lang="en-US" sz="1200" dirty="0"/>
                  <a:t> </a:t>
                </a:r>
                <a:r>
                  <a:rPr lang="en-US" sz="1200" dirty="0" err="1"/>
                  <a:t>na</a:t>
                </a:r>
                <a:r>
                  <a:rPr lang="en-US" sz="1200" dirty="0"/>
                  <a:t> </a:t>
                </a:r>
                <a:r>
                  <a:rPr lang="en-US" sz="1200" dirty="0" err="1"/>
                  <a:t>slici</a:t>
                </a:r>
                <a:r>
                  <a:rPr lang="en-US" sz="1200" dirty="0"/>
                  <a:t> </a:t>
                </a:r>
                <a:r>
                  <a:rPr lang="en-US" sz="1200" dirty="0" err="1"/>
                  <a:t>imamo</a:t>
                </a:r>
                <a:r>
                  <a:rPr lang="en-US" sz="1200" dirty="0"/>
                  <a:t> </a:t>
                </a:r>
                <a:r>
                  <a:rPr lang="en-US" sz="1200" dirty="0" err="1"/>
                  <a:t>bulovu</a:t>
                </a:r>
                <a:r>
                  <a:rPr lang="en-US" sz="1200" dirty="0"/>
                  <a:t> </a:t>
                </a:r>
                <a:r>
                  <a:rPr lang="en-US" sz="1200" dirty="0" err="1"/>
                  <a:t>funkciju</a:t>
                </a:r>
                <a:r>
                  <a:rPr lang="en-US" sz="1200" dirty="0"/>
                  <a:t> </a:t>
                </a:r>
                <a:r>
                  <a:rPr lang="en-US" sz="1200" b="0" i="0">
                    <a:latin typeface="Cambria Math" panose="02040503050406030204" pitchFamily="18" charset="0"/>
                  </a:rPr>
                  <a:t>𝑓(𝑥)</a:t>
                </a:r>
                <a:r>
                  <a:rPr lang="sr-Latn-RS" sz="1200" b="0" i="0">
                    <a:latin typeface="Cambria Math" panose="02040503050406030204" pitchFamily="18" charset="0"/>
                  </a:rPr>
                  <a:t>=𝑥_1 </a:t>
                </a:r>
                <a:r>
                  <a:rPr lang="sr-Latn-RS" sz="1200" i="0">
                    <a:latin typeface="Cambria Math" panose="02040503050406030204" pitchFamily="18" charset="0"/>
                  </a:rPr>
                  <a:t>〖</a:t>
                </a:r>
                <a:r>
                  <a:rPr lang="sr-Latn-RS" sz="120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rPr>
                  <a:t>𝑥〗_</a:t>
                </a:r>
                <a:r>
                  <a:rPr lang="sr-Latn-RS" sz="1200" b="0" i="0">
                    <a:latin typeface="Cambria Math" panose="02040503050406030204" pitchFamily="18" charset="0"/>
                  </a:rPr>
                  <a:t>2</a:t>
                </a:r>
                <a:r>
                  <a:rPr lang="en-US" sz="1200" dirty="0"/>
                  <a:t>. </a:t>
                </a:r>
                <a:r>
                  <a:rPr lang="en-US" sz="1200" dirty="0" err="1"/>
                  <a:t>Zadatak</a:t>
                </a:r>
                <a:r>
                  <a:rPr lang="en-US" sz="1200" dirty="0"/>
                  <a:t> </a:t>
                </a:r>
                <a:r>
                  <a:rPr lang="en-US" sz="1200" dirty="0" err="1"/>
                  <a:t>algoritma</a:t>
                </a:r>
                <a:r>
                  <a:rPr lang="en-US" sz="1200" dirty="0"/>
                  <a:t> </a:t>
                </a:r>
                <a:r>
                  <a:rPr lang="en-US" sz="1200" dirty="0" err="1"/>
                  <a:t>je</a:t>
                </a:r>
                <a:r>
                  <a:rPr lang="en-US" sz="1200" dirty="0"/>
                  <a:t> da </a:t>
                </a:r>
                <a:r>
                  <a:rPr lang="en-US" sz="1200" dirty="0" err="1"/>
                  <a:t>utvrdi</a:t>
                </a:r>
                <a:r>
                  <a:rPr lang="en-US" sz="1200" dirty="0"/>
                  <a:t> </a:t>
                </a:r>
                <a:r>
                  <a:rPr lang="en-US" sz="1200" dirty="0" err="1"/>
                  <a:t>za</a:t>
                </a:r>
                <a:r>
                  <a:rPr lang="en-US" sz="1200" dirty="0"/>
                  <a:t> </a:t>
                </a:r>
                <a:r>
                  <a:rPr lang="en-US" sz="1200" dirty="0" err="1"/>
                  <a:t>koje</a:t>
                </a:r>
                <a:r>
                  <a:rPr lang="en-US" sz="1200" dirty="0"/>
                  <a:t> </a:t>
                </a:r>
                <a:r>
                  <a:rPr lang="en-US" sz="1200" dirty="0" err="1"/>
                  <a:t>je</a:t>
                </a:r>
                <a:r>
                  <a:rPr lang="en-US" sz="1200" dirty="0"/>
                  <a:t> </a:t>
                </a:r>
                <a:r>
                  <a:rPr lang="en-US" sz="1200" dirty="0" err="1"/>
                  <a:t>vrednosti</a:t>
                </a:r>
                <a:r>
                  <a:rPr lang="en-US" sz="1200" baseline="0" dirty="0"/>
                  <a:t> </a:t>
                </a:r>
                <a:r>
                  <a:rPr lang="en-US" sz="1200" baseline="0" dirty="0" err="1"/>
                  <a:t>argumenata</a:t>
                </a:r>
                <a:r>
                  <a:rPr lang="en-US" sz="1200" baseline="0" dirty="0"/>
                  <a:t> ova </a:t>
                </a:r>
                <a:r>
                  <a:rPr lang="en-US" sz="1200" baseline="0" dirty="0" err="1"/>
                  <a:t>funkcija</a:t>
                </a:r>
                <a:r>
                  <a:rPr lang="en-US" sz="1200" baseline="0" dirty="0"/>
                  <a:t> </a:t>
                </a:r>
                <a:r>
                  <a:rPr lang="en-US" sz="1200" baseline="0" dirty="0" err="1"/>
                  <a:t>zadovoljena</a:t>
                </a:r>
                <a:r>
                  <a:rPr lang="en-US" sz="1200" baseline="0" dirty="0"/>
                  <a:t>. </a:t>
                </a:r>
                <a:r>
                  <a:rPr lang="en-US" sz="1200" baseline="0" dirty="0" err="1"/>
                  <a:t>Pošto</a:t>
                </a:r>
                <a:r>
                  <a:rPr lang="en-US" sz="1200" baseline="0" dirty="0"/>
                  <a:t> </a:t>
                </a:r>
                <a:r>
                  <a:rPr lang="en-US" sz="1200" baseline="0" dirty="0" err="1"/>
                  <a:t>je</a:t>
                </a:r>
                <a:r>
                  <a:rPr lang="en-US" sz="1200" baseline="0" dirty="0"/>
                  <a:t> </a:t>
                </a:r>
                <a:r>
                  <a:rPr lang="en-US" sz="1200" baseline="0" dirty="0" err="1"/>
                  <a:t>reč</a:t>
                </a:r>
                <a:r>
                  <a:rPr lang="en-US" sz="1200" baseline="0" dirty="0"/>
                  <a:t> o AND </a:t>
                </a:r>
                <a:r>
                  <a:rPr lang="en-US" sz="1200" baseline="0" dirty="0" err="1"/>
                  <a:t>operaciji</a:t>
                </a:r>
                <a:r>
                  <a:rPr lang="en-US" sz="1200" baseline="0" dirty="0"/>
                  <a:t>, </a:t>
                </a:r>
                <a:r>
                  <a:rPr lang="en-US" sz="1200" baseline="0" dirty="0" err="1"/>
                  <a:t>na</a:t>
                </a:r>
                <a:r>
                  <a:rPr lang="en-US" sz="1200" baseline="0" dirty="0"/>
                  <a:t> </a:t>
                </a:r>
                <a:r>
                  <a:rPr lang="en-US" sz="1200" baseline="0" dirty="0" err="1"/>
                  <a:t>osnovu</a:t>
                </a:r>
                <a:r>
                  <a:rPr lang="en-US" sz="1200" baseline="0" dirty="0"/>
                  <a:t> </a:t>
                </a:r>
                <a:r>
                  <a:rPr lang="en-US" sz="1200" baseline="0" dirty="0" err="1"/>
                  <a:t>tablice</a:t>
                </a:r>
                <a:r>
                  <a:rPr lang="en-US" sz="1200" baseline="0" dirty="0"/>
                  <a:t> </a:t>
                </a:r>
                <a:r>
                  <a:rPr lang="en-US" sz="1200" baseline="0" dirty="0" err="1"/>
                  <a:t>istinitosti</a:t>
                </a:r>
                <a:r>
                  <a:rPr lang="en-US" sz="1200" baseline="0" dirty="0"/>
                  <a:t> </a:t>
                </a:r>
                <a:r>
                  <a:rPr lang="en-US" sz="1200" baseline="0" dirty="0" err="1"/>
                  <a:t>vidimo</a:t>
                </a:r>
                <a:r>
                  <a:rPr lang="en-US" sz="1200" baseline="0" dirty="0"/>
                  <a:t> da </a:t>
                </a:r>
                <a:r>
                  <a:rPr lang="en-US" sz="1200" baseline="0" dirty="0" err="1"/>
                  <a:t>je</a:t>
                </a:r>
                <a:r>
                  <a:rPr lang="en-US" sz="1200" baseline="0" dirty="0"/>
                  <a:t> to </a:t>
                </a:r>
                <a:r>
                  <a:rPr lang="en-US" sz="1200" baseline="0" dirty="0" err="1"/>
                  <a:t>slučaj</a:t>
                </a:r>
                <a:r>
                  <a:rPr lang="en-US" sz="1200" baseline="0" dirty="0"/>
                  <a:t> </a:t>
                </a:r>
                <a:r>
                  <a:rPr lang="en-US" sz="1200" baseline="0" dirty="0" err="1"/>
                  <a:t>kada</a:t>
                </a:r>
                <a:r>
                  <a:rPr lang="en-US" sz="1200" baseline="0" dirty="0"/>
                  <a:t> </a:t>
                </a:r>
                <a:r>
                  <a:rPr lang="en-US" sz="1200" baseline="0" dirty="0" err="1"/>
                  <a:t>su</a:t>
                </a:r>
                <a:r>
                  <a:rPr lang="en-US" sz="1200" baseline="0" dirty="0"/>
                  <a:t> </a:t>
                </a:r>
                <a:r>
                  <a:rPr lang="en-US" sz="1200" baseline="0" dirty="0" err="1"/>
                  <a:t>oba</a:t>
                </a:r>
                <a:r>
                  <a:rPr lang="en-US" sz="1200" baseline="0" dirty="0"/>
                  <a:t> argumenta </a:t>
                </a:r>
                <a:r>
                  <a:rPr lang="en-US" sz="1200" baseline="0" dirty="0" err="1"/>
                  <a:t>jednaka</a:t>
                </a:r>
                <a:r>
                  <a:rPr lang="en-US" sz="1200" baseline="0" dirty="0"/>
                  <a:t> 1, pa se </a:t>
                </a:r>
                <a:r>
                  <a:rPr lang="en-US" sz="1200" baseline="0" dirty="0" err="1"/>
                  <a:t>lako</a:t>
                </a:r>
                <a:r>
                  <a:rPr lang="en-US" sz="1200" baseline="0" dirty="0"/>
                  <a:t> </a:t>
                </a:r>
                <a:r>
                  <a:rPr lang="en-US" sz="1200" baseline="0" dirty="0" err="1"/>
                  <a:t>može</a:t>
                </a:r>
                <a:r>
                  <a:rPr lang="en-US" sz="1200" baseline="0" dirty="0"/>
                  <a:t> </a:t>
                </a:r>
                <a:r>
                  <a:rPr lang="en-US" sz="1200" baseline="0" dirty="0" err="1"/>
                  <a:t>proveriti</a:t>
                </a:r>
                <a:r>
                  <a:rPr lang="en-US" sz="1200" baseline="0" dirty="0"/>
                  <a:t> </a:t>
                </a:r>
                <a:r>
                  <a:rPr lang="en-US" sz="1200" baseline="0" dirty="0" err="1"/>
                  <a:t>ispravnost</a:t>
                </a:r>
                <a:r>
                  <a:rPr lang="en-US" sz="1200" baseline="0" dirty="0"/>
                  <a:t> </a:t>
                </a:r>
                <a:r>
                  <a:rPr lang="en-US" sz="1200" baseline="0" dirty="0" err="1"/>
                  <a:t>algoritma</a:t>
                </a:r>
                <a:r>
                  <a:rPr lang="en-US" sz="1200" baseline="0" dirty="0"/>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err="1"/>
                  <a:t>Radi</a:t>
                </a:r>
                <a:r>
                  <a:rPr lang="en-US" sz="1200" dirty="0"/>
                  <a:t> </a:t>
                </a:r>
                <a:r>
                  <a:rPr lang="en-US" sz="1200" dirty="0" err="1"/>
                  <a:t>evaluacije</a:t>
                </a:r>
                <a:r>
                  <a:rPr lang="en-US" sz="1200" dirty="0"/>
                  <a:t> </a:t>
                </a:r>
                <a:r>
                  <a:rPr lang="en-US" sz="1200" dirty="0" err="1"/>
                  <a:t>funkcije</a:t>
                </a:r>
                <a:r>
                  <a:rPr lang="en-US" sz="1200" dirty="0"/>
                  <a:t> </a:t>
                </a:r>
                <a:r>
                  <a:rPr lang="en-US" sz="1200" dirty="0" err="1"/>
                  <a:t>konstruišemo</a:t>
                </a:r>
                <a:r>
                  <a:rPr lang="en-US" sz="1200" dirty="0"/>
                  <a:t> </a:t>
                </a:r>
                <a:r>
                  <a:rPr lang="en-US" sz="1200" dirty="0" err="1"/>
                  <a:t>kvantno</a:t>
                </a:r>
                <a:r>
                  <a:rPr lang="en-US" sz="1200" dirty="0"/>
                  <a:t> </a:t>
                </a:r>
                <a:r>
                  <a:rPr lang="en-US" sz="1200" dirty="0" err="1"/>
                  <a:t>kolo</a:t>
                </a:r>
                <a:r>
                  <a:rPr lang="en-US" sz="1200" dirty="0"/>
                  <a:t> </a:t>
                </a:r>
                <a:r>
                  <a:rPr lang="en-US" sz="1200" dirty="0" err="1"/>
                  <a:t>kao</a:t>
                </a:r>
                <a:r>
                  <a:rPr lang="en-US" sz="1200" dirty="0"/>
                  <a:t> </a:t>
                </a:r>
                <a:r>
                  <a:rPr lang="en-US" sz="1200" dirty="0" err="1"/>
                  <a:t>na</a:t>
                </a:r>
                <a:r>
                  <a:rPr lang="en-US" sz="1200" dirty="0"/>
                  <a:t> </a:t>
                </a:r>
                <a:r>
                  <a:rPr lang="en-US" sz="1200" dirty="0" err="1"/>
                  <a:t>slici</a:t>
                </a:r>
                <a:r>
                  <a:rPr lang="en-US" sz="1200" dirty="0"/>
                  <a:t>. </a:t>
                </a:r>
                <a:r>
                  <a:rPr lang="en-US" sz="1200" dirty="0" err="1"/>
                  <a:t>Gornja</a:t>
                </a:r>
                <a:r>
                  <a:rPr lang="en-US" sz="1200" dirty="0"/>
                  <a:t> </a:t>
                </a:r>
                <a:r>
                  <a:rPr lang="en-US" sz="1200" dirty="0" err="1"/>
                  <a:t>dva</a:t>
                </a:r>
                <a:r>
                  <a:rPr lang="en-US" sz="1200" dirty="0"/>
                  <a:t> kubita </a:t>
                </a:r>
                <a:r>
                  <a:rPr lang="en-US" sz="1200" dirty="0" err="1"/>
                  <a:t>su</a:t>
                </a:r>
                <a:r>
                  <a:rPr lang="en-US" sz="1200" dirty="0"/>
                  <a:t> </a:t>
                </a:r>
                <a:r>
                  <a:rPr lang="en-US" sz="1200" dirty="0" err="1"/>
                  <a:t>ulazi</a:t>
                </a:r>
                <a:r>
                  <a:rPr lang="en-US" sz="1200" dirty="0"/>
                  <a:t> </a:t>
                </a:r>
                <a:r>
                  <a:rPr lang="sr-Latn-RS" sz="1200" b="0" i="0">
                    <a:latin typeface="Cambria Math" panose="02040503050406030204" pitchFamily="18" charset="0"/>
                  </a:rPr>
                  <a:t>𝑥_1</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i </a:t>
                </a:r>
                <a:r>
                  <a:rPr lang="sr-Latn-RS" sz="1200" b="0" i="0">
                    <a:latin typeface="Cambria Math" panose="02040503050406030204" pitchFamily="18" charset="0"/>
                  </a:rPr>
                  <a:t>𝑥_2</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donji</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je</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pomoćni</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kubit. Da bi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evaluirali</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datu</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funkciju</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u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jednom</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koraku</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stavljamo</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ulaze</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u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superpoziciju</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donji</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pomoćni</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kubit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stavljamo</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u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stanje</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1200" dirty="0"/>
                  <a:t> </a:t>
                </a:r>
                <a:r>
                  <a:rPr lang="en-US" sz="1200" i="0">
                    <a:latin typeface="Cambria Math" panose="02040503050406030204" pitchFamily="18" charset="0"/>
                  </a:rPr>
                  <a:t>|</a:t>
                </a:r>
                <a:r>
                  <a:rPr lang="sr-Latn-RS" sz="1200" b="0" i="0">
                    <a:latin typeface="Cambria Math" panose="02040503050406030204" pitchFamily="18" charset="0"/>
                  </a:rPr>
                  <a:t>−⟩</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Orakl</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se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sastoji</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of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Tofolijevog</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kola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koje</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praktično</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izvodi</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AND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operaciju</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za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kubite u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superpoziciji</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i</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na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donjem</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kubitu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daje</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rezultat</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Kada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su</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oba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gornja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kubita 1, Z operator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menja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znak</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vektora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|11⟩.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Zahvaljujući</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prinicpu</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prenosa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faze,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znak</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minus se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prenosi</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na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stanje</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prva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dva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kubita,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tako</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da se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dobija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superpozicija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sa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znakom</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sr-Latn-RS" sz="1200" b="0" i="0">
                    <a:latin typeface="Cambria Math" panose="02040503050406030204" pitchFamily="18" charset="0"/>
                  </a:rPr>
                  <a:t>−</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ispred</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poslednjeg</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člana</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sz="12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Ovakvo</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stanje</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sa</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obeleženom</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amplitudom</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koju</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treba</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pojačati</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ulazi</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u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groverovo</a:t>
                </a:r>
                <a:r>
                  <a:rPr lang="en-ZA" sz="120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dirty="0" err="1">
                    <a:effectLst/>
                    <a:latin typeface="Cambria" panose="02040503050406030204" pitchFamily="18" charset="0"/>
                    <a:ea typeface="Times New Roman" panose="02020603050405020304" pitchFamily="18" charset="0"/>
                    <a:cs typeface="Times New Roman" panose="02020603050405020304" pitchFamily="18" charset="0"/>
                  </a:rPr>
                  <a:t>kvantno</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kolo</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koje</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na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izlazu</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daje</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11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sa</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velikom</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r>
                  <a:rPr lang="en-ZA" sz="1200" baseline="0" dirty="0" err="1">
                    <a:effectLst/>
                    <a:latin typeface="Cambria" panose="02040503050406030204" pitchFamily="18" charset="0"/>
                    <a:ea typeface="Times New Roman" panose="02020603050405020304" pitchFamily="18" charset="0"/>
                    <a:cs typeface="Times New Roman" panose="02020603050405020304" pitchFamily="18" charset="0"/>
                  </a:rPr>
                  <a:t>verovatnoćom</a:t>
                </a:r>
                <a:r>
                  <a:rPr lang="en-ZA" sz="1200" baseline="0" dirty="0">
                    <a:effectLst/>
                    <a:latin typeface="Cambria" panose="02040503050406030204" pitchFamily="18" charset="0"/>
                    <a:ea typeface="Times New Roman" panose="02020603050405020304" pitchFamily="18" charset="0"/>
                    <a:cs typeface="Times New Roman" panose="02020603050405020304" pitchFamily="18" charset="0"/>
                  </a:rPr>
                  <a:t>. </a:t>
                </a:r>
                <a:endParaRPr lang="en-ZA" sz="12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sz="1200" dirty="0">
                  <a:effectLst/>
                  <a:latin typeface="Cambria" panose="02040503050406030204" pitchFamily="18" charset="0"/>
                  <a:ea typeface="Times New Roman" panose="02020603050405020304" pitchFamily="18" charset="0"/>
                  <a:cs typeface="Times New Roman" panose="02020603050405020304" pitchFamily="18" charset="0"/>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27</a:t>
            </a:fld>
            <a:endParaRPr lang="en-US"/>
          </a:p>
        </p:txBody>
      </p:sp>
    </p:spTree>
    <p:extLst>
      <p:ext uri="{BB962C8B-B14F-4D97-AF65-F5344CB8AC3E}">
        <p14:creationId xmlns:p14="http://schemas.microsoft.com/office/powerpoint/2010/main" val="28974688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 simple SAT problem can be illustrated through event planning. Alice is organizing Bob’s birthday party and wants to invite Chris, Daniel, and Emma. However, Chris will attend the party only if Daniel comes without Emma. This requirement can be represented using Boolean variables describing whether each person attends.</a:t>
            </a:r>
          </a:p>
          <a:p>
            <a:pPr algn="just"/>
            <a:endParaRPr lang="en-ZA" b="0" dirty="0"/>
          </a:p>
          <a:p>
            <a:pPr algn="just"/>
            <a:r>
              <a:rPr lang="en-ZA" dirty="0"/>
              <a:t>Let C, D, and E represent the attendance of Chris, Daniel, and Emma, respectively. Since each variable can be either 0 or 1, the complete attendance pattern can be represented by a </a:t>
            </a:r>
            <a:r>
              <a:rPr lang="en-ZA" b="0" dirty="0"/>
              <a:t>three-bit string </a:t>
            </a:r>
            <a:r>
              <a:rPr lang="en-ZA" dirty="0"/>
              <a:t>CDE, giving 2</a:t>
            </a:r>
            <a:r>
              <a:rPr lang="en-ZA" baseline="30000" dirty="0"/>
              <a:t>3</a:t>
            </a:r>
            <a:r>
              <a:rPr lang="en-ZA" dirty="0"/>
              <a:t>=8 possible combinations. </a:t>
            </a:r>
            <a:r>
              <a:rPr lang="en-ZA" b="0" dirty="0"/>
              <a:t>The condition “if Chris attends, then Daniel attends and Emma does not” can be written as C→(D∧¬E), which in CNF form becomes (¬C∨D)∧(¬C∨¬E)​. The goal is to find an assignment of C,D,E that makes the complete Boolean expression True. </a:t>
            </a:r>
            <a:r>
              <a:rPr lang="en-ZA" dirty="0"/>
              <a:t>In other words, all clauses must be satisfied simultaneously. Any assignment that satisfies all the conditions is a valid solution to the SAT problem. </a:t>
            </a:r>
            <a:endParaRPr lang="en-ZA" b="0" dirty="0"/>
          </a:p>
          <a:p>
            <a:pPr algn="just"/>
            <a:endParaRPr lang="en-ZA" b="0" dirty="0"/>
          </a:p>
          <a:p>
            <a:pPr algn="just"/>
            <a:r>
              <a:rPr lang="en-ZA" b="0" dirty="0"/>
              <a:t>Grover’s algorithm can then search through the possible assignments, with the oracle marking those that satisfy the complete Boolean expression. </a:t>
            </a:r>
            <a:r>
              <a:rPr lang="en-ZA" dirty="0"/>
              <a:t>For this example, the satisfying assignments are 000, 001, 010, 011, 110​</a:t>
            </a:r>
            <a:endParaRPr lang="en-ZA" b="0" dirty="0"/>
          </a:p>
          <a:p>
            <a:pPr algn="just"/>
            <a:endParaRPr lang="en-ZA" b="0" dirty="0"/>
          </a:p>
          <a:p>
            <a:pPr algn="just"/>
            <a:r>
              <a:rPr lang="en-ZA" b="0" dirty="0"/>
              <a:t>Practical applications include cryptanalysis, where Grover’s algorithm can accelerate the search through a large space of possible cryptographic keys, as well as optimization and planning problems, such as traffic routing, circuit verification, and even aircraft design.</a:t>
            </a:r>
          </a:p>
        </p:txBody>
      </p:sp>
      <p:sp>
        <p:nvSpPr>
          <p:cNvPr id="4" name="Slide Number Placeholder 3"/>
          <p:cNvSpPr>
            <a:spLocks noGrp="1"/>
          </p:cNvSpPr>
          <p:nvPr>
            <p:ph type="sldNum" sz="quarter" idx="5"/>
          </p:nvPr>
        </p:nvSpPr>
        <p:spPr/>
        <p:txBody>
          <a:bodyPr/>
          <a:lstStyle/>
          <a:p>
            <a:fld id="{1B2CE5E3-B8BD-D040-AC87-D640191DD8F1}" type="slidenum">
              <a:rPr lang="en-US" smtClean="0"/>
              <a:t>28</a:t>
            </a:fld>
            <a:endParaRPr lang="en-US"/>
          </a:p>
        </p:txBody>
      </p:sp>
    </p:spTree>
    <p:extLst>
      <p:ext uri="{BB962C8B-B14F-4D97-AF65-F5344CB8AC3E}">
        <p14:creationId xmlns:p14="http://schemas.microsoft.com/office/powerpoint/2010/main" val="5506078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diagram compares the performance of a classical search with Grover’s algorithm. The blue line shows that the number of queries required by a classical search grows linearly with the size of the database. Grover’s algorithm, on the other hand, scales with the square root of the database size, providing a quadratic speedup.</a:t>
                </a:r>
              </a:p>
              <a:p>
                <a:pPr algn="just"/>
                <a:endParaRPr lang="en-ZA" b="0" dirty="0"/>
              </a:p>
              <a:p>
                <a:pPr algn="just"/>
                <a:r>
                  <a:rPr lang="en-ZA" b="0" dirty="0"/>
                  <a:t>This is a significant improvement, but it is not the exponential speedup achieved by some other quantum algorithms. Importantly, for unstructured search, Grover’s quadratic speedup is known to be optimal: no quantum algorithm can generally solve this problem with asymptotically fewer than </a:t>
                </a:r>
                <a14:m>
                  <m:oMath xmlns:m="http://schemas.openxmlformats.org/officeDocument/2006/math">
                    <m:r>
                      <a:rPr lang="en-US" sz="1200" b="0" i="1" smtClean="0">
                        <a:latin typeface="Cambria Math" panose="02040503050406030204" pitchFamily="18" charset="0"/>
                      </a:rPr>
                      <m:t>𝑂</m:t>
                    </m:r>
                    <m:r>
                      <a:rPr lang="en-US" sz="1200" b="0" i="1" smtClean="0">
                        <a:latin typeface="Cambria Math" panose="02040503050406030204" pitchFamily="18" charset="0"/>
                      </a:rPr>
                      <m:t>(</m:t>
                    </m:r>
                    <m:rad>
                      <m:radPr>
                        <m:degHide m:val="on"/>
                        <m:ctrlPr>
                          <a:rPr lang="en-US" sz="1200" b="0" i="1" smtClean="0">
                            <a:latin typeface="Cambria Math" panose="02040503050406030204" pitchFamily="18" charset="0"/>
                          </a:rPr>
                        </m:ctrlPr>
                      </m:radPr>
                      <m:deg/>
                      <m:e>
                        <m:r>
                          <a:rPr lang="en-US" sz="1200" b="0" i="1" smtClean="0">
                            <a:latin typeface="Cambria Math" panose="02040503050406030204" pitchFamily="18" charset="0"/>
                          </a:rPr>
                          <m:t>𝑁</m:t>
                        </m:r>
                      </m:e>
                    </m:rad>
                    <m:r>
                      <a:rPr lang="en-US" sz="1200" b="0" i="1" smtClean="0">
                        <a:latin typeface="Cambria Math" panose="02040503050406030204" pitchFamily="18" charset="0"/>
                      </a:rPr>
                      <m:t>)</m:t>
                    </m:r>
                  </m:oMath>
                </a14:m>
                <a:r>
                  <a:rPr lang="en-ZA" b="0" dirty="0"/>
                  <a:t> queries.</a:t>
                </a:r>
              </a:p>
            </p:txBody>
          </p:sp>
        </mc:Choice>
        <mc:Fallback xmlns="">
          <p:sp>
            <p:nvSpPr>
              <p:cNvPr id="3" name="Notes Placeholder 2"/>
              <p:cNvSpPr>
                <a:spLocks noGrp="1"/>
              </p:cNvSpPr>
              <p:nvPr>
                <p:ph type="body" idx="1"/>
              </p:nvPr>
            </p:nvSpPr>
            <p:spPr/>
            <p:txBody>
              <a:bodyPr/>
              <a:lstStyle/>
              <a:p>
                <a:pPr algn="just"/>
                <a:r>
                  <a:rPr lang="en-ZA" b="0" dirty="0"/>
                  <a:t>The diagram compares the performance of a classical search with Grover’s algorithm. The blue line shows that the number of queries required by a classical search grows linearly with the size of the database. Grover’s algorithm, on the other hand, scales with the square root of the database size, providing a quadratic speedup.</a:t>
                </a:r>
              </a:p>
              <a:p>
                <a:pPr algn="just"/>
                <a:endParaRPr lang="en-ZA" b="0" dirty="0"/>
              </a:p>
              <a:p>
                <a:pPr algn="just"/>
                <a:r>
                  <a:rPr lang="en-ZA" b="0" dirty="0"/>
                  <a:t>This is a significant improvement, but it is not the exponential speedup achieved by some other quantum algorithms. Importantly, for unstructured search, Grover’s quadratic speedup is known to be optimal: no quantum algorithm can generally solve this problem with asymptotically fewer than </a:t>
                </a:r>
                <a:r>
                  <a:rPr lang="en-US" sz="1200" b="0" i="0">
                    <a:latin typeface="Cambria Math" panose="02040503050406030204" pitchFamily="18" charset="0"/>
                  </a:rPr>
                  <a:t>𝑂(√𝑁)</a:t>
                </a:r>
                <a:r>
                  <a:rPr lang="en-ZA" b="0" dirty="0"/>
                  <a:t> queries.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29</a:t>
            </a:fld>
            <a:endParaRPr lang="en-US"/>
          </a:p>
        </p:txBody>
      </p:sp>
    </p:spTree>
    <p:extLst>
      <p:ext uri="{BB962C8B-B14F-4D97-AF65-F5344CB8AC3E}">
        <p14:creationId xmlns:p14="http://schemas.microsoft.com/office/powerpoint/2010/main" val="11458632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Another landmark quantum algorithm is Shor’s algorithm, designed to find the prime factors of large composite numbers. It was developed by the American mathematician Peter Shor in 1994.</a:t>
            </a:r>
          </a:p>
          <a:p>
            <a:pPr algn="just"/>
            <a:endParaRPr lang="en-ZA" b="0" dirty="0"/>
          </a:p>
          <a:p>
            <a:pPr algn="just"/>
            <a:r>
              <a:rPr lang="en-ZA" b="0" dirty="0"/>
              <a:t>The algorithm is extremely important because it shows that a sufficiently powerful quantum computer could, in principle, break widely used public-key cryptographic systems such as RSA, whose security relies on the practical difficulty of factoring large numbers. Today’s quantum computers are still too small and error-prone to factor cryptographically significant numbers using Shor’s algorithm. However,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Reference: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Shor P.W. Polynomial-time algorithms for prime factorization and discrete logarithms on a quantum computer, SIAM J. </a:t>
            </a:r>
            <a:r>
              <a:rPr lang="en-US" sz="1200" dirty="0" err="1"/>
              <a:t>Comput</a:t>
            </a:r>
            <a:r>
              <a:rPr lang="en-US" sz="1200" dirty="0"/>
              <a:t>., 26 (5) (1997), pp. 1484-1509, </a:t>
            </a:r>
            <a:endParaRPr lang="en-US" sz="12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https://</a:t>
            </a:r>
            <a:r>
              <a:rPr lang="en-US" sz="1200" dirty="0" err="1"/>
              <a:t>arxiv.org</a:t>
            </a:r>
            <a:r>
              <a:rPr lang="en-US" sz="1200" dirty="0"/>
              <a:t>/abs/quant-</a:t>
            </a:r>
            <a:r>
              <a:rPr lang="en-US" sz="1200" dirty="0" err="1"/>
              <a:t>ph</a:t>
            </a:r>
            <a:r>
              <a:rPr lang="en-US" sz="1200" dirty="0"/>
              <a:t>/9508027</a:t>
            </a:r>
          </a:p>
        </p:txBody>
      </p:sp>
      <p:sp>
        <p:nvSpPr>
          <p:cNvPr id="4" name="Slide Number Placeholder 3"/>
          <p:cNvSpPr>
            <a:spLocks noGrp="1"/>
          </p:cNvSpPr>
          <p:nvPr>
            <p:ph type="sldNum" sz="quarter" idx="5"/>
          </p:nvPr>
        </p:nvSpPr>
        <p:spPr/>
        <p:txBody>
          <a:bodyPr/>
          <a:lstStyle/>
          <a:p>
            <a:fld id="{1B2CE5E3-B8BD-D040-AC87-D640191DD8F1}" type="slidenum">
              <a:rPr lang="en-US" smtClean="0"/>
              <a:t>30</a:t>
            </a:fld>
            <a:endParaRPr lang="en-US"/>
          </a:p>
        </p:txBody>
      </p:sp>
    </p:spTree>
    <p:extLst>
      <p:ext uri="{BB962C8B-B14F-4D97-AF65-F5344CB8AC3E}">
        <p14:creationId xmlns:p14="http://schemas.microsoft.com/office/powerpoint/2010/main" val="1532736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Prime factorization of a positive integer means expressing it as a product of prime numbers.</a:t>
            </a:r>
            <a:r>
              <a:rPr lang="en-ZA" b="0" dirty="0"/>
              <a:t> While multiplying large numbers is computationally easy, finding the prime factors of a large number is much harder for classical computers and can become impractical as the number grows.</a:t>
            </a:r>
          </a:p>
          <a:p>
            <a:pPr algn="just"/>
            <a:endParaRPr lang="en-ZA" b="0" dirty="0"/>
          </a:p>
          <a:p>
            <a:pPr algn="just"/>
            <a:r>
              <a:rPr lang="en-ZA" b="0" dirty="0"/>
              <a:t>This computational difficulty is the basis of RSA cryptography. RSA uses a large number obtained by multiplying two large prime numbers. Multiplication is easy, but recovering those prime factors from the resulting number is extremely difficult for classical computers. For example, an RSA-2048 modulus contains 2048 bits, or about 617 decimal digits, and factoring such a number is considered infeasible with current classical computing methods. </a:t>
            </a:r>
          </a:p>
          <a:p>
            <a:pPr algn="just"/>
            <a:endParaRPr lang="en-ZA" b="0" dirty="0"/>
          </a:p>
          <a:p>
            <a:pPr algn="just"/>
            <a:r>
              <a:rPr lang="en-ZA" b="0" dirty="0"/>
              <a:t>A sufficiently large and fault-tolerant quantum computer could change this. Using Shor’s algorithm, an RSA-2048 modulus could, in principle, be factored in hours or days, depending on the quantum-computer architecture and available resources. </a:t>
            </a:r>
          </a:p>
          <a:p>
            <a:pPr algn="just"/>
            <a:endParaRPr lang="en-ZA" b="0" dirty="0"/>
          </a:p>
          <a:p>
            <a:pPr algn="just"/>
            <a:r>
              <a:rPr lang="en-ZA" b="0" dirty="0"/>
              <a:t>The point at which quantum computers become powerful enough to break widely used public-key cryptography is often called Q-Day, or Y2Q. This possibility is one of the main reasons for the current transition toward post-quantum cryptography. </a:t>
            </a:r>
          </a:p>
        </p:txBody>
      </p:sp>
      <p:sp>
        <p:nvSpPr>
          <p:cNvPr id="4" name="Slide Number Placeholder 3"/>
          <p:cNvSpPr>
            <a:spLocks noGrp="1"/>
          </p:cNvSpPr>
          <p:nvPr>
            <p:ph type="sldNum" sz="quarter" idx="5"/>
          </p:nvPr>
        </p:nvSpPr>
        <p:spPr/>
        <p:txBody>
          <a:bodyPr/>
          <a:lstStyle/>
          <a:p>
            <a:fld id="{1B2CE5E3-B8BD-D040-AC87-D640191DD8F1}" type="slidenum">
              <a:rPr lang="en-US" smtClean="0"/>
              <a:t>31</a:t>
            </a:fld>
            <a:endParaRPr lang="en-US"/>
          </a:p>
        </p:txBody>
      </p:sp>
    </p:spTree>
    <p:extLst>
      <p:ext uri="{BB962C8B-B14F-4D97-AF65-F5344CB8AC3E}">
        <p14:creationId xmlns:p14="http://schemas.microsoft.com/office/powerpoint/2010/main" val="14822046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To understand Shor’s algorithm, it is useful to first review some theoretical foundations, including </a:t>
            </a:r>
          </a:p>
          <a:p>
            <a:endParaRPr lang="en-ZA" b="0" dirty="0"/>
          </a:p>
          <a:p>
            <a:pPr marL="171450" indent="-171450">
              <a:buFont typeface="Arial" panose="020B0604020202020204" pitchFamily="34" charset="0"/>
              <a:buChar char="•"/>
            </a:pPr>
            <a:r>
              <a:rPr lang="en-ZA" b="0" dirty="0"/>
              <a:t>modular arithmetic</a:t>
            </a:r>
          </a:p>
          <a:p>
            <a:pPr marL="171450" indent="-171450">
              <a:buFont typeface="Arial" panose="020B0604020202020204" pitchFamily="34" charset="0"/>
              <a:buChar char="•"/>
            </a:pPr>
            <a:r>
              <a:rPr lang="en-ZA" b="0" dirty="0"/>
              <a:t>number theory, and </a:t>
            </a:r>
          </a:p>
          <a:p>
            <a:pPr marL="171450" indent="-171450">
              <a:buFont typeface="Arial" panose="020B0604020202020204" pitchFamily="34" charset="0"/>
              <a:buChar char="•"/>
            </a:pPr>
            <a:r>
              <a:rPr lang="en-ZA" b="0" dirty="0"/>
              <a:t>period finding.</a:t>
            </a:r>
            <a:endParaRPr lang="en-US" sz="1200" b="0" dirty="0"/>
          </a:p>
        </p:txBody>
      </p:sp>
      <p:sp>
        <p:nvSpPr>
          <p:cNvPr id="4" name="Slide Number Placeholder 3"/>
          <p:cNvSpPr>
            <a:spLocks noGrp="1"/>
          </p:cNvSpPr>
          <p:nvPr>
            <p:ph type="sldNum" sz="quarter" idx="5"/>
          </p:nvPr>
        </p:nvSpPr>
        <p:spPr/>
        <p:txBody>
          <a:bodyPr/>
          <a:lstStyle/>
          <a:p>
            <a:fld id="{1B2CE5E3-B8BD-D040-AC87-D640191DD8F1}" type="slidenum">
              <a:rPr lang="en-US" smtClean="0"/>
              <a:t>32</a:t>
            </a:fld>
            <a:endParaRPr lang="en-US"/>
          </a:p>
        </p:txBody>
      </p:sp>
    </p:spTree>
    <p:extLst>
      <p:ext uri="{BB962C8B-B14F-4D97-AF65-F5344CB8AC3E}">
        <p14:creationId xmlns:p14="http://schemas.microsoft.com/office/powerpoint/2010/main" val="25626675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Quantum computing makes extensive use of modular arithmetic.</a:t>
                </a:r>
                <a:r>
                  <a:rPr lang="en-ZA" b="0" dirty="0"/>
                  <a:t> </a:t>
                </a:r>
                <a:r>
                  <a:rPr lang="en-ZA" dirty="0"/>
                  <a:t>It is a type of arithmetic in which integers “wrap around” after reaching a certain value called the modulus.</a:t>
                </a:r>
                <a:endParaRPr lang="en-ZA" b="0" dirty="0"/>
              </a:p>
              <a:p>
                <a:pPr algn="just"/>
                <a:endParaRPr lang="en-ZA" b="0" dirty="0"/>
              </a:p>
              <a:p>
                <a:pPr algn="just"/>
                <a:r>
                  <a:rPr lang="en-ZA" b="0" dirty="0"/>
                  <a:t>A simple example is a 12-hour clock: after 12, we return to 1 again. Here, 12 is the modulus. This illustrates the periodic nature of modular arithmetic, where values repeat after a fixed interval.</a:t>
                </a:r>
              </a:p>
              <a:p>
                <a:pPr algn="just"/>
                <a:endParaRPr lang="en-ZA" b="0" dirty="0"/>
              </a:p>
              <a:p>
                <a:r>
                  <a:rPr lang="en-ZA" b="0" dirty="0"/>
                  <a:t>In mathematics, modular arithmetic is described using a congruence relation</a:t>
                </a:r>
              </a:p>
              <a:p>
                <a:endParaRPr lang="en-ZA" b="0" dirty="0"/>
              </a:p>
              <a:p>
                <a:pPr/>
                <a14:m>
                  <m:oMathPara xmlns:m="http://schemas.openxmlformats.org/officeDocument/2006/math">
                    <m:oMathParaPr>
                      <m:jc m:val="centerGroup"/>
                    </m:oMathParaPr>
                    <m:oMath xmlns:m="http://schemas.openxmlformats.org/officeDocument/2006/math">
                      <m:d>
                        <m:dPr>
                          <m:begChr m:val=""/>
                          <m:ctrlPr>
                            <a:rPr lang="en-US" sz="1200" i="1" smtClean="0">
                              <a:latin typeface="Cambria Math" panose="02040503050406030204" pitchFamily="18" charset="0"/>
                            </a:rPr>
                          </m:ctrlPr>
                        </m:dPr>
                        <m:e>
                          <m:r>
                            <a:rPr lang="en-US" sz="1200" i="1">
                              <a:latin typeface="Cambria Math" panose="02040503050406030204" pitchFamily="18" charset="0"/>
                            </a:rPr>
                            <m:t>𝑎</m:t>
                          </m:r>
                          <m:r>
                            <a:rPr lang="en-US" sz="1200" i="0">
                              <a:latin typeface="Cambria Math" panose="02040503050406030204" pitchFamily="18" charset="0"/>
                            </a:rPr>
                            <m:t>≡</m:t>
                          </m:r>
                          <m:r>
                            <a:rPr lang="en-US" sz="1200" i="1">
                              <a:latin typeface="Cambria Math" panose="02040503050406030204" pitchFamily="18" charset="0"/>
                            </a:rPr>
                            <m:t>𝑏</m:t>
                          </m:r>
                          <m:r>
                            <a:rPr lang="en-US" sz="1200" i="0">
                              <a:latin typeface="Cambria Math" panose="02040503050406030204" pitchFamily="18" charset="0"/>
                            </a:rPr>
                            <m:t> (</m:t>
                          </m:r>
                          <m:r>
                            <m:rPr>
                              <m:sty m:val="p"/>
                            </m:rPr>
                            <a:rPr lang="en-US" sz="1200" i="0">
                              <a:latin typeface="Cambria Math" panose="02040503050406030204" pitchFamily="18" charset="0"/>
                            </a:rPr>
                            <m:t>mod</m:t>
                          </m:r>
                          <m:r>
                            <a:rPr lang="en-US" sz="1200" i="0">
                              <a:latin typeface="Cambria Math" panose="02040503050406030204" pitchFamily="18" charset="0"/>
                            </a:rPr>
                            <m:t> </m:t>
                          </m:r>
                          <m:r>
                            <a:rPr lang="en-US" sz="1200" i="1">
                              <a:latin typeface="Cambria Math" panose="02040503050406030204" pitchFamily="18" charset="0"/>
                            </a:rPr>
                            <m:t>𝑛</m:t>
                          </m:r>
                        </m:e>
                      </m:d>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𝑛</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𝑏</m:t>
                      </m:r>
                      <m:r>
                        <a:rPr lang="en-US" sz="1200" b="0" i="1" smtClean="0">
                          <a:latin typeface="Cambria Math" panose="02040503050406030204" pitchFamily="18" charset="0"/>
                          <a:ea typeface="Cambria Math" panose="02040503050406030204" pitchFamily="18" charset="0"/>
                        </a:rPr>
                        <m:t>)</m:t>
                      </m:r>
                    </m:oMath>
                  </m:oMathPara>
                </a14:m>
                <a:endParaRPr lang="en-ZA" b="0" dirty="0"/>
              </a:p>
              <a:p>
                <a:r>
                  <a:rPr lang="en-ZA" dirty="0"/>
                  <a:t>It means:</a:t>
                </a:r>
                <a:endParaRPr lang="en-ZA" b="0" dirty="0"/>
              </a:p>
              <a:p>
                <a14:m>
                  <m:oMath xmlns:m="http://schemas.openxmlformats.org/officeDocument/2006/math">
                    <m:r>
                      <a:rPr lang="en-US" sz="1200" b="0" i="1" smtClean="0">
                        <a:latin typeface="Cambria Math" panose="02040503050406030204" pitchFamily="18" charset="0"/>
                      </a:rPr>
                      <m:t>𝑎</m:t>
                    </m:r>
                  </m:oMath>
                </a14:m>
                <a:r>
                  <a:rPr lang="en-ZA" b="0" dirty="0"/>
                  <a:t> is congruent to </a:t>
                </a:r>
                <a14:m>
                  <m:oMath xmlns:m="http://schemas.openxmlformats.org/officeDocument/2006/math">
                    <m:r>
                      <a:rPr lang="en-US" sz="1200" b="0" i="1" smtClean="0">
                        <a:latin typeface="Cambria Math" panose="02040503050406030204" pitchFamily="18" charset="0"/>
                      </a:rPr>
                      <m:t>𝑏</m:t>
                    </m:r>
                  </m:oMath>
                </a14:m>
                <a:r>
                  <a:rPr lang="en-ZA" b="0" dirty="0"/>
                  <a:t> modulo </a:t>
                </a:r>
                <a14:m>
                  <m:oMath xmlns:m="http://schemas.openxmlformats.org/officeDocument/2006/math">
                    <m:r>
                      <a:rPr lang="en-US" sz="1200" b="0" i="1" smtClean="0">
                        <a:latin typeface="Cambria Math" panose="02040503050406030204" pitchFamily="18" charset="0"/>
                      </a:rPr>
                      <m:t>𝑛</m:t>
                    </m:r>
                  </m:oMath>
                </a14:m>
                <a:r>
                  <a:rPr lang="en-ZA" b="0" dirty="0"/>
                  <a:t> if and only if </a:t>
                </a:r>
                <a14:m>
                  <m:oMath xmlns:m="http://schemas.openxmlformats.org/officeDocument/2006/math">
                    <m:r>
                      <a:rPr lang="en-US" sz="1200" b="0" i="1" smtClean="0">
                        <a:latin typeface="Cambria Math" panose="02040503050406030204" pitchFamily="18" charset="0"/>
                      </a:rPr>
                      <m:t>𝑛</m:t>
                    </m:r>
                  </m:oMath>
                </a14:m>
                <a:r>
                  <a:rPr lang="en-ZA" b="0" dirty="0"/>
                  <a:t> divides </a:t>
                </a:r>
                <a14:m>
                  <m:oMath xmlns:m="http://schemas.openxmlformats.org/officeDocument/2006/math">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𝑏</m:t>
                    </m:r>
                    <m:r>
                      <a:rPr lang="en-US" sz="1200" b="0" i="1" smtClean="0">
                        <a:latin typeface="Cambria Math" panose="02040503050406030204" pitchFamily="18" charset="0"/>
                        <a:ea typeface="Cambria Math" panose="02040503050406030204" pitchFamily="18" charset="0"/>
                      </a:rPr>
                      <m:t>)</m:t>
                    </m:r>
                  </m:oMath>
                </a14:m>
                <a:r>
                  <a:rPr lang="en-ZA" b="0" dirty="0"/>
                  <a:t>. Equivalently, </a:t>
                </a:r>
                <a14:m>
                  <m:oMath xmlns:m="http://schemas.openxmlformats.org/officeDocument/2006/math">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𝑏</m:t>
                    </m:r>
                    <m:r>
                      <a:rPr lang="en-US" sz="1200" b="0" i="1" smtClean="0">
                        <a:latin typeface="Cambria Math" panose="02040503050406030204" pitchFamily="18" charset="0"/>
                        <a:ea typeface="Cambria Math" panose="02040503050406030204" pitchFamily="18" charset="0"/>
                      </a:rPr>
                      <m:t>)</m:t>
                    </m:r>
                  </m:oMath>
                </a14:m>
                <a:r>
                  <a:rPr lang="en-ZA" b="0" dirty="0"/>
                  <a:t> is divisible by </a:t>
                </a:r>
                <a14:m>
                  <m:oMath xmlns:m="http://schemas.openxmlformats.org/officeDocument/2006/math">
                    <m:r>
                      <a:rPr lang="en-US" sz="1200" b="0" i="1" smtClean="0">
                        <a:latin typeface="Cambria Math" panose="02040503050406030204" pitchFamily="18" charset="0"/>
                      </a:rPr>
                      <m:t>𝑛</m:t>
                    </m:r>
                  </m:oMath>
                </a14:m>
                <a:r>
                  <a:rPr lang="en-ZA" b="0" dirty="0"/>
                  <a:t>.</a:t>
                </a:r>
              </a:p>
            </p:txBody>
          </p:sp>
        </mc:Choice>
        <mc:Fallback xmlns="">
          <p:sp>
            <p:nvSpPr>
              <p:cNvPr id="3" name="Notes Placeholder 2"/>
              <p:cNvSpPr>
                <a:spLocks noGrp="1"/>
              </p:cNvSpPr>
              <p:nvPr>
                <p:ph type="body" idx="1"/>
              </p:nvPr>
            </p:nvSpPr>
            <p:spPr/>
            <p:txBody>
              <a:bodyPr/>
              <a:lstStyle/>
              <a:p>
                <a:pPr algn="just"/>
                <a:r>
                  <a:rPr lang="en-ZA" b="0" dirty="0"/>
                  <a:t>Quantum computing, in addition to linear algebra and matrix calculations, frequently utilizes modular arithmetic. Modular arithmetic is the arithmetic of integers in which numbers "wrap around" upon reaching a certain value, known as the modulus.</a:t>
                </a:r>
              </a:p>
              <a:p>
                <a:pPr algn="just"/>
                <a:endParaRPr lang="en-ZA" b="0" dirty="0"/>
              </a:p>
              <a:p>
                <a:pPr algn="just"/>
                <a:r>
                  <a:rPr lang="en-ZA" b="0" dirty="0"/>
                  <a:t>For example, consider a 12-hour clock: once the number 12 is reached, the sequence resets and continues from 1 onward. In this scenario, 12 acts as the modulus. This demonstrates intuitively that modular arithmetic is periodic, meaning functions defined using modular arithmetic repeat their values at regular intervals or periods.</a:t>
                </a:r>
              </a:p>
              <a:p>
                <a:pPr algn="just"/>
                <a:endParaRPr lang="en-ZA" b="0" dirty="0"/>
              </a:p>
              <a:p>
                <a:pPr algn="just"/>
                <a:r>
                  <a:rPr lang="en-ZA" b="0" dirty="0"/>
                  <a:t>Mathematically, modular arithmetic defines an equivalence relationship:</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i="0">
                    <a:latin typeface="Cambria Math" panose="02040503050406030204" pitchFamily="18" charset="0"/>
                  </a:rPr>
                  <a:t>├ 𝑎≡𝑏 (𝑚𝑜𝑑 𝑛)</a:t>
                </a:r>
                <a:endParaRPr lang="en-US" sz="1200" b="0" dirty="0"/>
              </a:p>
              <a:p>
                <a:pPr algn="just"/>
                <a:r>
                  <a:rPr lang="en-ZA" b="0" dirty="0"/>
                  <a:t>This congruence indicates that both numbers </a:t>
                </a:r>
                <a:r>
                  <a:rPr lang="en-US" sz="1200" b="0" i="0">
                    <a:latin typeface="Cambria Math" panose="02040503050406030204" pitchFamily="18" charset="0"/>
                  </a:rPr>
                  <a:t>𝑎</a:t>
                </a:r>
                <a:r>
                  <a:rPr lang="en-ZA" b="0" dirty="0"/>
                  <a:t> and </a:t>
                </a:r>
                <a:r>
                  <a:rPr lang="en-US" sz="1200" b="0" i="0">
                    <a:latin typeface="Cambria Math" panose="02040503050406030204" pitchFamily="18" charset="0"/>
                  </a:rPr>
                  <a:t>𝑏</a:t>
                </a:r>
                <a:r>
                  <a:rPr lang="en-ZA" b="0" dirty="0"/>
                  <a:t> leave the same remainder upon division by </a:t>
                </a:r>
                <a:r>
                  <a:rPr lang="en-US" sz="1200" b="0" i="0">
                    <a:latin typeface="Cambria Math" panose="02040503050406030204" pitchFamily="18" charset="0"/>
                  </a:rPr>
                  <a:t>𝑛</a:t>
                </a:r>
                <a:r>
                  <a:rPr lang="en-ZA" b="0" dirty="0"/>
                  <a:t>. It is important not to confuse this equivalence relation with the modulo operator (often written as </a:t>
                </a:r>
                <a:r>
                  <a:rPr lang="en-US" sz="1200" b="0" i="0">
                    <a:latin typeface="Cambria Math" panose="02040503050406030204" pitchFamily="18" charset="0"/>
                  </a:rPr>
                  <a:t>𝑎%𝑛</a:t>
                </a:r>
                <a:r>
                  <a:rPr lang="en-ZA" b="0" dirty="0"/>
                  <a:t>), which explicitly computes the remainder when </a:t>
                </a:r>
                <a:r>
                  <a:rPr lang="en-ZA" b="0" dirty="0" err="1"/>
                  <a:t>aaa</a:t>
                </a:r>
                <a:r>
                  <a:rPr lang="en-ZA" b="0" dirty="0"/>
                  <a:t> is divided by </a:t>
                </a:r>
                <a:r>
                  <a:rPr lang="en-US" sz="1200" b="0" i="0">
                    <a:latin typeface="Cambria Math" panose="02040503050406030204" pitchFamily="18" charset="0"/>
                  </a:rPr>
                  <a:t>𝑛</a:t>
                </a:r>
                <a:r>
                  <a:rPr lang="en-ZA" b="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33</a:t>
            </a:fld>
            <a:endParaRPr lang="en-US"/>
          </a:p>
        </p:txBody>
      </p:sp>
    </p:spTree>
    <p:extLst>
      <p:ext uri="{BB962C8B-B14F-4D97-AF65-F5344CB8AC3E}">
        <p14:creationId xmlns:p14="http://schemas.microsoft.com/office/powerpoint/2010/main" val="12278640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A prime number is a natural number greater than 1 that is divisible only by 1 and itself. Examples include 2,3,5,7,11,…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A semiprime (or </a:t>
                </a:r>
                <a:r>
                  <a:rPr lang="en-ZA" b="0" dirty="0" err="1"/>
                  <a:t>biprime</a:t>
                </a:r>
                <a:r>
                  <a:rPr lang="en-ZA" b="0" dirty="0"/>
                  <a:t>) is a natural number that is the product of exactly two prime numbers. For example, </a:t>
                </a:r>
                <a14:m>
                  <m:oMath xmlns:m="http://schemas.openxmlformats.org/officeDocument/2006/math">
                    <m:r>
                      <a:rPr lang="en-US" sz="1200" b="0" i="1" smtClean="0">
                        <a:solidFill>
                          <a:schemeClr val="tx1"/>
                        </a:solidFill>
                        <a:latin typeface="Cambria Math" panose="02040503050406030204" pitchFamily="18" charset="0"/>
                      </a:rPr>
                      <m:t>21=3</m:t>
                    </m:r>
                    <m:r>
                      <a:rPr lang="en-US" sz="1200" b="0" i="1" smtClean="0">
                        <a:solidFill>
                          <a:schemeClr val="tx1"/>
                        </a:solidFill>
                        <a:latin typeface="Cambria Math" panose="02040503050406030204" pitchFamily="18" charset="0"/>
                        <a:ea typeface="Cambria Math" panose="02040503050406030204" pitchFamily="18" charset="0"/>
                      </a:rPr>
                      <m:t>×7</m:t>
                    </m:r>
                  </m:oMath>
                </a14:m>
                <a:endParaRPr lang="en-ZA" b="0" dirty="0"/>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A composite number is a natural number greater than 1 that is not prime, meaning that it has factors other than 1 and itself. For example, </a:t>
                </a:r>
                <a14:m>
                  <m:oMath xmlns:m="http://schemas.openxmlformats.org/officeDocument/2006/math">
                    <m:r>
                      <a:rPr lang="en-US" sz="1200" i="1" dirty="0" smtClean="0">
                        <a:solidFill>
                          <a:schemeClr val="tx1"/>
                        </a:solidFill>
                        <a:latin typeface="Cambria Math" panose="02040503050406030204" pitchFamily="18" charset="0"/>
                      </a:rPr>
                      <m:t>2</m:t>
                    </m:r>
                    <m:r>
                      <a:rPr lang="en-US" sz="1200" b="0" i="1" dirty="0" smtClean="0">
                        <a:solidFill>
                          <a:schemeClr val="tx1"/>
                        </a:solidFill>
                        <a:latin typeface="Cambria Math" panose="02040503050406030204" pitchFamily="18" charset="0"/>
                      </a:rPr>
                      <m:t>0</m:t>
                    </m:r>
                    <m:r>
                      <a:rPr lang="en-US" sz="1200" b="0" i="1" smtClean="0">
                        <a:solidFill>
                          <a:schemeClr val="tx1"/>
                        </a:solidFill>
                        <a:latin typeface="Cambria Math" panose="02040503050406030204" pitchFamily="18" charset="0"/>
                      </a:rPr>
                      <m:t>=2</m:t>
                    </m:r>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10</m:t>
                    </m:r>
                  </m:oMath>
                </a14:m>
                <a:r>
                  <a:rPr lang="en-ZA" b="0" dirty="0"/>
                  <a:t>.</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dirty="0"/>
                  <a:t>Every semiprime is composite, but not every composite number is semiprime. For example, 12 is composite but not semiprime.</a:t>
                </a:r>
                <a:endParaRPr lang="en-ZA" b="0" dirty="0"/>
              </a:p>
            </p:txBody>
          </p:sp>
        </mc:Choice>
        <mc:Fallback xmlns="">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A prime number is a natural number greater than 1 that is divisible only by 1 and itself. Examples include 2,3,5,7,11,…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A semiprime (or </a:t>
                </a:r>
                <a:r>
                  <a:rPr lang="en-ZA" b="0" dirty="0" err="1"/>
                  <a:t>biprime</a:t>
                </a:r>
                <a:r>
                  <a:rPr lang="en-ZA" b="0" dirty="0"/>
                  <a:t>) is a natural number that is the product of exactly two prime numbers. For example, </a:t>
                </a:r>
                <a:r>
                  <a:rPr lang="en-US" sz="1200" b="0" i="0">
                    <a:solidFill>
                      <a:schemeClr val="tx1"/>
                    </a:solidFill>
                    <a:latin typeface="Cambria Math" panose="02040503050406030204" pitchFamily="18" charset="0"/>
                  </a:rPr>
                  <a:t>21=3</a:t>
                </a:r>
                <a:r>
                  <a:rPr lang="en-US" sz="1200" b="0" i="0">
                    <a:solidFill>
                      <a:schemeClr val="tx1"/>
                    </a:solidFill>
                    <a:latin typeface="Cambria Math" panose="02040503050406030204" pitchFamily="18" charset="0"/>
                    <a:ea typeface="Cambria Math" panose="02040503050406030204" pitchFamily="18" charset="0"/>
                  </a:rPr>
                  <a:t>×7</a:t>
                </a:r>
                <a:endParaRPr lang="en-ZA" b="0" dirty="0"/>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A composite number is a natural number greater than 1 that is not prime, meaning that it has factors other than 1 and itself. For example, </a:t>
                </a:r>
                <a:r>
                  <a:rPr lang="en-US" sz="1200" i="0" dirty="0">
                    <a:solidFill>
                      <a:schemeClr val="tx1"/>
                    </a:solidFill>
                    <a:latin typeface="Cambria Math" panose="02040503050406030204" pitchFamily="18" charset="0"/>
                  </a:rPr>
                  <a:t>2</a:t>
                </a:r>
                <a:r>
                  <a:rPr lang="en-US" sz="1200" b="0" i="0" dirty="0">
                    <a:solidFill>
                      <a:schemeClr val="tx1"/>
                    </a:solidFill>
                    <a:latin typeface="Cambria Math" panose="02040503050406030204" pitchFamily="18" charset="0"/>
                  </a:rPr>
                  <a:t>0</a:t>
                </a:r>
                <a:r>
                  <a:rPr lang="en-US" sz="1200" b="0" i="0">
                    <a:solidFill>
                      <a:schemeClr val="tx1"/>
                    </a:solidFill>
                    <a:latin typeface="Cambria Math" panose="02040503050406030204" pitchFamily="18" charset="0"/>
                  </a:rPr>
                  <a:t>=2</a:t>
                </a:r>
                <a:r>
                  <a:rPr lang="en-US" sz="1200" i="0">
                    <a:solidFill>
                      <a:schemeClr val="tx1"/>
                    </a:solidFill>
                    <a:latin typeface="Cambria Math" panose="02040503050406030204" pitchFamily="18" charset="0"/>
                    <a:ea typeface="Cambria Math" panose="02040503050406030204" pitchFamily="18" charset="0"/>
                  </a:rPr>
                  <a:t>×</a:t>
                </a:r>
                <a:r>
                  <a:rPr lang="en-US" sz="1200" b="0" i="0">
                    <a:solidFill>
                      <a:schemeClr val="tx1"/>
                    </a:solidFill>
                    <a:latin typeface="Cambria Math" panose="02040503050406030204" pitchFamily="18" charset="0"/>
                    <a:ea typeface="Cambria Math" panose="02040503050406030204" pitchFamily="18" charset="0"/>
                  </a:rPr>
                  <a:t>10</a:t>
                </a:r>
                <a:r>
                  <a:rPr lang="en-ZA" b="0" dirty="0"/>
                  <a:t>.</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dirty="0"/>
                  <a:t>Every semiprime is composite, but not every composite number is semiprime. For example, 12 is composite but not semiprime.</a:t>
                </a:r>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34</a:t>
            </a:fld>
            <a:endParaRPr lang="en-US"/>
          </a:p>
        </p:txBody>
      </p:sp>
    </p:spTree>
    <p:extLst>
      <p:ext uri="{BB962C8B-B14F-4D97-AF65-F5344CB8AC3E}">
        <p14:creationId xmlns:p14="http://schemas.microsoft.com/office/powerpoint/2010/main" val="32415812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The greatest common divisor (GCD)</a:t>
                </a:r>
                <a:r>
                  <a:rPr lang="en-ZA" b="1" dirty="0"/>
                  <a:t> </a:t>
                </a:r>
                <a:r>
                  <a:rPr lang="en-ZA" dirty="0"/>
                  <a:t>of two nonzero integers is the largest positive integer that divides both numbers without a remainder.</a:t>
                </a:r>
              </a:p>
              <a:p>
                <a:pPr marL="171450" indent="-171450" algn="just">
                  <a:buFont typeface="Arial" panose="020B0604020202020204" pitchFamily="34" charset="0"/>
                  <a:buChar char="•"/>
                </a:pPr>
                <a:endParaRPr lang="en-ZA" dirty="0"/>
              </a:p>
              <a:p>
                <a:pPr lvl="1"/>
                <a:r>
                  <a:rPr lang="en-ZA" dirty="0"/>
                  <a:t>For example, the divisors of 10 are 1,2,5,10, while the divisors of 15 are 1,3,5,15. Their common divisors are 1 and 5, so  </a:t>
                </a:r>
                <a:r>
                  <a:rPr lang="en-ZA" dirty="0" err="1"/>
                  <a:t>gcd</a:t>
                </a:r>
                <a:r>
                  <a:rPr lang="en-ZA" dirty="0"/>
                  <a:t>(10,15)=5.</a:t>
                </a:r>
              </a:p>
              <a:p>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If the GCD of two numbers is 1, the numbers are said to be coprime, or relatively prime: </a:t>
                </a:r>
                <a14:m>
                  <m:oMath xmlns:m="http://schemas.openxmlformats.org/officeDocument/2006/math">
                    <m:r>
                      <m:rPr>
                        <m:sty m:val="p"/>
                      </m:rPr>
                      <a:rPr lang="en-US" sz="1200" b="0" i="0" smtClean="0">
                        <a:solidFill>
                          <a:schemeClr val="tx1"/>
                        </a:solidFill>
                        <a:latin typeface="Cambria Math" panose="02040503050406030204" pitchFamily="18" charset="0"/>
                      </a:rPr>
                      <m:t>gcd</m:t>
                    </m:r>
                    <m:d>
                      <m:dPr>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𝑎</m:t>
                        </m:r>
                        <m:r>
                          <a:rPr lang="en-US" sz="1200" i="1">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𝑁</m:t>
                        </m:r>
                      </m:e>
                    </m:d>
                    <m:r>
                      <a:rPr lang="en-US" sz="1200" i="1">
                        <a:solidFill>
                          <a:schemeClr val="tx1"/>
                        </a:solidFill>
                        <a:latin typeface="Cambria Math" panose="02040503050406030204" pitchFamily="18" charset="0"/>
                      </a:rPr>
                      <m:t>=1</m:t>
                    </m:r>
                  </m:oMath>
                </a14:m>
                <a:r>
                  <a:rPr lang="en-ZA" b="0" dirty="0"/>
                  <a:t>. </a:t>
                </a:r>
                <a:r>
                  <a:rPr lang="en-ZA" dirty="0"/>
                  <a:t>For example, 8 and 9 are coprime because </a:t>
                </a:r>
                <a:r>
                  <a:rPr lang="en-ZA" dirty="0" err="1"/>
                  <a:t>gcd</a:t>
                </a:r>
                <a:r>
                  <a:rPr lang="en-ZA" dirty="0"/>
                  <a:t>(8,9)=1, even though neither number is prime.</a:t>
                </a:r>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For two coprime integers </a:t>
                </a:r>
                <a14:m>
                  <m:oMath xmlns:m="http://schemas.openxmlformats.org/officeDocument/2006/math">
                    <m:r>
                      <a:rPr lang="en-US" sz="1200" b="0" i="1" smtClean="0">
                        <a:latin typeface="Cambria Math" panose="02040503050406030204" pitchFamily="18" charset="0"/>
                      </a:rPr>
                      <m:t>𝑎</m:t>
                    </m:r>
                  </m:oMath>
                </a14:m>
                <a:r>
                  <a:rPr lang="en-ZA" b="0" dirty="0"/>
                  <a:t> and </a:t>
                </a:r>
                <a14:m>
                  <m:oMath xmlns:m="http://schemas.openxmlformats.org/officeDocument/2006/math">
                    <m:r>
                      <a:rPr lang="en-US" sz="1200" b="0" i="1" smtClean="0">
                        <a:latin typeface="Cambria Math" panose="02040503050406030204" pitchFamily="18" charset="0"/>
                      </a:rPr>
                      <m:t>𝑁</m:t>
                    </m:r>
                    <m:r>
                      <a:rPr lang="en-US" sz="1200" b="0" i="1" smtClean="0">
                        <a:latin typeface="Cambria Math" panose="02040503050406030204" pitchFamily="18" charset="0"/>
                      </a:rPr>
                      <m:t>&gt;1</m:t>
                    </m:r>
                  </m:oMath>
                </a14:m>
                <a:r>
                  <a:rPr lang="en-ZA" b="0" dirty="0"/>
                  <a:t>, the </a:t>
                </a:r>
                <a:r>
                  <a:rPr lang="en-ZA" b="1" dirty="0"/>
                  <a:t>order of </a:t>
                </a:r>
                <a14:m>
                  <m:oMath xmlns:m="http://schemas.openxmlformats.org/officeDocument/2006/math">
                    <m:r>
                      <a:rPr lang="en-US" sz="1200" b="1" i="1" smtClean="0">
                        <a:latin typeface="Cambria Math" panose="02040503050406030204" pitchFamily="18" charset="0"/>
                      </a:rPr>
                      <m:t>𝒂</m:t>
                    </m:r>
                  </m:oMath>
                </a14:m>
                <a:r>
                  <a:rPr lang="en-ZA" b="1" dirty="0"/>
                  <a:t> modulo </a:t>
                </a:r>
                <a14:m>
                  <m:oMath xmlns:m="http://schemas.openxmlformats.org/officeDocument/2006/math">
                    <m:r>
                      <a:rPr lang="en-US" sz="1200" b="1" i="1" smtClean="0">
                        <a:latin typeface="Cambria Math" panose="02040503050406030204" pitchFamily="18" charset="0"/>
                      </a:rPr>
                      <m:t>𝑵</m:t>
                    </m:r>
                  </m:oMath>
                </a14:m>
                <a:r>
                  <a:rPr lang="en-ZA" b="0" dirty="0"/>
                  <a:t> is the smallest positive integer </a:t>
                </a:r>
                <a14:m>
                  <m:oMath xmlns:m="http://schemas.openxmlformats.org/officeDocument/2006/math">
                    <m:r>
                      <a:rPr lang="en-US" sz="1200" b="0" i="1" smtClean="0">
                        <a:latin typeface="Cambria Math" panose="02040503050406030204" pitchFamily="18" charset="0"/>
                      </a:rPr>
                      <m:t>𝑟</m:t>
                    </m:r>
                  </m:oMath>
                </a14:m>
                <a:r>
                  <a:rPr lang="en-ZA" b="0" dirty="0"/>
                  <a:t> such that </a:t>
                </a:r>
                <a14:m>
                  <m:oMath xmlns:m="http://schemas.openxmlformats.org/officeDocument/2006/math">
                    <m:d>
                      <m:dPr>
                        <m:begChr m:val=""/>
                        <m:ctrlPr>
                          <a:rPr lang="en-US" sz="1200" i="1" smtClean="0">
                            <a:latin typeface="Cambria Math" panose="02040503050406030204" pitchFamily="18" charset="0"/>
                          </a:rPr>
                        </m:ctrlPr>
                      </m:dPr>
                      <m:e>
                        <m:sSup>
                          <m:sSupPr>
                            <m:ctrlPr>
                              <a:rPr lang="en-US" sz="1200" i="1">
                                <a:latin typeface="Cambria Math" panose="02040503050406030204" pitchFamily="18" charset="0"/>
                              </a:rPr>
                            </m:ctrlPr>
                          </m:sSupPr>
                          <m:e>
                            <m:r>
                              <a:rPr lang="en-US" sz="1200" b="0" i="1">
                                <a:latin typeface="Cambria Math" panose="02040503050406030204" pitchFamily="18" charset="0"/>
                              </a:rPr>
                              <m:t>𝑎</m:t>
                            </m:r>
                          </m:e>
                          <m:sup>
                            <m:r>
                              <a:rPr lang="en-US" sz="1200" b="0" i="1">
                                <a:latin typeface="Cambria Math" panose="02040503050406030204" pitchFamily="18" charset="0"/>
                              </a:rPr>
                              <m:t>𝑟</m:t>
                            </m:r>
                          </m:sup>
                        </m:sSup>
                        <m:r>
                          <a:rPr lang="en-US" sz="1200" b="0">
                            <a:latin typeface="Cambria Math" panose="02040503050406030204" pitchFamily="18" charset="0"/>
                          </a:rPr>
                          <m:t> ≡</m:t>
                        </m:r>
                        <m:r>
                          <a:rPr lang="en-US" sz="1200" b="0" i="1">
                            <a:latin typeface="Cambria Math" panose="02040503050406030204" pitchFamily="18" charset="0"/>
                          </a:rPr>
                          <m:t>1</m:t>
                        </m:r>
                        <m:r>
                          <a:rPr lang="en-US" sz="1200" b="0">
                            <a:latin typeface="Cambria Math" panose="02040503050406030204" pitchFamily="18" charset="0"/>
                          </a:rPr>
                          <m:t> (</m:t>
                        </m:r>
                        <m:r>
                          <a:rPr lang="en-US" sz="1200" b="0" i="1">
                            <a:latin typeface="Cambria Math" panose="02040503050406030204" pitchFamily="18" charset="0"/>
                          </a:rPr>
                          <m:t>𝑚𝑜𝑑</m:t>
                        </m:r>
                        <m:r>
                          <a:rPr lang="en-US" sz="1200" b="0">
                            <a:latin typeface="Cambria Math" panose="02040503050406030204" pitchFamily="18" charset="0"/>
                          </a:rPr>
                          <m:t> </m:t>
                        </m:r>
                        <m:r>
                          <a:rPr lang="en-US" sz="1200" b="0" i="1">
                            <a:latin typeface="Cambria Math" panose="02040503050406030204" pitchFamily="18" charset="0"/>
                          </a:rPr>
                          <m:t>𝑁</m:t>
                        </m:r>
                      </m:e>
                    </m:d>
                  </m:oMath>
                </a14:m>
                <a:r>
                  <a:rPr lang="en-ZA" b="0" dirty="0"/>
                  <a:t>. This means that dividing </a:t>
                </a:r>
                <a14:m>
                  <m:oMath xmlns:m="http://schemas.openxmlformats.org/officeDocument/2006/math">
                    <m:sSup>
                      <m:sSupPr>
                        <m:ctrlPr>
                          <a:rPr lang="en-US" sz="1200" i="1" smtClean="0">
                            <a:latin typeface="Cambria Math" panose="02040503050406030204" pitchFamily="18" charset="0"/>
                          </a:rPr>
                        </m:ctrlPr>
                      </m:sSupPr>
                      <m:e>
                        <m:r>
                          <a:rPr lang="en-US" sz="1200" b="0" i="1">
                            <a:latin typeface="Cambria Math" panose="02040503050406030204" pitchFamily="18" charset="0"/>
                          </a:rPr>
                          <m:t>𝑎</m:t>
                        </m:r>
                      </m:e>
                      <m:sup>
                        <m:r>
                          <a:rPr lang="en-US" sz="1200" b="0" i="1">
                            <a:latin typeface="Cambria Math" panose="02040503050406030204" pitchFamily="18" charset="0"/>
                          </a:rPr>
                          <m:t>𝑟</m:t>
                        </m:r>
                      </m:sup>
                    </m:sSup>
                  </m:oMath>
                </a14:m>
                <a:r>
                  <a:rPr lang="en-ZA" b="0" dirty="0"/>
                  <a:t> by </a:t>
                </a:r>
                <a14:m>
                  <m:oMath xmlns:m="http://schemas.openxmlformats.org/officeDocument/2006/math">
                    <m:r>
                      <a:rPr lang="en-US" sz="1200" b="0" i="1" smtClean="0">
                        <a:latin typeface="Cambria Math" panose="02040503050406030204" pitchFamily="18" charset="0"/>
                      </a:rPr>
                      <m:t>𝑁</m:t>
                    </m:r>
                  </m:oMath>
                </a14:m>
                <a:r>
                  <a:rPr lang="en-ZA" b="0" dirty="0"/>
                  <a:t> gives a remainder of 1, or equivalently, that </a:t>
                </a:r>
                <a14:m>
                  <m:oMath xmlns:m="http://schemas.openxmlformats.org/officeDocument/2006/math">
                    <m:sSup>
                      <m:sSupPr>
                        <m:ctrlPr>
                          <a:rPr lang="en-US" sz="1200" i="1" smtClean="0">
                            <a:latin typeface="Cambria Math" panose="02040503050406030204" pitchFamily="18" charset="0"/>
                          </a:rPr>
                        </m:ctrlPr>
                      </m:sSupPr>
                      <m:e>
                        <m:r>
                          <a:rPr lang="en-US" sz="1200" b="0" i="1">
                            <a:latin typeface="Cambria Math" panose="02040503050406030204" pitchFamily="18" charset="0"/>
                          </a:rPr>
                          <m:t>𝑎</m:t>
                        </m:r>
                      </m:e>
                      <m:sup>
                        <m:r>
                          <a:rPr lang="en-US" sz="1200" b="0" i="1">
                            <a:latin typeface="Cambria Math" panose="02040503050406030204" pitchFamily="18" charset="0"/>
                          </a:rPr>
                          <m:t>𝑟</m:t>
                        </m:r>
                      </m:sup>
                    </m:sSup>
                    <m:r>
                      <a:rPr lang="en-US" sz="1200" b="0" i="1" smtClean="0">
                        <a:latin typeface="Cambria Math" panose="02040503050406030204" pitchFamily="18" charset="0"/>
                      </a:rPr>
                      <m:t>−1</m:t>
                    </m:r>
                  </m:oMath>
                </a14:m>
                <a:r>
                  <a:rPr lang="en-ZA" b="0" dirty="0"/>
                  <a:t> is divisible by </a:t>
                </a:r>
                <a14:m>
                  <m:oMath xmlns:m="http://schemas.openxmlformats.org/officeDocument/2006/math">
                    <m:r>
                      <a:rPr lang="en-US" sz="1200" i="1" smtClean="0">
                        <a:latin typeface="Cambria Math" panose="02040503050406030204" pitchFamily="18" charset="0"/>
                      </a:rPr>
                      <m:t>𝑁</m:t>
                    </m:r>
                  </m:oMath>
                </a14:m>
                <a:r>
                  <a:rPr lang="en-ZA" b="0" dirty="0"/>
                  <a:t>. For example, for </a:t>
                </a:r>
                <a14:m>
                  <m:oMath xmlns:m="http://schemas.openxmlformats.org/officeDocument/2006/math">
                    <m:r>
                      <a:rPr lang="en-US" sz="1200" b="0" i="1" smtClean="0">
                        <a:latin typeface="Cambria Math" panose="02040503050406030204" pitchFamily="18" charset="0"/>
                      </a:rPr>
                      <m:t>𝑎</m:t>
                    </m:r>
                    <m:r>
                      <a:rPr lang="en-US" sz="1200" b="0" i="1" smtClean="0">
                        <a:latin typeface="Cambria Math" panose="02040503050406030204" pitchFamily="18" charset="0"/>
                      </a:rPr>
                      <m:t>=2,</m:t>
                    </m:r>
                    <m:r>
                      <a:rPr lang="en-US" sz="1200" b="0" i="1" smtClean="0">
                        <a:latin typeface="Cambria Math" panose="02040503050406030204" pitchFamily="18" charset="0"/>
                      </a:rPr>
                      <m:t>𝑁</m:t>
                    </m:r>
                    <m:r>
                      <a:rPr lang="en-US" sz="1200" b="0" i="1" smtClean="0">
                        <a:latin typeface="Cambria Math" panose="02040503050406030204" pitchFamily="18" charset="0"/>
                      </a:rPr>
                      <m:t>=3</m:t>
                    </m:r>
                  </m:oMath>
                </a14:m>
                <a:r>
                  <a:rPr lang="en-ZA" b="0" dirty="0"/>
                  <a:t>, the order of </a:t>
                </a:r>
                <a14:m>
                  <m:oMath xmlns:m="http://schemas.openxmlformats.org/officeDocument/2006/math">
                    <m:r>
                      <a:rPr lang="en-US" sz="1200" b="0" i="1" smtClean="0">
                        <a:latin typeface="Cambria Math" panose="02040503050406030204" pitchFamily="18" charset="0"/>
                      </a:rPr>
                      <m:t>2</m:t>
                    </m:r>
                  </m:oMath>
                </a14:m>
                <a:r>
                  <a:rPr lang="en-ZA" b="0" dirty="0"/>
                  <a:t> modulo </a:t>
                </a:r>
                <a14:m>
                  <m:oMath xmlns:m="http://schemas.openxmlformats.org/officeDocument/2006/math">
                    <m:r>
                      <a:rPr lang="en-US" sz="1200" b="0" i="1" smtClean="0">
                        <a:latin typeface="Cambria Math" panose="02040503050406030204" pitchFamily="18" charset="0"/>
                      </a:rPr>
                      <m:t>3</m:t>
                    </m:r>
                  </m:oMath>
                </a14:m>
                <a:r>
                  <a:rPr lang="en-ZA" b="0" dirty="0"/>
                  <a:t> is </a:t>
                </a: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=2</m:t>
                    </m:r>
                  </m:oMath>
                </a14:m>
                <a:r>
                  <a:rPr lang="en-ZA" b="0" dirty="0"/>
                  <a:t>, because </a:t>
                </a:r>
                <a14:m>
                  <m:oMath xmlns:m="http://schemas.openxmlformats.org/officeDocument/2006/math">
                    <m:d>
                      <m:dPr>
                        <m:begChr m:val=""/>
                        <m:ctrlPr>
                          <a:rPr lang="en-US" sz="1200" i="1" smtClean="0">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2</m:t>
                            </m:r>
                          </m:sup>
                        </m:sSup>
                        <m:r>
                          <a:rPr lang="en-US" sz="1200" b="0">
                            <a:latin typeface="Cambria Math" panose="02040503050406030204" pitchFamily="18" charset="0"/>
                          </a:rPr>
                          <m:t> ≡</m:t>
                        </m:r>
                        <m:r>
                          <a:rPr lang="en-US" sz="1200" b="0" i="1">
                            <a:latin typeface="Cambria Math" panose="02040503050406030204" pitchFamily="18" charset="0"/>
                          </a:rPr>
                          <m:t>1</m:t>
                        </m:r>
                        <m:r>
                          <a:rPr lang="en-US" sz="1200" b="0">
                            <a:latin typeface="Cambria Math" panose="02040503050406030204" pitchFamily="18" charset="0"/>
                          </a:rPr>
                          <m:t> (</m:t>
                        </m:r>
                        <m:r>
                          <m:rPr>
                            <m:sty m:val="p"/>
                          </m:rPr>
                          <a:rPr lang="en-US" sz="1200" b="0" i="0">
                            <a:latin typeface="Cambria Math" panose="02040503050406030204" pitchFamily="18" charset="0"/>
                          </a:rPr>
                          <m:t>mod</m:t>
                        </m:r>
                        <m:r>
                          <a:rPr lang="en-US" sz="1200" b="0">
                            <a:latin typeface="Cambria Math" panose="02040503050406030204" pitchFamily="18" charset="0"/>
                          </a:rPr>
                          <m:t> </m:t>
                        </m:r>
                        <m:r>
                          <a:rPr lang="en-US" sz="1200" b="0" i="1" smtClean="0">
                            <a:latin typeface="Cambria Math" panose="02040503050406030204" pitchFamily="18" charset="0"/>
                          </a:rPr>
                          <m:t>3</m:t>
                        </m:r>
                      </m:e>
                    </m:d>
                  </m:oMath>
                </a14:m>
                <a:r>
                  <a:rPr lang="en-ZA" b="0" dirty="0"/>
                  <a:t>.</a:t>
                </a:r>
                <a:r>
                  <a:rPr lang="en-ZA" dirty="0"/>
                  <a:t> This is because 4 divided by 3 leaves a remainder of 1.</a:t>
                </a:r>
                <a:r>
                  <a:rPr lang="en-ZA" b="0" dirty="0"/>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b="0" dirty="0"/>
              </a:p>
              <a:p>
                <a:pPr marL="171450" indent="-171450">
                  <a:buFont typeface="Arial" panose="020B0604020202020204" pitchFamily="34" charset="0"/>
                  <a:buChar char="•"/>
                </a:pPr>
                <a:r>
                  <a:rPr lang="en-ZA" dirty="0"/>
                  <a:t>A key idea behind Shor’s algorithm is that if </a:t>
                </a:r>
                <a14:m>
                  <m:oMath xmlns:m="http://schemas.openxmlformats.org/officeDocument/2006/math">
                    <m:r>
                      <a:rPr lang="en-US" sz="1200" b="0" i="1" smtClean="0">
                        <a:latin typeface="Cambria Math" panose="02040503050406030204" pitchFamily="18" charset="0"/>
                      </a:rPr>
                      <m:t>𝑁</m:t>
                    </m:r>
                  </m:oMath>
                </a14:m>
                <a:r>
                  <a:rPr lang="en-ZA" dirty="0"/>
                  <a:t> is the product of two primes, </a:t>
                </a:r>
                <a14:m>
                  <m:oMath xmlns:m="http://schemas.openxmlformats.org/officeDocument/2006/math">
                    <m:r>
                      <a:rPr lang="en-US" sz="1200" b="0" i="1" smtClean="0">
                        <a:latin typeface="Cambria Math" panose="02040503050406030204" pitchFamily="18" charset="0"/>
                      </a:rPr>
                      <m:t>𝑁</m:t>
                    </m:r>
                    <m:r>
                      <a:rPr lang="en-US" sz="1200" b="0" i="1" smtClean="0">
                        <a:latin typeface="Cambria Math" panose="02040503050406030204" pitchFamily="18" charset="0"/>
                      </a:rPr>
                      <m:t>=</m:t>
                    </m:r>
                    <m:r>
                      <a:rPr lang="en-US" sz="1200" b="0" i="1" smtClean="0">
                        <a:latin typeface="Cambria Math" panose="02040503050406030204" pitchFamily="18" charset="0"/>
                      </a:rPr>
                      <m:t>𝑝𝑞</m:t>
                    </m:r>
                  </m:oMath>
                </a14:m>
                <a:r>
                  <a:rPr lang="en-ZA" dirty="0"/>
                  <a:t>, finding a </a:t>
                </a:r>
                <a:r>
                  <a:rPr lang="en-ZA" b="1" dirty="0"/>
                  <a:t>nontrivial GCD</a:t>
                </a:r>
                <a:r>
                  <a:rPr lang="en-ZA" dirty="0"/>
                  <a:t> with </a:t>
                </a:r>
                <a14:m>
                  <m:oMath xmlns:m="http://schemas.openxmlformats.org/officeDocument/2006/math">
                    <m:r>
                      <a:rPr lang="en-US" sz="1200" b="0" i="1" smtClean="0">
                        <a:latin typeface="Cambria Math" panose="02040503050406030204" pitchFamily="18" charset="0"/>
                      </a:rPr>
                      <m:t>𝑁</m:t>
                    </m:r>
                  </m:oMath>
                </a14:m>
                <a:r>
                  <a:rPr lang="en-ZA" dirty="0"/>
                  <a:t> can reveal one of its factors. Therefore, the factors </a:t>
                </a:r>
                <a14:m>
                  <m:oMath xmlns:m="http://schemas.openxmlformats.org/officeDocument/2006/math">
                    <m:r>
                      <a:rPr lang="en-US" sz="1200" b="0" i="1" smtClean="0">
                        <a:latin typeface="Cambria Math" panose="02040503050406030204" pitchFamily="18" charset="0"/>
                      </a:rPr>
                      <m:t>𝑝</m:t>
                    </m:r>
                  </m:oMath>
                </a14:m>
                <a:r>
                  <a:rPr lang="en-ZA" dirty="0"/>
                  <a:t> and </a:t>
                </a:r>
                <a14:m>
                  <m:oMath xmlns:m="http://schemas.openxmlformats.org/officeDocument/2006/math">
                    <m:r>
                      <a:rPr lang="en-US" sz="1200" b="0" i="1" smtClean="0">
                        <a:latin typeface="Cambria Math" panose="02040503050406030204" pitchFamily="18" charset="0"/>
                      </a:rPr>
                      <m:t>𝑞</m:t>
                    </m:r>
                  </m:oMath>
                </a14:m>
                <a:r>
                  <a:rPr lang="en-ZA" dirty="0"/>
                  <a:t> do not necessarily have to be found directly. It is enough to construct a number </a:t>
                </a:r>
                <a14:m>
                  <m:oMath xmlns:m="http://schemas.openxmlformats.org/officeDocument/2006/math">
                    <m:r>
                      <a:rPr lang="en-US" sz="1200" b="0" i="1" smtClean="0">
                        <a:latin typeface="Cambria Math" panose="02040503050406030204" pitchFamily="18" charset="0"/>
                      </a:rPr>
                      <m:t>𝑧</m:t>
                    </m:r>
                  </m:oMath>
                </a14:m>
                <a:r>
                  <a:rPr lang="en-ZA" dirty="0"/>
                  <a:t> that shares a nontrivial factor with </a:t>
                </a:r>
                <a14:m>
                  <m:oMath xmlns:m="http://schemas.openxmlformats.org/officeDocument/2006/math">
                    <m:r>
                      <a:rPr lang="en-US" sz="1200" b="0" i="1" smtClean="0">
                        <a:latin typeface="Cambria Math" panose="02040503050406030204" pitchFamily="18" charset="0"/>
                      </a:rPr>
                      <m:t>𝑁</m:t>
                    </m:r>
                  </m:oMath>
                </a14:m>
                <a:r>
                  <a:rPr lang="en-ZA" dirty="0"/>
                  <a:t>, because </a:t>
                </a:r>
                <a14:m>
                  <m:oMath xmlns:m="http://schemas.openxmlformats.org/officeDocument/2006/math">
                    <m:r>
                      <a:rPr lang="en-US" sz="1200" b="0" i="0" smtClean="0">
                        <a:latin typeface="Cambria Math" panose="02040503050406030204" pitchFamily="18" charset="0"/>
                      </a:rPr>
                      <m:t>1&lt;</m:t>
                    </m:r>
                    <m:r>
                      <m:rPr>
                        <m:sty m:val="p"/>
                      </m:rPr>
                      <a:rPr lang="en-US" sz="1200" b="0" i="0" smtClean="0">
                        <a:latin typeface="Cambria Math" panose="02040503050406030204" pitchFamily="18" charset="0"/>
                      </a:rPr>
                      <m:t>gcd</m:t>
                    </m:r>
                    <m:r>
                      <a:rPr lang="en-US" sz="1200" b="0" i="0" smtClean="0">
                        <a:latin typeface="Cambria Math" panose="02040503050406030204" pitchFamily="18" charset="0"/>
                      </a:rPr>
                      <m:t> </m:t>
                    </m:r>
                    <m:d>
                      <m:dPr>
                        <m:ctrlPr>
                          <a:rPr lang="en-US" sz="1200" b="0" i="1" smtClean="0">
                            <a:latin typeface="Cambria Math" panose="02040503050406030204" pitchFamily="18" charset="0"/>
                          </a:rPr>
                        </m:ctrlPr>
                      </m:dPr>
                      <m:e>
                        <m:r>
                          <m:rPr>
                            <m:sty m:val="p"/>
                          </m:rPr>
                          <a:rPr lang="en-US" sz="1200" b="0" i="0" smtClean="0">
                            <a:latin typeface="Cambria Math" panose="02040503050406030204" pitchFamily="18" charset="0"/>
                          </a:rPr>
                          <m:t>z</m:t>
                        </m:r>
                        <m:r>
                          <a:rPr lang="en-US" sz="1200" b="0" i="0" smtClean="0">
                            <a:latin typeface="Cambria Math" panose="02040503050406030204" pitchFamily="18" charset="0"/>
                          </a:rPr>
                          <m:t>,</m:t>
                        </m:r>
                        <m:r>
                          <m:rPr>
                            <m:sty m:val="p"/>
                          </m:rPr>
                          <a:rPr lang="en-US" sz="1200" b="0" i="0" smtClean="0">
                            <a:latin typeface="Cambria Math" panose="02040503050406030204" pitchFamily="18" charset="0"/>
                          </a:rPr>
                          <m:t>N</m:t>
                        </m:r>
                      </m:e>
                    </m:d>
                    <m:r>
                      <a:rPr lang="en-US" sz="1200" b="0" i="0" smtClean="0">
                        <a:latin typeface="Cambria Math" panose="02040503050406030204" pitchFamily="18" charset="0"/>
                      </a:rPr>
                      <m:t>&lt;</m:t>
                    </m:r>
                    <m:r>
                      <m:rPr>
                        <m:sty m:val="p"/>
                      </m:rPr>
                      <a:rPr lang="en-US" sz="1200" b="0" i="0" smtClean="0">
                        <a:latin typeface="Cambria Math" panose="02040503050406030204" pitchFamily="18" charset="0"/>
                      </a:rPr>
                      <m:t>N</m:t>
                    </m:r>
                  </m:oMath>
                </a14:m>
                <a:r>
                  <a:rPr lang="en-ZA" dirty="0"/>
                  <a:t>.</a:t>
                </a:r>
              </a:p>
              <a:p>
                <a:pPr marL="171450" indent="-171450">
                  <a:buFont typeface="Arial" panose="020B0604020202020204" pitchFamily="34" charset="0"/>
                  <a:buChar char="•"/>
                </a:pPr>
                <a:endParaRPr lang="en-ZA" dirty="0"/>
              </a:p>
              <a:p>
                <a:pPr marL="457200" lvl="1" indent="0">
                  <a:buFont typeface="Arial" panose="020B0604020202020204" pitchFamily="34" charset="0"/>
                  <a:buNone/>
                </a:pPr>
                <a:r>
                  <a:rPr lang="en-ZA" b="0" dirty="0"/>
                  <a:t>For example, </a:t>
                </a:r>
                <a14:m>
                  <m:oMath xmlns:m="http://schemas.openxmlformats.org/officeDocument/2006/math">
                    <m:r>
                      <a:rPr lang="en-US" sz="1200" b="0" i="1" smtClean="0">
                        <a:latin typeface="Cambria Math" panose="02040503050406030204" pitchFamily="18" charset="0"/>
                      </a:rPr>
                      <m:t>𝑁</m:t>
                    </m:r>
                    <m:r>
                      <a:rPr lang="en-US" sz="1200" b="0" i="1" smtClean="0">
                        <a:latin typeface="Cambria Math" panose="02040503050406030204" pitchFamily="18" charset="0"/>
                      </a:rPr>
                      <m:t>=21=3×7</m:t>
                    </m:r>
                  </m:oMath>
                </a14:m>
                <a:r>
                  <a:rPr lang="en-ZA" b="0" dirty="0"/>
                  <a:t> , and </a:t>
                </a:r>
                <a14:m>
                  <m:oMath xmlns:m="http://schemas.openxmlformats.org/officeDocument/2006/math">
                    <m:r>
                      <m:rPr>
                        <m:sty m:val="p"/>
                      </m:rPr>
                      <a:rPr lang="en-US" sz="1200" b="0" i="0" smtClean="0">
                        <a:latin typeface="Cambria Math" panose="02040503050406030204" pitchFamily="18" charset="0"/>
                      </a:rPr>
                      <m:t>gcd</m:t>
                    </m:r>
                    <m:r>
                      <a:rPr lang="en-US" sz="1200" b="0" i="0" smtClean="0">
                        <a:latin typeface="Cambria Math" panose="02040503050406030204" pitchFamily="18" charset="0"/>
                      </a:rPr>
                      <m:t> </m:t>
                    </m:r>
                    <m:d>
                      <m:dPr>
                        <m:ctrlPr>
                          <a:rPr lang="en-US" sz="1200" b="0" i="1" smtClean="0">
                            <a:latin typeface="Cambria Math" panose="02040503050406030204" pitchFamily="18" charset="0"/>
                          </a:rPr>
                        </m:ctrlPr>
                      </m:dPr>
                      <m:e>
                        <m:r>
                          <a:rPr lang="en-US" sz="1200" b="0" i="0" smtClean="0">
                            <a:latin typeface="Cambria Math" panose="02040503050406030204" pitchFamily="18" charset="0"/>
                          </a:rPr>
                          <m:t>6,</m:t>
                        </m:r>
                        <m:r>
                          <a:rPr lang="en-US" sz="1200" b="0" i="1" smtClean="0">
                            <a:latin typeface="Cambria Math" panose="02040503050406030204" pitchFamily="18" charset="0"/>
                          </a:rPr>
                          <m:t>21</m:t>
                        </m:r>
                      </m:e>
                    </m:d>
                    <m:r>
                      <a:rPr lang="en-US" sz="1200" b="0" i="1" smtClean="0">
                        <a:latin typeface="Cambria Math" panose="02040503050406030204" pitchFamily="18" charset="0"/>
                      </a:rPr>
                      <m:t>=3</m:t>
                    </m:r>
                  </m:oMath>
                </a14:m>
                <a:r>
                  <a:rPr lang="en-ZA" b="0" dirty="0"/>
                  <a:t>, </a:t>
                </a:r>
                <a14:m>
                  <m:oMath xmlns:m="http://schemas.openxmlformats.org/officeDocument/2006/math">
                    <m:r>
                      <m:rPr>
                        <m:sty m:val="p"/>
                      </m:rPr>
                      <a:rPr lang="en-US" sz="1200" b="0" i="0" smtClean="0">
                        <a:latin typeface="Cambria Math" panose="02040503050406030204" pitchFamily="18" charset="0"/>
                      </a:rPr>
                      <m:t>gcd</m:t>
                    </m:r>
                    <m:r>
                      <a:rPr lang="en-US" sz="1200" b="0" i="0" smtClean="0">
                        <a:latin typeface="Cambria Math" panose="02040503050406030204" pitchFamily="18" charset="0"/>
                      </a:rPr>
                      <m:t> </m:t>
                    </m:r>
                    <m:d>
                      <m:dPr>
                        <m:ctrlPr>
                          <a:rPr lang="en-US" sz="1200" b="0" i="1" smtClean="0">
                            <a:latin typeface="Cambria Math" panose="02040503050406030204" pitchFamily="18" charset="0"/>
                          </a:rPr>
                        </m:ctrlPr>
                      </m:dPr>
                      <m:e>
                        <m:r>
                          <a:rPr lang="en-US" sz="1200" b="0" i="0" smtClean="0">
                            <a:latin typeface="Cambria Math" panose="02040503050406030204" pitchFamily="18" charset="0"/>
                          </a:rPr>
                          <m:t>14,</m:t>
                        </m:r>
                        <m:r>
                          <a:rPr lang="en-US" sz="1200" b="0" i="1" smtClean="0">
                            <a:latin typeface="Cambria Math" panose="02040503050406030204" pitchFamily="18" charset="0"/>
                          </a:rPr>
                          <m:t>21</m:t>
                        </m:r>
                      </m:e>
                    </m:d>
                    <m:r>
                      <a:rPr lang="en-US" sz="1200" b="0" i="1" smtClean="0">
                        <a:latin typeface="Cambria Math" panose="02040503050406030204" pitchFamily="18" charset="0"/>
                      </a:rPr>
                      <m:t>=7</m:t>
                    </m:r>
                  </m:oMath>
                </a14:m>
                <a:r>
                  <a:rPr lang="en-ZA" b="0" dirty="0"/>
                  <a:t>. In these simple examples, 6 and 14 happen to share a prime factor with 21. Shor’s algorithm provides a systematic way to construct numbers with this useful property through period finding.</a:t>
                </a:r>
              </a:p>
            </p:txBody>
          </p:sp>
        </mc:Choice>
        <mc:Fallback xmlns="">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The greatest common divisor (GCD) of two nonzero integers is the largest positive integer that divides both numbers without a remainder.</a:t>
                </a:r>
              </a:p>
              <a:p>
                <a:pPr marL="628650" lvl="1" indent="-171450" algn="just">
                  <a:buFont typeface="Arial" panose="020B0604020202020204" pitchFamily="34" charset="0"/>
                  <a:buChar char="•"/>
                </a:pPr>
                <a:r>
                  <a:rPr lang="en-ZA" b="0" dirty="0"/>
                  <a:t>For example, the divisors of 10 are 1, 2, 5, and 10, while the divisors of 15 are 1, 3, 5, and 15. The common divisors are 1 and 5, and the greatest common divisor is 5.</a:t>
                </a:r>
              </a:p>
              <a:p>
                <a:pPr algn="just"/>
                <a:endParaRPr lang="en-ZA" b="0" dirty="0"/>
              </a:p>
              <a:p>
                <a:pPr marL="171450" indent="-171450" algn="just">
                  <a:buFont typeface="Arial" panose="020B0604020202020204" pitchFamily="34" charset="0"/>
                  <a:buChar char="•"/>
                </a:pPr>
                <a:r>
                  <a:rPr lang="en-ZA" b="0" dirty="0"/>
                  <a:t>If the GCD of two numbers is 1, the numbers are said to be coprime or relatively prime.</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For two coprime numbers </a:t>
                </a:r>
                <a:r>
                  <a:rPr lang="en-US" sz="1200" i="0">
                    <a:latin typeface="Cambria Math" panose="02040503050406030204" pitchFamily="18" charset="0"/>
                  </a:rPr>
                  <a:t>𝑎</a:t>
                </a:r>
                <a:r>
                  <a:rPr lang="en-ZA" b="0" dirty="0"/>
                  <a:t> and </a:t>
                </a:r>
                <a:r>
                  <a:rPr lang="en-US" sz="1200" b="0" i="0">
                    <a:latin typeface="Cambria Math" panose="02040503050406030204" pitchFamily="18" charset="0"/>
                  </a:rPr>
                  <a:t>𝑁&gt;1</a:t>
                </a:r>
                <a:r>
                  <a:rPr lang="en-ZA" b="0" dirty="0"/>
                  <a:t>, the order of a modulo N is defined as the smallest positive integer </a:t>
                </a:r>
                <a:r>
                  <a:rPr lang="en-US" sz="1200" b="0" i="0">
                    <a:latin typeface="Cambria Math" panose="02040503050406030204" pitchFamily="18" charset="0"/>
                  </a:rPr>
                  <a:t>𝑟</a:t>
                </a:r>
                <a:r>
                  <a:rPr lang="en-ZA" b="0" dirty="0"/>
                  <a:t> such</a:t>
                </a:r>
                <a:r>
                  <a:rPr lang="en-ZA" b="0" baseline="0" dirty="0"/>
                  <a:t> </a:t>
                </a:r>
                <a:r>
                  <a:rPr lang="en-ZA" b="0" dirty="0"/>
                  <a:t>that</a:t>
                </a:r>
                <a:r>
                  <a:rPr lang="en-ZA" b="0" baseline="0" dirty="0"/>
                  <a:t> </a:t>
                </a:r>
                <a:r>
                  <a:rPr lang="en-US" sz="1200" i="0">
                    <a:latin typeface="Cambria Math" panose="02040503050406030204" pitchFamily="18" charset="0"/>
                  </a:rPr>
                  <a:t>├ 𝑎^𝑟  ≡1 (𝑚𝑜𝑑 𝑁)</a:t>
                </a:r>
                <a:r>
                  <a:rPr lang="en-ZA" b="0" dirty="0"/>
                  <a:t>.</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dirty="0"/>
                  <a:t>A key aspect of Shor’s algorithm is that, if </a:t>
                </a:r>
                <a:r>
                  <a:rPr lang="en-US" sz="1200" b="0" i="0">
                    <a:solidFill>
                      <a:schemeClr val="tx1"/>
                    </a:solidFill>
                    <a:latin typeface="Cambria Math" panose="02040503050406030204" pitchFamily="18" charset="0"/>
                  </a:rPr>
                  <a:t>𝑁</a:t>
                </a:r>
                <a:r>
                  <a:rPr lang="en-ZA" dirty="0"/>
                  <a:t> is the product of two prime numbers </a:t>
                </a:r>
                <a:r>
                  <a:rPr lang="en-US" sz="1200" b="0" i="0">
                    <a:solidFill>
                      <a:schemeClr val="tx1"/>
                    </a:solidFill>
                    <a:latin typeface="Cambria Math" panose="02040503050406030204" pitchFamily="18" charset="0"/>
                  </a:rPr>
                  <a:t>𝑝</a:t>
                </a:r>
                <a:r>
                  <a:rPr lang="en-ZA" b="0" dirty="0"/>
                  <a:t> and </a:t>
                </a:r>
                <a:r>
                  <a:rPr lang="en-US" sz="1200" b="0" i="0">
                    <a:solidFill>
                      <a:schemeClr val="tx1"/>
                    </a:solidFill>
                    <a:latin typeface="Cambria Math" panose="02040503050406030204" pitchFamily="18" charset="0"/>
                  </a:rPr>
                  <a:t>𝑞</a:t>
                </a:r>
                <a:r>
                  <a:rPr lang="en-ZA" dirty="0"/>
                  <a:t>, then </a:t>
                </a:r>
                <a:r>
                  <a:rPr lang="en-US" sz="1200" b="0" i="0">
                    <a:solidFill>
                      <a:schemeClr val="tx1"/>
                    </a:solidFill>
                    <a:latin typeface="Cambria Math" panose="02040503050406030204" pitchFamily="18" charset="0"/>
                  </a:rPr>
                  <a:t>𝑝</a:t>
                </a:r>
                <a:r>
                  <a:rPr lang="en-ZA" b="0" dirty="0"/>
                  <a:t> and </a:t>
                </a:r>
                <a:r>
                  <a:rPr lang="en-US" sz="1200" b="0" i="0">
                    <a:solidFill>
                      <a:schemeClr val="tx1"/>
                    </a:solidFill>
                    <a:latin typeface="Cambria Math" panose="02040503050406030204" pitchFamily="18" charset="0"/>
                  </a:rPr>
                  <a:t>𝑞</a:t>
                </a:r>
                <a:r>
                  <a:rPr lang="en-ZA" dirty="0"/>
                  <a:t> can be recovered by computing the greatest common divisors (</a:t>
                </a:r>
                <a:r>
                  <a:rPr lang="en-ZA" dirty="0" err="1"/>
                  <a:t>gcd</a:t>
                </a:r>
                <a:r>
                  <a:rPr lang="en-ZA" dirty="0"/>
                  <a:t>) between </a:t>
                </a:r>
                <a:r>
                  <a:rPr lang="en-US" sz="1200" b="0" i="0">
                    <a:solidFill>
                      <a:schemeClr val="tx1"/>
                    </a:solidFill>
                    <a:latin typeface="Cambria Math" panose="02040503050406030204" pitchFamily="18" charset="0"/>
                  </a:rPr>
                  <a:t>𝑁</a:t>
                </a:r>
                <a:r>
                  <a:rPr lang="en-ZA" dirty="0"/>
                  <a:t> and certain values generated during the algorithm. This works because </a:t>
                </a:r>
                <a:r>
                  <a:rPr lang="en-US" sz="1200" b="0" i="0">
                    <a:solidFill>
                      <a:schemeClr val="tx1"/>
                    </a:solidFill>
                    <a:latin typeface="Cambria Math" panose="02040503050406030204" pitchFamily="18" charset="0"/>
                  </a:rPr>
                  <a:t>𝑝</a:t>
                </a:r>
                <a:r>
                  <a:rPr lang="en-ZA" b="0" dirty="0"/>
                  <a:t> and </a:t>
                </a:r>
                <a:r>
                  <a:rPr lang="en-US" sz="1200" b="0" i="0">
                    <a:solidFill>
                      <a:schemeClr val="tx1"/>
                    </a:solidFill>
                    <a:latin typeface="Cambria Math" panose="02040503050406030204" pitchFamily="18" charset="0"/>
                  </a:rPr>
                  <a:t>𝑞</a:t>
                </a:r>
                <a:r>
                  <a:rPr lang="en-ZA" dirty="0"/>
                  <a:t> are prime and distinct, so they do not share any common factors with each other or with numbers that are not multiples of them,</a:t>
                </a:r>
                <a:r>
                  <a:rPr lang="en-ZA" baseline="0" dirty="0"/>
                  <a:t> </a:t>
                </a:r>
                <a:r>
                  <a:rPr lang="en-ZA" dirty="0"/>
                  <a:t>making it possible for the </a:t>
                </a:r>
                <a:r>
                  <a:rPr lang="en-ZA" dirty="0" err="1"/>
                  <a:t>gcd</a:t>
                </a:r>
                <a:r>
                  <a:rPr lang="en-ZA" dirty="0"/>
                  <a:t> operation to isolate them individually.</a:t>
                </a:r>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35</a:t>
            </a:fld>
            <a:endParaRPr lang="en-US"/>
          </a:p>
        </p:txBody>
      </p:sp>
    </p:spTree>
    <p:extLst>
      <p:ext uri="{BB962C8B-B14F-4D97-AF65-F5344CB8AC3E}">
        <p14:creationId xmlns:p14="http://schemas.microsoft.com/office/powerpoint/2010/main" val="7464601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i="0" dirty="0"/>
                  <a:t>An efficient method for finding the greatest common divisor (GCD) is the Euclidean algorithm. The algorithm is based on two simple observations:</a:t>
                </a:r>
                <a:endParaRPr lang="en-ZA" b="0" i="0" dirty="0">
                  <a:solidFill>
                    <a:schemeClr val="tx1"/>
                  </a:solidFill>
                </a:endParaRPr>
              </a:p>
              <a:p>
                <a:pPr algn="just"/>
                <a:endParaRPr lang="en-ZA" b="0" dirty="0">
                  <a:solidFill>
                    <a:schemeClr val="tx1"/>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The GCD of any number and 0 is the absolute value of that number: </a:t>
                </a:r>
                <a:r>
                  <a:rPr lang="en-ZA" dirty="0" err="1"/>
                  <a:t>gcd</a:t>
                </a:r>
                <a:r>
                  <a:rPr lang="en-ZA" dirty="0"/>
                  <a:t> (a,0)=∣a∣.</a:t>
                </a:r>
                <a:endParaRPr lang="en-US" sz="1200" i="1" dirty="0">
                  <a:solidFill>
                    <a:schemeClr val="tx1"/>
                  </a:solidFill>
                  <a:latin typeface="Cambria Math" panose="02040503050406030204" pitchFamily="18" charset="0"/>
                  <a:ea typeface="Cambria Math"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i="1" dirty="0">
                  <a:solidFill>
                    <a:schemeClr val="tx1"/>
                  </a:solidFill>
                  <a:latin typeface="Cambria Math" panose="02040503050406030204" pitchFamily="18" charset="0"/>
                  <a:ea typeface="Cambria Math"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For a&gt;b&gt;0, the GCD of a and b is the same as the GCD of b and the remainder obtained when a is divided by b:  </a:t>
                </a:r>
                <a:r>
                  <a:rPr lang="en-ZA" dirty="0" err="1"/>
                  <a:t>gcd</a:t>
                </a:r>
                <a:r>
                  <a:rPr lang="en-ZA" dirty="0"/>
                  <a:t> (</a:t>
                </a:r>
                <a:r>
                  <a:rPr lang="en-ZA" dirty="0" err="1"/>
                  <a:t>a,b</a:t>
                </a:r>
                <a:r>
                  <a:rPr lang="en-ZA" dirty="0"/>
                  <a:t>) = </a:t>
                </a:r>
                <a:r>
                  <a:rPr lang="en-ZA" dirty="0" err="1"/>
                  <a:t>gcd</a:t>
                </a:r>
                <a:r>
                  <a:rPr lang="en-ZA" dirty="0"/>
                  <a:t> (</a:t>
                </a:r>
                <a:r>
                  <a:rPr lang="en-ZA" dirty="0" err="1"/>
                  <a:t>b,a</a:t>
                </a:r>
                <a:r>
                  <a:rPr lang="en-ZA" dirty="0"/>
                  <a:t> mod b).</a:t>
                </a:r>
              </a:p>
              <a:p>
                <a:endParaRPr lang="en-US" sz="1200" i="1" dirty="0">
                  <a:solidFill>
                    <a:schemeClr val="tx1"/>
                  </a:solidFill>
                  <a:latin typeface="Cambria Math" panose="02040503050406030204" pitchFamily="18" charset="0"/>
                  <a:ea typeface="Cambria Math" panose="020405030504060302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dirty="0"/>
                  <a:t>The Euclidean algorithm repeatedly applies this relation until the remainder becomes zero. The </a:t>
                </a:r>
                <a:r>
                  <a:rPr lang="en-ZA" b="1" dirty="0"/>
                  <a:t>last nonzero remainder is the GCD</a:t>
                </a:r>
                <a:r>
                  <a:rPr lang="en-ZA" dirty="0"/>
                  <a:t>.</a:t>
                </a:r>
                <a:endParaRPr lang="en-ZA" b="0" dirty="0">
                  <a:solidFill>
                    <a:schemeClr val="tx1"/>
                  </a:solidFill>
                </a:endParaRPr>
              </a:p>
              <a:p>
                <a:pPr marL="0" indent="0" algn="just">
                  <a:buFont typeface="+mj-lt"/>
                  <a:buNone/>
                </a:pPr>
                <a:endParaRPr lang="en-ZA" b="0" dirty="0">
                  <a:solidFill>
                    <a:schemeClr val="tx1"/>
                  </a:solidFill>
                </a:endParaRPr>
              </a:p>
            </p:txBody>
          </p:sp>
        </mc:Choice>
        <mc:Fallback xmlns="">
          <p:sp>
            <p:nvSpPr>
              <p:cNvPr id="3" name="Notes Placeholder 2"/>
              <p:cNvSpPr>
                <a:spLocks noGrp="1"/>
              </p:cNvSpPr>
              <p:nvPr>
                <p:ph type="body" idx="1"/>
              </p:nvPr>
            </p:nvSpPr>
            <p:spPr/>
            <p:txBody>
              <a:bodyPr/>
              <a:lstStyle/>
              <a:p>
                <a:pPr algn="just"/>
                <a:r>
                  <a:rPr lang="en-ZA" b="0" dirty="0">
                    <a:solidFill>
                      <a:schemeClr val="tx1"/>
                    </a:solidFill>
                  </a:rPr>
                  <a:t>An efficient method for finding the greatest common divisor (GCD) is the Euclidean algorithm. The modern version of this algorithm is based on two observations:</a:t>
                </a:r>
              </a:p>
              <a:p>
                <a:pPr algn="just"/>
                <a:endParaRPr lang="en-ZA" b="0" dirty="0">
                  <a:solidFill>
                    <a:schemeClr val="tx1"/>
                  </a:solidFill>
                </a:endParaRPr>
              </a:p>
              <a:p>
                <a:pPr marL="228600" lvl="0" indent="-228600">
                  <a:buFont typeface="+mj-lt"/>
                  <a:buAutoNum type="arabicPeriod"/>
                </a:pPr>
                <a:r>
                  <a:rPr lang="en-ZA" b="0" dirty="0">
                    <a:solidFill>
                      <a:schemeClr val="tx1"/>
                    </a:solidFill>
                  </a:rPr>
                  <a:t>The GCD of any number and 0 is the number itself, i.e., </a:t>
                </a:r>
                <a:r>
                  <a:rPr lang="en-US" sz="1200" i="1" dirty="0" err="1">
                    <a:solidFill>
                      <a:schemeClr val="tx1"/>
                    </a:solidFill>
                    <a:latin typeface="Cambria Math" panose="02040503050406030204" pitchFamily="18" charset="0"/>
                    <a:ea typeface="Cambria Math" panose="02040503050406030204" pitchFamily="18" charset="0"/>
                  </a:rPr>
                  <a:t>gcd</a:t>
                </a:r>
                <a:r>
                  <a:rPr lang="en-US" sz="1200" i="1" dirty="0">
                    <a:solidFill>
                      <a:schemeClr val="tx1"/>
                    </a:solidFill>
                    <a:latin typeface="Cambria Math" panose="02040503050406030204" pitchFamily="18" charset="0"/>
                    <a:ea typeface="Cambria Math" panose="02040503050406030204" pitchFamily="18" charset="0"/>
                  </a:rPr>
                  <a:t>(a, 0) =  |a|</a:t>
                </a:r>
              </a:p>
              <a:p>
                <a:pPr marL="228600" lvl="0" indent="-228600">
                  <a:buFont typeface="+mj-lt"/>
                  <a:buAutoNum type="arabicPeriod"/>
                </a:pPr>
                <a:endParaRPr lang="en-US" dirty="0">
                  <a:solidFill>
                    <a:schemeClr val="tx1"/>
                  </a:solidFill>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solidFill>
                      <a:schemeClr val="tx1"/>
                    </a:solidFill>
                  </a:rPr>
                  <a:t>The GCD of two numbers is equal to the GCD of the smaller number and the remainder when the larger number is divided by the smaller one, i.e.,</a:t>
                </a:r>
                <a:r>
                  <a:rPr lang="en-US" sz="1200" i="1" dirty="0">
                    <a:solidFill>
                      <a:schemeClr val="tx1"/>
                    </a:solidFill>
                    <a:latin typeface="Cambria Math" panose="02040503050406030204" pitchFamily="18" charset="0"/>
                    <a:ea typeface="Cambria Math" panose="02040503050406030204" pitchFamily="18" charset="0"/>
                  </a:rPr>
                  <a:t> </a:t>
                </a:r>
                <a:r>
                  <a:rPr lang="en-US" sz="1200" i="1" dirty="0" err="1">
                    <a:solidFill>
                      <a:schemeClr val="tx1"/>
                    </a:solidFill>
                    <a:latin typeface="Cambria Math" panose="02040503050406030204" pitchFamily="18" charset="0"/>
                    <a:ea typeface="Cambria Math" panose="02040503050406030204" pitchFamily="18" charset="0"/>
                  </a:rPr>
                  <a:t>gcd</a:t>
                </a:r>
                <a:r>
                  <a:rPr lang="en-US" sz="1200" i="1" dirty="0">
                    <a:solidFill>
                      <a:schemeClr val="tx1"/>
                    </a:solidFill>
                    <a:latin typeface="Cambria Math" panose="02040503050406030204" pitchFamily="18" charset="0"/>
                    <a:ea typeface="Cambria Math" panose="02040503050406030204" pitchFamily="18" charset="0"/>
                  </a:rPr>
                  <a:t>(a, b) =  </a:t>
                </a:r>
                <a:r>
                  <a:rPr lang="en-US" sz="1200" i="1" dirty="0" err="1">
                    <a:solidFill>
                      <a:schemeClr val="tx1"/>
                    </a:solidFill>
                    <a:latin typeface="Cambria Math" panose="02040503050406030204" pitchFamily="18" charset="0"/>
                    <a:ea typeface="Cambria Math" panose="02040503050406030204" pitchFamily="18" charset="0"/>
                  </a:rPr>
                  <a:t>gcd</a:t>
                </a:r>
                <a:r>
                  <a:rPr lang="en-US" sz="1200" i="1" dirty="0">
                    <a:solidFill>
                      <a:schemeClr val="tx1"/>
                    </a:solidFill>
                    <a:latin typeface="Cambria Math" panose="02040503050406030204" pitchFamily="18" charset="0"/>
                    <a:ea typeface="Cambria Math" panose="02040503050406030204" pitchFamily="18" charset="0"/>
                  </a:rPr>
                  <a:t>(b, a mod b)</a:t>
                </a:r>
              </a:p>
              <a:p>
                <a:pPr marL="228600" indent="-228600" algn="just">
                  <a:buFont typeface="+mj-lt"/>
                  <a:buAutoNum type="arabicPeriod"/>
                </a:pPr>
                <a:endParaRPr lang="en-ZA" b="0" dirty="0">
                  <a:solidFill>
                    <a:schemeClr val="tx1"/>
                  </a:solidFill>
                </a:endParaRPr>
              </a:p>
              <a:p>
                <a:pPr algn="just"/>
                <a:r>
                  <a:rPr lang="en-ZA" b="0" dirty="0">
                    <a:solidFill>
                      <a:schemeClr val="tx1"/>
                    </a:solidFill>
                  </a:rPr>
                  <a:t>These observations lead directly to the algorithm: given two integers </a:t>
                </a:r>
                <a:r>
                  <a:rPr lang="en-US" sz="1200" b="0" i="0">
                    <a:solidFill>
                      <a:schemeClr val="tx1"/>
                    </a:solidFill>
                    <a:latin typeface="Cambria Math" panose="02040503050406030204" pitchFamily="18" charset="0"/>
                  </a:rPr>
                  <a:t>𝑎</a:t>
                </a:r>
                <a:r>
                  <a:rPr lang="en-ZA" b="0" dirty="0">
                    <a:solidFill>
                      <a:schemeClr val="tx1"/>
                    </a:solidFill>
                  </a:rPr>
                  <a:t> and </a:t>
                </a:r>
                <a:r>
                  <a:rPr lang="en-US" sz="1200" b="0" i="0">
                    <a:solidFill>
                      <a:schemeClr val="tx1"/>
                    </a:solidFill>
                    <a:latin typeface="Cambria Math" panose="02040503050406030204" pitchFamily="18" charset="0"/>
                  </a:rPr>
                  <a:t>𝑏</a:t>
                </a:r>
                <a:r>
                  <a:rPr lang="en-ZA" b="0" dirty="0">
                    <a:solidFill>
                      <a:schemeClr val="tx1"/>
                    </a:solidFill>
                  </a:rPr>
                  <a:t>, repeatedly replace the pair </a:t>
                </a:r>
                <a:r>
                  <a:rPr lang="en-US" sz="1200" b="0" i="0">
                    <a:solidFill>
                      <a:schemeClr val="tx1"/>
                    </a:solidFill>
                    <a:latin typeface="Cambria Math" panose="02040503050406030204" pitchFamily="18" charset="0"/>
                  </a:rPr>
                  <a:t>(𝑎,𝑏)</a:t>
                </a:r>
                <a:r>
                  <a:rPr lang="en-ZA" b="0" dirty="0">
                    <a:solidFill>
                      <a:schemeClr val="tx1"/>
                    </a:solidFill>
                  </a:rPr>
                  <a:t> with </a:t>
                </a:r>
                <a:r>
                  <a:rPr lang="en-US" sz="1200" b="0" i="0">
                    <a:solidFill>
                      <a:schemeClr val="tx1"/>
                    </a:solidFill>
                    <a:latin typeface="Cambria Math" panose="02040503050406030204" pitchFamily="18" charset="0"/>
                  </a:rPr>
                  <a:t>(𝑏,𝑎 𝑚𝑜𝑑 𝑏)</a:t>
                </a:r>
                <a:r>
                  <a:rPr lang="en-ZA" b="0" dirty="0">
                    <a:solidFill>
                      <a:schemeClr val="tx1"/>
                    </a:solidFill>
                  </a:rPr>
                  <a:t> until the remainder becomes zero. The last non-zero remainder is the greatest common divisor.</a:t>
                </a:r>
              </a:p>
              <a:p>
                <a:pPr algn="just"/>
                <a:endParaRPr lang="en-ZA" b="0" dirty="0">
                  <a:solidFill>
                    <a:schemeClr val="tx1"/>
                  </a:solidFill>
                </a:endParaRPr>
              </a:p>
              <a:p>
                <a:pPr algn="just"/>
                <a:r>
                  <a:rPr lang="en-ZA" b="0" dirty="0">
                    <a:solidFill>
                      <a:schemeClr val="tx1"/>
                    </a:solidFill>
                  </a:rPr>
                  <a:t>As the example demonstrates, the algorithm can be easily implemented as a recursive function.</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36</a:t>
            </a:fld>
            <a:endParaRPr lang="en-US"/>
          </a:p>
        </p:txBody>
      </p:sp>
    </p:spTree>
    <p:extLst>
      <p:ext uri="{BB962C8B-B14F-4D97-AF65-F5344CB8AC3E}">
        <p14:creationId xmlns:p14="http://schemas.microsoft.com/office/powerpoint/2010/main" val="27770690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 key idea behind Shor’s algorithm is that if </a:t>
                </a:r>
                <a14:m>
                  <m:oMath xmlns:m="http://schemas.openxmlformats.org/officeDocument/2006/math">
                    <m:r>
                      <a:rPr lang="en-US" i="1" smtClean="0">
                        <a:latin typeface="Cambria Math" panose="02040503050406030204" pitchFamily="18" charset="0"/>
                      </a:rPr>
                      <m:t>𝑁</m:t>
                    </m:r>
                  </m:oMath>
                </a14:m>
                <a:r>
                  <a:rPr lang="en-ZA" dirty="0"/>
                  <a:t> is the product of two prime numbers </a:t>
                </a:r>
                <a14:m>
                  <m:oMath xmlns:m="http://schemas.openxmlformats.org/officeDocument/2006/math">
                    <m:r>
                      <a:rPr lang="en-US" b="0" i="1" smtClean="0">
                        <a:latin typeface="Cambria Math" panose="02040503050406030204" pitchFamily="18" charset="0"/>
                      </a:rPr>
                      <m:t>𝑝</m:t>
                    </m:r>
                  </m:oMath>
                </a14:m>
                <a:r>
                  <a:rPr lang="en-ZA" dirty="0"/>
                  <a:t> and </a:t>
                </a:r>
                <a14:m>
                  <m:oMath xmlns:m="http://schemas.openxmlformats.org/officeDocument/2006/math">
                    <m:r>
                      <a:rPr lang="en-US" b="0" i="1" smtClean="0">
                        <a:latin typeface="Cambria Math" panose="02040503050406030204" pitchFamily="18" charset="0"/>
                      </a:rPr>
                      <m:t>𝑞</m:t>
                    </m:r>
                  </m:oMath>
                </a14:m>
                <a:r>
                  <a:rPr lang="en-ZA" dirty="0"/>
                  <a:t>, the factors do not need to be found directly. Instead, finding the GCD of </a:t>
                </a:r>
                <a14:m>
                  <m:oMath xmlns:m="http://schemas.openxmlformats.org/officeDocument/2006/math">
                    <m:r>
                      <a:rPr lang="en-US" i="1" smtClean="0">
                        <a:latin typeface="Cambria Math" panose="02040503050406030204" pitchFamily="18" charset="0"/>
                      </a:rPr>
                      <m:t>𝑁</m:t>
                    </m:r>
                  </m:oMath>
                </a14:m>
                <a:r>
                  <a:rPr lang="en-ZA" dirty="0"/>
                  <a:t> with another number that shares a nontrivial factor with </a:t>
                </a:r>
                <a14:m>
                  <m:oMath xmlns:m="http://schemas.openxmlformats.org/officeDocument/2006/math">
                    <m:r>
                      <a:rPr lang="en-US" i="1" smtClean="0">
                        <a:latin typeface="Cambria Math" panose="02040503050406030204" pitchFamily="18" charset="0"/>
                      </a:rPr>
                      <m:t>𝑁</m:t>
                    </m:r>
                  </m:oMath>
                </a14:m>
                <a:r>
                  <a:rPr lang="en-ZA" dirty="0"/>
                  <a:t> can reveal either </a:t>
                </a:r>
                <a14:m>
                  <m:oMath xmlns:m="http://schemas.openxmlformats.org/officeDocument/2006/math">
                    <m:r>
                      <a:rPr lang="en-US" b="0" i="1" smtClean="0">
                        <a:latin typeface="Cambria Math" panose="02040503050406030204" pitchFamily="18" charset="0"/>
                      </a:rPr>
                      <m:t>𝑝</m:t>
                    </m:r>
                  </m:oMath>
                </a14:m>
                <a:r>
                  <a:rPr lang="en-ZA" dirty="0"/>
                  <a:t> or </a:t>
                </a:r>
                <a14:m>
                  <m:oMath xmlns:m="http://schemas.openxmlformats.org/officeDocument/2006/math">
                    <m:r>
                      <a:rPr lang="en-US" b="0" i="1" smtClean="0">
                        <a:latin typeface="Cambria Math" panose="02040503050406030204" pitchFamily="18" charset="0"/>
                      </a:rPr>
                      <m:t>𝑞</m:t>
                    </m:r>
                  </m:oMath>
                </a14:m>
                <a:r>
                  <a:rPr lang="en-ZA" dirty="0"/>
                  <a:t>.</a:t>
                </a:r>
              </a:p>
              <a:p>
                <a:pPr algn="just"/>
                <a:endParaRPr lang="en-ZA" dirty="0"/>
              </a:p>
              <a:p>
                <a:pPr algn="just"/>
                <a:r>
                  <a:rPr lang="en-ZA" dirty="0"/>
                  <a:t>For this purpose, Shor’s algorithm uses the numbers</a:t>
                </a:r>
              </a:p>
              <a:p>
                <a:pPr algn="just"/>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𝑟</m:t>
                          </m:r>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Sup>
                        <m:sSupPr>
                          <m:ctrlPr>
                            <a:rPr lang="en-US" i="1" smtClean="0">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𝑟</m:t>
                          </m:r>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m:oMathPara>
                </a14:m>
                <a:endParaRPr lang="en-ZA" dirty="0"/>
              </a:p>
              <a:p>
                <a:pPr algn="just"/>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where </a:t>
                </a:r>
                <a14:m>
                  <m:oMath xmlns:m="http://schemas.openxmlformats.org/officeDocument/2006/math">
                    <m:r>
                      <a:rPr lang="en-US" b="0" i="0" smtClean="0">
                        <a:latin typeface="Cambria Math" panose="02040503050406030204" pitchFamily="18" charset="0"/>
                      </a:rPr>
                      <m:t>1&lt;</m:t>
                    </m:r>
                    <m:r>
                      <a:rPr lang="en-US" i="1" smtClean="0">
                        <a:latin typeface="Cambria Math" panose="02040503050406030204" pitchFamily="18" charset="0"/>
                      </a:rPr>
                      <m:t>𝑎</m:t>
                    </m:r>
                    <m:r>
                      <a:rPr lang="en-US" b="0" i="1" smtClean="0">
                        <a:latin typeface="Cambria Math" panose="02040503050406030204" pitchFamily="18" charset="0"/>
                      </a:rPr>
                      <m:t>&lt;</m:t>
                    </m:r>
                    <m:r>
                      <a:rPr lang="en-US" b="0" i="1" smtClean="0">
                        <a:latin typeface="Cambria Math" panose="02040503050406030204" pitchFamily="18" charset="0"/>
                      </a:rPr>
                      <m:t>𝑁</m:t>
                    </m:r>
                  </m:oMath>
                </a14:m>
                <a:r>
                  <a:rPr lang="en-ZA" dirty="0"/>
                  <a:t> is chosen to be coprime with </a:t>
                </a:r>
                <a14:m>
                  <m:oMath xmlns:m="http://schemas.openxmlformats.org/officeDocument/2006/math">
                    <m:r>
                      <a:rPr lang="en-US" b="0" i="1" smtClean="0">
                        <a:latin typeface="Cambria Math" panose="02040503050406030204" pitchFamily="18" charset="0"/>
                      </a:rPr>
                      <m:t>𝑁</m:t>
                    </m:r>
                  </m:oMath>
                </a14:m>
                <a:r>
                  <a:rPr lang="en-ZA" dirty="0"/>
                  <a:t>, so </a:t>
                </a:r>
                <a14:m>
                  <m:oMath xmlns:m="http://schemas.openxmlformats.org/officeDocument/2006/math">
                    <m:r>
                      <m:rPr>
                        <m:sty m:val="p"/>
                      </m:rPr>
                      <a:rPr lang="en-US" sz="1200" b="0" i="0" smtClean="0">
                        <a:solidFill>
                          <a:schemeClr val="tx1"/>
                        </a:solidFill>
                        <a:latin typeface="Cambria Math" panose="02040503050406030204" pitchFamily="18" charset="0"/>
                      </a:rPr>
                      <m:t>gcd</m:t>
                    </m:r>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𝑁</m:t>
                        </m:r>
                      </m:e>
                    </m:d>
                    <m:r>
                      <a:rPr lang="en-US" sz="1200" b="0" i="1" smtClean="0">
                        <a:solidFill>
                          <a:schemeClr val="tx1"/>
                        </a:solidFill>
                        <a:latin typeface="Cambria Math" panose="02040503050406030204" pitchFamily="18" charset="0"/>
                      </a:rPr>
                      <m:t>=1</m:t>
                    </m:r>
                  </m:oMath>
                </a14:m>
                <a:r>
                  <a:rPr lang="en-ZA" dirty="0"/>
                  <a:t>, and </a:t>
                </a:r>
                <a14:m>
                  <m:oMath xmlns:m="http://schemas.openxmlformats.org/officeDocument/2006/math">
                    <m:r>
                      <a:rPr lang="en-US" b="0" i="1" smtClean="0">
                        <a:latin typeface="Cambria Math" panose="02040503050406030204" pitchFamily="18" charset="0"/>
                      </a:rPr>
                      <m:t>𝑟</m:t>
                    </m:r>
                  </m:oMath>
                </a14:m>
                <a:r>
                  <a:rPr lang="en-ZA" dirty="0"/>
                  <a:t> is the period of the modular function</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𝑓</m:t>
                          </m:r>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𝑥</m:t>
                              </m:r>
                            </m:e>
                          </m:d>
                          <m:r>
                            <a:rPr lang="en-US" sz="1200" b="0" i="1" smtClean="0">
                              <a:solidFill>
                                <a:schemeClr val="tx1"/>
                              </a:solidFill>
                              <a:latin typeface="Cambria Math" panose="02040503050406030204" pitchFamily="18" charset="0"/>
                            </a:rPr>
                            <m:t>=</m:t>
                          </m:r>
                          <m:r>
                            <a:rPr lang="en-US" sz="1200" i="1">
                              <a:solidFill>
                                <a:schemeClr val="tx1"/>
                              </a:solidFill>
                              <a:latin typeface="Cambria Math" panose="02040503050406030204" pitchFamily="18" charset="0"/>
                            </a:rPr>
                            <m:t>𝑎</m:t>
                          </m:r>
                        </m:e>
                        <m:sup>
                          <m:r>
                            <a:rPr lang="en-US" sz="1200" b="0" i="1" smtClean="0">
                              <a:solidFill>
                                <a:schemeClr val="tx1"/>
                              </a:solidFill>
                              <a:latin typeface="Cambria Math" panose="02040503050406030204" pitchFamily="18" charset="0"/>
                            </a:rPr>
                            <m:t>𝑥</m:t>
                          </m:r>
                        </m:sup>
                      </m:sSup>
                      <m:r>
                        <a:rPr lang="en-US" sz="1200" b="0" i="1" smtClean="0">
                          <a:solidFill>
                            <a:schemeClr val="tx1"/>
                          </a:solidFill>
                          <a:latin typeface="Cambria Math" panose="02040503050406030204" pitchFamily="18" charset="0"/>
                        </a:rPr>
                        <m:t>(</m:t>
                      </m:r>
                      <m:r>
                        <m:rPr>
                          <m:sty m:val="p"/>
                        </m:rPr>
                        <a:rPr lang="en-US" sz="1200" b="0" i="0" smtClean="0">
                          <a:solidFill>
                            <a:schemeClr val="tx1"/>
                          </a:solidFill>
                          <a:latin typeface="Cambria Math" panose="02040503050406030204" pitchFamily="18" charset="0"/>
                        </a:rPr>
                        <m:t>mod</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𝑁</m:t>
                      </m:r>
                      <m:r>
                        <a:rPr lang="en-US" sz="1200" b="0" i="1" smtClean="0">
                          <a:solidFill>
                            <a:schemeClr val="tx1"/>
                          </a:solidFill>
                          <a:latin typeface="Cambria Math" panose="02040503050406030204" pitchFamily="18" charset="0"/>
                        </a:rPr>
                        <m:t>)</m:t>
                      </m:r>
                    </m:oMath>
                  </m:oMathPara>
                </a14:m>
                <a:endParaRPr lang="en-US"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p>
              <a:p>
                <a:pPr algn="just"/>
                <a:r>
                  <a:rPr lang="en-ZA" dirty="0"/>
                  <a:t>The factors can then be obtained from</a:t>
                </a:r>
              </a:p>
              <a:p>
                <a:pPr algn="just"/>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m:rPr>
                              <m:sty m:val="p"/>
                            </m:rPr>
                            <a:rPr lang="en-US" b="0" i="0" smtClean="0">
                              <a:latin typeface="Cambria Math" panose="02040503050406030204" pitchFamily="18" charset="0"/>
                            </a:rPr>
                            <m:t>gcd</m:t>
                          </m:r>
                          <m:r>
                            <a:rPr lang="en-US" b="0" i="1" smtClean="0">
                              <a:latin typeface="Cambria Math" panose="02040503050406030204" pitchFamily="18" charset="0"/>
                            </a:rPr>
                            <m:t>(</m:t>
                          </m:r>
                          <m:r>
                            <a:rPr lang="en-US" i="1">
                              <a:latin typeface="Cambria Math" panose="02040503050406030204" pitchFamily="18" charset="0"/>
                            </a:rPr>
                            <m:t>𝑎</m:t>
                          </m:r>
                        </m:e>
                        <m:sup>
                          <m:r>
                            <a:rPr lang="en-US" i="1">
                              <a:latin typeface="Cambria Math" panose="02040503050406030204" pitchFamily="18" charset="0"/>
                            </a:rPr>
                            <m:t>𝑟</m:t>
                          </m:r>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m:t>
                      </m:r>
                      <m:sSup>
                        <m:sSupPr>
                          <m:ctrlPr>
                            <a:rPr lang="en-US" i="1" smtClean="0">
                              <a:latin typeface="Cambria Math" panose="02040503050406030204" pitchFamily="18" charset="0"/>
                            </a:rPr>
                          </m:ctrlPr>
                        </m:sSupPr>
                        <m:e>
                          <m:r>
                            <m:rPr>
                              <m:sty m:val="p"/>
                            </m:rPr>
                            <a:rPr lang="en-US" b="0" i="0" smtClean="0">
                              <a:latin typeface="Cambria Math" panose="02040503050406030204" pitchFamily="18" charset="0"/>
                            </a:rPr>
                            <m:t>gcd</m:t>
                          </m:r>
                          <m:r>
                            <a:rPr lang="en-US" b="0" i="1" smtClean="0">
                              <a:latin typeface="Cambria Math" panose="02040503050406030204" pitchFamily="18" charset="0"/>
                            </a:rPr>
                            <m:t> (</m:t>
                          </m:r>
                          <m:r>
                            <a:rPr lang="en-US" i="1">
                              <a:latin typeface="Cambria Math" panose="02040503050406030204" pitchFamily="18" charset="0"/>
                            </a:rPr>
                            <m:t>𝑎</m:t>
                          </m:r>
                        </m:e>
                        <m:sup>
                          <m:r>
                            <a:rPr lang="en-US" i="1" smtClean="0">
                              <a:latin typeface="Cambria Math" panose="02040503050406030204" pitchFamily="18" charset="0"/>
                            </a:rPr>
                            <m:t>𝑟</m:t>
                          </m:r>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m:oMathPara>
                </a14:m>
                <a:endParaRPr lang="en-ZA" dirty="0"/>
              </a:p>
              <a:p>
                <a:pPr algn="just"/>
                <a:endParaRPr lang="en-ZA" dirty="0"/>
              </a:p>
              <a:p>
                <a:pPr algn="just"/>
                <a:r>
                  <a:rPr lang="en-ZA" dirty="0"/>
                  <a:t>This reduces the factoring problem to the problem of finding the period r, which is the key task performed by the quantum part of Shor’s algorithm.</a:t>
                </a:r>
              </a:p>
              <a:p>
                <a:pPr algn="just"/>
                <a:endParaRPr lang="en-ZA" dirty="0"/>
              </a:p>
            </p:txBody>
          </p:sp>
        </mc:Choice>
        <mc:Fallback xmlns="">
          <p:sp>
            <p:nvSpPr>
              <p:cNvPr id="3" name="Notes Placeholder 2"/>
              <p:cNvSpPr>
                <a:spLocks noGrp="1"/>
              </p:cNvSpPr>
              <p:nvPr>
                <p:ph type="body" idx="1"/>
              </p:nvPr>
            </p:nvSpPr>
            <p:spPr/>
            <p:txBody>
              <a:bodyPr/>
              <a:lstStyle/>
              <a:p>
                <a:r>
                  <a:rPr lang="en-ZA" dirty="0"/>
                  <a:t>A key aspect of Shor’s algorithm is that if </a:t>
                </a:r>
                <a:r>
                  <a:rPr lang="en-US" i="0">
                    <a:latin typeface="Cambria Math" panose="02040503050406030204" pitchFamily="18" charset="0"/>
                  </a:rPr>
                  <a:t>𝑁</a:t>
                </a:r>
                <a:r>
                  <a:rPr lang="en-ZA" dirty="0"/>
                  <a:t> is the product of two prime numbers </a:t>
                </a:r>
                <a:r>
                  <a:rPr lang="en-US" i="0">
                    <a:latin typeface="Cambria Math" panose="02040503050406030204" pitchFamily="18" charset="0"/>
                  </a:rPr>
                  <a:t>𝑝</a:t>
                </a:r>
                <a:r>
                  <a:rPr lang="en-ZA" dirty="0"/>
                  <a:t> and </a:t>
                </a:r>
                <a:r>
                  <a:rPr lang="en-US" b="0" i="0">
                    <a:latin typeface="Cambria Math" panose="02040503050406030204" pitchFamily="18" charset="0"/>
                  </a:rPr>
                  <a:t>𝑞</a:t>
                </a:r>
                <a:r>
                  <a:rPr lang="en-ZA" dirty="0"/>
                  <a:t>, we do not need to find </a:t>
                </a:r>
                <a:r>
                  <a:rPr lang="en-US" i="0">
                    <a:latin typeface="Cambria Math" panose="02040503050406030204" pitchFamily="18" charset="0"/>
                  </a:rPr>
                  <a:t>𝑝</a:t>
                </a:r>
                <a:r>
                  <a:rPr lang="en-ZA" dirty="0"/>
                  <a:t> and </a:t>
                </a:r>
                <a:r>
                  <a:rPr lang="en-US" b="0" i="0">
                    <a:latin typeface="Cambria Math" panose="02040503050406030204" pitchFamily="18" charset="0"/>
                  </a:rPr>
                  <a:t>𝑞</a:t>
                </a:r>
                <a:r>
                  <a:rPr lang="en-ZA" dirty="0"/>
                  <a:t> directly. Finding the GCD of </a:t>
                </a:r>
                <a:r>
                  <a:rPr lang="en-US" b="0" i="0">
                    <a:latin typeface="Cambria Math" panose="02040503050406030204" pitchFamily="18" charset="0"/>
                  </a:rPr>
                  <a:t>𝑁</a:t>
                </a:r>
                <a:r>
                  <a:rPr lang="en-ZA" dirty="0"/>
                  <a:t> with another number that shares a factor with </a:t>
                </a:r>
                <a:r>
                  <a:rPr lang="en-US" b="0" i="0">
                    <a:latin typeface="Cambria Math" panose="02040503050406030204" pitchFamily="18" charset="0"/>
                  </a:rPr>
                  <a:t>𝑁</a:t>
                </a:r>
                <a:r>
                  <a:rPr lang="en-ZA" dirty="0"/>
                  <a:t> will reveal either </a:t>
                </a:r>
                <a:r>
                  <a:rPr lang="en-US" i="0">
                    <a:latin typeface="Cambria Math" panose="02040503050406030204" pitchFamily="18" charset="0"/>
                  </a:rPr>
                  <a:t>𝑝</a:t>
                </a:r>
                <a:r>
                  <a:rPr lang="en-ZA" dirty="0"/>
                  <a:t> or </a:t>
                </a:r>
                <a:r>
                  <a:rPr lang="en-US" b="0" i="0">
                    <a:latin typeface="Cambria Math" panose="02040503050406030204" pitchFamily="18" charset="0"/>
                  </a:rPr>
                  <a:t>𝑞</a:t>
                </a:r>
                <a:r>
                  <a:rPr lang="en-ZA" dirty="0"/>
                  <a:t>.</a:t>
                </a:r>
              </a:p>
              <a:p>
                <a:endParaRPr lang="en-ZA" dirty="0"/>
              </a:p>
              <a:p>
                <a:r>
                  <a:rPr lang="en-ZA" dirty="0"/>
                  <a:t>For this number, Shor takes  </a:t>
                </a:r>
                <a:r>
                  <a:rPr lang="en-US" i="0">
                    <a:latin typeface="Cambria Math" panose="02040503050406030204" pitchFamily="18" charset="0"/>
                  </a:rPr>
                  <a:t>𝑎^(𝑟</a:t>
                </a:r>
                <a:r>
                  <a:rPr lang="en-US" b="0" i="0">
                    <a:latin typeface="Cambria Math" panose="02040503050406030204" pitchFamily="18" charset="0"/>
                  </a:rPr>
                  <a:t>/2)</a:t>
                </a:r>
                <a:r>
                  <a:rPr lang="en-US" i="0">
                    <a:latin typeface="Cambria Math" panose="02040503050406030204" pitchFamily="18" charset="0"/>
                    <a:ea typeface="Cambria Math" panose="02040503050406030204" pitchFamily="18" charset="0"/>
                  </a:rPr>
                  <a:t>±</a:t>
                </a:r>
                <a:r>
                  <a:rPr lang="en-US" b="0" i="0">
                    <a:latin typeface="Cambria Math" panose="02040503050406030204" pitchFamily="18" charset="0"/>
                    <a:ea typeface="Cambria Math" panose="02040503050406030204" pitchFamily="18" charset="0"/>
                  </a:rPr>
                  <a:t>1</a:t>
                </a:r>
                <a:r>
                  <a:rPr lang="en-ZA" dirty="0"/>
                  <a:t>, where </a:t>
                </a:r>
                <a:r>
                  <a:rPr lang="en-US" i="0">
                    <a:latin typeface="Cambria Math" panose="02040503050406030204" pitchFamily="18" charset="0"/>
                  </a:rPr>
                  <a:t>𝑎</a:t>
                </a:r>
                <a:r>
                  <a:rPr lang="en-ZA" dirty="0"/>
                  <a:t> is a random integer less than </a:t>
                </a:r>
                <a:r>
                  <a:rPr lang="en-US" b="0" i="0">
                    <a:latin typeface="Cambria Math" panose="02040503050406030204" pitchFamily="18" charset="0"/>
                  </a:rPr>
                  <a:t>𝑁</a:t>
                </a:r>
                <a:r>
                  <a:rPr lang="en-ZA" dirty="0"/>
                  <a:t> and </a:t>
                </a:r>
                <a:r>
                  <a:rPr lang="en-US" b="0" i="0">
                    <a:latin typeface="Cambria Math" panose="02040503050406030204" pitchFamily="18" charset="0"/>
                  </a:rPr>
                  <a:t>𝑟</a:t>
                </a:r>
                <a:r>
                  <a:rPr lang="en-ZA" dirty="0"/>
                  <a:t> is the period of the function</a:t>
                </a:r>
              </a:p>
              <a:p>
                <a:r>
                  <a:rPr lang="en-US" i="0">
                    <a:latin typeface="Cambria Math" panose="02040503050406030204" pitchFamily="18" charset="0"/>
                  </a:rPr>
                  <a:t>├ 〖</a:t>
                </a:r>
                <a:r>
                  <a:rPr lang="en-US" b="0" i="0">
                    <a:latin typeface="Cambria Math" panose="02040503050406030204" pitchFamily="18" charset="0"/>
                  </a:rPr>
                  <a:t>𝑓(𝑥)=</a:t>
                </a:r>
                <a:r>
                  <a:rPr lang="en-US" i="0">
                    <a:latin typeface="Cambria Math" panose="02040503050406030204" pitchFamily="18" charset="0"/>
                  </a:rPr>
                  <a:t>𝑎〗^</a:t>
                </a:r>
                <a:r>
                  <a:rPr lang="en-US" b="0" i="0">
                    <a:latin typeface="Cambria Math" panose="02040503050406030204" pitchFamily="18" charset="0"/>
                  </a:rPr>
                  <a:t>𝑥 </a:t>
                </a:r>
                <a:r>
                  <a:rPr lang="en-US" i="0">
                    <a:latin typeface="Cambria Math" panose="02040503050406030204" pitchFamily="18" charset="0"/>
                  </a:rPr>
                  <a:t> (𝑚𝑜𝑑 𝑁)</a:t>
                </a:r>
                <a:r>
                  <a:rPr lang="en-ZA" dirty="0"/>
                  <a:t>. This reduces the factoring problem to the task of finding the period </a:t>
                </a:r>
                <a:r>
                  <a:rPr lang="en-US" b="0" i="0">
                    <a:latin typeface="Cambria Math" panose="02040503050406030204" pitchFamily="18" charset="0"/>
                  </a:rPr>
                  <a:t>𝑟</a:t>
                </a:r>
                <a:r>
                  <a:rPr lang="en-ZA"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37</a:t>
            </a:fld>
            <a:endParaRPr lang="en-US"/>
          </a:p>
        </p:txBody>
      </p:sp>
    </p:spTree>
    <p:extLst>
      <p:ext uri="{BB962C8B-B14F-4D97-AF65-F5344CB8AC3E}">
        <p14:creationId xmlns:p14="http://schemas.microsoft.com/office/powerpoint/2010/main" val="24333218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indent="-228600" algn="l">
                  <a:buFont typeface="+mj-lt"/>
                  <a:buAutoNum type="arabicPeriod"/>
                </a:pPr>
                <a:r>
                  <a:rPr lang="en-ZA" b="0" dirty="0"/>
                  <a:t>Since period finding is the key step in Shor’s algorithm, consider the sequence generated by the modular exponential function </a:t>
                </a:r>
                <a14:m>
                  <m:oMath xmlns:m="http://schemas.openxmlformats.org/officeDocument/2006/math">
                    <m:sSup>
                      <m:sSupPr>
                        <m:ctrlPr>
                          <a:rPr lang="en-US" sz="1200" i="1" smtClean="0">
                            <a:latin typeface="Cambria Math" panose="02040503050406030204" pitchFamily="18" charset="0"/>
                          </a:rPr>
                        </m:ctrlPr>
                      </m:sSupPr>
                      <m:e>
                        <m:r>
                          <a:rPr lang="en-US" sz="1200" i="1">
                            <a:latin typeface="Cambria Math" panose="02040503050406030204" pitchFamily="18" charset="0"/>
                          </a:rPr>
                          <m:t>𝑎</m:t>
                        </m:r>
                      </m:e>
                      <m:sup>
                        <m:r>
                          <a:rPr lang="en-US" sz="1200" b="0" i="1" smtClean="0">
                            <a:latin typeface="Cambria Math" panose="02040503050406030204" pitchFamily="18" charset="0"/>
                          </a:rPr>
                          <m:t>𝑥</m:t>
                        </m:r>
                      </m:sup>
                    </m:sSup>
                    <m:r>
                      <a:rPr lang="en-US" sz="1200" b="0" i="1" smtClean="0">
                        <a:latin typeface="Cambria Math" panose="02040503050406030204" pitchFamily="18" charset="0"/>
                      </a:rPr>
                      <m:t> </m:t>
                    </m:r>
                    <m:r>
                      <m:rPr>
                        <m:sty m:val="p"/>
                      </m:rPr>
                      <a:rPr lang="en-US" sz="1200" b="0" i="0" smtClean="0">
                        <a:latin typeface="Cambria Math" panose="02040503050406030204" pitchFamily="18" charset="0"/>
                      </a:rPr>
                      <m:t>mod</m:t>
                    </m:r>
                    <m:r>
                      <a:rPr lang="en-US" sz="1200" b="0" i="1" smtClean="0">
                        <a:latin typeface="Cambria Math" panose="02040503050406030204" pitchFamily="18" charset="0"/>
                      </a:rPr>
                      <m:t> </m:t>
                    </m:r>
                    <m:r>
                      <a:rPr lang="en-US" sz="1200" b="0" i="1" smtClean="0">
                        <a:latin typeface="Cambria Math" panose="02040503050406030204" pitchFamily="18" charset="0"/>
                      </a:rPr>
                      <m:t>𝑁</m:t>
                    </m:r>
                  </m:oMath>
                </a14:m>
                <a:r>
                  <a:rPr lang="en-ZA" b="0" dirty="0"/>
                  <a:t>. </a:t>
                </a:r>
                <a:r>
                  <a:rPr lang="en-ZA" dirty="0"/>
                  <a:t>The table shows an example for </a:t>
                </a:r>
                <a:r>
                  <a:rPr lang="en-ZA" b="0" dirty="0"/>
                  <a:t> </a:t>
                </a:r>
                <a14:m>
                  <m:oMath xmlns:m="http://schemas.openxmlformats.org/officeDocument/2006/math">
                    <m:r>
                      <a:rPr lang="en-US" sz="1200" i="1" smtClean="0">
                        <a:latin typeface="Cambria Math" panose="02040503050406030204" pitchFamily="18" charset="0"/>
                      </a:rPr>
                      <m:t>𝑎</m:t>
                    </m:r>
                    <m:r>
                      <a:rPr lang="en-US" sz="1200" b="0" i="1" smtClean="0">
                        <a:latin typeface="Cambria Math" panose="02040503050406030204" pitchFamily="18" charset="0"/>
                      </a:rPr>
                      <m:t>=7</m:t>
                    </m:r>
                  </m:oMath>
                </a14:m>
                <a:r>
                  <a:rPr lang="en-ZA" b="0" dirty="0"/>
                  <a:t> and </a:t>
                </a:r>
                <a14:m>
                  <m:oMath xmlns:m="http://schemas.openxmlformats.org/officeDocument/2006/math">
                    <m:r>
                      <a:rPr lang="en-US" sz="1200" b="0" i="1" smtClean="0">
                        <a:latin typeface="Cambria Math" panose="02040503050406030204" pitchFamily="18" charset="0"/>
                      </a:rPr>
                      <m:t>𝑁</m:t>
                    </m:r>
                    <m:r>
                      <a:rPr lang="en-US" sz="1200" b="0" i="1" smtClean="0">
                        <a:latin typeface="Cambria Math" panose="02040503050406030204" pitchFamily="18" charset="0"/>
                      </a:rPr>
                      <m:t>=15</m:t>
                    </m:r>
                  </m:oMath>
                </a14:m>
                <a:r>
                  <a:rPr lang="en-ZA" b="0" dirty="0"/>
                  <a:t>. </a:t>
                </a:r>
                <a:r>
                  <a:rPr lang="en-ZA" dirty="0"/>
                  <a:t>The sequence starts at 1 and eventually repeats, returning to 1</a:t>
                </a:r>
                <a:r>
                  <a:rPr lang="en-ZA" b="0" dirty="0"/>
                  <a:t>.</a:t>
                </a:r>
              </a:p>
              <a:p>
                <a:pPr marL="228600" indent="-228600" algn="l">
                  <a:buFont typeface="+mj-lt"/>
                  <a:buAutoNum type="arabicPeriod"/>
                </a:pPr>
                <a:endParaRPr lang="en-ZA" b="0" dirty="0"/>
              </a:p>
              <a:p>
                <a:pPr marL="228600" indent="-228600" algn="l">
                  <a:buFont typeface="+mj-lt"/>
                  <a:buAutoNum type="arabicPeriod"/>
                </a:pPr>
                <a:r>
                  <a:rPr lang="en-ZA" b="0" dirty="0"/>
                  <a:t>The length of this repeating cycle is the order, or period </a:t>
                </a:r>
                <a14:m>
                  <m:oMath xmlns:m="http://schemas.openxmlformats.org/officeDocument/2006/math">
                    <m:r>
                      <a:rPr lang="en-US" sz="1200" b="0" i="1" smtClean="0">
                        <a:latin typeface="Cambria Math" panose="02040503050406030204" pitchFamily="18" charset="0"/>
                      </a:rPr>
                      <m:t>𝑟</m:t>
                    </m:r>
                  </m:oMath>
                </a14:m>
                <a:r>
                  <a:rPr lang="en-ZA" b="0" dirty="0"/>
                  <a:t> of </a:t>
                </a:r>
                <a14:m>
                  <m:oMath xmlns:m="http://schemas.openxmlformats.org/officeDocument/2006/math">
                    <m:r>
                      <a:rPr lang="en-US" sz="1200" i="1" smtClean="0">
                        <a:latin typeface="Cambria Math" panose="02040503050406030204" pitchFamily="18" charset="0"/>
                      </a:rPr>
                      <m:t>𝑎</m:t>
                    </m:r>
                  </m:oMath>
                </a14:m>
                <a:r>
                  <a:rPr lang="en-ZA" b="0" dirty="0"/>
                  <a:t> modulo </a:t>
                </a:r>
                <a14:m>
                  <m:oMath xmlns:m="http://schemas.openxmlformats.org/officeDocument/2006/math">
                    <m:r>
                      <a:rPr lang="en-US" sz="1200" b="0" i="1" smtClean="0">
                        <a:latin typeface="Cambria Math" panose="02040503050406030204" pitchFamily="18" charset="0"/>
                      </a:rPr>
                      <m:t>𝑁</m:t>
                    </m:r>
                  </m:oMath>
                </a14:m>
                <a:r>
                  <a:rPr lang="en-ZA" b="0" dirty="0"/>
                  <a:t>. </a:t>
                </a:r>
                <a:r>
                  <a:rPr lang="en-ZA" dirty="0"/>
                  <a:t>By definition,  </a:t>
                </a:r>
                <a14:m>
                  <m:oMath xmlns:m="http://schemas.openxmlformats.org/officeDocument/2006/math">
                    <m:sSup>
                      <m:sSupPr>
                        <m:ctrlPr>
                          <a:rPr lang="en-US" sz="1200" i="1" smtClean="0">
                            <a:latin typeface="Cambria Math" panose="02040503050406030204" pitchFamily="18" charset="0"/>
                          </a:rPr>
                        </m:ctrlPr>
                      </m:sSupPr>
                      <m:e>
                        <m:r>
                          <a:rPr lang="en-US" sz="1200" i="1">
                            <a:latin typeface="Cambria Math" panose="02040503050406030204" pitchFamily="18" charset="0"/>
                          </a:rPr>
                          <m:t>𝑎</m:t>
                        </m:r>
                      </m:e>
                      <m:sup>
                        <m:r>
                          <a:rPr lang="en-US" sz="1200" i="1">
                            <a:latin typeface="Cambria Math" panose="02040503050406030204" pitchFamily="18" charset="0"/>
                          </a:rPr>
                          <m:t>𝑟</m:t>
                        </m:r>
                      </m:sup>
                    </m:sSup>
                    <m:r>
                      <a:rPr lang="en-US" sz="1200" i="0" smtClean="0">
                        <a:latin typeface="Cambria Math" panose="02040503050406030204" pitchFamily="18" charset="0"/>
                      </a:rPr>
                      <m:t>≡1</m:t>
                    </m:r>
                    <m:d>
                      <m:dPr>
                        <m:ctrlPr>
                          <a:rPr lang="en-US" sz="1200" i="1">
                            <a:latin typeface="Cambria Math" panose="02040503050406030204" pitchFamily="18" charset="0"/>
                          </a:rPr>
                        </m:ctrlPr>
                      </m:dPr>
                      <m:e>
                        <m:r>
                          <m:rPr>
                            <m:sty m:val="p"/>
                          </m:rPr>
                          <a:rPr lang="en-US" sz="1200" i="0">
                            <a:latin typeface="Cambria Math" panose="02040503050406030204" pitchFamily="18" charset="0"/>
                          </a:rPr>
                          <m:t>mod</m:t>
                        </m:r>
                        <m:r>
                          <a:rPr lang="en-US" sz="1200" i="0">
                            <a:latin typeface="Cambria Math" panose="02040503050406030204" pitchFamily="18" charset="0"/>
                          </a:rPr>
                          <m:t> </m:t>
                        </m:r>
                        <m:r>
                          <a:rPr lang="en-US" sz="1200" i="1">
                            <a:latin typeface="Cambria Math" panose="02040503050406030204" pitchFamily="18" charset="0"/>
                          </a:rPr>
                          <m:t>𝑁</m:t>
                        </m:r>
                      </m:e>
                    </m:d>
                  </m:oMath>
                </a14:m>
                <a:r>
                  <a:rPr lang="en-ZA" dirty="0"/>
                  <a:t>. This means that </a:t>
                </a:r>
                <a14:m>
                  <m:oMath xmlns:m="http://schemas.openxmlformats.org/officeDocument/2006/math">
                    <m:sSup>
                      <m:sSupPr>
                        <m:ctrlPr>
                          <a:rPr lang="en-US" sz="1200" i="1" smtClean="0">
                            <a:latin typeface="Cambria Math" panose="02040503050406030204" pitchFamily="18" charset="0"/>
                          </a:rPr>
                        </m:ctrlPr>
                      </m:sSupPr>
                      <m:e>
                        <m:r>
                          <a:rPr lang="en-US" sz="1200" i="1">
                            <a:latin typeface="Cambria Math" panose="02040503050406030204" pitchFamily="18" charset="0"/>
                          </a:rPr>
                          <m:t>𝑎</m:t>
                        </m:r>
                      </m:e>
                      <m:sup>
                        <m:r>
                          <a:rPr lang="en-US" sz="1200" i="1">
                            <a:latin typeface="Cambria Math" panose="02040503050406030204" pitchFamily="18" charset="0"/>
                          </a:rPr>
                          <m:t>𝑟</m:t>
                        </m:r>
                      </m:sup>
                    </m:sSup>
                    <m:r>
                      <a:rPr lang="en-US" sz="1200" i="0">
                        <a:latin typeface="Cambria Math" panose="02040503050406030204" pitchFamily="18" charset="0"/>
                      </a:rPr>
                      <m:t>−1</m:t>
                    </m:r>
                  </m:oMath>
                </a14:m>
                <a:r>
                  <a:rPr lang="en-ZA" dirty="0"/>
                  <a:t> is divisible by </a:t>
                </a:r>
                <a14:m>
                  <m:oMath xmlns:m="http://schemas.openxmlformats.org/officeDocument/2006/math">
                    <m:r>
                      <a:rPr lang="en-US" sz="1200" b="0" i="1" smtClean="0">
                        <a:latin typeface="Cambria Math" panose="02040503050406030204" pitchFamily="18" charset="0"/>
                      </a:rPr>
                      <m:t>𝑁</m:t>
                    </m:r>
                  </m:oMath>
                </a14:m>
                <a:r>
                  <a:rPr lang="en-ZA" dirty="0"/>
                  <a:t>, so it can be written as </a:t>
                </a:r>
                <a14:m>
                  <m:oMath xmlns:m="http://schemas.openxmlformats.org/officeDocument/2006/math">
                    <m:sSup>
                      <m:sSupPr>
                        <m:ctrlPr>
                          <a:rPr lang="en-US" sz="1200" i="1" smtClean="0">
                            <a:latin typeface="Cambria Math" panose="02040503050406030204" pitchFamily="18" charset="0"/>
                          </a:rPr>
                        </m:ctrlPr>
                      </m:sSupPr>
                      <m:e>
                        <m:r>
                          <a:rPr lang="en-US" sz="1200" i="1">
                            <a:latin typeface="Cambria Math" panose="02040503050406030204" pitchFamily="18" charset="0"/>
                          </a:rPr>
                          <m:t>𝑎</m:t>
                        </m:r>
                      </m:e>
                      <m:sup>
                        <m:r>
                          <a:rPr lang="en-US" sz="1200" i="1">
                            <a:latin typeface="Cambria Math" panose="02040503050406030204" pitchFamily="18" charset="0"/>
                          </a:rPr>
                          <m:t>𝑟</m:t>
                        </m:r>
                      </m:sup>
                    </m:sSup>
                    <m:r>
                      <a:rPr lang="en-US" sz="1200" i="0">
                        <a:latin typeface="Cambria Math" panose="02040503050406030204" pitchFamily="18" charset="0"/>
                      </a:rPr>
                      <m:t>−1</m:t>
                    </m:r>
                    <m:r>
                      <a:rPr lang="en-US" sz="1200" b="0" i="0" smtClean="0">
                        <a:latin typeface="Cambria Math" panose="02040503050406030204" pitchFamily="18" charset="0"/>
                      </a:rPr>
                      <m:t>=</m:t>
                    </m:r>
                    <m:r>
                      <a:rPr lang="en-US" sz="1200" b="0" i="1" smtClean="0">
                        <a:latin typeface="Cambria Math" panose="02040503050406030204" pitchFamily="18" charset="0"/>
                      </a:rPr>
                      <m:t>𝑘𝑁</m:t>
                    </m:r>
                  </m:oMath>
                </a14:m>
                <a:r>
                  <a:rPr lang="en-ZA" dirty="0"/>
                  <a:t>, where </a:t>
                </a:r>
                <a14:m>
                  <m:oMath xmlns:m="http://schemas.openxmlformats.org/officeDocument/2006/math">
                    <m:r>
                      <a:rPr lang="en-US" sz="1200" b="0" i="1" smtClean="0">
                        <a:latin typeface="Cambria Math" panose="02040503050406030204" pitchFamily="18" charset="0"/>
                      </a:rPr>
                      <m:t>𝑘</m:t>
                    </m:r>
                  </m:oMath>
                </a14:m>
                <a:r>
                  <a:rPr lang="en-ZA" dirty="0"/>
                  <a:t> is an integer. If </a:t>
                </a:r>
                <a14:m>
                  <m:oMath xmlns:m="http://schemas.openxmlformats.org/officeDocument/2006/math">
                    <m:r>
                      <a:rPr lang="en-US" sz="1200" i="1" smtClean="0">
                        <a:latin typeface="Cambria Math" panose="02040503050406030204" pitchFamily="18" charset="0"/>
                      </a:rPr>
                      <m:t>𝑟</m:t>
                    </m:r>
                  </m:oMath>
                </a14:m>
                <a:r>
                  <a:rPr lang="en-ZA" dirty="0"/>
                  <a:t> is even, the left-hand side can be factored as</a:t>
                </a:r>
                <a:br>
                  <a:rPr lang="en-ZA" dirty="0"/>
                </a:br>
                <a14:m>
                  <m:oMath xmlns:m="http://schemas.openxmlformats.org/officeDocument/2006/math">
                    <m:sSup>
                      <m:sSupPr>
                        <m:ctrlPr>
                          <a:rPr lang="en-US" sz="1200" i="1" smtClean="0">
                            <a:latin typeface="Cambria Math" panose="02040503050406030204" pitchFamily="18" charset="0"/>
                          </a:rPr>
                        </m:ctrlPr>
                      </m:sSupPr>
                      <m:e>
                        <m:r>
                          <a:rPr lang="en-US" sz="1200" i="1">
                            <a:latin typeface="Cambria Math" panose="02040503050406030204" pitchFamily="18" charset="0"/>
                          </a:rPr>
                          <m:t>𝑎</m:t>
                        </m:r>
                      </m:e>
                      <m:sup>
                        <m:r>
                          <a:rPr lang="en-US" sz="1200" i="1">
                            <a:latin typeface="Cambria Math" panose="02040503050406030204" pitchFamily="18" charset="0"/>
                          </a:rPr>
                          <m:t>𝑟</m:t>
                        </m:r>
                      </m:sup>
                    </m:sSup>
                    <m:r>
                      <a:rPr lang="en-US" sz="1200" i="0">
                        <a:latin typeface="Cambria Math" panose="02040503050406030204" pitchFamily="18" charset="0"/>
                      </a:rPr>
                      <m:t>−1</m:t>
                    </m:r>
                    <m:r>
                      <a:rPr lang="en-US" sz="1200" b="0" i="1" smtClean="0">
                        <a:latin typeface="Cambria Math" panose="02040503050406030204" pitchFamily="18" charset="0"/>
                      </a:rPr>
                      <m:t>=</m:t>
                    </m:r>
                    <m:d>
                      <m:dPr>
                        <m:ctrlPr>
                          <a:rPr lang="en-US" sz="1200" i="1" smtClean="0">
                            <a:latin typeface="Cambria Math" panose="02040503050406030204" pitchFamily="18" charset="0"/>
                          </a:rPr>
                        </m:ctrlPr>
                      </m:dPr>
                      <m:e>
                        <m:sSup>
                          <m:sSupPr>
                            <m:ctrlPr>
                              <a:rPr lang="en-US" sz="1200" i="1">
                                <a:latin typeface="Cambria Math" panose="02040503050406030204" pitchFamily="18" charset="0"/>
                              </a:rPr>
                            </m:ctrlPr>
                          </m:sSupPr>
                          <m:e>
                            <m:r>
                              <a:rPr lang="en-US" sz="1200" i="1">
                                <a:latin typeface="Cambria Math" panose="02040503050406030204" pitchFamily="18" charset="0"/>
                              </a:rPr>
                              <m:t>𝑎</m:t>
                            </m:r>
                          </m:e>
                          <m:sup>
                            <m:f>
                              <m:fPr>
                                <m:type m:val="lin"/>
                                <m:ctrlPr>
                                  <a:rPr lang="en-US" sz="1200" i="1" smtClean="0">
                                    <a:latin typeface="Cambria Math" panose="02040503050406030204" pitchFamily="18" charset="0"/>
                                  </a:rPr>
                                </m:ctrlPr>
                              </m:fPr>
                              <m:num>
                                <m:r>
                                  <a:rPr lang="en-US" sz="1200" i="1">
                                    <a:latin typeface="Cambria Math" panose="02040503050406030204" pitchFamily="18" charset="0"/>
                                  </a:rPr>
                                  <m:t>𝑟</m:t>
                                </m:r>
                              </m:num>
                              <m:den>
                                <m:r>
                                  <a:rPr lang="en-US" sz="1200" i="0">
                                    <a:latin typeface="Cambria Math" panose="02040503050406030204" pitchFamily="18" charset="0"/>
                                  </a:rPr>
                                  <m:t>2</m:t>
                                </m:r>
                              </m:den>
                            </m:f>
                          </m:sup>
                        </m:sSup>
                        <m:r>
                          <a:rPr lang="en-US" sz="1200" i="0">
                            <a:latin typeface="Cambria Math" panose="02040503050406030204" pitchFamily="18" charset="0"/>
                          </a:rPr>
                          <m:t>+1</m:t>
                        </m:r>
                      </m:e>
                    </m:d>
                    <m:d>
                      <m:dPr>
                        <m:ctrlPr>
                          <a:rPr lang="en-US" sz="1200" i="1">
                            <a:latin typeface="Cambria Math" panose="02040503050406030204" pitchFamily="18" charset="0"/>
                          </a:rPr>
                        </m:ctrlPr>
                      </m:dPr>
                      <m:e>
                        <m:sSup>
                          <m:sSupPr>
                            <m:ctrlPr>
                              <a:rPr lang="en-US" sz="1200" i="1" smtClean="0">
                                <a:latin typeface="Cambria Math" panose="02040503050406030204" pitchFamily="18" charset="0"/>
                              </a:rPr>
                            </m:ctrlPr>
                          </m:sSupPr>
                          <m:e>
                            <m:r>
                              <a:rPr lang="en-US" sz="1200" i="1">
                                <a:latin typeface="Cambria Math" panose="02040503050406030204" pitchFamily="18" charset="0"/>
                              </a:rPr>
                              <m:t>𝑎</m:t>
                            </m:r>
                          </m:e>
                          <m:sup>
                            <m:f>
                              <m:fPr>
                                <m:type m:val="lin"/>
                                <m:ctrlPr>
                                  <a:rPr lang="en-US" sz="1200" i="1" smtClean="0">
                                    <a:latin typeface="Cambria Math" panose="02040503050406030204" pitchFamily="18" charset="0"/>
                                  </a:rPr>
                                </m:ctrlPr>
                              </m:fPr>
                              <m:num>
                                <m:r>
                                  <a:rPr lang="en-US" sz="1200" i="1">
                                    <a:latin typeface="Cambria Math" panose="02040503050406030204" pitchFamily="18" charset="0"/>
                                  </a:rPr>
                                  <m:t>𝑟</m:t>
                                </m:r>
                              </m:num>
                              <m:den>
                                <m:r>
                                  <a:rPr lang="en-US" sz="1200" i="0">
                                    <a:latin typeface="Cambria Math" panose="02040503050406030204" pitchFamily="18" charset="0"/>
                                  </a:rPr>
                                  <m:t>2</m:t>
                                </m:r>
                              </m:den>
                            </m:f>
                          </m:sup>
                        </m:sSup>
                        <m:r>
                          <a:rPr lang="en-US" sz="1200" i="0">
                            <a:latin typeface="Cambria Math" panose="02040503050406030204" pitchFamily="18" charset="0"/>
                          </a:rPr>
                          <m:t>−1</m:t>
                        </m:r>
                      </m:e>
                    </m:d>
                    <m:r>
                      <a:rPr lang="en-US" sz="1200" i="1" smtClean="0">
                        <a:latin typeface="Cambria Math" panose="02040503050406030204" pitchFamily="18" charset="0"/>
                      </a:rPr>
                      <m:t>=</m:t>
                    </m:r>
                    <m:r>
                      <a:rPr lang="en-US" sz="1200" b="0" i="1" smtClean="0">
                        <a:latin typeface="Cambria Math" panose="02040503050406030204" pitchFamily="18" charset="0"/>
                      </a:rPr>
                      <m:t>𝑘𝑁</m:t>
                    </m:r>
                  </m:oMath>
                </a14:m>
                <a:endParaRPr lang="en-ZA" dirty="0"/>
              </a:p>
              <a:p>
                <a:pPr marL="228600" indent="-228600" algn="l">
                  <a:buFont typeface="+mj-lt"/>
                  <a:buAutoNum type="arabicPeriod"/>
                </a:pPr>
                <a:endParaRPr lang="en-ZA" dirty="0"/>
              </a:p>
              <a:p>
                <a:pPr marL="228600" indent="-228600" algn="l">
                  <a:buFont typeface="+mj-lt"/>
                  <a:buAutoNum type="arabicPeriod"/>
                </a:pPr>
                <a:r>
                  <a:rPr lang="en-ZA" b="0" dirty="0"/>
                  <a:t>If </a:t>
                </a:r>
                <a14:m>
                  <m:oMath xmlns:m="http://schemas.openxmlformats.org/officeDocument/2006/math">
                    <m:r>
                      <a:rPr lang="en-US" sz="1200" b="0" i="1" smtClean="0">
                        <a:latin typeface="Cambria Math" panose="02040503050406030204" pitchFamily="18" charset="0"/>
                      </a:rPr>
                      <m:t>𝑁</m:t>
                    </m:r>
                    <m:r>
                      <a:rPr lang="en-US" sz="1200" b="0" i="1" smtClean="0">
                        <a:latin typeface="Cambria Math" panose="02040503050406030204" pitchFamily="18" charset="0"/>
                      </a:rPr>
                      <m:t>=</m:t>
                    </m:r>
                    <m:r>
                      <a:rPr lang="en-US" sz="1200" b="0" i="1" smtClean="0">
                        <a:latin typeface="Cambria Math" panose="02040503050406030204" pitchFamily="18" charset="0"/>
                      </a:rPr>
                      <m:t>𝑝𝑞</m:t>
                    </m:r>
                  </m:oMath>
                </a14:m>
                <a:r>
                  <a:rPr lang="en-ZA" b="0" dirty="0"/>
                  <a:t>, </a:t>
                </a:r>
                <a:r>
                  <a:rPr lang="en-ZA" dirty="0"/>
                  <a:t>the factors can then be obtained by computing</a:t>
                </a:r>
                <a:br>
                  <a:rPr lang="en-ZA" dirty="0"/>
                </a:br>
                <a14:m>
                  <m:oMath xmlns:m="http://schemas.openxmlformats.org/officeDocument/2006/math">
                    <m:m>
                      <m:mPr>
                        <m:plcHide m:val="on"/>
                        <m:mcs>
                          <m:mc>
                            <m:mcPr>
                              <m:count m:val="2"/>
                              <m:mcJc m:val="center"/>
                            </m:mcPr>
                          </m:mc>
                        </m:mcs>
                        <m:ctrlPr>
                          <a:rPr lang="en-US" sz="1200" b="0" i="1" smtClean="0">
                            <a:latin typeface="Cambria Math" panose="02040503050406030204" pitchFamily="18" charset="0"/>
                          </a:rPr>
                        </m:ctrlPr>
                      </m:mPr>
                      <m:mr>
                        <m:e>
                          <m:r>
                            <a:rPr lang="en-US" sz="1200" b="0" i="1">
                              <a:latin typeface="Cambria Math" panose="02040503050406030204" pitchFamily="18" charset="0"/>
                            </a:rPr>
                            <m:t>𝑝</m:t>
                          </m:r>
                          <m:r>
                            <a:rPr lang="en-US" sz="1200" b="0" i="0">
                              <a:latin typeface="Cambria Math" panose="02040503050406030204" pitchFamily="18" charset="0"/>
                            </a:rPr>
                            <m:t>=</m:t>
                          </m:r>
                          <m:r>
                            <m:rPr>
                              <m:sty m:val="p"/>
                            </m:rPr>
                            <a:rPr lang="en-US" sz="1200" b="0" i="0" smtClean="0">
                              <a:latin typeface="Cambria Math" panose="02040503050406030204" pitchFamily="18" charset="0"/>
                            </a:rPr>
                            <m:t>gcd</m:t>
                          </m:r>
                          <m:d>
                            <m:dPr>
                              <m:ctrlPr>
                                <a:rPr lang="en-US" sz="1200" b="0" i="1">
                                  <a:latin typeface="Cambria Math" panose="02040503050406030204" pitchFamily="18" charset="0"/>
                                </a:rPr>
                              </m:ctrlPr>
                            </m:dPr>
                            <m:e>
                              <m:sSup>
                                <m:sSupPr>
                                  <m:ctrlPr>
                                    <a:rPr lang="en-US" sz="1200" b="0" i="1">
                                      <a:latin typeface="Cambria Math" panose="02040503050406030204" pitchFamily="18" charset="0"/>
                                    </a:rPr>
                                  </m:ctrlPr>
                                </m:sSupPr>
                                <m:e>
                                  <m:r>
                                    <a:rPr lang="en-US" sz="1200" b="0" i="1">
                                      <a:latin typeface="Cambria Math" panose="02040503050406030204" pitchFamily="18" charset="0"/>
                                    </a:rPr>
                                    <m:t>𝑎</m:t>
                                  </m:r>
                                </m:e>
                                <m:sup>
                                  <m:f>
                                    <m:fPr>
                                      <m:ctrlPr>
                                        <a:rPr lang="en-US" sz="1200" b="0" i="1">
                                          <a:latin typeface="Cambria Math" panose="02040503050406030204" pitchFamily="18" charset="0"/>
                                        </a:rPr>
                                      </m:ctrlPr>
                                    </m:fPr>
                                    <m:num>
                                      <m:r>
                                        <a:rPr lang="en-US" sz="1200" b="0" i="1">
                                          <a:latin typeface="Cambria Math" panose="02040503050406030204" pitchFamily="18" charset="0"/>
                                        </a:rPr>
                                        <m:t>𝑟</m:t>
                                      </m:r>
                                    </m:num>
                                    <m:den>
                                      <m:r>
                                        <a:rPr lang="en-US" sz="1200" b="0" i="0">
                                          <a:latin typeface="Cambria Math" panose="02040503050406030204" pitchFamily="18" charset="0"/>
                                        </a:rPr>
                                        <m:t>2</m:t>
                                      </m:r>
                                    </m:den>
                                  </m:f>
                                </m:sup>
                              </m:sSup>
                              <m:r>
                                <a:rPr lang="en-US" sz="1200" b="0" i="0">
                                  <a:latin typeface="Cambria Math" panose="02040503050406030204" pitchFamily="18" charset="0"/>
                                </a:rPr>
                                <m:t>+1,</m:t>
                              </m:r>
                              <m:r>
                                <a:rPr lang="en-US" sz="1200" b="0" i="1">
                                  <a:latin typeface="Cambria Math" panose="02040503050406030204" pitchFamily="18" charset="0"/>
                                </a:rPr>
                                <m:t>𝑁</m:t>
                              </m:r>
                            </m:e>
                          </m:d>
                          <m:r>
                            <a:rPr lang="en-US" sz="1200" b="0" i="0">
                              <a:latin typeface="Cambria Math" panose="02040503050406030204" pitchFamily="18" charset="0"/>
                            </a:rPr>
                            <m:t>,</m:t>
                          </m:r>
                        </m:e>
                        <m:e>
                          <m:r>
                            <a:rPr lang="en-US" sz="1200" b="0" i="1">
                              <a:latin typeface="Cambria Math" panose="02040503050406030204" pitchFamily="18" charset="0"/>
                            </a:rPr>
                            <m:t>𝑞</m:t>
                          </m:r>
                          <m:r>
                            <a:rPr lang="en-US" sz="1200" b="0" i="0">
                              <a:latin typeface="Cambria Math" panose="02040503050406030204" pitchFamily="18" charset="0"/>
                            </a:rPr>
                            <m:t>=</m:t>
                          </m:r>
                          <m:r>
                            <m:rPr>
                              <m:sty m:val="p"/>
                            </m:rPr>
                            <a:rPr lang="en-US" sz="1200" b="0" i="0" smtClean="0">
                              <a:latin typeface="Cambria Math" panose="02040503050406030204" pitchFamily="18" charset="0"/>
                            </a:rPr>
                            <m:t>gcd</m:t>
                          </m:r>
                          <m:d>
                            <m:dPr>
                              <m:ctrlPr>
                                <a:rPr lang="en-US" sz="1200" b="0" i="1">
                                  <a:latin typeface="Cambria Math" panose="02040503050406030204" pitchFamily="18" charset="0"/>
                                </a:rPr>
                              </m:ctrlPr>
                            </m:dPr>
                            <m:e>
                              <m:sSup>
                                <m:sSupPr>
                                  <m:ctrlPr>
                                    <a:rPr lang="en-US" sz="1200" b="0" i="1">
                                      <a:latin typeface="Cambria Math" panose="02040503050406030204" pitchFamily="18" charset="0"/>
                                    </a:rPr>
                                  </m:ctrlPr>
                                </m:sSupPr>
                                <m:e>
                                  <m:r>
                                    <a:rPr lang="en-US" sz="1200" b="0" i="1">
                                      <a:latin typeface="Cambria Math" panose="02040503050406030204" pitchFamily="18" charset="0"/>
                                    </a:rPr>
                                    <m:t>𝑎</m:t>
                                  </m:r>
                                </m:e>
                                <m:sup>
                                  <m:f>
                                    <m:fPr>
                                      <m:ctrlPr>
                                        <a:rPr lang="en-US" sz="1200" b="0" i="1">
                                          <a:latin typeface="Cambria Math" panose="02040503050406030204" pitchFamily="18" charset="0"/>
                                        </a:rPr>
                                      </m:ctrlPr>
                                    </m:fPr>
                                    <m:num>
                                      <m:r>
                                        <a:rPr lang="en-US" sz="1200" b="0" i="1">
                                          <a:latin typeface="Cambria Math" panose="02040503050406030204" pitchFamily="18" charset="0"/>
                                        </a:rPr>
                                        <m:t>𝑟</m:t>
                                      </m:r>
                                    </m:num>
                                    <m:den>
                                      <m:r>
                                        <a:rPr lang="en-US" sz="1200" b="0" i="0">
                                          <a:latin typeface="Cambria Math" panose="02040503050406030204" pitchFamily="18" charset="0"/>
                                        </a:rPr>
                                        <m:t>2</m:t>
                                      </m:r>
                                    </m:den>
                                  </m:f>
                                </m:sup>
                              </m:sSup>
                              <m:r>
                                <a:rPr lang="en-US" sz="1200" b="0" i="0">
                                  <a:latin typeface="Cambria Math" panose="02040503050406030204" pitchFamily="18" charset="0"/>
                                </a:rPr>
                                <m:t>−1,</m:t>
                              </m:r>
                              <m:r>
                                <a:rPr lang="en-US" sz="1200" b="0" i="1">
                                  <a:latin typeface="Cambria Math" panose="02040503050406030204" pitchFamily="18" charset="0"/>
                                </a:rPr>
                                <m:t>𝑁</m:t>
                              </m:r>
                            </m:e>
                          </m:d>
                        </m:e>
                      </m:mr>
                    </m:m>
                  </m:oMath>
                </a14:m>
                <a:br>
                  <a:rPr lang="en-US" dirty="0"/>
                </a:br>
                <a:r>
                  <a:rPr lang="en-ZA" dirty="0"/>
                  <a:t>provided these GCDs are nontrivial. In this way, integer factorization is reduced to the problem of finding the period </a:t>
                </a:r>
                <a14:m>
                  <m:oMath xmlns:m="http://schemas.openxmlformats.org/officeDocument/2006/math">
                    <m:r>
                      <m:rPr>
                        <m:sty m:val="p"/>
                      </m:rPr>
                      <a:rPr lang="en-US" sz="1200" b="0" i="0" smtClean="0">
                        <a:latin typeface="Cambria Math" panose="02040503050406030204" pitchFamily="18" charset="0"/>
                      </a:rPr>
                      <m:t>r</m:t>
                    </m:r>
                  </m:oMath>
                </a14:m>
                <a:r>
                  <a:rPr lang="en-ZA" dirty="0"/>
                  <a:t> of the function </a:t>
                </a:r>
                <a14:m>
                  <m:oMath xmlns:m="http://schemas.openxmlformats.org/officeDocument/2006/math">
                    <m:sSup>
                      <m:sSupPr>
                        <m:ctrlPr>
                          <a:rPr lang="en-US" sz="1200" i="1" smtClean="0">
                            <a:latin typeface="Cambria Math" panose="02040503050406030204" pitchFamily="18" charset="0"/>
                          </a:rPr>
                        </m:ctrlPr>
                      </m:sSupPr>
                      <m:e>
                        <m:r>
                          <a:rPr lang="en-US" sz="1200" i="1">
                            <a:latin typeface="Cambria Math" panose="02040503050406030204" pitchFamily="18" charset="0"/>
                          </a:rPr>
                          <m:t>𝑎</m:t>
                        </m:r>
                      </m:e>
                      <m:sup>
                        <m:r>
                          <a:rPr lang="en-US" sz="1200" b="0" i="1" smtClean="0">
                            <a:latin typeface="Cambria Math" panose="02040503050406030204" pitchFamily="18" charset="0"/>
                          </a:rPr>
                          <m:t>𝑥</m:t>
                        </m:r>
                      </m:sup>
                    </m:sSup>
                    <m:r>
                      <a:rPr lang="en-US" sz="1200" b="0" i="1" smtClean="0">
                        <a:latin typeface="Cambria Math" panose="02040503050406030204" pitchFamily="18" charset="0"/>
                      </a:rPr>
                      <m:t> </m:t>
                    </m:r>
                    <m:r>
                      <m:rPr>
                        <m:sty m:val="p"/>
                      </m:rPr>
                      <a:rPr lang="en-US" sz="1200" b="0" i="0" smtClean="0">
                        <a:latin typeface="Cambria Math" panose="02040503050406030204" pitchFamily="18" charset="0"/>
                      </a:rPr>
                      <m:t>mod</m:t>
                    </m:r>
                    <m:r>
                      <a:rPr lang="en-US" sz="1200" b="0" i="1" smtClean="0">
                        <a:latin typeface="Cambria Math" panose="02040503050406030204" pitchFamily="18" charset="0"/>
                      </a:rPr>
                      <m:t> </m:t>
                    </m:r>
                    <m:r>
                      <a:rPr lang="en-US" sz="1200" b="0" i="1" smtClean="0">
                        <a:latin typeface="Cambria Math" panose="02040503050406030204" pitchFamily="18" charset="0"/>
                      </a:rPr>
                      <m:t>𝑁</m:t>
                    </m:r>
                  </m:oMath>
                </a14:m>
                <a:r>
                  <a:rPr lang="en-ZA" dirty="0"/>
                  <a:t>.</a:t>
                </a:r>
                <a:br>
                  <a:rPr lang="en-ZA" dirty="0"/>
                </a:br>
                <a:endParaRPr lang="en-ZA" b="0" dirty="0"/>
              </a:p>
            </p:txBody>
          </p:sp>
        </mc:Choice>
        <mc:Fallback xmlns="">
          <p:sp>
            <p:nvSpPr>
              <p:cNvPr id="3" name="Notes Placeholder 2"/>
              <p:cNvSpPr>
                <a:spLocks noGrp="1"/>
              </p:cNvSpPr>
              <p:nvPr>
                <p:ph type="body" idx="1"/>
              </p:nvPr>
            </p:nvSpPr>
            <p:spPr/>
            <p:txBody>
              <a:bodyPr/>
              <a:lstStyle/>
              <a:p>
                <a:pPr algn="just"/>
                <a:r>
                  <a:rPr lang="en-US" dirty="0" err="1"/>
                  <a:t>Posmatrajmo</a:t>
                </a:r>
                <a:r>
                  <a:rPr lang="en-US" dirty="0"/>
                  <a:t> </a:t>
                </a:r>
                <a:r>
                  <a:rPr lang="en-US" dirty="0" err="1"/>
                  <a:t>niz</a:t>
                </a:r>
                <a:r>
                  <a:rPr lang="en-US" dirty="0"/>
                  <a:t> </a:t>
                </a:r>
                <a:r>
                  <a:rPr lang="en-US" dirty="0" err="1"/>
                  <a:t>brojeva</a:t>
                </a:r>
                <a:r>
                  <a:rPr lang="en-US" dirty="0"/>
                  <a:t> </a:t>
                </a:r>
                <a:r>
                  <a:rPr lang="en-US" dirty="0" err="1"/>
                  <a:t>generisanih</a:t>
                </a:r>
                <a:r>
                  <a:rPr lang="en-US" dirty="0"/>
                  <a:t> </a:t>
                </a:r>
                <a:r>
                  <a:rPr lang="en-US" dirty="0" err="1"/>
                  <a:t>modularnom</a:t>
                </a:r>
                <a:r>
                  <a:rPr lang="en-US" dirty="0"/>
                  <a:t> </a:t>
                </a:r>
                <a:r>
                  <a:rPr lang="en-US" dirty="0" err="1"/>
                  <a:t>eksponenicjalnom</a:t>
                </a:r>
                <a:r>
                  <a:rPr lang="en-US" dirty="0"/>
                  <a:t> </a:t>
                </a:r>
                <a:r>
                  <a:rPr lang="en-US" dirty="0" err="1"/>
                  <a:t>funkcijom</a:t>
                </a:r>
                <a:r>
                  <a:rPr lang="en-US" dirty="0"/>
                  <a:t> 𝑎</a:t>
                </a:r>
                <a:r>
                  <a:rPr lang="en-US" baseline="30000" dirty="0"/>
                  <a:t>𝑥</a:t>
                </a:r>
                <a:r>
                  <a:rPr lang="en-US" dirty="0"/>
                  <a:t> (𝑚𝑜𝑑 𝑁). </a:t>
                </a:r>
                <a:r>
                  <a:rPr lang="en-US" dirty="0" err="1"/>
                  <a:t>Tabela</a:t>
                </a:r>
                <a:r>
                  <a:rPr lang="en-US" dirty="0"/>
                  <a:t> </a:t>
                </a:r>
                <a:r>
                  <a:rPr lang="en-US" dirty="0" err="1"/>
                  <a:t>prikazuje</a:t>
                </a:r>
                <a:r>
                  <a:rPr lang="en-US" dirty="0"/>
                  <a:t> </a:t>
                </a:r>
                <a:r>
                  <a:rPr lang="en-US" dirty="0" err="1"/>
                  <a:t>niz</a:t>
                </a:r>
                <a:r>
                  <a:rPr lang="en-US" dirty="0"/>
                  <a:t> </a:t>
                </a:r>
                <a:r>
                  <a:rPr lang="en-US" dirty="0" err="1"/>
                  <a:t>za</a:t>
                </a:r>
                <a:r>
                  <a:rPr lang="en-US" dirty="0"/>
                  <a:t> </a:t>
                </a:r>
                <a:r>
                  <a:rPr lang="en-US" dirty="0" err="1"/>
                  <a:t>koji</a:t>
                </a:r>
                <a:r>
                  <a:rPr lang="en-US" dirty="0"/>
                  <a:t> </a:t>
                </a:r>
                <a:r>
                  <a:rPr lang="en-US" dirty="0" err="1"/>
                  <a:t>je</a:t>
                </a:r>
                <a:r>
                  <a:rPr lang="en-US" dirty="0"/>
                  <a:t> a=7 </a:t>
                </a:r>
                <a:r>
                  <a:rPr lang="en-US" dirty="0" err="1"/>
                  <a:t>i</a:t>
                </a:r>
                <a:r>
                  <a:rPr lang="en-US" dirty="0"/>
                  <a:t> N=15.  </a:t>
                </a:r>
                <a:r>
                  <a:rPr lang="en-US" dirty="0" err="1"/>
                  <a:t>Vidi</a:t>
                </a:r>
                <a:r>
                  <a:rPr lang="en-US" dirty="0"/>
                  <a:t> se da </a:t>
                </a:r>
                <a:r>
                  <a:rPr lang="en-US" dirty="0" err="1"/>
                  <a:t>niz</a:t>
                </a:r>
                <a:r>
                  <a:rPr lang="en-US" dirty="0"/>
                  <a:t> </a:t>
                </a:r>
                <a:r>
                  <a:rPr lang="en-US" dirty="0" err="1"/>
                  <a:t>počinje</a:t>
                </a:r>
                <a:r>
                  <a:rPr lang="en-US" dirty="0"/>
                  <a:t> </a:t>
                </a:r>
                <a:r>
                  <a:rPr lang="en-US" dirty="0" err="1"/>
                  <a:t>sa</a:t>
                </a:r>
                <a:r>
                  <a:rPr lang="en-US" dirty="0"/>
                  <a:t> 1 </a:t>
                </a:r>
                <a:r>
                  <a:rPr lang="en-US" dirty="0" err="1"/>
                  <a:t>i</a:t>
                </a:r>
                <a:r>
                  <a:rPr lang="en-US" dirty="0"/>
                  <a:t> da se </a:t>
                </a:r>
                <a:r>
                  <a:rPr lang="en-US" dirty="0" err="1"/>
                  <a:t>posle</a:t>
                </a:r>
                <a:r>
                  <a:rPr lang="en-US" dirty="0"/>
                  <a:t> </a:t>
                </a:r>
                <a:r>
                  <a:rPr lang="en-US" dirty="0" err="1"/>
                  <a:t>nekog</a:t>
                </a:r>
                <a:r>
                  <a:rPr lang="en-US" dirty="0"/>
                  <a:t> </a:t>
                </a:r>
                <a:r>
                  <a:rPr lang="en-US" dirty="0" err="1"/>
                  <a:t>perioda</a:t>
                </a:r>
                <a:r>
                  <a:rPr lang="en-US" dirty="0"/>
                  <a:t> </a:t>
                </a:r>
                <a:r>
                  <a:rPr lang="en-US" dirty="0" err="1"/>
                  <a:t>ponavlja</a:t>
                </a:r>
                <a:r>
                  <a:rPr lang="en-US" dirty="0"/>
                  <a:t>, </a:t>
                </a:r>
                <a:r>
                  <a:rPr lang="en-US" dirty="0" err="1"/>
                  <a:t>počevši</a:t>
                </a:r>
                <a:r>
                  <a:rPr lang="en-US" dirty="0"/>
                  <a:t> </a:t>
                </a:r>
                <a:r>
                  <a:rPr lang="en-US" dirty="0" err="1"/>
                  <a:t>opet</a:t>
                </a:r>
                <a:r>
                  <a:rPr lang="en-US" dirty="0"/>
                  <a:t> od </a:t>
                </a:r>
                <a:r>
                  <a:rPr lang="en-US" dirty="0" err="1"/>
                  <a:t>jedinice</a:t>
                </a:r>
                <a:r>
                  <a:rPr lang="en-US" dirty="0"/>
                  <a:t>.</a:t>
                </a:r>
              </a:p>
              <a:p>
                <a:pPr algn="just"/>
                <a:endParaRPr lang="en-US" dirty="0"/>
              </a:p>
              <a:p>
                <a:pPr algn="just"/>
                <a:r>
                  <a:rPr lang="en-US" dirty="0" err="1"/>
                  <a:t>Ispostavlja</a:t>
                </a:r>
                <a:r>
                  <a:rPr lang="en-US" dirty="0"/>
                  <a:t> se da </a:t>
                </a:r>
                <a:r>
                  <a:rPr lang="en-US" dirty="0" err="1"/>
                  <a:t>je</a:t>
                </a:r>
                <a:r>
                  <a:rPr lang="en-US" dirty="0"/>
                  <a:t> </a:t>
                </a:r>
                <a:r>
                  <a:rPr lang="en-US" dirty="0" err="1"/>
                  <a:t>ovaj</a:t>
                </a:r>
                <a:r>
                  <a:rPr lang="en-US" dirty="0"/>
                  <a:t> period </a:t>
                </a:r>
                <a:r>
                  <a:rPr lang="en-US" dirty="0" err="1"/>
                  <a:t>jednak</a:t>
                </a:r>
                <a:r>
                  <a:rPr lang="en-US" dirty="0"/>
                  <a:t> </a:t>
                </a:r>
                <a:r>
                  <a:rPr lang="en-US" dirty="0" err="1"/>
                  <a:t>redu</a:t>
                </a:r>
                <a:r>
                  <a:rPr lang="en-US" dirty="0"/>
                  <a:t> </a:t>
                </a:r>
                <a:r>
                  <a:rPr lang="en-US" dirty="0" err="1"/>
                  <a:t>broja</a:t>
                </a:r>
                <a:r>
                  <a:rPr lang="en-US" dirty="0"/>
                  <a:t> </a:t>
                </a:r>
                <a:r>
                  <a:rPr lang="en-US" dirty="0" err="1"/>
                  <a:t>po</a:t>
                </a:r>
                <a:r>
                  <a:rPr lang="en-US" dirty="0"/>
                  <a:t> </a:t>
                </a:r>
                <a:r>
                  <a:rPr lang="en-US" dirty="0" err="1"/>
                  <a:t>modulu</a:t>
                </a:r>
                <a:r>
                  <a:rPr lang="en-US" dirty="0"/>
                  <a:t> N. </a:t>
                </a:r>
                <a:r>
                  <a:rPr lang="en-US" dirty="0" err="1"/>
                  <a:t>Preuređivanjem</a:t>
                </a:r>
                <a:r>
                  <a:rPr lang="en-US" dirty="0"/>
                  <a:t> </a:t>
                </a:r>
                <a:r>
                  <a:rPr lang="en-US" dirty="0" err="1"/>
                  <a:t>izraza</a:t>
                </a:r>
                <a:r>
                  <a:rPr lang="en-US" dirty="0"/>
                  <a:t> </a:t>
                </a:r>
                <a:r>
                  <a:rPr lang="en-US" dirty="0" err="1"/>
                  <a:t>dobija</a:t>
                </a:r>
                <a:r>
                  <a:rPr lang="en-US" dirty="0"/>
                  <a:t> se </a:t>
                </a:r>
                <a:r>
                  <a:rPr lang="en-US" dirty="0" err="1"/>
                  <a:t>tvrđenje</a:t>
                </a:r>
                <a:r>
                  <a:rPr lang="en-US" dirty="0"/>
                  <a:t> da </a:t>
                </a:r>
                <a:r>
                  <a:rPr lang="en-US" dirty="0" err="1"/>
                  <a:t>je</a:t>
                </a:r>
                <a:r>
                  <a:rPr lang="en-US" dirty="0"/>
                  <a:t> </a:t>
                </a:r>
                <a:r>
                  <a:rPr lang="en-US" dirty="0" err="1"/>
                  <a:t>proizvod</a:t>
                </a:r>
                <a:r>
                  <a:rPr lang="en-US" dirty="0"/>
                  <a:t> </a:t>
                </a:r>
                <a:r>
                  <a:rPr lang="en-US" sz="1200" i="0">
                    <a:latin typeface="Cambria Math" panose="02040503050406030204" pitchFamily="18" charset="0"/>
                  </a:rPr>
                  <a:t>(𝑎^(𝑟/2)+1)(𝑎^(𝑟/2)−1)</a:t>
                </a:r>
                <a:r>
                  <a:rPr lang="en-US" dirty="0"/>
                  <a:t> </a:t>
                </a:r>
                <a:r>
                  <a:rPr lang="en-US" dirty="0" err="1"/>
                  <a:t>jednak</a:t>
                </a:r>
                <a:r>
                  <a:rPr lang="en-US" dirty="0"/>
                  <a:t> </a:t>
                </a:r>
                <a:r>
                  <a:rPr lang="en-US" dirty="0" err="1"/>
                  <a:t>umnošku</a:t>
                </a:r>
                <a:r>
                  <a:rPr lang="en-US" dirty="0"/>
                  <a:t> od N.</a:t>
                </a:r>
              </a:p>
              <a:p>
                <a:pPr algn="just"/>
                <a:endParaRPr lang="en-US" dirty="0"/>
              </a:p>
              <a:p>
                <a:pPr algn="just"/>
                <a:r>
                  <a:rPr lang="en-US" dirty="0" err="1"/>
                  <a:t>Videli</a:t>
                </a:r>
                <a:r>
                  <a:rPr lang="en-US" dirty="0"/>
                  <a:t> </a:t>
                </a:r>
                <a:r>
                  <a:rPr lang="en-US" dirty="0" err="1"/>
                  <a:t>smo</a:t>
                </a:r>
                <a:r>
                  <a:rPr lang="en-US" dirty="0"/>
                  <a:t> da </a:t>
                </a:r>
                <a:r>
                  <a:rPr lang="en-US" dirty="0" err="1"/>
                  <a:t>ako</a:t>
                </a:r>
                <a:r>
                  <a:rPr lang="en-US" dirty="0"/>
                  <a:t> </a:t>
                </a:r>
                <a:r>
                  <a:rPr lang="en-US" dirty="0" err="1"/>
                  <a:t>je</a:t>
                </a:r>
                <a:r>
                  <a:rPr lang="en-US" dirty="0"/>
                  <a:t> 𝑁 </a:t>
                </a:r>
                <a:r>
                  <a:rPr lang="en-US" dirty="0" err="1"/>
                  <a:t>proizvod</a:t>
                </a:r>
                <a:r>
                  <a:rPr lang="en-US" dirty="0"/>
                  <a:t> </a:t>
                </a:r>
                <a:r>
                  <a:rPr lang="en-US" dirty="0" err="1"/>
                  <a:t>prostih</a:t>
                </a:r>
                <a:r>
                  <a:rPr lang="en-US" dirty="0"/>
                  <a:t> </a:t>
                </a:r>
                <a:r>
                  <a:rPr lang="en-US" dirty="0" err="1"/>
                  <a:t>činilaca</a:t>
                </a:r>
                <a:r>
                  <a:rPr lang="en-US" dirty="0"/>
                  <a:t> 𝑝 </a:t>
                </a:r>
                <a:r>
                  <a:rPr lang="en-US" dirty="0" err="1"/>
                  <a:t>i</a:t>
                </a:r>
                <a:r>
                  <a:rPr lang="en-US" dirty="0"/>
                  <a:t> 𝑞, </a:t>
                </a:r>
                <a:r>
                  <a:rPr lang="en-US" dirty="0" err="1"/>
                  <a:t>onda</a:t>
                </a:r>
                <a:r>
                  <a:rPr lang="en-US" dirty="0"/>
                  <a:t> </a:t>
                </a:r>
                <a:r>
                  <a:rPr lang="en-US" dirty="0" err="1"/>
                  <a:t>su</a:t>
                </a:r>
                <a:r>
                  <a:rPr lang="en-US" dirty="0"/>
                  <a:t> </a:t>
                </a:r>
                <a:r>
                  <a:rPr lang="en-US" dirty="0" err="1"/>
                  <a:t>ovi</a:t>
                </a:r>
                <a:r>
                  <a:rPr lang="en-US" dirty="0"/>
                  <a:t> </a:t>
                </a:r>
                <a:r>
                  <a:rPr lang="en-US" dirty="0" err="1"/>
                  <a:t>prosti</a:t>
                </a:r>
                <a:r>
                  <a:rPr lang="en-US" dirty="0"/>
                  <a:t> </a:t>
                </a:r>
                <a:r>
                  <a:rPr lang="en-US" dirty="0" err="1"/>
                  <a:t>činioci</a:t>
                </a:r>
                <a:r>
                  <a:rPr lang="en-US" dirty="0"/>
                  <a:t> </a:t>
                </a:r>
                <a:r>
                  <a:rPr lang="en-US" dirty="0" err="1"/>
                  <a:t>i</a:t>
                </a:r>
                <a:r>
                  <a:rPr lang="en-US" dirty="0"/>
                  <a:t> </a:t>
                </a:r>
                <a:r>
                  <a:rPr lang="en-US" dirty="0" err="1"/>
                  <a:t>najmanji</a:t>
                </a:r>
                <a:r>
                  <a:rPr lang="en-US" dirty="0"/>
                  <a:t> </a:t>
                </a:r>
                <a:r>
                  <a:rPr lang="en-US" dirty="0" err="1"/>
                  <a:t>zajednički</a:t>
                </a:r>
                <a:r>
                  <a:rPr lang="en-US" dirty="0"/>
                  <a:t> </a:t>
                </a:r>
                <a:r>
                  <a:rPr lang="en-US" dirty="0" err="1"/>
                  <a:t>delioci</a:t>
                </a:r>
                <a:r>
                  <a:rPr lang="en-US" dirty="0"/>
                  <a:t> </a:t>
                </a:r>
                <a:r>
                  <a:rPr lang="en-US" dirty="0" err="1"/>
                  <a:t>broja</a:t>
                </a:r>
                <a:r>
                  <a:rPr lang="en-US" dirty="0"/>
                  <a:t> N. </a:t>
                </a:r>
                <a:r>
                  <a:rPr lang="en-US" dirty="0" err="1"/>
                  <a:t>Uzevši</a:t>
                </a:r>
                <a:r>
                  <a:rPr lang="en-US" dirty="0"/>
                  <a:t> u </a:t>
                </a:r>
                <a:r>
                  <a:rPr lang="en-US" dirty="0" err="1"/>
                  <a:t>obzir</a:t>
                </a:r>
                <a:r>
                  <a:rPr lang="en-US" dirty="0"/>
                  <a:t> </a:t>
                </a:r>
                <a:r>
                  <a:rPr lang="en-US" dirty="0" err="1"/>
                  <a:t>ovu</a:t>
                </a:r>
                <a:r>
                  <a:rPr lang="en-US" dirty="0"/>
                  <a:t> </a:t>
                </a:r>
                <a:r>
                  <a:rPr lang="en-US" dirty="0" err="1"/>
                  <a:t>činjenicu</a:t>
                </a:r>
                <a:r>
                  <a:rPr lang="en-US" dirty="0"/>
                  <a:t> </a:t>
                </a:r>
                <a:r>
                  <a:rPr lang="en-US" dirty="0" err="1"/>
                  <a:t>i</a:t>
                </a:r>
                <a:r>
                  <a:rPr lang="en-US" dirty="0"/>
                  <a:t> </a:t>
                </a:r>
                <a:r>
                  <a:rPr lang="en-US" dirty="0" err="1"/>
                  <a:t>izvedenu</a:t>
                </a:r>
                <a:r>
                  <a:rPr lang="en-US" dirty="0"/>
                  <a:t> </a:t>
                </a:r>
                <a:r>
                  <a:rPr lang="en-US" dirty="0" err="1"/>
                  <a:t>jednakost</a:t>
                </a:r>
                <a:r>
                  <a:rPr lang="en-US" dirty="0"/>
                  <a:t>, </a:t>
                </a:r>
                <a:r>
                  <a:rPr lang="en-US" dirty="0" err="1"/>
                  <a:t>dobija</a:t>
                </a:r>
                <a:r>
                  <a:rPr lang="en-US" dirty="0"/>
                  <a:t> se da </a:t>
                </a:r>
                <a:r>
                  <a:rPr lang="en-US" dirty="0" err="1"/>
                  <a:t>je</a:t>
                </a:r>
                <a:r>
                  <a:rPr lang="en-US" dirty="0"/>
                  <a:t> </a:t>
                </a:r>
                <a:r>
                  <a:rPr lang="en-US" sz="1200" b="1" i="0">
                    <a:latin typeface="Cambria Math" panose="02040503050406030204" pitchFamily="18" charset="0"/>
                  </a:rPr>
                  <a:t>𝒑</a:t>
                </a:r>
                <a:r>
                  <a:rPr lang="en-US" sz="1200" i="0">
                    <a:latin typeface="Cambria Math" panose="02040503050406030204" pitchFamily="18" charset="0"/>
                  </a:rPr>
                  <a:t>=𝑛𝑧𝑑(𝑎^(𝑟/2)+1,𝑁)</a:t>
                </a:r>
                <a:r>
                  <a:rPr lang="en-US" dirty="0"/>
                  <a:t> </a:t>
                </a:r>
                <a:r>
                  <a:rPr lang="en-US" dirty="0" err="1"/>
                  <a:t>i</a:t>
                </a:r>
                <a:r>
                  <a:rPr lang="en-US" dirty="0"/>
                  <a:t> </a:t>
                </a:r>
                <a:r>
                  <a:rPr lang="en-US" sz="1200" b="1" i="0">
                    <a:latin typeface="Cambria Math" panose="02040503050406030204" pitchFamily="18" charset="0"/>
                  </a:rPr>
                  <a:t>𝒒</a:t>
                </a:r>
                <a:r>
                  <a:rPr lang="en-US" sz="1200" i="0">
                    <a:latin typeface="Cambria Math" panose="02040503050406030204" pitchFamily="18" charset="0"/>
                  </a:rPr>
                  <a:t>=𝑛𝑧𝑑(𝑎^(𝑟/2)−1,𝑁)</a:t>
                </a:r>
                <a:r>
                  <a:rPr lang="en-US" dirty="0"/>
                  <a:t>, </a:t>
                </a:r>
                <a:r>
                  <a:rPr lang="en-US" dirty="0" err="1"/>
                  <a:t>gde</a:t>
                </a:r>
                <a:r>
                  <a:rPr lang="en-US" dirty="0"/>
                  <a:t> </a:t>
                </a:r>
                <a:r>
                  <a:rPr lang="en-US" dirty="0" err="1"/>
                  <a:t>je</a:t>
                </a:r>
                <a:r>
                  <a:rPr lang="en-US" dirty="0"/>
                  <a:t> r period </a:t>
                </a:r>
                <a:r>
                  <a:rPr lang="en-US" dirty="0" err="1"/>
                  <a:t>modularne</a:t>
                </a:r>
                <a:r>
                  <a:rPr lang="en-US" dirty="0"/>
                  <a:t> </a:t>
                </a:r>
                <a:r>
                  <a:rPr lang="en-US" dirty="0" err="1"/>
                  <a:t>funkcije</a:t>
                </a:r>
                <a:r>
                  <a:rPr lang="en-US" dirty="0"/>
                  <a:t>. Na </a:t>
                </a:r>
                <a:r>
                  <a:rPr lang="en-US" dirty="0" err="1"/>
                  <a:t>ovaj</a:t>
                </a:r>
                <a:r>
                  <a:rPr lang="en-US" dirty="0"/>
                  <a:t> </a:t>
                </a:r>
                <a:r>
                  <a:rPr lang="en-US" dirty="0" err="1"/>
                  <a:t>način</a:t>
                </a:r>
                <a:r>
                  <a:rPr lang="en-US" dirty="0"/>
                  <a:t> se problem </a:t>
                </a:r>
                <a:r>
                  <a:rPr lang="en-US" dirty="0" err="1"/>
                  <a:t>faktorizacije</a:t>
                </a:r>
                <a:r>
                  <a:rPr lang="en-US" dirty="0"/>
                  <a:t> </a:t>
                </a:r>
                <a:r>
                  <a:rPr lang="en-US" dirty="0" err="1"/>
                  <a:t>sveo</a:t>
                </a:r>
                <a:r>
                  <a:rPr lang="en-US" dirty="0"/>
                  <a:t> </a:t>
                </a:r>
                <a:r>
                  <a:rPr lang="en-US" dirty="0" err="1"/>
                  <a:t>na</a:t>
                </a:r>
                <a:r>
                  <a:rPr lang="en-US" dirty="0"/>
                  <a:t> </a:t>
                </a:r>
                <a:r>
                  <a:rPr lang="en-US" dirty="0" err="1"/>
                  <a:t>nalaženje</a:t>
                </a:r>
                <a:r>
                  <a:rPr lang="en-US" dirty="0"/>
                  <a:t> </a:t>
                </a:r>
                <a:r>
                  <a:rPr lang="en-US" dirty="0" err="1"/>
                  <a:t>perioda</a:t>
                </a:r>
                <a:r>
                  <a:rPr lang="en-US" dirty="0"/>
                  <a:t> 𝑟 </a:t>
                </a:r>
                <a:r>
                  <a:rPr lang="en-US" dirty="0" err="1"/>
                  <a:t>funkcije</a:t>
                </a:r>
                <a:r>
                  <a:rPr lang="en-US" dirty="0"/>
                  <a:t> 𝑎</a:t>
                </a:r>
                <a:r>
                  <a:rPr lang="en-US" baseline="30000" dirty="0"/>
                  <a:t>𝑥</a:t>
                </a:r>
                <a:r>
                  <a:rPr lang="en-US" dirty="0"/>
                  <a:t> (𝑚𝑜𝑑 𝑁).</a:t>
                </a:r>
                <a:endParaRPr lang="en-ZA" sz="120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38</a:t>
            </a:fld>
            <a:endParaRPr lang="en-US"/>
          </a:p>
        </p:txBody>
      </p:sp>
    </p:spTree>
    <p:extLst>
      <p:ext uri="{BB962C8B-B14F-4D97-AF65-F5344CB8AC3E}">
        <p14:creationId xmlns:p14="http://schemas.microsoft.com/office/powerpoint/2010/main" val="14236949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The table shows how the period of the function </a:t>
                </a:r>
                <a14:m>
                  <m:oMath xmlns:m="http://schemas.openxmlformats.org/officeDocument/2006/math">
                    <m:r>
                      <a:rPr lang="en-US" sz="1200" b="0" i="1" smtClean="0">
                        <a:solidFill>
                          <a:schemeClr val="tx1"/>
                        </a:solidFill>
                        <a:latin typeface="Cambria Math" panose="02040503050406030204" pitchFamily="18" charset="0"/>
                      </a:rPr>
                      <m:t>𝑓</m:t>
                    </m:r>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𝑥</m:t>
                        </m:r>
                      </m:e>
                    </m:d>
                    <m:r>
                      <a:rPr lang="en-US" sz="1200" b="0" i="1" smtClean="0">
                        <a:solidFill>
                          <a:schemeClr val="tx1"/>
                        </a:solidFill>
                        <a:latin typeface="Cambria Math" panose="02040503050406030204" pitchFamily="18" charset="0"/>
                      </a:rPr>
                      <m:t>=</m:t>
                    </m:r>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𝑎</m:t>
                        </m:r>
                      </m:e>
                      <m:sup>
                        <m:r>
                          <a:rPr lang="en-US" sz="1200" b="0" i="1" smtClean="0">
                            <a:solidFill>
                              <a:schemeClr val="tx1"/>
                            </a:solidFill>
                            <a:latin typeface="Cambria Math" panose="02040503050406030204" pitchFamily="18" charset="0"/>
                          </a:rPr>
                          <m:t>𝑥</m:t>
                        </m:r>
                      </m:sup>
                    </m:sSup>
                    <m:r>
                      <a:rPr lang="en-US" sz="1200" b="0" i="1" smtClean="0">
                        <a:solidFill>
                          <a:schemeClr val="tx1"/>
                        </a:solidFill>
                        <a:latin typeface="Cambria Math" panose="02040503050406030204" pitchFamily="18" charset="0"/>
                      </a:rPr>
                      <m:t> </m:t>
                    </m:r>
                    <m:r>
                      <m:rPr>
                        <m:sty m:val="p"/>
                      </m:rPr>
                      <a:rPr lang="en-US" sz="1200" b="0" i="0" smtClean="0">
                        <a:solidFill>
                          <a:schemeClr val="tx1"/>
                        </a:solidFill>
                        <a:latin typeface="Cambria Math" panose="02040503050406030204" pitchFamily="18" charset="0"/>
                      </a:rPr>
                      <m:t>mod</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𝑁</m:t>
                    </m:r>
                  </m:oMath>
                </a14:m>
                <a:r>
                  <a:rPr lang="en-ZA" b="0" dirty="0"/>
                  <a:t> can be found using a classical method.</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algn="just"/>
                <a:r>
                  <a:rPr lang="en-ZA" dirty="0"/>
                  <a:t>Starting with </a:t>
                </a:r>
                <a14:m>
                  <m:oMath xmlns:m="http://schemas.openxmlformats.org/officeDocument/2006/math">
                    <m:r>
                      <a:rPr lang="en-US" sz="1200" b="0" i="1" smtClean="0">
                        <a:solidFill>
                          <a:schemeClr val="tx1"/>
                        </a:solidFill>
                        <a:latin typeface="Cambria Math" panose="02040503050406030204" pitchFamily="18" charset="0"/>
                      </a:rPr>
                      <m:t>𝑓</m:t>
                    </m:r>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0</m:t>
                        </m:r>
                      </m:e>
                    </m:d>
                    <m:r>
                      <a:rPr lang="en-US" sz="1200" b="0" i="1" smtClean="0">
                        <a:solidFill>
                          <a:schemeClr val="tx1"/>
                        </a:solidFill>
                        <a:latin typeface="Cambria Math" panose="02040503050406030204" pitchFamily="18" charset="0"/>
                      </a:rPr>
                      <m:t>=1</m:t>
                    </m:r>
                  </m:oMath>
                </a14:m>
                <a:r>
                  <a:rPr lang="en-ZA" dirty="0"/>
                  <a:t>, the function is evaluated step by step as </a:t>
                </a:r>
                <a14:m>
                  <m:oMath xmlns:m="http://schemas.openxmlformats.org/officeDocument/2006/math">
                    <m:r>
                      <a:rPr lang="en-US" sz="1200" b="0" i="1" smtClean="0">
                        <a:solidFill>
                          <a:schemeClr val="tx1"/>
                        </a:solidFill>
                        <a:latin typeface="Cambria Math" panose="02040503050406030204" pitchFamily="18" charset="0"/>
                      </a:rPr>
                      <m:t>𝑥</m:t>
                    </m:r>
                  </m:oMath>
                </a14:m>
                <a:r>
                  <a:rPr lang="en-ZA" dirty="0"/>
                  <a:t> increases. Eventually, the sequence returns to 1 and begins to repeat. The smallest positive value of </a:t>
                </a:r>
                <a14:m>
                  <m:oMath xmlns:m="http://schemas.openxmlformats.org/officeDocument/2006/math">
                    <m:r>
                      <a:rPr lang="en-US" sz="1200" b="0" i="1" smtClean="0">
                        <a:solidFill>
                          <a:schemeClr val="tx1"/>
                        </a:solidFill>
                        <a:latin typeface="Cambria Math" panose="02040503050406030204" pitchFamily="18" charset="0"/>
                      </a:rPr>
                      <m:t>𝑥</m:t>
                    </m:r>
                  </m:oMath>
                </a14:m>
                <a:r>
                  <a:rPr lang="en-ZA" dirty="0"/>
                  <a:t> for which this happens gives the </a:t>
                </a:r>
                <a:r>
                  <a:rPr lang="en-ZA" b="0" dirty="0"/>
                  <a:t>period</a:t>
                </a:r>
                <a:r>
                  <a:rPr lang="en-ZA" b="1" dirty="0"/>
                  <a:t> </a:t>
                </a:r>
                <a14:m>
                  <m:oMath xmlns:m="http://schemas.openxmlformats.org/officeDocument/2006/math">
                    <m:r>
                      <a:rPr lang="en-US" sz="1200" b="0" i="1" smtClean="0">
                        <a:solidFill>
                          <a:schemeClr val="tx1"/>
                        </a:solidFill>
                        <a:latin typeface="Cambria Math" panose="02040503050406030204" pitchFamily="18" charset="0"/>
                      </a:rPr>
                      <m:t>𝑟</m:t>
                    </m:r>
                  </m:oMath>
                </a14:m>
                <a:r>
                  <a:rPr lang="en-ZA" dirty="0"/>
                  <a:t>.</a:t>
                </a:r>
              </a:p>
              <a:p>
                <a:pPr algn="just"/>
                <a:endParaRPr lang="en-ZA" dirty="0"/>
              </a:p>
              <a:p>
                <a:pPr algn="just"/>
                <a:r>
                  <a:rPr lang="en-ZA" dirty="0"/>
                  <a:t>In this example, the function first returns to 1 at </a:t>
                </a:r>
                <a14:m>
                  <m:oMath xmlns:m="http://schemas.openxmlformats.org/officeDocument/2006/math">
                    <m:r>
                      <a:rPr lang="en-US" sz="1200" b="0" i="1" smtClean="0">
                        <a:solidFill>
                          <a:schemeClr val="tx1"/>
                        </a:solidFill>
                        <a:latin typeface="Cambria Math" panose="02040503050406030204" pitchFamily="18" charset="0"/>
                      </a:rPr>
                      <m:t>𝑥</m:t>
                    </m:r>
                    <m:r>
                      <a:rPr lang="en-US" sz="1200" b="0" i="1" smtClean="0">
                        <a:solidFill>
                          <a:schemeClr val="tx1"/>
                        </a:solidFill>
                        <a:latin typeface="Cambria Math" panose="02040503050406030204" pitchFamily="18" charset="0"/>
                      </a:rPr>
                      <m:t>=4</m:t>
                    </m:r>
                  </m:oMath>
                </a14:m>
                <a:r>
                  <a:rPr lang="en-ZA" dirty="0"/>
                  <a:t>. So the period of the function is 4.</a:t>
                </a:r>
              </a:p>
            </p:txBody>
          </p:sp>
        </mc:Choice>
        <mc:Fallback xmlns="">
          <p:sp>
            <p:nvSpPr>
              <p:cNvPr id="3" name="Notes Placeholder 2"/>
              <p:cNvSpPr>
                <a:spLocks noGrp="1"/>
              </p:cNvSpPr>
              <p:nvPr>
                <p:ph type="body" idx="1"/>
              </p:nvPr>
            </p:nvSpPr>
            <p:spPr/>
            <p:txBody>
              <a:bodyPr/>
              <a:lstStyle/>
              <a:p>
                <a:r>
                  <a:rPr lang="en-US" sz="2200" dirty="0"/>
                  <a:t>The</a:t>
                </a:r>
                <a:r>
                  <a:rPr lang="en-US" sz="2200" baseline="0" dirty="0"/>
                  <a:t> simplest way to find the period of the </a:t>
                </a:r>
                <a:r>
                  <a:rPr lang="en-US" sz="2200" dirty="0"/>
                  <a:t>modular exponential function </a:t>
                </a:r>
                <a:r>
                  <a:rPr lang="en-US" sz="2200" b="0" i="0">
                    <a:latin typeface="Cambria Math" panose="02040503050406030204" pitchFamily="18" charset="0"/>
                  </a:rPr>
                  <a:t>𝑎^𝑥 (𝑚𝑜𝑑 𝑁)</a:t>
                </a:r>
                <a:r>
                  <a:rPr lang="en-US" sz="2200" dirty="0"/>
                  <a:t>  </a:t>
                </a:r>
                <a:r>
                  <a:rPr lang="en-US" sz="2200" baseline="0" dirty="0"/>
                  <a:t>is to calculate function values and observe at which input value function starts repeating. For x=0 the function value is 1, so we need to find the next x for which function value will be 1 again.</a:t>
                </a:r>
              </a:p>
              <a:p>
                <a:endParaRPr lang="en-US" sz="2200" baseline="0" dirty="0"/>
              </a:p>
              <a:p>
                <a:r>
                  <a:rPr lang="en-US" sz="2200" baseline="0" dirty="0"/>
                  <a:t>In our example, for a=7 and N=15, we can make a table of function’s input and output values and draw the function graph. The table and the graph shows that distance between repetition is 4, so the period </a:t>
                </a:r>
                <a:r>
                  <a:rPr lang="en-US" sz="2200" b="1" i="1" baseline="0" dirty="0"/>
                  <a:t>r</a:t>
                </a:r>
                <a:r>
                  <a:rPr lang="en-US" sz="2200" baseline="0" dirty="0"/>
                  <a:t> which we need for the algorithm, is 4.</a:t>
                </a:r>
              </a:p>
              <a:p>
                <a:r>
                  <a:rPr lang="en-US" sz="2200" baseline="0" dirty="0"/>
                  <a:t>In general, for large </a:t>
                </a:r>
                <a:r>
                  <a:rPr lang="en-US" sz="2200" b="0" i="0">
                    <a:latin typeface="Cambria Math" panose="02040503050406030204" pitchFamily="18" charset="0"/>
                  </a:rPr>
                  <a:t>𝑁</a:t>
                </a:r>
                <a:r>
                  <a:rPr lang="en-US" sz="2200" baseline="0" dirty="0"/>
                  <a:t>, the period finding is the most time consuming part of the algorithm and it cannot be done on classical computer in the reasonable time. </a:t>
                </a:r>
                <a:endParaRPr lang="en-US" sz="2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39</a:t>
            </a:fld>
            <a:endParaRPr lang="en-US"/>
          </a:p>
        </p:txBody>
      </p:sp>
    </p:spTree>
    <p:extLst>
      <p:ext uri="{BB962C8B-B14F-4D97-AF65-F5344CB8AC3E}">
        <p14:creationId xmlns:p14="http://schemas.microsoft.com/office/powerpoint/2010/main" val="9912331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solidFill>
                      <a:schemeClr val="tx1"/>
                    </a:solidFill>
                  </a:rPr>
                  <a:t>By combining these mathematical principles into a coherent procedure, Shor’s algorithm can be represented by a flowchart for factoring a semiprime number</a:t>
                </a:r>
                <a:r>
                  <a:rPr lang="en-ZA" b="0" dirty="0">
                    <a:solidFill>
                      <a:schemeClr val="tx1"/>
                    </a:solidFill>
                  </a:rPr>
                  <a:t>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𝑁</m:t>
                    </m:r>
                  </m:oMath>
                </a14:m>
                <a:r>
                  <a:rPr lang="en-ZA" b="0" dirty="0">
                    <a:solidFill>
                      <a:schemeClr val="tx1"/>
                    </a:solidFill>
                  </a:rPr>
                  <a:t>.</a:t>
                </a:r>
              </a:p>
              <a:p>
                <a:pPr algn="just"/>
                <a:endParaRPr lang="en-ZA" b="0" dirty="0">
                  <a:solidFill>
                    <a:schemeClr val="tx1"/>
                  </a:solidFill>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solidFill>
                      <a:schemeClr val="tx1"/>
                    </a:solidFill>
                  </a:rPr>
                  <a:t>The algorithm begins by selecting a random integer a such that</a:t>
                </a:r>
                <a14:m>
                  <m:oMath xmlns:m="http://schemas.openxmlformats.org/officeDocument/2006/math">
                    <m:r>
                      <a:rPr lang="en-US" sz="1100" b="0" i="0" smtClean="0">
                        <a:solidFill>
                          <a:schemeClr val="tx1"/>
                        </a:solidFill>
                        <a:latin typeface="Cambria Math" panose="02040503050406030204" pitchFamily="18" charset="0"/>
                        <a:ea typeface="Cambria Math" panose="02040503050406030204" pitchFamily="18" charset="0"/>
                      </a:rPr>
                      <m:t> 1</m:t>
                    </m:r>
                    <m:r>
                      <a:rPr lang="en-US" sz="1100" i="1">
                        <a:solidFill>
                          <a:schemeClr val="tx1"/>
                        </a:solidFill>
                        <a:latin typeface="Cambria Math" panose="02040503050406030204" pitchFamily="18" charset="0"/>
                        <a:ea typeface="Cambria Math" panose="02040503050406030204" pitchFamily="18" charset="0"/>
                      </a:rPr>
                      <m:t>&lt;</m:t>
                    </m:r>
                    <m:r>
                      <a:rPr lang="en-US" sz="1200" b="0" i="1" smtClean="0">
                        <a:solidFill>
                          <a:schemeClr val="tx1"/>
                        </a:solidFill>
                        <a:latin typeface="Cambria Math" panose="02040503050406030204" pitchFamily="18" charset="0"/>
                        <a:ea typeface="Cambria Math" panose="02040503050406030204" pitchFamily="18" charset="0"/>
                      </a:rPr>
                      <m:t>𝑎</m:t>
                    </m:r>
                    <m:r>
                      <a:rPr lang="en-US" sz="1200" i="1">
                        <a:solidFill>
                          <a:schemeClr val="tx1"/>
                        </a:solidFill>
                        <a:latin typeface="Cambria Math" panose="02040503050406030204" pitchFamily="18" charset="0"/>
                        <a:ea typeface="Cambria Math" panose="02040503050406030204" pitchFamily="18" charset="0"/>
                      </a:rPr>
                      <m:t>&lt;</m:t>
                    </m:r>
                    <m:r>
                      <a:rPr lang="en-US" sz="1200" i="1">
                        <a:solidFill>
                          <a:schemeClr val="tx1"/>
                        </a:solidFill>
                        <a:latin typeface="Cambria Math" panose="02040503050406030204" pitchFamily="18" charset="0"/>
                        <a:ea typeface="Cambria Math" panose="02040503050406030204" pitchFamily="18" charset="0"/>
                      </a:rPr>
                      <m:t>𝑁</m:t>
                    </m:r>
                  </m:oMath>
                </a14:m>
                <a:r>
                  <a:rPr lang="en-ZA" b="0" dirty="0">
                    <a:solidFill>
                      <a:schemeClr val="tx1"/>
                    </a:solidFill>
                  </a:rPr>
                  <a:t>.</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ZA" b="0" dirty="0">
                  <a:solidFill>
                    <a:schemeClr val="tx1"/>
                  </a:solidFill>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solidFill>
                      <a:schemeClr val="tx1"/>
                    </a:solidFill>
                  </a:rPr>
                  <a:t>The value </a:t>
                </a:r>
                <a14:m>
                  <m:oMath xmlns:m="http://schemas.openxmlformats.org/officeDocument/2006/math">
                    <m:r>
                      <m:rPr>
                        <m:sty m:val="p"/>
                      </m:rPr>
                      <a:rPr lang="en-US" sz="1200" b="0" i="0" smtClean="0">
                        <a:solidFill>
                          <a:schemeClr val="tx1"/>
                        </a:solidFill>
                        <a:latin typeface="Cambria Math" panose="02040503050406030204" pitchFamily="18" charset="0"/>
                        <a:ea typeface="Cambria Math" panose="02040503050406030204" pitchFamily="18" charset="0"/>
                      </a:rPr>
                      <m:t>gcd</m:t>
                    </m:r>
                    <m:d>
                      <m:dPr>
                        <m:ctrlPr>
                          <a:rPr lang="en-US" sz="120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𝑎</m:t>
                        </m:r>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𝑁</m:t>
                        </m:r>
                      </m:e>
                    </m:d>
                  </m:oMath>
                </a14:m>
                <a:r>
                  <a:rPr lang="en-ZA" dirty="0">
                    <a:solidFill>
                      <a:schemeClr val="tx1"/>
                    </a:solidFill>
                  </a:rPr>
                  <a:t> is calculated. If </a:t>
                </a:r>
                <a14:m>
                  <m:oMath xmlns:m="http://schemas.openxmlformats.org/officeDocument/2006/math">
                    <m:r>
                      <m:rPr>
                        <m:sty m:val="p"/>
                      </m:rPr>
                      <a:rPr lang="en-US" sz="1200" b="0" i="0" smtClean="0">
                        <a:solidFill>
                          <a:schemeClr val="tx1"/>
                        </a:solidFill>
                        <a:latin typeface="Cambria Math" panose="02040503050406030204" pitchFamily="18" charset="0"/>
                        <a:ea typeface="Cambria Math" panose="02040503050406030204" pitchFamily="18" charset="0"/>
                      </a:rPr>
                      <m:t>gcd</m:t>
                    </m:r>
                    <m:d>
                      <m:dPr>
                        <m:ctrlPr>
                          <a:rPr lang="en-US" sz="120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𝑎</m:t>
                        </m:r>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𝑁</m:t>
                        </m:r>
                      </m:e>
                    </m:d>
                    <m:r>
                      <a:rPr lang="en-US" sz="1200" b="0" i="1" smtClean="0">
                        <a:solidFill>
                          <a:schemeClr val="tx1"/>
                        </a:solidFill>
                        <a:latin typeface="Cambria Math" panose="02040503050406030204" pitchFamily="18" charset="0"/>
                        <a:ea typeface="Cambria Math" panose="02040503050406030204" pitchFamily="18" charset="0"/>
                      </a:rPr>
                      <m:t>&gt;1</m:t>
                    </m:r>
                  </m:oMath>
                </a14:m>
                <a:r>
                  <a:rPr lang="en-ZA" dirty="0">
                    <a:solidFill>
                      <a:schemeClr val="tx1"/>
                    </a:solidFill>
                  </a:rPr>
                  <a:t> </a:t>
                </a:r>
                <a:r>
                  <a:rPr lang="en-ZA" dirty="0"/>
                  <a:t>then a nontrivial factor of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𝑁</m:t>
                    </m:r>
                  </m:oMath>
                </a14:m>
                <a:r>
                  <a:rPr lang="en-ZA" dirty="0"/>
                  <a:t> has already been found, and the other factor is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𝑁</m:t>
                    </m:r>
                    <m:r>
                      <a:rPr lang="en-US" sz="1200" b="0" i="1" smtClean="0">
                        <a:solidFill>
                          <a:schemeClr val="tx1"/>
                        </a:solidFill>
                        <a:latin typeface="Cambria Math" panose="02040503050406030204" pitchFamily="18" charset="0"/>
                        <a:ea typeface="Cambria Math" panose="02040503050406030204" pitchFamily="18" charset="0"/>
                      </a:rPr>
                      <m:t>/</m:t>
                    </m:r>
                    <m:r>
                      <m:rPr>
                        <m:sty m:val="p"/>
                      </m:rPr>
                      <a:rPr lang="en-US" sz="1200" b="0" i="0" smtClean="0">
                        <a:solidFill>
                          <a:schemeClr val="tx1"/>
                        </a:solidFill>
                        <a:latin typeface="Cambria Math" panose="02040503050406030204" pitchFamily="18" charset="0"/>
                        <a:ea typeface="Cambria Math" panose="02040503050406030204" pitchFamily="18" charset="0"/>
                      </a:rPr>
                      <m:t>gcd</m:t>
                    </m:r>
                    <m:d>
                      <m:dPr>
                        <m:ctrlPr>
                          <a:rPr lang="en-US" sz="120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𝑎</m:t>
                        </m:r>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𝑁</m:t>
                        </m:r>
                      </m:e>
                    </m:d>
                  </m:oMath>
                </a14:m>
                <a:r>
                  <a:rPr lang="en-ZA" dirty="0">
                    <a:solidFill>
                      <a:schemeClr val="tx1"/>
                    </a:solidFill>
                  </a:rPr>
                  <a:t>. </a:t>
                </a:r>
                <a:r>
                  <a:rPr lang="en-ZA" dirty="0"/>
                  <a:t>Otherwise,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𝑎</m:t>
                    </m:r>
                  </m:oMath>
                </a14:m>
                <a:r>
                  <a:rPr lang="en-ZA" dirty="0"/>
                  <a:t> and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𝑁</m:t>
                    </m:r>
                  </m:oMath>
                </a14:m>
                <a:r>
                  <a:rPr lang="en-ZA" dirty="0"/>
                  <a:t> are coprime, and the algorithm continues.</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ZA" dirty="0">
                  <a:solidFill>
                    <a:schemeClr val="tx1"/>
                  </a:solidFill>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t>The next step is the </a:t>
                </a:r>
                <a:r>
                  <a:rPr lang="en-ZA" b="1" dirty="0"/>
                  <a:t>quantum core of Shor’s algorithm</a:t>
                </a:r>
                <a:r>
                  <a:rPr lang="en-ZA" dirty="0"/>
                  <a:t>: finding the period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𝑟</m:t>
                    </m:r>
                  </m:oMath>
                </a14:m>
                <a:r>
                  <a:rPr lang="en-ZA" dirty="0"/>
                  <a:t> of the modular exponential function </a:t>
                </a:r>
                <a14:m>
                  <m:oMath xmlns:m="http://schemas.openxmlformats.org/officeDocument/2006/math">
                    <m:sSup>
                      <m:sSupPr>
                        <m:ctrlPr>
                          <a:rPr lang="en-US" sz="1200" i="1" smtClean="0">
                            <a:solidFill>
                              <a:srgbClr val="002060"/>
                            </a:solidFill>
                            <a:latin typeface="Cambria Math" panose="02040503050406030204" pitchFamily="18" charset="0"/>
                          </a:rPr>
                        </m:ctrlPr>
                      </m:sSupPr>
                      <m:e>
                        <m:r>
                          <a:rPr lang="en-US" sz="1200" b="0" i="1" smtClean="0">
                            <a:solidFill>
                              <a:srgbClr val="002060"/>
                            </a:solidFill>
                            <a:latin typeface="Cambria Math" panose="02040503050406030204" pitchFamily="18" charset="0"/>
                          </a:rPr>
                          <m:t>𝑎</m:t>
                        </m:r>
                      </m:e>
                      <m:sup>
                        <m:r>
                          <a:rPr lang="en-US" sz="1200" b="0" i="1" smtClean="0">
                            <a:solidFill>
                              <a:srgbClr val="002060"/>
                            </a:solidFill>
                            <a:latin typeface="Cambria Math" panose="02040503050406030204" pitchFamily="18" charset="0"/>
                          </a:rPr>
                          <m:t>𝑥</m:t>
                        </m:r>
                      </m:sup>
                    </m:sSup>
                    <m:r>
                      <a:rPr lang="en-US" sz="1200" i="1" smtClean="0">
                        <a:solidFill>
                          <a:schemeClr val="tx1"/>
                        </a:solidFill>
                        <a:latin typeface="Cambria Math" panose="02040503050406030204" pitchFamily="18" charset="0"/>
                        <a:ea typeface="Cambria Math" panose="02040503050406030204" pitchFamily="18" charset="0"/>
                      </a:rPr>
                      <m:t> </m:t>
                    </m:r>
                    <m:r>
                      <m:rPr>
                        <m:sty m:val="p"/>
                      </m:rPr>
                      <a:rPr lang="en-US" sz="1200" i="0">
                        <a:solidFill>
                          <a:srgbClr val="002060"/>
                        </a:solidFill>
                        <a:latin typeface="Cambria Math" panose="02040503050406030204" pitchFamily="18" charset="0"/>
                      </a:rPr>
                      <m:t>mod</m:t>
                    </m:r>
                    <m:r>
                      <a:rPr lang="en-US" sz="1200" i="1">
                        <a:solidFill>
                          <a:srgbClr val="002060"/>
                        </a:solidFill>
                        <a:latin typeface="Cambria Math" panose="02040503050406030204" pitchFamily="18" charset="0"/>
                      </a:rPr>
                      <m:t> </m:t>
                    </m:r>
                    <m:r>
                      <a:rPr lang="en-US" sz="1200" i="1">
                        <a:solidFill>
                          <a:srgbClr val="002060"/>
                        </a:solidFill>
                        <a:latin typeface="Cambria Math" panose="02040503050406030204" pitchFamily="18" charset="0"/>
                      </a:rPr>
                      <m:t>𝑁</m:t>
                    </m:r>
                  </m:oMath>
                </a14:m>
                <a:r>
                  <a:rPr lang="en-ZA" dirty="0">
                    <a:solidFill>
                      <a:schemeClr val="tx1"/>
                    </a:solidFill>
                  </a:rPr>
                  <a:t>. T</a:t>
                </a:r>
                <a:r>
                  <a:rPr lang="en-ZA" dirty="0"/>
                  <a:t>his is the part performed using quantum period finding.</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ZA" dirty="0">
                  <a:solidFill>
                    <a:schemeClr val="tx1"/>
                  </a:solidFill>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t>For the period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𝑟</m:t>
                    </m:r>
                  </m:oMath>
                </a14:m>
                <a:r>
                  <a:rPr lang="en-ZA" dirty="0"/>
                  <a:t> to produce nontrivial factors, two conditions must be satisfied:</a:t>
                </a:r>
              </a:p>
              <a:p>
                <a:pPr marL="685800" marR="0" lvl="1" indent="-2286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𝑟</m:t>
                    </m:r>
                  </m:oMath>
                </a14:m>
                <a:r>
                  <a:rPr lang="en-ZA" dirty="0"/>
                  <a:t> must be </a:t>
                </a:r>
                <a:r>
                  <a:rPr lang="en-ZA" b="0" dirty="0"/>
                  <a:t>even</a:t>
                </a:r>
                <a:r>
                  <a:rPr lang="en-ZA" dirty="0"/>
                  <a:t>, so that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𝑟</m:t>
                    </m:r>
                    <m:r>
                      <a:rPr lang="en-US" sz="1200" b="0" i="1" smtClean="0">
                        <a:solidFill>
                          <a:schemeClr val="tx1"/>
                        </a:solidFill>
                        <a:latin typeface="Cambria Math" panose="02040503050406030204" pitchFamily="18" charset="0"/>
                        <a:ea typeface="Cambria Math" panose="02040503050406030204" pitchFamily="18" charset="0"/>
                      </a:rPr>
                      <m:t>/2</m:t>
                    </m:r>
                  </m:oMath>
                </a14:m>
                <a:r>
                  <a:rPr lang="en-ZA" dirty="0"/>
                  <a:t> is an integer.</a:t>
                </a:r>
              </a:p>
              <a:p>
                <a:pPr marL="685800" marR="0" lvl="1" indent="-2286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sSup>
                      <m:sSupPr>
                        <m:ctrlPr>
                          <a:rPr lang="en-US" sz="120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  </m:t>
                        </m:r>
                        <m:r>
                          <a:rPr lang="en-US" sz="1200" i="1">
                            <a:solidFill>
                              <a:schemeClr val="tx1"/>
                            </a:solidFill>
                            <a:latin typeface="Cambria Math" panose="02040503050406030204" pitchFamily="18" charset="0"/>
                            <a:ea typeface="Cambria Math" panose="02040503050406030204" pitchFamily="18" charset="0"/>
                          </a:rPr>
                          <m:t>𝑎</m:t>
                        </m:r>
                      </m:e>
                      <m:sup>
                        <m:r>
                          <a:rPr lang="en-US" sz="1200" i="1">
                            <a:solidFill>
                              <a:schemeClr val="tx1"/>
                            </a:solidFill>
                            <a:latin typeface="Cambria Math" panose="02040503050406030204" pitchFamily="18" charset="0"/>
                            <a:ea typeface="Cambria Math" panose="02040503050406030204" pitchFamily="18" charset="0"/>
                          </a:rPr>
                          <m:t>𝑟</m:t>
                        </m:r>
                        <m:r>
                          <a:rPr lang="en-US" sz="1200" i="1">
                            <a:solidFill>
                              <a:schemeClr val="tx1"/>
                            </a:solidFill>
                            <a:latin typeface="Cambria Math" panose="02040503050406030204" pitchFamily="18" charset="0"/>
                            <a:ea typeface="Cambria Math" panose="02040503050406030204" pitchFamily="18" charset="0"/>
                          </a:rPr>
                          <m:t>/2</m:t>
                        </m:r>
                      </m:sup>
                    </m:sSup>
                    <m:r>
                      <a:rPr lang="en-US" sz="1100" i="1">
                        <a:solidFill>
                          <a:schemeClr val="tx1"/>
                        </a:solidFill>
                        <a:latin typeface="Cambria Math" panose="02040503050406030204" pitchFamily="18" charset="0"/>
                        <a:ea typeface="Cambria Math" panose="02040503050406030204" pitchFamily="18" charset="0"/>
                      </a:rPr>
                      <m:t>≢</m:t>
                    </m:r>
                    <m:r>
                      <a:rPr lang="en-US" sz="1100" b="0" i="1" smtClean="0">
                        <a:solidFill>
                          <a:schemeClr val="tx1"/>
                        </a:solidFill>
                        <a:latin typeface="Cambria Math" panose="02040503050406030204" pitchFamily="18" charset="0"/>
                        <a:ea typeface="Cambria Math" panose="02040503050406030204" pitchFamily="18" charset="0"/>
                      </a:rPr>
                      <m:t>−1</m:t>
                    </m:r>
                    <m:r>
                      <a:rPr lang="en-US" sz="1200" i="1">
                        <a:solidFill>
                          <a:schemeClr val="tx1"/>
                        </a:solidFill>
                        <a:latin typeface="Cambria Math" panose="02040503050406030204" pitchFamily="18" charset="0"/>
                        <a:ea typeface="Cambria Math" panose="02040503050406030204" pitchFamily="18" charset="0"/>
                      </a:rPr>
                      <m:t> </m:t>
                    </m:r>
                    <m:d>
                      <m:dPr>
                        <m:ctrlPr>
                          <a:rPr lang="en-US" sz="1200" i="1">
                            <a:solidFill>
                              <a:schemeClr val="tx1"/>
                            </a:solidFill>
                            <a:latin typeface="Cambria Math" panose="02040503050406030204" pitchFamily="18" charset="0"/>
                            <a:ea typeface="Cambria Math" panose="02040503050406030204" pitchFamily="18" charset="0"/>
                          </a:rPr>
                        </m:ctrlPr>
                      </m:dPr>
                      <m:e>
                        <m:r>
                          <m:rPr>
                            <m:sty m:val="p"/>
                          </m:rPr>
                          <a:rPr lang="en-US" sz="1200" i="0">
                            <a:solidFill>
                              <a:schemeClr val="tx1"/>
                            </a:solidFill>
                            <a:latin typeface="Cambria Math" panose="02040503050406030204" pitchFamily="18" charset="0"/>
                            <a:ea typeface="Cambria Math" panose="02040503050406030204" pitchFamily="18" charset="0"/>
                          </a:rPr>
                          <m:t>mod</m:t>
                        </m:r>
                        <m:r>
                          <a:rPr lang="en-US" sz="1200" i="1">
                            <a:solidFill>
                              <a:schemeClr val="tx1"/>
                            </a:solidFill>
                            <a:latin typeface="Cambria Math" panose="02040503050406030204" pitchFamily="18" charset="0"/>
                            <a:ea typeface="Cambria Math" panose="02040503050406030204" pitchFamily="18" charset="0"/>
                          </a:rPr>
                          <m:t> </m:t>
                        </m:r>
                        <m:r>
                          <a:rPr lang="en-US" sz="1200" i="1">
                            <a:solidFill>
                              <a:schemeClr val="tx1"/>
                            </a:solidFill>
                            <a:latin typeface="Cambria Math" panose="02040503050406030204" pitchFamily="18" charset="0"/>
                            <a:ea typeface="Cambria Math" panose="02040503050406030204" pitchFamily="18" charset="0"/>
                          </a:rPr>
                          <m:t>𝑁</m:t>
                        </m:r>
                      </m:e>
                    </m:d>
                  </m:oMath>
                </a14:m>
                <a:r>
                  <a:rPr lang="en-US" sz="1200" dirty="0">
                    <a:solidFill>
                      <a:schemeClr val="tx1"/>
                    </a:solidFill>
                    <a:ea typeface="Cambria Math" panose="02040503050406030204" pitchFamily="18" charset="0"/>
                  </a:rPr>
                  <a:t>, </a:t>
                </a:r>
                <a:r>
                  <a:rPr lang="en-ZA" sz="1200" dirty="0">
                    <a:solidFill>
                      <a:schemeClr val="tx1"/>
                    </a:solidFill>
                    <a:ea typeface="+mn-ea"/>
                  </a:rPr>
                  <a:t>so </a:t>
                </a:r>
                <a:r>
                  <a:rPr lang="en-ZA" dirty="0"/>
                  <a:t>that </a:t>
                </a:r>
                <a14:m>
                  <m:oMath xmlns:m="http://schemas.openxmlformats.org/officeDocument/2006/math">
                    <m:sSup>
                      <m:sSupPr>
                        <m:ctrlPr>
                          <a:rPr lang="en-US" sz="120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  </m:t>
                        </m:r>
                        <m:r>
                          <a:rPr lang="en-US" sz="1200" i="1">
                            <a:solidFill>
                              <a:schemeClr val="tx1"/>
                            </a:solidFill>
                            <a:latin typeface="Cambria Math" panose="02040503050406030204" pitchFamily="18" charset="0"/>
                            <a:ea typeface="Cambria Math" panose="02040503050406030204" pitchFamily="18" charset="0"/>
                          </a:rPr>
                          <m:t>𝑎</m:t>
                        </m:r>
                      </m:e>
                      <m:sup>
                        <m:r>
                          <a:rPr lang="en-US" sz="1200" i="1">
                            <a:solidFill>
                              <a:schemeClr val="tx1"/>
                            </a:solidFill>
                            <a:latin typeface="Cambria Math" panose="02040503050406030204" pitchFamily="18" charset="0"/>
                            <a:ea typeface="Cambria Math" panose="02040503050406030204" pitchFamily="18" charset="0"/>
                          </a:rPr>
                          <m:t>𝑟</m:t>
                        </m:r>
                        <m:r>
                          <a:rPr lang="en-US" sz="1200" i="1">
                            <a:solidFill>
                              <a:schemeClr val="tx1"/>
                            </a:solidFill>
                            <a:latin typeface="Cambria Math" panose="02040503050406030204" pitchFamily="18" charset="0"/>
                            <a:ea typeface="Cambria Math" panose="02040503050406030204" pitchFamily="18" charset="0"/>
                          </a:rPr>
                          <m:t>/2</m:t>
                        </m:r>
                      </m:sup>
                    </m:sSup>
                    <m:r>
                      <a:rPr lang="en-US" sz="1200" b="0" i="1" smtClean="0">
                        <a:solidFill>
                          <a:schemeClr val="tx1"/>
                        </a:solidFill>
                        <a:latin typeface="Cambria Math" panose="02040503050406030204" pitchFamily="18" charset="0"/>
                        <a:ea typeface="Cambria Math" panose="02040503050406030204" pitchFamily="18" charset="0"/>
                      </a:rPr>
                      <m:t>+1</m:t>
                    </m:r>
                  </m:oMath>
                </a14:m>
                <a:r>
                  <a:rPr lang="en-ZA" dirty="0"/>
                  <a:t> is </a:t>
                </a:r>
                <a:r>
                  <a:rPr lang="en-ZA" b="0" dirty="0"/>
                  <a:t>not</a:t>
                </a:r>
                <a:r>
                  <a:rPr lang="en-ZA" dirty="0"/>
                  <a:t> a multiple of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𝑁</m:t>
                    </m:r>
                  </m:oMath>
                </a14:m>
                <a:r>
                  <a:rPr lang="en-ZA" dirty="0"/>
                  <a:t>, avoiding the trivial factor.</a:t>
                </a:r>
                <a:endParaRPr lang="en-US" sz="1200" dirty="0">
                  <a:solidFill>
                    <a:schemeClr val="tx1"/>
                  </a:solidFill>
                  <a:ea typeface="Cambria Math" panose="02040503050406030204" pitchFamily="18" charset="0"/>
                </a:endParaRPr>
              </a:p>
              <a:p>
                <a:pPr marL="457200" marR="0" lvl="1"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dirty="0"/>
                  <a:t>If these conditions are not satisfied, another value of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𝑎</m:t>
                    </m:r>
                  </m:oMath>
                </a14:m>
                <a:r>
                  <a:rPr lang="en-ZA" dirty="0"/>
                  <a:t> is selected and the procedure is repeated.</a:t>
                </a:r>
                <a:endParaRPr lang="en-US" sz="1200" dirty="0">
                  <a:solidFill>
                    <a:schemeClr val="tx1"/>
                  </a:solidFill>
                  <a:ea typeface="Cambria Math" panose="02040503050406030204" pitchFamily="18" charset="0"/>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ZA"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t>If the conditions are satisfied, the factors can be obtained from</a:t>
                </a:r>
              </a:p>
              <a:p>
                <a:pPr marL="0" marR="0" lvl="0" indent="0" algn="just" defTabSz="914400" rtl="0" eaLnBrk="1" fontAlgn="auto" latinLnBrk="0" hangingPunct="1">
                  <a:lnSpc>
                    <a:spcPct val="100000"/>
                  </a:lnSpc>
                  <a:spcBef>
                    <a:spcPts val="0"/>
                  </a:spcBef>
                  <a:spcAft>
                    <a:spcPts val="0"/>
                  </a:spcAft>
                  <a:buClrTx/>
                  <a:buSzTx/>
                  <a:buFont typeface="+mj-lt"/>
                  <a:buNone/>
                  <a:tabLst/>
                  <a:defRPr/>
                </a:pPr>
                <a14:m>
                  <m:oMathPara xmlns:m="http://schemas.openxmlformats.org/officeDocument/2006/math">
                    <m:oMathParaPr>
                      <m:jc m:val="centerGroup"/>
                    </m:oMathParaPr>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𝑝</m:t>
                      </m:r>
                      <m:r>
                        <a:rPr lang="en-US" sz="1200" b="0" i="1" smtClean="0">
                          <a:solidFill>
                            <a:srgbClr val="002060"/>
                          </a:solidFill>
                          <a:latin typeface="Cambria Math" panose="02040503050406030204" pitchFamily="18" charset="0"/>
                          <a:ea typeface="Cambria Math" panose="02040503050406030204" pitchFamily="18" charset="0"/>
                        </a:rPr>
                        <m:t>=</m:t>
                      </m:r>
                      <m:r>
                        <a:rPr lang="en-US" sz="1200" b="0" i="1" smtClean="0">
                          <a:solidFill>
                            <a:srgbClr val="AA22FF"/>
                          </a:solidFill>
                          <a:latin typeface="Cambria Math" panose="02040503050406030204" pitchFamily="18" charset="0"/>
                          <a:ea typeface="Cambria Math" panose="02040503050406030204" pitchFamily="18" charset="0"/>
                        </a:rPr>
                        <m:t>𝑔𝑐</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a:rPr lang="en-US" sz="1200" b="0" i="1" smtClean="0">
                              <a:solidFill>
                                <a:srgbClr val="AA22FF"/>
                              </a:solidFill>
                              <a:latin typeface="Cambria Math" panose="02040503050406030204" pitchFamily="18" charset="0"/>
                              <a:ea typeface="Cambria Math" panose="02040503050406030204" pitchFamily="18" charset="0"/>
                            </a:rPr>
                            <m:t>𝑑</m:t>
                          </m:r>
                        </m:fName>
                        <m:e>
                          <m:d>
                            <m:dPr>
                              <m:ctrlPr>
                                <a:rPr lang="en-US" sz="1200" b="0" i="1" smtClean="0">
                                  <a:solidFill>
                                    <a:srgbClr val="002060"/>
                                  </a:solidFill>
                                  <a:latin typeface="Cambria Math" panose="02040503050406030204" pitchFamily="18" charset="0"/>
                                  <a:ea typeface="Cambria Math" panose="02040503050406030204" pitchFamily="18" charset="0"/>
                                </a:rPr>
                              </m:ctrlPr>
                            </m:dPr>
                            <m:e>
                              <m:sSup>
                                <m:sSupPr>
                                  <m:ctrlPr>
                                    <a:rPr lang="en-US" sz="1200" i="1">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𝑎</m:t>
                                  </m:r>
                                </m:e>
                                <m:sup>
                                  <m:f>
                                    <m:fPr>
                                      <m:ctrlPr>
                                        <a:rPr lang="en-US" sz="1200" b="0" i="1" smtClean="0">
                                          <a:solidFill>
                                            <a:srgbClr val="002060"/>
                                          </a:solidFill>
                                          <a:latin typeface="Cambria Math" panose="02040503050406030204" pitchFamily="18" charset="0"/>
                                          <a:ea typeface="Cambria Math" panose="02040503050406030204" pitchFamily="18" charset="0"/>
                                        </a:rPr>
                                      </m:ctrlPr>
                                    </m:fPr>
                                    <m:num>
                                      <m:r>
                                        <a:rPr lang="en-US" sz="1200" b="0" i="1" smtClean="0">
                                          <a:solidFill>
                                            <a:srgbClr val="002060"/>
                                          </a:solidFill>
                                          <a:latin typeface="Cambria Math" panose="02040503050406030204" pitchFamily="18" charset="0"/>
                                          <a:ea typeface="Cambria Math" panose="02040503050406030204" pitchFamily="18" charset="0"/>
                                        </a:rPr>
                                        <m:t>𝑟</m:t>
                                      </m:r>
                                    </m:num>
                                    <m:den>
                                      <m:r>
                                        <a:rPr lang="en-US" sz="1200" b="0" i="1" smtClean="0">
                                          <a:solidFill>
                                            <a:srgbClr val="002060"/>
                                          </a:solidFill>
                                          <a:latin typeface="Cambria Math" panose="02040503050406030204" pitchFamily="18" charset="0"/>
                                          <a:ea typeface="Cambria Math" panose="02040503050406030204" pitchFamily="18" charset="0"/>
                                        </a:rPr>
                                        <m:t>2</m:t>
                                      </m:r>
                                    </m:den>
                                  </m:f>
                                </m:sup>
                              </m:sSup>
                              <m:r>
                                <a:rPr lang="en-US" sz="1200" b="0" i="1" smtClean="0">
                                  <a:solidFill>
                                    <a:srgbClr val="002060"/>
                                  </a:solidFill>
                                  <a:latin typeface="Cambria Math" panose="02040503050406030204" pitchFamily="18" charset="0"/>
                                  <a:ea typeface="Cambria Math" panose="02040503050406030204" pitchFamily="18" charset="0"/>
                                </a:rPr>
                                <m:t>−1,</m:t>
                              </m:r>
                              <m:r>
                                <a:rPr lang="en-US" sz="1200" b="0" i="1" smtClean="0">
                                  <a:solidFill>
                                    <a:srgbClr val="002060"/>
                                  </a:solidFill>
                                  <a:latin typeface="Cambria Math" panose="02040503050406030204" pitchFamily="18" charset="0"/>
                                  <a:ea typeface="Cambria Math" panose="02040503050406030204" pitchFamily="18" charset="0"/>
                                </a:rPr>
                                <m:t>𝑁</m:t>
                              </m:r>
                            </m:e>
                          </m:d>
                        </m:e>
                      </m:func>
                      <m:r>
                        <a:rPr lang="en-US" sz="1200" b="0" i="1" smtClean="0">
                          <a:solidFill>
                            <a:srgbClr val="002060"/>
                          </a:solidFill>
                          <a:latin typeface="Cambria Math" panose="02040503050406030204" pitchFamily="18" charset="0"/>
                          <a:ea typeface="Cambria Math" panose="02040503050406030204" pitchFamily="18" charset="0"/>
                        </a:rPr>
                        <m:t>,  </m:t>
                      </m:r>
                      <m:r>
                        <a:rPr lang="en-US" sz="1200" b="0" i="1" smtClean="0">
                          <a:solidFill>
                            <a:srgbClr val="002060"/>
                          </a:solidFill>
                          <a:latin typeface="Cambria Math" panose="02040503050406030204" pitchFamily="18" charset="0"/>
                          <a:ea typeface="Cambria Math" panose="02040503050406030204" pitchFamily="18" charset="0"/>
                        </a:rPr>
                        <m:t>𝑞</m:t>
                      </m:r>
                      <m:r>
                        <a:rPr lang="en-US" sz="1200" b="0" i="1" smtClean="0">
                          <a:solidFill>
                            <a:srgbClr val="002060"/>
                          </a:solidFill>
                          <a:latin typeface="Cambria Math" panose="02040503050406030204" pitchFamily="18" charset="0"/>
                          <a:ea typeface="Cambria Math" panose="02040503050406030204" pitchFamily="18" charset="0"/>
                        </a:rPr>
                        <m:t>=</m:t>
                      </m:r>
                      <m:r>
                        <a:rPr lang="en-US" sz="1200" b="0" i="1" smtClean="0">
                          <a:solidFill>
                            <a:srgbClr val="AA22FF"/>
                          </a:solidFill>
                          <a:latin typeface="Cambria Math" panose="02040503050406030204" pitchFamily="18" charset="0"/>
                          <a:ea typeface="Cambria Math" panose="02040503050406030204" pitchFamily="18" charset="0"/>
                        </a:rPr>
                        <m:t>𝑔𝑐</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a:rPr lang="en-US" sz="1200" b="0" i="1" smtClean="0">
                              <a:solidFill>
                                <a:srgbClr val="AA22FF"/>
                              </a:solidFill>
                              <a:latin typeface="Cambria Math" panose="02040503050406030204" pitchFamily="18" charset="0"/>
                              <a:ea typeface="Cambria Math" panose="02040503050406030204" pitchFamily="18" charset="0"/>
                            </a:rPr>
                            <m:t>𝑑</m:t>
                          </m:r>
                        </m:fName>
                        <m:e>
                          <m:d>
                            <m:dPr>
                              <m:ctrlPr>
                                <a:rPr lang="en-US" sz="1200" b="0" i="1" smtClean="0">
                                  <a:solidFill>
                                    <a:srgbClr val="002060"/>
                                  </a:solidFill>
                                  <a:latin typeface="Cambria Math" panose="02040503050406030204" pitchFamily="18" charset="0"/>
                                  <a:ea typeface="Cambria Math" panose="02040503050406030204" pitchFamily="18" charset="0"/>
                                </a:rPr>
                              </m:ctrlPr>
                            </m:dPr>
                            <m:e>
                              <m:sSup>
                                <m:sSupPr>
                                  <m:ctrlPr>
                                    <a:rPr lang="en-US" sz="1200" i="1">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𝑎</m:t>
                                  </m:r>
                                </m:e>
                                <m:sup>
                                  <m:f>
                                    <m:fPr>
                                      <m:ctrlPr>
                                        <a:rPr lang="en-US" sz="1200" b="0" i="1" smtClean="0">
                                          <a:solidFill>
                                            <a:srgbClr val="002060"/>
                                          </a:solidFill>
                                          <a:latin typeface="Cambria Math" panose="02040503050406030204" pitchFamily="18" charset="0"/>
                                          <a:ea typeface="Cambria Math" panose="02040503050406030204" pitchFamily="18" charset="0"/>
                                        </a:rPr>
                                      </m:ctrlPr>
                                    </m:fPr>
                                    <m:num>
                                      <m:r>
                                        <a:rPr lang="en-US" sz="1200" b="0" i="1" smtClean="0">
                                          <a:solidFill>
                                            <a:srgbClr val="002060"/>
                                          </a:solidFill>
                                          <a:latin typeface="Cambria Math" panose="02040503050406030204" pitchFamily="18" charset="0"/>
                                          <a:ea typeface="Cambria Math" panose="02040503050406030204" pitchFamily="18" charset="0"/>
                                        </a:rPr>
                                        <m:t>𝑟</m:t>
                                      </m:r>
                                    </m:num>
                                    <m:den>
                                      <m:r>
                                        <a:rPr lang="en-US" sz="1200" b="0" i="1" smtClean="0">
                                          <a:solidFill>
                                            <a:srgbClr val="002060"/>
                                          </a:solidFill>
                                          <a:latin typeface="Cambria Math" panose="02040503050406030204" pitchFamily="18" charset="0"/>
                                          <a:ea typeface="Cambria Math" panose="02040503050406030204" pitchFamily="18" charset="0"/>
                                        </a:rPr>
                                        <m:t>2</m:t>
                                      </m:r>
                                    </m:den>
                                  </m:f>
                                </m:sup>
                              </m:sSup>
                              <m:r>
                                <a:rPr lang="en-US" sz="1200" b="0" i="1" smtClean="0">
                                  <a:solidFill>
                                    <a:srgbClr val="002060"/>
                                  </a:solidFill>
                                  <a:latin typeface="Cambria Math" panose="02040503050406030204" pitchFamily="18" charset="0"/>
                                  <a:ea typeface="Cambria Math" panose="02040503050406030204" pitchFamily="18" charset="0"/>
                                </a:rPr>
                                <m:t>+1,</m:t>
                              </m:r>
                              <m:r>
                                <a:rPr lang="en-US" sz="1200" b="0" i="1" smtClean="0">
                                  <a:solidFill>
                                    <a:srgbClr val="002060"/>
                                  </a:solidFill>
                                  <a:latin typeface="Cambria Math" panose="02040503050406030204" pitchFamily="18" charset="0"/>
                                  <a:ea typeface="Cambria Math" panose="02040503050406030204" pitchFamily="18" charset="0"/>
                                </a:rPr>
                                <m:t>𝑁</m:t>
                              </m:r>
                            </m:e>
                          </m:d>
                        </m:e>
                      </m:func>
                    </m:oMath>
                  </m:oMathPara>
                </a14:m>
                <a:endParaRPr lang="en-US" sz="1200" i="1" dirty="0">
                  <a:solidFill>
                    <a:srgbClr val="002060"/>
                  </a:solidFill>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dirty="0"/>
                  <a:t>Shor’s algorithm does not necessarily succeed on the first attempt. Some choices of a produce a period that does not lead to nontrivial factors. In that case, another random value of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𝑎</m:t>
                    </m:r>
                  </m:oMath>
                </a14:m>
                <a:r>
                  <a:rPr lang="en-ZA" dirty="0"/>
                  <a:t> is chosen and the procedure is repeated. Importantly, the probability of obtaining a useful result is sufficiently high that only a small number of repetitions is typically required.</a:t>
                </a:r>
              </a:p>
            </p:txBody>
          </p:sp>
        </mc:Choice>
        <mc:Fallback xmlns="">
          <p:sp>
            <p:nvSpPr>
              <p:cNvPr id="3" name="Notes Placeholder 2"/>
              <p:cNvSpPr>
                <a:spLocks noGrp="1"/>
              </p:cNvSpPr>
              <p:nvPr>
                <p:ph type="body" idx="1"/>
              </p:nvPr>
            </p:nvSpPr>
            <p:spPr/>
            <p:txBody>
              <a:bodyPr/>
              <a:lstStyle/>
              <a:p>
                <a:r>
                  <a:rPr lang="en-US" sz="2000" i="0" dirty="0">
                    <a:latin typeface="+mn-lt"/>
                  </a:rPr>
                  <a:t>Povezujuci </a:t>
                </a:r>
                <a:r>
                  <a:rPr lang="en-US" sz="2000" i="0" dirty="0" err="1">
                    <a:latin typeface="+mn-lt"/>
                  </a:rPr>
                  <a:t>opisane</a:t>
                </a:r>
                <a:r>
                  <a:rPr lang="en-US" sz="2000" i="0" dirty="0">
                    <a:latin typeface="+mn-lt"/>
                  </a:rPr>
                  <a:t> </a:t>
                </a:r>
                <a:r>
                  <a:rPr lang="en-US" sz="2000" i="0" dirty="0" err="1">
                    <a:latin typeface="+mn-lt"/>
                  </a:rPr>
                  <a:t>matematicke</a:t>
                </a:r>
                <a:r>
                  <a:rPr lang="en-US" sz="2000" i="0" dirty="0">
                    <a:latin typeface="+mn-lt"/>
                  </a:rPr>
                  <a:t> </a:t>
                </a:r>
                <a:r>
                  <a:rPr lang="en-US" sz="2000" i="0" dirty="0" err="1">
                    <a:latin typeface="+mn-lt"/>
                  </a:rPr>
                  <a:t>principe</a:t>
                </a:r>
                <a:r>
                  <a:rPr lang="en-US" sz="2000" i="0" dirty="0">
                    <a:latin typeface="+mn-lt"/>
                  </a:rPr>
                  <a:t>, </a:t>
                </a:r>
                <a:r>
                  <a:rPr lang="en-US" sz="2000" i="0" dirty="0" err="1">
                    <a:latin typeface="+mn-lt"/>
                  </a:rPr>
                  <a:t>moguce</a:t>
                </a:r>
                <a:r>
                  <a:rPr lang="en-US" sz="2000" i="0" dirty="0">
                    <a:latin typeface="+mn-lt"/>
                  </a:rPr>
                  <a:t> </a:t>
                </a:r>
                <a:r>
                  <a:rPr lang="en-US" sz="2000" i="0" dirty="0" err="1">
                    <a:latin typeface="+mn-lt"/>
                  </a:rPr>
                  <a:t>je</a:t>
                </a:r>
                <a:r>
                  <a:rPr lang="en-US" sz="2000" i="0" dirty="0">
                    <a:latin typeface="+mn-lt"/>
                  </a:rPr>
                  <a:t> </a:t>
                </a:r>
                <a:r>
                  <a:rPr lang="en-US" sz="2000" i="0" dirty="0" err="1">
                    <a:latin typeface="+mn-lt"/>
                  </a:rPr>
                  <a:t>nacrtati</a:t>
                </a:r>
                <a:r>
                  <a:rPr lang="en-US" sz="2000" i="0" dirty="0">
                    <a:latin typeface="+mn-lt"/>
                  </a:rPr>
                  <a:t> </a:t>
                </a:r>
                <a:r>
                  <a:rPr lang="en-US" sz="2000" i="0" dirty="0" err="1">
                    <a:latin typeface="+mn-lt"/>
                  </a:rPr>
                  <a:t>principijelan</a:t>
                </a:r>
                <a:r>
                  <a:rPr lang="en-US" sz="2000" i="0" dirty="0">
                    <a:latin typeface="+mn-lt"/>
                  </a:rPr>
                  <a:t> </a:t>
                </a:r>
                <a:r>
                  <a:rPr lang="en-US" sz="2000" i="0" dirty="0" err="1">
                    <a:latin typeface="+mn-lt"/>
                  </a:rPr>
                  <a:t>dijagram</a:t>
                </a:r>
                <a:r>
                  <a:rPr lang="en-US" sz="2000" i="0" dirty="0">
                    <a:latin typeface="+mn-lt"/>
                  </a:rPr>
                  <a:t> </a:t>
                </a:r>
                <a:r>
                  <a:rPr lang="en-US" sz="2000" i="0" dirty="0" err="1">
                    <a:latin typeface="+mn-lt"/>
                  </a:rPr>
                  <a:t>toka</a:t>
                </a:r>
                <a:r>
                  <a:rPr lang="en-US" sz="2000" i="0" dirty="0">
                    <a:latin typeface="+mn-lt"/>
                  </a:rPr>
                  <a:t> </a:t>
                </a:r>
                <a:r>
                  <a:rPr lang="en-US" sz="2000" i="0" dirty="0" err="1">
                    <a:latin typeface="+mn-lt"/>
                  </a:rPr>
                  <a:t>Sorovog</a:t>
                </a:r>
                <a:r>
                  <a:rPr lang="en-US" sz="2000" i="0" dirty="0">
                    <a:latin typeface="+mn-lt"/>
                  </a:rPr>
                  <a:t> </a:t>
                </a:r>
                <a:r>
                  <a:rPr lang="en-US" sz="2000" i="0" dirty="0" err="1">
                    <a:latin typeface="+mn-lt"/>
                  </a:rPr>
                  <a:t>algoritma</a:t>
                </a:r>
                <a:r>
                  <a:rPr lang="en-US" sz="2000" i="0" dirty="0">
                    <a:latin typeface="+mn-lt"/>
                  </a:rPr>
                  <a:t>. Pre </a:t>
                </a:r>
                <a:r>
                  <a:rPr lang="en-US" sz="2000" i="0" dirty="0" err="1">
                    <a:latin typeface="+mn-lt"/>
                  </a:rPr>
                  <a:t>primene</a:t>
                </a:r>
                <a:r>
                  <a:rPr lang="en-US" sz="2000" i="0" dirty="0">
                    <a:latin typeface="+mn-lt"/>
                  </a:rPr>
                  <a:t> </a:t>
                </a:r>
                <a:r>
                  <a:rPr lang="en-US" sz="2000" i="0" dirty="0" err="1">
                    <a:latin typeface="+mn-lt"/>
                  </a:rPr>
                  <a:t>algoritma</a:t>
                </a:r>
                <a:r>
                  <a:rPr lang="en-US" sz="2000" i="0" dirty="0">
                    <a:latin typeface="+mn-lt"/>
                  </a:rPr>
                  <a:t> </a:t>
                </a:r>
                <a:r>
                  <a:rPr lang="en-US" sz="2000" i="0" dirty="0" err="1">
                    <a:latin typeface="+mn-lt"/>
                  </a:rPr>
                  <a:t>prvo</a:t>
                </a:r>
                <a:r>
                  <a:rPr lang="en-US" sz="2000" i="0" dirty="0">
                    <a:latin typeface="+mn-lt"/>
                  </a:rPr>
                  <a:t> se </a:t>
                </a:r>
                <a:r>
                  <a:rPr lang="en-US" sz="2000" i="0" dirty="0" err="1">
                    <a:latin typeface="+mn-lt"/>
                  </a:rPr>
                  <a:t>proveri</a:t>
                </a:r>
                <a:r>
                  <a:rPr lang="en-US" sz="2000" i="0" dirty="0">
                    <a:latin typeface="+mn-lt"/>
                  </a:rPr>
                  <a:t> da li </a:t>
                </a:r>
                <a:r>
                  <a:rPr lang="en-US" sz="2000" i="0" dirty="0" err="1">
                    <a:latin typeface="+mn-lt"/>
                  </a:rPr>
                  <a:t>je</a:t>
                </a:r>
                <a:r>
                  <a:rPr lang="en-US" sz="2000" i="0" dirty="0">
                    <a:latin typeface="+mn-lt"/>
                  </a:rPr>
                  <a:t> </a:t>
                </a:r>
                <a:r>
                  <a:rPr lang="en-US" sz="2000" i="0">
                    <a:solidFill>
                      <a:srgbClr val="002060"/>
                    </a:solidFill>
                    <a:latin typeface="+mn-lt"/>
                    <a:ea typeface="Cambria Math" panose="02040503050406030204" pitchFamily="18" charset="0"/>
                  </a:rPr>
                  <a:t>𝑁</a:t>
                </a:r>
                <a:r>
                  <a:rPr lang="en-US" sz="2000" i="0" dirty="0">
                    <a:latin typeface="+mn-lt"/>
                  </a:rPr>
                  <a:t> </a:t>
                </a:r>
                <a:r>
                  <a:rPr lang="en-US" sz="2000" i="0" dirty="0" err="1">
                    <a:latin typeface="+mn-lt"/>
                  </a:rPr>
                  <a:t>neparan</a:t>
                </a:r>
                <a:r>
                  <a:rPr lang="en-US" sz="2000" i="0" dirty="0">
                    <a:latin typeface="+mn-lt"/>
                  </a:rPr>
                  <a:t> </a:t>
                </a:r>
                <a:r>
                  <a:rPr lang="en-US" sz="2000" i="0" dirty="0" err="1">
                    <a:latin typeface="+mn-lt"/>
                  </a:rPr>
                  <a:t>broj</a:t>
                </a:r>
                <a:r>
                  <a:rPr lang="en-US" sz="2000" i="0" dirty="0">
                    <a:latin typeface="+mn-lt"/>
                  </a:rPr>
                  <a:t>. </a:t>
                </a:r>
                <a:r>
                  <a:rPr lang="en-US" sz="2000" i="0" dirty="0" err="1">
                    <a:latin typeface="+mn-lt"/>
                  </a:rPr>
                  <a:t>Ako</a:t>
                </a:r>
                <a:r>
                  <a:rPr lang="en-US" sz="2000" i="0" dirty="0">
                    <a:latin typeface="+mn-lt"/>
                  </a:rPr>
                  <a:t> </a:t>
                </a:r>
                <a:r>
                  <a:rPr lang="en-US" sz="2000" i="0" dirty="0" err="1">
                    <a:latin typeface="+mn-lt"/>
                  </a:rPr>
                  <a:t>je</a:t>
                </a:r>
                <a:r>
                  <a:rPr lang="en-US" sz="2000" i="0" dirty="0">
                    <a:latin typeface="+mn-lt"/>
                  </a:rPr>
                  <a:t> </a:t>
                </a:r>
                <a:r>
                  <a:rPr lang="en-US" sz="2000" i="0" dirty="0" err="1">
                    <a:latin typeface="+mn-lt"/>
                  </a:rPr>
                  <a:t>paran</a:t>
                </a:r>
                <a:r>
                  <a:rPr lang="en-US" sz="2000" i="0" dirty="0">
                    <a:latin typeface="+mn-lt"/>
                  </a:rPr>
                  <a:t> </a:t>
                </a:r>
                <a:r>
                  <a:rPr lang="en-US" sz="2000" i="0" dirty="0" err="1">
                    <a:latin typeface="+mn-lt"/>
                  </a:rPr>
                  <a:t>onda</a:t>
                </a:r>
                <a:r>
                  <a:rPr lang="en-US" sz="2000" i="0" dirty="0">
                    <a:latin typeface="+mn-lt"/>
                  </a:rPr>
                  <a:t> </a:t>
                </a:r>
                <a:r>
                  <a:rPr lang="en-US" sz="2000" i="0" dirty="0" err="1">
                    <a:latin typeface="+mn-lt"/>
                  </a:rPr>
                  <a:t>odmah</a:t>
                </a:r>
                <a:r>
                  <a:rPr lang="en-US" sz="2000" i="0" dirty="0">
                    <a:latin typeface="+mn-lt"/>
                  </a:rPr>
                  <a:t> </a:t>
                </a:r>
                <a:r>
                  <a:rPr lang="en-US" sz="2000" i="0" dirty="0" err="1">
                    <a:latin typeface="+mn-lt"/>
                  </a:rPr>
                  <a:t>znamo</a:t>
                </a:r>
                <a:r>
                  <a:rPr lang="en-US" sz="2000" i="0" dirty="0">
                    <a:latin typeface="+mn-lt"/>
                  </a:rPr>
                  <a:t> da </a:t>
                </a:r>
                <a:r>
                  <a:rPr lang="en-US" sz="2000" i="0" dirty="0" err="1">
                    <a:latin typeface="+mn-lt"/>
                  </a:rPr>
                  <a:t>je</a:t>
                </a:r>
                <a:r>
                  <a:rPr lang="en-US" sz="2000" i="0" dirty="0">
                    <a:latin typeface="+mn-lt"/>
                  </a:rPr>
                  <a:t> </a:t>
                </a:r>
                <a:r>
                  <a:rPr lang="en-US" sz="2000" i="0" dirty="0" err="1">
                    <a:latin typeface="+mn-lt"/>
                  </a:rPr>
                  <a:t>jedan</a:t>
                </a:r>
                <a:r>
                  <a:rPr lang="en-US" sz="2000" i="0" dirty="0">
                    <a:latin typeface="+mn-lt"/>
                  </a:rPr>
                  <a:t> od </a:t>
                </a:r>
                <a:r>
                  <a:rPr lang="en-US" sz="2000" i="0" dirty="0" err="1">
                    <a:latin typeface="+mn-lt"/>
                  </a:rPr>
                  <a:t>faktora</a:t>
                </a:r>
                <a:r>
                  <a:rPr lang="en-US" sz="2000" i="0" dirty="0">
                    <a:latin typeface="+mn-lt"/>
                  </a:rPr>
                  <a:t> 2.</a:t>
                </a:r>
              </a:p>
              <a:p>
                <a:pPr marL="457200" indent="-457200">
                  <a:buFont typeface="+mj-lt"/>
                  <a:buAutoNum type="arabicPeriod"/>
                </a:pPr>
                <a:r>
                  <a:rPr lang="en-US" sz="2000" i="0" dirty="0" err="1">
                    <a:latin typeface="+mn-lt"/>
                  </a:rPr>
                  <a:t>Dakle</a:t>
                </a:r>
                <a:r>
                  <a:rPr lang="en-US" sz="2000" i="0" dirty="0">
                    <a:latin typeface="+mn-lt"/>
                  </a:rPr>
                  <a:t> </a:t>
                </a:r>
                <a:r>
                  <a:rPr lang="en-US" sz="2000" i="0" dirty="0" err="1">
                    <a:latin typeface="+mn-lt"/>
                  </a:rPr>
                  <a:t>algoritam</a:t>
                </a:r>
                <a:r>
                  <a:rPr lang="en-US" sz="2000" i="0" dirty="0">
                    <a:latin typeface="+mn-lt"/>
                  </a:rPr>
                  <a:t> </a:t>
                </a:r>
                <a:r>
                  <a:rPr lang="en-US" sz="2000" i="0" dirty="0" err="1">
                    <a:latin typeface="+mn-lt"/>
                  </a:rPr>
                  <a:t>pocinje</a:t>
                </a:r>
                <a:r>
                  <a:rPr lang="en-US" sz="2000" i="0" dirty="0">
                    <a:latin typeface="+mn-lt"/>
                  </a:rPr>
                  <a:t> </a:t>
                </a:r>
                <a:r>
                  <a:rPr lang="en-US" sz="2000" i="0" dirty="0" err="1">
                    <a:latin typeface="+mn-lt"/>
                  </a:rPr>
                  <a:t>izborom</a:t>
                </a:r>
                <a:r>
                  <a:rPr lang="en-US" sz="2000" i="0" dirty="0">
                    <a:latin typeface="+mn-lt"/>
                  </a:rPr>
                  <a:t> </a:t>
                </a:r>
                <a:r>
                  <a:rPr lang="en-US" sz="2000" i="0" dirty="0" err="1">
                    <a:latin typeface="+mn-lt"/>
                  </a:rPr>
                  <a:t>slicajnog</a:t>
                </a:r>
                <a:r>
                  <a:rPr lang="en-US" sz="2000" i="0" dirty="0">
                    <a:latin typeface="+mn-lt"/>
                  </a:rPr>
                  <a:t> </a:t>
                </a:r>
                <a:r>
                  <a:rPr lang="en-US" sz="2000" i="0" dirty="0" err="1">
                    <a:latin typeface="+mn-lt"/>
                  </a:rPr>
                  <a:t>primarnog</a:t>
                </a:r>
                <a:r>
                  <a:rPr lang="en-US" sz="2000" i="0" dirty="0">
                    <a:latin typeface="+mn-lt"/>
                  </a:rPr>
                  <a:t> </a:t>
                </a:r>
                <a:r>
                  <a:rPr lang="en-US" sz="2000" i="0" dirty="0" err="1">
                    <a:latin typeface="+mn-lt"/>
                  </a:rPr>
                  <a:t>broja</a:t>
                </a:r>
                <a:r>
                  <a:rPr lang="en-US" sz="2000" i="0" dirty="0">
                    <a:latin typeface="+mn-lt"/>
                  </a:rPr>
                  <a:t> </a:t>
                </a:r>
                <a:r>
                  <a:rPr lang="en-US" sz="2000" b="0" i="0">
                    <a:solidFill>
                      <a:srgbClr val="002060"/>
                    </a:solidFill>
                    <a:latin typeface="+mn-lt"/>
                    <a:ea typeface="Cambria Math" panose="02040503050406030204" pitchFamily="18" charset="0"/>
                  </a:rPr>
                  <a:t>2&lt;𝑎</a:t>
                </a:r>
                <a:r>
                  <a:rPr lang="en-US" sz="2000" i="0">
                    <a:solidFill>
                      <a:srgbClr val="002060"/>
                    </a:solidFill>
                    <a:latin typeface="+mn-lt"/>
                    <a:ea typeface="Cambria Math" panose="02040503050406030204" pitchFamily="18" charset="0"/>
                  </a:rPr>
                  <a:t>&lt;𝑁</a:t>
                </a:r>
                <a:r>
                  <a:rPr lang="en-US" sz="2000" i="0" dirty="0">
                    <a:latin typeface="+mn-lt"/>
                  </a:rPr>
                  <a:t>. </a:t>
                </a:r>
              </a:p>
              <a:p>
                <a:pPr marL="457200" indent="-457200">
                  <a:buFont typeface="+mj-lt"/>
                  <a:buAutoNum type="arabicPeriod"/>
                </a:pPr>
                <a:r>
                  <a:rPr lang="en-US" sz="2000" i="0" dirty="0" err="1">
                    <a:latin typeface="+mn-lt"/>
                  </a:rPr>
                  <a:t>Ako</a:t>
                </a:r>
                <a:r>
                  <a:rPr lang="en-US" sz="2000" i="0" dirty="0">
                    <a:latin typeface="+mn-lt"/>
                  </a:rPr>
                  <a:t> </a:t>
                </a:r>
                <a:r>
                  <a:rPr lang="en-US" sz="2000" i="0" dirty="0" err="1">
                    <a:latin typeface="+mn-lt"/>
                  </a:rPr>
                  <a:t>je</a:t>
                </a:r>
                <a:r>
                  <a:rPr lang="en-US" sz="2000" i="0" dirty="0">
                    <a:latin typeface="+mn-lt"/>
                  </a:rPr>
                  <a:t> </a:t>
                </a:r>
                <a:r>
                  <a:rPr lang="en-US" sz="2000" i="0" dirty="0" err="1">
                    <a:latin typeface="+mn-lt"/>
                  </a:rPr>
                  <a:t>najveci</a:t>
                </a:r>
                <a:r>
                  <a:rPr lang="en-US" sz="2000" i="0" dirty="0">
                    <a:latin typeface="+mn-lt"/>
                  </a:rPr>
                  <a:t> </a:t>
                </a:r>
                <a:r>
                  <a:rPr lang="en-US" sz="2000" i="0" dirty="0" err="1">
                    <a:latin typeface="+mn-lt"/>
                  </a:rPr>
                  <a:t>zajednicki</a:t>
                </a:r>
                <a:r>
                  <a:rPr lang="en-US" sz="2000" i="0" dirty="0">
                    <a:latin typeface="+mn-lt"/>
                  </a:rPr>
                  <a:t> </a:t>
                </a:r>
                <a:r>
                  <a:rPr lang="en-US" sz="2000" i="0" dirty="0" err="1">
                    <a:latin typeface="+mn-lt"/>
                  </a:rPr>
                  <a:t>delilac</a:t>
                </a:r>
                <a:r>
                  <a:rPr lang="en-US" sz="2000" i="0" dirty="0">
                    <a:latin typeface="+mn-lt"/>
                  </a:rPr>
                  <a:t> </a:t>
                </a:r>
                <a:r>
                  <a:rPr lang="en-US" sz="2000" i="0" dirty="0" err="1">
                    <a:latin typeface="+mn-lt"/>
                  </a:rPr>
                  <a:t>brojeva</a:t>
                </a:r>
                <a:r>
                  <a:rPr lang="en-US" sz="2000" i="0" dirty="0">
                    <a:latin typeface="+mn-lt"/>
                  </a:rPr>
                  <a:t> </a:t>
                </a:r>
                <a:r>
                  <a:rPr lang="en-US" sz="2000" b="0" i="0">
                    <a:solidFill>
                      <a:srgbClr val="002060"/>
                    </a:solidFill>
                    <a:latin typeface="+mn-lt"/>
                    <a:ea typeface="Cambria Math" panose="02040503050406030204" pitchFamily="18" charset="0"/>
                  </a:rPr>
                  <a:t>𝑎</a:t>
                </a:r>
                <a:r>
                  <a:rPr lang="en-US" sz="2000" i="0" dirty="0">
                    <a:latin typeface="+mn-lt"/>
                  </a:rPr>
                  <a:t> broja</a:t>
                </a:r>
                <a:r>
                  <a:rPr lang="en-US" sz="2000" i="0" baseline="0" dirty="0">
                    <a:latin typeface="+mn-lt"/>
                  </a:rPr>
                  <a:t> </a:t>
                </a:r>
                <a:r>
                  <a:rPr lang="en-US" sz="2000" i="0" dirty="0">
                    <a:latin typeface="+mn-lt"/>
                  </a:rPr>
                  <a:t> </a:t>
                </a:r>
                <a:r>
                  <a:rPr lang="en-US" sz="2000" i="0">
                    <a:solidFill>
                      <a:srgbClr val="002060"/>
                    </a:solidFill>
                    <a:latin typeface="+mn-lt"/>
                    <a:ea typeface="Cambria Math" panose="02040503050406030204" pitchFamily="18" charset="0"/>
                  </a:rPr>
                  <a:t>𝑁</a:t>
                </a:r>
                <a:r>
                  <a:rPr lang="en-US" sz="2000" i="0" dirty="0">
                    <a:latin typeface="+mn-lt"/>
                  </a:rPr>
                  <a:t> </a:t>
                </a:r>
                <a:r>
                  <a:rPr lang="en-US" sz="2000" i="0" dirty="0" err="1">
                    <a:latin typeface="+mn-lt"/>
                  </a:rPr>
                  <a:t>razlicit</a:t>
                </a:r>
                <a:r>
                  <a:rPr lang="en-US" sz="2000" i="0" dirty="0">
                    <a:latin typeface="+mn-lt"/>
                  </a:rPr>
                  <a:t> od</a:t>
                </a:r>
                <a:r>
                  <a:rPr lang="en-US" sz="2000" i="0" baseline="0" dirty="0">
                    <a:latin typeface="+mn-lt"/>
                  </a:rPr>
                  <a:t> 1</a:t>
                </a:r>
                <a:r>
                  <a:rPr lang="en-US" sz="2000" i="0" dirty="0">
                    <a:latin typeface="+mn-lt"/>
                  </a:rPr>
                  <a:t>, </a:t>
                </a:r>
                <a:r>
                  <a:rPr lang="en-US" sz="2000" i="0" dirty="0" err="1">
                    <a:latin typeface="+mn-lt"/>
                  </a:rPr>
                  <a:t>znaci</a:t>
                </a:r>
                <a:r>
                  <a:rPr lang="en-US" sz="2000" i="0" dirty="0">
                    <a:latin typeface="+mn-lt"/>
                  </a:rPr>
                  <a:t> da </a:t>
                </a:r>
                <a:r>
                  <a:rPr lang="en-US" sz="2000" i="0" dirty="0" err="1">
                    <a:latin typeface="+mn-lt"/>
                  </a:rPr>
                  <a:t>smo</a:t>
                </a:r>
                <a:r>
                  <a:rPr lang="en-US" sz="2000" i="0" baseline="0" dirty="0">
                    <a:latin typeface="+mn-lt"/>
                  </a:rPr>
                  <a:t> </a:t>
                </a:r>
                <a:r>
                  <a:rPr lang="en-US" sz="2000" i="0" baseline="0" dirty="0" err="1">
                    <a:latin typeface="+mn-lt"/>
                  </a:rPr>
                  <a:t>pogodili</a:t>
                </a:r>
                <a:r>
                  <a:rPr lang="en-US" sz="2000" i="0" baseline="0" dirty="0">
                    <a:latin typeface="+mn-lt"/>
                  </a:rPr>
                  <a:t> </a:t>
                </a:r>
                <a:r>
                  <a:rPr lang="en-US" sz="2000" i="0" baseline="0" dirty="0" err="1">
                    <a:latin typeface="+mn-lt"/>
                  </a:rPr>
                  <a:t>prvi</a:t>
                </a:r>
                <a:r>
                  <a:rPr lang="en-US" sz="2000" i="0" baseline="0" dirty="0">
                    <a:latin typeface="+mn-lt"/>
                  </a:rPr>
                  <a:t> factor. </a:t>
                </a:r>
                <a:r>
                  <a:rPr lang="en-US" sz="2000" i="0" baseline="0" dirty="0" err="1">
                    <a:latin typeface="+mn-lt"/>
                  </a:rPr>
                  <a:t>Drugi</a:t>
                </a:r>
                <a:r>
                  <a:rPr lang="en-US" sz="2000" i="0" baseline="0" dirty="0">
                    <a:latin typeface="+mn-lt"/>
                  </a:rPr>
                  <a:t> se </a:t>
                </a:r>
                <a:r>
                  <a:rPr lang="en-US" sz="2000" i="0" baseline="0" dirty="0" err="1">
                    <a:latin typeface="+mn-lt"/>
                  </a:rPr>
                  <a:t>dobija</a:t>
                </a:r>
                <a:r>
                  <a:rPr lang="en-US" sz="2000" i="0" baseline="0" dirty="0">
                    <a:latin typeface="+mn-lt"/>
                  </a:rPr>
                  <a:t> </a:t>
                </a:r>
                <a:r>
                  <a:rPr lang="en-US" sz="2000" i="0" baseline="0" dirty="0" err="1">
                    <a:latin typeface="+mn-lt"/>
                  </a:rPr>
                  <a:t>deljenjem</a:t>
                </a:r>
                <a:r>
                  <a:rPr lang="en-US" sz="2000" i="0" baseline="0" dirty="0">
                    <a:latin typeface="+mn-lt"/>
                  </a:rPr>
                  <a:t> N </a:t>
                </a:r>
                <a:r>
                  <a:rPr lang="en-US" sz="2000" i="0" baseline="0" dirty="0" err="1">
                    <a:latin typeface="+mn-lt"/>
                  </a:rPr>
                  <a:t>sa</a:t>
                </a:r>
                <a:r>
                  <a:rPr lang="en-US" sz="2000" i="0" baseline="0" dirty="0">
                    <a:latin typeface="+mn-lt"/>
                  </a:rPr>
                  <a:t> </a:t>
                </a:r>
                <a:r>
                  <a:rPr lang="en-US" sz="2000" b="0" i="0" baseline="0">
                    <a:latin typeface="+mn-lt"/>
                  </a:rPr>
                  <a:t>𝑎</a:t>
                </a:r>
                <a:r>
                  <a:rPr lang="en-US" sz="2000" i="0" dirty="0">
                    <a:latin typeface="+mn-lt"/>
                  </a:rPr>
                  <a:t>. </a:t>
                </a:r>
                <a:r>
                  <a:rPr lang="en-US" sz="2000" i="0" dirty="0" err="1">
                    <a:latin typeface="+mn-lt"/>
                  </a:rPr>
                  <a:t>Ovo</a:t>
                </a:r>
                <a:r>
                  <a:rPr lang="en-US" sz="2000" i="0" dirty="0">
                    <a:latin typeface="+mn-lt"/>
                  </a:rPr>
                  <a:t> se </a:t>
                </a:r>
                <a:r>
                  <a:rPr lang="en-US" sz="2000" i="0" dirty="0" err="1">
                    <a:latin typeface="+mn-lt"/>
                  </a:rPr>
                  <a:t>naravno</a:t>
                </a:r>
                <a:r>
                  <a:rPr lang="en-US" sz="2000" i="0" dirty="0">
                    <a:latin typeface="+mn-lt"/>
                  </a:rPr>
                  <a:t> </a:t>
                </a:r>
                <a:r>
                  <a:rPr lang="en-US" sz="2000" i="0" dirty="0" err="1">
                    <a:latin typeface="+mn-lt"/>
                  </a:rPr>
                  <a:t>skoro</a:t>
                </a:r>
                <a:r>
                  <a:rPr lang="en-US" sz="2000" i="0" dirty="0">
                    <a:latin typeface="+mn-lt"/>
                  </a:rPr>
                  <a:t> </a:t>
                </a:r>
                <a:r>
                  <a:rPr lang="en-US" sz="2000" i="0" dirty="0" err="1">
                    <a:latin typeface="+mn-lt"/>
                  </a:rPr>
                  <a:t>nikada</a:t>
                </a:r>
                <a:r>
                  <a:rPr lang="en-US" sz="2000" i="0" dirty="0">
                    <a:latin typeface="+mn-lt"/>
                  </a:rPr>
                  <a:t> ne </a:t>
                </a:r>
                <a:r>
                  <a:rPr lang="en-US" sz="2000" i="0" dirty="0" err="1">
                    <a:latin typeface="+mn-lt"/>
                  </a:rPr>
                  <a:t>desava</a:t>
                </a:r>
                <a:r>
                  <a:rPr lang="en-US" sz="2000" i="0" dirty="0">
                    <a:latin typeface="+mn-lt"/>
                  </a:rPr>
                  <a:t>.</a:t>
                </a:r>
              </a:p>
              <a:p>
                <a:pPr marL="457200" indent="-457200">
                  <a:buFont typeface="+mj-lt"/>
                  <a:buAutoNum type="arabicPeriod"/>
                </a:pPr>
                <a:r>
                  <a:rPr lang="en-US" sz="2000" i="0" dirty="0" err="1">
                    <a:latin typeface="+mn-lt"/>
                  </a:rPr>
                  <a:t>Sledeci</a:t>
                </a:r>
                <a:r>
                  <a:rPr lang="en-US" sz="2000" i="0" dirty="0">
                    <a:latin typeface="+mn-lt"/>
                  </a:rPr>
                  <a:t> </a:t>
                </a:r>
                <a:r>
                  <a:rPr lang="en-US" sz="2000" i="0" dirty="0" err="1">
                    <a:latin typeface="+mn-lt"/>
                  </a:rPr>
                  <a:t>korak</a:t>
                </a:r>
                <a:r>
                  <a:rPr lang="en-US" sz="2000" i="0" dirty="0">
                    <a:latin typeface="+mn-lt"/>
                  </a:rPr>
                  <a:t> </a:t>
                </a:r>
                <a:r>
                  <a:rPr lang="en-US" sz="2000" i="0" dirty="0" err="1">
                    <a:latin typeface="+mn-lt"/>
                  </a:rPr>
                  <a:t>je</a:t>
                </a:r>
                <a:r>
                  <a:rPr lang="en-US" sz="2000" i="0" dirty="0">
                    <a:latin typeface="+mn-lt"/>
                  </a:rPr>
                  <a:t> </a:t>
                </a:r>
                <a:r>
                  <a:rPr lang="en-US" sz="2000" i="0" dirty="0" err="1">
                    <a:latin typeface="+mn-lt"/>
                  </a:rPr>
                  <a:t>jezgro</a:t>
                </a:r>
                <a:r>
                  <a:rPr lang="en-US" sz="2000" i="0" dirty="0">
                    <a:latin typeface="+mn-lt"/>
                  </a:rPr>
                  <a:t> </a:t>
                </a:r>
                <a:r>
                  <a:rPr lang="en-US" sz="2000" i="0" dirty="0" err="1">
                    <a:latin typeface="+mn-lt"/>
                  </a:rPr>
                  <a:t>Sorovog</a:t>
                </a:r>
                <a:r>
                  <a:rPr lang="en-US" sz="2000" i="0" dirty="0">
                    <a:latin typeface="+mn-lt"/>
                  </a:rPr>
                  <a:t> </a:t>
                </a:r>
                <a:r>
                  <a:rPr lang="en-US" sz="2000" i="0" dirty="0" err="1">
                    <a:latin typeface="+mn-lt"/>
                  </a:rPr>
                  <a:t>algoritma</a:t>
                </a:r>
                <a:r>
                  <a:rPr lang="en-US" sz="2000" i="0" dirty="0">
                    <a:latin typeface="+mn-lt"/>
                  </a:rPr>
                  <a:t> </a:t>
                </a:r>
                <a:r>
                  <a:rPr lang="en-US" sz="2000" i="0" dirty="0" err="1">
                    <a:latin typeface="+mn-lt"/>
                  </a:rPr>
                  <a:t>koji</a:t>
                </a:r>
                <a:r>
                  <a:rPr lang="en-US" sz="2000" i="0" dirty="0">
                    <a:latin typeface="+mn-lt"/>
                  </a:rPr>
                  <a:t> </a:t>
                </a:r>
                <a:r>
                  <a:rPr lang="en-US" sz="2000" i="0" dirty="0" err="1">
                    <a:latin typeface="+mn-lt"/>
                  </a:rPr>
                  <a:t>nalazi</a:t>
                </a:r>
                <a:r>
                  <a:rPr lang="en-US" sz="2000" i="0" dirty="0">
                    <a:latin typeface="+mn-lt"/>
                  </a:rPr>
                  <a:t> period </a:t>
                </a:r>
                <a:r>
                  <a:rPr lang="en-US" sz="2000" i="0" dirty="0" err="1">
                    <a:latin typeface="+mn-lt"/>
                  </a:rPr>
                  <a:t>funkcije</a:t>
                </a:r>
                <a:r>
                  <a:rPr lang="en-US" sz="2000" i="0" dirty="0">
                    <a:latin typeface="+mn-lt"/>
                  </a:rPr>
                  <a:t> </a:t>
                </a:r>
                <a:r>
                  <a:rPr lang="en-US" sz="2000" b="0" i="0">
                    <a:solidFill>
                      <a:srgbClr val="002060"/>
                    </a:solidFill>
                    <a:latin typeface="+mn-lt"/>
                  </a:rPr>
                  <a:t>𝑎^𝑟</a:t>
                </a:r>
                <a:r>
                  <a:rPr lang="en-US" sz="2000" i="0">
                    <a:solidFill>
                      <a:schemeClr val="tx1"/>
                    </a:solidFill>
                    <a:latin typeface="+mn-lt"/>
                    <a:ea typeface="Cambria Math" panose="02040503050406030204" pitchFamily="18" charset="0"/>
                  </a:rPr>
                  <a:t>≡</a:t>
                </a:r>
                <a:r>
                  <a:rPr lang="en-US" sz="2000" b="0" i="0">
                    <a:solidFill>
                      <a:srgbClr val="002060"/>
                    </a:solidFill>
                    <a:latin typeface="+mn-lt"/>
                  </a:rPr>
                  <a:t>1(</a:t>
                </a:r>
                <a:r>
                  <a:rPr lang="en-US" sz="2000" i="0">
                    <a:solidFill>
                      <a:srgbClr val="002060"/>
                    </a:solidFill>
                    <a:latin typeface="+mn-lt"/>
                  </a:rPr>
                  <a:t>𝑚𝑜𝑑 𝑁</a:t>
                </a:r>
                <a:r>
                  <a:rPr lang="en-US" sz="2000" b="0" i="0">
                    <a:solidFill>
                      <a:srgbClr val="002060"/>
                    </a:solidFill>
                    <a:latin typeface="+mn-lt"/>
                  </a:rPr>
                  <a:t>)</a:t>
                </a:r>
                <a:r>
                  <a:rPr lang="en-US" sz="2000" i="0" dirty="0">
                    <a:latin typeface="+mn-lt"/>
                  </a:rPr>
                  <a:t> I </a:t>
                </a:r>
                <a:r>
                  <a:rPr lang="en-US" sz="2000" i="0" dirty="0" err="1">
                    <a:latin typeface="+mn-lt"/>
                  </a:rPr>
                  <a:t>koji</a:t>
                </a:r>
                <a:r>
                  <a:rPr lang="en-US" sz="2000" i="0" dirty="0">
                    <a:latin typeface="+mn-lt"/>
                  </a:rPr>
                  <a:t> se </a:t>
                </a:r>
                <a:r>
                  <a:rPr lang="en-US" sz="2000" i="0" dirty="0" err="1">
                    <a:latin typeface="+mn-lt"/>
                  </a:rPr>
                  <a:t>izvrsava</a:t>
                </a:r>
                <a:r>
                  <a:rPr lang="en-US" sz="2000" i="0" dirty="0">
                    <a:latin typeface="+mn-lt"/>
                  </a:rPr>
                  <a:t> </a:t>
                </a:r>
                <a:r>
                  <a:rPr lang="en-US" sz="2000" i="0" dirty="0" err="1">
                    <a:latin typeface="+mn-lt"/>
                  </a:rPr>
                  <a:t>na</a:t>
                </a:r>
                <a:r>
                  <a:rPr lang="en-US" sz="2000" i="0" dirty="0">
                    <a:latin typeface="+mn-lt"/>
                  </a:rPr>
                  <a:t> </a:t>
                </a:r>
                <a:r>
                  <a:rPr lang="en-US" sz="2000" i="0" dirty="0" err="1">
                    <a:latin typeface="+mn-lt"/>
                  </a:rPr>
                  <a:t>kvantnom</a:t>
                </a:r>
                <a:r>
                  <a:rPr lang="en-US" sz="2000" i="0" dirty="0">
                    <a:latin typeface="+mn-lt"/>
                  </a:rPr>
                  <a:t> </a:t>
                </a:r>
                <a:r>
                  <a:rPr lang="en-US" sz="2000" i="0" dirty="0" err="1">
                    <a:latin typeface="+mn-lt"/>
                  </a:rPr>
                  <a:t>racunaru</a:t>
                </a:r>
                <a:r>
                  <a:rPr lang="en-US" sz="2000" i="0" dirty="0">
                    <a:latin typeface="+mn-lt"/>
                  </a:rPr>
                  <a:t>. </a:t>
                </a:r>
              </a:p>
              <a:p>
                <a:pPr marL="457200" indent="-457200">
                  <a:buFont typeface="+mj-lt"/>
                  <a:buAutoNum type="arabicPeriod"/>
                </a:pPr>
                <a:r>
                  <a:rPr lang="en-US" sz="2000" i="0" dirty="0" err="1">
                    <a:latin typeface="+mn-lt"/>
                  </a:rPr>
                  <a:t>Ako</a:t>
                </a:r>
                <a:r>
                  <a:rPr lang="en-US" sz="2000" i="0" dirty="0">
                    <a:latin typeface="+mn-lt"/>
                  </a:rPr>
                  <a:t> </a:t>
                </a:r>
                <a:r>
                  <a:rPr lang="en-US" sz="2000" i="0" dirty="0" err="1">
                    <a:latin typeface="+mn-lt"/>
                  </a:rPr>
                  <a:t>sada</a:t>
                </a:r>
                <a:r>
                  <a:rPr lang="en-US" sz="2000" i="0" dirty="0">
                    <a:latin typeface="+mn-lt"/>
                  </a:rPr>
                  <a:t> </a:t>
                </a:r>
                <a:r>
                  <a:rPr lang="en-US" sz="2000" i="0" dirty="0" err="1">
                    <a:latin typeface="+mn-lt"/>
                  </a:rPr>
                  <a:t>razlozimo</a:t>
                </a:r>
                <a:r>
                  <a:rPr lang="en-US" sz="2000" i="0" dirty="0">
                    <a:latin typeface="+mn-lt"/>
                  </a:rPr>
                  <a:t> </a:t>
                </a:r>
                <a:r>
                  <a:rPr lang="en-US" sz="2000" i="0">
                    <a:solidFill>
                      <a:schemeClr val="tx1">
                        <a:lumMod val="50000"/>
                        <a:lumOff val="50000"/>
                      </a:schemeClr>
                    </a:solidFill>
                    <a:latin typeface="Cambria Math" panose="02040503050406030204" pitchFamily="18" charset="0"/>
                    <a:ea typeface="Cambria Math" panose="02040503050406030204" pitchFamily="18" charset="0"/>
                  </a:rPr>
                  <a:t>𝑎^𝑟</a:t>
                </a:r>
                <a:r>
                  <a:rPr lang="en-US" sz="2000" i="0" dirty="0">
                    <a:latin typeface="+mn-lt"/>
                  </a:rPr>
                  <a:t> </a:t>
                </a:r>
                <a:r>
                  <a:rPr lang="en-US" sz="2000" i="0" dirty="0" err="1">
                    <a:latin typeface="+mn-lt"/>
                  </a:rPr>
                  <a:t>na</a:t>
                </a:r>
                <a:r>
                  <a:rPr lang="en-US" sz="2000" i="0" dirty="0">
                    <a:latin typeface="+mn-lt"/>
                  </a:rPr>
                  <a:t> </a:t>
                </a:r>
                <a:r>
                  <a:rPr lang="en-US" sz="2000" i="0" dirty="0" err="1">
                    <a:latin typeface="+mn-lt"/>
                  </a:rPr>
                  <a:t>dva</a:t>
                </a:r>
                <a:r>
                  <a:rPr lang="en-US" sz="2000" i="0" dirty="0">
                    <a:latin typeface="+mn-lt"/>
                  </a:rPr>
                  <a:t> </a:t>
                </a:r>
                <a:r>
                  <a:rPr lang="en-US" sz="2000" i="0" dirty="0" err="1">
                    <a:latin typeface="+mn-lt"/>
                  </a:rPr>
                  <a:t>cinioca</a:t>
                </a:r>
                <a:r>
                  <a:rPr lang="en-US" sz="2000" i="0" dirty="0">
                    <a:latin typeface="+mn-lt"/>
                  </a:rPr>
                  <a:t> </a:t>
                </a:r>
                <a:r>
                  <a:rPr lang="en-US" sz="2000" i="0" dirty="0" err="1">
                    <a:latin typeface="+mn-lt"/>
                  </a:rPr>
                  <a:t>koji</a:t>
                </a:r>
                <a:r>
                  <a:rPr lang="en-US" sz="2000" i="0" dirty="0">
                    <a:latin typeface="+mn-lt"/>
                  </a:rPr>
                  <a:t> </a:t>
                </a:r>
                <a:r>
                  <a:rPr lang="en-US" sz="2000" i="0" dirty="0" err="1">
                    <a:latin typeface="+mn-lt"/>
                  </a:rPr>
                  <a:t>ce</a:t>
                </a:r>
                <a:r>
                  <a:rPr lang="en-US" sz="2000" i="0" dirty="0">
                    <a:latin typeface="+mn-lt"/>
                  </a:rPr>
                  <a:t> </a:t>
                </a:r>
                <a:r>
                  <a:rPr lang="en-US" sz="2000" i="0" dirty="0" err="1">
                    <a:latin typeface="+mn-lt"/>
                  </a:rPr>
                  <a:t>nam</a:t>
                </a:r>
                <a:r>
                  <a:rPr lang="en-US" sz="2000" i="0" dirty="0">
                    <a:latin typeface="+mn-lt"/>
                  </a:rPr>
                  <a:t> </a:t>
                </a:r>
                <a:r>
                  <a:rPr lang="en-US" sz="2000" i="0" dirty="0" err="1">
                    <a:latin typeface="+mn-lt"/>
                  </a:rPr>
                  <a:t>dati</a:t>
                </a:r>
                <a:r>
                  <a:rPr lang="en-US" sz="2000" i="0" dirty="0">
                    <a:latin typeface="+mn-lt"/>
                  </a:rPr>
                  <a:t> p </a:t>
                </a:r>
                <a:r>
                  <a:rPr lang="en-US" sz="2000" i="0" dirty="0" err="1">
                    <a:latin typeface="+mn-lt"/>
                  </a:rPr>
                  <a:t>i</a:t>
                </a:r>
                <a:r>
                  <a:rPr lang="en-US" sz="2000" i="0" dirty="0">
                    <a:latin typeface="+mn-lt"/>
                  </a:rPr>
                  <a:t> q </a:t>
                </a:r>
                <a:r>
                  <a:rPr lang="en-US" sz="2000" i="0" dirty="0" err="1">
                    <a:latin typeface="+mn-lt"/>
                  </a:rPr>
                  <a:t>vidimo</a:t>
                </a:r>
                <a:r>
                  <a:rPr lang="en-US" sz="2000" i="0" dirty="0">
                    <a:latin typeface="+mn-lt"/>
                  </a:rPr>
                  <a:t> </a:t>
                </a:r>
              </a:p>
              <a:p>
                <a:pPr marL="914400" lvl="1" indent="-457200">
                  <a:buFont typeface="Arial" panose="020B0604020202020204" pitchFamily="34" charset="0"/>
                  <a:buChar char="•"/>
                </a:pPr>
                <a:r>
                  <a:rPr lang="en-US" sz="2000" i="0" dirty="0">
                    <a:latin typeface="+mn-lt"/>
                  </a:rPr>
                  <a:t>pod 1) da</a:t>
                </a:r>
                <a:r>
                  <a:rPr lang="en-US" sz="2000" i="0" baseline="0" dirty="0">
                    <a:latin typeface="+mn-lt"/>
                  </a:rPr>
                  <a:t> period mora </a:t>
                </a:r>
                <a:r>
                  <a:rPr lang="en-US" sz="2000" i="0" baseline="0" dirty="0" err="1">
                    <a:latin typeface="+mn-lt"/>
                  </a:rPr>
                  <a:t>biti</a:t>
                </a:r>
                <a:r>
                  <a:rPr lang="en-US" sz="2000" i="0" baseline="0" dirty="0">
                    <a:latin typeface="+mn-lt"/>
                  </a:rPr>
                  <a:t> </a:t>
                </a:r>
                <a:r>
                  <a:rPr lang="en-US" sz="2000" i="0" baseline="0" dirty="0" err="1">
                    <a:latin typeface="+mn-lt"/>
                  </a:rPr>
                  <a:t>paran</a:t>
                </a:r>
                <a:r>
                  <a:rPr lang="en-US" sz="2000" i="0" baseline="0" dirty="0">
                    <a:latin typeface="+mn-lt"/>
                  </a:rPr>
                  <a:t> </a:t>
                </a:r>
                <a:r>
                  <a:rPr lang="en-US" sz="2000" i="0" baseline="0" dirty="0" err="1">
                    <a:latin typeface="+mn-lt"/>
                  </a:rPr>
                  <a:t>broj</a:t>
                </a:r>
                <a:r>
                  <a:rPr lang="en-US" sz="2000" i="0" baseline="0" dirty="0">
                    <a:latin typeface="+mn-lt"/>
                  </a:rPr>
                  <a:t>, </a:t>
                </a:r>
                <a:r>
                  <a:rPr lang="en-US" sz="2000" i="0" baseline="0" dirty="0" err="1">
                    <a:latin typeface="+mn-lt"/>
                  </a:rPr>
                  <a:t>inace</a:t>
                </a:r>
                <a:r>
                  <a:rPr lang="en-US" sz="2000" i="0" baseline="0" dirty="0">
                    <a:latin typeface="+mn-lt"/>
                  </a:rPr>
                  <a:t> </a:t>
                </a:r>
                <a:r>
                  <a:rPr lang="en-US" sz="2000" i="0" baseline="0" dirty="0" err="1">
                    <a:latin typeface="+mn-lt"/>
                  </a:rPr>
                  <a:t>razlaganje</a:t>
                </a:r>
                <a:r>
                  <a:rPr lang="en-US" sz="2000" i="0" baseline="0" dirty="0">
                    <a:latin typeface="+mn-lt"/>
                  </a:rPr>
                  <a:t> </a:t>
                </a:r>
                <a:r>
                  <a:rPr lang="en-US" sz="2000" i="0" baseline="0" dirty="0" err="1">
                    <a:latin typeface="+mn-lt"/>
                  </a:rPr>
                  <a:t>nece</a:t>
                </a:r>
                <a:r>
                  <a:rPr lang="en-US" sz="2000" i="0" baseline="0" dirty="0">
                    <a:latin typeface="+mn-lt"/>
                  </a:rPr>
                  <a:t> </a:t>
                </a:r>
                <a:r>
                  <a:rPr lang="en-US" sz="2000" i="0" baseline="0" dirty="0" err="1">
                    <a:latin typeface="+mn-lt"/>
                  </a:rPr>
                  <a:t>biti</a:t>
                </a:r>
                <a:r>
                  <a:rPr lang="en-US" sz="2000" i="0" baseline="0" dirty="0">
                    <a:latin typeface="+mn-lt"/>
                  </a:rPr>
                  <a:t> </a:t>
                </a:r>
                <a:r>
                  <a:rPr lang="en-US" sz="2000" i="0" baseline="0" dirty="0" err="1">
                    <a:latin typeface="+mn-lt"/>
                  </a:rPr>
                  <a:t>moguce</a:t>
                </a:r>
                <a:endParaRPr lang="en-US" sz="2000" i="0" baseline="0" dirty="0">
                  <a:latin typeface="+mn-lt"/>
                </a:endParaRPr>
              </a:p>
              <a:p>
                <a:pPr marL="914400" lvl="1" indent="-457200">
                  <a:buFont typeface="Arial" panose="020B0604020202020204" pitchFamily="34" charset="0"/>
                  <a:buChar char="•"/>
                </a:pPr>
                <a:r>
                  <a:rPr lang="en-US" sz="2000" i="0" baseline="0" dirty="0">
                    <a:latin typeface="+mn-lt"/>
                  </a:rPr>
                  <a:t>Pod 2) </a:t>
                </a:r>
                <a:r>
                  <a:rPr lang="en-US" sz="2000" i="0" baseline="0" dirty="0" err="1">
                    <a:latin typeface="+mn-lt"/>
                  </a:rPr>
                  <a:t>proizvod</a:t>
                </a:r>
                <a:r>
                  <a:rPr lang="en-US" sz="2000" i="0" baseline="0" dirty="0">
                    <a:latin typeface="+mn-lt"/>
                  </a:rPr>
                  <a:t> </a:t>
                </a:r>
                <a:r>
                  <a:rPr lang="en-US" sz="2000" i="0" baseline="0" dirty="0" err="1">
                    <a:latin typeface="+mn-lt"/>
                  </a:rPr>
                  <a:t>cinioca</a:t>
                </a:r>
                <a:r>
                  <a:rPr lang="en-US" sz="2000" i="0" baseline="0" dirty="0">
                    <a:latin typeface="+mn-lt"/>
                  </a:rPr>
                  <a:t> mora </a:t>
                </a:r>
                <a:r>
                  <a:rPr lang="en-US" sz="2000" i="0" baseline="0" dirty="0" err="1">
                    <a:latin typeface="+mn-lt"/>
                  </a:rPr>
                  <a:t>biti</a:t>
                </a:r>
                <a:r>
                  <a:rPr lang="en-US" sz="2000" i="0" baseline="0" dirty="0">
                    <a:latin typeface="+mn-lt"/>
                  </a:rPr>
                  <a:t> </a:t>
                </a:r>
                <a:r>
                  <a:rPr lang="en-US" sz="2000" i="0">
                    <a:solidFill>
                      <a:srgbClr val="002060"/>
                    </a:solidFill>
                    <a:latin typeface="Cambria Math" panose="02040503050406030204" pitchFamily="18" charset="0"/>
                    <a:ea typeface="Cambria Math" panose="02040503050406030204" pitchFamily="18" charset="0"/>
                  </a:rPr>
                  <a:t>𝑁</a:t>
                </a:r>
                <a:r>
                  <a:rPr lang="en-US" sz="2000" i="0" dirty="0">
                    <a:latin typeface="+mn-lt"/>
                  </a:rPr>
                  <a:t> </a:t>
                </a:r>
                <a:r>
                  <a:rPr lang="en-US" sz="2000" i="0" dirty="0" err="1">
                    <a:latin typeface="+mn-lt"/>
                  </a:rPr>
                  <a:t>ili</a:t>
                </a:r>
                <a:r>
                  <a:rPr lang="en-US" sz="2000" i="0" dirty="0">
                    <a:latin typeface="+mn-lt"/>
                  </a:rPr>
                  <a:t> </a:t>
                </a:r>
                <a:r>
                  <a:rPr lang="en-US" sz="2000" i="0" dirty="0" err="1">
                    <a:latin typeface="+mn-lt"/>
                  </a:rPr>
                  <a:t>multipl</a:t>
                </a:r>
                <a:r>
                  <a:rPr lang="en-US" sz="2000" i="0" dirty="0">
                    <a:latin typeface="+mn-lt"/>
                  </a:rPr>
                  <a:t> od</a:t>
                </a:r>
                <a:r>
                  <a:rPr lang="en-US" sz="2000" i="0" baseline="0" dirty="0">
                    <a:latin typeface="+mn-lt"/>
                  </a:rPr>
                  <a:t> N, </a:t>
                </a:r>
                <a:r>
                  <a:rPr lang="en-US" sz="2000" i="0" baseline="0" dirty="0" err="1">
                    <a:latin typeface="+mn-lt"/>
                  </a:rPr>
                  <a:t>odnosno</a:t>
                </a:r>
                <a:r>
                  <a:rPr lang="en-US" sz="2000" i="0" baseline="0" dirty="0">
                    <a:latin typeface="+mn-lt"/>
                  </a:rPr>
                  <a:t> </a:t>
                </a:r>
                <a:r>
                  <a:rPr lang="en-US" sz="2000" i="0" baseline="0" dirty="0" err="1">
                    <a:latin typeface="+mn-lt"/>
                  </a:rPr>
                  <a:t>ni</a:t>
                </a:r>
                <a:r>
                  <a:rPr lang="en-US" sz="2000" i="0" baseline="0" dirty="0">
                    <a:latin typeface="+mn-lt"/>
                  </a:rPr>
                  <a:t> </a:t>
                </a:r>
                <a:r>
                  <a:rPr lang="en-US" sz="2000" i="0" baseline="0" dirty="0" err="1">
                    <a:latin typeface="+mn-lt"/>
                  </a:rPr>
                  <a:t>jedan</a:t>
                </a:r>
                <a:r>
                  <a:rPr lang="en-US" sz="2000" i="0" baseline="0" dirty="0">
                    <a:latin typeface="+mn-lt"/>
                  </a:rPr>
                  <a:t> od </a:t>
                </a:r>
                <a:r>
                  <a:rPr lang="en-US" sz="2000" i="0" baseline="0" dirty="0" err="1">
                    <a:latin typeface="+mn-lt"/>
                  </a:rPr>
                  <a:t>njih</a:t>
                </a:r>
                <a:r>
                  <a:rPr lang="en-US" sz="2000" i="0" baseline="0" dirty="0">
                    <a:latin typeface="+mn-lt"/>
                  </a:rPr>
                  <a:t> </a:t>
                </a:r>
                <a:r>
                  <a:rPr lang="en-US" sz="2000" i="0" baseline="0" dirty="0" err="1">
                    <a:latin typeface="+mn-lt"/>
                  </a:rPr>
                  <a:t>posebno</a:t>
                </a:r>
                <a:r>
                  <a:rPr lang="en-US" sz="2000" i="0" baseline="0" dirty="0">
                    <a:latin typeface="+mn-lt"/>
                  </a:rPr>
                  <a:t> ne </a:t>
                </a:r>
                <a:r>
                  <a:rPr lang="en-US" sz="2000" i="0" baseline="0" dirty="0" err="1">
                    <a:latin typeface="+mn-lt"/>
                  </a:rPr>
                  <a:t>sme</a:t>
                </a:r>
                <a:r>
                  <a:rPr lang="en-US" sz="2000" i="0" baseline="0" dirty="0">
                    <a:latin typeface="+mn-lt"/>
                  </a:rPr>
                  <a:t> </a:t>
                </a:r>
                <a:r>
                  <a:rPr lang="en-US" sz="2000" i="0" baseline="0" dirty="0" err="1">
                    <a:latin typeface="+mn-lt"/>
                  </a:rPr>
                  <a:t>biti</a:t>
                </a:r>
                <a:r>
                  <a:rPr lang="en-US" sz="2000" i="0" baseline="0" dirty="0">
                    <a:latin typeface="+mn-lt"/>
                  </a:rPr>
                  <a:t> </a:t>
                </a:r>
                <a:r>
                  <a:rPr lang="en-US" sz="2000" i="0" baseline="0" dirty="0" err="1">
                    <a:latin typeface="+mn-lt"/>
                  </a:rPr>
                  <a:t>jedank</a:t>
                </a:r>
                <a:r>
                  <a:rPr lang="en-US" sz="2000" i="0" baseline="0" dirty="0">
                    <a:latin typeface="+mn-lt"/>
                  </a:rPr>
                  <a:t> N </a:t>
                </a:r>
                <a:r>
                  <a:rPr lang="en-US" sz="2000" i="0" baseline="0" dirty="0" err="1">
                    <a:latin typeface="+mn-lt"/>
                  </a:rPr>
                  <a:t>po</a:t>
                </a:r>
                <a:r>
                  <a:rPr lang="en-US" sz="2000" i="0" baseline="0" dirty="0">
                    <a:latin typeface="+mn-lt"/>
                  </a:rPr>
                  <a:t> </a:t>
                </a:r>
                <a:r>
                  <a:rPr lang="en-US" sz="2000" i="0" baseline="0" dirty="0" err="1">
                    <a:latin typeface="+mn-lt"/>
                  </a:rPr>
                  <a:t>modulu</a:t>
                </a:r>
                <a:r>
                  <a:rPr lang="en-US" sz="2000" i="0" baseline="0" dirty="0">
                    <a:latin typeface="+mn-lt"/>
                  </a:rPr>
                  <a:t>. </a:t>
                </a:r>
                <a:endParaRPr lang="en-US" sz="2000" i="0" dirty="0">
                  <a:latin typeface="+mn-lt"/>
                </a:endParaRPr>
              </a:p>
              <a:p>
                <a:pPr marL="457200" indent="-457200">
                  <a:buFont typeface="+mj-lt"/>
                  <a:buAutoNum type="arabicPeriod"/>
                </a:pPr>
                <a:r>
                  <a:rPr lang="en-US" sz="2000" i="0" dirty="0" err="1">
                    <a:latin typeface="+mn-lt"/>
                  </a:rPr>
                  <a:t>Ako</a:t>
                </a:r>
                <a:r>
                  <a:rPr lang="en-US" sz="2000" i="0" dirty="0">
                    <a:latin typeface="+mn-lt"/>
                  </a:rPr>
                  <a:t> </a:t>
                </a:r>
                <a:r>
                  <a:rPr lang="en-US" sz="2000" i="0" dirty="0" err="1">
                    <a:latin typeface="+mn-lt"/>
                  </a:rPr>
                  <a:t>su</a:t>
                </a:r>
                <a:r>
                  <a:rPr lang="en-US" sz="2000" i="0" dirty="0">
                    <a:latin typeface="+mn-lt"/>
                  </a:rPr>
                  <a:t> ova </a:t>
                </a:r>
                <a:r>
                  <a:rPr lang="en-US" sz="2000" i="0" dirty="0" err="1">
                    <a:latin typeface="+mn-lt"/>
                  </a:rPr>
                  <a:t>dva</a:t>
                </a:r>
                <a:r>
                  <a:rPr lang="en-US" sz="2000" i="0" dirty="0">
                    <a:latin typeface="+mn-lt"/>
                  </a:rPr>
                  <a:t> </a:t>
                </a:r>
                <a:r>
                  <a:rPr lang="en-US" sz="2000" i="0" dirty="0" err="1">
                    <a:latin typeface="+mn-lt"/>
                  </a:rPr>
                  <a:t>uslova</a:t>
                </a:r>
                <a:r>
                  <a:rPr lang="en-US" sz="2000" i="0" dirty="0">
                    <a:latin typeface="+mn-lt"/>
                  </a:rPr>
                  <a:t> </a:t>
                </a:r>
                <a:r>
                  <a:rPr lang="en-US" sz="2000" i="0" dirty="0" err="1">
                    <a:latin typeface="+mn-lt"/>
                  </a:rPr>
                  <a:t>zadovoljena</a:t>
                </a:r>
                <a:r>
                  <a:rPr lang="en-US" sz="2000" i="0" dirty="0">
                    <a:latin typeface="+mn-lt"/>
                  </a:rPr>
                  <a:t>, </a:t>
                </a:r>
                <a:r>
                  <a:rPr lang="en-US" sz="2000" i="0" dirty="0" err="1">
                    <a:latin typeface="+mn-lt"/>
                  </a:rPr>
                  <a:t>nalazimo</a:t>
                </a:r>
                <a:r>
                  <a:rPr lang="en-US" sz="2000" i="0" dirty="0">
                    <a:latin typeface="+mn-lt"/>
                  </a:rPr>
                  <a:t> p I q </a:t>
                </a:r>
                <a:r>
                  <a:rPr lang="en-US" sz="2000" i="0" dirty="0" err="1">
                    <a:latin typeface="+mn-lt"/>
                  </a:rPr>
                  <a:t>kao</a:t>
                </a:r>
                <a:r>
                  <a:rPr lang="en-US" sz="2000" i="0" dirty="0">
                    <a:latin typeface="+mn-lt"/>
                  </a:rPr>
                  <a:t> </a:t>
                </a:r>
                <a:r>
                  <a:rPr lang="en-US" sz="2000" baseline="0" dirty="0" err="1"/>
                  <a:t>najmanje</a:t>
                </a:r>
                <a:r>
                  <a:rPr lang="en-US" sz="2000" baseline="0" dirty="0"/>
                  <a:t> </a:t>
                </a:r>
                <a:r>
                  <a:rPr lang="en-US" sz="2000" baseline="0" dirty="0" err="1"/>
                  <a:t>zajednicke</a:t>
                </a:r>
                <a:r>
                  <a:rPr lang="en-US" sz="2000" baseline="0" dirty="0"/>
                  <a:t> </a:t>
                </a:r>
                <a:r>
                  <a:rPr lang="en-US" sz="2000" baseline="0" dirty="0" err="1"/>
                  <a:t>delioce</a:t>
                </a:r>
                <a:r>
                  <a:rPr lang="en-US" sz="2000" baseline="0" dirty="0"/>
                  <a:t> </a:t>
                </a:r>
                <a:r>
                  <a:rPr lang="en-US" sz="2000" baseline="0" dirty="0" err="1"/>
                  <a:t>faktora</a:t>
                </a:r>
                <a:r>
                  <a:rPr lang="en-US" sz="2000" baseline="0" dirty="0"/>
                  <a:t> </a:t>
                </a:r>
                <a:r>
                  <a:rPr lang="en-US" sz="2000" b="0" i="0">
                    <a:solidFill>
                      <a:srgbClr val="002060"/>
                    </a:solidFill>
                    <a:latin typeface="Cambria Math" panose="02040503050406030204" pitchFamily="18" charset="0"/>
                    <a:ea typeface="Cambria Math" panose="02040503050406030204" pitchFamily="18" charset="0"/>
                  </a:rPr>
                  <a:t>𝑎^(𝑟/2)</a:t>
                </a:r>
                <a:r>
                  <a:rPr lang="en-US" sz="2000" i="0">
                    <a:solidFill>
                      <a:srgbClr val="002060"/>
                    </a:solidFill>
                    <a:latin typeface="Cambria Math" panose="02040503050406030204" pitchFamily="18" charset="0"/>
                    <a:ea typeface="Cambria Math" panose="02040503050406030204" pitchFamily="18" charset="0"/>
                  </a:rPr>
                  <a:t>±</a:t>
                </a:r>
                <a:r>
                  <a:rPr lang="en-US" sz="2000" b="0" i="0">
                    <a:solidFill>
                      <a:srgbClr val="002060"/>
                    </a:solidFill>
                    <a:latin typeface="Cambria Math" panose="02040503050406030204" pitchFamily="18" charset="0"/>
                    <a:ea typeface="Cambria Math" panose="02040503050406030204" pitchFamily="18" charset="0"/>
                  </a:rPr>
                  <a:t>1 i broja 𝑁</a:t>
                </a:r>
                <a:r>
                  <a:rPr lang="en-US" sz="2000" baseline="0" dirty="0"/>
                  <a:t>.</a:t>
                </a:r>
              </a:p>
              <a:p>
                <a:pPr marL="0" indent="0">
                  <a:buFont typeface="+mj-lt"/>
                  <a:buNone/>
                </a:pPr>
                <a:r>
                  <a:rPr lang="en-US" sz="2000" baseline="0" dirty="0" err="1"/>
                  <a:t>Medjutim</a:t>
                </a:r>
                <a:r>
                  <a:rPr lang="en-US" sz="2000" baseline="0" dirty="0"/>
                  <a:t>, </a:t>
                </a:r>
                <a:r>
                  <a:rPr lang="en-US" sz="2000" baseline="0" dirty="0" err="1"/>
                  <a:t>algoritam</a:t>
                </a:r>
                <a:r>
                  <a:rPr lang="en-US" sz="2000" baseline="0" dirty="0"/>
                  <a:t> ne </a:t>
                </a:r>
                <a:r>
                  <a:rPr lang="en-US" sz="2000" baseline="0" dirty="0" err="1"/>
                  <a:t>daje</a:t>
                </a:r>
                <a:r>
                  <a:rPr lang="en-US" sz="2000" baseline="0" dirty="0"/>
                  <a:t> </a:t>
                </a:r>
                <a:r>
                  <a:rPr lang="en-US" sz="2000" baseline="0" dirty="0" err="1"/>
                  <a:t>uvek</a:t>
                </a:r>
                <a:r>
                  <a:rPr lang="en-US" sz="2000" baseline="0" dirty="0"/>
                  <a:t> </a:t>
                </a:r>
                <a:r>
                  <a:rPr lang="en-US" sz="2000" baseline="0" dirty="0" err="1"/>
                  <a:t>resenje</a:t>
                </a:r>
                <a:r>
                  <a:rPr lang="en-US" sz="2000" baseline="0" dirty="0"/>
                  <a:t> </a:t>
                </a:r>
                <a:r>
                  <a:rPr lang="en-US" sz="2000" baseline="0" dirty="0" err="1"/>
                  <a:t>iz</a:t>
                </a:r>
                <a:r>
                  <a:rPr lang="en-US" sz="2000" baseline="0" dirty="0"/>
                  <a:t> </a:t>
                </a:r>
                <a:r>
                  <a:rPr lang="en-US" sz="2000" baseline="0" dirty="0" err="1"/>
                  <a:t>prvog</a:t>
                </a:r>
                <a:r>
                  <a:rPr lang="en-US" sz="2000" baseline="0" dirty="0"/>
                  <a:t> </a:t>
                </a:r>
                <a:r>
                  <a:rPr lang="en-US" sz="2000" baseline="0" dirty="0" err="1"/>
                  <a:t>pokusaja</a:t>
                </a:r>
                <a:r>
                  <a:rPr lang="en-US" sz="2000" baseline="0" dirty="0"/>
                  <a:t>. Kao </a:t>
                </a:r>
                <a:r>
                  <a:rPr lang="en-US" sz="2000" baseline="0" dirty="0" err="1"/>
                  <a:t>sto</a:t>
                </a:r>
                <a:r>
                  <a:rPr lang="en-US" sz="2000" baseline="0" dirty="0"/>
                  <a:t> </a:t>
                </a:r>
                <a:r>
                  <a:rPr lang="en-US" sz="2000" baseline="0" dirty="0" err="1"/>
                  <a:t>smo</a:t>
                </a:r>
                <a:r>
                  <a:rPr lang="en-US" sz="2000" baseline="0" dirty="0"/>
                  <a:t> </a:t>
                </a:r>
                <a:r>
                  <a:rPr lang="en-US" sz="2000" baseline="0" dirty="0" err="1"/>
                  <a:t>videli</a:t>
                </a:r>
                <a:r>
                  <a:rPr lang="en-US" sz="2000" baseline="0" dirty="0"/>
                  <a:t>, </a:t>
                </a:r>
                <a:r>
                  <a:rPr lang="en-US" sz="2000" baseline="0" dirty="0" err="1"/>
                  <a:t>za</a:t>
                </a:r>
                <a:r>
                  <a:rPr lang="en-US" sz="2000" baseline="0" dirty="0"/>
                  <a:t> to </a:t>
                </a:r>
                <a:r>
                  <a:rPr lang="en-US" sz="2000" baseline="0" dirty="0" err="1"/>
                  <a:t>postoji</a:t>
                </a:r>
                <a:r>
                  <a:rPr lang="en-US" sz="2000" baseline="0" dirty="0"/>
                  <a:t> </a:t>
                </a:r>
                <a:r>
                  <a:rPr lang="en-US" sz="2000" baseline="0" dirty="0" err="1"/>
                  <a:t>nekoliko</a:t>
                </a:r>
                <a:r>
                  <a:rPr lang="en-US" sz="2000" baseline="0" dirty="0"/>
                  <a:t> </a:t>
                </a:r>
                <a:r>
                  <a:rPr lang="en-US" sz="2000" baseline="0" dirty="0" err="1"/>
                  <a:t>razloga</a:t>
                </a:r>
                <a:r>
                  <a:rPr lang="en-US" sz="2000" baseline="0" dirty="0"/>
                  <a:t>. </a:t>
                </a:r>
                <a:r>
                  <a:rPr lang="en-US" sz="2000" baseline="0" dirty="0" err="1"/>
                  <a:t>Pocetni</a:t>
                </a:r>
                <a:r>
                  <a:rPr lang="en-US" sz="2000" baseline="0" dirty="0"/>
                  <a:t> </a:t>
                </a:r>
                <a:r>
                  <a:rPr lang="en-US" sz="2000" baseline="0" dirty="0" err="1"/>
                  <a:t>slucajni</a:t>
                </a:r>
                <a:r>
                  <a:rPr lang="en-US" sz="2000" baseline="0" dirty="0"/>
                  <a:t> </a:t>
                </a:r>
                <a:r>
                  <a:rPr lang="en-US" sz="2000" baseline="0" dirty="0" err="1"/>
                  <a:t>broj</a:t>
                </a:r>
                <a:r>
                  <a:rPr lang="en-US" sz="2000" baseline="0" dirty="0"/>
                  <a:t> bi </a:t>
                </a:r>
                <a:r>
                  <a:rPr lang="en-US" sz="2000" baseline="0" dirty="0" err="1"/>
                  <a:t>trebalo</a:t>
                </a:r>
                <a:r>
                  <a:rPr lang="en-US" sz="2000" baseline="0" dirty="0"/>
                  <a:t> da </a:t>
                </a:r>
                <a:r>
                  <a:rPr lang="en-US" sz="2000" baseline="0" dirty="0" err="1"/>
                  <a:t>je</a:t>
                </a:r>
                <a:r>
                  <a:rPr lang="en-US" sz="2000" baseline="0" dirty="0"/>
                  <a:t> </a:t>
                </a:r>
                <a:r>
                  <a:rPr lang="en-US" sz="2000" baseline="0" dirty="0" err="1"/>
                  <a:t>blizu</a:t>
                </a:r>
                <a:r>
                  <a:rPr lang="en-US" sz="2000" baseline="0" dirty="0"/>
                  <a:t> </a:t>
                </a:r>
                <a:r>
                  <a:rPr lang="en-US" sz="2000" baseline="0" dirty="0" err="1"/>
                  <a:t>vrednosti</a:t>
                </a:r>
                <a:r>
                  <a:rPr lang="en-US" sz="2000" baseline="0" dirty="0"/>
                  <a:t> N/r </a:t>
                </a:r>
                <a:r>
                  <a:rPr lang="en-US" sz="2000" baseline="0" dirty="0" err="1"/>
                  <a:t>koju</a:t>
                </a:r>
                <a:r>
                  <a:rPr lang="en-US" sz="2000" baseline="0" dirty="0"/>
                  <a:t> </a:t>
                </a:r>
                <a:r>
                  <a:rPr lang="en-US" sz="2000" baseline="0" dirty="0" err="1"/>
                  <a:t>naravno</a:t>
                </a:r>
                <a:r>
                  <a:rPr lang="en-US" sz="2000" baseline="0" dirty="0"/>
                  <a:t> ne </a:t>
                </a:r>
                <a:r>
                  <a:rPr lang="en-US" sz="2000" baseline="0" dirty="0" err="1"/>
                  <a:t>znamo</a:t>
                </a:r>
                <a:r>
                  <a:rPr lang="en-US" sz="2000" baseline="0" dirty="0"/>
                  <a:t> </a:t>
                </a:r>
                <a:r>
                  <a:rPr lang="en-US" sz="2000" baseline="0" dirty="0" err="1"/>
                  <a:t>unapred</a:t>
                </a:r>
                <a:r>
                  <a:rPr lang="en-US" sz="2000" baseline="0" dirty="0"/>
                  <a:t>.  </a:t>
                </a:r>
                <a:r>
                  <a:rPr lang="en-US" sz="2000" baseline="0" dirty="0" err="1"/>
                  <a:t>Takodje</a:t>
                </a:r>
                <a:r>
                  <a:rPr lang="en-US" sz="2000" baseline="0" dirty="0"/>
                  <a:t>, period </a:t>
                </a:r>
                <a:r>
                  <a:rPr lang="en-US" sz="2000" baseline="0" dirty="0" err="1"/>
                  <a:t>moze</a:t>
                </a:r>
                <a:r>
                  <a:rPr lang="en-US" sz="2000" baseline="0" dirty="0"/>
                  <a:t> </a:t>
                </a:r>
                <a:r>
                  <a:rPr lang="en-US" sz="2000" baseline="0" dirty="0" err="1"/>
                  <a:t>biti</a:t>
                </a:r>
                <a:r>
                  <a:rPr lang="en-US" sz="2000" baseline="0" dirty="0"/>
                  <a:t> </a:t>
                </a:r>
                <a:r>
                  <a:rPr lang="en-US" sz="2000" baseline="0" dirty="0" err="1"/>
                  <a:t>neparan</a:t>
                </a:r>
                <a:r>
                  <a:rPr lang="en-US" sz="2000" baseline="0" dirty="0"/>
                  <a:t> </a:t>
                </a:r>
                <a:r>
                  <a:rPr lang="en-US" sz="2000" baseline="0" dirty="0" err="1"/>
                  <a:t>broj</a:t>
                </a:r>
                <a:r>
                  <a:rPr lang="en-US" sz="2000" baseline="0" dirty="0"/>
                  <a:t> I </a:t>
                </a:r>
                <a:r>
                  <a:rPr lang="en-US" sz="2000" baseline="0" dirty="0" err="1"/>
                  <a:t>konacno</a:t>
                </a:r>
                <a:r>
                  <a:rPr lang="en-US" sz="2000" baseline="0" dirty="0"/>
                  <a:t>, </a:t>
                </a:r>
                <a:r>
                  <a:rPr lang="en-US" sz="2000" baseline="0" dirty="0" err="1"/>
                  <a:t>jedan</a:t>
                </a:r>
                <a:r>
                  <a:rPr lang="en-US" sz="2000" baseline="0" dirty="0"/>
                  <a:t> od </a:t>
                </a:r>
                <a:r>
                  <a:rPr lang="en-US" sz="2000" baseline="0" dirty="0" err="1"/>
                  <a:t>dva</a:t>
                </a:r>
                <a:r>
                  <a:rPr lang="en-US" sz="2000" baseline="0" dirty="0"/>
                  <a:t> </a:t>
                </a:r>
                <a:r>
                  <a:rPr lang="en-US" sz="2000" baseline="0" dirty="0" err="1"/>
                  <a:t>faktora</a:t>
                </a:r>
                <a:r>
                  <a:rPr lang="en-US" sz="2000" baseline="0" dirty="0"/>
                  <a:t> </a:t>
                </a:r>
                <a:r>
                  <a:rPr lang="en-US" sz="2000" baseline="0" dirty="0" err="1"/>
                  <a:t>moze</a:t>
                </a:r>
                <a:r>
                  <a:rPr lang="en-US" sz="2000" baseline="0" dirty="0"/>
                  <a:t> </a:t>
                </a:r>
                <a:r>
                  <a:rPr lang="en-US" sz="2000" baseline="0" dirty="0" err="1"/>
                  <a:t>biti</a:t>
                </a:r>
                <a:r>
                  <a:rPr lang="en-US" sz="2000" baseline="0" dirty="0"/>
                  <a:t> </a:t>
                </a:r>
                <a:r>
                  <a:rPr lang="en-US" sz="2000" baseline="0" dirty="0" err="1"/>
                  <a:t>multipl</a:t>
                </a:r>
                <a:r>
                  <a:rPr lang="en-US" sz="2000" baseline="0" dirty="0"/>
                  <a:t> </a:t>
                </a:r>
                <a:r>
                  <a:rPr lang="en-US" sz="2000" baseline="0" dirty="0" err="1"/>
                  <a:t>broja</a:t>
                </a:r>
                <a:r>
                  <a:rPr lang="en-US" sz="2000" baseline="0" dirty="0"/>
                  <a:t> N. </a:t>
                </a:r>
                <a:r>
                  <a:rPr lang="en-US" sz="2000" baseline="0" dirty="0" err="1"/>
                  <a:t>Pokazano</a:t>
                </a:r>
                <a:r>
                  <a:rPr lang="en-US" sz="2000" baseline="0" dirty="0"/>
                  <a:t> </a:t>
                </a:r>
                <a:r>
                  <a:rPr lang="en-US" sz="2000" baseline="0" dirty="0" err="1"/>
                  <a:t>je</a:t>
                </a:r>
                <a:r>
                  <a:rPr lang="en-US" sz="2000" baseline="0" dirty="0"/>
                  <a:t> da </a:t>
                </a:r>
                <a:r>
                  <a:rPr lang="en-US" sz="2000" baseline="0" dirty="0" err="1"/>
                  <a:t>je</a:t>
                </a:r>
                <a:r>
                  <a:rPr lang="en-US" sz="2000" baseline="0" dirty="0"/>
                  <a:t> </a:t>
                </a:r>
                <a:r>
                  <a:rPr lang="en-US" sz="2000" baseline="0" dirty="0" err="1"/>
                  <a:t>verovatnoca</a:t>
                </a:r>
                <a:r>
                  <a:rPr lang="en-US" sz="2000" baseline="0" dirty="0"/>
                  <a:t> da </a:t>
                </a:r>
                <a:r>
                  <a:rPr lang="en-US" sz="2000" baseline="0" dirty="0" err="1"/>
                  <a:t>algoritam</a:t>
                </a:r>
                <a:r>
                  <a:rPr lang="en-US" sz="2000" baseline="0" dirty="0"/>
                  <a:t> </a:t>
                </a:r>
                <a:r>
                  <a:rPr lang="en-US" sz="2000" baseline="0" dirty="0" err="1"/>
                  <a:t>tacno</a:t>
                </a:r>
                <a:r>
                  <a:rPr lang="en-US" sz="2000" baseline="0" dirty="0"/>
                  <a:t> </a:t>
                </a:r>
                <a:r>
                  <a:rPr lang="en-US" sz="2000" baseline="0" dirty="0" err="1"/>
                  <a:t>faktorise</a:t>
                </a:r>
                <a:r>
                  <a:rPr lang="en-US" sz="2000" baseline="0" dirty="0"/>
                  <a:t> </a:t>
                </a:r>
                <a:r>
                  <a:rPr lang="en-US" sz="2000" baseline="0" dirty="0" err="1"/>
                  <a:t>brojeve</a:t>
                </a:r>
                <a:r>
                  <a:rPr lang="en-US" sz="2000" baseline="0" dirty="0"/>
                  <a:t> </a:t>
                </a:r>
                <a:r>
                  <a:rPr lang="en-US" sz="2000" baseline="0" dirty="0" err="1"/>
                  <a:t>oko</a:t>
                </a:r>
                <a:r>
                  <a:rPr lang="en-US" sz="2000" baseline="0" dirty="0"/>
                  <a:t> 50%. </a:t>
                </a:r>
                <a:r>
                  <a:rPr lang="en-US" sz="2000" baseline="0" dirty="0" err="1"/>
                  <a:t>Ovo</a:t>
                </a:r>
                <a:r>
                  <a:rPr lang="en-US" sz="2000" baseline="0" dirty="0"/>
                  <a:t> </a:t>
                </a:r>
                <a:r>
                  <a:rPr lang="en-US" sz="2000" baseline="0" dirty="0" err="1"/>
                  <a:t>jednostavno</a:t>
                </a:r>
                <a:r>
                  <a:rPr lang="en-US" sz="2000" baseline="0" dirty="0"/>
                  <a:t> </a:t>
                </a:r>
                <a:r>
                  <a:rPr lang="en-US" sz="2000" baseline="0" dirty="0" err="1"/>
                  <a:t>znaci</a:t>
                </a:r>
                <a:r>
                  <a:rPr lang="en-US" sz="2000" baseline="0" dirty="0"/>
                  <a:t> da, </a:t>
                </a:r>
                <a:r>
                  <a:rPr lang="en-US" sz="2000" baseline="0" dirty="0" err="1"/>
                  <a:t>kao</a:t>
                </a:r>
                <a:r>
                  <a:rPr lang="en-US" sz="2000" baseline="0" dirty="0"/>
                  <a:t> </a:t>
                </a:r>
                <a:r>
                  <a:rPr lang="en-US" sz="2000" baseline="0" dirty="0" err="1"/>
                  <a:t>sto</a:t>
                </a:r>
                <a:r>
                  <a:rPr lang="en-US" sz="2000" baseline="0" dirty="0"/>
                  <a:t> </a:t>
                </a:r>
                <a:r>
                  <a:rPr lang="en-US" sz="2000" baseline="0" dirty="0" err="1"/>
                  <a:t>smo</a:t>
                </a:r>
                <a:r>
                  <a:rPr lang="en-US" sz="2000" baseline="0" dirty="0"/>
                  <a:t> </a:t>
                </a:r>
                <a:r>
                  <a:rPr lang="en-US" sz="2000" baseline="0" dirty="0" err="1"/>
                  <a:t>vec</a:t>
                </a:r>
                <a:r>
                  <a:rPr lang="en-US" sz="2000" baseline="0" dirty="0"/>
                  <a:t> </a:t>
                </a:r>
                <a:r>
                  <a:rPr lang="en-US" sz="2000" baseline="0" dirty="0" err="1"/>
                  <a:t>navikli</a:t>
                </a:r>
                <a:r>
                  <a:rPr lang="en-US" sz="2000" baseline="0" dirty="0"/>
                  <a:t>, process </a:t>
                </a:r>
                <a:r>
                  <a:rPr lang="en-US" sz="2000" baseline="0" dirty="0" err="1"/>
                  <a:t>treba</a:t>
                </a:r>
                <a:r>
                  <a:rPr lang="en-US" sz="2000" baseline="0" dirty="0"/>
                  <a:t> </a:t>
                </a:r>
                <a:r>
                  <a:rPr lang="en-US" sz="2000" baseline="0" dirty="0" err="1"/>
                  <a:t>ponoviti</a:t>
                </a:r>
                <a:r>
                  <a:rPr lang="en-US" sz="2000" baseline="0" dirty="0"/>
                  <a:t> </a:t>
                </a:r>
                <a:r>
                  <a:rPr lang="en-US" sz="2000" baseline="0" dirty="0" err="1"/>
                  <a:t>nekoliko</a:t>
                </a:r>
                <a:r>
                  <a:rPr lang="en-US" sz="2000" baseline="0" dirty="0"/>
                  <a:t> puta </a:t>
                </a:r>
                <a:r>
                  <a:rPr lang="en-US" sz="2000" baseline="0" dirty="0" err="1"/>
                  <a:t>sa</a:t>
                </a:r>
                <a:r>
                  <a:rPr lang="en-US" sz="2000" baseline="0" dirty="0"/>
                  <a:t> </a:t>
                </a:r>
                <a:r>
                  <a:rPr lang="en-US" sz="2000" baseline="0" dirty="0" err="1"/>
                  <a:t>razlicitim</a:t>
                </a:r>
                <a:r>
                  <a:rPr lang="en-US" sz="2000" baseline="0" dirty="0"/>
                  <a:t> </a:t>
                </a:r>
                <a:r>
                  <a:rPr lang="en-US" sz="2000" baseline="0" dirty="0" err="1"/>
                  <a:t>inicijalnim</a:t>
                </a:r>
                <a:r>
                  <a:rPr lang="en-US" sz="2000" baseline="0" dirty="0"/>
                  <a:t> </a:t>
                </a:r>
                <a:r>
                  <a:rPr lang="en-US" sz="2000" baseline="0" dirty="0" err="1"/>
                  <a:t>pogadjanjem</a:t>
                </a:r>
                <a:r>
                  <a:rPr lang="en-US" sz="2000" baseline="0" dirty="0"/>
                  <a:t>.</a:t>
                </a:r>
                <a:endParaRPr lang="en-US" sz="2000" i="0" dirty="0">
                  <a:latin typeface="+mn-lt"/>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40</a:t>
            </a:fld>
            <a:endParaRPr lang="en-US"/>
          </a:p>
        </p:txBody>
      </p:sp>
    </p:spTree>
    <p:extLst>
      <p:ext uri="{BB962C8B-B14F-4D97-AF65-F5344CB8AC3E}">
        <p14:creationId xmlns:p14="http://schemas.microsoft.com/office/powerpoint/2010/main" val="27839822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The classical part of Shor’s algorithm can be illustrated using the example</a:t>
                </a:r>
                <a:r>
                  <a:rPr lang="en-ZA" baseline="0" dirty="0"/>
                  <a:t>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𝑁</m:t>
                    </m:r>
                    <m:r>
                      <a:rPr lang="en-US" sz="1200" b="0" i="1" smtClean="0">
                        <a:solidFill>
                          <a:schemeClr val="tx1"/>
                        </a:solidFill>
                        <a:latin typeface="Cambria Math" panose="02040503050406030204" pitchFamily="18" charset="0"/>
                        <a:ea typeface="Cambria Math" panose="02040503050406030204" pitchFamily="18" charset="0"/>
                      </a:rPr>
                      <m:t>=15</m:t>
                    </m:r>
                  </m:oMath>
                </a14:m>
                <a:r>
                  <a:rPr lang="en-ZA" dirty="0"/>
                  <a:t>.</a:t>
                </a:r>
                <a:br>
                  <a:rPr lang="en-ZA" dirty="0"/>
                </a:br>
                <a:endParaRPr lang="en-ZA" dirty="0"/>
              </a:p>
              <a:p>
                <a:pPr marL="228600" indent="-228600">
                  <a:buFont typeface="+mj-lt"/>
                  <a:buAutoNum type="arabicPeriod"/>
                </a:pPr>
                <a:r>
                  <a:rPr lang="en-ZA" dirty="0"/>
                  <a:t>A random number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𝑎</m:t>
                    </m:r>
                    <m:r>
                      <a:rPr lang="en-US" sz="1200" b="0" i="1" smtClean="0">
                        <a:solidFill>
                          <a:schemeClr val="tx1"/>
                        </a:solidFill>
                        <a:latin typeface="Cambria Math" panose="02040503050406030204" pitchFamily="18" charset="0"/>
                        <a:ea typeface="Cambria Math" panose="02040503050406030204" pitchFamily="18" charset="0"/>
                      </a:rPr>
                      <m:t>=7</m:t>
                    </m:r>
                  </m:oMath>
                </a14:m>
                <a:r>
                  <a:rPr lang="en-ZA" dirty="0"/>
                  <a:t> is selected.</a:t>
                </a:r>
              </a:p>
              <a:p>
                <a:pPr marL="228600" indent="-228600">
                  <a:buFont typeface="+mj-lt"/>
                  <a:buAutoNum type="arabicPeriod"/>
                </a:pPr>
                <a:endParaRPr lang="en-ZA" dirty="0"/>
              </a:p>
              <a:p>
                <a:pPr marL="228600" indent="-228600">
                  <a:buFont typeface="+mj-lt"/>
                  <a:buAutoNum type="arabicPeriod"/>
                </a:pPr>
                <a:r>
                  <a:rPr lang="en-ZA" dirty="0"/>
                  <a:t>The period of the function</a:t>
                </a:r>
                <a:r>
                  <a:rPr lang="en-ZA" baseline="0" dirty="0"/>
                  <a:t> </a:t>
                </a:r>
                <a14:m>
                  <m:oMath xmlns:m="http://schemas.openxmlformats.org/officeDocument/2006/math">
                    <m:sSup>
                      <m:sSupPr>
                        <m:ctrlPr>
                          <a:rPr lang="en-US" sz="1200" i="1" smtClean="0">
                            <a:solidFill>
                              <a:srgbClr val="002060"/>
                            </a:solidFill>
                            <a:latin typeface="Cambria Math" panose="02040503050406030204" pitchFamily="18" charset="0"/>
                          </a:rPr>
                        </m:ctrlPr>
                      </m:sSupPr>
                      <m:e>
                        <m:r>
                          <a:rPr lang="en-US" sz="1200" b="0" i="1" smtClean="0">
                            <a:solidFill>
                              <a:srgbClr val="002060"/>
                            </a:solidFill>
                            <a:latin typeface="Cambria Math" panose="02040503050406030204" pitchFamily="18" charset="0"/>
                          </a:rPr>
                          <m:t>7</m:t>
                        </m:r>
                      </m:e>
                      <m:sup>
                        <m:r>
                          <a:rPr lang="en-US" sz="1200" b="0" i="1" smtClean="0">
                            <a:solidFill>
                              <a:srgbClr val="002060"/>
                            </a:solidFill>
                            <a:latin typeface="Cambria Math" panose="02040503050406030204" pitchFamily="18" charset="0"/>
                          </a:rPr>
                          <m:t>𝑥</m:t>
                        </m:r>
                      </m:sup>
                    </m:sSup>
                    <m:r>
                      <a:rPr lang="en-US" sz="1200" b="0" i="1" smtClean="0">
                        <a:solidFill>
                          <a:srgbClr val="002060"/>
                        </a:solidFill>
                        <a:latin typeface="Cambria Math" panose="02040503050406030204" pitchFamily="18" charset="0"/>
                      </a:rPr>
                      <m:t> </m:t>
                    </m:r>
                    <m:r>
                      <m:rPr>
                        <m:sty m:val="p"/>
                      </m:rPr>
                      <a:rPr lang="en-US" sz="1200" i="0">
                        <a:solidFill>
                          <a:srgbClr val="002060"/>
                        </a:solidFill>
                        <a:latin typeface="Cambria Math" panose="02040503050406030204" pitchFamily="18" charset="0"/>
                      </a:rPr>
                      <m:t>mod</m:t>
                    </m:r>
                    <m:r>
                      <a:rPr lang="en-US" sz="1200" i="1">
                        <a:solidFill>
                          <a:srgbClr val="002060"/>
                        </a:solidFill>
                        <a:latin typeface="Cambria Math" panose="02040503050406030204" pitchFamily="18" charset="0"/>
                      </a:rPr>
                      <m:t> 15</m:t>
                    </m:r>
                  </m:oMath>
                </a14:m>
                <a:r>
                  <a:rPr lang="en-ZA" dirty="0"/>
                  <a:t> was previously found to be 4.</a:t>
                </a:r>
              </a:p>
              <a:p>
                <a:pPr marL="228600" indent="-228600">
                  <a:buFont typeface="+mj-lt"/>
                  <a:buAutoNum type="arabicPeriod"/>
                </a:pPr>
                <a:endParaRPr lang="en-ZA" dirty="0"/>
              </a:p>
              <a:p>
                <a:pPr marL="228600" indent="-228600">
                  <a:buFont typeface="+mj-lt"/>
                  <a:buAutoNum type="arabicPeriod"/>
                </a:pPr>
                <a:r>
                  <a:rPr lang="en-ZA" dirty="0"/>
                  <a:t>The required conditions are satisfied:</a:t>
                </a:r>
              </a:p>
              <a:p>
                <a:pPr lvl="1"/>
                <a:r>
                  <a:rPr lang="en-ZA" dirty="0"/>
                  <a:t>The period</a:t>
                </a:r>
                <a14:m>
                  <m:oMath xmlns:m="http://schemas.openxmlformats.org/officeDocument/2006/math">
                    <m:r>
                      <a:rPr lang="en-US" sz="1200" b="0" i="0" smtClean="0">
                        <a:solidFill>
                          <a:srgbClr val="002060"/>
                        </a:solidFill>
                        <a:latin typeface="Cambria Math" panose="02040503050406030204" pitchFamily="18" charset="0"/>
                        <a:ea typeface="Cambria Math" panose="02040503050406030204" pitchFamily="18" charset="0"/>
                      </a:rPr>
                      <m:t> </m:t>
                    </m:r>
                    <m:r>
                      <a:rPr lang="en-US" sz="1200" i="1" smtClean="0">
                        <a:solidFill>
                          <a:srgbClr val="002060"/>
                        </a:solidFill>
                        <a:latin typeface="Cambria Math" panose="02040503050406030204" pitchFamily="18" charset="0"/>
                        <a:ea typeface="Cambria Math" panose="02040503050406030204" pitchFamily="18" charset="0"/>
                      </a:rPr>
                      <m:t>𝑟</m:t>
                    </m:r>
                  </m:oMath>
                </a14:m>
                <a:r>
                  <a:rPr lang="en-ZA" dirty="0"/>
                  <a:t> is even, and </a:t>
                </a:r>
                <a14:m>
                  <m:oMath xmlns:m="http://schemas.openxmlformats.org/officeDocument/2006/math">
                    <m:sSup>
                      <m:sSupPr>
                        <m:ctrlPr>
                          <a:rPr lang="en-US" sz="120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 7</m:t>
                        </m:r>
                      </m:e>
                      <m:sup>
                        <m:r>
                          <a:rPr lang="en-US" sz="1200" i="1">
                            <a:solidFill>
                              <a:schemeClr val="tx1"/>
                            </a:solidFill>
                            <a:latin typeface="Cambria Math" panose="02040503050406030204" pitchFamily="18" charset="0"/>
                            <a:ea typeface="Cambria Math" panose="02040503050406030204" pitchFamily="18" charset="0"/>
                          </a:rPr>
                          <m:t>𝑟</m:t>
                        </m:r>
                        <m:r>
                          <a:rPr lang="en-US" sz="1200" i="1">
                            <a:solidFill>
                              <a:schemeClr val="tx1"/>
                            </a:solidFill>
                            <a:latin typeface="Cambria Math" panose="02040503050406030204" pitchFamily="18" charset="0"/>
                            <a:ea typeface="Cambria Math" panose="02040503050406030204" pitchFamily="18" charset="0"/>
                          </a:rPr>
                          <m:t>/2</m:t>
                        </m:r>
                      </m:sup>
                    </m:sSup>
                    <m:r>
                      <a:rPr lang="en-US" sz="1200" b="0" i="1" smtClean="0">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1</m:t>
                    </m:r>
                    <m:r>
                      <a:rPr lang="en-US" sz="1200" b="0" i="1" smtClean="0">
                        <a:solidFill>
                          <a:schemeClr val="tx1"/>
                        </a:solidFill>
                        <a:latin typeface="Cambria Math" panose="02040503050406030204" pitchFamily="18" charset="0"/>
                        <a:ea typeface="Cambria Math" panose="02040503050406030204" pitchFamily="18" charset="0"/>
                      </a:rPr>
                      <m:t>=48</m:t>
                    </m:r>
                  </m:oMath>
                </a14:m>
                <a:r>
                  <a:rPr lang="en-ZA" dirty="0"/>
                  <a:t>, </a:t>
                </a:r>
                <a14:m>
                  <m:oMath xmlns:m="http://schemas.openxmlformats.org/officeDocument/2006/math">
                    <m:sSup>
                      <m:sSupPr>
                        <m:ctrlPr>
                          <a:rPr lang="en-US" sz="120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 7</m:t>
                        </m:r>
                      </m:e>
                      <m:sup>
                        <m:r>
                          <a:rPr lang="en-US" sz="1200" i="1">
                            <a:solidFill>
                              <a:schemeClr val="tx1"/>
                            </a:solidFill>
                            <a:latin typeface="Cambria Math" panose="02040503050406030204" pitchFamily="18" charset="0"/>
                            <a:ea typeface="Cambria Math" panose="02040503050406030204" pitchFamily="18" charset="0"/>
                          </a:rPr>
                          <m:t>𝑟</m:t>
                        </m:r>
                        <m:r>
                          <a:rPr lang="en-US" sz="1200" i="1">
                            <a:solidFill>
                              <a:schemeClr val="tx1"/>
                            </a:solidFill>
                            <a:latin typeface="Cambria Math" panose="02040503050406030204" pitchFamily="18" charset="0"/>
                            <a:ea typeface="Cambria Math" panose="02040503050406030204" pitchFamily="18" charset="0"/>
                          </a:rPr>
                          <m:t>/2</m:t>
                        </m:r>
                      </m:sup>
                    </m:sSup>
                    <m:r>
                      <a:rPr lang="en-US" sz="1200" b="0" i="1" smtClean="0">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1</m:t>
                    </m:r>
                    <m:r>
                      <a:rPr lang="en-US" sz="1200" b="0" i="1" smtClean="0">
                        <a:solidFill>
                          <a:schemeClr val="tx1"/>
                        </a:solidFill>
                        <a:latin typeface="Cambria Math" panose="02040503050406030204" pitchFamily="18" charset="0"/>
                        <a:ea typeface="Cambria Math" panose="02040503050406030204" pitchFamily="18" charset="0"/>
                      </a:rPr>
                      <m:t>=59</m:t>
                    </m:r>
                  </m:oMath>
                </a14:m>
                <a:r>
                  <a:rPr lang="en-ZA" dirty="0"/>
                  <a:t> and neither value is divisible by 15.</a:t>
                </a:r>
              </a:p>
              <a:p>
                <a:pPr lvl="1"/>
                <a:endParaRPr lang="en-ZA" dirty="0"/>
              </a:p>
              <a:p>
                <a:pPr marL="228600" lvl="0" indent="-228600">
                  <a:buFont typeface="+mj-lt"/>
                  <a:buAutoNum type="arabicPeriod"/>
                </a:pPr>
                <a:r>
                  <a:rPr lang="en-ZA" dirty="0"/>
                  <a:t>The factors are then obtained by computing the greatest common divisors:</a:t>
                </a:r>
                <a:br>
                  <a:rPr lang="en-ZA" baseline="0" dirty="0"/>
                </a:br>
                <a14:m>
                  <m:oMath xmlns:m="http://schemas.openxmlformats.org/officeDocument/2006/math">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func>
                          <m:funcPr>
                            <m:ctrlPr>
                              <a:rPr lang="en-US" sz="1200" i="1">
                                <a:solidFill>
                                  <a:srgbClr val="002060"/>
                                </a:solidFill>
                                <a:latin typeface="Cambria Math" panose="02040503050406030204" pitchFamily="18" charset="0"/>
                                <a:ea typeface="Cambria Math" panose="02040503050406030204" pitchFamily="18" charset="0"/>
                              </a:rPr>
                            </m:ctrlPr>
                          </m:funcPr>
                          <m:fName>
                            <m:r>
                              <a:rPr lang="en-US" sz="1200" b="0" i="1" smtClean="0">
                                <a:solidFill>
                                  <a:srgbClr val="002060"/>
                                </a:solidFill>
                                <a:latin typeface="Cambria Math" panose="02040503050406030204" pitchFamily="18" charset="0"/>
                                <a:ea typeface="Cambria Math" panose="02040503050406030204" pitchFamily="18" charset="0"/>
                              </a:rPr>
                              <m:t>𝑝</m:t>
                            </m:r>
                            <m:r>
                              <a:rPr lang="en-US" sz="1200" b="0" i="1" smtClean="0">
                                <a:solidFill>
                                  <a:srgbClr val="002060"/>
                                </a:solidFill>
                                <a:latin typeface="Cambria Math" panose="02040503050406030204" pitchFamily="18" charset="0"/>
                                <a:ea typeface="Cambria Math" panose="02040503050406030204" pitchFamily="18" charset="0"/>
                              </a:rPr>
                              <m:t>=</m:t>
                            </m:r>
                            <m:r>
                              <m:rPr>
                                <m:sty m:val="p"/>
                              </m:rPr>
                              <a:rPr lang="en-US" sz="1200" b="0" i="0" smtClean="0">
                                <a:solidFill>
                                  <a:srgbClr val="AA22FF"/>
                                </a:solidFill>
                                <a:latin typeface="Cambria Math" panose="02040503050406030204" pitchFamily="18" charset="0"/>
                                <a:ea typeface="Cambria Math" panose="02040503050406030204" pitchFamily="18" charset="0"/>
                              </a:rPr>
                              <m:t>gcd</m:t>
                            </m:r>
                          </m:fName>
                          <m:e>
                            <m:d>
                              <m:dPr>
                                <m:ctrlPr>
                                  <a:rPr lang="en-US" sz="1200" i="1">
                                    <a:solidFill>
                                      <a:srgbClr val="002060"/>
                                    </a:solidFill>
                                    <a:latin typeface="Cambria Math" panose="02040503050406030204" pitchFamily="18" charset="0"/>
                                    <a:ea typeface="Cambria Math" panose="02040503050406030204" pitchFamily="18" charset="0"/>
                                  </a:rPr>
                                </m:ctrlPr>
                              </m:dPr>
                              <m:e>
                                <m:r>
                                  <a:rPr lang="en-US" sz="1200" i="1" smtClean="0">
                                    <a:solidFill>
                                      <a:srgbClr val="002060"/>
                                    </a:solidFill>
                                    <a:latin typeface="Cambria Math" panose="02040503050406030204" pitchFamily="18" charset="0"/>
                                    <a:ea typeface="Cambria Math" panose="02040503050406030204" pitchFamily="18" charset="0"/>
                                  </a:rPr>
                                  <m:t>4</m:t>
                                </m:r>
                                <m:r>
                                  <a:rPr lang="en-US" sz="1200" b="0" i="1" smtClean="0">
                                    <a:solidFill>
                                      <a:srgbClr val="002060"/>
                                    </a:solidFill>
                                    <a:latin typeface="Cambria Math" panose="02040503050406030204" pitchFamily="18" charset="0"/>
                                    <a:ea typeface="Cambria Math" panose="02040503050406030204" pitchFamily="18" charset="0"/>
                                  </a:rPr>
                                  <m:t>8</m:t>
                                </m:r>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15</m:t>
                                </m:r>
                              </m:e>
                            </m:d>
                          </m:e>
                        </m:func>
                        <m:r>
                          <a:rPr lang="en-US" sz="1200" b="0" i="1" smtClean="0">
                            <a:solidFill>
                              <a:srgbClr val="002060"/>
                            </a:solidFill>
                            <a:latin typeface="Cambria Math" panose="02040503050406030204" pitchFamily="18" charset="0"/>
                            <a:ea typeface="Cambria Math" panose="02040503050406030204" pitchFamily="18" charset="0"/>
                          </a:rPr>
                          <m:t>=3,  </m:t>
                        </m:r>
                        <m:r>
                          <m:rPr>
                            <m:sty m:val="p"/>
                          </m:rPr>
                          <a:rPr lang="en-US" sz="1200" i="0">
                            <a:solidFill>
                              <a:srgbClr val="AA22FF"/>
                            </a:solidFill>
                            <a:latin typeface="Cambria Math" panose="02040503050406030204" pitchFamily="18" charset="0"/>
                            <a:ea typeface="Cambria Math" panose="02040503050406030204" pitchFamily="18" charset="0"/>
                          </a:rPr>
                          <m:t>gcd</m:t>
                        </m:r>
                      </m:fName>
                      <m:e>
                        <m:d>
                          <m:dPr>
                            <m:ctrlPr>
                              <a:rPr lang="en-US" sz="1200" b="0" i="1" smtClean="0">
                                <a:solidFill>
                                  <a:srgbClr val="002060"/>
                                </a:solidFill>
                                <a:latin typeface="Cambria Math" panose="02040503050406030204" pitchFamily="18" charset="0"/>
                                <a:ea typeface="Cambria Math" panose="02040503050406030204" pitchFamily="18" charset="0"/>
                              </a:rPr>
                            </m:ctrlPr>
                          </m:dPr>
                          <m:e>
                            <m:r>
                              <a:rPr lang="en-US" sz="1200" i="1" smtClean="0">
                                <a:solidFill>
                                  <a:srgbClr val="002060"/>
                                </a:solidFill>
                                <a:latin typeface="Cambria Math" panose="02040503050406030204" pitchFamily="18" charset="0"/>
                                <a:ea typeface="Cambria Math" panose="02040503050406030204" pitchFamily="18" charset="0"/>
                              </a:rPr>
                              <m:t>5</m:t>
                            </m:r>
                            <m:r>
                              <a:rPr lang="en-US" sz="1200" b="0" i="1" smtClean="0">
                                <a:solidFill>
                                  <a:srgbClr val="002060"/>
                                </a:solidFill>
                                <a:latin typeface="Cambria Math" panose="02040503050406030204" pitchFamily="18" charset="0"/>
                                <a:ea typeface="Cambria Math" panose="02040503050406030204" pitchFamily="18" charset="0"/>
                              </a:rPr>
                              <m:t>0,</m:t>
                            </m:r>
                            <m:r>
                              <a:rPr lang="sr-Latn-RS" sz="1200" b="0" i="1" smtClean="0">
                                <a:solidFill>
                                  <a:srgbClr val="002060"/>
                                </a:solidFill>
                                <a:latin typeface="Cambria Math" panose="02040503050406030204" pitchFamily="18" charset="0"/>
                                <a:ea typeface="Cambria Math" panose="02040503050406030204" pitchFamily="18" charset="0"/>
                              </a:rPr>
                              <m:t> </m:t>
                            </m:r>
                            <m:r>
                              <a:rPr lang="en-US" sz="1200" b="0" i="1" smtClean="0">
                                <a:solidFill>
                                  <a:srgbClr val="002060"/>
                                </a:solidFill>
                                <a:latin typeface="Cambria Math" panose="02040503050406030204" pitchFamily="18" charset="0"/>
                                <a:ea typeface="Cambria Math" panose="02040503050406030204" pitchFamily="18" charset="0"/>
                              </a:rPr>
                              <m:t>15</m:t>
                            </m:r>
                          </m:e>
                        </m:d>
                      </m:e>
                    </m:func>
                    <m:r>
                      <a:rPr lang="en-US" sz="1200" b="0" i="1" smtClean="0">
                        <a:solidFill>
                          <a:srgbClr val="002060"/>
                        </a:solidFill>
                        <a:latin typeface="Cambria Math" panose="02040503050406030204" pitchFamily="18" charset="0"/>
                        <a:ea typeface="Cambria Math" panose="02040503050406030204" pitchFamily="18" charset="0"/>
                      </a:rPr>
                      <m:t>=5</m:t>
                    </m:r>
                  </m:oMath>
                </a14:m>
                <a:endParaRPr lang="en-US" sz="1200" b="0" i="1" dirty="0">
                  <a:solidFill>
                    <a:srgbClr val="002060"/>
                  </a:solidFill>
                  <a:ea typeface="Cambria Math" panose="02040503050406030204" pitchFamily="18" charset="0"/>
                </a:endParaRPr>
              </a:p>
              <a:p>
                <a:endParaRPr lang="en-ZA" dirty="0"/>
              </a:p>
              <a:p>
                <a:endParaRPr lang="en-ZA" dirty="0"/>
              </a:p>
              <a:p>
                <a:endParaRPr lang="en-US" sz="1200" dirty="0"/>
              </a:p>
            </p:txBody>
          </p:sp>
        </mc:Choice>
        <mc:Fallback xmlns="">
          <p:sp>
            <p:nvSpPr>
              <p:cNvPr id="3" name="Notes Placeholder 2"/>
              <p:cNvSpPr>
                <a:spLocks noGrp="1"/>
              </p:cNvSpPr>
              <p:nvPr>
                <p:ph type="body" idx="1"/>
              </p:nvPr>
            </p:nvSpPr>
            <p:spPr/>
            <p:txBody>
              <a:bodyPr/>
              <a:lstStyle/>
              <a:p>
                <a:pPr marL="457200" indent="-457200">
                  <a:buFont typeface="+mj-lt"/>
                  <a:buAutoNum type="arabicPeriod"/>
                </a:pPr>
                <a:r>
                  <a:rPr lang="en-US" sz="2200" dirty="0"/>
                  <a:t>Going back to the algorithm…</a:t>
                </a:r>
              </a:p>
              <a:p>
                <a:pPr marL="457200" indent="-457200">
                  <a:buFont typeface="+mj-lt"/>
                  <a:buAutoNum type="arabicPeriod"/>
                </a:pPr>
                <a:r>
                  <a:rPr lang="en-US" sz="2200" dirty="0"/>
                  <a:t>Since 4 is even number</a:t>
                </a:r>
                <a:r>
                  <a:rPr lang="en-US" sz="2200" baseline="0" dirty="0"/>
                  <a:t> </a:t>
                </a:r>
                <a:r>
                  <a:rPr lang="en-US" sz="2200" dirty="0"/>
                  <a:t>and ‘7 squared +1 ‘ is not equivalent to ‘0 modulo N’</a:t>
                </a:r>
              </a:p>
              <a:p>
                <a:pPr marL="457200" indent="-457200">
                  <a:buFont typeface="+mj-lt"/>
                  <a:buAutoNum type="arabicPeriod"/>
                </a:pPr>
                <a:r>
                  <a:rPr lang="en-US" sz="2200" dirty="0"/>
                  <a:t>we can proceed and apply the greatest common divisor formulas to get factor p and q and we are done.</a:t>
                </a:r>
              </a:p>
              <a:p>
                <a:pPr marL="457200" indent="-457200">
                  <a:buFont typeface="+mj-lt"/>
                  <a:buAutoNum type="arabicPeriod"/>
                </a:pPr>
                <a:r>
                  <a:rPr lang="en-US" sz="2200" dirty="0"/>
                  <a:t>If we were unlucky to choose wrong number </a:t>
                </a:r>
                <a:r>
                  <a:rPr lang="en-US" sz="2200" i="0">
                    <a:solidFill>
                      <a:srgbClr val="0000FF"/>
                    </a:solidFill>
                    <a:latin typeface="Cambria Math" panose="02040503050406030204" pitchFamily="18" charset="0"/>
                  </a:rPr>
                  <a:t>𝑎</a:t>
                </a:r>
                <a:r>
                  <a:rPr lang="en-US" sz="2200" dirty="0"/>
                  <a:t>, the whole algorithm must</a:t>
                </a:r>
                <a:r>
                  <a:rPr lang="en-US" sz="2200" baseline="0" dirty="0"/>
                  <a:t> be repeated. However,</a:t>
                </a:r>
                <a:r>
                  <a:rPr lang="en-US" sz="2200" dirty="0"/>
                  <a:t>  the unlucky integers are not too frequent, so on average, only few calls to the period-finding function are sufficient to get</a:t>
                </a:r>
                <a:r>
                  <a:rPr lang="en-US" sz="2200" baseline="0" dirty="0"/>
                  <a:t> desired value of r. In fact, </a:t>
                </a:r>
                <a:r>
                  <a:rPr lang="en-US" sz="2200" i="0" dirty="0">
                    <a:latin typeface="+mn-lt"/>
                  </a:rPr>
                  <a:t>Miller has shown in his thesis that the probability of period</a:t>
                </a:r>
                <a:r>
                  <a:rPr lang="en-US" sz="2200" i="0" baseline="0" dirty="0">
                    <a:latin typeface="+mn-lt"/>
                  </a:rPr>
                  <a:t> being even and ‘a to r over 2’ being a nontrivial  square root of ‘ 1 mod N’ is 50%.</a:t>
                </a:r>
              </a:p>
              <a:p>
                <a:pPr marL="457200" indent="-457200">
                  <a:buFont typeface="+mj-lt"/>
                  <a:buAutoNum type="arabicPeriod"/>
                </a:pPr>
                <a:r>
                  <a:rPr lang="en-US" sz="2200" dirty="0"/>
                  <a:t>We will simply accept Miller findings without proof and shift our focus to the quantum part of the algorithm which is period finding.</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41</a:t>
            </a:fld>
            <a:endParaRPr lang="en-US"/>
          </a:p>
        </p:txBody>
      </p:sp>
    </p:spTree>
    <p:extLst>
      <p:ext uri="{BB962C8B-B14F-4D97-AF65-F5344CB8AC3E}">
        <p14:creationId xmlns:p14="http://schemas.microsoft.com/office/powerpoint/2010/main" val="4079125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Finding the period of a function over a very large domain can be extremely difficult for a classical computer. Suppose a periodic function </a:t>
                </a:r>
                <a14:m>
                  <m:oMath xmlns:m="http://schemas.openxmlformats.org/officeDocument/2006/math">
                    <m:r>
                      <a:rPr lang="en-US" sz="1200" b="0" i="1" smtClean="0">
                        <a:latin typeface="Cambria Math" panose="02040503050406030204" pitchFamily="18" charset="0"/>
                      </a:rPr>
                      <m:t>𝑓</m:t>
                    </m:r>
                    <m:r>
                      <a:rPr lang="en-US" sz="1200" b="0" i="1" smtClean="0">
                        <a:latin typeface="Cambria Math" panose="02040503050406030204" pitchFamily="18" charset="0"/>
                      </a:rPr>
                      <m:t>(</m:t>
                    </m:r>
                    <m:r>
                      <a:rPr lang="en-US" sz="1200" b="0" i="1" smtClean="0">
                        <a:latin typeface="Cambria Math" panose="02040503050406030204" pitchFamily="18" charset="0"/>
                      </a:rPr>
                      <m:t>𝑥</m:t>
                    </m:r>
                    <m:r>
                      <a:rPr lang="en-US" sz="1200" b="0" i="1" smtClean="0">
                        <a:latin typeface="Cambria Math" panose="02040503050406030204" pitchFamily="18" charset="0"/>
                      </a:rPr>
                      <m:t>)</m:t>
                    </m:r>
                  </m:oMath>
                </a14:m>
                <a:r>
                  <a:rPr lang="en-ZA" b="0" dirty="0"/>
                  <a:t> is defined over </a:t>
                </a:r>
                <a14:m>
                  <m:oMath xmlns:m="http://schemas.openxmlformats.org/officeDocument/2006/math">
                    <m:r>
                      <a:rPr lang="en-US" sz="1200" b="0" i="1" smtClean="0">
                        <a:latin typeface="Cambria Math" panose="02040503050406030204" pitchFamily="18" charset="0"/>
                      </a:rPr>
                      <m:t>𝑀</m:t>
                    </m:r>
                  </m:oMath>
                </a14:m>
                <a:r>
                  <a:rPr lang="en-ZA" b="0" dirty="0"/>
                  <a:t> possible inputs, where </a:t>
                </a:r>
                <a14:m>
                  <m:oMath xmlns:m="http://schemas.openxmlformats.org/officeDocument/2006/math">
                    <m:r>
                      <a:rPr lang="en-US" sz="1200" b="0" i="1" smtClean="0">
                        <a:latin typeface="Cambria Math" panose="02040503050406030204" pitchFamily="18" charset="0"/>
                      </a:rPr>
                      <m:t>𝑀</m:t>
                    </m:r>
                  </m:oMath>
                </a14:m>
                <a:r>
                  <a:rPr lang="en-ZA" b="0" dirty="0"/>
                  <a:t> is very large, and the goal is to determine its period </a:t>
                </a:r>
                <a14:m>
                  <m:oMath xmlns:m="http://schemas.openxmlformats.org/officeDocument/2006/math">
                    <m:r>
                      <a:rPr lang="en-US" sz="1200" b="0" i="1" smtClean="0">
                        <a:latin typeface="Cambria Math" panose="02040503050406030204" pitchFamily="18" charset="0"/>
                      </a:rPr>
                      <m:t>𝑟</m:t>
                    </m:r>
                  </m:oMath>
                </a14:m>
                <a:r>
                  <a:rPr lang="en-ZA" b="0" dirty="0"/>
                  <a:t>.</a:t>
                </a:r>
              </a:p>
              <a:p>
                <a:pPr algn="just"/>
                <a:endParaRPr lang="en-ZA" b="0" dirty="0"/>
              </a:p>
              <a:p>
                <a:pPr algn="just"/>
                <a:r>
                  <a:rPr lang="en-ZA" b="0" dirty="0"/>
                  <a:t>One classical approach is to evaluate the function at different inputs and look for a collision: two different inputs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oMath>
                </a14:m>
                <a:r>
                  <a:rPr lang="en-ZA" b="0" dirty="0"/>
                  <a:t>​ and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2</m:t>
                        </m:r>
                      </m:sub>
                    </m:sSub>
                  </m:oMath>
                </a14:m>
                <a:r>
                  <a:rPr lang="en-ZA" b="0" dirty="0"/>
                  <a:t>​ for which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𝑓</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e>
                    </m:d>
                    <m:r>
                      <a:rPr lang="en-US" sz="1200" b="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𝑓</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2</m:t>
                            </m:r>
                          </m:sub>
                        </m:sSub>
                      </m:e>
                    </m:d>
                  </m:oMath>
                </a14:m>
                <a:r>
                  <a:rPr lang="en-ZA" b="0" dirty="0"/>
                  <a:t>.  For a periodic function, such repetitions can provide information about the period, since the difference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oMath>
                </a14:m>
                <a:r>
                  <a:rPr lang="en-ZA" b="0" dirty="0"/>
                  <a:t>​ may be related to r.</a:t>
                </a:r>
              </a:p>
              <a:p>
                <a:pPr algn="just"/>
                <a:endParaRPr lang="en-ZA" b="0" dirty="0"/>
              </a:p>
              <a:p>
                <a:pPr algn="just"/>
                <a:r>
                  <a:rPr lang="en-ZA" b="0" dirty="0"/>
                  <a:t>The birthday paradox shows that collisions can occur much sooner than might initially be expected. For example, among only 23 people there is already about a 50% probability that two share the same birthday. Even with this advantage, however, collision-based searches over extremely large spaces can require an enormous number of function evaluations. </a:t>
                </a:r>
                <a:r>
                  <a:rPr lang="en-ZA" dirty="0"/>
                  <a:t>For an unstructured collision search among</a:t>
                </a:r>
                <a:r>
                  <a:rPr lang="en-ZA" b="0" dirty="0"/>
                  <a:t> </a:t>
                </a:r>
                <a14:m>
                  <m:oMath xmlns:m="http://schemas.openxmlformats.org/officeDocument/2006/math">
                    <m:r>
                      <a:rPr lang="en-US" sz="1200" i="1" smtClean="0">
                        <a:latin typeface="Cambria Math" panose="02040503050406030204" pitchFamily="18" charset="0"/>
                        <a:ea typeface="Cambria Math" panose="02040503050406030204" pitchFamily="18" charset="0"/>
                      </a:rPr>
                      <m:t>𝑀</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100</m:t>
                        </m:r>
                      </m:sup>
                    </m:sSup>
                  </m:oMath>
                </a14:m>
                <a:r>
                  <a:rPr lang="en-ZA" b="0" dirty="0"/>
                  <a:t>, </a:t>
                </a:r>
                <a:r>
                  <a:rPr lang="en-ZA" dirty="0"/>
                  <a:t>possible values, the birthday paradox suggests that a collision may be found after approximately</a:t>
                </a:r>
                <a14:m>
                  <m:oMath xmlns:m="http://schemas.openxmlformats.org/officeDocument/2006/math">
                    <m:rad>
                      <m:radPr>
                        <m:degHide m:val="on"/>
                        <m:ctrlPr>
                          <a:rPr lang="en-US" sz="1200" i="1" smtClean="0">
                            <a:latin typeface="Cambria Math" panose="02040503050406030204" pitchFamily="18" charset="0"/>
                            <a:ea typeface="Cambria Math" panose="02040503050406030204" pitchFamily="18" charset="0"/>
                          </a:rPr>
                        </m:ctrlPr>
                      </m:radPr>
                      <m:deg/>
                      <m:e>
                        <m:r>
                          <a:rPr lang="en-US" sz="1200" i="1">
                            <a:latin typeface="Cambria Math" panose="02040503050406030204" pitchFamily="18" charset="0"/>
                            <a:ea typeface="Cambria Math" panose="02040503050406030204" pitchFamily="18" charset="0"/>
                          </a:rPr>
                          <m:t>𝑀</m:t>
                        </m:r>
                      </m:e>
                    </m:rad>
                    <m:r>
                      <a:rPr lang="en-US" sz="1200" b="0" i="1" smtClean="0">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50</m:t>
                        </m:r>
                      </m:sup>
                    </m:sSup>
                  </m:oMath>
                </a14:m>
                <a:r>
                  <a:rPr lang="en-ZA" b="0" dirty="0"/>
                  <a:t> samples.</a:t>
                </a:r>
              </a:p>
            </p:txBody>
          </p:sp>
        </mc:Choice>
        <mc:Fallback xmlns="">
          <p:sp>
            <p:nvSpPr>
              <p:cNvPr id="3" name="Notes Placeholder 2"/>
              <p:cNvSpPr>
                <a:spLocks noGrp="1"/>
              </p:cNvSpPr>
              <p:nvPr>
                <p:ph type="body" idx="1"/>
              </p:nvPr>
            </p:nvSpPr>
            <p:spPr/>
            <p:txBody>
              <a:bodyPr/>
              <a:lstStyle/>
              <a:p>
                <a:r>
                  <a:rPr lang="en-US" sz="2000" dirty="0" err="1"/>
                  <a:t>Sledeca</a:t>
                </a:r>
                <a:r>
                  <a:rPr lang="en-US" sz="2000" dirty="0"/>
                  <a:t> </a:t>
                </a:r>
                <a:r>
                  <a:rPr lang="en-US" sz="2000" dirty="0" err="1"/>
                  <a:t>komponenta</a:t>
                </a:r>
                <a:r>
                  <a:rPr lang="en-US" sz="2000" dirty="0"/>
                  <a:t> </a:t>
                </a:r>
                <a:r>
                  <a:rPr lang="en-US" sz="2000" dirty="0" err="1"/>
                  <a:t>algoritma</a:t>
                </a:r>
                <a:r>
                  <a:rPr lang="en-US" sz="2000" dirty="0"/>
                  <a:t> </a:t>
                </a:r>
                <a:r>
                  <a:rPr lang="en-US" sz="2000" dirty="0" err="1"/>
                  <a:t>je</a:t>
                </a:r>
                <a:r>
                  <a:rPr lang="en-US" sz="2000" dirty="0"/>
                  <a:t> </a:t>
                </a:r>
                <a:r>
                  <a:rPr lang="en-US" sz="2000" dirty="0" err="1"/>
                  <a:t>nalazenje</a:t>
                </a:r>
                <a:r>
                  <a:rPr lang="en-US" sz="2000" dirty="0"/>
                  <a:t> </a:t>
                </a:r>
                <a:r>
                  <a:rPr lang="en-US" sz="2000" dirty="0" err="1"/>
                  <a:t>perioda</a:t>
                </a:r>
                <a:r>
                  <a:rPr lang="en-US" sz="2000" dirty="0"/>
                  <a:t> </a:t>
                </a:r>
                <a:r>
                  <a:rPr lang="en-US" sz="2000" dirty="0" err="1"/>
                  <a:t>funkcije</a:t>
                </a:r>
                <a:r>
                  <a:rPr lang="en-US" sz="2000" dirty="0"/>
                  <a:t>. </a:t>
                </a:r>
                <a:r>
                  <a:rPr lang="en-US" sz="2000" dirty="0" err="1"/>
                  <a:t>Ovo</a:t>
                </a:r>
                <a:r>
                  <a:rPr lang="en-US" sz="2000" dirty="0"/>
                  <a:t> </a:t>
                </a:r>
                <a:r>
                  <a:rPr lang="en-US" sz="2000" dirty="0" err="1"/>
                  <a:t>je</a:t>
                </a:r>
                <a:r>
                  <a:rPr lang="en-US" sz="2000" dirty="0"/>
                  <a:t> I </a:t>
                </a:r>
                <a:r>
                  <a:rPr lang="en-US" sz="2000" dirty="0" err="1"/>
                  <a:t>kriticni</a:t>
                </a:r>
                <a:r>
                  <a:rPr lang="en-US" sz="2000" dirty="0"/>
                  <a:t> deo </a:t>
                </a:r>
                <a:r>
                  <a:rPr lang="en-US" sz="2000" dirty="0" err="1"/>
                  <a:t>Sorovog</a:t>
                </a:r>
                <a:r>
                  <a:rPr lang="en-US" sz="2000" dirty="0"/>
                  <a:t> </a:t>
                </a:r>
                <a:r>
                  <a:rPr lang="en-US" sz="2000" dirty="0" err="1"/>
                  <a:t>algoritma</a:t>
                </a:r>
                <a:r>
                  <a:rPr lang="en-US" sz="2000" dirty="0"/>
                  <a:t> </a:t>
                </a:r>
                <a:r>
                  <a:rPr lang="en-US" sz="2000" dirty="0" err="1"/>
                  <a:t>koji</a:t>
                </a:r>
                <a:r>
                  <a:rPr lang="en-US" sz="2000" dirty="0"/>
                  <a:t> </a:t>
                </a:r>
                <a:r>
                  <a:rPr lang="en-US" sz="2000" dirty="0" err="1"/>
                  <a:t>redukuje</a:t>
                </a:r>
                <a:r>
                  <a:rPr lang="en-US" sz="2000" dirty="0"/>
                  <a:t> </a:t>
                </a:r>
                <a:r>
                  <a:rPr lang="en-US" sz="2000" dirty="0" err="1"/>
                  <a:t>faktorizaciju</a:t>
                </a:r>
                <a:r>
                  <a:rPr lang="en-US" sz="2000" dirty="0"/>
                  <a:t> </a:t>
                </a:r>
                <a:r>
                  <a:rPr lang="en-US" sz="2000" dirty="0" err="1"/>
                  <a:t>na</a:t>
                </a:r>
                <a:r>
                  <a:rPr lang="en-US" sz="2000" dirty="0"/>
                  <a:t> </a:t>
                </a:r>
                <a:r>
                  <a:rPr lang="en-US" sz="2000" dirty="0" err="1"/>
                  <a:t>nalazenje</a:t>
                </a:r>
                <a:r>
                  <a:rPr lang="en-US" sz="2000" dirty="0"/>
                  <a:t> </a:t>
                </a:r>
                <a:r>
                  <a:rPr lang="en-US" sz="2000" dirty="0" err="1"/>
                  <a:t>perioda</a:t>
                </a:r>
                <a:r>
                  <a:rPr lang="en-US" sz="2000" dirty="0"/>
                  <a:t> </a:t>
                </a:r>
                <a:r>
                  <a:rPr lang="en-US" sz="2000" dirty="0" err="1"/>
                  <a:t>sekvence</a:t>
                </a:r>
                <a:r>
                  <a:rPr lang="en-US" sz="2000" dirty="0"/>
                  <a:t> </a:t>
                </a:r>
                <a:r>
                  <a:rPr lang="en-US" sz="2000" dirty="0" err="1"/>
                  <a:t>brojeva</a:t>
                </a:r>
                <a:r>
                  <a:rPr lang="en-US" sz="2000" dirty="0"/>
                  <a:t>. </a:t>
                </a:r>
              </a:p>
              <a:p>
                <a:r>
                  <a:rPr lang="en-US" sz="2000" dirty="0" err="1"/>
                  <a:t>Recimo</a:t>
                </a:r>
                <a:r>
                  <a:rPr lang="en-US" sz="2000" dirty="0"/>
                  <a:t> da </a:t>
                </a:r>
                <a:r>
                  <a:rPr lang="en-US" sz="2000" dirty="0" err="1"/>
                  <a:t>je</a:t>
                </a:r>
                <a:r>
                  <a:rPr lang="en-US" sz="2000" dirty="0"/>
                  <a:t> </a:t>
                </a:r>
                <a:r>
                  <a:rPr lang="en-US" sz="2000" dirty="0" err="1"/>
                  <a:t>dato</a:t>
                </a:r>
                <a:r>
                  <a:rPr lang="en-US" sz="2000" dirty="0"/>
                  <a:t> M </a:t>
                </a:r>
                <a:r>
                  <a:rPr lang="en-US" sz="2000" dirty="0" err="1"/>
                  <a:t>tacka</a:t>
                </a:r>
                <a:r>
                  <a:rPr lang="en-US" sz="2000" dirty="0"/>
                  <a:t> I </a:t>
                </a:r>
                <a:r>
                  <a:rPr lang="en-US" sz="2000" dirty="0" err="1"/>
                  <a:t>funkcija</a:t>
                </a:r>
                <a:r>
                  <a:rPr lang="en-US" sz="2000" dirty="0"/>
                  <a:t> </a:t>
                </a:r>
                <a:r>
                  <a:rPr lang="en-US" sz="2000" i="0">
                    <a:latin typeface="Cambria Math" panose="02040503050406030204" pitchFamily="18" charset="0"/>
                  </a:rPr>
                  <a:t>𝑓</a:t>
                </a:r>
                <a:r>
                  <a:rPr lang="en-US" sz="2000" dirty="0"/>
                  <a:t> </a:t>
                </a:r>
                <a:r>
                  <a:rPr lang="en-US" sz="2000" dirty="0" err="1"/>
                  <a:t>koja</a:t>
                </a:r>
                <a:r>
                  <a:rPr lang="en-US" sz="2000" dirty="0"/>
                  <a:t> </a:t>
                </a:r>
                <a:r>
                  <a:rPr lang="en-US" sz="2000" dirty="0" err="1"/>
                  <a:t>preslikava</a:t>
                </a:r>
                <a:r>
                  <a:rPr lang="en-US" sz="2000" dirty="0"/>
                  <a:t> </a:t>
                </a:r>
                <a:r>
                  <a:rPr lang="en-US" sz="2000" dirty="0" err="1"/>
                  <a:t>ove</a:t>
                </a:r>
                <a:r>
                  <a:rPr lang="en-US" sz="2000" dirty="0"/>
                  <a:t> </a:t>
                </a:r>
                <a:r>
                  <a:rPr lang="en-US" sz="2000" dirty="0" err="1"/>
                  <a:t>tacke</a:t>
                </a:r>
                <a:r>
                  <a:rPr lang="en-US" sz="2000" dirty="0"/>
                  <a:t> u </a:t>
                </a:r>
                <a:r>
                  <a:rPr lang="en-US" sz="2000" dirty="0" err="1"/>
                  <a:t>skup</a:t>
                </a:r>
                <a:r>
                  <a:rPr lang="en-US" sz="2000" dirty="0"/>
                  <a:t> </a:t>
                </a:r>
                <a:r>
                  <a:rPr lang="en-US" sz="2000" b="0" i="0">
                    <a:latin typeface="Cambria Math" panose="02040503050406030204" pitchFamily="18" charset="0"/>
                    <a:ea typeface="Cambria Math" panose="02040503050406030204" pitchFamily="18" charset="0"/>
                  </a:rPr>
                  <a:t>𝑆</a:t>
                </a:r>
                <a:r>
                  <a:rPr lang="en-US" sz="2000" dirty="0"/>
                  <a:t>.</a:t>
                </a:r>
              </a:p>
              <a:p>
                <a:pPr marL="457200" indent="-457200">
                  <a:buFont typeface="+mj-lt"/>
                  <a:buAutoNum type="arabicPeriod"/>
                </a:pPr>
                <a:r>
                  <a:rPr lang="en-US" sz="2000" dirty="0" err="1"/>
                  <a:t>Povezivanjem</a:t>
                </a:r>
                <a:r>
                  <a:rPr lang="en-US" sz="2000" dirty="0"/>
                  <a:t> </a:t>
                </a:r>
                <a:r>
                  <a:rPr lang="en-US" sz="2000" dirty="0" err="1"/>
                  <a:t>tacka</a:t>
                </a:r>
                <a:r>
                  <a:rPr lang="en-US" sz="2000" dirty="0"/>
                  <a:t> </a:t>
                </a:r>
                <a:r>
                  <a:rPr lang="en-US" sz="2000" dirty="0" err="1"/>
                  <a:t>primecujemo</a:t>
                </a:r>
                <a:r>
                  <a:rPr lang="en-US" sz="2000" dirty="0"/>
                  <a:t> da </a:t>
                </a:r>
                <a:r>
                  <a:rPr lang="en-US" sz="2000" dirty="0" err="1"/>
                  <a:t>je</a:t>
                </a:r>
                <a:r>
                  <a:rPr lang="en-US" sz="2000" dirty="0"/>
                  <a:t> </a:t>
                </a:r>
                <a:r>
                  <a:rPr lang="en-US" sz="2000" dirty="0" err="1"/>
                  <a:t>funckija</a:t>
                </a:r>
                <a:r>
                  <a:rPr lang="en-US" sz="2000" dirty="0"/>
                  <a:t> </a:t>
                </a:r>
                <a:r>
                  <a:rPr lang="en-US" sz="2000" dirty="0" err="1"/>
                  <a:t>peridoicna</a:t>
                </a:r>
                <a:r>
                  <a:rPr lang="en-US" sz="2000" dirty="0"/>
                  <a:t> </a:t>
                </a:r>
                <a:r>
                  <a:rPr lang="en-US" sz="2000" dirty="0" err="1"/>
                  <a:t>sa</a:t>
                </a:r>
                <a:r>
                  <a:rPr lang="en-US" sz="2000" dirty="0"/>
                  <a:t> </a:t>
                </a:r>
                <a:r>
                  <a:rPr lang="en-US" sz="2000" dirty="0" err="1"/>
                  <a:t>periodom</a:t>
                </a:r>
                <a:r>
                  <a:rPr lang="en-US" sz="2000" dirty="0"/>
                  <a:t> </a:t>
                </a:r>
                <a:r>
                  <a:rPr lang="en-US" sz="2000" b="0" i="0">
                    <a:latin typeface="Cambria Math" panose="02040503050406030204" pitchFamily="18" charset="0"/>
                  </a:rPr>
                  <a:t>𝑟</a:t>
                </a:r>
                <a:r>
                  <a:rPr lang="en-US" sz="2000" dirty="0"/>
                  <a:t> I da unitary</a:t>
                </a:r>
                <a:r>
                  <a:rPr lang="en-US" sz="2000" baseline="0" dirty="0"/>
                  <a:t> </a:t>
                </a:r>
                <a:r>
                  <a:rPr lang="en-US" sz="2000" baseline="0" dirty="0" err="1"/>
                  <a:t>perioda</a:t>
                </a:r>
                <a:r>
                  <a:rPr lang="en-US" sz="2000" baseline="0" dirty="0"/>
                  <a:t> </a:t>
                </a:r>
                <a:r>
                  <a:rPr lang="en-US" sz="2000" baseline="0" dirty="0" err="1"/>
                  <a:t>finckija</a:t>
                </a:r>
                <a:r>
                  <a:rPr lang="en-US" sz="2000" baseline="0" dirty="0"/>
                  <a:t> </a:t>
                </a:r>
                <a:r>
                  <a:rPr lang="en-US" sz="2000" baseline="0" dirty="0" err="1"/>
                  <a:t>ima</a:t>
                </a:r>
                <a:r>
                  <a:rPr lang="en-US" sz="2000" baseline="0" dirty="0"/>
                  <a:t> </a:t>
                </a:r>
                <a:r>
                  <a:rPr lang="en-US" sz="2000" baseline="0" dirty="0" err="1"/>
                  <a:t>razlicite</a:t>
                </a:r>
                <a:r>
                  <a:rPr lang="en-US" sz="2000" baseline="0" dirty="0"/>
                  <a:t> </a:t>
                </a:r>
                <a:r>
                  <a:rPr lang="en-US" sz="2000" baseline="0" dirty="0" err="1"/>
                  <a:t>vrednosti</a:t>
                </a:r>
                <a:r>
                  <a:rPr lang="en-US" sz="2000" dirty="0"/>
                  <a:t>. </a:t>
                </a:r>
                <a:r>
                  <a:rPr lang="en-US" sz="2000" dirty="0" err="1"/>
                  <a:t>Broj</a:t>
                </a:r>
                <a:r>
                  <a:rPr lang="en-US" sz="2000" dirty="0"/>
                  <a:t> </a:t>
                </a:r>
                <a:r>
                  <a:rPr lang="en-US" sz="2000" dirty="0" err="1"/>
                  <a:t>perioda</a:t>
                </a:r>
                <a:r>
                  <a:rPr lang="en-US" sz="2000" dirty="0"/>
                  <a:t> </a:t>
                </a:r>
                <a:r>
                  <a:rPr lang="en-US" sz="2000" dirty="0" err="1"/>
                  <a:t>na</a:t>
                </a:r>
                <a:r>
                  <a:rPr lang="en-US" sz="2000" dirty="0"/>
                  <a:t> </a:t>
                </a:r>
                <a:r>
                  <a:rPr lang="en-US" sz="2000" dirty="0" err="1"/>
                  <a:t>nizu</a:t>
                </a:r>
                <a:r>
                  <a:rPr lang="en-US" sz="2000" baseline="0" dirty="0"/>
                  <a:t> </a:t>
                </a:r>
                <a:r>
                  <a:rPr lang="en-US" sz="2000" baseline="0" dirty="0" err="1"/>
                  <a:t>tacka</a:t>
                </a:r>
                <a:r>
                  <a:rPr lang="en-US" sz="2000" baseline="0" dirty="0"/>
                  <a:t> </a:t>
                </a:r>
                <a:r>
                  <a:rPr lang="en-US" sz="2000" baseline="0" dirty="0" err="1"/>
                  <a:t>je</a:t>
                </a:r>
                <a:r>
                  <a:rPr lang="en-US" sz="2000" baseline="0" dirty="0"/>
                  <a:t> </a:t>
                </a:r>
                <a:r>
                  <a:rPr lang="en-US" sz="2000" baseline="0" dirty="0" err="1"/>
                  <a:t>dat</a:t>
                </a:r>
                <a:r>
                  <a:rPr lang="en-US" sz="2000" baseline="0" dirty="0"/>
                  <a:t> </a:t>
                </a:r>
                <a:r>
                  <a:rPr lang="en-US" sz="2000" baseline="0" dirty="0" err="1"/>
                  <a:t>kao</a:t>
                </a:r>
                <a:r>
                  <a:rPr lang="en-US" sz="2000" baseline="0" dirty="0"/>
                  <a:t> M/r. </a:t>
                </a:r>
                <a:r>
                  <a:rPr lang="en-US" sz="2000" baseline="0" dirty="0" err="1"/>
                  <a:t>Ako</a:t>
                </a:r>
                <a:r>
                  <a:rPr lang="en-US" sz="2000" baseline="0" dirty="0"/>
                  <a:t> </a:t>
                </a:r>
                <a:r>
                  <a:rPr lang="en-US" sz="2000" baseline="0" dirty="0" err="1"/>
                  <a:t>je</a:t>
                </a:r>
                <a:r>
                  <a:rPr lang="en-US" sz="2000" baseline="0" dirty="0"/>
                  <a:t> </a:t>
                </a:r>
                <a:r>
                  <a:rPr lang="en-US" sz="2000" baseline="0" dirty="0" err="1"/>
                  <a:t>broj</a:t>
                </a:r>
                <a:r>
                  <a:rPr lang="en-US" sz="2000" baseline="0" dirty="0"/>
                  <a:t> </a:t>
                </a:r>
                <a:r>
                  <a:rPr lang="en-US" sz="2000" baseline="0" dirty="0" err="1"/>
                  <a:t>perioda</a:t>
                </a:r>
                <a:r>
                  <a:rPr lang="en-US" sz="2000" baseline="0" dirty="0"/>
                  <a:t> </a:t>
                </a:r>
                <a:r>
                  <a:rPr lang="en-US" sz="2000" baseline="0" dirty="0" err="1"/>
                  <a:t>mnogo</a:t>
                </a:r>
                <a:r>
                  <a:rPr lang="en-US" sz="2000" baseline="0" dirty="0"/>
                  <a:t> </a:t>
                </a:r>
                <a:r>
                  <a:rPr lang="en-US" sz="2000" baseline="0" dirty="0" err="1"/>
                  <a:t>veci</a:t>
                </a:r>
                <a:r>
                  <a:rPr lang="en-US" sz="2000" baseline="0" dirty="0"/>
                  <a:t> od </a:t>
                </a:r>
                <a:r>
                  <a:rPr lang="en-US" sz="2000" baseline="0" dirty="0" err="1"/>
                  <a:t>duzine</a:t>
                </a:r>
                <a:r>
                  <a:rPr lang="en-US" sz="2000" baseline="0" dirty="0"/>
                  <a:t> </a:t>
                </a:r>
                <a:r>
                  <a:rPr lang="en-US" sz="2000" baseline="0" dirty="0" err="1"/>
                  <a:t>perioda</a:t>
                </a:r>
                <a:r>
                  <a:rPr lang="en-US" sz="2000" baseline="0" dirty="0"/>
                  <a:t>, </a:t>
                </a:r>
                <a:r>
                  <a:rPr lang="en-US" sz="2000" baseline="0" dirty="0" err="1"/>
                  <a:t>mozmo</a:t>
                </a:r>
                <a:r>
                  <a:rPr lang="en-US" sz="2000" baseline="0" dirty="0"/>
                  <a:t> </a:t>
                </a:r>
                <a:r>
                  <a:rPr lang="en-US" sz="2000" baseline="0" dirty="0" err="1"/>
                  <a:t>reci</a:t>
                </a:r>
                <a:r>
                  <a:rPr lang="en-US" sz="2000" baseline="0" dirty="0"/>
                  <a:t> da </a:t>
                </a:r>
                <a:r>
                  <a:rPr lang="en-US" sz="2000" baseline="0" dirty="0" err="1"/>
                  <a:t>je</a:t>
                </a:r>
                <a:r>
                  <a:rPr lang="en-US" sz="2000" baseline="0" dirty="0"/>
                  <a:t> M </a:t>
                </a:r>
                <a:r>
                  <a:rPr lang="en-US" sz="2000" baseline="0" dirty="0" err="1"/>
                  <a:t>vece</a:t>
                </a:r>
                <a:r>
                  <a:rPr lang="en-US" sz="2000" baseline="0" dirty="0"/>
                  <a:t> od </a:t>
                </a:r>
                <a:r>
                  <a:rPr lang="en-US" sz="2000" b="0" i="0">
                    <a:latin typeface="Cambria Math" panose="02040503050406030204" pitchFamily="18" charset="0"/>
                    <a:ea typeface="Cambria Math" panose="02040503050406030204" pitchFamily="18" charset="0"/>
                  </a:rPr>
                  <a:t>𝑟^2</a:t>
                </a:r>
                <a:r>
                  <a:rPr lang="en-US" sz="2000" dirty="0"/>
                  <a:t>. </a:t>
                </a:r>
                <a:r>
                  <a:rPr lang="en-US" sz="2000" dirty="0" err="1"/>
                  <a:t>Ovaj</a:t>
                </a:r>
                <a:r>
                  <a:rPr lang="en-US" sz="2000" baseline="0" dirty="0"/>
                  <a:t> </a:t>
                </a:r>
                <a:r>
                  <a:rPr lang="en-US" sz="2000" baseline="0" dirty="0" err="1"/>
                  <a:t>uslov</a:t>
                </a:r>
                <a:r>
                  <a:rPr lang="en-US" sz="2000" dirty="0"/>
                  <a:t> </a:t>
                </a:r>
                <a:r>
                  <a:rPr lang="en-US" sz="2000" dirty="0" err="1"/>
                  <a:t>ce</a:t>
                </a:r>
                <a:r>
                  <a:rPr lang="en-US" sz="2000" dirty="0"/>
                  <a:t> </a:t>
                </a:r>
                <a:r>
                  <a:rPr lang="en-US" sz="2000" dirty="0" err="1"/>
                  <a:t>nam</a:t>
                </a:r>
                <a:r>
                  <a:rPr lang="en-US" sz="2000" dirty="0"/>
                  <a:t> </a:t>
                </a:r>
                <a:r>
                  <a:rPr lang="en-US" sz="2000" dirty="0" err="1"/>
                  <a:t>pomoci</a:t>
                </a:r>
                <a:r>
                  <a:rPr lang="en-US" sz="2000" dirty="0"/>
                  <a:t> </a:t>
                </a:r>
                <a:r>
                  <a:rPr lang="en-US" sz="2000" dirty="0" err="1"/>
                  <a:t>oko</a:t>
                </a:r>
                <a:r>
                  <a:rPr lang="en-US" sz="2000" dirty="0"/>
                  <a:t> </a:t>
                </a:r>
                <a:r>
                  <a:rPr lang="en-US" sz="2000" dirty="0" err="1"/>
                  <a:t>nalazenje</a:t>
                </a:r>
                <a:r>
                  <a:rPr lang="en-US" sz="2000" dirty="0"/>
                  <a:t> </a:t>
                </a:r>
                <a:r>
                  <a:rPr lang="en-US" sz="2000" dirty="0" err="1"/>
                  <a:t>paerioda</a:t>
                </a:r>
                <a:r>
                  <a:rPr lang="en-US" sz="2000" dirty="0"/>
                  <a:t>.</a:t>
                </a:r>
              </a:p>
              <a:p>
                <a:pPr marL="457200" indent="-457200">
                  <a:buFont typeface="+mj-lt"/>
                  <a:buAutoNum type="arabicPeriod"/>
                </a:pPr>
                <a:r>
                  <a:rPr lang="en-US" sz="2000" dirty="0" err="1"/>
                  <a:t>Klasican</a:t>
                </a:r>
                <a:r>
                  <a:rPr lang="en-US" sz="2000" dirty="0"/>
                  <a:t> </a:t>
                </a:r>
                <a:r>
                  <a:rPr lang="en-US" sz="2000" dirty="0" err="1"/>
                  <a:t>pristup</a:t>
                </a:r>
                <a:r>
                  <a:rPr lang="en-US" sz="2000" dirty="0"/>
                  <a:t> </a:t>
                </a:r>
                <a:r>
                  <a:rPr lang="en-US" sz="2000" dirty="0" err="1"/>
                  <a:t>nalazenju</a:t>
                </a:r>
                <a:r>
                  <a:rPr lang="en-US" sz="2000" dirty="0"/>
                  <a:t> </a:t>
                </a:r>
                <a:r>
                  <a:rPr lang="en-US" sz="2000" dirty="0" err="1"/>
                  <a:t>perioda</a:t>
                </a:r>
                <a:r>
                  <a:rPr lang="en-US" sz="2000" dirty="0"/>
                  <a:t> bi bio </a:t>
                </a:r>
                <a:r>
                  <a:rPr lang="en-US" sz="2000" dirty="0" err="1"/>
                  <a:t>pisanje</a:t>
                </a:r>
                <a:r>
                  <a:rPr lang="en-US" sz="2000" dirty="0"/>
                  <a:t> </a:t>
                </a:r>
                <a:r>
                  <a:rPr lang="en-US" sz="2000" dirty="0" err="1"/>
                  <a:t>funkcije</a:t>
                </a:r>
                <a:r>
                  <a:rPr lang="en-US" sz="2000" dirty="0"/>
                  <a:t> </a:t>
                </a:r>
                <a:r>
                  <a:rPr lang="en-US" sz="2000" dirty="0" err="1"/>
                  <a:t>koja</a:t>
                </a:r>
                <a:r>
                  <a:rPr lang="en-US" sz="2000" dirty="0"/>
                  <a:t> bi </a:t>
                </a:r>
                <a:r>
                  <a:rPr lang="en-US" sz="2000" dirty="0" err="1"/>
                  <a:t>prihvatala</a:t>
                </a:r>
                <a:r>
                  <a:rPr lang="en-US" sz="2000" dirty="0"/>
                  <a:t> </a:t>
                </a:r>
                <a:r>
                  <a:rPr lang="en-US" sz="2000" dirty="0" err="1"/>
                  <a:t>izvestan</a:t>
                </a:r>
                <a:r>
                  <a:rPr lang="en-US" sz="2000" dirty="0"/>
                  <a:t> </a:t>
                </a:r>
                <a:r>
                  <a:rPr lang="en-US" sz="2000" dirty="0" err="1"/>
                  <a:t>broj</a:t>
                </a:r>
                <a:r>
                  <a:rPr lang="en-US" sz="2000" dirty="0"/>
                  <a:t> </a:t>
                </a:r>
                <a:r>
                  <a:rPr lang="en-US" sz="2000" dirty="0" err="1"/>
                  <a:t>tacaka</a:t>
                </a:r>
                <a:r>
                  <a:rPr lang="en-US" sz="2000" dirty="0"/>
                  <a:t> </a:t>
                </a:r>
                <a:r>
                  <a:rPr lang="en-US" sz="2000" dirty="0" err="1"/>
                  <a:t>kao</a:t>
                </a:r>
                <a:r>
                  <a:rPr lang="en-US" sz="2000" dirty="0"/>
                  <a:t> </a:t>
                </a:r>
                <a:r>
                  <a:rPr lang="en-US" sz="2000" dirty="0" err="1"/>
                  <a:t>ulaz</a:t>
                </a:r>
                <a:r>
                  <a:rPr lang="en-US" sz="2000" dirty="0"/>
                  <a:t>, </a:t>
                </a:r>
                <a:r>
                  <a:rPr lang="en-US" sz="2000" dirty="0" err="1"/>
                  <a:t>izracunavala</a:t>
                </a:r>
                <a:r>
                  <a:rPr lang="en-US" sz="2000" dirty="0"/>
                  <a:t> </a:t>
                </a:r>
                <a:r>
                  <a:rPr lang="en-US" sz="2000" dirty="0" err="1"/>
                  <a:t>izlaz</a:t>
                </a:r>
                <a:r>
                  <a:rPr lang="en-US" sz="2000" dirty="0"/>
                  <a:t> I </a:t>
                </a:r>
                <a:r>
                  <a:rPr lang="en-US" sz="2000" dirty="0" err="1"/>
                  <a:t>detektovala</a:t>
                </a:r>
                <a:r>
                  <a:rPr lang="en-US" sz="2000" dirty="0"/>
                  <a:t> </a:t>
                </a:r>
                <a:r>
                  <a:rPr lang="en-US" sz="2000" dirty="0" err="1"/>
                  <a:t>koliziju</a:t>
                </a:r>
                <a:r>
                  <a:rPr lang="en-US" sz="2000" dirty="0"/>
                  <a:t>, </a:t>
                </a:r>
                <a:r>
                  <a:rPr lang="en-US" sz="2000" dirty="0" err="1"/>
                  <a:t>odnosno</a:t>
                </a:r>
                <a:r>
                  <a:rPr lang="en-US" sz="2000" dirty="0"/>
                  <a:t> </a:t>
                </a:r>
                <a:r>
                  <a:rPr lang="en-US" sz="2000" dirty="0" err="1"/>
                  <a:t>dva</a:t>
                </a:r>
                <a:r>
                  <a:rPr lang="en-US" sz="2000" dirty="0"/>
                  <a:t> </a:t>
                </a:r>
                <a:r>
                  <a:rPr lang="en-US" sz="2000" dirty="0" err="1"/>
                  <a:t>ulaza</a:t>
                </a:r>
                <a:r>
                  <a:rPr lang="en-US" sz="2000" dirty="0"/>
                  <a:t> </a:t>
                </a:r>
                <a:r>
                  <a:rPr lang="en-US" sz="2000" dirty="0" err="1"/>
                  <a:t>koji</a:t>
                </a:r>
                <a:r>
                  <a:rPr lang="en-US" sz="2000" dirty="0"/>
                  <a:t> </a:t>
                </a:r>
                <a:r>
                  <a:rPr lang="en-US" sz="2000" dirty="0" err="1"/>
                  <a:t>daju</a:t>
                </a:r>
                <a:r>
                  <a:rPr lang="en-US" sz="2000" dirty="0"/>
                  <a:t> </a:t>
                </a:r>
                <a:r>
                  <a:rPr lang="en-US" sz="2000" dirty="0" err="1"/>
                  <a:t>isti</a:t>
                </a:r>
                <a:r>
                  <a:rPr lang="en-US" sz="2000" dirty="0"/>
                  <a:t> </a:t>
                </a:r>
                <a:r>
                  <a:rPr lang="en-US" sz="2000" dirty="0" err="1"/>
                  <a:t>izlaz</a:t>
                </a:r>
                <a:r>
                  <a:rPr lang="en-US" sz="2000" dirty="0"/>
                  <a:t>. </a:t>
                </a:r>
                <a:r>
                  <a:rPr lang="en-US" sz="2000" dirty="0" err="1"/>
                  <a:t>Ako</a:t>
                </a:r>
                <a:r>
                  <a:rPr lang="en-US" sz="2000" dirty="0"/>
                  <a:t> </a:t>
                </a:r>
                <a:r>
                  <a:rPr lang="en-US" sz="2000" dirty="0" err="1"/>
                  <a:t>je</a:t>
                </a:r>
                <a:r>
                  <a:rPr lang="en-US" sz="2000" dirty="0"/>
                  <a:t> </a:t>
                </a:r>
                <a:r>
                  <a:rPr lang="en-US" sz="2000" dirty="0" err="1"/>
                  <a:t>broj</a:t>
                </a:r>
                <a:r>
                  <a:rPr lang="en-US" sz="2000" dirty="0"/>
                  <a:t> </a:t>
                </a:r>
                <a:r>
                  <a:rPr lang="en-US" sz="2000" dirty="0" err="1"/>
                  <a:t>tacaka</a:t>
                </a:r>
                <a:r>
                  <a:rPr lang="en-US" sz="2000" dirty="0"/>
                  <a:t> </a:t>
                </a:r>
                <a:r>
                  <a:rPr lang="en-US" sz="2000" dirty="0" err="1"/>
                  <a:t>veliki</a:t>
                </a:r>
                <a:r>
                  <a:rPr lang="en-US" sz="2000" dirty="0"/>
                  <a:t>, problem bi bio </a:t>
                </a:r>
                <a:r>
                  <a:rPr lang="en-US" sz="2000" dirty="0" err="1"/>
                  <a:t>napisati</a:t>
                </a:r>
                <a:r>
                  <a:rPr lang="en-US" sz="2000" dirty="0"/>
                  <a:t> </a:t>
                </a:r>
                <a:r>
                  <a:rPr lang="en-US" sz="2000" dirty="0" err="1"/>
                  <a:t>funkciju</a:t>
                </a:r>
                <a:r>
                  <a:rPr lang="en-US" sz="2000" dirty="0"/>
                  <a:t> </a:t>
                </a:r>
                <a:r>
                  <a:rPr lang="en-US" sz="2000" dirty="0" err="1"/>
                  <a:t>koja</a:t>
                </a:r>
                <a:r>
                  <a:rPr lang="en-US" sz="2000" dirty="0"/>
                  <a:t> bi </a:t>
                </a:r>
                <a:r>
                  <a:rPr lang="en-US" sz="2000" dirty="0" err="1"/>
                  <a:t>prihvatila</a:t>
                </a:r>
                <a:r>
                  <a:rPr lang="en-US" sz="2000" dirty="0"/>
                  <a:t> </a:t>
                </a:r>
                <a:r>
                  <a:rPr lang="en-US" sz="2000" dirty="0" err="1"/>
                  <a:t>sve</a:t>
                </a:r>
                <a:r>
                  <a:rPr lang="en-US" sz="2000" dirty="0"/>
                  <a:t> </a:t>
                </a:r>
                <a:r>
                  <a:rPr lang="en-US" sz="2000" dirty="0" err="1"/>
                  <a:t>moguce</a:t>
                </a:r>
                <a:r>
                  <a:rPr lang="en-US" sz="2000" dirty="0"/>
                  <a:t> </a:t>
                </a:r>
                <a:r>
                  <a:rPr lang="en-US" sz="2000" dirty="0" err="1"/>
                  <a:t>ulaze</a:t>
                </a:r>
                <a:r>
                  <a:rPr lang="en-US" sz="2000" dirty="0"/>
                  <a:t>. </a:t>
                </a:r>
              </a:p>
              <a:p>
                <a:pPr marL="457200" indent="-457200">
                  <a:buFont typeface="+mj-lt"/>
                  <a:buAutoNum type="arabicPeriod"/>
                </a:pPr>
                <a:r>
                  <a:rPr lang="en-US" sz="2000" dirty="0" err="1"/>
                  <a:t>Recimo</a:t>
                </a:r>
                <a:r>
                  <a:rPr lang="en-US" sz="2000" dirty="0"/>
                  <a:t> da </a:t>
                </a:r>
                <a:r>
                  <a:rPr lang="en-US" sz="2000" dirty="0" err="1"/>
                  <a:t>imamo</a:t>
                </a:r>
                <a:r>
                  <a:rPr lang="en-US" sz="2000" dirty="0"/>
                  <a:t> </a:t>
                </a:r>
                <a:r>
                  <a:rPr lang="en-US" sz="2000" dirty="0" err="1"/>
                  <a:t>Gugol</a:t>
                </a:r>
                <a:r>
                  <a:rPr lang="en-US" sz="2000" dirty="0"/>
                  <a:t>, </a:t>
                </a:r>
                <a:r>
                  <a:rPr lang="en-US" sz="2000" dirty="0" err="1"/>
                  <a:t>odnosno</a:t>
                </a:r>
                <a:r>
                  <a:rPr lang="en-US" sz="2000" dirty="0"/>
                  <a:t> </a:t>
                </a:r>
                <a:r>
                  <a:rPr lang="en-US" sz="2000" b="0" i="0">
                    <a:latin typeface="Cambria Math" panose="02040503050406030204" pitchFamily="18" charset="0"/>
                    <a:ea typeface="Cambria Math" panose="02040503050406030204" pitchFamily="18" charset="0"/>
                  </a:rPr>
                  <a:t>〖10〗^100</a:t>
                </a:r>
                <a:r>
                  <a:rPr lang="en-US" sz="2000" dirty="0"/>
                  <a:t> </a:t>
                </a:r>
                <a:r>
                  <a:rPr lang="en-US" sz="2000" dirty="0" err="1"/>
                  <a:t>tacaka</a:t>
                </a:r>
                <a:r>
                  <a:rPr lang="en-US" sz="2000" dirty="0"/>
                  <a:t>.</a:t>
                </a:r>
                <a:r>
                  <a:rPr lang="en-US" sz="2000" baseline="0" dirty="0"/>
                  <a:t> </a:t>
                </a:r>
                <a:r>
                  <a:rPr lang="en-US" sz="2000" baseline="0" dirty="0" err="1"/>
                  <a:t>Primenjujuci</a:t>
                </a:r>
                <a:r>
                  <a:rPr lang="en-US" sz="2000" baseline="0" dirty="0"/>
                  <a:t> </a:t>
                </a:r>
                <a:r>
                  <a:rPr lang="en-US" sz="2000" baseline="0" dirty="0" err="1"/>
                  <a:t>malopre</a:t>
                </a:r>
                <a:r>
                  <a:rPr lang="en-US" sz="2000" baseline="0" dirty="0"/>
                  <a:t> </a:t>
                </a:r>
                <a:r>
                  <a:rPr lang="en-US" sz="2000" baseline="0" dirty="0" err="1"/>
                  <a:t>spomenutu</a:t>
                </a:r>
                <a:r>
                  <a:rPr lang="en-US" sz="2000" baseline="0" dirty="0"/>
                  <a:t> </a:t>
                </a:r>
                <a:r>
                  <a:rPr lang="en-US" sz="2000" baseline="0" dirty="0" err="1"/>
                  <a:t>aproksimaciju</a:t>
                </a:r>
                <a:r>
                  <a:rPr lang="en-US" sz="2000" baseline="0" dirty="0"/>
                  <a:t>, </a:t>
                </a:r>
                <a:r>
                  <a:rPr lang="en-US" sz="2000" baseline="0" dirty="0" err="1"/>
                  <a:t>trebalo</a:t>
                </a:r>
                <a:r>
                  <a:rPr lang="en-US" sz="2000" baseline="0" dirty="0"/>
                  <a:t> bi </a:t>
                </a:r>
                <a:r>
                  <a:rPr lang="en-US" sz="2000" baseline="0" dirty="0" err="1"/>
                  <a:t>proveriti</a:t>
                </a:r>
                <a:r>
                  <a:rPr lang="en-US" sz="2000" baseline="0" dirty="0"/>
                  <a:t> 10</a:t>
                </a:r>
                <a:r>
                  <a:rPr lang="en-US" sz="2000" baseline="30000" dirty="0"/>
                  <a:t>50</a:t>
                </a:r>
                <a:r>
                  <a:rPr lang="en-US" sz="2000" baseline="0" dirty="0"/>
                  <a:t> </a:t>
                </a:r>
                <a:r>
                  <a:rPr lang="en-US" sz="2000" baseline="0" dirty="0" err="1"/>
                  <a:t>tacaka</a:t>
                </a:r>
                <a:r>
                  <a:rPr lang="en-US" sz="2000" baseline="0" dirty="0"/>
                  <a:t>. </a:t>
                </a:r>
                <a:r>
                  <a:rPr lang="en-US" sz="2000" baseline="0" dirty="0" err="1"/>
                  <a:t>Ako</a:t>
                </a:r>
                <a:r>
                  <a:rPr lang="en-US" sz="2000" baseline="0" dirty="0"/>
                  <a:t> </a:t>
                </a:r>
                <a:r>
                  <a:rPr lang="en-US" sz="2000" baseline="0" dirty="0" err="1"/>
                  <a:t>uzmemo</a:t>
                </a:r>
                <a:r>
                  <a:rPr lang="en-US" sz="2000" baseline="0" dirty="0"/>
                  <a:t> u </a:t>
                </a:r>
                <a:r>
                  <a:rPr lang="en-US" sz="2000" baseline="0" dirty="0" err="1"/>
                  <a:t>obzir</a:t>
                </a:r>
                <a:r>
                  <a:rPr lang="en-US" sz="2000" baseline="0" dirty="0"/>
                  <a:t> </a:t>
                </a:r>
                <a:r>
                  <a:rPr lang="en-US" sz="2000" baseline="0" dirty="0" err="1"/>
                  <a:t>rodjendanski</a:t>
                </a:r>
                <a:r>
                  <a:rPr lang="en-US" sz="2000" baseline="0" dirty="0"/>
                  <a:t> </a:t>
                </a:r>
                <a:r>
                  <a:rPr lang="en-US" sz="2000" baseline="0" dirty="0" err="1"/>
                  <a:t>paradoks</a:t>
                </a:r>
                <a:r>
                  <a:rPr lang="en-US" sz="2000" baseline="0" dirty="0"/>
                  <a:t> </a:t>
                </a:r>
                <a:r>
                  <a:rPr lang="en-US" sz="2000" baseline="0" dirty="0" err="1"/>
                  <a:t>ovaj</a:t>
                </a:r>
                <a:r>
                  <a:rPr lang="en-US" sz="2000" baseline="0" dirty="0"/>
                  <a:t> </a:t>
                </a:r>
                <a:r>
                  <a:rPr lang="en-US" sz="2000" baseline="0" dirty="0" err="1"/>
                  <a:t>broj</a:t>
                </a:r>
                <a:r>
                  <a:rPr lang="en-US" sz="2000" baseline="0" dirty="0"/>
                  <a:t> </a:t>
                </a:r>
                <a:r>
                  <a:rPr lang="en-US" sz="2000" baseline="0" dirty="0" err="1"/>
                  <a:t>mozemo</a:t>
                </a:r>
                <a:r>
                  <a:rPr lang="en-US" sz="2000" baseline="0" dirty="0"/>
                  <a:t> </a:t>
                </a:r>
                <a:r>
                  <a:rPr lang="en-US" sz="2000" baseline="0" dirty="0" err="1"/>
                  <a:t>smanjiti</a:t>
                </a:r>
                <a:r>
                  <a:rPr lang="en-US" sz="2000" baseline="0" dirty="0"/>
                  <a:t> </a:t>
                </a:r>
                <a:r>
                  <a:rPr lang="en-US" sz="2000" baseline="0" dirty="0" err="1"/>
                  <a:t>na</a:t>
                </a:r>
                <a:r>
                  <a:rPr lang="en-US" sz="2000" baseline="0" dirty="0"/>
                  <a:t> 10</a:t>
                </a:r>
                <a:r>
                  <a:rPr lang="en-US" sz="2000" baseline="30000" dirty="0"/>
                  <a:t>25,</a:t>
                </a:r>
                <a:r>
                  <a:rPr lang="en-US" sz="2000" baseline="0" dirty="0"/>
                  <a:t> </a:t>
                </a:r>
                <a:r>
                  <a:rPr lang="en-US" sz="2000" baseline="0" dirty="0" err="1"/>
                  <a:t>sto</a:t>
                </a:r>
                <a:r>
                  <a:rPr lang="en-US" sz="2000" baseline="0" dirty="0"/>
                  <a:t> </a:t>
                </a:r>
                <a:r>
                  <a:rPr lang="en-US" sz="2000" baseline="0" dirty="0" err="1"/>
                  <a:t>je</a:t>
                </a:r>
                <a:r>
                  <a:rPr lang="en-US" sz="2000" baseline="0" dirty="0"/>
                  <a:t> </a:t>
                </a:r>
                <a:r>
                  <a:rPr lang="en-US" sz="2000" baseline="0" dirty="0" err="1"/>
                  <a:t>jos</a:t>
                </a:r>
                <a:r>
                  <a:rPr lang="en-US" sz="2000" baseline="0" dirty="0"/>
                  <a:t> </a:t>
                </a:r>
                <a:r>
                  <a:rPr lang="en-US" sz="2000" baseline="0" dirty="0" err="1"/>
                  <a:t>uvek</a:t>
                </a:r>
                <a:r>
                  <a:rPr lang="en-US" sz="2000" baseline="0" dirty="0"/>
                  <a:t> </a:t>
                </a:r>
                <a:r>
                  <a:rPr lang="en-US" sz="2000" baseline="0" dirty="0" err="1"/>
                  <a:t>neprihvatljivo</a:t>
                </a:r>
                <a:r>
                  <a:rPr lang="en-US" sz="2000" baseline="0" dirty="0"/>
                  <a:t> </a:t>
                </a:r>
                <a:r>
                  <a:rPr lang="en-US" sz="2000" baseline="0" dirty="0" err="1"/>
                  <a:t>za</a:t>
                </a:r>
                <a:r>
                  <a:rPr lang="en-US" sz="2000" baseline="0" dirty="0"/>
                  <a:t> </a:t>
                </a:r>
                <a:r>
                  <a:rPr lang="en-US" sz="2000" baseline="0" dirty="0" err="1"/>
                  <a:t>klasicne</a:t>
                </a:r>
                <a:r>
                  <a:rPr lang="en-US" sz="2000" baseline="0" dirty="0"/>
                  <a:t> </a:t>
                </a:r>
                <a:r>
                  <a:rPr lang="en-US" sz="2000" baseline="0" dirty="0" err="1"/>
                  <a:t>racunare</a:t>
                </a:r>
                <a:r>
                  <a:rPr lang="en-US" sz="2000" baseline="0" dirty="0"/>
                  <a:t>.</a:t>
                </a:r>
              </a:p>
              <a:p>
                <a:pPr marL="457200" indent="-457200">
                  <a:buFont typeface="+mj-lt"/>
                  <a:buAutoNum type="arabicPeriod"/>
                </a:pPr>
                <a:endParaRPr lang="en-US" sz="2000" baseline="0" dirty="0"/>
              </a:p>
              <a:p>
                <a:pPr marL="0" indent="0">
                  <a:buFont typeface="+mj-lt"/>
                  <a:buNone/>
                </a:pPr>
                <a:r>
                  <a:rPr lang="en-US" sz="2000" b="1" dirty="0" err="1"/>
                  <a:t>Napomena</a:t>
                </a:r>
                <a:r>
                  <a:rPr lang="en-US" sz="2000" dirty="0"/>
                  <a:t>: </a:t>
                </a:r>
                <a:r>
                  <a:rPr lang="en-US" sz="2000" dirty="0" err="1"/>
                  <a:t>paradoks</a:t>
                </a:r>
                <a:r>
                  <a:rPr lang="en-US" sz="2000" dirty="0"/>
                  <a:t> </a:t>
                </a:r>
                <a:r>
                  <a:rPr lang="en-US" sz="2000" dirty="0" err="1"/>
                  <a:t>rodjendana</a:t>
                </a:r>
                <a:r>
                  <a:rPr lang="en-US" sz="2000" dirty="0"/>
                  <a:t> </a:t>
                </a:r>
                <a:r>
                  <a:rPr lang="en-US" sz="2000" dirty="0" err="1"/>
                  <a:t>kaze</a:t>
                </a:r>
                <a:r>
                  <a:rPr lang="en-US" sz="2000" dirty="0"/>
                  <a:t> da </a:t>
                </a:r>
                <a:r>
                  <a:rPr lang="en-US" sz="2000" dirty="0" err="1"/>
                  <a:t>verovatnoca</a:t>
                </a:r>
                <a:r>
                  <a:rPr lang="en-US" sz="2000" dirty="0"/>
                  <a:t> da </a:t>
                </a:r>
                <a:r>
                  <a:rPr lang="en-US" sz="2000" dirty="0" err="1"/>
                  <a:t>dve</a:t>
                </a:r>
                <a:r>
                  <a:rPr lang="en-US" sz="2000" dirty="0"/>
                  <a:t> </a:t>
                </a:r>
                <a:r>
                  <a:rPr lang="en-US" sz="2000" dirty="0" err="1"/>
                  <a:t>osobe</a:t>
                </a:r>
                <a:r>
                  <a:rPr lang="en-US" sz="2000" dirty="0"/>
                  <a:t> u </a:t>
                </a:r>
                <a:r>
                  <a:rPr lang="en-US" sz="2000" dirty="0" err="1"/>
                  <a:t>razredu</a:t>
                </a:r>
                <a:r>
                  <a:rPr lang="en-US" sz="2000" dirty="0"/>
                  <a:t> od 23 </a:t>
                </a:r>
                <a:r>
                  <a:rPr lang="en-US" sz="2000" dirty="0" err="1"/>
                  <a:t>ucenika</a:t>
                </a:r>
                <a:r>
                  <a:rPr lang="en-US" sz="2000" dirty="0"/>
                  <a:t> </a:t>
                </a:r>
                <a:r>
                  <a:rPr lang="en-US" sz="2000" dirty="0" err="1"/>
                  <a:t>imaju</a:t>
                </a:r>
                <a:r>
                  <a:rPr lang="en-US" sz="2000" dirty="0"/>
                  <a:t> </a:t>
                </a:r>
                <a:r>
                  <a:rPr lang="en-US" sz="2000" dirty="0" err="1"/>
                  <a:t>rodjendan</a:t>
                </a:r>
                <a:r>
                  <a:rPr lang="en-US" sz="2000" dirty="0"/>
                  <a:t> </a:t>
                </a:r>
                <a:r>
                  <a:rPr lang="en-US" sz="2000" dirty="0" err="1"/>
                  <a:t>istog</a:t>
                </a:r>
                <a:r>
                  <a:rPr lang="en-US" sz="2000" dirty="0"/>
                  <a:t> dana </a:t>
                </a:r>
                <a:r>
                  <a:rPr lang="en-US" sz="2000" dirty="0" err="1"/>
                  <a:t>iznosi</a:t>
                </a:r>
                <a:r>
                  <a:rPr lang="en-US" sz="2000" dirty="0"/>
                  <a:t> 50% </a:t>
                </a:r>
                <a:r>
                  <a:rPr lang="en-US" sz="2000" dirty="0" err="1"/>
                  <a:t>i</a:t>
                </a:r>
                <a:r>
                  <a:rPr lang="en-US" sz="2000" dirty="0"/>
                  <a:t> </a:t>
                </a:r>
                <a:r>
                  <a:rPr lang="en-US" sz="2000" dirty="0" err="1"/>
                  <a:t>cak</a:t>
                </a:r>
                <a:r>
                  <a:rPr lang="en-US" sz="2000" dirty="0"/>
                  <a:t> 90% </a:t>
                </a:r>
                <a:r>
                  <a:rPr lang="en-US" sz="2000" dirty="0" err="1"/>
                  <a:t>za</a:t>
                </a:r>
                <a:r>
                  <a:rPr lang="en-US" sz="2000" dirty="0"/>
                  <a:t> </a:t>
                </a:r>
                <a:r>
                  <a:rPr lang="en-US" sz="2000" dirty="0" err="1"/>
                  <a:t>grupu</a:t>
                </a:r>
                <a:r>
                  <a:rPr lang="en-US" sz="2000" dirty="0"/>
                  <a:t> od 40 </a:t>
                </a:r>
                <a:r>
                  <a:rPr lang="en-US" sz="2000" dirty="0" err="1"/>
                  <a:t>ucenika</a:t>
                </a:r>
                <a:r>
                  <a:rPr lang="en-US" sz="2000" dirty="0"/>
                  <a:t>. </a:t>
                </a:r>
                <a:r>
                  <a:rPr lang="en-US" sz="2000" dirty="0" err="1"/>
                  <a:t>Iako</a:t>
                </a:r>
                <a:r>
                  <a:rPr lang="en-US" sz="2000" dirty="0"/>
                  <a:t> </a:t>
                </a:r>
                <a:r>
                  <a:rPr lang="en-US" sz="2000" dirty="0" err="1"/>
                  <a:t>potvrdjena</a:t>
                </a:r>
                <a:r>
                  <a:rPr lang="en-US" sz="2000" dirty="0"/>
                  <a:t> </a:t>
                </a:r>
                <a:r>
                  <a:rPr lang="en-US" sz="2000" dirty="0" err="1"/>
                  <a:t>racunom</a:t>
                </a:r>
                <a:r>
                  <a:rPr lang="en-US" sz="2000" dirty="0"/>
                  <a:t>, ova </a:t>
                </a:r>
                <a:r>
                  <a:rPr lang="en-US" sz="2000" dirty="0" err="1"/>
                  <a:t>cinjenica</a:t>
                </a:r>
                <a:r>
                  <a:rPr lang="en-US" sz="2000" dirty="0"/>
                  <a:t> ne </a:t>
                </a:r>
                <a:r>
                  <a:rPr lang="en-US" sz="2000" dirty="0" err="1"/>
                  <a:t>izgleda</a:t>
                </a:r>
                <a:r>
                  <a:rPr lang="en-US" sz="2000" dirty="0"/>
                  <a:t> </a:t>
                </a:r>
                <a:r>
                  <a:rPr lang="en-US" sz="2000" dirty="0" err="1"/>
                  <a:t>ocigledna</a:t>
                </a:r>
                <a:r>
                  <a:rPr lang="en-US" sz="2000" dirty="0"/>
                  <a:t>, </a:t>
                </a:r>
                <a:r>
                  <a:rPr lang="en-US" sz="2000" dirty="0" err="1"/>
                  <a:t>zato</a:t>
                </a:r>
                <a:r>
                  <a:rPr lang="en-US" sz="2000" dirty="0"/>
                  <a:t> se I </a:t>
                </a:r>
                <a:r>
                  <a:rPr lang="en-US" sz="2000" dirty="0" err="1"/>
                  <a:t>naziva</a:t>
                </a:r>
                <a:r>
                  <a:rPr lang="en-US" sz="2000" dirty="0"/>
                  <a:t> paradox.</a:t>
                </a:r>
              </a:p>
              <a:p>
                <a:pPr marL="0" indent="0">
                  <a:buFont typeface="+mj-lt"/>
                  <a:buNone/>
                </a:pPr>
                <a:endParaRPr lang="en-US" sz="2000" dirty="0"/>
              </a:p>
              <a:p>
                <a:pPr marL="0" indent="0">
                  <a:buFont typeface="+mj-lt"/>
                  <a:buNone/>
                </a:pPr>
                <a:r>
                  <a:rPr lang="en-US" sz="2000" dirty="0"/>
                  <a:t>https://</a:t>
                </a:r>
                <a:r>
                  <a:rPr lang="en-US" sz="2000" dirty="0" err="1"/>
                  <a:t>www.youtube.com</a:t>
                </a:r>
                <a:r>
                  <a:rPr lang="en-US" sz="2000" dirty="0"/>
                  <a:t>/</a:t>
                </a:r>
                <a:r>
                  <a:rPr lang="en-US" sz="2000" dirty="0" err="1"/>
                  <a:t>watch?v</a:t>
                </a:r>
                <a:r>
                  <a:rPr lang="en-US" sz="2000" dirty="0"/>
                  <a:t>=</a:t>
                </a:r>
                <a:r>
                  <a:rPr lang="en-US" sz="2000" dirty="0" err="1"/>
                  <a:t>oOHHde-REtw</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42</a:t>
            </a:fld>
            <a:endParaRPr lang="en-US"/>
          </a:p>
        </p:txBody>
      </p:sp>
    </p:spTree>
    <p:extLst>
      <p:ext uri="{BB962C8B-B14F-4D97-AF65-F5344CB8AC3E}">
        <p14:creationId xmlns:p14="http://schemas.microsoft.com/office/powerpoint/2010/main" val="5251444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Quantum period finding takes a fundamentally different approach, using superposition and the Quantum Fourier Transform to extract periodic information efficiently. This forms the quantum core of Shor’s algorithm, where the goal is to determine the period of the modular function</a:t>
                </a:r>
                <a14:m>
                  <m:oMath xmlns:m="http://schemas.openxmlformats.org/officeDocument/2006/math">
                    <m:r>
                      <a:rPr lang="en-US" sz="1200" b="0" i="0" smtClean="0">
                        <a:latin typeface="Cambria Math" panose="02040503050406030204" pitchFamily="18" charset="0"/>
                      </a:rPr>
                      <m:t> </m:t>
                    </m:r>
                    <m:r>
                      <a:rPr lang="en-US" sz="1200" b="0" i="1" smtClean="0">
                        <a:latin typeface="Cambria Math" panose="02040503050406030204" pitchFamily="18" charset="0"/>
                      </a:rPr>
                      <m:t>𝑓</m:t>
                    </m:r>
                    <m:d>
                      <m:dPr>
                        <m:ctrlPr>
                          <a:rPr lang="en-US" sz="1200" b="0" i="1">
                            <a:latin typeface="Cambria Math" panose="02040503050406030204" pitchFamily="18" charset="0"/>
                          </a:rPr>
                        </m:ctrlPr>
                      </m:dPr>
                      <m:e>
                        <m:r>
                          <a:rPr lang="en-US" sz="1200" b="0" i="1">
                            <a:latin typeface="Cambria Math" panose="02040503050406030204" pitchFamily="18" charset="0"/>
                          </a:rPr>
                          <m:t>𝑥</m:t>
                        </m:r>
                      </m:e>
                    </m:d>
                    <m:r>
                      <a:rPr lang="en-US" sz="1200" b="0" i="1">
                        <a:latin typeface="Cambria Math" panose="02040503050406030204" pitchFamily="18" charset="0"/>
                      </a:rPr>
                      <m:t>= </m:t>
                    </m:r>
                    <m:sSup>
                      <m:sSupPr>
                        <m:ctrlPr>
                          <a:rPr lang="en-US" sz="1200" b="0" i="1">
                            <a:latin typeface="Cambria Math" panose="02040503050406030204" pitchFamily="18" charset="0"/>
                          </a:rPr>
                        </m:ctrlPr>
                      </m:sSupPr>
                      <m:e>
                        <m:r>
                          <a:rPr lang="en-US" sz="1200" b="0" i="1">
                            <a:latin typeface="Cambria Math" panose="02040503050406030204" pitchFamily="18" charset="0"/>
                          </a:rPr>
                          <m:t>𝑎</m:t>
                        </m:r>
                      </m:e>
                      <m:sup>
                        <m:r>
                          <a:rPr lang="en-US" sz="1200" b="0" i="1">
                            <a:latin typeface="Cambria Math" panose="02040503050406030204" pitchFamily="18" charset="0"/>
                          </a:rPr>
                          <m:t>𝑥</m:t>
                        </m:r>
                      </m:sup>
                    </m:sSup>
                    <m:r>
                      <a:rPr lang="en-US" sz="1200" b="0" i="1">
                        <a:latin typeface="Cambria Math" panose="02040503050406030204" pitchFamily="18" charset="0"/>
                      </a:rPr>
                      <m:t>𝑚𝑜𝑑</m:t>
                    </m:r>
                    <m:r>
                      <a:rPr lang="en-US" sz="1200" b="0" i="1">
                        <a:latin typeface="Cambria Math" panose="02040503050406030204" pitchFamily="18" charset="0"/>
                      </a:rPr>
                      <m:t> </m:t>
                    </m:r>
                    <m:r>
                      <a:rPr lang="en-US" sz="1200" b="0" i="1">
                        <a:latin typeface="Cambria Math" panose="02040503050406030204" pitchFamily="18" charset="0"/>
                      </a:rPr>
                      <m:t>𝑁</m:t>
                    </m:r>
                  </m:oMath>
                </a14:m>
                <a:r>
                  <a:rPr lang="en-ZA" b="0" dirty="0"/>
                  <a:t>. The figure shows the conceptual structure of the quantum circuit using the example </a:t>
                </a:r>
                <a14:m>
                  <m:oMath xmlns:m="http://schemas.openxmlformats.org/officeDocument/2006/math">
                    <m:r>
                      <a:rPr lang="en-US" sz="1200" b="0" i="1" smtClean="0">
                        <a:latin typeface="Cambria Math" panose="02040503050406030204" pitchFamily="18" charset="0"/>
                      </a:rPr>
                      <m:t>𝑁</m:t>
                    </m:r>
                    <m:r>
                      <a:rPr lang="en-US" sz="1200" b="0" i="1" smtClean="0">
                        <a:latin typeface="Cambria Math" panose="02040503050406030204" pitchFamily="18" charset="0"/>
                      </a:rPr>
                      <m:t>=15</m:t>
                    </m:r>
                  </m:oMath>
                </a14:m>
                <a:r>
                  <a:rPr lang="en-ZA" b="0" dirty="0"/>
                  <a:t> and </a:t>
                </a:r>
                <a14:m>
                  <m:oMath xmlns:m="http://schemas.openxmlformats.org/officeDocument/2006/math">
                    <m:r>
                      <a:rPr lang="en-US" sz="1200" b="0" i="1" smtClean="0">
                        <a:latin typeface="Cambria Math" panose="02040503050406030204" pitchFamily="18" charset="0"/>
                      </a:rPr>
                      <m:t>𝑎</m:t>
                    </m:r>
                    <m:r>
                      <a:rPr lang="en-US" sz="1200" b="0" i="1" smtClean="0">
                        <a:latin typeface="Cambria Math" panose="02040503050406030204" pitchFamily="18" charset="0"/>
                      </a:rPr>
                      <m:t>=7</m:t>
                    </m:r>
                  </m:oMath>
                </a14:m>
                <a:r>
                  <a:rPr lang="en-ZA" b="0" dirty="0"/>
                  <a:t>.</a:t>
                </a:r>
              </a:p>
              <a:p>
                <a:pPr algn="just"/>
                <a:endParaRPr lang="en-ZA" dirty="0"/>
              </a:p>
              <a:p>
                <a:pPr algn="just"/>
                <a:r>
                  <a:rPr lang="en-ZA" b="1" u="none" dirty="0"/>
                  <a:t>Structure of the quantum circuit</a:t>
                </a:r>
              </a:p>
              <a:p>
                <a:r>
                  <a:rPr lang="en-ZA" dirty="0"/>
                  <a:t>The circuit consists of two quantum registers.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The first register, labelled </a:t>
                </a:r>
                <a14:m>
                  <m:oMath xmlns:m="http://schemas.openxmlformats.org/officeDocument/2006/math">
                    <m:r>
                      <a:rPr lang="en-US" sz="1200" b="0" i="1" smtClean="0">
                        <a:latin typeface="Cambria Math" panose="02040503050406030204" pitchFamily="18" charset="0"/>
                        <a:ea typeface="Cambria Math" panose="02040503050406030204" pitchFamily="18" charset="0"/>
                      </a:rPr>
                      <m:t>𝑥</m:t>
                    </m:r>
                  </m:oMath>
                </a14:m>
                <a:r>
                  <a:rPr lang="en-ZA" dirty="0"/>
                  <a:t>, is prepared in a uniform superposition of all possible input values</a:t>
                </a:r>
                <a:r>
                  <a:rPr lang="en-ZA" baseline="0" dirty="0"/>
                  <a:t> </a:t>
                </a:r>
                <a:r>
                  <a:rPr lang="en-ZA" dirty="0"/>
                  <a:t>for the function </a:t>
                </a:r>
                <a14:m>
                  <m:oMath xmlns:m="http://schemas.openxmlformats.org/officeDocument/2006/math">
                    <m:sSup>
                      <m:sSupPr>
                        <m:ctrlPr>
                          <a:rPr lang="en-US" sz="1200" i="1" smtClean="0">
                            <a:solidFill>
                              <a:schemeClr val="tx1"/>
                            </a:solidFill>
                            <a:latin typeface="Cambria Math" panose="02040503050406030204" pitchFamily="18" charset="0"/>
                            <a:ea typeface="Cambria Math" panose="02040503050406030204" pitchFamily="18" charset="0"/>
                          </a:rPr>
                        </m:ctrlPr>
                      </m:sSupPr>
                      <m:e>
                        <m:r>
                          <a:rPr lang="en-US" sz="1200" i="1">
                            <a:solidFill>
                              <a:schemeClr val="tx1"/>
                            </a:solidFill>
                            <a:latin typeface="Cambria Math" panose="02040503050406030204" pitchFamily="18" charset="0"/>
                            <a:ea typeface="Cambria Math" panose="02040503050406030204" pitchFamily="18" charset="0"/>
                          </a:rPr>
                          <m:t>𝑎</m:t>
                        </m:r>
                      </m:e>
                      <m:sup>
                        <m:r>
                          <a:rPr lang="en-US" sz="1200" i="1">
                            <a:solidFill>
                              <a:schemeClr val="tx1"/>
                            </a:solidFill>
                            <a:latin typeface="Cambria Math" panose="02040503050406030204" pitchFamily="18" charset="0"/>
                            <a:ea typeface="Cambria Math" panose="02040503050406030204" pitchFamily="18" charset="0"/>
                          </a:rPr>
                          <m:t>𝑥</m:t>
                        </m:r>
                      </m:sup>
                    </m:sSup>
                    <m:r>
                      <a:rPr lang="en-US" sz="1200" b="0" i="1" smtClean="0">
                        <a:solidFill>
                          <a:schemeClr val="tx1"/>
                        </a:solidFill>
                        <a:latin typeface="Cambria Math" panose="02040503050406030204" pitchFamily="18" charset="0"/>
                        <a:ea typeface="Cambria Math" panose="02040503050406030204" pitchFamily="18" charset="0"/>
                      </a:rPr>
                      <m:t> </m:t>
                    </m:r>
                    <m:r>
                      <m:rPr>
                        <m:sty m:val="p"/>
                      </m:rPr>
                      <a:rPr lang="en-US" sz="1200" i="0">
                        <a:solidFill>
                          <a:schemeClr val="tx1"/>
                        </a:solidFill>
                        <a:latin typeface="Cambria Math" panose="02040503050406030204" pitchFamily="18" charset="0"/>
                        <a:ea typeface="Cambria Math" panose="02040503050406030204" pitchFamily="18" charset="0"/>
                      </a:rPr>
                      <m:t>mod</m:t>
                    </m:r>
                    <m:r>
                      <a:rPr lang="en-US" sz="1200" i="1">
                        <a:solidFill>
                          <a:schemeClr val="tx1"/>
                        </a:solidFill>
                        <a:latin typeface="Cambria Math" panose="02040503050406030204" pitchFamily="18" charset="0"/>
                        <a:ea typeface="Cambria Math" panose="02040503050406030204" pitchFamily="18" charset="0"/>
                      </a:rPr>
                      <m:t> </m:t>
                    </m:r>
                    <m:r>
                      <a:rPr lang="en-US" sz="1200" i="1">
                        <a:solidFill>
                          <a:schemeClr val="tx1"/>
                        </a:solidFill>
                        <a:latin typeface="Cambria Math" panose="02040503050406030204" pitchFamily="18" charset="0"/>
                        <a:ea typeface="Cambria Math" panose="02040503050406030204" pitchFamily="18" charset="0"/>
                      </a:rPr>
                      <m:t>𝑁</m:t>
                    </m:r>
                  </m:oMath>
                </a14:m>
                <a:r>
                  <a:rPr lang="en-ZA" dirty="0"/>
                  <a:t>. In this example, a 4-qubit register represents the values </a:t>
                </a:r>
                <a14:m>
                  <m:oMath xmlns:m="http://schemas.openxmlformats.org/officeDocument/2006/math">
                    <m:r>
                      <a:rPr lang="en-US" sz="1200" b="0" i="1" smtClean="0">
                        <a:latin typeface="Cambria Math" panose="02040503050406030204" pitchFamily="18" charset="0"/>
                      </a:rPr>
                      <m:t>𝑥</m:t>
                    </m:r>
                    <m:r>
                      <a:rPr lang="en-US" sz="1200" b="0" i="1" smtClean="0">
                        <a:latin typeface="Cambria Math" panose="02040503050406030204" pitchFamily="18" charset="0"/>
                      </a:rPr>
                      <m:t>=0,1,⋯,15.</m:t>
                    </m:r>
                  </m:oMath>
                </a14:m>
                <a:r>
                  <a:rPr lang="en-ZA" dirty="0"/>
                  <a:t> The </a:t>
                </a:r>
                <a14:m>
                  <m:oMath xmlns:m="http://schemas.openxmlformats.org/officeDocument/2006/math">
                    <m:r>
                      <a:rPr lang="en-US" sz="1200" b="0" i="1" smtClean="0">
                        <a:latin typeface="Cambria Math" panose="02040503050406030204" pitchFamily="18" charset="0"/>
                      </a:rPr>
                      <m:t>𝑥</m:t>
                    </m:r>
                  </m:oMath>
                </a14:m>
                <a:r>
                  <a:rPr lang="en-ZA" dirty="0"/>
                  <a:t>-register contains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𝑛</m:t>
                        </m:r>
                      </m:e>
                      <m:sub>
                        <m:r>
                          <a:rPr lang="en-US" sz="1200" b="0" i="1" smtClean="0">
                            <a:latin typeface="Cambria Math" panose="02040503050406030204" pitchFamily="18" charset="0"/>
                          </a:rPr>
                          <m:t>𝑥</m:t>
                        </m:r>
                      </m:sub>
                    </m:sSub>
                    <m:r>
                      <a:rPr lang="en-US" sz="1200" b="0" i="1" smtClean="0">
                        <a:latin typeface="Cambria Math" panose="02040503050406030204" pitchFamily="18" charset="0"/>
                      </a:rPr>
                      <m:t>=4</m:t>
                    </m:r>
                  </m:oMath>
                </a14:m>
                <a:r>
                  <a:rPr lang="en-ZA" dirty="0"/>
                  <a:t> qubits and can therefore represent </a:t>
                </a:r>
                <a14:m>
                  <m:oMath xmlns:m="http://schemas.openxmlformats.org/officeDocument/2006/math">
                    <m:r>
                      <a:rPr lang="en-US" sz="1200" b="0" i="1" smtClean="0">
                        <a:latin typeface="Cambria Math" panose="02040503050406030204" pitchFamily="18" charset="0"/>
                      </a:rPr>
                      <m:t>𝑄</m:t>
                    </m:r>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2</m:t>
                        </m:r>
                      </m:e>
                      <m:sup>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𝑛</m:t>
                            </m:r>
                          </m:e>
                          <m:sub>
                            <m:r>
                              <a:rPr lang="en-US" sz="1200" b="0" i="1" smtClean="0">
                                <a:latin typeface="Cambria Math" panose="02040503050406030204" pitchFamily="18" charset="0"/>
                              </a:rPr>
                              <m:t>𝑥</m:t>
                            </m:r>
                          </m:sub>
                        </m:sSub>
                      </m:sup>
                    </m:sSup>
                  </m:oMath>
                </a14:m>
                <a:r>
                  <a:rPr lang="en-ZA" dirty="0"/>
                  <a:t> basis states. In Shor’s algorithm, </a:t>
                </a:r>
                <a14:m>
                  <m:oMath xmlns:m="http://schemas.openxmlformats.org/officeDocument/2006/math">
                    <m:r>
                      <a:rPr lang="en-US" sz="1200" b="0" i="1" smtClean="0">
                        <a:latin typeface="Cambria Math" panose="02040503050406030204" pitchFamily="18" charset="0"/>
                      </a:rPr>
                      <m:t>𝑄</m:t>
                    </m:r>
                  </m:oMath>
                </a14:m>
                <a:r>
                  <a:rPr lang="en-ZA" dirty="0"/>
                  <a:t> is typically chosen such that</a:t>
                </a:r>
                <a:r>
                  <a:rPr lang="en-ZA" baseline="0" dirty="0"/>
                  <a:t>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𝑁</m:t>
                        </m:r>
                      </m:e>
                      <m:sup>
                        <m:r>
                          <a:rPr lang="en-US" sz="1200" b="0" i="1" smtClean="0">
                            <a:latin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𝑄</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2</m:t>
                        </m:r>
                        <m:r>
                          <a:rPr lang="en-US" sz="1200" b="0" i="1" smtClean="0">
                            <a:latin typeface="Cambria Math" panose="02040503050406030204" pitchFamily="18" charset="0"/>
                          </a:rPr>
                          <m:t>𝑁</m:t>
                        </m:r>
                      </m:e>
                      <m:sup>
                        <m:r>
                          <a:rPr lang="en-US" sz="1200" b="0" i="1" smtClean="0">
                            <a:latin typeface="Cambria Math" panose="02040503050406030204" pitchFamily="18" charset="0"/>
                          </a:rPr>
                          <m:t>2</m:t>
                        </m:r>
                      </m:sup>
                    </m:sSup>
                  </m:oMath>
                </a14:m>
                <a:r>
                  <a:rPr lang="en-ZA" dirty="0"/>
                  <a:t>. This provides enough precision to recover the period from the final measurement.</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The second register, labelled </a:t>
                </a:r>
                <a14:m>
                  <m:oMath xmlns:m="http://schemas.openxmlformats.org/officeDocument/2006/math">
                    <m:r>
                      <a:rPr lang="en-US" sz="1200" b="0" i="1" smtClean="0">
                        <a:latin typeface="Cambria Math" panose="02040503050406030204" pitchFamily="18" charset="0"/>
                      </a:rPr>
                      <m:t>𝑦</m:t>
                    </m:r>
                  </m:oMath>
                </a14:m>
                <a:r>
                  <a:rPr lang="en-ZA" dirty="0"/>
                  <a:t>, stores the corresponding function values </a:t>
                </a:r>
                <a14:m>
                  <m:oMath xmlns:m="http://schemas.openxmlformats.org/officeDocument/2006/math">
                    <m:r>
                      <a:rPr lang="en-US" sz="1200" b="0" i="1" smtClean="0">
                        <a:latin typeface="Cambria Math" panose="02040503050406030204" pitchFamily="18" charset="0"/>
                      </a:rPr>
                      <m:t>𝑦</m:t>
                    </m:r>
                    <m:r>
                      <a:rPr lang="en-US" sz="1200" b="0" i="0" smtClean="0">
                        <a:latin typeface="Cambria Math" panose="02040503050406030204" pitchFamily="18" charset="0"/>
                      </a:rPr>
                      <m:t>=</m:t>
                    </m:r>
                    <m:r>
                      <a:rPr lang="en-US" sz="1200" b="0" i="1" smtClean="0">
                        <a:latin typeface="Cambria Math" panose="02040503050406030204" pitchFamily="18" charset="0"/>
                      </a:rPr>
                      <m:t>𝑓</m:t>
                    </m:r>
                    <m:d>
                      <m:dPr>
                        <m:ctrlPr>
                          <a:rPr lang="en-US" sz="1200" b="0" i="1">
                            <a:latin typeface="Cambria Math" panose="02040503050406030204" pitchFamily="18" charset="0"/>
                          </a:rPr>
                        </m:ctrlPr>
                      </m:dPr>
                      <m:e>
                        <m:r>
                          <a:rPr lang="en-US" sz="1200" b="0" i="1">
                            <a:latin typeface="Cambria Math" panose="02040503050406030204" pitchFamily="18" charset="0"/>
                          </a:rPr>
                          <m:t>𝑥</m:t>
                        </m:r>
                      </m:e>
                    </m:d>
                    <m:r>
                      <a:rPr lang="en-US" sz="1200" b="0" i="1">
                        <a:latin typeface="Cambria Math" panose="02040503050406030204" pitchFamily="18" charset="0"/>
                      </a:rPr>
                      <m:t>= </m:t>
                    </m:r>
                    <m:sSup>
                      <m:sSupPr>
                        <m:ctrlPr>
                          <a:rPr lang="en-US" sz="1200" b="0" i="1">
                            <a:latin typeface="Cambria Math" panose="02040503050406030204" pitchFamily="18" charset="0"/>
                          </a:rPr>
                        </m:ctrlPr>
                      </m:sSupPr>
                      <m:e>
                        <m:r>
                          <a:rPr lang="en-US" sz="1200" b="0" i="1">
                            <a:latin typeface="Cambria Math" panose="02040503050406030204" pitchFamily="18" charset="0"/>
                          </a:rPr>
                          <m:t>𝑎</m:t>
                        </m:r>
                      </m:e>
                      <m:sup>
                        <m:r>
                          <a:rPr lang="en-US" sz="1200" b="0" i="1">
                            <a:latin typeface="Cambria Math" panose="02040503050406030204" pitchFamily="18" charset="0"/>
                          </a:rPr>
                          <m:t>𝑥</m:t>
                        </m:r>
                      </m:sup>
                    </m:sSup>
                    <m:r>
                      <m:rPr>
                        <m:sty m:val="p"/>
                      </m:rPr>
                      <a:rPr lang="en-US" sz="1200" b="0" i="0">
                        <a:latin typeface="Cambria Math" panose="02040503050406030204" pitchFamily="18" charset="0"/>
                      </a:rPr>
                      <m:t>mod</m:t>
                    </m:r>
                    <m:r>
                      <a:rPr lang="en-US" sz="1200" b="0" i="1">
                        <a:latin typeface="Cambria Math" panose="02040503050406030204" pitchFamily="18" charset="0"/>
                      </a:rPr>
                      <m:t> </m:t>
                    </m:r>
                    <m:r>
                      <a:rPr lang="en-US" sz="1200" b="0" i="1">
                        <a:latin typeface="Cambria Math" panose="02040503050406030204" pitchFamily="18" charset="0"/>
                      </a:rPr>
                      <m:t>𝑁</m:t>
                    </m:r>
                  </m:oMath>
                </a14:m>
                <a:r>
                  <a:rPr lang="en-ZA" dirty="0"/>
                  <a:t>. It therefore needs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𝑛</m:t>
                        </m:r>
                      </m:e>
                      <m:sub>
                        <m:r>
                          <a:rPr lang="en-US" sz="1200" b="0" i="1" smtClean="0">
                            <a:latin typeface="Cambria Math" panose="02040503050406030204" pitchFamily="18" charset="0"/>
                          </a:rPr>
                          <m:t>𝑦</m:t>
                        </m:r>
                      </m:sub>
                    </m:sSub>
                  </m:oMath>
                </a14:m>
                <a:r>
                  <a:rPr lang="en-ZA" dirty="0"/>
                  <a:t> qubits, enough to represent values from 0 to </a:t>
                </a:r>
                <a14:m>
                  <m:oMath xmlns:m="http://schemas.openxmlformats.org/officeDocument/2006/math">
                    <m:r>
                      <a:rPr lang="en-US" sz="1200" b="0" i="1" smtClean="0">
                        <a:latin typeface="Cambria Math" panose="02040503050406030204" pitchFamily="18" charset="0"/>
                      </a:rPr>
                      <m:t>𝑁</m:t>
                    </m:r>
                    <m:r>
                      <a:rPr lang="en-US" sz="1200" b="0" i="1" smtClean="0">
                        <a:latin typeface="Cambria Math" panose="02040503050406030204" pitchFamily="18" charset="0"/>
                      </a:rPr>
                      <m:t>−1</m:t>
                    </m:r>
                  </m:oMath>
                </a14:m>
                <a:r>
                  <a:rPr lang="en-ZA" dirty="0"/>
                  <a:t>, so typically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2</m:t>
                        </m:r>
                      </m:e>
                      <m:sup>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𝑛</m:t>
                            </m:r>
                          </m:e>
                          <m:sub>
                            <m:r>
                              <a:rPr lang="en-US" sz="1200" b="0" i="1" smtClean="0">
                                <a:latin typeface="Cambria Math" panose="02040503050406030204" pitchFamily="18" charset="0"/>
                              </a:rPr>
                              <m:t>𝑦</m:t>
                            </m:r>
                          </m:sub>
                        </m:sSub>
                      </m:sup>
                    </m:sSup>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𝑁</m:t>
                    </m:r>
                  </m:oMath>
                </a14:m>
                <a:r>
                  <a:rPr lang="en-ZA" dirty="0"/>
                  <a:t>. The first table shows the values of </a:t>
                </a:r>
                <a14:m>
                  <m:oMath xmlns:m="http://schemas.openxmlformats.org/officeDocument/2006/math">
                    <m:r>
                      <a:rPr lang="en-US" sz="1200" b="0" i="1" smtClean="0">
                        <a:latin typeface="Cambria Math" panose="02040503050406030204" pitchFamily="18" charset="0"/>
                      </a:rPr>
                      <m:t>𝑥</m:t>
                    </m:r>
                    <m:r>
                      <a:rPr lang="en-US" sz="1200" b="0" i="0" smtClean="0">
                        <a:latin typeface="Cambria Math" panose="02040503050406030204" pitchFamily="18" charset="0"/>
                      </a:rPr>
                      <m:t> </m:t>
                    </m:r>
                  </m:oMath>
                </a14:m>
                <a:r>
                  <a:rPr lang="en-ZA" dirty="0"/>
                  <a:t>together with their corresponding function values </a:t>
                </a:r>
                <a14:m>
                  <m:oMath xmlns:m="http://schemas.openxmlformats.org/officeDocument/2006/math">
                    <m:r>
                      <a:rPr lang="en-US" sz="1200" b="0" i="1" smtClean="0">
                        <a:latin typeface="Cambria Math" panose="02040503050406030204" pitchFamily="18" charset="0"/>
                      </a:rPr>
                      <m:t>𝑓</m:t>
                    </m:r>
                    <m:d>
                      <m:dPr>
                        <m:ctrlPr>
                          <a:rPr lang="en-US" sz="1200" b="0" i="1">
                            <a:latin typeface="Cambria Math" panose="02040503050406030204" pitchFamily="18" charset="0"/>
                          </a:rPr>
                        </m:ctrlPr>
                      </m:dPr>
                      <m:e>
                        <m:r>
                          <a:rPr lang="en-US" sz="1200" b="0" i="1">
                            <a:latin typeface="Cambria Math" panose="02040503050406030204" pitchFamily="18" charset="0"/>
                          </a:rPr>
                          <m:t>𝑥</m:t>
                        </m:r>
                      </m:e>
                    </m:d>
                  </m:oMath>
                </a14:m>
                <a:r>
                  <a:rPr lang="en-ZA" dirty="0"/>
                  <a:t>.</a:t>
                </a:r>
              </a:p>
              <a:p>
                <a:pPr marL="0" indent="0">
                  <a:buFont typeface="Arial" panose="020B0604020202020204" pitchFamily="34" charset="0"/>
                  <a:buNone/>
                </a:pPr>
                <a:endParaRPr lang="en-ZA" dirty="0"/>
              </a:p>
              <a:p>
                <a:r>
                  <a:rPr lang="en-ZA" b="1" dirty="0"/>
                  <a:t>Measurement of the y-register</a:t>
                </a:r>
              </a:p>
              <a:p>
                <a:r>
                  <a:rPr lang="en-ZA" dirty="0"/>
                  <a:t>The </a:t>
                </a:r>
                <a14:m>
                  <m:oMath xmlns:m="http://schemas.openxmlformats.org/officeDocument/2006/math">
                    <m:r>
                      <a:rPr lang="en-US" sz="1200" b="0" i="1" smtClean="0">
                        <a:latin typeface="Cambria Math" panose="02040503050406030204" pitchFamily="18" charset="0"/>
                      </a:rPr>
                      <m:t>𝑦</m:t>
                    </m:r>
                  </m:oMath>
                </a14:m>
                <a:r>
                  <a:rPr lang="en-ZA" dirty="0"/>
                  <a:t>-register can now be measured. Suppose the measurement gives </a:t>
                </a:r>
                <a14:m>
                  <m:oMath xmlns:m="http://schemas.openxmlformats.org/officeDocument/2006/math">
                    <m:r>
                      <a:rPr lang="en-US" sz="1200" b="0" i="1" smtClean="0">
                        <a:latin typeface="Cambria Math" panose="02040503050406030204" pitchFamily="18" charset="0"/>
                      </a:rPr>
                      <m:t>𝑦</m:t>
                    </m:r>
                    <m:r>
                      <a:rPr lang="en-US" sz="1200" b="0" i="1" smtClean="0">
                        <a:latin typeface="Cambria Math" panose="02040503050406030204" pitchFamily="18" charset="0"/>
                      </a:rPr>
                      <m:t>=13</m:t>
                    </m:r>
                  </m:oMath>
                </a14:m>
                <a:r>
                  <a:rPr lang="en-ZA" dirty="0"/>
                  <a:t>. The joint state then collapses so that only the </a:t>
                </a:r>
                <a14:m>
                  <m:oMath xmlns:m="http://schemas.openxmlformats.org/officeDocument/2006/math">
                    <m:r>
                      <a:rPr lang="en-US" sz="1200" b="0" i="1" smtClean="0">
                        <a:latin typeface="Cambria Math" panose="02040503050406030204" pitchFamily="18" charset="0"/>
                      </a:rPr>
                      <m:t>𝑥</m:t>
                    </m:r>
                  </m:oMath>
                </a14:m>
                <a:r>
                  <a:rPr lang="en-ZA" dirty="0"/>
                  <a:t>-values associated with </a:t>
                </a:r>
                <a14:m>
                  <m:oMath xmlns:m="http://schemas.openxmlformats.org/officeDocument/2006/math">
                    <m:r>
                      <a:rPr lang="en-US" sz="1200" b="0" i="1" smtClean="0">
                        <a:latin typeface="Cambria Math" panose="02040503050406030204" pitchFamily="18" charset="0"/>
                      </a:rPr>
                      <m:t>𝑓</m:t>
                    </m:r>
                    <m:d>
                      <m:dPr>
                        <m:ctrlPr>
                          <a:rPr lang="en-US" sz="1200" b="0" i="1">
                            <a:latin typeface="Cambria Math" panose="02040503050406030204" pitchFamily="18" charset="0"/>
                          </a:rPr>
                        </m:ctrlPr>
                      </m:dPr>
                      <m:e>
                        <m:r>
                          <a:rPr lang="en-US" sz="1200" b="0" i="1">
                            <a:latin typeface="Cambria Math" panose="02040503050406030204" pitchFamily="18" charset="0"/>
                          </a:rPr>
                          <m:t>𝑥</m:t>
                        </m:r>
                      </m:e>
                    </m:d>
                    <m:r>
                      <a:rPr lang="en-US" sz="1200" b="0" i="1" smtClean="0">
                        <a:latin typeface="Cambria Math" panose="02040503050406030204" pitchFamily="18" charset="0"/>
                      </a:rPr>
                      <m:t>=13</m:t>
                    </m:r>
                  </m:oMath>
                </a14:m>
                <a:r>
                  <a:rPr lang="en-ZA" dirty="0"/>
                  <a:t> remain. In this example, </a:t>
                </a:r>
                <a14:m>
                  <m:oMath xmlns:m="http://schemas.openxmlformats.org/officeDocument/2006/math">
                    <m:r>
                      <a:rPr lang="en-US" sz="1200" b="0" i="1" smtClean="0">
                        <a:latin typeface="Cambria Math" panose="02040503050406030204" pitchFamily="18" charset="0"/>
                      </a:rPr>
                      <m:t>𝑥</m:t>
                    </m:r>
                    <m:r>
                      <a:rPr lang="en-US" sz="1200" b="0" i="1" smtClean="0">
                        <a:latin typeface="Cambria Math" panose="02040503050406030204" pitchFamily="18" charset="0"/>
                      </a:rPr>
                      <m:t>=3,7,11,15</m:t>
                    </m:r>
                  </m:oMath>
                </a14:m>
                <a:r>
                  <a:rPr lang="en-ZA" dirty="0"/>
                  <a:t>. These values are separated by 4, reflecting the period </a:t>
                </a: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=4</m:t>
                    </m:r>
                  </m:oMath>
                </a14:m>
                <a:r>
                  <a:rPr lang="en-ZA" dirty="0"/>
                  <a:t>. However, directly measuring the </a:t>
                </a:r>
                <a14:m>
                  <m:oMath xmlns:m="http://schemas.openxmlformats.org/officeDocument/2006/math">
                    <m:r>
                      <a:rPr lang="en-US" sz="1200" b="0" i="1" smtClean="0">
                        <a:latin typeface="Cambria Math" panose="02040503050406030204" pitchFamily="18" charset="0"/>
                      </a:rPr>
                      <m:t>𝑥</m:t>
                    </m:r>
                  </m:oMath>
                </a14:m>
                <a:r>
                  <a:rPr lang="en-ZA" dirty="0"/>
                  <a:t>-register would reveal only </a:t>
                </a:r>
                <a:r>
                  <a:rPr lang="en-ZA" b="1" dirty="0"/>
                  <a:t>one</a:t>
                </a:r>
                <a:r>
                  <a:rPr lang="en-ZA" dirty="0"/>
                  <a:t> of these values and would not directly reveal the spacing between them. Instead, Shor’s algorithm uses the </a:t>
                </a:r>
                <a:r>
                  <a:rPr lang="en-ZA" b="0" dirty="0"/>
                  <a:t>Inverse Quantum Fourier Transform </a:t>
                </a:r>
                <a:r>
                  <a:rPr lang="en-ZA" dirty="0"/>
                  <a:t>to extract this periodic structure.</a:t>
                </a:r>
              </a:p>
              <a:p>
                <a:endParaRPr lang="en-ZA" dirty="0"/>
              </a:p>
              <a:p>
                <a:r>
                  <a:rPr lang="en-ZA" b="1" dirty="0"/>
                  <a:t>Applying the Inverse Quantum Fourier Transform</a:t>
                </a:r>
              </a:p>
              <a:p>
                <a:r>
                  <a:rPr lang="en-ZA" dirty="0"/>
                  <a:t>The IQFT transforms the evenly spaced pattern in the </a:t>
                </a:r>
                <a14:m>
                  <m:oMath xmlns:m="http://schemas.openxmlformats.org/officeDocument/2006/math">
                    <m:r>
                      <a:rPr lang="en-US" sz="1200" b="0" i="1" smtClean="0">
                        <a:latin typeface="Cambria Math" panose="02040503050406030204" pitchFamily="18" charset="0"/>
                      </a:rPr>
                      <m:t>𝑥</m:t>
                    </m:r>
                  </m:oMath>
                </a14:m>
                <a:r>
                  <a:rPr lang="en-ZA" dirty="0"/>
                  <a:t>-register into peaks associated with the periodicity. For the idealized example with </a:t>
                </a:r>
                <a14:m>
                  <m:oMath xmlns:m="http://schemas.openxmlformats.org/officeDocument/2006/math">
                    <m:r>
                      <a:rPr lang="en-US" sz="1200" b="0" i="1" smtClean="0">
                        <a:latin typeface="Cambria Math" panose="02040503050406030204" pitchFamily="18" charset="0"/>
                      </a:rPr>
                      <m:t>𝑄</m:t>
                    </m:r>
                    <m:r>
                      <a:rPr lang="en-US" sz="1200" b="0" i="1" smtClean="0">
                        <a:latin typeface="Cambria Math" panose="02040503050406030204" pitchFamily="18" charset="0"/>
                      </a:rPr>
                      <m:t>=16</m:t>
                    </m:r>
                  </m:oMath>
                </a14:m>
                <a:r>
                  <a:rPr lang="en-ZA" dirty="0"/>
                  <a:t> and </a:t>
                </a: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=4</m:t>
                    </m:r>
                  </m:oMath>
                </a14:m>
                <a:r>
                  <a:rPr lang="en-ZA" dirty="0"/>
                  <a:t>, the peaks occur at 0,4,8,12, which correspond, after division by </a:t>
                </a:r>
                <a14:m>
                  <m:oMath xmlns:m="http://schemas.openxmlformats.org/officeDocument/2006/math">
                    <m:r>
                      <a:rPr lang="en-US" sz="1200" b="0" i="1" smtClean="0">
                        <a:latin typeface="Cambria Math" panose="02040503050406030204" pitchFamily="18" charset="0"/>
                      </a:rPr>
                      <m:t>𝑄</m:t>
                    </m:r>
                    <m:r>
                      <a:rPr lang="en-US" sz="1200" b="0" i="1" smtClean="0">
                        <a:latin typeface="Cambria Math" panose="02040503050406030204" pitchFamily="18" charset="0"/>
                      </a:rPr>
                      <m:t>=16</m:t>
                    </m:r>
                  </m:oMath>
                </a14:m>
                <a:r>
                  <a:rPr lang="en-ZA" dirty="0"/>
                  <a:t> to</a:t>
                </a:r>
                <a:r>
                  <a:rPr lang="en-ZA" baseline="0" dirty="0"/>
                  <a:t> </a:t>
                </a:r>
                <a:r>
                  <a:rPr lang="en-ZA" dirty="0"/>
                  <a:t>0, 1/4, 2/4, and 3/4​. These values have the general form </a:t>
                </a:r>
                <a14:m>
                  <m:oMath xmlns:m="http://schemas.openxmlformats.org/officeDocument/2006/math">
                    <m:r>
                      <a:rPr lang="en-US" sz="1200" b="0" i="1" smtClean="0">
                        <a:latin typeface="Cambria Math" panose="02040503050406030204" pitchFamily="18" charset="0"/>
                      </a:rPr>
                      <m:t>𝑗</m:t>
                    </m:r>
                    <m:r>
                      <a:rPr lang="en-US" sz="1200" b="0" i="1" smtClean="0">
                        <a:latin typeface="Cambria Math" panose="02040503050406030204" pitchFamily="18" charset="0"/>
                      </a:rPr>
                      <m:t>/</m:t>
                    </m:r>
                    <m:r>
                      <a:rPr lang="en-US" sz="1200" b="0" i="1" smtClean="0">
                        <a:latin typeface="Cambria Math" panose="02040503050406030204" pitchFamily="18" charset="0"/>
                      </a:rPr>
                      <m:t>𝑟</m:t>
                    </m:r>
                  </m:oMath>
                </a14:m>
                <a:r>
                  <a:rPr lang="en-ZA" dirty="0"/>
                  <a:t>.</a:t>
                </a:r>
              </a:p>
              <a:p>
                <a:pPr marL="171450" indent="-171450">
                  <a:buFont typeface="Arial" panose="020B0604020202020204" pitchFamily="34" charset="0"/>
                  <a:buChar char="•"/>
                </a:pPr>
                <a:endParaRPr lang="en-ZA" dirty="0"/>
              </a:p>
              <a:p>
                <a:r>
                  <a:rPr lang="en-ZA" b="1" dirty="0"/>
                  <a:t>Measurement of the x-register</a:t>
                </a:r>
              </a:p>
              <a:p>
                <a:r>
                  <a:rPr lang="en-ZA" dirty="0"/>
                  <a:t>Finally, the </a:t>
                </a:r>
                <a14:m>
                  <m:oMath xmlns:m="http://schemas.openxmlformats.org/officeDocument/2006/math">
                    <m:r>
                      <a:rPr lang="en-US" sz="1200" b="0" i="1" smtClean="0">
                        <a:latin typeface="Cambria Math" panose="02040503050406030204" pitchFamily="18" charset="0"/>
                      </a:rPr>
                      <m:t>𝑟</m:t>
                    </m:r>
                  </m:oMath>
                </a14:m>
                <a:r>
                  <a:rPr lang="en-ZA" dirty="0"/>
                  <a:t>-register is measured. The measured integer </a:t>
                </a:r>
                <a14:m>
                  <m:oMath xmlns:m="http://schemas.openxmlformats.org/officeDocument/2006/math">
                    <m:r>
                      <a:rPr lang="en-US" sz="1200" b="0" i="1" smtClean="0">
                        <a:latin typeface="Cambria Math" panose="02040503050406030204" pitchFamily="18" charset="0"/>
                      </a:rPr>
                      <m:t>𝑚</m:t>
                    </m:r>
                  </m:oMath>
                </a14:m>
                <a:r>
                  <a:rPr lang="en-ZA" dirty="0"/>
                  <a:t> gives the ratio</a:t>
                </a:r>
              </a:p>
              <a:p>
                <a:pPr/>
                <a14:m>
                  <m:oMathPara xmlns:m="http://schemas.openxmlformats.org/officeDocument/2006/math">
                    <m:oMathParaPr>
                      <m:jc m:val="centerGroup"/>
                    </m:oMathParaPr>
                    <m:oMath xmlns:m="http://schemas.openxmlformats.org/officeDocument/2006/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𝑚</m:t>
                          </m:r>
                        </m:num>
                        <m:den>
                          <m:r>
                            <a:rPr lang="en-US" sz="1200" b="0" i="1" smtClean="0">
                              <a:latin typeface="Cambria Math" panose="02040503050406030204" pitchFamily="18" charset="0"/>
                            </a:rPr>
                            <m:t>𝑄</m:t>
                          </m:r>
                        </m:den>
                      </m:f>
                      <m:r>
                        <a:rPr lang="en-US" sz="1200" b="0" i="1" smtClean="0">
                          <a:latin typeface="Cambria Math" panose="02040503050406030204" pitchFamily="18" charset="0"/>
                          <a:ea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𝑗</m:t>
                          </m:r>
                        </m:num>
                        <m:den>
                          <m:r>
                            <a:rPr lang="en-US" sz="1200" b="0" i="1" smtClean="0">
                              <a:latin typeface="Cambria Math" panose="02040503050406030204" pitchFamily="18" charset="0"/>
                            </a:rPr>
                            <m:t>𝑟</m:t>
                          </m:r>
                        </m:den>
                      </m:f>
                    </m:oMath>
                  </m:oMathPara>
                </a14:m>
                <a:endParaRPr lang="en-ZA" dirty="0"/>
              </a:p>
              <a:p>
                <a:r>
                  <a:rPr lang="en-ZA" dirty="0"/>
                  <a:t>From this fraction, the period </a:t>
                </a:r>
                <a14:m>
                  <m:oMath xmlns:m="http://schemas.openxmlformats.org/officeDocument/2006/math">
                    <m:r>
                      <a:rPr lang="en-US" sz="1200" b="0" i="1" smtClean="0">
                        <a:latin typeface="Cambria Math" panose="02040503050406030204" pitchFamily="18" charset="0"/>
                      </a:rPr>
                      <m:t>𝑟</m:t>
                    </m:r>
                  </m:oMath>
                </a14:m>
                <a:r>
                  <a:rPr lang="en-ZA" dirty="0"/>
                  <a:t> can be recovered classically, typically using the </a:t>
                </a:r>
                <a:r>
                  <a:rPr lang="en-ZA" b="1" dirty="0"/>
                  <a:t>continued-fractions algorithm</a:t>
                </a:r>
                <a:r>
                  <a:rPr lang="en-ZA" dirty="0"/>
                  <a:t>.</a:t>
                </a:r>
              </a:p>
            </p:txBody>
          </p:sp>
        </mc:Choice>
        <mc:Fallback xmlns="">
          <p:sp>
            <p:nvSpPr>
              <p:cNvPr id="3" name="Notes Placeholder 2"/>
              <p:cNvSpPr>
                <a:spLocks noGrp="1"/>
              </p:cNvSpPr>
              <p:nvPr>
                <p:ph type="body" idx="1"/>
              </p:nvPr>
            </p:nvSpPr>
            <p:spPr/>
            <p:txBody>
              <a:bodyPr/>
              <a:lstStyle/>
              <a:p>
                <a:pPr algn="l"/>
                <a:r>
                  <a:rPr lang="en-US" sz="2000" dirty="0"/>
                  <a:t>Slika </a:t>
                </a:r>
                <a:r>
                  <a:rPr lang="en-US" sz="2000" dirty="0" err="1"/>
                  <a:t>prikazuje</a:t>
                </a:r>
                <a:r>
                  <a:rPr lang="en-US" sz="2000" dirty="0"/>
                  <a:t> </a:t>
                </a:r>
                <a:r>
                  <a:rPr lang="en-US" sz="2000" dirty="0" err="1"/>
                  <a:t>idejni</a:t>
                </a:r>
                <a:r>
                  <a:rPr lang="en-US" sz="2000" dirty="0"/>
                  <a:t> </a:t>
                </a:r>
                <a:r>
                  <a:rPr lang="en-US" sz="2000" dirty="0" err="1"/>
                  <a:t>princip</a:t>
                </a:r>
                <a:r>
                  <a:rPr lang="en-US" sz="2000" dirty="0"/>
                  <a:t> </a:t>
                </a:r>
                <a:r>
                  <a:rPr lang="en-US" sz="2000" dirty="0" err="1"/>
                  <a:t>iza</a:t>
                </a:r>
                <a:r>
                  <a:rPr lang="en-US" sz="2000" dirty="0"/>
                  <a:t> </a:t>
                </a:r>
                <a:r>
                  <a:rPr lang="en-US" sz="2000" dirty="0" err="1"/>
                  <a:t>kvantnog</a:t>
                </a:r>
                <a:r>
                  <a:rPr lang="en-US" sz="2000" dirty="0"/>
                  <a:t> </a:t>
                </a:r>
                <a:r>
                  <a:rPr lang="en-US" sz="2000" dirty="0" err="1"/>
                  <a:t>nalaženja</a:t>
                </a:r>
                <a:r>
                  <a:rPr lang="en-US" sz="2000" dirty="0"/>
                  <a:t> </a:t>
                </a:r>
                <a:r>
                  <a:rPr lang="en-US" sz="2000" dirty="0" err="1"/>
                  <a:t>perioda</a:t>
                </a:r>
                <a:r>
                  <a:rPr lang="en-US" sz="2000" dirty="0"/>
                  <a:t> </a:t>
                </a:r>
                <a:r>
                  <a:rPr lang="en-US" sz="2000" dirty="0" err="1"/>
                  <a:t>funckije</a:t>
                </a:r>
                <a:r>
                  <a:rPr lang="en-US" sz="2000" dirty="0"/>
                  <a:t> </a:t>
                </a:r>
                <a:r>
                  <a:rPr lang="en-US" sz="2000" dirty="0" err="1"/>
                  <a:t>za</a:t>
                </a:r>
                <a:r>
                  <a:rPr lang="en-US" sz="2000" dirty="0"/>
                  <a:t> </a:t>
                </a:r>
                <a:r>
                  <a:rPr lang="en-US" sz="2000" dirty="0" err="1">
                    <a:solidFill>
                      <a:schemeClr val="tx1"/>
                    </a:solidFill>
                  </a:rPr>
                  <a:t>dato</a:t>
                </a:r>
                <a:r>
                  <a:rPr lang="en-US" sz="2000" dirty="0">
                    <a:solidFill>
                      <a:schemeClr val="tx1"/>
                    </a:solidFill>
                  </a:rPr>
                  <a:t> </a:t>
                </a:r>
                <a:r>
                  <a:rPr lang="en-US" sz="2000" i="1" dirty="0">
                    <a:solidFill>
                      <a:srgbClr val="0000FF"/>
                    </a:solidFill>
                  </a:rPr>
                  <a:t>N=</a:t>
                </a:r>
                <a:r>
                  <a:rPr lang="en-US" sz="2000" dirty="0">
                    <a:solidFill>
                      <a:srgbClr val="0000FF"/>
                    </a:solidFill>
                    <a:ea typeface="Cambria Math" panose="02040503050406030204" pitchFamily="18" charset="0"/>
                  </a:rPr>
                  <a:t> </a:t>
                </a:r>
                <a:r>
                  <a:rPr lang="en-US" sz="2000" i="0">
                    <a:solidFill>
                      <a:srgbClr val="0000FF"/>
                    </a:solidFill>
                    <a:latin typeface="Cambria Math" panose="02040503050406030204" pitchFamily="18" charset="0"/>
                    <a:ea typeface="Cambria Math" panose="02040503050406030204" pitchFamily="18" charset="0"/>
                  </a:rPr>
                  <a:t>𝑝𝑞</a:t>
                </a:r>
                <a:r>
                  <a:rPr lang="en-US" sz="2000" i="1" dirty="0">
                    <a:solidFill>
                      <a:srgbClr val="0000FF"/>
                    </a:solidFill>
                  </a:rPr>
                  <a:t>=15</a:t>
                </a:r>
                <a:r>
                  <a:rPr lang="en-US" sz="2000" i="0">
                    <a:solidFill>
                      <a:schemeClr val="tx1"/>
                    </a:solidFill>
                    <a:latin typeface="Cambria Math" panose="02040503050406030204" pitchFamily="18" charset="0"/>
                  </a:rPr>
                  <a:t>, </a:t>
                </a:r>
                <a:r>
                  <a:rPr lang="en-US" sz="2000" dirty="0">
                    <a:solidFill>
                      <a:schemeClr val="tx1"/>
                    </a:solidFill>
                  </a:rPr>
                  <a:t> početnu </a:t>
                </a:r>
                <a:r>
                  <a:rPr lang="en-US" sz="2000" dirty="0" err="1">
                    <a:solidFill>
                      <a:schemeClr val="tx1"/>
                    </a:solidFill>
                  </a:rPr>
                  <a:t>vrednost</a:t>
                </a:r>
                <a:r>
                  <a:rPr lang="en-US" sz="2000" dirty="0">
                    <a:solidFill>
                      <a:schemeClr val="tx1"/>
                    </a:solidFill>
                  </a:rPr>
                  <a:t> </a:t>
                </a:r>
                <a:r>
                  <a:rPr lang="en-US" sz="2000" i="0">
                    <a:solidFill>
                      <a:srgbClr val="0000FF"/>
                    </a:solidFill>
                    <a:latin typeface="Cambria Math" panose="02040503050406030204" pitchFamily="18" charset="0"/>
                  </a:rPr>
                  <a:t>𝑎=7</a:t>
                </a:r>
                <a:r>
                  <a:rPr lang="en-US" sz="2000" dirty="0">
                    <a:solidFill>
                      <a:schemeClr val="tx1"/>
                    </a:solidFill>
                  </a:rPr>
                  <a:t> </a:t>
                </a:r>
              </a:p>
              <a:p>
                <a:pPr marL="457200" indent="-457200">
                  <a:buFont typeface="Arial" panose="020B0604020202020204" pitchFamily="34" charset="0"/>
                  <a:buChar char="•"/>
                </a:pPr>
                <a:endParaRPr lang="en-US" sz="2000" dirty="0"/>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err="1"/>
                  <a:t>Kolo</a:t>
                </a:r>
                <a:r>
                  <a:rPr lang="en-US" sz="2000" dirty="0"/>
                  <a:t> </a:t>
                </a:r>
                <a:r>
                  <a:rPr lang="en-US" sz="2000" dirty="0" err="1"/>
                  <a:t>ima</a:t>
                </a:r>
                <a:r>
                  <a:rPr lang="en-US" sz="2000" dirty="0"/>
                  <a:t> </a:t>
                </a:r>
                <a:r>
                  <a:rPr lang="en-US" sz="2000" dirty="0" err="1"/>
                  <a:t>dva</a:t>
                </a:r>
                <a:r>
                  <a:rPr lang="en-US" sz="2000" dirty="0"/>
                  <a:t> </a:t>
                </a:r>
                <a:r>
                  <a:rPr lang="en-US" sz="2000" dirty="0" err="1"/>
                  <a:t>registra</a:t>
                </a:r>
                <a:r>
                  <a:rPr lang="en-US" sz="2000" dirty="0"/>
                  <a: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err="1"/>
                  <a:t>registar</a:t>
                </a:r>
                <a:r>
                  <a:rPr lang="en-US" sz="2000" dirty="0"/>
                  <a:t> </a:t>
                </a:r>
                <a:r>
                  <a:rPr lang="en-US" sz="2000" b="0" i="0">
                    <a:latin typeface="Cambria Math" panose="02040503050406030204" pitchFamily="18" charset="0"/>
                    <a:ea typeface="Cambria Math" panose="02040503050406030204" pitchFamily="18" charset="0"/>
                  </a:rPr>
                  <a:t>𝑥</a:t>
                </a:r>
                <a:r>
                  <a:rPr lang="en-US" sz="2000" dirty="0"/>
                  <a:t> u </a:t>
                </a:r>
                <a:r>
                  <a:rPr lang="en-US" sz="2000" dirty="0" err="1"/>
                  <a:t>superpoziciji</a:t>
                </a:r>
                <a:r>
                  <a:rPr lang="en-US" sz="2000" dirty="0"/>
                  <a:t> </a:t>
                </a:r>
                <a:r>
                  <a:rPr lang="en-US" sz="2000" dirty="0" err="1"/>
                  <a:t>kodira</a:t>
                </a:r>
                <a:r>
                  <a:rPr lang="en-US" sz="2000" dirty="0"/>
                  <a:t> </a:t>
                </a:r>
                <a:r>
                  <a:rPr lang="en-US" sz="2000" dirty="0" err="1"/>
                  <a:t>ulazne</a:t>
                </a:r>
                <a:r>
                  <a:rPr lang="en-US" sz="2000" dirty="0"/>
                  <a:t> </a:t>
                </a:r>
                <a:r>
                  <a:rPr lang="en-US" sz="2000" dirty="0" err="1"/>
                  <a:t>argumente</a:t>
                </a:r>
                <a:r>
                  <a:rPr lang="en-US" sz="2000" baseline="0" dirty="0"/>
                  <a:t> </a:t>
                </a:r>
                <a:r>
                  <a:rPr lang="en-US" sz="2000" baseline="0" dirty="0" err="1"/>
                  <a:t>funkcije</a:t>
                </a:r>
                <a:r>
                  <a:rPr lang="en-US" sz="2000" baseline="0" dirty="0"/>
                  <a:t> </a:t>
                </a:r>
                <a:r>
                  <a:rPr lang="sr-Latn-RS" sz="2000" b="0" i="0">
                    <a:solidFill>
                      <a:schemeClr val="tx1"/>
                    </a:solidFill>
                    <a:latin typeface="Cambria Math" panose="02040503050406030204" pitchFamily="18" charset="0"/>
                    <a:ea typeface="Cambria Math" panose="02040503050406030204" pitchFamily="18" charset="0"/>
                  </a:rPr>
                  <a:t>7</a:t>
                </a:r>
                <a:r>
                  <a:rPr lang="en-US" sz="2000" b="0" i="0">
                    <a:solidFill>
                      <a:schemeClr val="tx1"/>
                    </a:solidFill>
                    <a:latin typeface="Cambria Math" panose="02040503050406030204" pitchFamily="18" charset="0"/>
                    <a:ea typeface="Cambria Math" panose="02040503050406030204" pitchFamily="18" charset="0"/>
                  </a:rPr>
                  <a:t>^</a:t>
                </a:r>
                <a:r>
                  <a:rPr lang="en-US" sz="2000" i="0">
                    <a:solidFill>
                      <a:schemeClr val="tx1"/>
                    </a:solidFill>
                    <a:latin typeface="Cambria Math" panose="02040503050406030204" pitchFamily="18" charset="0"/>
                    <a:ea typeface="Cambria Math" panose="02040503050406030204" pitchFamily="18" charset="0"/>
                  </a:rPr>
                  <a:t>𝑥 (𝑚𝑜𝑑 15)</a:t>
                </a:r>
                <a:r>
                  <a:rPr lang="en-US" sz="2000" i="0" dirty="0">
                    <a:solidFill>
                      <a:srgbClr val="0000FF"/>
                    </a:solidFill>
                  </a:rPr>
                  <a:t>. U</a:t>
                </a:r>
                <a:r>
                  <a:rPr lang="en-US" sz="2000" i="0" baseline="0" dirty="0">
                    <a:solidFill>
                      <a:srgbClr val="0000FF"/>
                    </a:solidFill>
                  </a:rPr>
                  <a:t> </a:t>
                </a:r>
                <a:r>
                  <a:rPr lang="en-US" sz="2000" i="0" baseline="0" dirty="0" err="1">
                    <a:solidFill>
                      <a:srgbClr val="0000FF"/>
                    </a:solidFill>
                  </a:rPr>
                  <a:t>primeru</a:t>
                </a:r>
                <a:r>
                  <a:rPr lang="en-US" sz="2000" i="0" baseline="0" dirty="0">
                    <a:solidFill>
                      <a:srgbClr val="0000FF"/>
                    </a:solidFill>
                  </a:rPr>
                  <a:t> </a:t>
                </a:r>
                <a:r>
                  <a:rPr lang="en-US" sz="2000" i="0" baseline="0" dirty="0" err="1">
                    <a:solidFill>
                      <a:srgbClr val="0000FF"/>
                    </a:solidFill>
                  </a:rPr>
                  <a:t>su</a:t>
                </a:r>
                <a:r>
                  <a:rPr lang="en-US" sz="2000" i="0" baseline="0" dirty="0">
                    <a:solidFill>
                      <a:srgbClr val="0000FF"/>
                    </a:solidFill>
                  </a:rPr>
                  <a:t> </a:t>
                </a:r>
                <a:r>
                  <a:rPr lang="en-US" sz="2000" i="0" baseline="0" dirty="0" err="1">
                    <a:solidFill>
                      <a:srgbClr val="0000FF"/>
                    </a:solidFill>
                  </a:rPr>
                  <a:t>prikazani</a:t>
                </a:r>
                <a:r>
                  <a:rPr lang="en-US" sz="2000" i="0" baseline="0" dirty="0">
                    <a:solidFill>
                      <a:srgbClr val="0000FF"/>
                    </a:solidFill>
                  </a:rPr>
                  <a:t> </a:t>
                </a:r>
                <a:r>
                  <a:rPr lang="en-US" sz="2000" i="0" baseline="0" dirty="0" err="1">
                    <a:solidFill>
                      <a:srgbClr val="0000FF"/>
                    </a:solidFill>
                  </a:rPr>
                  <a:t>samo</a:t>
                </a:r>
                <a:r>
                  <a:rPr lang="en-US" sz="2000" i="0" baseline="0" dirty="0">
                    <a:solidFill>
                      <a:srgbClr val="0000FF"/>
                    </a:solidFill>
                  </a:rPr>
                  <a:t> </a:t>
                </a:r>
                <a:r>
                  <a:rPr lang="en-US" sz="2000" i="0" baseline="0" dirty="0" err="1">
                    <a:solidFill>
                      <a:srgbClr val="0000FF"/>
                    </a:solidFill>
                  </a:rPr>
                  <a:t>argumenti</a:t>
                </a:r>
                <a:r>
                  <a:rPr lang="en-US" sz="2000" i="0" baseline="0" dirty="0">
                    <a:solidFill>
                      <a:srgbClr val="0000FF"/>
                    </a:solidFill>
                  </a:rPr>
                  <a:t> od 0 do </a:t>
                </a:r>
                <a:r>
                  <a:rPr lang="en-US" sz="2000" b="0" i="0">
                    <a:solidFill>
                      <a:schemeClr val="tx1"/>
                    </a:solidFill>
                    <a:latin typeface="Cambria Math" panose="02040503050406030204" pitchFamily="18" charset="0"/>
                    <a:ea typeface="Cambria Math" panose="02040503050406030204" pitchFamily="18" charset="0"/>
                  </a:rPr>
                  <a:t>𝑁</a:t>
                </a:r>
                <a:r>
                  <a:rPr lang="en-US" sz="2000" i="0" dirty="0">
                    <a:solidFill>
                      <a:srgbClr val="0000FF"/>
                    </a:solidFill>
                  </a:rPr>
                  <a:t>, </a:t>
                </a:r>
                <a:r>
                  <a:rPr lang="en-US" sz="2000" i="0" dirty="0" err="1">
                    <a:solidFill>
                      <a:srgbClr val="0000FF"/>
                    </a:solidFill>
                  </a:rPr>
                  <a:t>mada</a:t>
                </a:r>
                <a:r>
                  <a:rPr lang="en-US" sz="2000" i="0" dirty="0">
                    <a:solidFill>
                      <a:srgbClr val="0000FF"/>
                    </a:solidFill>
                  </a:rPr>
                  <a:t> </a:t>
                </a:r>
                <a:r>
                  <a:rPr lang="en-US" sz="2000" i="0" dirty="0" err="1">
                    <a:solidFill>
                      <a:srgbClr val="0000FF"/>
                    </a:solidFill>
                  </a:rPr>
                  <a:t>je</a:t>
                </a:r>
                <a:r>
                  <a:rPr lang="en-US" sz="2000" i="0" dirty="0">
                    <a:solidFill>
                      <a:srgbClr val="0000FF"/>
                    </a:solidFill>
                  </a:rPr>
                  <a:t> </a:t>
                </a:r>
                <a:r>
                  <a:rPr lang="en-US" sz="2000" i="0" dirty="0" err="1">
                    <a:solidFill>
                      <a:srgbClr val="0000FF"/>
                    </a:solidFill>
                  </a:rPr>
                  <a:t>preporuka</a:t>
                </a:r>
                <a:r>
                  <a:rPr lang="en-US" sz="2000" i="0" dirty="0">
                    <a:solidFill>
                      <a:srgbClr val="0000FF"/>
                    </a:solidFill>
                  </a:rPr>
                  <a:t> da </a:t>
                </a:r>
                <a:r>
                  <a:rPr lang="en-US" sz="2000" i="0" dirty="0" err="1">
                    <a:solidFill>
                      <a:srgbClr val="0000FF"/>
                    </a:solidFill>
                  </a:rPr>
                  <a:t>registar</a:t>
                </a:r>
                <a:r>
                  <a:rPr lang="en-US" sz="2000" i="0" baseline="0" dirty="0">
                    <a:solidFill>
                      <a:srgbClr val="0000FF"/>
                    </a:solidFill>
                  </a:rPr>
                  <a:t> </a:t>
                </a:r>
                <a:r>
                  <a:rPr lang="en-US" sz="2000" i="0" baseline="0" dirty="0" err="1">
                    <a:solidFill>
                      <a:srgbClr val="0000FF"/>
                    </a:solidFill>
                  </a:rPr>
                  <a:t>ima</a:t>
                </a:r>
                <a:r>
                  <a:rPr lang="en-US" sz="2000" i="0" baseline="0" dirty="0">
                    <a:solidFill>
                      <a:srgbClr val="0000FF"/>
                    </a:solidFill>
                  </a:rPr>
                  <a:t> </a:t>
                </a:r>
                <a:r>
                  <a:rPr lang="en-US" sz="2000" i="0" baseline="0" dirty="0" err="1">
                    <a:solidFill>
                      <a:srgbClr val="0000FF"/>
                    </a:solidFill>
                  </a:rPr>
                  <a:t>dovoljno</a:t>
                </a:r>
                <a:r>
                  <a:rPr lang="en-US" sz="2000" i="0" baseline="0" dirty="0">
                    <a:solidFill>
                      <a:srgbClr val="0000FF"/>
                    </a:solidFill>
                  </a:rPr>
                  <a:t> </a:t>
                </a:r>
                <a:r>
                  <a:rPr lang="en-US" sz="2000" i="0" baseline="0" dirty="0" err="1">
                    <a:solidFill>
                      <a:srgbClr val="0000FF"/>
                    </a:solidFill>
                  </a:rPr>
                  <a:t>kubita</a:t>
                </a:r>
                <a:r>
                  <a:rPr lang="en-US" sz="2000" i="0" baseline="0" dirty="0">
                    <a:solidFill>
                      <a:srgbClr val="0000FF"/>
                    </a:solidFill>
                  </a:rPr>
                  <a:t> </a:t>
                </a:r>
                <a:r>
                  <a:rPr lang="en-US" sz="2000" i="0" baseline="0" dirty="0" err="1">
                    <a:solidFill>
                      <a:srgbClr val="0000FF"/>
                    </a:solidFill>
                  </a:rPr>
                  <a:t>za</a:t>
                </a:r>
                <a:r>
                  <a:rPr lang="en-US" sz="2000" i="0" baseline="0" dirty="0">
                    <a:solidFill>
                      <a:srgbClr val="0000FF"/>
                    </a:solidFill>
                  </a:rPr>
                  <a:t> </a:t>
                </a:r>
                <a:r>
                  <a:rPr lang="en-US" sz="2000" i="0" baseline="0" dirty="0" err="1">
                    <a:solidFill>
                      <a:srgbClr val="0000FF"/>
                    </a:solidFill>
                  </a:rPr>
                  <a:t>brojeve</a:t>
                </a:r>
                <a:r>
                  <a:rPr lang="en-US" sz="2000" i="0" baseline="0" dirty="0">
                    <a:solidFill>
                      <a:srgbClr val="0000FF"/>
                    </a:solidFill>
                  </a:rPr>
                  <a:t> </a:t>
                </a:r>
                <a:r>
                  <a:rPr lang="en-US" sz="2000" i="0" dirty="0" err="1">
                    <a:solidFill>
                      <a:srgbClr val="0000FF"/>
                    </a:solidFill>
                  </a:rPr>
                  <a:t>između</a:t>
                </a:r>
                <a:r>
                  <a:rPr lang="en-US" sz="2000" i="0" dirty="0">
                    <a:solidFill>
                      <a:srgbClr val="0000FF"/>
                    </a:solidFill>
                  </a:rPr>
                  <a:t>  </a:t>
                </a:r>
                <a:r>
                  <a:rPr lang="en-US" sz="2000" b="0" i="0">
                    <a:latin typeface="Cambria Math" panose="02040503050406030204" pitchFamily="18" charset="0"/>
                    <a:ea typeface="Cambria Math" panose="02040503050406030204" pitchFamily="18" charset="0"/>
                  </a:rPr>
                  <a:t>𝑁^2&lt;𝑥&lt;2𝑁^2</a:t>
                </a:r>
                <a:endParaRPr lang="sr-Latn-RS" sz="2000" b="0" i="0" dirty="0">
                  <a:ea typeface="Cambria Math" panose="02040503050406030204" pitchFamily="18" charset="0"/>
                </a:endParaRP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i="0" dirty="0" err="1">
                    <a:solidFill>
                      <a:srgbClr val="0000FF"/>
                    </a:solidFill>
                  </a:rPr>
                  <a:t>registar</a:t>
                </a:r>
                <a:r>
                  <a:rPr lang="en-US" sz="2000" i="0" dirty="0">
                    <a:solidFill>
                      <a:srgbClr val="0000FF"/>
                    </a:solidFill>
                  </a:rPr>
                  <a:t> </a:t>
                </a:r>
                <a:r>
                  <a:rPr lang="sr-Latn-RS" sz="2000" b="0" i="0">
                    <a:latin typeface="Cambria Math" panose="02040503050406030204" pitchFamily="18" charset="0"/>
                    <a:ea typeface="Cambria Math" panose="02040503050406030204" pitchFamily="18" charset="0"/>
                  </a:rPr>
                  <a:t>𝑦</a:t>
                </a:r>
                <a:r>
                  <a:rPr lang="en-US" sz="2000" i="0" dirty="0"/>
                  <a:t> </a:t>
                </a:r>
                <a:r>
                  <a:rPr lang="en-US" sz="2000" i="0" dirty="0" err="1"/>
                  <a:t>sadrži</a:t>
                </a:r>
                <a:r>
                  <a:rPr lang="en-US" sz="2000" i="0" dirty="0"/>
                  <a:t> </a:t>
                </a:r>
                <a:r>
                  <a:rPr lang="en-US" sz="2000" i="0" dirty="0" err="1"/>
                  <a:t>izračunatu</a:t>
                </a:r>
                <a:r>
                  <a:rPr lang="en-US" sz="2000" i="0" dirty="0"/>
                  <a:t> </a:t>
                </a:r>
                <a:r>
                  <a:rPr lang="en-US" sz="2000" i="0" dirty="0" err="1"/>
                  <a:t>vrednost</a:t>
                </a:r>
                <a:r>
                  <a:rPr lang="en-US" sz="2000" i="0" baseline="0" dirty="0"/>
                  <a:t> </a:t>
                </a:r>
                <a:r>
                  <a:rPr lang="en-US" sz="2000" i="0" dirty="0" err="1"/>
                  <a:t>funkcije</a:t>
                </a:r>
                <a:r>
                  <a:rPr lang="en-US" sz="2000" i="0" dirty="0"/>
                  <a:t> </a:t>
                </a:r>
                <a:r>
                  <a:rPr lang="sr-Latn-RS" sz="2000" b="0" i="0">
                    <a:solidFill>
                      <a:schemeClr val="tx1"/>
                    </a:solidFill>
                    <a:latin typeface="Cambria Math" panose="02040503050406030204" pitchFamily="18" charset="0"/>
                    <a:ea typeface="Cambria Math" panose="02040503050406030204" pitchFamily="18" charset="0"/>
                  </a:rPr>
                  <a:t>7</a:t>
                </a:r>
                <a:r>
                  <a:rPr lang="en-US" sz="2000" b="0" i="0">
                    <a:solidFill>
                      <a:schemeClr val="tx1"/>
                    </a:solidFill>
                    <a:latin typeface="Cambria Math" panose="02040503050406030204" pitchFamily="18" charset="0"/>
                    <a:ea typeface="Cambria Math" panose="02040503050406030204" pitchFamily="18" charset="0"/>
                  </a:rPr>
                  <a:t>^</a:t>
                </a:r>
                <a:r>
                  <a:rPr lang="en-US" sz="2000" i="0">
                    <a:solidFill>
                      <a:schemeClr val="tx1"/>
                    </a:solidFill>
                    <a:latin typeface="Cambria Math" panose="02040503050406030204" pitchFamily="18" charset="0"/>
                    <a:ea typeface="Cambria Math" panose="02040503050406030204" pitchFamily="18" charset="0"/>
                  </a:rPr>
                  <a:t>𝑥 (𝑚𝑜𝑑 </a:t>
                </a:r>
                <a:r>
                  <a:rPr lang="sr-Latn-RS" sz="2000" b="0" i="0">
                    <a:solidFill>
                      <a:schemeClr val="tx1"/>
                    </a:solidFill>
                    <a:latin typeface="Cambria Math" panose="02040503050406030204" pitchFamily="18" charset="0"/>
                    <a:ea typeface="Cambria Math" panose="02040503050406030204" pitchFamily="18" charset="0"/>
                  </a:rPr>
                  <a:t>15</a:t>
                </a:r>
                <a:r>
                  <a:rPr lang="en-US" sz="2000" b="0" i="0">
                    <a:solidFill>
                      <a:schemeClr val="tx1"/>
                    </a:solidFill>
                    <a:latin typeface="Cambria Math" panose="02040503050406030204" pitchFamily="18" charset="0"/>
                    <a:ea typeface="Cambria Math" panose="02040503050406030204" pitchFamily="18" charset="0"/>
                  </a:rPr>
                  <a:t>)</a:t>
                </a:r>
                <a:r>
                  <a:rPr lang="en-US" sz="2000" i="0" dirty="0"/>
                  <a:t> </a:t>
                </a:r>
                <a:r>
                  <a:rPr lang="en-US" sz="2000" i="0" dirty="0" err="1"/>
                  <a:t>za</a:t>
                </a:r>
                <a:r>
                  <a:rPr lang="en-US" sz="2000" i="0" dirty="0"/>
                  <a:t> </a:t>
                </a:r>
                <a:r>
                  <a:rPr lang="en-US" sz="2000" i="0" dirty="0" err="1"/>
                  <a:t>odgovarajuće</a:t>
                </a:r>
                <a:r>
                  <a:rPr lang="en-US" sz="2000" i="0" baseline="0" dirty="0"/>
                  <a:t> </a:t>
                </a:r>
                <a:r>
                  <a:rPr lang="en-US" sz="2000" i="0" baseline="0" dirty="0" err="1"/>
                  <a:t>vrednosti</a:t>
                </a:r>
                <a:r>
                  <a:rPr lang="en-US" sz="2000" i="0" baseline="0" dirty="0"/>
                  <a:t> </a:t>
                </a:r>
                <a:r>
                  <a:rPr lang="en-US" sz="2000" b="0" i="0">
                    <a:latin typeface="Cambria Math" panose="02040503050406030204" pitchFamily="18" charset="0"/>
                    <a:ea typeface="Cambria Math" panose="02040503050406030204" pitchFamily="18" charset="0"/>
                  </a:rPr>
                  <a:t>𝑥</a:t>
                </a:r>
                <a:r>
                  <a:rPr lang="en-US" sz="2000" i="0" dirty="0"/>
                  <a:t>. </a:t>
                </a:r>
                <a:r>
                  <a:rPr lang="en-US" sz="2000" i="0" dirty="0" err="1"/>
                  <a:t>Pošto</a:t>
                </a:r>
                <a:r>
                  <a:rPr lang="en-US" sz="2000" i="0" baseline="0" dirty="0"/>
                  <a:t> </a:t>
                </a:r>
                <a:r>
                  <a:rPr lang="en-US" sz="2000" i="0" baseline="0" dirty="0" err="1"/>
                  <a:t>je</a:t>
                </a:r>
                <a:r>
                  <a:rPr lang="en-US" sz="2000" i="0" baseline="0" dirty="0"/>
                  <a:t> u </a:t>
                </a:r>
                <a:r>
                  <a:rPr lang="en-US" sz="2000" i="0" baseline="0" dirty="0" err="1"/>
                  <a:t>pitanju</a:t>
                </a:r>
                <a:r>
                  <a:rPr lang="en-US" sz="2000" i="0" baseline="0" dirty="0"/>
                  <a:t> </a:t>
                </a:r>
                <a:r>
                  <a:rPr lang="en-US" sz="2000" i="0" baseline="0" dirty="0" err="1"/>
                  <a:t>periodična</a:t>
                </a:r>
                <a:r>
                  <a:rPr lang="en-US" sz="2000" i="0" baseline="0" dirty="0"/>
                  <a:t> modulo </a:t>
                </a:r>
                <a:r>
                  <a:rPr lang="en-US" sz="2000" i="0" baseline="0" dirty="0" err="1"/>
                  <a:t>funkcija</a:t>
                </a:r>
                <a:r>
                  <a:rPr lang="en-US" sz="2000" i="0" baseline="0" dirty="0"/>
                  <a:t> </a:t>
                </a:r>
                <a:r>
                  <a:rPr lang="en-US" sz="2000" i="0" baseline="0" dirty="0" err="1"/>
                  <a:t>dovoljno</a:t>
                </a:r>
                <a:r>
                  <a:rPr lang="en-US" sz="2000" i="0" baseline="0" dirty="0"/>
                  <a:t> </a:t>
                </a:r>
                <a:r>
                  <a:rPr lang="en-US" sz="2000" i="0" baseline="0" dirty="0" err="1"/>
                  <a:t>je</a:t>
                </a:r>
                <a:r>
                  <a:rPr lang="en-US" sz="2000" i="0" baseline="0" dirty="0"/>
                  <a:t> </a:t>
                </a:r>
                <a:r>
                  <a:rPr lang="en-US" sz="2000" i="0" baseline="0" dirty="0" err="1"/>
                  <a:t>imati</a:t>
                </a:r>
                <a:r>
                  <a:rPr lang="en-US" sz="2000" i="0" baseline="0" dirty="0"/>
                  <a:t> </a:t>
                </a:r>
                <a:r>
                  <a:rPr lang="en-US" sz="2000" i="0" baseline="0" dirty="0" err="1"/>
                  <a:t>kubita</a:t>
                </a:r>
                <a:r>
                  <a:rPr lang="en-US" sz="2000" i="0" baseline="0" dirty="0"/>
                  <a:t> </a:t>
                </a:r>
                <a:r>
                  <a:rPr lang="en-US" sz="2000" i="0" baseline="0" dirty="0" err="1"/>
                  <a:t>za</a:t>
                </a:r>
                <a:r>
                  <a:rPr lang="en-US" sz="2000" i="0" baseline="0" dirty="0"/>
                  <a:t> </a:t>
                </a:r>
                <a:r>
                  <a:rPr lang="sr-Latn-RS" sz="2000" b="0" i="0">
                    <a:latin typeface="Cambria Math" panose="02040503050406030204" pitchFamily="18" charset="0"/>
                    <a:ea typeface="Cambria Math" panose="02040503050406030204" pitchFamily="18" charset="0"/>
                  </a:rPr>
                  <a:t>𝑁−1</a:t>
                </a:r>
                <a:r>
                  <a:rPr lang="en-US" sz="2000" i="0" dirty="0"/>
                  <a:t> </a:t>
                </a:r>
                <a:r>
                  <a:rPr lang="en-US" sz="2000" i="0" dirty="0" err="1"/>
                  <a:t>brojeva</a:t>
                </a:r>
                <a:r>
                  <a:rPr lang="en-US" sz="2000" i="0" dirty="0"/>
                  <a:t>. Prva </a:t>
                </a:r>
                <a:r>
                  <a:rPr lang="en-US" sz="2000" i="0" dirty="0" err="1"/>
                  <a:t>tabela</a:t>
                </a:r>
                <a:r>
                  <a:rPr lang="en-US" sz="2000" i="0" dirty="0"/>
                  <a:t> </a:t>
                </a:r>
                <a:r>
                  <a:rPr lang="en-US" sz="2000" i="0" dirty="0" err="1"/>
                  <a:t>prikazuje</a:t>
                </a:r>
                <a:r>
                  <a:rPr lang="en-US" sz="2000" i="0" dirty="0"/>
                  <a:t> </a:t>
                </a:r>
                <a:r>
                  <a:rPr lang="en-US" sz="2000" i="0" dirty="0" err="1"/>
                  <a:t>sadržaje</a:t>
                </a:r>
                <a:r>
                  <a:rPr lang="en-US" sz="2000" i="0" dirty="0"/>
                  <a:t> </a:t>
                </a:r>
                <a:r>
                  <a:rPr lang="en-US" sz="2000" i="0" dirty="0" err="1"/>
                  <a:t>registara</a:t>
                </a:r>
                <a:r>
                  <a:rPr lang="en-US" sz="2000" i="0" dirty="0"/>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i="0" dirty="0"/>
                  <a:t>U </a:t>
                </a:r>
                <a:r>
                  <a:rPr lang="en-US" sz="2000" i="0" dirty="0" err="1"/>
                  <a:t>sledećem</a:t>
                </a:r>
                <a:r>
                  <a:rPr lang="en-US" sz="2000" i="0" dirty="0"/>
                  <a:t> </a:t>
                </a:r>
                <a:r>
                  <a:rPr lang="en-US" sz="2000" i="0" dirty="0" err="1"/>
                  <a:t>koraku</a:t>
                </a:r>
                <a:r>
                  <a:rPr lang="en-US" sz="2000" i="0" dirty="0"/>
                  <a:t> </a:t>
                </a:r>
                <a:r>
                  <a:rPr lang="en-US" sz="2000" i="0" dirty="0" err="1"/>
                  <a:t>izmeri</a:t>
                </a:r>
                <a:r>
                  <a:rPr lang="en-US" sz="2000" i="0" dirty="0"/>
                  <a:t> se </a:t>
                </a:r>
                <a:r>
                  <a:rPr lang="en-US" sz="2000" i="0" dirty="0" err="1"/>
                  <a:t>registar</a:t>
                </a:r>
                <a:r>
                  <a:rPr lang="en-US" sz="2000" i="0" dirty="0"/>
                  <a:t> </a:t>
                </a:r>
                <a:r>
                  <a:rPr lang="sr-Latn-RS" sz="2000" b="0" i="0">
                    <a:latin typeface="Cambria Math" panose="02040503050406030204" pitchFamily="18" charset="0"/>
                    <a:ea typeface="Cambria Math" panose="02040503050406030204" pitchFamily="18" charset="0"/>
                  </a:rPr>
                  <a:t>𝑦</a:t>
                </a:r>
                <a:r>
                  <a:rPr lang="en-US" sz="2000" i="0" dirty="0"/>
                  <a:t>. U </a:t>
                </a:r>
                <a:r>
                  <a:rPr lang="en-US" sz="2000" i="0" dirty="0" err="1"/>
                  <a:t>primeru</a:t>
                </a:r>
                <a:r>
                  <a:rPr lang="en-US" sz="2000" i="0" dirty="0"/>
                  <a:t> </a:t>
                </a:r>
                <a:r>
                  <a:rPr lang="en-US" sz="2000" i="0" dirty="0" err="1"/>
                  <a:t>je</a:t>
                </a:r>
                <a:r>
                  <a:rPr lang="en-US" sz="2000" i="0" dirty="0"/>
                  <a:t> </a:t>
                </a:r>
                <a:r>
                  <a:rPr lang="en-US" sz="2000" i="0" dirty="0" err="1"/>
                  <a:t>merenje</a:t>
                </a:r>
                <a:r>
                  <a:rPr lang="en-US" sz="2000" i="0" dirty="0"/>
                  <a:t> </a:t>
                </a:r>
                <a:r>
                  <a:rPr lang="en-US" sz="2000" i="0" dirty="0" err="1"/>
                  <a:t>dalo</a:t>
                </a:r>
                <a:r>
                  <a:rPr lang="en-US" sz="2000" i="0" dirty="0"/>
                  <a:t> </a:t>
                </a:r>
                <a:r>
                  <a:rPr lang="en-US" sz="2000" i="0" dirty="0" err="1"/>
                  <a:t>rezultat</a:t>
                </a:r>
                <a:r>
                  <a:rPr lang="en-US" sz="2000" i="0" dirty="0"/>
                  <a:t> 13.</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i="0" dirty="0" err="1"/>
                  <a:t>Posle</a:t>
                </a:r>
                <a:r>
                  <a:rPr lang="en-US" sz="2000" i="0" dirty="0"/>
                  <a:t> </a:t>
                </a:r>
                <a:r>
                  <a:rPr lang="en-US" sz="2000" i="0" dirty="0" err="1"/>
                  <a:t>merenja</a:t>
                </a:r>
                <a:r>
                  <a:rPr lang="en-US" sz="2000" i="0" dirty="0"/>
                  <a:t> </a:t>
                </a:r>
                <a:r>
                  <a:rPr lang="en-US" sz="2000" i="0" dirty="0" err="1"/>
                  <a:t>stanja</a:t>
                </a:r>
                <a:r>
                  <a:rPr lang="en-US" sz="2000" i="0" dirty="0"/>
                  <a:t> </a:t>
                </a:r>
                <a:r>
                  <a:rPr lang="en-US" sz="2000" i="0" dirty="0" err="1"/>
                  <a:t>nekonzistentna</a:t>
                </a:r>
                <a:r>
                  <a:rPr lang="en-US" sz="2000" i="0" dirty="0"/>
                  <a:t> </a:t>
                </a:r>
                <a:r>
                  <a:rPr lang="en-US" sz="2000" i="0" dirty="0" err="1"/>
                  <a:t>sa</a:t>
                </a:r>
                <a:r>
                  <a:rPr lang="en-US" sz="2000" i="0" dirty="0"/>
                  <a:t> </a:t>
                </a:r>
                <a:r>
                  <a:rPr lang="en-US" sz="2000" i="0" dirty="0" err="1"/>
                  <a:t>merenjem</a:t>
                </a:r>
                <a:r>
                  <a:rPr lang="en-US" sz="2000" i="0" dirty="0"/>
                  <a:t> </a:t>
                </a:r>
                <a:r>
                  <a:rPr lang="en-US" sz="2000" i="0" dirty="0" err="1"/>
                  <a:t>nestaju</a:t>
                </a:r>
                <a:r>
                  <a:rPr lang="en-US" sz="2000" i="0" dirty="0"/>
                  <a:t> </a:t>
                </a:r>
                <a:r>
                  <a:rPr lang="en-US" sz="2000" i="0" dirty="0" err="1"/>
                  <a:t>što</a:t>
                </a:r>
                <a:r>
                  <a:rPr lang="en-US" sz="2000" i="0" dirty="0"/>
                  <a:t> </a:t>
                </a:r>
                <a:r>
                  <a:rPr lang="en-US" sz="2000" i="0" dirty="0" err="1"/>
                  <a:t>je</a:t>
                </a:r>
                <a:r>
                  <a:rPr lang="en-US" sz="2000" i="0" dirty="0"/>
                  <a:t> </a:t>
                </a:r>
                <a:r>
                  <a:rPr lang="en-US" sz="2000" i="0" dirty="0" err="1"/>
                  <a:t>prikazano</a:t>
                </a:r>
                <a:r>
                  <a:rPr lang="en-US" sz="2000" i="0" dirty="0"/>
                  <a:t> </a:t>
                </a:r>
                <a:r>
                  <a:rPr lang="en-US" sz="2000" i="0" dirty="0" err="1"/>
                  <a:t>drugom</a:t>
                </a:r>
                <a:r>
                  <a:rPr lang="en-US" sz="2000" i="0" dirty="0"/>
                  <a:t> </a:t>
                </a:r>
                <a:r>
                  <a:rPr lang="en-US" sz="2000" i="0" dirty="0" err="1"/>
                  <a:t>tabelom</a:t>
                </a:r>
                <a:r>
                  <a:rPr lang="en-US" sz="2000" i="0" dirty="0"/>
                  <a:t>. U </a:t>
                </a:r>
                <a:r>
                  <a:rPr lang="en-US" sz="2000" i="0" dirty="0" err="1"/>
                  <a:t>ovom</a:t>
                </a:r>
                <a:r>
                  <a:rPr lang="en-US" sz="2000" i="0" dirty="0"/>
                  <a:t> </a:t>
                </a:r>
                <a:r>
                  <a:rPr lang="en-US" sz="2000" i="0" dirty="0" err="1"/>
                  <a:t>trenutku</a:t>
                </a:r>
                <a:r>
                  <a:rPr lang="en-US" sz="2000" i="0" dirty="0"/>
                  <a:t> </a:t>
                </a:r>
                <a:r>
                  <a:rPr lang="en-US" sz="2000" i="0" dirty="0" err="1"/>
                  <a:t>kubiti</a:t>
                </a:r>
                <a:r>
                  <a:rPr lang="en-US" sz="2000" i="0" dirty="0"/>
                  <a:t> u </a:t>
                </a:r>
                <a:r>
                  <a:rPr lang="en-US" sz="2000" i="0" dirty="0" err="1"/>
                  <a:t>jednakoj</a:t>
                </a:r>
                <a:r>
                  <a:rPr lang="en-US" sz="2000" i="0" dirty="0"/>
                  <a:t> </a:t>
                </a:r>
                <a:r>
                  <a:rPr lang="en-US" sz="2000" i="0" dirty="0" err="1"/>
                  <a:t>superpoziciji</a:t>
                </a:r>
                <a:r>
                  <a:rPr lang="en-US" sz="2000" i="0" dirty="0"/>
                  <a:t> </a:t>
                </a:r>
                <a:r>
                  <a:rPr lang="en-US" sz="2000" i="0" dirty="0" err="1"/>
                  <a:t>predstavljaju</a:t>
                </a:r>
                <a:r>
                  <a:rPr lang="en-US" sz="2000" i="0" dirty="0"/>
                  <a:t> </a:t>
                </a:r>
                <a:r>
                  <a:rPr lang="en-US" sz="2000" i="0" dirty="0" err="1"/>
                  <a:t>linearnu</a:t>
                </a:r>
                <a:r>
                  <a:rPr lang="en-US" sz="2000" i="0" dirty="0"/>
                  <a:t> </a:t>
                </a:r>
                <a:r>
                  <a:rPr lang="en-US" sz="2000" i="0" dirty="0" err="1"/>
                  <a:t>kombinaciju</a:t>
                </a:r>
                <a:r>
                  <a:rPr lang="en-US" sz="2000" i="0" dirty="0"/>
                  <a:t> </a:t>
                </a:r>
                <a:r>
                  <a:rPr lang="en-US" sz="2000" i="0" dirty="0" err="1"/>
                  <a:t>tačaka</a:t>
                </a:r>
                <a:r>
                  <a:rPr lang="en-US" sz="2000" i="0" dirty="0"/>
                  <a:t> (3,7,11,15) od </a:t>
                </a:r>
                <a:r>
                  <a:rPr lang="en-US" sz="2000" i="0" dirty="0" err="1"/>
                  <a:t>kojih</a:t>
                </a:r>
                <a:r>
                  <a:rPr lang="en-US" sz="2000" i="0" dirty="0"/>
                  <a:t> </a:t>
                </a:r>
                <a:r>
                  <a:rPr lang="en-US" sz="2000" i="0" dirty="0" err="1"/>
                  <a:t>je</a:t>
                </a:r>
                <a:r>
                  <a:rPr lang="en-US" sz="2000" i="0" dirty="0"/>
                  <a:t> </a:t>
                </a:r>
                <a:r>
                  <a:rPr lang="en-US" sz="2000" i="0" dirty="0" err="1"/>
                  <a:t>svaka</a:t>
                </a:r>
                <a:r>
                  <a:rPr lang="en-US" sz="2000" i="0" dirty="0"/>
                  <a:t> </a:t>
                </a:r>
                <a:r>
                  <a:rPr lang="en-US" sz="2000" i="0" dirty="0" err="1"/>
                  <a:t>proizvela</a:t>
                </a:r>
                <a:r>
                  <a:rPr lang="en-US" sz="2000" i="0" dirty="0"/>
                  <a:t> </a:t>
                </a:r>
                <a:r>
                  <a:rPr lang="en-US" sz="2000" i="0" dirty="0" err="1"/>
                  <a:t>izmerenu</a:t>
                </a:r>
                <a:r>
                  <a:rPr lang="en-US" sz="2000" i="0" dirty="0"/>
                  <a:t> </a:t>
                </a:r>
                <a:r>
                  <a:rPr lang="en-US" sz="2000" i="0" dirty="0" err="1"/>
                  <a:t>vrednost</a:t>
                </a:r>
                <a:r>
                  <a:rPr lang="en-US" sz="2000" i="0" dirty="0"/>
                  <a:t> modulo </a:t>
                </a:r>
                <a:r>
                  <a:rPr lang="en-US" sz="2000" i="0" dirty="0" err="1"/>
                  <a:t>funkcije</a:t>
                </a:r>
                <a:r>
                  <a:rPr lang="en-US" sz="2000" i="0" dirty="0"/>
                  <a:t> (13). </a:t>
                </a:r>
                <a:r>
                  <a:rPr lang="en-US" sz="2000" i="0" dirty="0" err="1"/>
                  <a:t>Skriven</a:t>
                </a:r>
                <a:r>
                  <a:rPr lang="en-US" sz="2000" i="0" dirty="0"/>
                  <a:t> </a:t>
                </a:r>
                <a:r>
                  <a:rPr lang="en-US" sz="2000" i="0" dirty="0" err="1"/>
                  <a:t>među</a:t>
                </a:r>
                <a:r>
                  <a:rPr lang="en-US" sz="2000" i="0" dirty="0"/>
                  <a:t> </a:t>
                </a:r>
                <a:r>
                  <a:rPr lang="en-US" sz="2000" i="0" dirty="0" err="1"/>
                  <a:t>njima</a:t>
                </a:r>
                <a:r>
                  <a:rPr lang="en-US" sz="2000" i="0" dirty="0"/>
                  <a:t> </a:t>
                </a:r>
                <a:r>
                  <a:rPr lang="en-US" sz="2000" i="0" dirty="0" err="1"/>
                  <a:t>nalazi</a:t>
                </a:r>
                <a:r>
                  <a:rPr lang="en-US" sz="2000" i="0" dirty="0"/>
                  <a:t> se period </a:t>
                </a:r>
                <a:r>
                  <a:rPr lang="en-US" sz="2000" i="0" dirty="0" err="1"/>
                  <a:t>funkcije</a:t>
                </a:r>
                <a:r>
                  <a:rPr lang="en-US" sz="2000" i="0" dirty="0"/>
                  <a:t> </a:t>
                </a:r>
                <a:r>
                  <a:rPr lang="en-US" sz="2000" i="0" dirty="0" err="1"/>
                  <a:t>koji</a:t>
                </a:r>
                <a:r>
                  <a:rPr lang="en-US" sz="2000" i="0" dirty="0"/>
                  <a:t> se </a:t>
                </a:r>
                <a:r>
                  <a:rPr lang="en-US" sz="2000" i="0" dirty="0" err="1"/>
                  <a:t>traži</a:t>
                </a:r>
                <a:r>
                  <a:rPr lang="en-US" sz="2000" i="0" dirty="0"/>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i="0" dirty="0"/>
                  <a:t>Na </a:t>
                </a:r>
                <a:r>
                  <a:rPr lang="en-US" sz="2000" i="0" dirty="0" err="1"/>
                  <a:t>stanje</a:t>
                </a:r>
                <a:r>
                  <a:rPr lang="en-US" sz="2000" i="0" dirty="0"/>
                  <a:t> u </a:t>
                </a:r>
                <a:r>
                  <a:rPr lang="en-US" sz="2000" i="0" dirty="0" err="1"/>
                  <a:t>registru</a:t>
                </a:r>
                <a:r>
                  <a:rPr lang="en-US" sz="2000" i="0" dirty="0"/>
                  <a:t> </a:t>
                </a:r>
                <a:r>
                  <a:rPr lang="en-US" sz="2000" b="0" i="0">
                    <a:latin typeface="Cambria Math" panose="02040503050406030204" pitchFamily="18" charset="0"/>
                    <a:ea typeface="Cambria Math" panose="02040503050406030204" pitchFamily="18" charset="0"/>
                  </a:rPr>
                  <a:t>𝑥</a:t>
                </a:r>
                <a:r>
                  <a:rPr lang="en-US" sz="2000" i="0" dirty="0"/>
                  <a:t> </a:t>
                </a:r>
                <a:r>
                  <a:rPr lang="en-US" sz="2000" i="0" dirty="0" err="1"/>
                  <a:t>primenjuje</a:t>
                </a:r>
                <a:r>
                  <a:rPr lang="en-US" sz="2000" i="0" dirty="0"/>
                  <a:t> se </a:t>
                </a:r>
                <a:r>
                  <a:rPr lang="en-US" sz="2000" i="0" dirty="0" err="1"/>
                  <a:t>inverzna</a:t>
                </a:r>
                <a:r>
                  <a:rPr lang="en-US" sz="2000" i="0" baseline="0" dirty="0"/>
                  <a:t> </a:t>
                </a:r>
                <a:r>
                  <a:rPr lang="en-US" sz="2000" i="0" baseline="0" dirty="0" err="1"/>
                  <a:t>kvantna</a:t>
                </a:r>
                <a:r>
                  <a:rPr lang="en-US" sz="2000" i="0" baseline="0" dirty="0"/>
                  <a:t> </a:t>
                </a:r>
                <a:r>
                  <a:rPr lang="en-US" sz="2000" i="0" baseline="0" dirty="0" err="1"/>
                  <a:t>furijeova</a:t>
                </a:r>
                <a:r>
                  <a:rPr lang="en-US" sz="2000" i="0" baseline="0" dirty="0"/>
                  <a:t> </a:t>
                </a:r>
                <a:r>
                  <a:rPr lang="en-US" sz="2000" i="0" baseline="0" dirty="0" err="1"/>
                  <a:t>transformacija</a:t>
                </a:r>
                <a:r>
                  <a:rPr lang="en-US" sz="2000" i="0" baseline="0" dirty="0"/>
                  <a:t>. </a:t>
                </a:r>
                <a:r>
                  <a:rPr lang="en-US" sz="2000" i="0" baseline="0" dirty="0" err="1"/>
                  <a:t>Zadatak</a:t>
                </a:r>
                <a:r>
                  <a:rPr lang="en-US" sz="2000" i="0" baseline="0" dirty="0"/>
                  <a:t> IQFT </a:t>
                </a:r>
                <a:r>
                  <a:rPr lang="en-US" sz="2000" i="0" baseline="0" dirty="0" err="1"/>
                  <a:t>je</a:t>
                </a:r>
                <a:r>
                  <a:rPr lang="en-US" sz="2000" i="0" baseline="0" dirty="0"/>
                  <a:t> da </a:t>
                </a:r>
                <a:r>
                  <a:rPr lang="en-US" sz="2000" i="0" baseline="0" dirty="0" err="1"/>
                  <a:t>prebaci</a:t>
                </a:r>
                <a:r>
                  <a:rPr lang="en-US" sz="2000" i="0" baseline="0" dirty="0"/>
                  <a:t> </a:t>
                </a:r>
                <a:r>
                  <a:rPr lang="en-US" sz="2000" i="0" baseline="0" dirty="0" err="1"/>
                  <a:t>vektore</a:t>
                </a:r>
                <a:r>
                  <a:rPr lang="en-US" sz="2000" i="0" baseline="0" dirty="0"/>
                  <a:t> </a:t>
                </a:r>
                <a:r>
                  <a:rPr lang="en-US" sz="2000" i="0" baseline="0" dirty="0" err="1"/>
                  <a:t>iz</a:t>
                </a:r>
                <a:r>
                  <a:rPr lang="en-US" sz="2000" i="0" baseline="0" dirty="0"/>
                  <a:t> </a:t>
                </a:r>
                <a:r>
                  <a:rPr lang="en-US" sz="2000" i="0" baseline="0" dirty="0" err="1"/>
                  <a:t>standardne</a:t>
                </a:r>
                <a:r>
                  <a:rPr lang="en-US" sz="2000" i="0" baseline="0" dirty="0"/>
                  <a:t> </a:t>
                </a:r>
                <a:r>
                  <a:rPr lang="en-US" sz="2000" i="0" baseline="0" dirty="0" err="1"/>
                  <a:t>baze</a:t>
                </a:r>
                <a:r>
                  <a:rPr lang="en-US" sz="2000" i="0" baseline="0" dirty="0"/>
                  <a:t> u </a:t>
                </a:r>
                <a:r>
                  <a:rPr lang="en-US" sz="2000" i="0" baseline="0" dirty="0" err="1"/>
                  <a:t>furijeovu</a:t>
                </a:r>
                <a:r>
                  <a:rPr lang="en-US" sz="2000" i="0" baseline="0" dirty="0"/>
                  <a:t> </a:t>
                </a:r>
                <a:r>
                  <a:rPr lang="en-US" sz="2000" i="0" baseline="0" dirty="0" err="1"/>
                  <a:t>bazu</a:t>
                </a:r>
                <a:r>
                  <a:rPr lang="en-US" sz="2000" i="0" baseline="0" dirty="0"/>
                  <a:t> u </a:t>
                </a:r>
                <a:r>
                  <a:rPr lang="en-US" sz="2000" i="0" baseline="0" dirty="0" err="1"/>
                  <a:t>kome</a:t>
                </a:r>
                <a:r>
                  <a:rPr lang="en-US" sz="2000" i="0" baseline="0" dirty="0"/>
                  <a:t> </a:t>
                </a:r>
                <a:r>
                  <a:rPr lang="en-US" sz="2000" i="0" baseline="0" dirty="0" err="1"/>
                  <a:t>vektori</a:t>
                </a:r>
                <a:r>
                  <a:rPr lang="en-US" sz="2000" i="0" baseline="0" dirty="0"/>
                  <a:t> </a:t>
                </a:r>
                <a:r>
                  <a:rPr lang="en-US" sz="2000" i="0" baseline="0" dirty="0" err="1"/>
                  <a:t>uzimaju</a:t>
                </a:r>
                <a:r>
                  <a:rPr lang="en-US" sz="2000" i="0" baseline="0" dirty="0"/>
                  <a:t> </a:t>
                </a:r>
                <a:r>
                  <a:rPr lang="en-US" sz="2000" i="0" baseline="0" dirty="0" err="1"/>
                  <a:t>vrednosti</a:t>
                </a:r>
                <a:r>
                  <a:rPr lang="en-US" sz="2000" i="0" baseline="0" dirty="0"/>
                  <a:t> </a:t>
                </a:r>
                <a:r>
                  <a:rPr lang="en-US" sz="2000" i="0" baseline="0" dirty="0" err="1"/>
                  <a:t>ntih</a:t>
                </a:r>
                <a:r>
                  <a:rPr lang="en-US" sz="2000" i="0" baseline="0" dirty="0"/>
                  <a:t> </a:t>
                </a:r>
                <a:r>
                  <a:rPr lang="en-US" sz="2000" i="0" baseline="0" dirty="0" err="1"/>
                  <a:t>korena</a:t>
                </a:r>
                <a:r>
                  <a:rPr lang="en-US" sz="2000" i="0" baseline="0" dirty="0"/>
                  <a:t> </a:t>
                </a:r>
                <a:r>
                  <a:rPr lang="en-US" sz="2000" i="0" baseline="0" dirty="0" err="1"/>
                  <a:t>jedinice</a:t>
                </a:r>
                <a:r>
                  <a:rPr lang="en-US" sz="2000" i="0" baseline="0" dirty="0"/>
                  <a:t>. </a:t>
                </a:r>
                <a:r>
                  <a:rPr lang="en-US" sz="2000" i="0" baseline="0" dirty="0" err="1"/>
                  <a:t>Pošto</a:t>
                </a:r>
                <a:r>
                  <a:rPr lang="en-US" sz="2000" i="0" baseline="0" dirty="0"/>
                  <a:t> se </a:t>
                </a:r>
                <a:r>
                  <a:rPr lang="en-US" sz="2000" i="0" baseline="0" dirty="0" err="1"/>
                  <a:t>kreću</a:t>
                </a:r>
                <a:r>
                  <a:rPr lang="en-US" sz="2000" i="0" baseline="0" dirty="0"/>
                  <a:t> </a:t>
                </a:r>
                <a:r>
                  <a:rPr lang="en-US" sz="2000" i="0" baseline="0" dirty="0" err="1"/>
                  <a:t>po</a:t>
                </a:r>
                <a:r>
                  <a:rPr lang="en-US" sz="2000" i="0" baseline="0" dirty="0"/>
                  <a:t> </a:t>
                </a:r>
                <a:r>
                  <a:rPr lang="en-US" sz="2000" i="0" baseline="0" dirty="0" err="1"/>
                  <a:t>krugu</a:t>
                </a:r>
                <a:r>
                  <a:rPr lang="en-US" sz="2000" i="0" baseline="0" dirty="0"/>
                  <a:t>, </a:t>
                </a:r>
                <a:r>
                  <a:rPr lang="en-US" sz="2000" i="0" baseline="0" dirty="0" err="1"/>
                  <a:t>i</a:t>
                </a:r>
                <a:r>
                  <a:rPr lang="en-US" sz="2000" i="0" baseline="0" dirty="0"/>
                  <a:t> pored toga </a:t>
                </a:r>
                <a:r>
                  <a:rPr lang="en-US" sz="2000" i="0" baseline="0" dirty="0" err="1"/>
                  <a:t>što</a:t>
                </a:r>
                <a:r>
                  <a:rPr lang="en-US" sz="2000" i="0" baseline="0" dirty="0"/>
                  <a:t> </a:t>
                </a:r>
                <a:r>
                  <a:rPr lang="en-US" sz="2000" i="0" baseline="0" dirty="0" err="1"/>
                  <a:t>će</a:t>
                </a:r>
                <a:r>
                  <a:rPr lang="en-US" sz="2000" i="0" baseline="0" dirty="0"/>
                  <a:t> se </a:t>
                </a:r>
                <a:r>
                  <a:rPr lang="en-US" sz="2000" i="0" baseline="0" dirty="0" err="1"/>
                  <a:t>pojaviti</a:t>
                </a:r>
                <a:r>
                  <a:rPr lang="en-US" sz="2000" i="0" baseline="0" dirty="0"/>
                  <a:t> </a:t>
                </a:r>
                <a:r>
                  <a:rPr lang="en-US" sz="2000" i="0" baseline="0" dirty="0" err="1"/>
                  <a:t>dodatni</a:t>
                </a:r>
                <a:r>
                  <a:rPr lang="en-US" sz="2000" i="0" baseline="0" dirty="0"/>
                  <a:t> </a:t>
                </a:r>
                <a:r>
                  <a:rPr lang="en-US" sz="2000" i="0" baseline="0" dirty="0" err="1"/>
                  <a:t>članovi</a:t>
                </a:r>
                <a:r>
                  <a:rPr lang="en-US" sz="2000" i="0" baseline="0" dirty="0"/>
                  <a:t> (</a:t>
                </a:r>
                <a:r>
                  <a:rPr lang="en-US" sz="2000" i="0" baseline="0" dirty="0" err="1"/>
                  <a:t>kao</a:t>
                </a:r>
                <a:r>
                  <a:rPr lang="en-US" sz="2000" i="0" baseline="0" dirty="0"/>
                  <a:t> </a:t>
                </a:r>
                <a:r>
                  <a:rPr lang="en-US" sz="2000" i="0" baseline="0" dirty="0" err="1"/>
                  <a:t>posledica</a:t>
                </a:r>
                <a:r>
                  <a:rPr lang="en-US" sz="2000" i="0" baseline="0" dirty="0"/>
                  <a:t> </a:t>
                </a:r>
                <a:r>
                  <a:rPr lang="en-US" sz="2000" i="0" baseline="0" dirty="0" err="1"/>
                  <a:t>transformacije</a:t>
                </a:r>
                <a:r>
                  <a:rPr lang="en-US" sz="2000" i="0" baseline="0" dirty="0"/>
                  <a:t>) </a:t>
                </a:r>
                <a:r>
                  <a:rPr lang="en-US" sz="2000" i="0" baseline="0" dirty="0" err="1"/>
                  <a:t>većina</a:t>
                </a:r>
                <a:r>
                  <a:rPr lang="en-US" sz="2000" i="0" baseline="0" dirty="0"/>
                  <a:t> </a:t>
                </a:r>
                <a:r>
                  <a:rPr lang="en-US" sz="2000" i="0" baseline="0" dirty="0" err="1"/>
                  <a:t>će</a:t>
                </a:r>
                <a:r>
                  <a:rPr lang="en-US" sz="2000" i="0" baseline="0" dirty="0"/>
                  <a:t> </a:t>
                </a:r>
                <a:r>
                  <a:rPr lang="en-US" sz="2000" i="0" baseline="0" dirty="0" err="1"/>
                  <a:t>biti</a:t>
                </a:r>
                <a:r>
                  <a:rPr lang="en-US" sz="2000" i="0" baseline="0" dirty="0"/>
                  <a:t> </a:t>
                </a:r>
                <a:r>
                  <a:rPr lang="en-US" sz="2000" i="0" baseline="0" dirty="0" err="1"/>
                  <a:t>poništena</a:t>
                </a:r>
                <a:r>
                  <a:rPr lang="en-US" sz="2000" i="0" baseline="0" dirty="0"/>
                  <a:t> </a:t>
                </a:r>
                <a:r>
                  <a:rPr lang="en-US" sz="2000" i="0" baseline="0" dirty="0" err="1"/>
                  <a:t>interferencijom</a:t>
                </a:r>
                <a:r>
                  <a:rPr lang="en-US" sz="2000" i="0" baseline="0" dirty="0"/>
                  <a:t>. </a:t>
                </a:r>
                <a:r>
                  <a:rPr lang="en-US" sz="2000" i="0" baseline="0" dirty="0" err="1"/>
                  <a:t>Ostaće</a:t>
                </a:r>
                <a:r>
                  <a:rPr lang="en-US" sz="2000" i="0" baseline="0" dirty="0"/>
                  <a:t> </a:t>
                </a:r>
                <a:r>
                  <a:rPr lang="en-US" sz="2000" i="0" baseline="0" dirty="0" err="1"/>
                  <a:t>članovi</a:t>
                </a:r>
                <a:r>
                  <a:rPr lang="en-US" sz="2000" i="0" baseline="0" dirty="0"/>
                  <a:t> </a:t>
                </a:r>
                <a:r>
                  <a:rPr lang="en-US" sz="2000" i="0" baseline="0" dirty="0" err="1"/>
                  <a:t>koji</a:t>
                </a:r>
                <a:r>
                  <a:rPr lang="en-US" sz="2000" i="0" baseline="0" dirty="0"/>
                  <a:t> </a:t>
                </a:r>
                <a:r>
                  <a:rPr lang="en-US" sz="2000" i="0" baseline="0" dirty="0" err="1"/>
                  <a:t>su</a:t>
                </a:r>
                <a:r>
                  <a:rPr lang="en-US" sz="2000" i="0" baseline="0" dirty="0"/>
                  <a:t> </a:t>
                </a:r>
                <a:r>
                  <a:rPr lang="en-US" sz="2000" i="0" baseline="0" dirty="0" err="1"/>
                  <a:t>multipli</a:t>
                </a:r>
                <a:r>
                  <a:rPr lang="en-US" sz="2000" i="0" baseline="0" dirty="0"/>
                  <a:t> od </a:t>
                </a:r>
                <a:r>
                  <a:rPr lang="en-US" sz="2000" i="0" baseline="0" dirty="0" err="1"/>
                  <a:t>perioda</a:t>
                </a:r>
                <a:r>
                  <a:rPr lang="en-US" sz="2000" i="0" baseline="0" dirty="0"/>
                  <a:t>. </a:t>
                </a:r>
                <a:r>
                  <a:rPr lang="en-US" sz="2000" i="0" baseline="0" dirty="0" err="1"/>
                  <a:t>Merenjem</a:t>
                </a:r>
                <a:r>
                  <a:rPr lang="en-US" sz="2000" i="0" baseline="0" dirty="0"/>
                  <a:t> </a:t>
                </a:r>
                <a:r>
                  <a:rPr lang="en-US" sz="2000" i="0" baseline="0" dirty="0" err="1"/>
                  <a:t>i</a:t>
                </a:r>
                <a:r>
                  <a:rPr lang="en-US" sz="2000" i="0" baseline="0" dirty="0"/>
                  <a:t> </a:t>
                </a:r>
                <a:r>
                  <a:rPr lang="en-US" sz="2000" i="0" baseline="0" dirty="0" err="1"/>
                  <a:t>jednostavnim</a:t>
                </a:r>
                <a:r>
                  <a:rPr lang="en-US" sz="2000" i="0" baseline="0" dirty="0"/>
                  <a:t> post-</a:t>
                </a:r>
                <a:r>
                  <a:rPr lang="en-US" sz="2000" i="0" baseline="0" dirty="0" err="1"/>
                  <a:t>procesiranjem</a:t>
                </a:r>
                <a:r>
                  <a:rPr lang="en-US" sz="2000" i="0" baseline="0" dirty="0"/>
                  <a:t> </a:t>
                </a:r>
                <a:r>
                  <a:rPr lang="en-US" sz="2000" i="0" baseline="0" dirty="0" err="1"/>
                  <a:t>dobija</a:t>
                </a:r>
                <a:r>
                  <a:rPr lang="en-US" sz="2000" i="0" baseline="0" dirty="0"/>
                  <a:t> se period </a:t>
                </a:r>
                <a:r>
                  <a:rPr lang="sr-Latn-RS" sz="2000" b="0" i="0">
                    <a:solidFill>
                      <a:srgbClr val="0000FF"/>
                    </a:solidFill>
                    <a:latin typeface="Cambria Math" panose="02040503050406030204" pitchFamily="18" charset="0"/>
                  </a:rPr>
                  <a:t>𝑟</a:t>
                </a:r>
                <a:r>
                  <a:rPr lang="en-US" sz="2000" i="0" baseline="0" dirty="0"/>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i="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i="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43</a:t>
            </a:fld>
            <a:endParaRPr lang="en-US"/>
          </a:p>
        </p:txBody>
      </p:sp>
    </p:spTree>
    <p:extLst>
      <p:ext uri="{BB962C8B-B14F-4D97-AF65-F5344CB8AC3E}">
        <p14:creationId xmlns:p14="http://schemas.microsoft.com/office/powerpoint/2010/main" val="27944744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b="0" dirty="0"/>
                  <a:t>The figure shows a block diagram of the quantum period-finding circuit. It consists of the main stages introduced previously, which will be examined individually</a:t>
                </a:r>
                <a:endParaRPr lang="en-US" sz="1200" b="0" dirty="0">
                  <a:latin typeface="+mn-lt"/>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mn-lt"/>
                  </a:rPr>
                  <a:t>We will now focus on the quantum part of the algorithm which</a:t>
                </a:r>
                <a:r>
                  <a:rPr lang="en-US" sz="2200" baseline="0" dirty="0">
                    <a:latin typeface="+mn-lt"/>
                  </a:rPr>
                  <a:t> finds </a:t>
                </a:r>
                <a:r>
                  <a:rPr lang="en-US" sz="2200" dirty="0">
                    <a:latin typeface="+mn-lt"/>
                  </a:rPr>
                  <a:t>the period </a:t>
                </a:r>
                <a:r>
                  <a:rPr lang="en-US" sz="2200" b="1" i="1" dirty="0">
                    <a:latin typeface="+mn-lt"/>
                  </a:rPr>
                  <a:t>r</a:t>
                </a:r>
                <a:r>
                  <a:rPr lang="en-US" sz="2200" dirty="0">
                    <a:latin typeface="+mn-lt"/>
                  </a:rPr>
                  <a:t> of the function </a:t>
                </a:r>
                <a:r>
                  <a:rPr lang="en-US" sz="2200" i="0">
                    <a:latin typeface="+mn-lt"/>
                  </a:rPr>
                  <a:t>𝑎^𝑥 𝑚𝑜𝑑 𝑁</a:t>
                </a:r>
                <a:r>
                  <a:rPr lang="en-US" sz="2200" b="0" i="0">
                    <a:latin typeface="+mn-lt"/>
                  </a:rPr>
                  <a:t>.</a:t>
                </a:r>
                <a:r>
                  <a:rPr lang="en-US" sz="2200" dirty="0">
                    <a:latin typeface="+mn-lt"/>
                  </a:rPr>
                  <a:t> The circuit on the slide is a block diagram as we are interested to illustrate the principle, not the implementation details.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mn-lt"/>
                  </a:rPr>
                  <a:t>The circuit has 2</a:t>
                </a:r>
                <a:r>
                  <a:rPr lang="en-US" sz="2200" baseline="0" dirty="0">
                    <a:latin typeface="+mn-lt"/>
                  </a:rPr>
                  <a:t> quantum registers, </a:t>
                </a:r>
                <a:r>
                  <a:rPr lang="en-US" sz="2400" b="0" i="0">
                    <a:latin typeface="Cambria Math" panose="02040503050406030204" pitchFamily="18" charset="0"/>
                    <a:ea typeface="Cambria Math" panose="02040503050406030204" pitchFamily="18" charset="0"/>
                  </a:rPr>
                  <a:t>𝑥</a:t>
                </a:r>
                <a:r>
                  <a:rPr lang="en-US" sz="2400" dirty="0">
                    <a:latin typeface="+mn-lt"/>
                  </a:rPr>
                  <a:t> and </a:t>
                </a:r>
                <a:r>
                  <a:rPr lang="en-US" sz="2400" b="0" i="0">
                    <a:latin typeface="Cambria Math" panose="02040503050406030204" pitchFamily="18" charset="0"/>
                    <a:ea typeface="Cambria Math" panose="02040503050406030204" pitchFamily="18" charset="0"/>
                  </a:rPr>
                  <a:t>𝜔</a:t>
                </a:r>
                <a:r>
                  <a:rPr lang="en-US" sz="2400" dirty="0">
                    <a:latin typeface="+mn-lt"/>
                  </a:rPr>
                  <a:t> initialized to 0. The</a:t>
                </a:r>
                <a:r>
                  <a:rPr lang="en-US" sz="2400" baseline="0" dirty="0">
                    <a:latin typeface="+mn-lt"/>
                  </a:rPr>
                  <a:t> x registers will be used to perform QFT and </a:t>
                </a:r>
                <a:r>
                  <a:rPr lang="en-US" sz="2400" b="0" i="0">
                    <a:latin typeface="Cambria Math" panose="02040503050406030204" pitchFamily="18" charset="0"/>
                    <a:ea typeface="Cambria Math" panose="02040503050406030204" pitchFamily="18" charset="0"/>
                  </a:rPr>
                  <a:t>𝜔</a:t>
                </a:r>
                <a:r>
                  <a:rPr lang="en-US" sz="2200" dirty="0">
                    <a:latin typeface="+mn-lt"/>
                  </a:rPr>
                  <a:t> to simulate function </a:t>
                </a:r>
                <a:r>
                  <a:rPr lang="en-US" sz="2200" i="0">
                    <a:latin typeface="Cambria Math" panose="02040503050406030204" pitchFamily="18" charset="0"/>
                    <a:ea typeface="Cambria Math" panose="02040503050406030204" pitchFamily="18" charset="0"/>
                  </a:rPr>
                  <a:t>𝑎^𝑥</a:t>
                </a:r>
                <a:r>
                  <a:rPr lang="en-US" sz="2200" b="0" i="0">
                    <a:latin typeface="Cambria Math" panose="02040503050406030204" pitchFamily="18" charset="0"/>
                    <a:ea typeface="Cambria Math" panose="02040503050406030204" pitchFamily="18" charset="0"/>
                  </a:rPr>
                  <a:t> (</a:t>
                </a:r>
                <a:r>
                  <a:rPr lang="en-US" sz="2200" i="0">
                    <a:latin typeface="Cambria Math" panose="02040503050406030204" pitchFamily="18" charset="0"/>
                    <a:ea typeface="Cambria Math" panose="02040503050406030204" pitchFamily="18" charset="0"/>
                  </a:rPr>
                  <a:t>𝑚𝑜𝑑 𝑁)</a:t>
                </a:r>
                <a:r>
                  <a:rPr lang="en-US" sz="2200" dirty="0">
                    <a:latin typeface="+mn-lt"/>
                  </a:rPr>
                  <a:t>. We will be factoring number 15, so we</a:t>
                </a:r>
                <a:r>
                  <a:rPr lang="en-US" sz="2200" baseline="0" dirty="0">
                    <a:latin typeface="+mn-lt"/>
                  </a:rPr>
                  <a:t> need 4 qubits for N and 4 qubits for the random guess </a:t>
                </a:r>
                <a:r>
                  <a:rPr lang="en-US" sz="2200" b="1" i="1" baseline="0" dirty="0">
                    <a:latin typeface="+mn-lt"/>
                  </a:rPr>
                  <a:t>a</a:t>
                </a:r>
                <a:r>
                  <a:rPr lang="en-US" sz="2200" baseline="0" dirty="0">
                    <a:latin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200"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mn-lt"/>
                  </a:rPr>
                  <a:t>The blue circuit transforms</a:t>
                </a:r>
                <a:r>
                  <a:rPr lang="en-US" sz="2200" baseline="0" dirty="0">
                    <a:latin typeface="+mn-lt"/>
                  </a:rPr>
                  <a:t> the state of registers to product of x and </a:t>
                </a:r>
                <a:r>
                  <a:rPr lang="en-US" sz="2200" b="0" i="0">
                    <a:latin typeface="Cambria Math" panose="02040503050406030204" pitchFamily="18" charset="0"/>
                    <a:ea typeface="Cambria Math" panose="02040503050406030204" pitchFamily="18" charset="0"/>
                  </a:rPr>
                  <a:t>𝜔</a:t>
                </a:r>
                <a:r>
                  <a:rPr lang="en-US" sz="2200" dirty="0">
                    <a:latin typeface="+mn-lt"/>
                  </a:rPr>
                  <a:t> modulo</a:t>
                </a:r>
                <a:r>
                  <a:rPr lang="en-US" sz="2200" baseline="0" dirty="0">
                    <a:latin typeface="+mn-lt"/>
                  </a:rPr>
                  <a:t> plus the function </a:t>
                </a:r>
                <a:r>
                  <a:rPr lang="en-US" sz="2200" i="0">
                    <a:latin typeface="Cambria Math" panose="02040503050406030204" pitchFamily="18" charset="0"/>
                    <a:ea typeface="Cambria Math" panose="02040503050406030204" pitchFamily="18" charset="0"/>
                  </a:rPr>
                  <a:t>𝑎^𝑥</a:t>
                </a:r>
                <a:r>
                  <a:rPr lang="en-US" sz="2200" b="0" i="0">
                    <a:latin typeface="Cambria Math" panose="02040503050406030204" pitchFamily="18" charset="0"/>
                    <a:ea typeface="Cambria Math" panose="02040503050406030204" pitchFamily="18" charset="0"/>
                  </a:rPr>
                  <a:t> (</a:t>
                </a:r>
                <a:r>
                  <a:rPr lang="en-US" sz="2200" i="0">
                    <a:latin typeface="Cambria Math" panose="02040503050406030204" pitchFamily="18" charset="0"/>
                    <a:ea typeface="Cambria Math" panose="02040503050406030204" pitchFamily="18" charset="0"/>
                  </a:rPr>
                  <a:t>𝑚𝑜𝑑 𝑁)</a:t>
                </a:r>
                <a:r>
                  <a:rPr lang="en-US" sz="2200" dirty="0">
                    <a:latin typeface="+mn-lt"/>
                  </a:rPr>
                  <a:t>. The top, green circuit performs Quantum Fourier</a:t>
                </a:r>
                <a:r>
                  <a:rPr lang="en-US" sz="2200" baseline="0" dirty="0">
                    <a:latin typeface="+mn-lt"/>
                  </a:rPr>
                  <a:t> transform that should give us the period of the this function.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baseline="0" dirty="0">
                    <a:latin typeface="+mn-lt"/>
                  </a:rPr>
                  <a:t>Let’s see how this circuit works.</a:t>
                </a:r>
                <a:endParaRPr lang="en-US" sz="22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200" dirty="0">
                  <a:latin typeface="+mn-lt"/>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44</a:t>
            </a:fld>
            <a:endParaRPr lang="en-US"/>
          </a:p>
        </p:txBody>
      </p:sp>
    </p:spTree>
    <p:extLst>
      <p:ext uri="{BB962C8B-B14F-4D97-AF65-F5344CB8AC3E}">
        <p14:creationId xmlns:p14="http://schemas.microsoft.com/office/powerpoint/2010/main" val="38463591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As a simple theoretical example, consider factoring the number </a:t>
                </a:r>
                <a14:m>
                  <m:oMath xmlns:m="http://schemas.openxmlformats.org/officeDocument/2006/math">
                    <m:r>
                      <a:rPr lang="en-US" sz="1200" b="0" i="1" smtClean="0">
                        <a:latin typeface="Cambria Math" panose="02040503050406030204" pitchFamily="18" charset="0"/>
                        <a:ea typeface="Cambria Math" panose="02040503050406030204" pitchFamily="18" charset="0"/>
                      </a:rPr>
                      <m:t>𝑁</m:t>
                    </m:r>
                    <m:r>
                      <a:rPr lang="en-US" sz="1200" b="0" i="1" smtClean="0">
                        <a:latin typeface="Cambria Math" panose="02040503050406030204" pitchFamily="18" charset="0"/>
                        <a:ea typeface="Cambria Math" panose="02040503050406030204" pitchFamily="18" charset="0"/>
                      </a:rPr>
                      <m:t>=15</m:t>
                    </m:r>
                  </m:oMath>
                </a14:m>
                <a:r>
                  <a:rPr lang="en-ZA" dirty="0"/>
                  <a:t>. The circuit uses two quantum registers, </a:t>
                </a:r>
                <a14:m>
                  <m:oMath xmlns:m="http://schemas.openxmlformats.org/officeDocument/2006/math">
                    <m:r>
                      <a:rPr lang="en-US" sz="1200" b="0" i="1" smtClean="0">
                        <a:latin typeface="Cambria Math" panose="02040503050406030204" pitchFamily="18" charset="0"/>
                        <a:ea typeface="Cambria Math" panose="02040503050406030204" pitchFamily="18" charset="0"/>
                      </a:rPr>
                      <m:t>𝑥</m:t>
                    </m:r>
                  </m:oMath>
                </a14:m>
                <a:r>
                  <a:rPr lang="en-ZA" dirty="0"/>
                  <a:t> and </a:t>
                </a:r>
                <a14:m>
                  <m:oMath xmlns:m="http://schemas.openxmlformats.org/officeDocument/2006/math">
                    <m:r>
                      <a:rPr lang="en-US" sz="1200" b="0" i="1" smtClean="0">
                        <a:latin typeface="Cambria Math" panose="02040503050406030204" pitchFamily="18" charset="0"/>
                        <a:ea typeface="Cambria Math" panose="02040503050406030204" pitchFamily="18" charset="0"/>
                      </a:rPr>
                      <m:t>𝑦</m:t>
                    </m:r>
                  </m:oMath>
                </a14:m>
                <a:r>
                  <a:rPr lang="en-ZA" dirty="0"/>
                  <a:t>, both initially in the zero state. The combined initial state can be written as the product of the two register states.</a:t>
                </a:r>
              </a:p>
              <a:p>
                <a:endParaRPr lang="en-ZA" dirty="0"/>
              </a:p>
              <a:p>
                <a:r>
                  <a:rPr lang="en-ZA" b="1" dirty="0"/>
                  <a:t>Step 1:</a:t>
                </a:r>
                <a:r>
                  <a:rPr lang="en-ZA" dirty="0"/>
                  <a:t>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𝑥</m:t>
                    </m:r>
                  </m:oMath>
                </a14:m>
                <a:r>
                  <a:rPr lang="en-ZA" dirty="0"/>
                  <a:t>-register is placed in an equal superposition representing the integers from 0 to 15, while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𝑦</m:t>
                    </m:r>
                  </m:oMath>
                </a14:m>
                <a:r>
                  <a:rPr lang="en-ZA" dirty="0"/>
                  <a:t>-register remains in the state ∣0⟩.</a:t>
                </a:r>
              </a:p>
              <a:p>
                <a:endParaRPr lang="en-ZA" dirty="0"/>
              </a:p>
              <a:p>
                <a:r>
                  <a:rPr lang="en-ZA" b="1" dirty="0"/>
                  <a:t>Step 2:</a:t>
                </a:r>
                <a:r>
                  <a:rPr lang="en-ZA" dirty="0"/>
                  <a:t> The modular function</a:t>
                </a:r>
                <a:r>
                  <a:rPr lang="en-ZA" baseline="0" dirty="0"/>
                  <a:t> </a:t>
                </a:r>
                <a14:m>
                  <m:oMath xmlns:m="http://schemas.openxmlformats.org/officeDocument/2006/math">
                    <m:r>
                      <a:rPr lang="en-US" sz="1200" b="0" i="1" smtClean="0">
                        <a:latin typeface="Cambria Math" panose="02040503050406030204" pitchFamily="18" charset="0"/>
                      </a:rPr>
                      <m:t>𝑓</m:t>
                    </m:r>
                    <m:d>
                      <m:dPr>
                        <m:ctrlPr>
                          <a:rPr lang="en-US" sz="1200" b="0" i="1">
                            <a:latin typeface="Cambria Math" panose="02040503050406030204" pitchFamily="18" charset="0"/>
                          </a:rPr>
                        </m:ctrlPr>
                      </m:dPr>
                      <m:e>
                        <m:r>
                          <a:rPr lang="en-US" sz="1200" b="0" i="1">
                            <a:latin typeface="Cambria Math" panose="02040503050406030204" pitchFamily="18" charset="0"/>
                          </a:rPr>
                          <m:t>𝑥</m:t>
                        </m:r>
                      </m:e>
                    </m:d>
                    <m:r>
                      <a:rPr lang="en-US" sz="1200" b="0" i="1">
                        <a:latin typeface="Cambria Math" panose="02040503050406030204" pitchFamily="18" charset="0"/>
                      </a:rPr>
                      <m:t>= </m:t>
                    </m:r>
                    <m:sSup>
                      <m:sSupPr>
                        <m:ctrlPr>
                          <a:rPr lang="en-US" sz="1200" b="0" i="1">
                            <a:latin typeface="Cambria Math" panose="02040503050406030204" pitchFamily="18" charset="0"/>
                          </a:rPr>
                        </m:ctrlPr>
                      </m:sSupPr>
                      <m:e>
                        <m:r>
                          <a:rPr lang="en-US" sz="1200" b="0" i="1">
                            <a:latin typeface="Cambria Math" panose="02040503050406030204" pitchFamily="18" charset="0"/>
                          </a:rPr>
                          <m:t>𝑎</m:t>
                        </m:r>
                      </m:e>
                      <m:sup>
                        <m:r>
                          <a:rPr lang="en-US" sz="1200" b="0" i="1">
                            <a:latin typeface="Cambria Math" panose="02040503050406030204" pitchFamily="18" charset="0"/>
                          </a:rPr>
                          <m:t>𝑥</m:t>
                        </m:r>
                      </m:sup>
                    </m:sSup>
                    <m:r>
                      <m:rPr>
                        <m:sty m:val="p"/>
                      </m:rPr>
                      <a:rPr lang="en-US" sz="1200" b="0" i="0">
                        <a:latin typeface="Cambria Math" panose="02040503050406030204" pitchFamily="18" charset="0"/>
                      </a:rPr>
                      <m:t>mod</m:t>
                    </m:r>
                    <m:r>
                      <a:rPr lang="en-US" sz="1200" b="0" i="1">
                        <a:latin typeface="Cambria Math" panose="02040503050406030204" pitchFamily="18" charset="0"/>
                      </a:rPr>
                      <m:t> </m:t>
                    </m:r>
                    <m:r>
                      <a:rPr lang="en-US" sz="1200" b="0" i="1">
                        <a:latin typeface="Cambria Math" panose="02040503050406030204" pitchFamily="18" charset="0"/>
                      </a:rPr>
                      <m:t>𝑁</m:t>
                    </m:r>
                  </m:oMath>
                </a14:m>
                <a:r>
                  <a:rPr lang="en-ZA" dirty="0"/>
                  <a:t> is computed and stored in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𝑦</m:t>
                    </m:r>
                  </m:oMath>
                </a14:m>
                <a:r>
                  <a:rPr lang="en-ZA" dirty="0"/>
                  <a:t>-register, with </a:t>
                </a:r>
                <a14:m>
                  <m:oMath xmlns:m="http://schemas.openxmlformats.org/officeDocument/2006/math">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=7</m:t>
                    </m:r>
                  </m:oMath>
                </a14:m>
                <a:r>
                  <a:rPr lang="en-ZA" dirty="0"/>
                  <a:t> built into the circuit. The function values follow the repeating sequence 1,7,4,13,1,7,4,13,… clearly showing a period of 4.</a:t>
                </a:r>
              </a:p>
              <a:p>
                <a:endParaRPr lang="en-ZA" dirty="0"/>
              </a:p>
              <a:p>
                <a:r>
                  <a:rPr lang="en-ZA" b="1" dirty="0"/>
                  <a:t>Step 3:</a:t>
                </a:r>
                <a:r>
                  <a:rPr lang="en-ZA" dirty="0"/>
                  <a:t>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𝑦</m:t>
                    </m:r>
                  </m:oMath>
                </a14:m>
                <a:r>
                  <a:rPr lang="en-ZA" dirty="0"/>
                  <a:t>-register is measured, giving one of the four possible function values 1,7,4, or 13, each with equal probability in this ideal example. This measurement leaves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𝑥</m:t>
                    </m:r>
                  </m:oMath>
                </a14:m>
                <a:r>
                  <a:rPr lang="en-ZA" dirty="0"/>
                  <a:t>-register in a superposition of the input values associated with the measured function value.</a:t>
                </a:r>
              </a:p>
            </p:txBody>
          </p:sp>
        </mc:Choice>
        <mc:Fallback xmlns="">
          <p:sp>
            <p:nvSpPr>
              <p:cNvPr id="3" name="Notes Placeholder 2"/>
              <p:cNvSpPr>
                <a:spLocks noGrp="1"/>
              </p:cNvSpPr>
              <p:nvPr>
                <p:ph type="body" idx="1"/>
              </p:nvPr>
            </p:nvSpPr>
            <p:spPr/>
            <p:txBody>
              <a:bodyPr/>
              <a:lstStyle/>
              <a:p>
                <a:pPr marL="457200" indent="-457200">
                  <a:buFont typeface="+mj-lt"/>
                  <a:buAutoNum type="arabicPeriod"/>
                </a:pPr>
                <a:r>
                  <a:rPr lang="en-US" sz="2200" dirty="0"/>
                  <a:t>At the circuit input, at the section marked as 0, all eight qubits are initiated to </a:t>
                </a:r>
                <a:r>
                  <a:rPr lang="en-US" sz="2200" i="0">
                    <a:latin typeface="Cambria Math" panose="02040503050406030204" pitchFamily="18" charset="0"/>
                    <a:ea typeface="Cambria Math" panose="02040503050406030204" pitchFamily="18" charset="0"/>
                  </a:rPr>
                  <a:t>├ |0⟩</a:t>
                </a:r>
                <a:r>
                  <a:rPr lang="en-US" sz="2200" dirty="0"/>
                  <a:t>.</a:t>
                </a:r>
              </a:p>
              <a:p>
                <a:pPr marL="457200" indent="-457200">
                  <a:buFont typeface="+mj-lt"/>
                  <a:buAutoNum type="arabicPeriod"/>
                </a:pPr>
                <a:r>
                  <a:rPr lang="en-US" sz="2200" dirty="0"/>
                  <a:t>In step 1, after applying Hadamard gates on 4 qubits we will have superposition of all 15 numbers in the top register, and 0 at the bottom register. Since there are 8 qubits we will have 256 terms, so we cannot write all of them but you can see the pattern. Also, as a shortcut, binary numbers inside </a:t>
                </a:r>
                <a:r>
                  <a:rPr lang="en-US" sz="2200" dirty="0" err="1"/>
                  <a:t>kets</a:t>
                </a:r>
                <a:r>
                  <a:rPr lang="en-US" sz="2200" dirty="0"/>
                  <a:t> are written in the decimal form.</a:t>
                </a:r>
              </a:p>
              <a:p>
                <a:pPr marL="457200" indent="-457200">
                  <a:buFont typeface="+mj-lt"/>
                  <a:buAutoNum type="arabicPeriod"/>
                </a:pPr>
                <a:r>
                  <a:rPr lang="en-US" sz="2200" dirty="0"/>
                  <a:t>In step 2 we apply the blue circuit. This circuit </a:t>
                </a:r>
                <a:r>
                  <a:rPr lang="en-US" sz="2200" dirty="0">
                    <a:latin typeface="+mn-lt"/>
                  </a:rPr>
                  <a:t>transforms</a:t>
                </a:r>
                <a:r>
                  <a:rPr lang="en-US" sz="2200" baseline="0" dirty="0">
                    <a:latin typeface="+mn-lt"/>
                  </a:rPr>
                  <a:t> the state of registers to product of x and </a:t>
                </a:r>
                <a:r>
                  <a:rPr lang="en-US" sz="2200" b="0" i="0">
                    <a:latin typeface="Cambria Math" panose="02040503050406030204" pitchFamily="18" charset="0"/>
                    <a:ea typeface="Cambria Math" panose="02040503050406030204" pitchFamily="18" charset="0"/>
                  </a:rPr>
                  <a:t>𝜔</a:t>
                </a:r>
                <a:r>
                  <a:rPr lang="en-US" sz="2200" dirty="0">
                    <a:latin typeface="+mn-lt"/>
                  </a:rPr>
                  <a:t> modulo</a:t>
                </a:r>
                <a:r>
                  <a:rPr lang="en-US" sz="2200" baseline="0" dirty="0">
                    <a:latin typeface="+mn-lt"/>
                  </a:rPr>
                  <a:t> plus the function </a:t>
                </a:r>
                <a:r>
                  <a:rPr lang="en-US" sz="2200" i="0">
                    <a:latin typeface="Cambria Math" panose="02040503050406030204" pitchFamily="18" charset="0"/>
                    <a:ea typeface="Cambria Math" panose="02040503050406030204" pitchFamily="18" charset="0"/>
                  </a:rPr>
                  <a:t>𝑎^𝑥</a:t>
                </a:r>
                <a:r>
                  <a:rPr lang="en-US" sz="2200" b="0" i="0">
                    <a:latin typeface="Cambria Math" panose="02040503050406030204" pitchFamily="18" charset="0"/>
                    <a:ea typeface="Cambria Math" panose="02040503050406030204" pitchFamily="18" charset="0"/>
                  </a:rPr>
                  <a:t> (</a:t>
                </a:r>
                <a:r>
                  <a:rPr lang="en-US" sz="2200" i="0">
                    <a:latin typeface="Cambria Math" panose="02040503050406030204" pitchFamily="18" charset="0"/>
                    <a:ea typeface="Cambria Math" panose="02040503050406030204" pitchFamily="18" charset="0"/>
                  </a:rPr>
                  <a:t>𝑚𝑜𝑑 𝑁)</a:t>
                </a:r>
                <a:r>
                  <a:rPr lang="en-US" sz="2200" dirty="0">
                    <a:latin typeface="+mn-lt"/>
                  </a:rPr>
                  <a:t>. </a:t>
                </a:r>
                <a:r>
                  <a:rPr lang="en-US" sz="2200" dirty="0"/>
                  <a:t> To make it simple, let’s say that this circuit has to be setup for a specific guess </a:t>
                </a:r>
                <a:r>
                  <a:rPr lang="en-US" sz="2200" b="1" i="1" dirty="0"/>
                  <a:t>a</a:t>
                </a:r>
                <a:r>
                  <a:rPr lang="en-US" sz="2200" dirty="0"/>
                  <a:t>. For a=7 we simply</a:t>
                </a:r>
                <a:r>
                  <a:rPr lang="en-US" sz="2200" baseline="0" dirty="0"/>
                  <a:t> multiply every term with </a:t>
                </a:r>
                <a:r>
                  <a:rPr lang="en-US" sz="2000" b="0" i="0">
                    <a:latin typeface="Cambria Math" panose="02040503050406030204" pitchFamily="18" charset="0"/>
                    <a:ea typeface="Cambria Math" panose="02040503050406030204" pitchFamily="18" charset="0"/>
                  </a:rPr>
                  <a:t>7^𝑥</a:t>
                </a:r>
                <a:r>
                  <a:rPr lang="en-US" sz="2200" dirty="0"/>
                  <a:t> (mod 15). </a:t>
                </a:r>
                <a:br>
                  <a:rPr lang="en-US" sz="2200" dirty="0"/>
                </a:br>
                <a:r>
                  <a:rPr lang="en-US" sz="2200" dirty="0"/>
                  <a:t>- Knowing</a:t>
                </a:r>
                <a:r>
                  <a:rPr lang="en-US" sz="2200" baseline="0" dirty="0"/>
                  <a:t> that 0 XOR integer gives that integer, we can remove zeros from the equation.</a:t>
                </a:r>
                <a:br>
                  <a:rPr lang="en-US" sz="2200" baseline="0" dirty="0"/>
                </a:br>
                <a:r>
                  <a:rPr lang="en-US" sz="2200" baseline="0" dirty="0"/>
                  <a:t>- by calculating modulo expression we see the repeating pattern in the second qubit with the frequency that matches function period we saw earlier on the graph. However, this is our observation, not the observation of the quantum computer.</a:t>
                </a:r>
              </a:p>
              <a:p>
                <a:pPr marL="457200" indent="-457200">
                  <a:buFont typeface="+mj-lt"/>
                  <a:buAutoNum type="arabicPeriod"/>
                </a:pPr>
                <a:r>
                  <a:rPr lang="en-US" sz="2200" baseline="0" dirty="0"/>
                  <a:t>In step 3 we measure the  </a:t>
                </a:r>
                <a:r>
                  <a:rPr lang="en-US" sz="2400" i="0">
                    <a:latin typeface="Cambria Math" panose="02040503050406030204" pitchFamily="18" charset="0"/>
                    <a:ea typeface="Cambria Math" panose="02040503050406030204" pitchFamily="18" charset="0"/>
                  </a:rPr>
                  <a:t>𝜔</a:t>
                </a:r>
                <a:r>
                  <a:rPr lang="en-US" sz="2200" baseline="0" dirty="0"/>
                  <a:t> register. What we get are numbers 1, 7,14, and 13 with an equal probability. </a:t>
                </a:r>
              </a:p>
              <a:p>
                <a:pPr marL="457200" indent="-457200">
                  <a:buFont typeface="+mj-lt"/>
                  <a:buAutoNum type="arabicPeriod"/>
                </a:pPr>
                <a:endParaRPr lang="en-US" sz="2200" baseline="0" dirty="0"/>
              </a:p>
              <a:p>
                <a:pPr marL="457200" indent="-457200">
                  <a:buFont typeface="+mj-lt"/>
                  <a:buAutoNum type="arabicPeriod"/>
                </a:pPr>
                <a:endParaRPr lang="en-US" sz="2200" baseline="0" dirty="0"/>
              </a:p>
              <a:p>
                <a:pPr marL="457200" indent="-457200">
                  <a:buFont typeface="+mj-lt"/>
                  <a:buAutoNum type="arabicPeriod"/>
                </a:pPr>
                <a:endParaRPr lang="en-US" sz="2200" dirty="0"/>
              </a:p>
              <a:p>
                <a:pPr marL="457200" indent="-457200">
                  <a:buFont typeface="+mj-lt"/>
                  <a:buAutoNum type="arabicPeriod"/>
                </a:pPr>
                <a:endParaRPr lang="en-US" sz="2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45</a:t>
            </a:fld>
            <a:endParaRPr lang="en-US"/>
          </a:p>
        </p:txBody>
      </p:sp>
    </p:spTree>
    <p:extLst>
      <p:ext uri="{BB962C8B-B14F-4D97-AF65-F5344CB8AC3E}">
        <p14:creationId xmlns:p14="http://schemas.microsoft.com/office/powerpoint/2010/main" val="19252073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1" dirty="0"/>
                  <a:t>Step 3 (continued):</a:t>
                </a:r>
                <a:r>
                  <a:rPr lang="en-ZA" dirty="0"/>
                  <a:t> Consider the state of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𝑥</m:t>
                    </m:r>
                  </m:oMath>
                </a14:m>
                <a:r>
                  <a:rPr lang="en-ZA" dirty="0"/>
                  <a:t>-register after measuring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𝑦</m:t>
                    </m:r>
                  </m:oMath>
                </a14:m>
                <a:r>
                  <a:rPr lang="en-ZA" dirty="0"/>
                  <a:t>-register. Suppose the measurement gives </a:t>
                </a:r>
                <a14:m>
                  <m:oMath xmlns:m="http://schemas.openxmlformats.org/officeDocument/2006/math">
                    <m:r>
                      <a:rPr lang="en-US" sz="1200" b="0" i="1" smtClean="0">
                        <a:latin typeface="Cambria Math" panose="02040503050406030204" pitchFamily="18" charset="0"/>
                        <a:ea typeface="Cambria Math" panose="02040503050406030204" pitchFamily="18" charset="0"/>
                      </a:rPr>
                      <m:t>𝑦</m:t>
                    </m:r>
                    <m:r>
                      <a:rPr lang="en-US" sz="1200" b="0" i="1" smtClean="0">
                        <a:latin typeface="Cambria Math" panose="02040503050406030204" pitchFamily="18" charset="0"/>
                        <a:ea typeface="Cambria Math" panose="02040503050406030204" pitchFamily="18" charset="0"/>
                      </a:rPr>
                      <m:t>=13</m:t>
                    </m:r>
                  </m:oMath>
                </a14:m>
                <a:r>
                  <a:rPr lang="en-ZA" dirty="0"/>
                  <a:t>. The state must now be consistent with this outcome, so all components associated with other </a:t>
                </a:r>
                <a14:m>
                  <m:oMath xmlns:m="http://schemas.openxmlformats.org/officeDocument/2006/math">
                    <m:r>
                      <a:rPr lang="en-US" sz="1200" b="0" i="1" smtClean="0">
                        <a:latin typeface="Cambria Math" panose="02040503050406030204" pitchFamily="18" charset="0"/>
                        <a:ea typeface="Cambria Math" panose="02040503050406030204" pitchFamily="18" charset="0"/>
                      </a:rPr>
                      <m:t>𝑦</m:t>
                    </m:r>
                  </m:oMath>
                </a14:m>
                <a:r>
                  <a:rPr lang="en-ZA" dirty="0"/>
                  <a:t>-values disappear.</a:t>
                </a:r>
                <a:r>
                  <a:rPr lang="en-ZA" baseline="0" dirty="0"/>
                  <a:t> </a:t>
                </a:r>
                <a:r>
                  <a:rPr lang="en-ZA" dirty="0"/>
                  <a:t>Only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𝑥</m:t>
                    </m:r>
                    <m:r>
                      <a:rPr lang="en-US" sz="1200" b="0" i="1" smtClean="0">
                        <a:solidFill>
                          <a:schemeClr val="tx1"/>
                        </a:solidFill>
                        <a:latin typeface="Cambria Math" panose="02040503050406030204" pitchFamily="18" charset="0"/>
                        <a:ea typeface="Cambria Math" panose="02040503050406030204" pitchFamily="18" charset="0"/>
                      </a:rPr>
                      <m:t>=3,7,11,5</m:t>
                    </m:r>
                  </m:oMath>
                </a14:m>
                <a:r>
                  <a:rPr lang="en-ZA" dirty="0"/>
                  <a:t> remain in superposition. The amplitudes of these states are then renormalized from 1/4 to 1/2. Since all four surviving amplitudes remain equal, their relative probabilities are unchanged.</a:t>
                </a:r>
              </a:p>
              <a:p>
                <a:endParaRPr lang="en-ZA" b="1" dirty="0"/>
              </a:p>
              <a:p>
                <a:r>
                  <a:rPr lang="en-ZA" b="1" dirty="0"/>
                  <a:t>Step 4:</a:t>
                </a:r>
                <a:r>
                  <a:rPr lang="en-ZA" dirty="0"/>
                  <a:t> The inverse QFT is then applied to the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𝑥</m:t>
                    </m:r>
                  </m:oMath>
                </a14:m>
                <a:r>
                  <a:rPr lang="en-ZA" dirty="0"/>
                  <a:t>-register. Each of the states</a:t>
                </a:r>
                <a14:m>
                  <m:oMath xmlns:m="http://schemas.openxmlformats.org/officeDocument/2006/math">
                    <m:r>
                      <a:rPr lang="en-US" sz="1200" b="0" i="0" smtClean="0">
                        <a:solidFill>
                          <a:srgbClr val="002060"/>
                        </a:solidFill>
                        <a:latin typeface="Cambria Math" panose="02040503050406030204" pitchFamily="18" charset="0"/>
                        <a:ea typeface="Cambria Math" panose="02040503050406030204" pitchFamily="18" charset="0"/>
                      </a:rPr>
                      <m:t> </m:t>
                    </m:r>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3</m:t>
                        </m:r>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7</m:t>
                        </m:r>
                      </m:e>
                    </m:d>
                  </m:oMath>
                </a14:m>
                <a:r>
                  <a:rPr lang="en-ZA" dirty="0"/>
                  <a:t>,</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11</m:t>
                        </m:r>
                      </m:e>
                    </m:d>
                    <m:r>
                      <a:rPr lang="en-US" sz="1200" b="0" i="1" smtClean="0">
                        <a:solidFill>
                          <a:srgbClr val="002060"/>
                        </a:solidFill>
                        <a:latin typeface="Cambria Math" panose="02040503050406030204" pitchFamily="18" charset="0"/>
                        <a:ea typeface="Cambria Math" panose="02040503050406030204" pitchFamily="18" charset="0"/>
                      </a:rPr>
                      <m:t>,</m:t>
                    </m:r>
                  </m:oMath>
                </a14:m>
                <a:r>
                  <a:rPr lang="en-US" sz="1200" dirty="0">
                    <a:solidFill>
                      <a:srgbClr val="002060"/>
                    </a:solidFill>
                    <a:ea typeface="Cambria Math" panose="02040503050406030204" pitchFamily="18" charset="0"/>
                  </a:rPr>
                  <a:t>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15</m:t>
                        </m:r>
                      </m:e>
                    </m:d>
                  </m:oMath>
                </a14:m>
                <a:r>
                  <a:rPr lang="en-ZA" dirty="0"/>
                  <a:t> is transformed into a superposition with different phases. When these contributions combine, destructive interference cancels most outcomes, while constructive interference produces strong peaks at ∣0⟩,∣4⟩,∣8⟩,∣12⟩. These peaks therefore contain the information needed to determine the period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𝑟</m:t>
                    </m:r>
                    <m:r>
                      <a:rPr lang="en-US" sz="1200" b="0" i="1" smtClean="0">
                        <a:solidFill>
                          <a:srgbClr val="002060"/>
                        </a:solidFill>
                        <a:latin typeface="Cambria Math" panose="02040503050406030204" pitchFamily="18" charset="0"/>
                        <a:ea typeface="Cambria Math" panose="02040503050406030204" pitchFamily="18" charset="0"/>
                      </a:rPr>
                      <m:t>=4</m:t>
                    </m:r>
                  </m:oMath>
                </a14:m>
                <a:r>
                  <a:rPr lang="en-ZA" dirty="0"/>
                  <a:t>.</a:t>
                </a:r>
              </a:p>
            </p:txBody>
          </p:sp>
        </mc:Choice>
        <mc:Fallback xmlns="">
          <p:sp>
            <p:nvSpPr>
              <p:cNvPr id="3" name="Notes Placeholder 2"/>
              <p:cNvSpPr>
                <a:spLocks noGrp="1"/>
              </p:cNvSpPr>
              <p:nvPr>
                <p:ph type="body" idx="1"/>
              </p:nvPr>
            </p:nvSpPr>
            <p:spPr/>
            <p:txBody>
              <a:bodyPr/>
              <a:lstStyle/>
              <a:p>
                <a:pPr marL="457200" indent="-457200">
                  <a:buFont typeface="+mj-lt"/>
                  <a:buAutoNum type="arabicPeriod"/>
                </a:pPr>
                <a:r>
                  <a:rPr lang="en-US" sz="2200" dirty="0"/>
                  <a:t>Let’s say that in step 3, we measured 13. The new state is shown in the second line, with normalization changed to 1/2. </a:t>
                </a:r>
              </a:p>
              <a:p>
                <a:pPr marL="457200" indent="-457200">
                  <a:buFont typeface="+mj-lt"/>
                  <a:buAutoNum type="arabicPeriod"/>
                </a:pPr>
                <a:r>
                  <a:rPr lang="en-US" sz="2200" dirty="0"/>
                  <a:t>In step 4, we apply the inverse Fourier transformation QFT</a:t>
                </a:r>
                <a:r>
                  <a:rPr lang="en-US" sz="2400" b="0" i="0" baseline="30000">
                    <a:solidFill>
                      <a:schemeClr val="tx1"/>
                    </a:solidFill>
                    <a:latin typeface="Cambria Math" panose="02040503050406030204" pitchFamily="18" charset="0"/>
                    <a:ea typeface="Cambria Math" panose="02040503050406030204" pitchFamily="18" charset="0"/>
                  </a:rPr>
                  <a:t>†</a:t>
                </a:r>
                <a:r>
                  <a:rPr lang="en-US" sz="2200" dirty="0"/>
                  <a:t> to the  </a:t>
                </a:r>
                <a:r>
                  <a:rPr lang="en-US" sz="2200" b="0" i="0">
                    <a:solidFill>
                      <a:schemeClr val="tx1"/>
                    </a:solidFill>
                    <a:latin typeface="Cambria Math" panose="02040503050406030204" pitchFamily="18" charset="0"/>
                    <a:ea typeface="Cambria Math" panose="02040503050406030204" pitchFamily="18" charset="0"/>
                  </a:rPr>
                  <a:t>𝑥</a:t>
                </a:r>
                <a:r>
                  <a:rPr lang="en-US" sz="2200" dirty="0"/>
                  <a:t> register. The inverse Fourier transform</a:t>
                </a:r>
                <a:r>
                  <a:rPr lang="en-US" sz="2200" baseline="0" dirty="0"/>
                  <a:t> formula is almost the same as the QFT formula, the difference is only minus sign in the exponent. By replacing x with 3,7,11 and 15 and performing summation for y=0 to 15 we finally get </a:t>
                </a:r>
                <a:r>
                  <a:rPr lang="en-US" sz="2200" dirty="0"/>
                  <a:t>QFT</a:t>
                </a:r>
                <a:r>
                  <a:rPr lang="en-US" sz="2400" b="0" i="0" baseline="30000">
                    <a:solidFill>
                      <a:schemeClr val="tx1"/>
                    </a:solidFill>
                    <a:latin typeface="Cambria Math" panose="02040503050406030204" pitchFamily="18" charset="0"/>
                    <a:ea typeface="Cambria Math" panose="02040503050406030204" pitchFamily="18" charset="0"/>
                  </a:rPr>
                  <a:t>†</a:t>
                </a:r>
                <a:r>
                  <a:rPr lang="en-US" sz="2200" dirty="0"/>
                  <a:t> as shown at the bottom. Notice how many terms disappeared</a:t>
                </a:r>
                <a:r>
                  <a:rPr lang="en-US" sz="2200" baseline="0" dirty="0"/>
                  <a:t> due to opposite signs, in other words the quantum interference removed most of the unwanted terms.</a:t>
                </a:r>
                <a:endParaRPr lang="en-US" sz="2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46</a:t>
            </a:fld>
            <a:endParaRPr lang="en-US"/>
          </a:p>
        </p:txBody>
      </p:sp>
    </p:spTree>
    <p:extLst>
      <p:ext uri="{BB962C8B-B14F-4D97-AF65-F5344CB8AC3E}">
        <p14:creationId xmlns:p14="http://schemas.microsoft.com/office/powerpoint/2010/main" val="31922480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1" dirty="0"/>
                  <a:t>Step 5: </a:t>
                </a:r>
                <a:r>
                  <a:rPr lang="en-ZA" dirty="0"/>
                  <a:t>In the final quantum step, the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𝑥</m:t>
                    </m:r>
                  </m:oMath>
                </a14:m>
                <a:r>
                  <a:rPr lang="en-ZA" dirty="0"/>
                  <a:t>-register is measured. In this ideal example, the possible outcomes are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𝑥</m:t>
                    </m:r>
                    <m:r>
                      <a:rPr lang="en-US" sz="1200" b="0" i="1" smtClean="0">
                        <a:solidFill>
                          <a:schemeClr val="tx1"/>
                        </a:solidFill>
                        <a:latin typeface="Cambria Math" panose="02040503050406030204" pitchFamily="18" charset="0"/>
                        <a:ea typeface="Cambria Math" panose="02040503050406030204" pitchFamily="18" charset="0"/>
                      </a:rPr>
                      <m:t>=0,4,8,12</m:t>
                    </m:r>
                  </m:oMath>
                </a14:m>
                <a:r>
                  <a:rPr lang="en-ZA" b="1" dirty="0"/>
                  <a:t>, </a:t>
                </a:r>
                <a:r>
                  <a:rPr lang="en-ZA" dirty="0"/>
                  <a:t>each with equal probability. A nonzero result contains information about the period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𝑟</m:t>
                    </m:r>
                  </m:oMath>
                </a14:m>
                <a:r>
                  <a:rPr lang="en-ZA" dirty="0"/>
                  <a:t> of the modular function. At this point, the quantum circuit has completed its task, and the period is recovered through </a:t>
                </a:r>
                <a:r>
                  <a:rPr lang="en-ZA" b="0" dirty="0"/>
                  <a:t>classical post-processing.</a:t>
                </a:r>
              </a:p>
              <a:p>
                <a:endParaRPr lang="en-ZA" dirty="0"/>
              </a:p>
              <a:p>
                <a:r>
                  <a:rPr lang="en-ZA" b="1" dirty="0"/>
                  <a:t>Step 6 (classical post-processing):</a:t>
                </a:r>
                <a:r>
                  <a:rPr lang="en-ZA" dirty="0"/>
                  <a:t> The measured value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𝑥</m:t>
                    </m:r>
                  </m:oMath>
                </a14:m>
                <a:r>
                  <a:rPr lang="en-ZA" dirty="0"/>
                  <a:t> is normalized by the number of basis states </a:t>
                </a:r>
                <a14:m>
                  <m:oMath xmlns:m="http://schemas.openxmlformats.org/officeDocument/2006/math">
                    <m:r>
                      <a:rPr lang="en-US" sz="1200" b="0" i="1" smtClean="0">
                        <a:latin typeface="Cambria Math" panose="02040503050406030204" pitchFamily="18" charset="0"/>
                      </a:rPr>
                      <m:t>𝑄</m:t>
                    </m:r>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2</m:t>
                        </m:r>
                      </m:e>
                      <m:sup>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𝑛</m:t>
                            </m:r>
                          </m:e>
                          <m:sub>
                            <m:r>
                              <a:rPr lang="en-US" sz="1200" b="0" i="1" smtClean="0">
                                <a:latin typeface="Cambria Math" panose="02040503050406030204" pitchFamily="18" charset="0"/>
                              </a:rPr>
                              <m:t>𝑥</m:t>
                            </m:r>
                          </m:sub>
                        </m:sSub>
                      </m:sup>
                    </m:sSup>
                  </m:oMath>
                </a14:m>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𝑥</m:t>
                          </m:r>
                        </m:num>
                        <m:den>
                          <m:r>
                            <a:rPr lang="en-US" sz="1200" b="0" i="1" smtClean="0">
                              <a:latin typeface="Cambria Math" panose="02040503050406030204" pitchFamily="18" charset="0"/>
                            </a:rPr>
                            <m:t>𝑄</m:t>
                          </m:r>
                        </m:den>
                      </m:f>
                      <m:r>
                        <a:rPr lang="en-US" sz="1200" b="0" i="1" smtClean="0">
                          <a:latin typeface="Cambria Math" panose="02040503050406030204" pitchFamily="18" charset="0"/>
                          <a:ea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𝑗</m:t>
                          </m:r>
                        </m:num>
                        <m:den>
                          <m:r>
                            <a:rPr lang="en-US" sz="1200" b="0" i="1" smtClean="0">
                              <a:latin typeface="Cambria Math" panose="02040503050406030204" pitchFamily="18" charset="0"/>
                            </a:rPr>
                            <m:t>𝑟</m:t>
                          </m:r>
                        </m:den>
                      </m:f>
                    </m:oMath>
                  </m:oMathPara>
                </a14:m>
                <a:endParaRPr lang="en-ZA" dirty="0"/>
              </a:p>
              <a:p>
                <a:pPr algn="just"/>
                <a:r>
                  <a:rPr lang="en-ZA" dirty="0"/>
                  <a:t>where </a:t>
                </a:r>
                <a14:m>
                  <m:oMath xmlns:m="http://schemas.openxmlformats.org/officeDocument/2006/math">
                    <m:r>
                      <a:rPr lang="en-US" sz="1200" b="0" i="1" smtClean="0">
                        <a:latin typeface="Cambria Math" panose="02040503050406030204" pitchFamily="18" charset="0"/>
                      </a:rPr>
                      <m:t>𝑗</m:t>
                    </m:r>
                  </m:oMath>
                </a14:m>
                <a:r>
                  <a:rPr lang="en-ZA" dirty="0"/>
                  <a:t> is an integer. From this fraction, a candidate for </a:t>
                </a:r>
                <a14:m>
                  <m:oMath xmlns:m="http://schemas.openxmlformats.org/officeDocument/2006/math">
                    <m:r>
                      <a:rPr lang="en-US" sz="1200" b="0" i="1" smtClean="0">
                        <a:latin typeface="Cambria Math" panose="02040503050406030204" pitchFamily="18" charset="0"/>
                      </a:rPr>
                      <m:t>𝑟</m:t>
                    </m:r>
                  </m:oMath>
                </a14:m>
                <a:r>
                  <a:rPr lang="en-ZA" dirty="0"/>
                  <a:t> can be obtained. The candidate must then be verified by </a:t>
                </a:r>
                <a:r>
                  <a:rPr lang="en-ZA" dirty="0">
                    <a:solidFill>
                      <a:schemeClr val="tx1"/>
                    </a:solidFill>
                  </a:rPr>
                  <a:t>checking </a:t>
                </a:r>
                <a14:m>
                  <m:oMath xmlns:m="http://schemas.openxmlformats.org/officeDocument/2006/math">
                    <m:sSup>
                      <m:sSupPr>
                        <m:ctrlPr>
                          <a:rPr lang="en-US" sz="120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𝑎</m:t>
                        </m:r>
                      </m:e>
                      <m:sup>
                        <m:r>
                          <a:rPr lang="en-US" sz="1200" b="0" i="1" smtClean="0">
                            <a:solidFill>
                              <a:schemeClr val="tx1"/>
                            </a:solidFill>
                            <a:latin typeface="Cambria Math" panose="02040503050406030204" pitchFamily="18" charset="0"/>
                          </a:rPr>
                          <m:t>𝑟</m:t>
                        </m:r>
                      </m:sup>
                    </m:sSup>
                    <m:r>
                      <a:rPr lang="en-US" sz="1200" b="0" i="1" smtClean="0">
                        <a:solidFill>
                          <a:schemeClr val="tx1"/>
                        </a:solidFill>
                        <a:latin typeface="Cambria Math" panose="02040503050406030204" pitchFamily="18" charset="0"/>
                        <a:ea typeface="Cambria Math" panose="02040503050406030204" pitchFamily="18" charset="0"/>
                      </a:rPr>
                      <m:t>≡1 (</m:t>
                    </m:r>
                    <m:r>
                      <m:rPr>
                        <m:sty m:val="p"/>
                      </m:rPr>
                      <a:rPr lang="en-US" sz="1200" b="0" i="0" smtClean="0">
                        <a:solidFill>
                          <a:schemeClr val="tx1"/>
                        </a:solidFill>
                        <a:latin typeface="Cambria Math" panose="02040503050406030204" pitchFamily="18" charset="0"/>
                        <a:ea typeface="Cambria Math" panose="02040503050406030204" pitchFamily="18" charset="0"/>
                      </a:rPr>
                      <m:t>mod</m:t>
                    </m:r>
                    <m:r>
                      <a:rPr lang="en-US" sz="1200" b="0" i="0" smtClean="0">
                        <a:solidFill>
                          <a:schemeClr val="tx1"/>
                        </a:solidFill>
                        <a:latin typeface="Cambria Math" panose="02040503050406030204" pitchFamily="18" charset="0"/>
                        <a:ea typeface="Cambria Math" panose="02040503050406030204" pitchFamily="18" charset="0"/>
                      </a:rPr>
                      <m:t> </m:t>
                    </m:r>
                    <m:r>
                      <a:rPr lang="en-US" sz="1200" b="0" i="1" smtClean="0">
                        <a:solidFill>
                          <a:schemeClr val="tx1"/>
                        </a:solidFill>
                        <a:latin typeface="Cambria Math" panose="02040503050406030204" pitchFamily="18" charset="0"/>
                        <a:ea typeface="Cambria Math" panose="02040503050406030204" pitchFamily="18" charset="0"/>
                      </a:rPr>
                      <m:t>𝑁</m:t>
                    </m:r>
                    <m:r>
                      <a:rPr lang="en-US" sz="1200" b="0" i="1" smtClean="0">
                        <a:solidFill>
                          <a:schemeClr val="tx1"/>
                        </a:solidFill>
                        <a:latin typeface="Cambria Math" panose="02040503050406030204" pitchFamily="18" charset="0"/>
                        <a:ea typeface="Cambria Math" panose="02040503050406030204" pitchFamily="18" charset="0"/>
                      </a:rPr>
                      <m:t>)</m:t>
                    </m:r>
                  </m:oMath>
                </a14:m>
                <a:r>
                  <a:rPr lang="en-ZA" dirty="0">
                    <a:solidFill>
                      <a:schemeClr val="tx1"/>
                    </a:solidFill>
                  </a:rPr>
                  <a:t>. </a:t>
                </a:r>
                <a:r>
                  <a:rPr lang="en-ZA" dirty="0"/>
                  <a:t>In other words, </a:t>
                </a:r>
                <a14:m>
                  <m:oMath xmlns:m="http://schemas.openxmlformats.org/officeDocument/2006/math">
                    <m:sSup>
                      <m:sSupPr>
                        <m:ctrlPr>
                          <a:rPr lang="en-US" sz="120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𝑎</m:t>
                        </m:r>
                      </m:e>
                      <m:sup>
                        <m:r>
                          <a:rPr lang="en-US" sz="1200" b="0" i="1" smtClean="0">
                            <a:solidFill>
                              <a:schemeClr val="tx1"/>
                            </a:solidFill>
                            <a:latin typeface="Cambria Math" panose="02040503050406030204" pitchFamily="18" charset="0"/>
                          </a:rPr>
                          <m:t>𝑟</m:t>
                        </m:r>
                      </m:sup>
                    </m:sSup>
                    <m:r>
                      <a:rPr lang="en-US" sz="1200" b="0" i="1" smtClean="0">
                        <a:solidFill>
                          <a:schemeClr val="tx1"/>
                        </a:solidFill>
                        <a:latin typeface="Cambria Math" panose="02040503050406030204" pitchFamily="18" charset="0"/>
                      </a:rPr>
                      <m:t>−1</m:t>
                    </m:r>
                  </m:oMath>
                </a14:m>
                <a:r>
                  <a:rPr lang="en-ZA" dirty="0"/>
                  <a:t> must be divisible by </a:t>
                </a:r>
                <a14:m>
                  <m:oMath xmlns:m="http://schemas.openxmlformats.org/officeDocument/2006/math">
                    <m:r>
                      <a:rPr lang="en-US" sz="1200" b="0" i="1" smtClean="0">
                        <a:solidFill>
                          <a:schemeClr val="tx1"/>
                        </a:solidFill>
                        <a:latin typeface="Cambria Math" panose="02040503050406030204" pitchFamily="18" charset="0"/>
                      </a:rPr>
                      <m:t>𝑁</m:t>
                    </m:r>
                  </m:oMath>
                </a14:m>
                <a:r>
                  <a:rPr lang="en-ZA" dirty="0"/>
                  <a:t>. If this condition is not satisfied, the candidate is rejected and another candidate or another measurement is required. Once </a:t>
                </a:r>
                <a14:m>
                  <m:oMath xmlns:m="http://schemas.openxmlformats.org/officeDocument/2006/math">
                    <m:r>
                      <a:rPr lang="en-US" sz="1200" b="0" i="1" smtClean="0">
                        <a:latin typeface="Cambria Math" panose="02040503050406030204" pitchFamily="18" charset="0"/>
                      </a:rPr>
                      <m:t>𝑟</m:t>
                    </m:r>
                  </m:oMath>
                </a14:m>
                <a:r>
                  <a:rPr lang="en-ZA" dirty="0"/>
                  <a:t> has been confirmed as a valid period, it must satisfy the two additional conditions required for factorization: </a:t>
                </a:r>
                <a14:m>
                  <m:oMath xmlns:m="http://schemas.openxmlformats.org/officeDocument/2006/math">
                    <m:r>
                      <a:rPr lang="en-US" sz="1200" b="0" i="1" smtClean="0">
                        <a:latin typeface="Cambria Math" panose="02040503050406030204" pitchFamily="18" charset="0"/>
                      </a:rPr>
                      <m:t>𝑟</m:t>
                    </m:r>
                  </m:oMath>
                </a14:m>
                <a:r>
                  <a:rPr lang="en-ZA" dirty="0"/>
                  <a:t> must be even, and </a:t>
                </a:r>
                <a14:m>
                  <m:oMath xmlns:m="http://schemas.openxmlformats.org/officeDocument/2006/math">
                    <m:sSup>
                      <m:sSupPr>
                        <m:ctrlPr>
                          <a:rPr lang="en-US" sz="120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𝑎</m:t>
                        </m:r>
                      </m:e>
                      <m:sup>
                        <m:r>
                          <a:rPr lang="en-US" sz="1200" i="1">
                            <a:solidFill>
                              <a:srgbClr val="002060"/>
                            </a:solidFill>
                            <a:latin typeface="Cambria Math" panose="02040503050406030204" pitchFamily="18" charset="0"/>
                            <a:ea typeface="Cambria Math" panose="02040503050406030204" pitchFamily="18" charset="0"/>
                          </a:rPr>
                          <m:t>𝑟</m:t>
                        </m:r>
                        <m:r>
                          <a:rPr lang="en-US" sz="1200" i="1">
                            <a:solidFill>
                              <a:srgbClr val="002060"/>
                            </a:solidFill>
                            <a:latin typeface="Cambria Math" panose="02040503050406030204" pitchFamily="18" charset="0"/>
                            <a:ea typeface="Cambria Math" panose="02040503050406030204" pitchFamily="18" charset="0"/>
                          </a:rPr>
                          <m:t>/2</m:t>
                        </m:r>
                      </m:sup>
                    </m:sSup>
                    <m:r>
                      <a:rPr lang="en-US" sz="1200" b="0" i="1" smtClean="0">
                        <a:solidFill>
                          <a:srgbClr val="002060"/>
                        </a:solidFill>
                        <a:latin typeface="Cambria Math" panose="02040503050406030204" pitchFamily="18" charset="0"/>
                        <a:ea typeface="Cambria Math" panose="02040503050406030204" pitchFamily="18" charset="0"/>
                      </a:rPr>
                      <m:t>≢</m:t>
                    </m:r>
                    <m:r>
                      <a:rPr lang="en-US" sz="1200" b="0" i="0" smtClean="0">
                        <a:solidFill>
                          <a:srgbClr val="002060"/>
                        </a:solidFill>
                        <a:latin typeface="Cambria Math" panose="02040503050406030204" pitchFamily="18" charset="0"/>
                        <a:ea typeface="Cambria Math" panose="02040503050406030204" pitchFamily="18" charset="0"/>
                      </a:rPr>
                      <m:t>−1 (</m:t>
                    </m:r>
                    <m:r>
                      <m:rPr>
                        <m:sty m:val="p"/>
                      </m:rPr>
                      <a:rPr lang="en-US" sz="1200" b="0" i="0" smtClean="0">
                        <a:solidFill>
                          <a:srgbClr val="002060"/>
                        </a:solidFill>
                        <a:latin typeface="Cambria Math" panose="02040503050406030204" pitchFamily="18" charset="0"/>
                        <a:ea typeface="Cambria Math" panose="02040503050406030204" pitchFamily="18" charset="0"/>
                      </a:rPr>
                      <m:t>mod</m:t>
                    </m:r>
                    <m:r>
                      <a:rPr lang="en-US" sz="1200" b="0" i="0" smtClean="0">
                        <a:solidFill>
                          <a:srgbClr val="002060"/>
                        </a:solidFill>
                        <a:latin typeface="Cambria Math" panose="02040503050406030204" pitchFamily="18" charset="0"/>
                        <a:ea typeface="Cambria Math" panose="02040503050406030204" pitchFamily="18" charset="0"/>
                      </a:rPr>
                      <m:t> </m:t>
                    </m:r>
                    <m:r>
                      <m:rPr>
                        <m:sty m:val="p"/>
                      </m:rPr>
                      <a:rPr lang="en-US" sz="1200" b="0" i="0" smtClean="0">
                        <a:solidFill>
                          <a:srgbClr val="002060"/>
                        </a:solidFill>
                        <a:latin typeface="Cambria Math" panose="02040503050406030204" pitchFamily="18" charset="0"/>
                        <a:ea typeface="Cambria Math" panose="02040503050406030204" pitchFamily="18" charset="0"/>
                      </a:rPr>
                      <m:t>N</m:t>
                    </m:r>
                    <m:r>
                      <a:rPr lang="en-US" sz="1200" b="0" i="0" smtClean="0">
                        <a:solidFill>
                          <a:srgbClr val="002060"/>
                        </a:solidFill>
                        <a:latin typeface="Cambria Math" panose="02040503050406030204" pitchFamily="18" charset="0"/>
                        <a:ea typeface="Cambria Math" panose="02040503050406030204" pitchFamily="18" charset="0"/>
                      </a:rPr>
                      <m:t>)</m:t>
                    </m:r>
                  </m:oMath>
                </a14:m>
                <a:r>
                  <a:rPr lang="en-ZA" dirty="0"/>
                  <a:t>, i.e. </a:t>
                </a:r>
                <a14:m>
                  <m:oMath xmlns:m="http://schemas.openxmlformats.org/officeDocument/2006/math">
                    <m:sSup>
                      <m:sSupPr>
                        <m:ctrlPr>
                          <a:rPr lang="en-US" sz="120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𝑎</m:t>
                        </m:r>
                      </m:e>
                      <m:sup>
                        <m:r>
                          <a:rPr lang="en-US" sz="1200" i="1">
                            <a:solidFill>
                              <a:srgbClr val="002060"/>
                            </a:solidFill>
                            <a:latin typeface="Cambria Math" panose="02040503050406030204" pitchFamily="18" charset="0"/>
                            <a:ea typeface="Cambria Math" panose="02040503050406030204" pitchFamily="18" charset="0"/>
                          </a:rPr>
                          <m:t>𝑟</m:t>
                        </m:r>
                        <m:r>
                          <a:rPr lang="en-US" sz="1200" i="1">
                            <a:solidFill>
                              <a:srgbClr val="002060"/>
                            </a:solidFill>
                            <a:latin typeface="Cambria Math" panose="02040503050406030204" pitchFamily="18" charset="0"/>
                            <a:ea typeface="Cambria Math" panose="02040503050406030204" pitchFamily="18" charset="0"/>
                          </a:rPr>
                          <m:t>/2</m:t>
                        </m:r>
                      </m:sup>
                    </m:sSup>
                    <m:r>
                      <a:rPr lang="en-US" sz="1200" b="0" i="0" smtClean="0">
                        <a:solidFill>
                          <a:srgbClr val="002060"/>
                        </a:solidFill>
                        <a:latin typeface="Cambria Math" panose="02040503050406030204" pitchFamily="18" charset="0"/>
                        <a:ea typeface="Cambria Math" panose="02040503050406030204" pitchFamily="18" charset="0"/>
                      </a:rPr>
                      <m:t>+1</m:t>
                    </m:r>
                  </m:oMath>
                </a14:m>
                <a:r>
                  <a:rPr lang="en-ZA" dirty="0"/>
                  <a:t> is not divisible by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𝑁</m:t>
                    </m:r>
                  </m:oMath>
                </a14:m>
                <a:r>
                  <a:rPr lang="en-ZA" dirty="0"/>
                  <a:t>. If these conditions are satisfied, the GCD calculations can then be used to obtain the nontrivial factors of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𝑁</m:t>
                    </m:r>
                  </m:oMath>
                </a14:m>
                <a:r>
                  <a:rPr lang="en-ZA"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solidFill>
                    <a:schemeClr val="tx1"/>
                  </a:solidFill>
                </a:endParaRPr>
              </a:p>
              <a:p>
                <a:pPr marL="0" indent="0" algn="just">
                  <a:buFont typeface="+mj-lt"/>
                  <a:buNone/>
                </a:pPr>
                <a:endParaRPr lang="en-ZA" b="0" dirty="0"/>
              </a:p>
              <a:p>
                <a:pPr algn="just"/>
                <a:r>
                  <a:rPr lang="en-ZA" b="1" dirty="0"/>
                  <a:t>Example 1: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𝑥</m:t>
                    </m:r>
                    <m:r>
                      <a:rPr lang="en-US" sz="1200" b="0" i="1" smtClean="0">
                        <a:solidFill>
                          <a:srgbClr val="002060"/>
                        </a:solidFill>
                        <a:latin typeface="Cambria Math" panose="02040503050406030204" pitchFamily="18" charset="0"/>
                        <a:ea typeface="Cambria Math" panose="02040503050406030204" pitchFamily="18" charset="0"/>
                      </a:rPr>
                      <m:t>=4,</m:t>
                    </m:r>
                    <m:r>
                      <a:rPr lang="en-US" sz="1200" i="1" smtClean="0">
                        <a:latin typeface="Cambria Math" panose="02040503050406030204" pitchFamily="18" charset="0"/>
                      </a:rPr>
                      <m:t>𝑄</m:t>
                    </m:r>
                    <m:r>
                      <a:rPr lang="en-US" sz="1200" i="1" smtClean="0">
                        <a:latin typeface="Cambria Math" panose="02040503050406030204" pitchFamily="18" charset="0"/>
                      </a:rPr>
                      <m:t>=16</m:t>
                    </m:r>
                  </m:oMath>
                </a14:m>
                <a:endParaRPr lang="en-ZA" b="1" dirty="0"/>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200" i="1" smtClean="0">
                              <a:latin typeface="Cambria Math" panose="02040503050406030204" pitchFamily="18" charset="0"/>
                            </a:rPr>
                          </m:ctrlPr>
                        </m:fPr>
                        <m:num>
                          <m:r>
                            <a:rPr lang="en-US" sz="1200" i="1">
                              <a:latin typeface="Cambria Math" panose="02040503050406030204" pitchFamily="18" charset="0"/>
                            </a:rPr>
                            <m:t>𝑥</m:t>
                          </m:r>
                        </m:num>
                        <m:den>
                          <m:r>
                            <a:rPr lang="en-US" sz="1200" i="1">
                              <a:latin typeface="Cambria Math" panose="02040503050406030204" pitchFamily="18" charset="0"/>
                            </a:rPr>
                            <m:t>𝑄</m:t>
                          </m:r>
                        </m:den>
                      </m:f>
                      <m:r>
                        <a:rPr lang="en-US" sz="1200" i="1" smtClean="0">
                          <a:latin typeface="Cambria Math" panose="02040503050406030204" pitchFamily="18" charset="0"/>
                          <a:ea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𝑗</m:t>
                          </m:r>
                        </m:num>
                        <m:den>
                          <m:r>
                            <a:rPr lang="en-US" sz="1200" i="1">
                              <a:latin typeface="Cambria Math" panose="02040503050406030204" pitchFamily="18" charset="0"/>
                            </a:rPr>
                            <m:t>𝑟</m:t>
                          </m:r>
                        </m:den>
                      </m:f>
                      <m:r>
                        <a:rPr lang="en-US" sz="1200" b="0" i="1" smtClean="0">
                          <a:latin typeface="Cambria Math" panose="02040503050406030204" pitchFamily="18" charset="0"/>
                        </a:rPr>
                        <m:t> </m:t>
                      </m:r>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f>
                        <m:fPr>
                          <m:ctrlPr>
                            <a:rPr lang="en-US" sz="1200" i="1" smtClean="0">
                              <a:latin typeface="Cambria Math" panose="02040503050406030204" pitchFamily="18" charset="0"/>
                            </a:rPr>
                          </m:ctrlPr>
                        </m:fPr>
                        <m:num>
                          <m:r>
                            <a:rPr lang="en-US" sz="1200" b="0" i="1" smtClean="0">
                              <a:latin typeface="Cambria Math" panose="02040503050406030204" pitchFamily="18" charset="0"/>
                            </a:rPr>
                            <m:t>4</m:t>
                          </m:r>
                        </m:num>
                        <m:den>
                          <m:r>
                            <a:rPr lang="en-US" sz="1200" b="0" i="1" smtClean="0">
                              <a:latin typeface="Cambria Math" panose="02040503050406030204" pitchFamily="18" charset="0"/>
                            </a:rPr>
                            <m:t>16</m:t>
                          </m:r>
                        </m:den>
                      </m:f>
                      <m:r>
                        <a:rPr lang="en-US" sz="1200" i="1" smtClean="0">
                          <a:latin typeface="Cambria Math" panose="02040503050406030204" pitchFamily="18" charset="0"/>
                          <a:ea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𝑗</m:t>
                          </m:r>
                        </m:num>
                        <m:den>
                          <m:r>
                            <a:rPr lang="en-US" sz="1200" i="1">
                              <a:latin typeface="Cambria Math" panose="02040503050406030204" pitchFamily="18" charset="0"/>
                            </a:rPr>
                            <m:t>𝑟</m:t>
                          </m:r>
                        </m:den>
                      </m:f>
                    </m:oMath>
                  </m:oMathPara>
                </a14:m>
                <a:endParaRPr lang="en-ZA" b="1" dirty="0"/>
              </a:p>
              <a:p>
                <a:pPr algn="just"/>
                <a:endParaRPr lang="en-ZA" b="1"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Therefore, </a:t>
                </a:r>
                <a14:m>
                  <m:oMath xmlns:m="http://schemas.openxmlformats.org/officeDocument/2006/math">
                    <m:r>
                      <a:rPr lang="en-US" sz="1200" b="0" i="1" smtClean="0">
                        <a:latin typeface="Cambria Math" panose="02040503050406030204" pitchFamily="18" charset="0"/>
                      </a:rPr>
                      <m:t>𝑗</m:t>
                    </m:r>
                    <m:r>
                      <a:rPr lang="en-US" sz="1200" b="0" i="1" smtClean="0">
                        <a:latin typeface="Cambria Math" panose="02040503050406030204" pitchFamily="18" charset="0"/>
                      </a:rPr>
                      <m:t>/</m:t>
                    </m:r>
                    <m:r>
                      <a:rPr lang="en-US" sz="1200" b="0" i="1" smtClean="0">
                        <a:latin typeface="Cambria Math" panose="02040503050406030204" pitchFamily="18" charset="0"/>
                      </a:rPr>
                      <m:t>𝑟</m:t>
                    </m:r>
                    <m:r>
                      <a:rPr lang="en-US" sz="1200" b="0" i="1" smtClean="0">
                        <a:latin typeface="Cambria Math" panose="02040503050406030204" pitchFamily="18" charset="0"/>
                      </a:rPr>
                      <m:t>=1/4</m:t>
                    </m:r>
                  </m:oMath>
                </a14:m>
                <a:r>
                  <a:rPr lang="en-ZA" b="0" dirty="0"/>
                  <a:t>  </a:t>
                </a:r>
                <a:r>
                  <a:rPr lang="en-ZA" dirty="0"/>
                  <a:t>gives the candidate </a:t>
                </a: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=4</m:t>
                    </m:r>
                  </m:oMath>
                </a14:m>
                <a:r>
                  <a:rPr lang="en-ZA" b="0" dirty="0"/>
                  <a:t>. </a:t>
                </a:r>
                <a:r>
                  <a:rPr lang="en-ZA" dirty="0"/>
                  <a:t>This is indeed the period, since</a:t>
                </a:r>
                <a14:m>
                  <m:oMath xmlns:m="http://schemas.openxmlformats.org/officeDocument/2006/math">
                    <m:r>
                      <a:rPr lang="en-US" sz="1200" b="0" i="0" smtClean="0">
                        <a:latin typeface="Cambria Math" panose="02040503050406030204" pitchFamily="18" charset="0"/>
                      </a:rPr>
                      <m:t> </m:t>
                    </m:r>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7</m:t>
                        </m:r>
                      </m:e>
                      <m:sup>
                        <m:r>
                          <a:rPr lang="en-US" sz="1200" b="0" i="1" smtClean="0">
                            <a:latin typeface="Cambria Math" panose="02040503050406030204" pitchFamily="18" charset="0"/>
                          </a:rPr>
                          <m:t>4</m:t>
                        </m:r>
                      </m:sup>
                    </m:sSup>
                    <m:r>
                      <a:rPr lang="en-US" sz="1200" i="1" smtClean="0">
                        <a:solidFill>
                          <a:schemeClr val="tx1"/>
                        </a:solidFill>
                        <a:latin typeface="Cambria Math" panose="02040503050406030204" pitchFamily="18" charset="0"/>
                        <a:ea typeface="Cambria Math" panose="02040503050406030204" pitchFamily="18" charset="0"/>
                      </a:rPr>
                      <m:t>≡</m:t>
                    </m:r>
                    <m:r>
                      <a:rPr lang="en-US" sz="1200" b="0" i="0" smtClean="0">
                        <a:solidFill>
                          <a:schemeClr val="tx1"/>
                        </a:solidFill>
                        <a:latin typeface="Cambria Math" panose="02040503050406030204" pitchFamily="18" charset="0"/>
                      </a:rPr>
                      <m:t>1</m:t>
                    </m:r>
                    <m:r>
                      <a:rPr lang="en-US" sz="1200">
                        <a:solidFill>
                          <a:schemeClr val="tx1"/>
                        </a:solidFill>
                        <a:latin typeface="Cambria Math" panose="02040503050406030204" pitchFamily="18" charset="0"/>
                      </a:rPr>
                      <m:t>(</m:t>
                    </m:r>
                    <m:r>
                      <m:rPr>
                        <m:sty m:val="p"/>
                      </m:rPr>
                      <a:rPr lang="en-US" sz="1200" i="0">
                        <a:solidFill>
                          <a:schemeClr val="tx1"/>
                        </a:solidFill>
                        <a:latin typeface="Cambria Math" panose="02040503050406030204" pitchFamily="18" charset="0"/>
                      </a:rPr>
                      <m:t>mod</m:t>
                    </m:r>
                    <m:r>
                      <a:rPr lang="en-US" sz="1200" i="1">
                        <a:solidFill>
                          <a:schemeClr val="tx1"/>
                        </a:solidFill>
                        <a:latin typeface="Cambria Math" panose="02040503050406030204" pitchFamily="18" charset="0"/>
                      </a:rPr>
                      <m:t> </m:t>
                    </m:r>
                    <m:r>
                      <a:rPr lang="en-US" sz="1200" b="0" i="0" smtClean="0">
                        <a:solidFill>
                          <a:schemeClr val="tx1"/>
                        </a:solidFill>
                        <a:latin typeface="Cambria Math" panose="02040503050406030204" pitchFamily="18" charset="0"/>
                      </a:rPr>
                      <m:t>15</m:t>
                    </m:r>
                    <m:r>
                      <a:rPr lang="en-US" sz="1200">
                        <a:solidFill>
                          <a:schemeClr val="tx1"/>
                        </a:solidFill>
                        <a:latin typeface="Cambria Math" panose="02040503050406030204" pitchFamily="18" charset="0"/>
                      </a:rPr>
                      <m:t>)</m:t>
                    </m:r>
                  </m:oMath>
                </a14:m>
                <a:r>
                  <a:rPr lang="sr-Latn-RS" sz="1200" b="0" i="0" dirty="0">
                    <a:solidFill>
                      <a:schemeClr val="tx1"/>
                    </a:solidFill>
                    <a:latin typeface="Cambria Math" panose="02040503050406030204" pitchFamily="18" charset="0"/>
                    <a:ea typeface="Cambria Math" panose="02040503050406030204" pitchFamily="18" charset="0"/>
                  </a:rPr>
                  <a:t>. </a:t>
                </a:r>
                <a:r>
                  <a:rPr lang="en-ZA" dirty="0"/>
                  <a:t>The factors are then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𝑝</m:t>
                    </m:r>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gcd</m:t>
                        </m:r>
                      </m:fName>
                      <m:e>
                        <m:d>
                          <m:dPr>
                            <m:ctrlPr>
                              <a:rPr lang="en-US" sz="1200" b="0" i="1" smtClean="0">
                                <a:solidFill>
                                  <a:srgbClr val="002060"/>
                                </a:solidFill>
                                <a:latin typeface="Cambria Math" panose="02040503050406030204" pitchFamily="18" charset="0"/>
                                <a:ea typeface="Cambria Math" panose="02040503050406030204" pitchFamily="18" charset="0"/>
                              </a:rPr>
                            </m:ctrlPr>
                          </m:dPr>
                          <m:e>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7</m:t>
                                </m:r>
                              </m:e>
                              <m:sup>
                                <m:r>
                                  <a:rPr lang="en-US" sz="1200" b="0" i="1" smtClean="0">
                                    <a:solidFill>
                                      <a:srgbClr val="002060"/>
                                    </a:solidFill>
                                    <a:latin typeface="Cambria Math" panose="02040503050406030204" pitchFamily="18" charset="0"/>
                                    <a:ea typeface="Cambria Math" panose="02040503050406030204" pitchFamily="18" charset="0"/>
                                  </a:rPr>
                                  <m:t>2</m:t>
                                </m:r>
                              </m:sup>
                            </m:sSup>
                            <m:r>
                              <a:rPr lang="en-US" sz="1200" b="0" i="1" smtClean="0">
                                <a:solidFill>
                                  <a:srgbClr val="002060"/>
                                </a:solidFill>
                                <a:latin typeface="Cambria Math" panose="02040503050406030204" pitchFamily="18" charset="0"/>
                                <a:ea typeface="Cambria Math" panose="02040503050406030204" pitchFamily="18" charset="0"/>
                              </a:rPr>
                              <m:t>−1,15</m:t>
                            </m:r>
                          </m:e>
                        </m:d>
                        <m:r>
                          <a:rPr lang="en-US" sz="1200" b="0" i="1" smtClean="0">
                            <a:solidFill>
                              <a:srgbClr val="002060"/>
                            </a:solidFill>
                            <a:latin typeface="Cambria Math" panose="02040503050406030204" pitchFamily="18" charset="0"/>
                            <a:ea typeface="Cambria Math" panose="02040503050406030204" pitchFamily="18" charset="0"/>
                          </a:rPr>
                          <m:t>=3</m:t>
                        </m:r>
                      </m:e>
                    </m:func>
                  </m:oMath>
                </a14:m>
                <a:r>
                  <a:rPr lang="en-ZA" b="0" i="1" dirty="0"/>
                  <a:t> </a:t>
                </a:r>
                <a:r>
                  <a:rPr lang="en-ZA" b="0" i="0" dirty="0"/>
                  <a:t>and</a:t>
                </a:r>
                <a:r>
                  <a:rPr lang="en-ZA" b="0" dirty="0"/>
                  <a:t>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𝑞</m:t>
                    </m:r>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gcd</m:t>
                        </m:r>
                      </m:fName>
                      <m:e>
                        <m:d>
                          <m:dPr>
                            <m:ctrlPr>
                              <a:rPr lang="en-US" sz="1200" b="0" i="1" smtClean="0">
                                <a:solidFill>
                                  <a:srgbClr val="002060"/>
                                </a:solidFill>
                                <a:latin typeface="Cambria Math" panose="02040503050406030204" pitchFamily="18" charset="0"/>
                                <a:ea typeface="Cambria Math" panose="02040503050406030204" pitchFamily="18" charset="0"/>
                              </a:rPr>
                            </m:ctrlPr>
                          </m:dPr>
                          <m:e>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7</m:t>
                                </m:r>
                              </m:e>
                              <m:sup>
                                <m:r>
                                  <a:rPr lang="en-US" sz="1200" b="0" i="1" smtClean="0">
                                    <a:solidFill>
                                      <a:srgbClr val="002060"/>
                                    </a:solidFill>
                                    <a:latin typeface="Cambria Math" panose="02040503050406030204" pitchFamily="18" charset="0"/>
                                    <a:ea typeface="Cambria Math" panose="02040503050406030204" pitchFamily="18" charset="0"/>
                                  </a:rPr>
                                  <m:t>2</m:t>
                                </m:r>
                              </m:sup>
                            </m:sSup>
                            <m:r>
                              <a:rPr lang="en-US" sz="1200" b="0" i="1" smtClean="0">
                                <a:solidFill>
                                  <a:srgbClr val="002060"/>
                                </a:solidFill>
                                <a:latin typeface="Cambria Math" panose="02040503050406030204" pitchFamily="18" charset="0"/>
                                <a:ea typeface="Cambria Math" panose="02040503050406030204" pitchFamily="18" charset="0"/>
                              </a:rPr>
                              <m:t>+1,15</m:t>
                            </m:r>
                          </m:e>
                        </m:d>
                        <m:r>
                          <a:rPr lang="en-US" sz="1200" b="0" i="1" smtClean="0">
                            <a:solidFill>
                              <a:srgbClr val="002060"/>
                            </a:solidFill>
                            <a:latin typeface="Cambria Math" panose="02040503050406030204" pitchFamily="18" charset="0"/>
                            <a:ea typeface="Cambria Math" panose="02040503050406030204" pitchFamily="18" charset="0"/>
                          </a:rPr>
                          <m:t>=5</m:t>
                        </m:r>
                      </m:e>
                    </m:func>
                  </m:oMath>
                </a14:m>
                <a:r>
                  <a:rPr lang="en-ZA" b="0" i="1" dirty="0"/>
                  <a:t>.</a:t>
                </a:r>
              </a:p>
              <a:p>
                <a:pPr algn="just"/>
                <a:endParaRPr lang="en-ZA" b="0" dirty="0"/>
              </a:p>
              <a:p>
                <a:pPr algn="just"/>
                <a:r>
                  <a:rPr lang="en-ZA" b="1" dirty="0"/>
                  <a:t>Example 2: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𝑥</m:t>
                    </m:r>
                    <m:r>
                      <a:rPr lang="en-US" sz="1200" b="0" i="1" smtClean="0">
                        <a:solidFill>
                          <a:srgbClr val="002060"/>
                        </a:solidFill>
                        <a:latin typeface="Cambria Math" panose="02040503050406030204" pitchFamily="18" charset="0"/>
                        <a:ea typeface="Cambria Math" panose="02040503050406030204" pitchFamily="18" charset="0"/>
                      </a:rPr>
                      <m:t>=8,</m:t>
                    </m:r>
                    <m:r>
                      <a:rPr lang="en-US" sz="1200" i="1" smtClean="0">
                        <a:latin typeface="Cambria Math" panose="02040503050406030204" pitchFamily="18" charset="0"/>
                      </a:rPr>
                      <m:t>𝑄</m:t>
                    </m:r>
                    <m:r>
                      <a:rPr lang="en-US" sz="1200" i="1" smtClean="0">
                        <a:latin typeface="Cambria Math" panose="02040503050406030204" pitchFamily="18" charset="0"/>
                      </a:rPr>
                      <m:t>=16</m:t>
                    </m:r>
                  </m:oMath>
                </a14:m>
                <a:endParaRPr lang="en-ZA" b="1" dirty="0"/>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200" i="1" smtClean="0">
                              <a:latin typeface="Cambria Math" panose="02040503050406030204" pitchFamily="18" charset="0"/>
                            </a:rPr>
                          </m:ctrlPr>
                        </m:fPr>
                        <m:num>
                          <m:r>
                            <a:rPr lang="en-US" sz="1200" i="1">
                              <a:latin typeface="Cambria Math" panose="02040503050406030204" pitchFamily="18" charset="0"/>
                            </a:rPr>
                            <m:t>𝑥</m:t>
                          </m:r>
                        </m:num>
                        <m:den>
                          <m:r>
                            <a:rPr lang="en-US" sz="1200" i="1">
                              <a:latin typeface="Cambria Math" panose="02040503050406030204" pitchFamily="18" charset="0"/>
                            </a:rPr>
                            <m:t>𝑄</m:t>
                          </m:r>
                        </m:den>
                      </m:f>
                      <m:r>
                        <a:rPr lang="en-US" sz="1200" i="1" smtClean="0">
                          <a:latin typeface="Cambria Math" panose="02040503050406030204" pitchFamily="18" charset="0"/>
                          <a:ea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𝑗</m:t>
                          </m:r>
                        </m:num>
                        <m:den>
                          <m:r>
                            <a:rPr lang="en-US" sz="1200" i="1">
                              <a:latin typeface="Cambria Math" panose="02040503050406030204" pitchFamily="18" charset="0"/>
                            </a:rPr>
                            <m:t>𝑟</m:t>
                          </m:r>
                        </m:den>
                      </m:f>
                      <m:r>
                        <a:rPr lang="en-US" sz="1200" b="0" i="1" smtClean="0">
                          <a:latin typeface="Cambria Math" panose="02040503050406030204" pitchFamily="18" charset="0"/>
                        </a:rPr>
                        <m:t> </m:t>
                      </m:r>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f>
                        <m:fPr>
                          <m:ctrlPr>
                            <a:rPr lang="en-US" sz="1200" i="1" smtClean="0">
                              <a:latin typeface="Cambria Math" panose="02040503050406030204" pitchFamily="18" charset="0"/>
                            </a:rPr>
                          </m:ctrlPr>
                        </m:fPr>
                        <m:num>
                          <m:r>
                            <a:rPr lang="en-US" sz="1200" b="0" i="1" smtClean="0">
                              <a:latin typeface="Cambria Math" panose="02040503050406030204" pitchFamily="18" charset="0"/>
                            </a:rPr>
                            <m:t>8</m:t>
                          </m:r>
                        </m:num>
                        <m:den>
                          <m:r>
                            <a:rPr lang="en-US" sz="1200" b="0" i="1" smtClean="0">
                              <a:latin typeface="Cambria Math" panose="02040503050406030204" pitchFamily="18" charset="0"/>
                            </a:rPr>
                            <m:t>16</m:t>
                          </m:r>
                        </m:den>
                      </m:f>
                      <m:r>
                        <a:rPr lang="en-US" sz="1200" b="0" i="1" smtClean="0">
                          <a:latin typeface="Cambria Math" panose="02040503050406030204" pitchFamily="18" charset="0"/>
                        </a:rPr>
                        <m:t>=</m:t>
                      </m:r>
                      <m:f>
                        <m:fPr>
                          <m:ctrlPr>
                            <a:rPr lang="en-US" sz="1200" i="1" smtClean="0">
                              <a:latin typeface="Cambria Math" panose="02040503050406030204" pitchFamily="18" charset="0"/>
                            </a:rPr>
                          </m:ctrlPr>
                        </m:fPr>
                        <m:num>
                          <m:r>
                            <a:rPr lang="en-US" sz="1200" b="0" i="1" smtClean="0">
                              <a:latin typeface="Cambria Math" panose="02040503050406030204" pitchFamily="18" charset="0"/>
                            </a:rPr>
                            <m:t>1</m:t>
                          </m:r>
                        </m:num>
                        <m:den>
                          <m:r>
                            <a:rPr lang="en-US" sz="1200" b="0" i="1" smtClean="0">
                              <a:latin typeface="Cambria Math" panose="02040503050406030204" pitchFamily="18" charset="0"/>
                            </a:rPr>
                            <m:t>2</m:t>
                          </m:r>
                        </m:den>
                      </m:f>
                      <m:r>
                        <a:rPr lang="en-US" sz="1200" i="1" smtClean="0">
                          <a:latin typeface="Cambria Math" panose="02040503050406030204" pitchFamily="18" charset="0"/>
                          <a:ea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𝑗</m:t>
                          </m:r>
                        </m:num>
                        <m:den>
                          <m:r>
                            <a:rPr lang="en-US" sz="1200" i="1">
                              <a:latin typeface="Cambria Math" panose="02040503050406030204" pitchFamily="18" charset="0"/>
                            </a:rPr>
                            <m:t>𝑟</m:t>
                          </m:r>
                        </m:den>
                      </m:f>
                    </m:oMath>
                  </m:oMathPara>
                </a14:m>
                <a:endParaRPr lang="en-ZA" b="1" dirty="0"/>
              </a:p>
              <a:p>
                <a:r>
                  <a:rPr lang="en-ZA" dirty="0"/>
                  <a:t>This suggests </a:t>
                </a:r>
                <a14:m>
                  <m:oMath xmlns:m="http://schemas.openxmlformats.org/officeDocument/2006/math">
                    <m:r>
                      <a:rPr lang="en-US" sz="1200" i="1" smtClean="0">
                        <a:latin typeface="Cambria Math" panose="02040503050406030204" pitchFamily="18" charset="0"/>
                      </a:rPr>
                      <m:t>𝑟</m:t>
                    </m:r>
                    <m:r>
                      <a:rPr lang="en-US" sz="1200" b="0" i="1" smtClean="0">
                        <a:latin typeface="Cambria Math" panose="02040503050406030204" pitchFamily="18" charset="0"/>
                      </a:rPr>
                      <m:t>=2</m:t>
                    </m:r>
                  </m:oMath>
                </a14:m>
                <a:r>
                  <a:rPr lang="en-ZA" dirty="0"/>
                  <a:t> as a candidate period. Substituting </a:t>
                </a:r>
                <a14:m>
                  <m:oMath xmlns:m="http://schemas.openxmlformats.org/officeDocument/2006/math">
                    <m:r>
                      <a:rPr lang="en-US" sz="1200" i="1" smtClean="0">
                        <a:latin typeface="Cambria Math" panose="02040503050406030204" pitchFamily="18" charset="0"/>
                      </a:rPr>
                      <m:t>𝑟</m:t>
                    </m:r>
                    <m:r>
                      <a:rPr lang="en-US" sz="1200" b="0" i="1" smtClean="0">
                        <a:latin typeface="Cambria Math" panose="02040503050406030204" pitchFamily="18" charset="0"/>
                      </a:rPr>
                      <m:t>=2</m:t>
                    </m:r>
                  </m:oMath>
                </a14:m>
                <a:r>
                  <a:rPr lang="en-ZA" dirty="0"/>
                  <a:t> gives </a:t>
                </a:r>
                <a14:m>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7</m:t>
                        </m:r>
                      </m:e>
                      <m:sup>
                        <m:r>
                          <a:rPr lang="en-US" sz="1200" b="0" i="1" smtClean="0">
                            <a:latin typeface="Cambria Math" panose="02040503050406030204" pitchFamily="18" charset="0"/>
                          </a:rPr>
                          <m:t>2</m:t>
                        </m:r>
                      </m:sup>
                    </m:sSup>
                    <m:r>
                      <a:rPr lang="en-US" sz="1200" b="0" i="0" smtClean="0">
                        <a:latin typeface="Cambria Math" panose="02040503050406030204" pitchFamily="18" charset="0"/>
                      </a:rPr>
                      <m:t> </m:t>
                    </m:r>
                    <m:r>
                      <m:rPr>
                        <m:sty m:val="p"/>
                      </m:rPr>
                      <a:rPr lang="en-US" sz="1200" b="0" i="0" smtClean="0">
                        <a:latin typeface="Cambria Math" panose="02040503050406030204" pitchFamily="18" charset="0"/>
                      </a:rPr>
                      <m:t>mod</m:t>
                    </m:r>
                    <m:r>
                      <a:rPr lang="en-US" sz="1200" b="0" i="1" smtClean="0">
                        <a:latin typeface="Cambria Math" panose="02040503050406030204" pitchFamily="18" charset="0"/>
                      </a:rPr>
                      <m:t> 15</m:t>
                    </m:r>
                    <m:r>
                      <a:rPr lang="en-US" sz="120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4≠1</m:t>
                    </m:r>
                  </m:oMath>
                </a14:m>
                <a:r>
                  <a:rPr lang="en-ZA" dirty="0"/>
                  <a:t>, so </a:t>
                </a:r>
                <a14:m>
                  <m:oMath xmlns:m="http://schemas.openxmlformats.org/officeDocument/2006/math">
                    <m:r>
                      <a:rPr lang="en-US" sz="1200" i="1" smtClean="0">
                        <a:latin typeface="Cambria Math" panose="02040503050406030204" pitchFamily="18" charset="0"/>
                      </a:rPr>
                      <m:t>𝑟</m:t>
                    </m:r>
                    <m:r>
                      <a:rPr lang="en-US" sz="1200" b="0" i="1" smtClean="0">
                        <a:latin typeface="Cambria Math" panose="02040503050406030204" pitchFamily="18" charset="0"/>
                      </a:rPr>
                      <m:t>=2</m:t>
                    </m:r>
                  </m:oMath>
                </a14:m>
                <a:r>
                  <a:rPr lang="en-ZA" dirty="0"/>
                  <a:t> </a:t>
                </a:r>
                <a:r>
                  <a:rPr lang="en-ZA" b="0" dirty="0"/>
                  <a:t> is not the actual period and must be rejected.</a:t>
                </a:r>
              </a:p>
              <a:p>
                <a:endParaRPr lang="en-ZA" b="0" dirty="0"/>
              </a:p>
              <a:p>
                <a:r>
                  <a:rPr lang="en-ZA" dirty="0"/>
                  <a:t>What happened is that the measurement corresponds to</a:t>
                </a:r>
                <a14:m>
                  <m:oMath xmlns:m="http://schemas.openxmlformats.org/officeDocument/2006/math">
                    <m:r>
                      <a:rPr lang="en-US" sz="1200" b="0" i="0" smtClean="0">
                        <a:latin typeface="Cambria Math" panose="02040503050406030204" pitchFamily="18" charset="0"/>
                      </a:rPr>
                      <m:t> </m:t>
                    </m:r>
                    <m:r>
                      <a:rPr lang="en-US" sz="1200" b="0" i="1" smtClean="0">
                        <a:latin typeface="Cambria Math" panose="02040503050406030204" pitchFamily="18" charset="0"/>
                      </a:rPr>
                      <m:t>𝑗</m:t>
                    </m:r>
                    <m:r>
                      <a:rPr lang="en-US" sz="1200" b="0" i="1" smtClean="0">
                        <a:latin typeface="Cambria Math" panose="02040503050406030204" pitchFamily="18" charset="0"/>
                      </a:rPr>
                      <m:t>/</m:t>
                    </m:r>
                    <m:r>
                      <a:rPr lang="en-US" sz="1200" b="0" i="1" smtClean="0">
                        <a:latin typeface="Cambria Math" panose="02040503050406030204" pitchFamily="18" charset="0"/>
                      </a:rPr>
                      <m:t>𝑟</m:t>
                    </m:r>
                    <m:r>
                      <a:rPr lang="en-US" sz="1200" b="0" i="1" smtClean="0">
                        <a:latin typeface="Cambria Math" panose="02040503050406030204" pitchFamily="18" charset="0"/>
                      </a:rPr>
                      <m:t>=2/4</m:t>
                    </m:r>
                  </m:oMath>
                </a14:m>
                <a:r>
                  <a:rPr lang="en-ZA" dirty="0"/>
                  <a:t>​, which reduces to 1/2. By reducing the fraction, some information about the actual period </a:t>
                </a:r>
                <a14:m>
                  <m:oMath xmlns:m="http://schemas.openxmlformats.org/officeDocument/2006/math">
                    <m:r>
                      <a:rPr lang="en-US" sz="1200" i="1" smtClean="0">
                        <a:latin typeface="Cambria Math" panose="02040503050406030204" pitchFamily="18" charset="0"/>
                      </a:rPr>
                      <m:t>𝑟</m:t>
                    </m:r>
                    <m:r>
                      <a:rPr lang="en-US" sz="1200" b="0" i="1" smtClean="0">
                        <a:latin typeface="Cambria Math" panose="02040503050406030204" pitchFamily="18" charset="0"/>
                      </a:rPr>
                      <m:t>=4</m:t>
                    </m:r>
                  </m:oMath>
                </a14:m>
                <a:r>
                  <a:rPr lang="en-ZA" dirty="0"/>
                  <a:t> is lost. In this case, another measurement or additional classical processing is needed to recover the correct period.</a:t>
                </a:r>
              </a:p>
              <a:p>
                <a:endParaRPr lang="en-ZA" dirty="0"/>
              </a:p>
              <a:p>
                <a:r>
                  <a:rPr lang="en-ZA" dirty="0"/>
                  <a:t>This shows that a single measurement does not always reveal the complete period, so Shor’s quantum period-finding procedure may need to be repeated.</a:t>
                </a:r>
              </a:p>
              <a:p>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1" dirty="0"/>
              </a:p>
              <a:p>
                <a:pPr algn="just"/>
                <a:endParaRPr lang="en-ZA" b="1" dirty="0"/>
              </a:p>
              <a:p>
                <a:pPr algn="just"/>
                <a:endParaRPr lang="en-ZA" b="0" dirty="0"/>
              </a:p>
            </p:txBody>
          </p:sp>
        </mc:Choice>
        <mc:Fallback xmlns="">
          <p:sp>
            <p:nvSpPr>
              <p:cNvPr id="3" name="Notes Placeholder 2"/>
              <p:cNvSpPr>
                <a:spLocks noGrp="1"/>
              </p:cNvSpPr>
              <p:nvPr>
                <p:ph type="body" idx="1"/>
              </p:nvPr>
            </p:nvSpPr>
            <p:spPr/>
            <p:txBody>
              <a:bodyPr/>
              <a:lstStyle/>
              <a:p>
                <a:pPr marL="457200" indent="-457200">
                  <a:buFont typeface="+mj-lt"/>
                  <a:buAutoNum type="arabicPeriod"/>
                </a:pPr>
                <a:r>
                  <a:rPr lang="en-US" sz="2200" dirty="0"/>
                  <a:t>In the last step of the quantum part, we measure the register x which in this case, produces numbers 0, 4, 8 or 12 with equal probability. At this point we must now proceed with classical postprocessing.</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dirty="0"/>
                  <a:t>According to</a:t>
                </a:r>
                <a:r>
                  <a:rPr lang="en-US" sz="2200" baseline="0" dirty="0"/>
                  <a:t> the algorithm, </a:t>
                </a:r>
                <a:r>
                  <a:rPr lang="en-US" sz="2200" dirty="0"/>
                  <a:t>the measurement results peak at  </a:t>
                </a:r>
                <a:r>
                  <a:rPr lang="en-US" sz="2200" b="0" i="0">
                    <a:solidFill>
                      <a:srgbClr val="002060"/>
                    </a:solidFill>
                    <a:latin typeface="Cambria Math" panose="02040503050406030204" pitchFamily="18" charset="0"/>
                    <a:ea typeface="Cambria Math" panose="02040503050406030204" pitchFamily="18" charset="0"/>
                  </a:rPr>
                  <a:t>𝑗</a:t>
                </a:r>
                <a:r>
                  <a:rPr lang="en-US" sz="2200" i="0">
                    <a:solidFill>
                      <a:srgbClr val="002060"/>
                    </a:solidFill>
                    <a:latin typeface="Cambria Math" panose="02040503050406030204" pitchFamily="18" charset="0"/>
                    <a:ea typeface="Cambria Math" panose="02040503050406030204" pitchFamily="18" charset="0"/>
                  </a:rPr>
                  <a:t> </a:t>
                </a:r>
                <a:r>
                  <a:rPr lang="en-US" sz="2200" b="0" i="0">
                    <a:solidFill>
                      <a:srgbClr val="002060"/>
                    </a:solidFill>
                    <a:latin typeface="Cambria Math" panose="02040503050406030204" pitchFamily="18" charset="0"/>
                    <a:ea typeface="Cambria Math" panose="02040503050406030204" pitchFamily="18" charset="0"/>
                  </a:rPr>
                  <a:t>2^𝑛/𝑟</a:t>
                </a:r>
                <a:r>
                  <a:rPr lang="en-US" sz="2200" dirty="0"/>
                  <a:t> where </a:t>
                </a:r>
                <a:r>
                  <a:rPr lang="en-US" sz="2200" b="0" i="0">
                    <a:latin typeface="Cambria Math" panose="02040503050406030204" pitchFamily="18" charset="0"/>
                  </a:rPr>
                  <a:t>𝑛</a:t>
                </a:r>
                <a:r>
                  <a:rPr lang="en-US" sz="2200" dirty="0"/>
                  <a:t>=number of qubits, r</a:t>
                </a:r>
                <a:r>
                  <a:rPr lang="en-US" sz="2200" baseline="0" dirty="0"/>
                  <a:t> is the measurement outcome and </a:t>
                </a:r>
                <a:r>
                  <a:rPr lang="en-US" sz="2200" dirty="0"/>
                  <a:t> </a:t>
                </a:r>
                <a:r>
                  <a:rPr lang="en-US" sz="2200" i="0">
                    <a:solidFill>
                      <a:srgbClr val="002060"/>
                    </a:solidFill>
                    <a:latin typeface="Cambria Math" panose="02040503050406030204" pitchFamily="18" charset="0"/>
                    <a:ea typeface="Cambria Math" panose="02040503050406030204" pitchFamily="18" charset="0"/>
                  </a:rPr>
                  <a:t>𝑗</a:t>
                </a:r>
                <a:r>
                  <a:rPr lang="en-US" sz="2200" dirty="0"/>
                  <a:t> is some integer.</a:t>
                </a:r>
                <a:r>
                  <a:rPr lang="en-US" sz="2200" baseline="0" dirty="0"/>
                  <a:t> </a:t>
                </a:r>
                <a:r>
                  <a:rPr lang="en-US" sz="2200" dirty="0"/>
                  <a:t>This means that can choose j and r</a:t>
                </a:r>
                <a:r>
                  <a:rPr lang="en-US" sz="2200" baseline="0" dirty="0"/>
                  <a:t> such that formula gives the measurement outcomes</a:t>
                </a:r>
                <a:r>
                  <a:rPr lang="en-US" sz="2200" dirty="0"/>
                  <a:t>. Of course,</a:t>
                </a:r>
                <a:r>
                  <a:rPr lang="en-US" sz="2200" baseline="0" dirty="0"/>
                  <a:t> if the measurement outcome is 0, we must run the program again.</a:t>
                </a:r>
                <a:endParaRPr lang="en-US" sz="220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dirty="0"/>
                  <a:t>For example, if the measurement result is 4, we use j=1 which gives r=4. According to the algorithm, 4 is even and satisfies conditions in the green</a:t>
                </a:r>
                <a:r>
                  <a:rPr lang="en-US" sz="2200" baseline="0" dirty="0"/>
                  <a:t> box. Application the </a:t>
                </a:r>
                <a:r>
                  <a:rPr lang="en-US" sz="2200" baseline="0" dirty="0" err="1"/>
                  <a:t>gcd</a:t>
                </a:r>
                <a:r>
                  <a:rPr lang="en-US" sz="2200" baseline="0" dirty="0"/>
                  <a:t> formulas gives integers p and q and we are done.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aseline="0" dirty="0"/>
                  <a:t>In the next example, the measurement outcome was 8, so we have two choices. The first one, where j=2, r=4 leads to the same result as in the first example. Let’s see what happens if we choose j=2.  In this case, r=2, green box conditions are satisfied, but </a:t>
                </a:r>
                <a:r>
                  <a:rPr lang="en-US" sz="2200" baseline="0" dirty="0" err="1"/>
                  <a:t>gcd</a:t>
                </a:r>
                <a:r>
                  <a:rPr lang="en-US" sz="2200" baseline="0" dirty="0"/>
                  <a:t> formulas gives only a partial solution.</a:t>
                </a:r>
                <a:endParaRPr lang="en-US" sz="2200" dirty="0"/>
              </a:p>
              <a:p>
                <a:pPr marL="457200" indent="-457200">
                  <a:buFont typeface="+mj-lt"/>
                  <a:buAutoNum type="arabicPeriod"/>
                </a:pPr>
                <a:endParaRPr lang="en-US" sz="2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47</a:t>
            </a:fld>
            <a:endParaRPr lang="en-US"/>
          </a:p>
        </p:txBody>
      </p:sp>
    </p:spTree>
    <p:extLst>
      <p:ext uri="{BB962C8B-B14F-4D97-AF65-F5344CB8AC3E}">
        <p14:creationId xmlns:p14="http://schemas.microsoft.com/office/powerpoint/2010/main" val="15863785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efficiency of Shor’s algorithm is best seen by comparing it with the best classical factoring method, the Number Field Sieve (NFS). The graph shows theoretical estimates of execution time under specific assumptions about classical and quantum computer architectures.</a:t>
            </a:r>
          </a:p>
          <a:p>
            <a:pPr algn="just"/>
            <a:endParaRPr lang="en-ZA" b="0" dirty="0"/>
          </a:p>
          <a:p>
            <a:pPr algn="just"/>
            <a:r>
              <a:rPr lang="en-ZA" b="0" dirty="0"/>
              <a:t>According to these estimates, factoring a 1024-bit number could take a classical supercomputer about one million years, while a fault-tolerant quantum computer running Shor’s algorithm could perform the same factorization in just over 100 seconds.</a:t>
            </a:r>
          </a:p>
          <a:p>
            <a:pPr algn="just"/>
            <a:endParaRPr lang="en-ZA" b="0" dirty="0"/>
          </a:p>
          <a:p>
            <a:pPr algn="just"/>
            <a:r>
              <a:rPr lang="en-ZA" b="0" dirty="0"/>
              <a:t>These numbers should be understood as theoretical estimates rather than actual measured execution times. The exact values depend strongly on assumptions about the hardware, including gate speed, connectivity, parallelism, and available quantum resources. Nevertheless, the comparison illustrates the potentially enormous computational advantage provided by Shor’s algorithm.</a:t>
            </a:r>
          </a:p>
        </p:txBody>
      </p:sp>
      <p:sp>
        <p:nvSpPr>
          <p:cNvPr id="4" name="Slide Number Placeholder 3"/>
          <p:cNvSpPr>
            <a:spLocks noGrp="1"/>
          </p:cNvSpPr>
          <p:nvPr>
            <p:ph type="sldNum" sz="quarter" idx="5"/>
          </p:nvPr>
        </p:nvSpPr>
        <p:spPr/>
        <p:txBody>
          <a:bodyPr/>
          <a:lstStyle/>
          <a:p>
            <a:fld id="{1B2CE5E3-B8BD-D040-AC87-D640191DD8F1}" type="slidenum">
              <a:rPr lang="en-US" smtClean="0"/>
              <a:t>48</a:t>
            </a:fld>
            <a:endParaRPr lang="en-US"/>
          </a:p>
        </p:txBody>
      </p:sp>
    </p:spTree>
    <p:extLst>
      <p:ext uri="{BB962C8B-B14F-4D97-AF65-F5344CB8AC3E}">
        <p14:creationId xmlns:p14="http://schemas.microsoft.com/office/powerpoint/2010/main" val="22530331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Shor’s algorithm is mathematically efficient, but the main limitation to its practical application today is quantum hardware.</a:t>
            </a:r>
          </a:p>
          <a:p>
            <a:pPr algn="just"/>
            <a:endParaRPr lang="en-ZA" b="0" dirty="0"/>
          </a:p>
          <a:p>
            <a:pPr algn="just"/>
            <a:r>
              <a:rPr lang="en-ZA" b="0" dirty="0"/>
              <a:t>Factoring large numbers requires many reliable logical qubits, while implementing a single logical qubit using quantum error correction may require many physical qubits. In addition, modular exponentiation, which is a key part of Shor’s algorithm, requires very deep quantum circuits with a large number of operations. On today’s quantum computers, gate errors and decoherence accumulate during the execution of such complex circuits.</a:t>
            </a:r>
          </a:p>
          <a:p>
            <a:pPr algn="just"/>
            <a:endParaRPr lang="en-ZA" b="0" dirty="0"/>
          </a:p>
          <a:p>
            <a:pPr algn="just"/>
            <a:r>
              <a:rPr lang="en-ZA" b="0" dirty="0"/>
              <a:t>For this reason, practical applications of Shor’s algorithm for large numbers require quantum error correction and, ultimately, a large fault-tolerant quantum computer.</a:t>
            </a:r>
          </a:p>
          <a:p>
            <a:pPr algn="just"/>
            <a:endParaRPr lang="en-ZA" b="0" dirty="0"/>
          </a:p>
          <a:p>
            <a:pPr algn="just"/>
            <a:r>
              <a:rPr lang="en-ZA" b="0" dirty="0"/>
              <a:t>So, the problem is not Shor’s algorithm itself. The algorithm exists and is theoretically ready, but quantum hardware has not yet reached the level required for its practical application to cryptographically significant numbers.</a:t>
            </a:r>
          </a:p>
        </p:txBody>
      </p:sp>
      <p:sp>
        <p:nvSpPr>
          <p:cNvPr id="4" name="Slide Number Placeholder 3"/>
          <p:cNvSpPr>
            <a:spLocks noGrp="1"/>
          </p:cNvSpPr>
          <p:nvPr>
            <p:ph type="sldNum" sz="quarter" idx="5"/>
          </p:nvPr>
        </p:nvSpPr>
        <p:spPr/>
        <p:txBody>
          <a:bodyPr/>
          <a:lstStyle/>
          <a:p>
            <a:fld id="{1B2CE5E3-B8BD-D040-AC87-D640191DD8F1}" type="slidenum">
              <a:rPr lang="en-US" smtClean="0"/>
              <a:t>49</a:t>
            </a:fld>
            <a:endParaRPr lang="en-US"/>
          </a:p>
        </p:txBody>
      </p:sp>
    </p:spTree>
    <p:extLst>
      <p:ext uri="{BB962C8B-B14F-4D97-AF65-F5344CB8AC3E}">
        <p14:creationId xmlns:p14="http://schemas.microsoft.com/office/powerpoint/2010/main" val="2230157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50</a:t>
            </a:fld>
            <a:endParaRPr lang="en-US"/>
          </a:p>
        </p:txBody>
      </p:sp>
    </p:spTree>
    <p:extLst>
      <p:ext uri="{BB962C8B-B14F-4D97-AF65-F5344CB8AC3E}">
        <p14:creationId xmlns:p14="http://schemas.microsoft.com/office/powerpoint/2010/main" val="1314801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1120-9110-E347-8B54-7933DF290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38A87D-FAB6-A743-817E-0C56F6336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45607F-58DF-3447-9656-78BB1B0938F5}"/>
              </a:ext>
            </a:extLst>
          </p:cNvPr>
          <p:cNvSpPr>
            <a:spLocks noGrp="1"/>
          </p:cNvSpPr>
          <p:nvPr>
            <p:ph type="dt" sz="half" idx="10"/>
          </p:nvPr>
        </p:nvSpPr>
        <p:spPr/>
        <p:txBody>
          <a:bodyPr/>
          <a:lstStyle/>
          <a:p>
            <a:fld id="{1AE4839D-35CE-5948-991C-06BCC079A7B9}" type="datetime1">
              <a:rPr lang="en-US" smtClean="0"/>
              <a:t>9/4/26</a:t>
            </a:fld>
            <a:endParaRPr lang="en-US"/>
          </a:p>
        </p:txBody>
      </p:sp>
      <p:sp>
        <p:nvSpPr>
          <p:cNvPr id="5" name="Footer Placeholder 4">
            <a:extLst>
              <a:ext uri="{FF2B5EF4-FFF2-40B4-BE49-F238E27FC236}">
                <a16:creationId xmlns:a16="http://schemas.microsoft.com/office/drawing/2014/main" id="{82A11268-6971-7845-B2B0-61769F249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5C93A-6955-DE48-9E72-AE2BF1040520}"/>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00163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49746-6A3A-2B40-897A-7771C9BE0A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0F0087-4B92-3E48-919C-B0DEFF5CA0F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05ED7-6A7E-B041-83E1-E1139884EF7E}"/>
              </a:ext>
            </a:extLst>
          </p:cNvPr>
          <p:cNvSpPr>
            <a:spLocks noGrp="1"/>
          </p:cNvSpPr>
          <p:nvPr>
            <p:ph type="dt" sz="half" idx="10"/>
          </p:nvPr>
        </p:nvSpPr>
        <p:spPr/>
        <p:txBody>
          <a:bodyPr/>
          <a:lstStyle/>
          <a:p>
            <a:fld id="{D21D1071-0E96-A240-8E9B-50D7576025E5}" type="datetime1">
              <a:rPr lang="en-US" smtClean="0"/>
              <a:t>9/4/26</a:t>
            </a:fld>
            <a:endParaRPr lang="en-US"/>
          </a:p>
        </p:txBody>
      </p:sp>
      <p:sp>
        <p:nvSpPr>
          <p:cNvPr id="5" name="Footer Placeholder 4">
            <a:extLst>
              <a:ext uri="{FF2B5EF4-FFF2-40B4-BE49-F238E27FC236}">
                <a16:creationId xmlns:a16="http://schemas.microsoft.com/office/drawing/2014/main" id="{234862D4-B653-154B-9F00-B29F8A990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7E1DDB-ECC2-6440-8F64-6FF7043B62E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75838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7889-5E26-9F4B-ABC5-46737412E6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3A11A0-B651-1246-A031-2EB34FAAA2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9A7FBDE-56A4-544F-9E46-A8B3D22162DA}"/>
              </a:ext>
            </a:extLst>
          </p:cNvPr>
          <p:cNvSpPr>
            <a:spLocks noGrp="1"/>
          </p:cNvSpPr>
          <p:nvPr>
            <p:ph type="dt" sz="half" idx="10"/>
          </p:nvPr>
        </p:nvSpPr>
        <p:spPr/>
        <p:txBody>
          <a:bodyPr/>
          <a:lstStyle/>
          <a:p>
            <a:fld id="{D17CBCF1-D7CE-2C41-A8FB-9348FB41C55E}" type="datetime1">
              <a:rPr lang="en-US" smtClean="0"/>
              <a:t>9/4/26</a:t>
            </a:fld>
            <a:endParaRPr lang="en-US"/>
          </a:p>
        </p:txBody>
      </p:sp>
      <p:sp>
        <p:nvSpPr>
          <p:cNvPr id="5" name="Footer Placeholder 4">
            <a:extLst>
              <a:ext uri="{FF2B5EF4-FFF2-40B4-BE49-F238E27FC236}">
                <a16:creationId xmlns:a16="http://schemas.microsoft.com/office/drawing/2014/main" id="{4C68709F-B42E-EC48-8FBC-6974B5FDAC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19095-1014-2C44-87B5-A279D4057E2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668994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E1EC-CE7B-C74E-BB21-04FB5F3ADE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AE6E3-FAA8-2941-97DF-C2CE1A284D4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D50239-C5D9-A146-B025-534BB867B5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14A720-AF7F-EC4C-B90A-F4581F526266}"/>
              </a:ext>
            </a:extLst>
          </p:cNvPr>
          <p:cNvSpPr>
            <a:spLocks noGrp="1"/>
          </p:cNvSpPr>
          <p:nvPr>
            <p:ph type="dt" sz="half" idx="10"/>
          </p:nvPr>
        </p:nvSpPr>
        <p:spPr/>
        <p:txBody>
          <a:bodyPr/>
          <a:lstStyle/>
          <a:p>
            <a:fld id="{7BA27735-2371-C441-A5A3-C9F11F72EF2A}" type="datetime1">
              <a:rPr lang="en-US" smtClean="0"/>
              <a:t>9/4/26</a:t>
            </a:fld>
            <a:endParaRPr lang="en-US"/>
          </a:p>
        </p:txBody>
      </p:sp>
      <p:sp>
        <p:nvSpPr>
          <p:cNvPr id="6" name="Footer Placeholder 5">
            <a:extLst>
              <a:ext uri="{FF2B5EF4-FFF2-40B4-BE49-F238E27FC236}">
                <a16:creationId xmlns:a16="http://schemas.microsoft.com/office/drawing/2014/main" id="{B28DF675-B48C-E044-8D49-6F0458C801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9C3209-5E9C-C54A-ABFE-731C23683AB9}"/>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56011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92F6-6148-FE46-8B76-9B81927A05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B4AF60-1528-9842-ADC9-963520FD63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AE9EEE-9501-B048-A51B-B54F83A807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756781-36D8-E34C-82CC-C088F79BE9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8D179DE-69E1-4745-A19E-ECA22982DB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0C8571-69A9-E54B-9D56-71E69986D26C}"/>
              </a:ext>
            </a:extLst>
          </p:cNvPr>
          <p:cNvSpPr>
            <a:spLocks noGrp="1"/>
          </p:cNvSpPr>
          <p:nvPr>
            <p:ph type="dt" sz="half" idx="10"/>
          </p:nvPr>
        </p:nvSpPr>
        <p:spPr/>
        <p:txBody>
          <a:bodyPr/>
          <a:lstStyle/>
          <a:p>
            <a:fld id="{AD956192-B3CA-E648-8D9D-A184E038D705}" type="datetime1">
              <a:rPr lang="en-US" smtClean="0"/>
              <a:t>9/4/26</a:t>
            </a:fld>
            <a:endParaRPr lang="en-US"/>
          </a:p>
        </p:txBody>
      </p:sp>
      <p:sp>
        <p:nvSpPr>
          <p:cNvPr id="8" name="Footer Placeholder 7">
            <a:extLst>
              <a:ext uri="{FF2B5EF4-FFF2-40B4-BE49-F238E27FC236}">
                <a16:creationId xmlns:a16="http://schemas.microsoft.com/office/drawing/2014/main" id="{F2999DD5-63CC-1D40-B3C1-B72C788C35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B02FEF-EE56-D249-961E-050212908867}"/>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52263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2A4E9-6EC3-B04F-B29B-A2BC27A8BA6F}"/>
              </a:ext>
            </a:extLst>
          </p:cNvPr>
          <p:cNvSpPr>
            <a:spLocks noGrp="1"/>
          </p:cNvSpPr>
          <p:nvPr>
            <p:ph type="title"/>
          </p:nvPr>
        </p:nvSpPr>
        <p:spPr>
          <a:xfrm>
            <a:off x="0" y="0"/>
            <a:ext cx="12192000" cy="928688"/>
          </a:xfrm>
          <a:noFill/>
          <a:ln>
            <a:noFill/>
          </a:ln>
        </p:spPr>
        <p:txBody>
          <a:bodyPr>
            <a:normAutofit/>
          </a:bodyPr>
          <a:lstStyle>
            <a:lvl1pPr>
              <a:defRPr sz="3200" baseline="0">
                <a:solidFill>
                  <a:srgbClr val="002060"/>
                </a:solidFill>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0" y="6492875"/>
            <a:ext cx="851338" cy="365125"/>
          </a:xfrm>
        </p:spPr>
        <p:txBody>
          <a:bodyPr/>
          <a:lstStyle>
            <a:lvl1pPr algn="l">
              <a:defRPr/>
            </a:lvl1pPr>
          </a:lstStyle>
          <a:p>
            <a:fld id="{591A223C-FA10-BC46-A853-03BA373D023C}" type="slidenum">
              <a:rPr lang="en-US" smtClean="0"/>
              <a:pPr/>
              <a:t>‹#›</a:t>
            </a:fld>
            <a:endParaRPr lang="en-US"/>
          </a:p>
        </p:txBody>
      </p:sp>
      <p:pic>
        <p:nvPicPr>
          <p:cNvPr id="6" name="Picture 5">
            <a:extLst>
              <a:ext uri="{FF2B5EF4-FFF2-40B4-BE49-F238E27FC236}">
                <a16:creationId xmlns:a16="http://schemas.microsoft.com/office/drawing/2014/main" id="{739D85A4-0845-BB4B-A1E7-C780728A20FC}"/>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7" name="Picture 6">
            <a:extLst>
              <a:ext uri="{FF2B5EF4-FFF2-40B4-BE49-F238E27FC236}">
                <a16:creationId xmlns:a16="http://schemas.microsoft.com/office/drawing/2014/main" id="{DB3B5367-47DD-8747-9D2F-1F1959369025}"/>
              </a:ext>
            </a:extLst>
          </p:cNvPr>
          <p:cNvPicPr>
            <a:picLocks noChangeAspect="1"/>
          </p:cNvPicPr>
          <p:nvPr userDrawn="1"/>
        </p:nvPicPr>
        <p:blipFill>
          <a:blip r:embed="rId3">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18425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EC4A4-C438-1440-90F8-B7184BF7E717}"/>
              </a:ext>
            </a:extLst>
          </p:cNvPr>
          <p:cNvSpPr>
            <a:spLocks noGrp="1"/>
          </p:cNvSpPr>
          <p:nvPr>
            <p:ph type="dt" sz="half" idx="10"/>
          </p:nvPr>
        </p:nvSpPr>
        <p:spPr/>
        <p:txBody>
          <a:bodyPr/>
          <a:lstStyle/>
          <a:p>
            <a:fld id="{EF3CDC91-E022-1D4D-9256-A5140D3F2EA2}" type="datetime1">
              <a:rPr lang="en-US" smtClean="0"/>
              <a:t>9/4/26</a:t>
            </a:fld>
            <a:endParaRPr lang="en-US"/>
          </a:p>
        </p:txBody>
      </p:sp>
      <p:sp>
        <p:nvSpPr>
          <p:cNvPr id="3" name="Footer Placeholder 2">
            <a:extLst>
              <a:ext uri="{FF2B5EF4-FFF2-40B4-BE49-F238E27FC236}">
                <a16:creationId xmlns:a16="http://schemas.microsoft.com/office/drawing/2014/main" id="{6DCE2C64-B28C-7345-B51A-24E960389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FA2F-918F-1F42-B0AE-E302BEBE934B}"/>
              </a:ext>
            </a:extLst>
          </p:cNvPr>
          <p:cNvSpPr>
            <a:spLocks noGrp="1"/>
          </p:cNvSpPr>
          <p:nvPr>
            <p:ph type="sldNum" sz="quarter" idx="12"/>
          </p:nvPr>
        </p:nvSpPr>
        <p:spPr/>
        <p:txBody>
          <a:bodyPr/>
          <a:lstStyle/>
          <a:p>
            <a:fld id="{591A223C-FA10-BC46-A853-03BA373D023C}" type="slidenum">
              <a:rPr lang="en-US" smtClean="0"/>
              <a:t>‹#›</a:t>
            </a:fld>
            <a:endParaRPr lang="en-US"/>
          </a:p>
        </p:txBody>
      </p:sp>
      <p:pic>
        <p:nvPicPr>
          <p:cNvPr id="5" name="Picture 4">
            <a:extLst>
              <a:ext uri="{FF2B5EF4-FFF2-40B4-BE49-F238E27FC236}">
                <a16:creationId xmlns:a16="http://schemas.microsoft.com/office/drawing/2014/main" id="{F5D11E2A-0136-AA4C-8EDB-4948B42AC1BB}"/>
              </a:ext>
            </a:extLst>
          </p:cNvPr>
          <p:cNvPicPr>
            <a:picLocks noChangeAspect="1"/>
          </p:cNvPicPr>
          <p:nvPr userDrawn="1"/>
        </p:nvPicPr>
        <p:blipFill>
          <a:blip r:embed="rId2">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3743636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40A5-589B-1341-A678-0A459F7E8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B40E1-21E4-9045-A9A4-3429D7316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75D2E-7C69-5C4D-9A6E-CC4654B47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4A6CC8-26C5-7448-ADC5-2749D941F84E}"/>
              </a:ext>
            </a:extLst>
          </p:cNvPr>
          <p:cNvSpPr>
            <a:spLocks noGrp="1"/>
          </p:cNvSpPr>
          <p:nvPr>
            <p:ph type="dt" sz="half" idx="10"/>
          </p:nvPr>
        </p:nvSpPr>
        <p:spPr/>
        <p:txBody>
          <a:bodyPr/>
          <a:lstStyle/>
          <a:p>
            <a:fld id="{67A6211D-AE56-974B-984B-C110E12B29A2}" type="datetime1">
              <a:rPr lang="en-US" smtClean="0"/>
              <a:t>9/4/26</a:t>
            </a:fld>
            <a:endParaRPr lang="en-US"/>
          </a:p>
        </p:txBody>
      </p:sp>
      <p:sp>
        <p:nvSpPr>
          <p:cNvPr id="6" name="Footer Placeholder 5">
            <a:extLst>
              <a:ext uri="{FF2B5EF4-FFF2-40B4-BE49-F238E27FC236}">
                <a16:creationId xmlns:a16="http://schemas.microsoft.com/office/drawing/2014/main" id="{5AADDA07-5AA1-B34C-B309-62DD4C1D43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378A32-B7C4-F842-87A7-D1CD1758A2A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64453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7726-1F76-544A-8680-3C1AB544B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8CB2FB-2F4A-A74A-A759-A58010D3D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D38E96-E545-AC4A-8D98-95FD19B67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9DA82-266B-CC41-B1D2-F7AA15C5075D}"/>
              </a:ext>
            </a:extLst>
          </p:cNvPr>
          <p:cNvSpPr>
            <a:spLocks noGrp="1"/>
          </p:cNvSpPr>
          <p:nvPr>
            <p:ph type="dt" sz="half" idx="10"/>
          </p:nvPr>
        </p:nvSpPr>
        <p:spPr/>
        <p:txBody>
          <a:bodyPr/>
          <a:lstStyle/>
          <a:p>
            <a:fld id="{AE5A7FFF-10B1-4343-8D17-406DC86E5FAA}" type="datetime1">
              <a:rPr lang="en-US" smtClean="0"/>
              <a:t>9/4/26</a:t>
            </a:fld>
            <a:endParaRPr lang="en-US"/>
          </a:p>
        </p:txBody>
      </p:sp>
      <p:sp>
        <p:nvSpPr>
          <p:cNvPr id="6" name="Footer Placeholder 5">
            <a:extLst>
              <a:ext uri="{FF2B5EF4-FFF2-40B4-BE49-F238E27FC236}">
                <a16:creationId xmlns:a16="http://schemas.microsoft.com/office/drawing/2014/main" id="{4C5952A7-DE1B-CD46-B203-BA6A17F7F3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A02E3-794B-DA46-8CF3-5708E566E7B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296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5BAA-57A4-C143-ABF5-35ABB2AF44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E9F01E-C4CF-6A43-99EC-53F5681F6D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413C5E-E003-A247-9E6F-436CAA7B14F4}"/>
              </a:ext>
            </a:extLst>
          </p:cNvPr>
          <p:cNvSpPr>
            <a:spLocks noGrp="1"/>
          </p:cNvSpPr>
          <p:nvPr>
            <p:ph type="dt" sz="half" idx="10"/>
          </p:nvPr>
        </p:nvSpPr>
        <p:spPr/>
        <p:txBody>
          <a:bodyPr/>
          <a:lstStyle/>
          <a:p>
            <a:fld id="{DF3C6696-8618-644E-B4E1-FA4689759F24}" type="datetime1">
              <a:rPr lang="en-US" smtClean="0"/>
              <a:t>9/4/26</a:t>
            </a:fld>
            <a:endParaRPr lang="en-US"/>
          </a:p>
        </p:txBody>
      </p:sp>
      <p:sp>
        <p:nvSpPr>
          <p:cNvPr id="5" name="Footer Placeholder 4">
            <a:extLst>
              <a:ext uri="{FF2B5EF4-FFF2-40B4-BE49-F238E27FC236}">
                <a16:creationId xmlns:a16="http://schemas.microsoft.com/office/drawing/2014/main" id="{27380A45-DDA9-4C4B-830C-9D0D28927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086D7-D0B1-6F43-A1F7-4D436CC2BE0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065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AA87F1-769D-CC47-ABF4-393B691AD5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6D245-448B-7B4E-9643-1A0962794C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926CF-5171-4D44-9CE6-7B7960534FE4}"/>
              </a:ext>
            </a:extLst>
          </p:cNvPr>
          <p:cNvSpPr>
            <a:spLocks noGrp="1"/>
          </p:cNvSpPr>
          <p:nvPr>
            <p:ph type="dt" sz="half" idx="10"/>
          </p:nvPr>
        </p:nvSpPr>
        <p:spPr/>
        <p:txBody>
          <a:bodyPr/>
          <a:lstStyle/>
          <a:p>
            <a:fld id="{D4DB5934-BE72-FB4C-902A-D10164A603D2}" type="datetime1">
              <a:rPr lang="en-US" smtClean="0"/>
              <a:t>9/4/26</a:t>
            </a:fld>
            <a:endParaRPr lang="en-US"/>
          </a:p>
        </p:txBody>
      </p:sp>
      <p:sp>
        <p:nvSpPr>
          <p:cNvPr id="5" name="Footer Placeholder 4">
            <a:extLst>
              <a:ext uri="{FF2B5EF4-FFF2-40B4-BE49-F238E27FC236}">
                <a16:creationId xmlns:a16="http://schemas.microsoft.com/office/drawing/2014/main" id="{79ED5D8F-44E4-964B-BE01-CF913802E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266BE-E226-064D-8963-7A1D7859CC52}"/>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3492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ldMathBox">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2192000" cy="928688"/>
          </a:xfrm>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a:t>
            </a:fld>
            <a:endParaRPr lang="en-US"/>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2" name="Rounded Rectangle 1">
            <a:extLst>
              <a:ext uri="{FF2B5EF4-FFF2-40B4-BE49-F238E27FC236}">
                <a16:creationId xmlns:a16="http://schemas.microsoft.com/office/drawing/2014/main" id="{87EDEA9E-CC9F-D844-A9C8-5F5279A644DD}"/>
              </a:ext>
            </a:extLst>
          </p:cNvPr>
          <p:cNvSpPr/>
          <p:nvPr userDrawn="1"/>
        </p:nvSpPr>
        <p:spPr>
          <a:xfrm>
            <a:off x="0" y="928688"/>
            <a:ext cx="12192000" cy="5929312"/>
          </a:xfrm>
          <a:prstGeom prst="roundRect">
            <a:avLst>
              <a:gd name="adj" fmla="val 3550"/>
            </a:avLst>
          </a:prstGeom>
          <a:noFill/>
          <a:ln w="508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8C2906A7-A8EA-B04A-894C-1B7ACB284541}"/>
              </a:ext>
            </a:extLst>
          </p:cNvPr>
          <p:cNvSpPr/>
          <p:nvPr userDrawn="1"/>
        </p:nvSpPr>
        <p:spPr>
          <a:xfrm>
            <a:off x="10603707" y="0"/>
            <a:ext cx="1588293" cy="46166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MathBox</a:t>
            </a:r>
            <a:endParaRPr lang="en-US" sz="2400" dirty="0">
              <a:solidFill>
                <a:schemeClr val="tx1"/>
              </a:solidFill>
            </a:endParaRPr>
          </a:p>
        </p:txBody>
      </p:sp>
    </p:spTree>
    <p:extLst>
      <p:ext uri="{BB962C8B-B14F-4D97-AF65-F5344CB8AC3E}">
        <p14:creationId xmlns:p14="http://schemas.microsoft.com/office/powerpoint/2010/main" val="506271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MathBox">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1103429" cy="928688"/>
          </a:xfrm>
          <a:gradFill flip="none" rotWithShape="1">
            <a:gsLst>
              <a:gs pos="8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a:t>
            </a:fld>
            <a:endParaRPr lang="en-US"/>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2" name="Rounded Rectangle 1">
            <a:extLst>
              <a:ext uri="{FF2B5EF4-FFF2-40B4-BE49-F238E27FC236}">
                <a16:creationId xmlns:a16="http://schemas.microsoft.com/office/drawing/2014/main" id="{87EDEA9E-CC9F-D844-A9C8-5F5279A644DD}"/>
              </a:ext>
            </a:extLst>
          </p:cNvPr>
          <p:cNvSpPr/>
          <p:nvPr userDrawn="1"/>
        </p:nvSpPr>
        <p:spPr>
          <a:xfrm>
            <a:off x="0" y="928688"/>
            <a:ext cx="12192000" cy="5929312"/>
          </a:xfrm>
          <a:prstGeom prst="roundRect">
            <a:avLst>
              <a:gd name="adj" fmla="val 3550"/>
            </a:avLst>
          </a:prstGeom>
          <a:noFill/>
          <a:ln w="5080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50B9F3F-AB52-DA4F-B1B7-9B0467277E6D}"/>
              </a:ext>
            </a:extLst>
          </p:cNvPr>
          <p:cNvPicPr>
            <a:picLocks noChangeAspect="1"/>
          </p:cNvPicPr>
          <p:nvPr userDrawn="1"/>
        </p:nvPicPr>
        <p:blipFill>
          <a:blip r:embed="rId3"/>
          <a:stretch>
            <a:fillRect/>
          </a:stretch>
        </p:blipFill>
        <p:spPr>
          <a:xfrm>
            <a:off x="11222468" y="111279"/>
            <a:ext cx="675746" cy="675746"/>
          </a:xfrm>
          <a:prstGeom prst="rect">
            <a:avLst/>
          </a:prstGeom>
        </p:spPr>
      </p:pic>
    </p:spTree>
    <p:extLst>
      <p:ext uri="{BB962C8B-B14F-4D97-AF65-F5344CB8AC3E}">
        <p14:creationId xmlns:p14="http://schemas.microsoft.com/office/powerpoint/2010/main" val="382567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A8E703-F9A8-0441-A9C1-970176EA14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D3E870-AE9A-814D-8F1C-424E01F6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CDA625-67E6-FC41-AE05-BDF6D62186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5C081-EA16-A444-838F-7A9CF60C5F71}" type="datetime1">
              <a:rPr lang="en-US" smtClean="0"/>
              <a:t>9/4/26</a:t>
            </a:fld>
            <a:endParaRPr lang="en-US"/>
          </a:p>
        </p:txBody>
      </p:sp>
      <p:sp>
        <p:nvSpPr>
          <p:cNvPr id="5" name="Footer Placeholder 4">
            <a:extLst>
              <a:ext uri="{FF2B5EF4-FFF2-40B4-BE49-F238E27FC236}">
                <a16:creationId xmlns:a16="http://schemas.microsoft.com/office/drawing/2014/main" id="{C2CC2541-8D10-844A-AACF-A9080B4FC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ED89E2-F822-BE4F-A114-8B2AC36CD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A223C-FA10-BC46-A853-03BA373D023C}" type="slidenum">
              <a:rPr lang="en-US" smtClean="0"/>
              <a:t>‹#›</a:t>
            </a:fld>
            <a:endParaRPr lang="en-US"/>
          </a:p>
        </p:txBody>
      </p:sp>
    </p:spTree>
    <p:extLst>
      <p:ext uri="{BB962C8B-B14F-4D97-AF65-F5344CB8AC3E}">
        <p14:creationId xmlns:p14="http://schemas.microsoft.com/office/powerpoint/2010/main" val="4111587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11.png"/><Relationship Id="rId5" Type="http://schemas.openxmlformats.org/officeDocument/2006/relationships/image" Target="../media/image7.png"/><Relationship Id="rId4" Type="http://schemas.openxmlformats.org/officeDocument/2006/relationships/image" Target="../media/image912.png"/></Relationships>
</file>

<file path=ppt/slides/_rels/slide5.xml.rels><?xml version="1.0" encoding="UTF-8" standalone="yes"?>
<Relationships xmlns="http://schemas.openxmlformats.org/package/2006/relationships"><Relationship Id="rId3" Type="http://schemas.openxmlformats.org/officeDocument/2006/relationships/image" Target="../media/image9.tiff"/><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2.tiff"/><Relationship Id="rId5" Type="http://schemas.openxmlformats.org/officeDocument/2006/relationships/image" Target="../media/image11.tiff"/><Relationship Id="rId4" Type="http://schemas.openxmlformats.org/officeDocument/2006/relationships/image" Target="../media/image10.tiff"/></Relationships>
</file>

<file path=ppt/slides/_rels/slide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5.tiff"/><Relationship Id="rId5" Type="http://schemas.openxmlformats.org/officeDocument/2006/relationships/image" Target="../media/image221.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0.png"/><Relationship Id="rId9"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23.emf"/></Relationships>
</file>

<file path=ppt/slides/_rels/slide13.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24.emf"/></Relationships>
</file>

<file path=ppt/slides/_rels/slide14.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311.png"/><Relationship Id="rId5" Type="http://schemas.openxmlformats.org/officeDocument/2006/relationships/image" Target="../media/image2900.png"/><Relationship Id="rId4" Type="http://schemas.openxmlformats.org/officeDocument/2006/relationships/image" Target="../media/image283.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401.png"/><Relationship Id="rId13" Type="http://schemas.openxmlformats.org/officeDocument/2006/relationships/image" Target="../media/image50.png"/><Relationship Id="rId7" Type="http://schemas.openxmlformats.org/officeDocument/2006/relationships/image" Target="../media/image391.png"/><Relationship Id="rId12" Type="http://schemas.openxmlformats.org/officeDocument/2006/relationships/image" Target="../media/image432.png"/><Relationship Id="rId2" Type="http://schemas.openxmlformats.org/officeDocument/2006/relationships/notesSlide" Target="../notesSlides/notesSlide18.xml"/><Relationship Id="rId16" Type="http://schemas.openxmlformats.org/officeDocument/2006/relationships/image" Target="../media/image53.png"/><Relationship Id="rId1" Type="http://schemas.openxmlformats.org/officeDocument/2006/relationships/slideLayout" Target="../slideLayouts/slideLayout6.xml"/><Relationship Id="rId15" Type="http://schemas.openxmlformats.org/officeDocument/2006/relationships/image" Target="../media/image52.png"/><Relationship Id="rId10" Type="http://schemas.openxmlformats.org/officeDocument/2006/relationships/image" Target="../media/image422.png"/><Relationship Id="rId9" Type="http://schemas.openxmlformats.org/officeDocument/2006/relationships/image" Target="../media/image411.png"/><Relationship Id="rId1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41.png"/><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58.png"/><Relationship Id="rId4" Type="http://schemas.openxmlformats.org/officeDocument/2006/relationships/image" Target="../media/image49.svg"/></Relationships>
</file>

<file path=ppt/slides/_rels/slide22.xml.rels><?xml version="1.0" encoding="UTF-8" standalone="yes"?>
<Relationships xmlns="http://schemas.openxmlformats.org/package/2006/relationships"><Relationship Id="rId8" Type="http://schemas.openxmlformats.org/officeDocument/2006/relationships/image" Target="../media/image552.png"/><Relationship Id="rId3" Type="http://schemas.openxmlformats.org/officeDocument/2006/relationships/image" Target="../media/image62.png"/><Relationship Id="rId7" Type="http://schemas.openxmlformats.org/officeDocument/2006/relationships/image" Target="../media/image63.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440.png"/><Relationship Id="rId11" Type="http://schemas.openxmlformats.org/officeDocument/2006/relationships/image" Target="../media/image562.png"/><Relationship Id="rId5" Type="http://schemas.openxmlformats.org/officeDocument/2006/relationships/image" Target="../media/image4301.png"/><Relationship Id="rId15" Type="http://schemas.openxmlformats.org/officeDocument/2006/relationships/image" Target="../media/image500.png"/><Relationship Id="rId10" Type="http://schemas.openxmlformats.org/officeDocument/2006/relationships/image" Target="../media/image65.png"/><Relationship Id="rId4" Type="http://schemas.openxmlformats.org/officeDocument/2006/relationships/image" Target="../media/image4201.png"/><Relationship Id="rId9" Type="http://schemas.openxmlformats.org/officeDocument/2006/relationships/image" Target="../media/image64.png"/><Relationship Id="rId14" Type="http://schemas.openxmlformats.org/officeDocument/2006/relationships/image" Target="../media/image591.png"/></Relationships>
</file>

<file path=ppt/slides/_rels/slide23.xml.rels><?xml version="1.0" encoding="UTF-8" standalone="yes"?>
<Relationships xmlns="http://schemas.openxmlformats.org/package/2006/relationships"><Relationship Id="rId8" Type="http://schemas.openxmlformats.org/officeDocument/2006/relationships/image" Target="../media/image500.png"/><Relationship Id="rId13" Type="http://schemas.openxmlformats.org/officeDocument/2006/relationships/image" Target="../media/image540.png"/><Relationship Id="rId3" Type="http://schemas.openxmlformats.org/officeDocument/2006/relationships/image" Target="../media/image520.png"/><Relationship Id="rId7" Type="http://schemas.openxmlformats.org/officeDocument/2006/relationships/image" Target="../media/image4500.png"/><Relationship Id="rId12" Type="http://schemas.openxmlformats.org/officeDocument/2006/relationships/image" Target="../media/image561.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4400.png"/><Relationship Id="rId11" Type="http://schemas.openxmlformats.org/officeDocument/2006/relationships/image" Target="../media/image551.png"/><Relationship Id="rId5" Type="http://schemas.openxmlformats.org/officeDocument/2006/relationships/image" Target="../media/image4300.png"/><Relationship Id="rId10" Type="http://schemas.openxmlformats.org/officeDocument/2006/relationships/image" Target="../media/image480.png"/><Relationship Id="rId4" Type="http://schemas.openxmlformats.org/officeDocument/2006/relationships/image" Target="../media/image4200.png"/><Relationship Id="rId9" Type="http://schemas.openxmlformats.org/officeDocument/2006/relationships/image" Target="../media/image541.png"/></Relationships>
</file>

<file path=ppt/slides/_rels/slide24.xml.rels><?xml version="1.0" encoding="UTF-8" standalone="yes"?>
<Relationships xmlns="http://schemas.openxmlformats.org/package/2006/relationships"><Relationship Id="rId8" Type="http://schemas.openxmlformats.org/officeDocument/2006/relationships/image" Target="../media/image530.png"/><Relationship Id="rId13" Type="http://schemas.openxmlformats.org/officeDocument/2006/relationships/image" Target="../media/image4300.png"/><Relationship Id="rId18" Type="http://schemas.openxmlformats.org/officeDocument/2006/relationships/image" Target="../media/image600.png"/><Relationship Id="rId3" Type="http://schemas.openxmlformats.org/officeDocument/2006/relationships/image" Target="../media/image4500.png"/><Relationship Id="rId7" Type="http://schemas.openxmlformats.org/officeDocument/2006/relationships/image" Target="../media/image490.png"/><Relationship Id="rId12" Type="http://schemas.openxmlformats.org/officeDocument/2006/relationships/image" Target="../media/image4200.png"/><Relationship Id="rId17" Type="http://schemas.openxmlformats.org/officeDocument/2006/relationships/image" Target="../media/image590.png"/><Relationship Id="rId2" Type="http://schemas.openxmlformats.org/officeDocument/2006/relationships/notesSlide" Target="../notesSlides/notesSlide24.xml"/><Relationship Id="rId16" Type="http://schemas.openxmlformats.org/officeDocument/2006/relationships/image" Target="../media/image66.png"/><Relationship Id="rId1" Type="http://schemas.openxmlformats.org/officeDocument/2006/relationships/slideLayout" Target="../slideLayouts/slideLayout6.xml"/><Relationship Id="rId6" Type="http://schemas.openxmlformats.org/officeDocument/2006/relationships/image" Target="../media/image480.png"/><Relationship Id="rId11" Type="http://schemas.openxmlformats.org/officeDocument/2006/relationships/image" Target="../media/image62.png"/><Relationship Id="rId5" Type="http://schemas.openxmlformats.org/officeDocument/2006/relationships/image" Target="../media/image4700.png"/><Relationship Id="rId15" Type="http://schemas.openxmlformats.org/officeDocument/2006/relationships/image" Target="../media/image570.png"/><Relationship Id="rId10" Type="http://schemas.openxmlformats.org/officeDocument/2006/relationships/image" Target="../media/image5500.png"/><Relationship Id="rId4" Type="http://schemas.openxmlformats.org/officeDocument/2006/relationships/image" Target="../media/image4600.png"/><Relationship Id="rId9" Type="http://schemas.openxmlformats.org/officeDocument/2006/relationships/image" Target="../media/image540.png"/><Relationship Id="rId14" Type="http://schemas.openxmlformats.org/officeDocument/2006/relationships/image" Target="../media/image560.png"/></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59.emf"/><Relationship Id="rId5" Type="http://schemas.openxmlformats.org/officeDocument/2006/relationships/image" Target="../media/image610.png"/><Relationship Id="rId4" Type="http://schemas.openxmlformats.org/officeDocument/2006/relationships/image" Target="../media/image820.png"/></Relationships>
</file>

<file path=ppt/slides/_rels/slide26.xml.rels><?xml version="1.0" encoding="UTF-8" standalone="yes"?>
<Relationships xmlns="http://schemas.openxmlformats.org/package/2006/relationships"><Relationship Id="rId8" Type="http://schemas.openxmlformats.org/officeDocument/2006/relationships/image" Target="../media/image410.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72.png"/><Relationship Id="rId11" Type="http://schemas.openxmlformats.org/officeDocument/2006/relationships/image" Target="../media/image68.png"/><Relationship Id="rId5" Type="http://schemas.openxmlformats.org/officeDocument/2006/relationships/image" Target="../media/image71.png"/><Relationship Id="rId10" Type="http://schemas.openxmlformats.org/officeDocument/2006/relationships/image" Target="../media/image61.png"/><Relationship Id="rId4" Type="http://schemas.openxmlformats.org/officeDocument/2006/relationships/image" Target="../media/image70.png"/><Relationship Id="rId9" Type="http://schemas.openxmlformats.org/officeDocument/2006/relationships/image" Target="../media/image60.png"/></Relationships>
</file>

<file path=ppt/slides/_rels/slide27.xml.rels><?xml version="1.0" encoding="UTF-8" standalone="yes"?>
<Relationships xmlns="http://schemas.openxmlformats.org/package/2006/relationships"><Relationship Id="rId8" Type="http://schemas.openxmlformats.org/officeDocument/2006/relationships/image" Target="../media/image650.png"/><Relationship Id="rId3" Type="http://schemas.openxmlformats.org/officeDocument/2006/relationships/image" Target="../media/image631.png"/><Relationship Id="rId7" Type="http://schemas.openxmlformats.org/officeDocument/2006/relationships/image" Target="../media/image641.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620.png"/><Relationship Id="rId5" Type="http://schemas.openxmlformats.org/officeDocument/2006/relationships/image" Target="../media/image601.png"/><Relationship Id="rId4" Type="http://schemas.openxmlformats.org/officeDocument/2006/relationships/image" Target="../media/image74.png"/><Relationship Id="rId9" Type="http://schemas.openxmlformats.org/officeDocument/2006/relationships/image" Target="../media/image660.png"/></Relationships>
</file>

<file path=ppt/slides/_rels/slide28.xml.rels><?xml version="1.0" encoding="UTF-8" standalone="yes"?>
<Relationships xmlns="http://schemas.openxmlformats.org/package/2006/relationships"><Relationship Id="rId3" Type="http://schemas.openxmlformats.org/officeDocument/2006/relationships/image" Target="../media/image75.tiff"/><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76.tiff"/><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image" Target="../media/image890.png"/><Relationship Id="rId4" Type="http://schemas.openxmlformats.org/officeDocument/2006/relationships/image" Target="../media/image880.png"/></Relationships>
</file>

<file path=ppt/slides/_rels/slide30.xml.rels><?xml version="1.0" encoding="UTF-8" standalone="yes"?>
<Relationships xmlns="http://schemas.openxmlformats.org/package/2006/relationships"><Relationship Id="rId3" Type="http://schemas.openxmlformats.org/officeDocument/2006/relationships/image" Target="../media/image77.tiff"/><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78.tiff"/><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690.png"/><Relationship Id="rId5" Type="http://schemas.openxmlformats.org/officeDocument/2006/relationships/image" Target="../media/image84.png"/><Relationship Id="rId4" Type="http://schemas.openxmlformats.org/officeDocument/2006/relationships/image" Target="../media/image79.tiff"/></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81.png"/></Relationships>
</file>

<file path=ppt/slides/_rels/slide34.xml.rels><?xml version="1.0" encoding="UTF-8" standalone="yes"?>
<Relationships xmlns="http://schemas.openxmlformats.org/package/2006/relationships"><Relationship Id="rId3" Type="http://schemas.openxmlformats.org/officeDocument/2006/relationships/image" Target="../media/image781.png"/><Relationship Id="rId2" Type="http://schemas.openxmlformats.org/officeDocument/2006/relationships/notesSlide" Target="../notesSlides/notesSlide34.xml"/><Relationship Id="rId1" Type="http://schemas.openxmlformats.org/officeDocument/2006/relationships/slideLayout" Target="../slideLayouts/slideLayout13.xml"/><Relationship Id="rId5" Type="http://schemas.openxmlformats.org/officeDocument/2006/relationships/image" Target="../media/image87.png"/><Relationship Id="rId4" Type="http://schemas.openxmlformats.org/officeDocument/2006/relationships/image" Target="../media/image81.tiff"/></Relationships>
</file>

<file path=ppt/slides/_rels/slide3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90.png"/><Relationship Id="rId5" Type="http://schemas.openxmlformats.org/officeDocument/2006/relationships/image" Target="../media/image902.png"/><Relationship Id="rId4" Type="http://schemas.openxmlformats.org/officeDocument/2006/relationships/image" Target="../media/image89.png"/></Relationships>
</file>

<file path=ppt/slides/_rels/slide36.xml.rels><?xml version="1.0" encoding="UTF-8" standalone="yes"?>
<Relationships xmlns="http://schemas.openxmlformats.org/package/2006/relationships"><Relationship Id="rId8" Type="http://schemas.openxmlformats.org/officeDocument/2006/relationships/image" Target="../media/image640.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diagramColors" Target="../diagrams/colors3.xml"/><Relationship Id="rId11" Type="http://schemas.openxmlformats.org/officeDocument/2006/relationships/image" Target="../media/image91.png"/><Relationship Id="rId5" Type="http://schemas.openxmlformats.org/officeDocument/2006/relationships/diagramQuickStyle" Target="../diagrams/quickStyle3.xml"/><Relationship Id="rId10" Type="http://schemas.openxmlformats.org/officeDocument/2006/relationships/image" Target="../media/image680.png"/><Relationship Id="rId4" Type="http://schemas.openxmlformats.org/officeDocument/2006/relationships/diagramLayout" Target="../diagrams/layout3.xml"/><Relationship Id="rId9" Type="http://schemas.openxmlformats.org/officeDocument/2006/relationships/image" Target="../media/image670.png"/></Relationships>
</file>

<file path=ppt/slides/_rels/slide37.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diagramColors" Target="../diagrams/colors4.xml"/><Relationship Id="rId11" Type="http://schemas.openxmlformats.org/officeDocument/2006/relationships/diagramColors" Target="../diagrams/colors4.xml"/><Relationship Id="rId5" Type="http://schemas.openxmlformats.org/officeDocument/2006/relationships/diagramQuickStyle" Target="../diagrams/quickStyle4.xml"/><Relationship Id="rId10"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diagramLayout" Target="../diagrams/layout4.xml"/></Relationships>
</file>

<file path=ppt/slides/_rels/slide38.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740.png"/><Relationship Id="rId7" Type="http://schemas.openxmlformats.org/officeDocument/2006/relationships/image" Target="../media/image98.png"/><Relationship Id="rId2" Type="http://schemas.openxmlformats.org/officeDocument/2006/relationships/notesSlide" Target="../notesSlides/notesSlide38.xml"/><Relationship Id="rId1" Type="http://schemas.openxmlformats.org/officeDocument/2006/relationships/slideLayout" Target="../slideLayouts/slideLayout6.xml"/><Relationship Id="rId6" Type="http://schemas.openxmlformats.org/officeDocument/2006/relationships/image" Target="../media/image92.png"/><Relationship Id="rId5" Type="http://schemas.openxmlformats.org/officeDocument/2006/relationships/image" Target="../media/image79.png"/></Relationships>
</file>

<file path=ppt/slides/_rels/slide39.xml.rels><?xml version="1.0" encoding="UTF-8" standalone="yes"?>
<Relationships xmlns="http://schemas.openxmlformats.org/package/2006/relationships"><Relationship Id="rId8" Type="http://schemas.microsoft.com/office/2007/relationships/diagramDrawing" Target="../diagrams/drawing5.xml"/><Relationship Id="rId13" Type="http://schemas.openxmlformats.org/officeDocument/2006/relationships/image" Target="../media/image82.png"/><Relationship Id="rId3" Type="http://schemas.openxmlformats.org/officeDocument/2006/relationships/image" Target="../media/image99.png"/><Relationship Id="rId7" Type="http://schemas.openxmlformats.org/officeDocument/2006/relationships/diagramColors" Target="../diagrams/colors5.xml"/><Relationship Id="rId12" Type="http://schemas.openxmlformats.org/officeDocument/2006/relationships/diagramColors" Target="../diagrams/colors5.xml"/><Relationship Id="rId17" Type="http://schemas.openxmlformats.org/officeDocument/2006/relationships/image" Target="../media/image810.png"/><Relationship Id="rId2" Type="http://schemas.openxmlformats.org/officeDocument/2006/relationships/notesSlide" Target="../notesSlides/notesSlide39.xml"/><Relationship Id="rId16" Type="http://schemas.openxmlformats.org/officeDocument/2006/relationships/image" Target="NULL"/><Relationship Id="rId1" Type="http://schemas.openxmlformats.org/officeDocument/2006/relationships/slideLayout" Target="../slideLayouts/slideLayout6.xml"/><Relationship Id="rId6" Type="http://schemas.openxmlformats.org/officeDocument/2006/relationships/diagramQuickStyle" Target="../diagrams/quickStyle5.xml"/><Relationship Id="rId11" Type="http://schemas.openxmlformats.org/officeDocument/2006/relationships/diagramQuickStyle" Target="../diagrams/quickStyle5.xml"/><Relationship Id="rId5" Type="http://schemas.openxmlformats.org/officeDocument/2006/relationships/diagramLayout" Target="../diagrams/layout5.xml"/><Relationship Id="rId15" Type="http://schemas.openxmlformats.org/officeDocument/2006/relationships/image" Target="NULL"/><Relationship Id="rId10" Type="http://schemas.openxmlformats.org/officeDocument/2006/relationships/diagramLayout" Target="../diagrams/layout5.xml"/><Relationship Id="rId4" Type="http://schemas.openxmlformats.org/officeDocument/2006/relationships/diagramData" Target="../diagrams/data6.xml"/><Relationship Id="rId9" Type="http://schemas.openxmlformats.org/officeDocument/2006/relationships/diagramData" Target="../diagrams/data7.xml"/></Relationships>
</file>

<file path=ppt/slides/_rels/slide40.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62.png"/><Relationship Id="rId7" Type="http://schemas.openxmlformats.org/officeDocument/2006/relationships/image" Target="NULL"/><Relationship Id="rId2" Type="http://schemas.openxmlformats.org/officeDocument/2006/relationships/notesSlide" Target="../notesSlides/notesSlide40.xml"/><Relationship Id="rId1" Type="http://schemas.openxmlformats.org/officeDocument/2006/relationships/slideLayout" Target="../slideLayouts/slideLayout6.xml"/><Relationship Id="rId5" Type="http://schemas.openxmlformats.org/officeDocument/2006/relationships/image" Target="../media/image830.png"/><Relationship Id="rId4" Type="http://schemas.openxmlformats.org/officeDocument/2006/relationships/image" Target="../media/image821.png"/><Relationship Id="rId9" Type="http://schemas.openxmlformats.org/officeDocument/2006/relationships/image" Target="../media/image850.png"/></Relationships>
</file>

<file path=ppt/slides/_rels/slide41.xml.rels><?xml version="1.0" encoding="UTF-8" standalone="yes"?>
<Relationships xmlns="http://schemas.openxmlformats.org/package/2006/relationships"><Relationship Id="rId3" Type="http://schemas.openxmlformats.org/officeDocument/2006/relationships/image" Target="../media/image860.png"/><Relationship Id="rId2" Type="http://schemas.openxmlformats.org/officeDocument/2006/relationships/notesSlide" Target="../notesSlides/notesSlide41.xml"/><Relationship Id="rId1" Type="http://schemas.openxmlformats.org/officeDocument/2006/relationships/slideLayout" Target="../slideLayouts/slideLayout6.xml"/><Relationship Id="rId6" Type="http://schemas.openxmlformats.org/officeDocument/2006/relationships/image" Target="../media/image105.png"/><Relationship Id="rId5" Type="http://schemas.openxmlformats.org/officeDocument/2006/relationships/image" Target="../media/image1030.png"/><Relationship Id="rId4" Type="http://schemas.openxmlformats.org/officeDocument/2006/relationships/image" Target="../media/image1021.png"/></Relationships>
</file>

<file path=ppt/slides/_rels/slide42.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43.xml.rels><?xml version="1.0" encoding="UTF-8" standalone="yes"?>
<Relationships xmlns="http://schemas.openxmlformats.org/package/2006/relationships"><Relationship Id="rId8" Type="http://schemas.openxmlformats.org/officeDocument/2006/relationships/image" Target="../media/image9600.png"/><Relationship Id="rId13" Type="http://schemas.openxmlformats.org/officeDocument/2006/relationships/image" Target="../media/image1011.png"/><Relationship Id="rId18" Type="http://schemas.openxmlformats.org/officeDocument/2006/relationships/image" Target="../media/image1051.png"/><Relationship Id="rId3" Type="http://schemas.openxmlformats.org/officeDocument/2006/relationships/image" Target="../media/image900.png"/><Relationship Id="rId7" Type="http://schemas.openxmlformats.org/officeDocument/2006/relationships/image" Target="../media/image9500.png"/><Relationship Id="rId12" Type="http://schemas.openxmlformats.org/officeDocument/2006/relationships/image" Target="../media/image1000.png"/><Relationship Id="rId17" Type="http://schemas.openxmlformats.org/officeDocument/2006/relationships/image" Target="../media/image1041.png"/><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941.png"/><Relationship Id="rId11" Type="http://schemas.openxmlformats.org/officeDocument/2006/relationships/image" Target="../media/image990.png"/><Relationship Id="rId5" Type="http://schemas.openxmlformats.org/officeDocument/2006/relationships/image" Target="../media/image931.png"/><Relationship Id="rId15" Type="http://schemas.openxmlformats.org/officeDocument/2006/relationships/image" Target="../media/image83.png"/><Relationship Id="rId10" Type="http://schemas.openxmlformats.org/officeDocument/2006/relationships/image" Target="../media/image9800.png"/><Relationship Id="rId19" Type="http://schemas.openxmlformats.org/officeDocument/2006/relationships/image" Target="../media/image1061.png"/><Relationship Id="rId4" Type="http://schemas.openxmlformats.org/officeDocument/2006/relationships/image" Target="../media/image921.png"/><Relationship Id="rId9" Type="http://schemas.openxmlformats.org/officeDocument/2006/relationships/image" Target="../media/image970.png"/><Relationship Id="rId14" Type="http://schemas.openxmlformats.org/officeDocument/2006/relationships/image" Target="../media/image95.png"/></Relationships>
</file>

<file path=ppt/slides/_rels/slide44.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media/image114.png"/><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media/image83.png"/><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media/image115.png"/></Relationships>
</file>

<file path=ppt/slides/_rels/slide45.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118.pn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117.png"/><Relationship Id="rId5" Type="http://schemas.openxmlformats.org/officeDocument/2006/relationships/image" Target="../media/image1081.png"/><Relationship Id="rId10" Type="http://schemas.openxmlformats.org/officeDocument/2006/relationships/image" Target="../media/image1091.png"/><Relationship Id="rId4" Type="http://schemas.openxmlformats.org/officeDocument/2006/relationships/image" Target="NULL"/><Relationship Id="rId9" Type="http://schemas.openxmlformats.org/officeDocument/2006/relationships/image" Target="NULL"/></Relationships>
</file>

<file path=ppt/slides/_rels/slide46.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85.png"/><Relationship Id="rId7" Type="http://schemas.openxmlformats.org/officeDocument/2006/relationships/image" Target="../media/image100.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121.png"/><Relationship Id="rId11" Type="http://schemas.openxmlformats.org/officeDocument/2006/relationships/image" Target="../media/image126.png"/><Relationship Id="rId5" Type="http://schemas.openxmlformats.org/officeDocument/2006/relationships/image" Target="../media/image12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s>
</file>

<file path=ppt/slides/_rels/slide47.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950.png"/><Relationship Id="rId3" Type="http://schemas.openxmlformats.org/officeDocument/2006/relationships/image" Target="../media/image85.png"/><Relationship Id="rId7" Type="http://schemas.openxmlformats.org/officeDocument/2006/relationships/image" Target="../media/image127.png"/><Relationship Id="rId12" Type="http://schemas.openxmlformats.org/officeDocument/2006/relationships/image" Target="../media/image132.pn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1121.png"/><Relationship Id="rId11" Type="http://schemas.openxmlformats.org/officeDocument/2006/relationships/image" Target="../media/image131.png"/><Relationship Id="rId5" Type="http://schemas.openxmlformats.org/officeDocument/2006/relationships/image" Target="NULL"/><Relationship Id="rId10" Type="http://schemas.openxmlformats.org/officeDocument/2006/relationships/image" Target="../media/image940.png"/><Relationship Id="rId4" Type="http://schemas.openxmlformats.org/officeDocument/2006/relationships/image" Target="../media/image1111.png"/><Relationship Id="rId9" Type="http://schemas.openxmlformats.org/officeDocument/2006/relationships/image" Target="../media/image129.png"/></Relationships>
</file>

<file path=ppt/slides/_rels/slide4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87.tiff"/><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95.tiff"/><Relationship Id="rId4" Type="http://schemas.openxmlformats.org/officeDocument/2006/relationships/image" Target="../media/image9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1</a:t>
            </a:fld>
            <a:endParaRPr lang="en-US"/>
          </a:p>
        </p:txBody>
      </p:sp>
      <p:sp>
        <p:nvSpPr>
          <p:cNvPr id="4" name="TextBox 3">
            <a:extLst>
              <a:ext uri="{FF2B5EF4-FFF2-40B4-BE49-F238E27FC236}">
                <a16:creationId xmlns:a16="http://schemas.microsoft.com/office/drawing/2014/main" id="{472519DD-9FFE-0047-9453-5A2889BD2B59}"/>
              </a:ext>
            </a:extLst>
          </p:cNvPr>
          <p:cNvSpPr txBox="1"/>
          <p:nvPr/>
        </p:nvSpPr>
        <p:spPr>
          <a:xfrm>
            <a:off x="0" y="678897"/>
            <a:ext cx="12191999" cy="1323439"/>
          </a:xfrm>
          <a:prstGeom prst="rect">
            <a:avLst/>
          </a:prstGeom>
          <a:noFill/>
        </p:spPr>
        <p:txBody>
          <a:bodyPr wrap="square" rtlCol="0">
            <a:spAutoFit/>
          </a:bodyPr>
          <a:lstStyle/>
          <a:p>
            <a:pPr algn="ctr"/>
            <a:r>
              <a:rPr lang="en-US" sz="8000" b="1" dirty="0">
                <a:solidFill>
                  <a:schemeClr val="bg1"/>
                </a:solidFill>
              </a:rPr>
              <a:t>Quantum Computing</a:t>
            </a:r>
          </a:p>
        </p:txBody>
      </p:sp>
      <p:sp>
        <p:nvSpPr>
          <p:cNvPr id="7" name="TextBox 6">
            <a:extLst>
              <a:ext uri="{FF2B5EF4-FFF2-40B4-BE49-F238E27FC236}">
                <a16:creationId xmlns:a16="http://schemas.microsoft.com/office/drawing/2014/main" id="{A0F6B325-DEAC-4545-AAF3-69D416F3EC54}"/>
              </a:ext>
            </a:extLst>
          </p:cNvPr>
          <p:cNvSpPr txBox="1"/>
          <p:nvPr/>
        </p:nvSpPr>
        <p:spPr>
          <a:xfrm>
            <a:off x="0" y="2749694"/>
            <a:ext cx="12192000" cy="1015663"/>
          </a:xfrm>
          <a:prstGeom prst="rect">
            <a:avLst/>
          </a:prstGeom>
          <a:noFill/>
        </p:spPr>
        <p:txBody>
          <a:bodyPr wrap="square" rtlCol="0">
            <a:spAutoFit/>
          </a:bodyPr>
          <a:lstStyle/>
          <a:p>
            <a:pPr algn="ctr"/>
            <a:r>
              <a:rPr lang="en-US" sz="6000" b="1" dirty="0">
                <a:solidFill>
                  <a:schemeClr val="bg1"/>
                </a:solidFill>
              </a:rPr>
              <a:t>10. Quantum algorithms (2)</a:t>
            </a:r>
          </a:p>
        </p:txBody>
      </p:sp>
      <p:sp>
        <p:nvSpPr>
          <p:cNvPr id="9" name="TextBox 8">
            <a:extLst>
              <a:ext uri="{FF2B5EF4-FFF2-40B4-BE49-F238E27FC236}">
                <a16:creationId xmlns:a16="http://schemas.microsoft.com/office/drawing/2014/main" id="{431EEBF8-8E2F-D649-9079-9B51556AD056}"/>
              </a:ext>
            </a:extLst>
          </p:cNvPr>
          <p:cNvSpPr txBox="1"/>
          <p:nvPr/>
        </p:nvSpPr>
        <p:spPr>
          <a:xfrm>
            <a:off x="8050517" y="5528379"/>
            <a:ext cx="3863365" cy="830997"/>
          </a:xfrm>
          <a:prstGeom prst="rect">
            <a:avLst/>
          </a:prstGeom>
          <a:noFill/>
        </p:spPr>
        <p:txBody>
          <a:bodyPr wrap="none" rtlCol="0">
            <a:spAutoFit/>
          </a:bodyPr>
          <a:lstStyle/>
          <a:p>
            <a:r>
              <a:rPr lang="en-US" sz="2400" dirty="0">
                <a:solidFill>
                  <a:schemeClr val="bg1"/>
                </a:solidFill>
              </a:rPr>
              <a:t>Prof. Aleksandar Radovanovic</a:t>
            </a:r>
          </a:p>
          <a:p>
            <a:pPr algn="ctr"/>
            <a:r>
              <a:rPr lang="en-US" sz="2400" dirty="0" err="1">
                <a:solidFill>
                  <a:schemeClr val="bg1"/>
                </a:solidFill>
              </a:rPr>
              <a:t>alex@qcict.org</a:t>
            </a:r>
            <a:endParaRPr lang="en-US" sz="2400" dirty="0">
              <a:solidFill>
                <a:schemeClr val="bg1"/>
              </a:solidFill>
            </a:endParaRPr>
          </a:p>
        </p:txBody>
      </p:sp>
      <p:sp>
        <p:nvSpPr>
          <p:cNvPr id="10" name="TextBox 9">
            <a:extLst>
              <a:ext uri="{FF2B5EF4-FFF2-40B4-BE49-F238E27FC236}">
                <a16:creationId xmlns:a16="http://schemas.microsoft.com/office/drawing/2014/main" id="{A17C001F-5BD0-A84D-9BCB-64A3BCDCC797}"/>
              </a:ext>
            </a:extLst>
          </p:cNvPr>
          <p:cNvSpPr txBox="1"/>
          <p:nvPr/>
        </p:nvSpPr>
        <p:spPr>
          <a:xfrm>
            <a:off x="278749" y="5528379"/>
            <a:ext cx="3828484" cy="830997"/>
          </a:xfrm>
          <a:prstGeom prst="rect">
            <a:avLst/>
          </a:prstGeom>
          <a:noFill/>
        </p:spPr>
        <p:txBody>
          <a:bodyPr wrap="none" rtlCol="0">
            <a:spAutoFit/>
          </a:bodyPr>
          <a:lstStyle/>
          <a:p>
            <a:r>
              <a:rPr lang="en-US" sz="2400" dirty="0">
                <a:solidFill>
                  <a:schemeClr val="bg1"/>
                </a:solidFill>
              </a:rPr>
              <a:t>Quantum Computing </a:t>
            </a:r>
            <a:r>
              <a:rPr lang="en-US" sz="2400" dirty="0" err="1">
                <a:solidFill>
                  <a:schemeClr val="bg1"/>
                </a:solidFill>
              </a:rPr>
              <a:t>Insitute</a:t>
            </a:r>
            <a:endParaRPr lang="en-US" sz="2400" dirty="0">
              <a:solidFill>
                <a:schemeClr val="bg1"/>
              </a:solidFill>
            </a:endParaRPr>
          </a:p>
          <a:p>
            <a:r>
              <a:rPr lang="en-US" sz="2400" dirty="0">
                <a:solidFill>
                  <a:schemeClr val="bg1"/>
                </a:solidFill>
              </a:rPr>
              <a:t>https://</a:t>
            </a:r>
            <a:r>
              <a:rPr lang="en-US" sz="2400" dirty="0" err="1">
                <a:solidFill>
                  <a:schemeClr val="bg1"/>
                </a:solidFill>
              </a:rPr>
              <a:t>qcict.org</a:t>
            </a:r>
            <a:endParaRPr lang="en-US" sz="2400" dirty="0">
              <a:solidFill>
                <a:schemeClr val="bg1"/>
              </a:solidFill>
            </a:endParaRPr>
          </a:p>
        </p:txBody>
      </p:sp>
    </p:spTree>
    <p:extLst>
      <p:ext uri="{BB962C8B-B14F-4D97-AF65-F5344CB8AC3E}">
        <p14:creationId xmlns:p14="http://schemas.microsoft.com/office/powerpoint/2010/main" val="430602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0DFF5-4A4F-DF42-9481-2148F597198F}"/>
              </a:ext>
            </a:extLst>
          </p:cNvPr>
          <p:cNvSpPr>
            <a:spLocks noGrp="1"/>
          </p:cNvSpPr>
          <p:nvPr>
            <p:ph type="title"/>
          </p:nvPr>
        </p:nvSpPr>
        <p:spPr/>
        <p:txBody>
          <a:bodyPr/>
          <a:lstStyle/>
          <a:p>
            <a:r>
              <a:rPr lang="en-US" dirty="0"/>
              <a:t>Content</a:t>
            </a:r>
          </a:p>
        </p:txBody>
      </p:sp>
      <p:sp>
        <p:nvSpPr>
          <p:cNvPr id="3" name="Slide Number Placeholder 2">
            <a:extLst>
              <a:ext uri="{FF2B5EF4-FFF2-40B4-BE49-F238E27FC236}">
                <a16:creationId xmlns:a16="http://schemas.microsoft.com/office/drawing/2014/main" id="{947AFC6D-9054-5C4F-BC6F-F71355750398}"/>
              </a:ext>
            </a:extLst>
          </p:cNvPr>
          <p:cNvSpPr>
            <a:spLocks noGrp="1"/>
          </p:cNvSpPr>
          <p:nvPr>
            <p:ph type="sldNum" sz="quarter" idx="12"/>
          </p:nvPr>
        </p:nvSpPr>
        <p:spPr/>
        <p:txBody>
          <a:bodyPr/>
          <a:lstStyle/>
          <a:p>
            <a:fld id="{591A223C-FA10-BC46-A853-03BA373D023C}" type="slidenum">
              <a:rPr lang="en-US" smtClean="0"/>
              <a:t>2</a:t>
            </a:fld>
            <a:endParaRPr lang="en-US" dirty="0"/>
          </a:p>
        </p:txBody>
      </p:sp>
      <p:graphicFrame>
        <p:nvGraphicFramePr>
          <p:cNvPr id="46" name="Diagram 45">
            <a:extLst>
              <a:ext uri="{FF2B5EF4-FFF2-40B4-BE49-F238E27FC236}">
                <a16:creationId xmlns:a16="http://schemas.microsoft.com/office/drawing/2014/main" id="{BEA313B4-8D63-7442-B2B3-758588009C6A}"/>
              </a:ext>
            </a:extLst>
          </p:cNvPr>
          <p:cNvGraphicFramePr/>
          <p:nvPr>
            <p:extLst>
              <p:ext uri="{D42A27DB-BD31-4B8C-83A1-F6EECF244321}">
                <p14:modId xmlns:p14="http://schemas.microsoft.com/office/powerpoint/2010/main" val="1932795146"/>
              </p:ext>
            </p:extLst>
          </p:nvPr>
        </p:nvGraphicFramePr>
        <p:xfrm>
          <a:off x="585789" y="1542042"/>
          <a:ext cx="10987086" cy="38805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0991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2C2D02F-B87A-4949-8B87-6C745A2D4C54}"/>
              </a:ext>
            </a:extLst>
          </p:cNvPr>
          <p:cNvSpPr>
            <a:spLocks noGrp="1"/>
          </p:cNvSpPr>
          <p:nvPr>
            <p:ph type="sldNum" sz="quarter" idx="12"/>
          </p:nvPr>
        </p:nvSpPr>
        <p:spPr/>
        <p:txBody>
          <a:bodyPr/>
          <a:lstStyle/>
          <a:p>
            <a:fld id="{591A223C-FA10-BC46-A853-03BA373D023C}" type="slidenum">
              <a:rPr lang="en-US" smtClean="0"/>
              <a:t>3</a:t>
            </a:fld>
            <a:endParaRPr lang="en-US"/>
          </a:p>
        </p:txBody>
      </p:sp>
      <p:sp>
        <p:nvSpPr>
          <p:cNvPr id="2" name="Title 1">
            <a:extLst>
              <a:ext uri="{FF2B5EF4-FFF2-40B4-BE49-F238E27FC236}">
                <a16:creationId xmlns:a16="http://schemas.microsoft.com/office/drawing/2014/main" id="{545695A0-8474-2D4A-9D80-2005D79BCCEA}"/>
              </a:ext>
            </a:extLst>
          </p:cNvPr>
          <p:cNvSpPr>
            <a:spLocks noGrp="1"/>
          </p:cNvSpPr>
          <p:nvPr>
            <p:ph type="title"/>
          </p:nvPr>
        </p:nvSpPr>
        <p:spPr/>
        <p:txBody>
          <a:bodyPr/>
          <a:lstStyle/>
          <a:p>
            <a:pPr lvl="0"/>
            <a:r>
              <a:rPr lang="en-US" sz="3600" dirty="0"/>
              <a:t>Grover’s Algorithm (1996)</a:t>
            </a:r>
          </a:p>
        </p:txBody>
      </p:sp>
      <p:sp>
        <p:nvSpPr>
          <p:cNvPr id="4" name="Rectangle 3">
            <a:extLst>
              <a:ext uri="{FF2B5EF4-FFF2-40B4-BE49-F238E27FC236}">
                <a16:creationId xmlns:a16="http://schemas.microsoft.com/office/drawing/2014/main" id="{57C092DD-E315-4B44-8904-4F6A2F759699}"/>
              </a:ext>
            </a:extLst>
          </p:cNvPr>
          <p:cNvSpPr/>
          <p:nvPr/>
        </p:nvSpPr>
        <p:spPr>
          <a:xfrm>
            <a:off x="268458" y="2141121"/>
            <a:ext cx="6096000" cy="1200329"/>
          </a:xfrm>
          <a:prstGeom prst="rect">
            <a:avLst/>
          </a:prstGeom>
        </p:spPr>
        <p:txBody>
          <a:bodyPr>
            <a:spAutoFit/>
          </a:bodyPr>
          <a:lstStyle/>
          <a:p>
            <a:pPr algn="just"/>
            <a:r>
              <a:rPr lang="en-ZA" sz="2400" dirty="0"/>
              <a:t>Grover’s algorithm provides a quadratic speedup for searching an unstructured set of data compared with classical search.</a:t>
            </a:r>
            <a:endParaRPr lang="en-US" sz="2400" dirty="0"/>
          </a:p>
        </p:txBody>
      </p:sp>
      <p:sp>
        <p:nvSpPr>
          <p:cNvPr id="6" name="TextBox 5">
            <a:extLst>
              <a:ext uri="{FF2B5EF4-FFF2-40B4-BE49-F238E27FC236}">
                <a16:creationId xmlns:a16="http://schemas.microsoft.com/office/drawing/2014/main" id="{52CC71CA-6F66-AF4E-A3CA-313C05C4D5F4}"/>
              </a:ext>
            </a:extLst>
          </p:cNvPr>
          <p:cNvSpPr txBox="1"/>
          <p:nvPr/>
        </p:nvSpPr>
        <p:spPr>
          <a:xfrm>
            <a:off x="168481" y="4753125"/>
            <a:ext cx="6475663" cy="1015663"/>
          </a:xfrm>
          <a:prstGeom prst="rect">
            <a:avLst/>
          </a:prstGeom>
          <a:noFill/>
        </p:spPr>
        <p:txBody>
          <a:bodyPr wrap="square" rtlCol="0">
            <a:spAutoFit/>
          </a:bodyPr>
          <a:lstStyle/>
          <a:p>
            <a:r>
              <a:rPr lang="en-US" sz="2000" dirty="0"/>
              <a:t>Grover L.K.: A fast quantum mechanical algorithm for database search, Proceedings, 28th Annual ACM Symposium on the Theory of Computing, (May 1996) p. 212</a:t>
            </a:r>
          </a:p>
        </p:txBody>
      </p:sp>
      <p:sp>
        <p:nvSpPr>
          <p:cNvPr id="7" name="TextBox 6">
            <a:extLst>
              <a:ext uri="{FF2B5EF4-FFF2-40B4-BE49-F238E27FC236}">
                <a16:creationId xmlns:a16="http://schemas.microsoft.com/office/drawing/2014/main" id="{2B33E2C4-C8CD-BA4C-AA2A-BD51CF5D1405}"/>
              </a:ext>
            </a:extLst>
          </p:cNvPr>
          <p:cNvSpPr txBox="1"/>
          <p:nvPr/>
        </p:nvSpPr>
        <p:spPr>
          <a:xfrm>
            <a:off x="7876542" y="5946165"/>
            <a:ext cx="3077061" cy="461665"/>
          </a:xfrm>
          <a:prstGeom prst="rect">
            <a:avLst/>
          </a:prstGeom>
          <a:noFill/>
        </p:spPr>
        <p:txBody>
          <a:bodyPr wrap="none" rtlCol="0">
            <a:spAutoFit/>
          </a:bodyPr>
          <a:lstStyle/>
          <a:p>
            <a:r>
              <a:rPr lang="en-ZA" sz="2400" dirty="0" err="1"/>
              <a:t>Lov</a:t>
            </a:r>
            <a:r>
              <a:rPr lang="en-ZA" sz="2400" dirty="0"/>
              <a:t> Grover</a:t>
            </a:r>
            <a:r>
              <a:rPr lang="en-US" sz="2400" dirty="0"/>
              <a:t> (born 1961)</a:t>
            </a:r>
          </a:p>
        </p:txBody>
      </p:sp>
      <p:pic>
        <p:nvPicPr>
          <p:cNvPr id="9" name="Picture 8">
            <a:extLst>
              <a:ext uri="{FF2B5EF4-FFF2-40B4-BE49-F238E27FC236}">
                <a16:creationId xmlns:a16="http://schemas.microsoft.com/office/drawing/2014/main" id="{906158C5-07CC-3642-8C4E-0ABA926EBDE6}"/>
              </a:ext>
            </a:extLst>
          </p:cNvPr>
          <p:cNvPicPr>
            <a:picLocks noChangeAspect="1"/>
          </p:cNvPicPr>
          <p:nvPr/>
        </p:nvPicPr>
        <p:blipFill>
          <a:blip r:embed="rId3"/>
          <a:stretch>
            <a:fillRect/>
          </a:stretch>
        </p:blipFill>
        <p:spPr>
          <a:xfrm>
            <a:off x="7854811" y="1357586"/>
            <a:ext cx="3120522" cy="4159680"/>
          </a:xfrm>
          <a:prstGeom prst="rect">
            <a:avLst/>
          </a:prstGeom>
        </p:spPr>
      </p:pic>
    </p:spTree>
    <p:extLst>
      <p:ext uri="{BB962C8B-B14F-4D97-AF65-F5344CB8AC3E}">
        <p14:creationId xmlns:p14="http://schemas.microsoft.com/office/powerpoint/2010/main" val="2198318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35">
            <a:extLst>
              <a:ext uri="{FF2B5EF4-FFF2-40B4-BE49-F238E27FC236}">
                <a16:creationId xmlns:a16="http://schemas.microsoft.com/office/drawing/2014/main" id="{70357910-CF45-394F-949B-F14EC5A91C74}"/>
              </a:ext>
            </a:extLst>
          </p:cNvPr>
          <p:cNvSpPr/>
          <p:nvPr/>
        </p:nvSpPr>
        <p:spPr>
          <a:xfrm rot="18477390">
            <a:off x="1725162" y="2754805"/>
            <a:ext cx="2017016" cy="2026118"/>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gradFill flip="none" rotWithShape="1">
            <a:gsLst>
              <a:gs pos="0">
                <a:schemeClr val="accent1">
                  <a:lumMod val="0"/>
                  <a:lumOff val="100000"/>
                </a:schemeClr>
              </a:gs>
              <a:gs pos="100000">
                <a:schemeClr val="accent1">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A7B3965F-1AA5-BD46-83B1-C85BD55346CE}"/>
              </a:ext>
            </a:extLst>
          </p:cNvPr>
          <p:cNvSpPr>
            <a:spLocks noGrp="1"/>
          </p:cNvSpPr>
          <p:nvPr>
            <p:ph type="title"/>
          </p:nvPr>
        </p:nvSpPr>
        <p:spPr>
          <a:xfrm>
            <a:off x="0" y="0"/>
            <a:ext cx="12192000" cy="928688"/>
          </a:xfrm>
        </p:spPr>
        <p:txBody>
          <a:bodyPr>
            <a:normAutofit/>
          </a:bodyPr>
          <a:lstStyle/>
          <a:p>
            <a:r>
              <a:rPr lang="en-ZA" sz="3200" dirty="0"/>
              <a:t>Grover’s Algorithm: Quadratic Speedup</a:t>
            </a:r>
            <a:endParaRPr lang="en-US" dirty="0"/>
          </a:p>
        </p:txBody>
      </p:sp>
      <p:sp>
        <p:nvSpPr>
          <p:cNvPr id="3" name="Slide Number Placeholder 2">
            <a:extLst>
              <a:ext uri="{FF2B5EF4-FFF2-40B4-BE49-F238E27FC236}">
                <a16:creationId xmlns:a16="http://schemas.microsoft.com/office/drawing/2014/main" id="{03DBBB90-6F45-5E48-A90A-C439D9458908}"/>
              </a:ext>
            </a:extLst>
          </p:cNvPr>
          <p:cNvSpPr>
            <a:spLocks noGrp="1"/>
          </p:cNvSpPr>
          <p:nvPr>
            <p:ph type="sldNum" sz="quarter" idx="12"/>
          </p:nvPr>
        </p:nvSpPr>
        <p:spPr/>
        <p:txBody>
          <a:bodyPr/>
          <a:lstStyle/>
          <a:p>
            <a:fld id="{591A223C-FA10-BC46-A853-03BA373D023C}" type="slidenum">
              <a:rPr lang="en-US" smtClean="0"/>
              <a:t>4</a:t>
            </a:fld>
            <a:endParaRPr lang="en-US"/>
          </a:p>
        </p:txBody>
      </p:sp>
      <p:pic>
        <p:nvPicPr>
          <p:cNvPr id="9" name="Picture 8">
            <a:extLst>
              <a:ext uri="{FF2B5EF4-FFF2-40B4-BE49-F238E27FC236}">
                <a16:creationId xmlns:a16="http://schemas.microsoft.com/office/drawing/2014/main" id="{0FA889DF-D28D-F94F-A6D3-866AFAECD9F4}"/>
              </a:ext>
            </a:extLst>
          </p:cNvPr>
          <p:cNvPicPr>
            <a:picLocks noChangeAspect="1"/>
          </p:cNvPicPr>
          <p:nvPr/>
        </p:nvPicPr>
        <p:blipFill>
          <a:blip r:embed="rId3"/>
          <a:stretch>
            <a:fillRect/>
          </a:stretch>
        </p:blipFill>
        <p:spPr>
          <a:xfrm>
            <a:off x="277559" y="4042978"/>
            <a:ext cx="1762631" cy="2038349"/>
          </a:xfrm>
          <a:prstGeom prst="rect">
            <a:avLst/>
          </a:prstGeom>
        </p:spPr>
      </p:pic>
      <p:sp>
        <p:nvSpPr>
          <p:cNvPr id="12" name="TextBox 11">
            <a:extLst>
              <a:ext uri="{FF2B5EF4-FFF2-40B4-BE49-F238E27FC236}">
                <a16:creationId xmlns:a16="http://schemas.microsoft.com/office/drawing/2014/main" id="{80081209-7D12-AF4C-932E-851657AF63EA}"/>
              </a:ext>
            </a:extLst>
          </p:cNvPr>
          <p:cNvSpPr txBox="1"/>
          <p:nvPr/>
        </p:nvSpPr>
        <p:spPr>
          <a:xfrm>
            <a:off x="214881" y="1532257"/>
            <a:ext cx="2483950" cy="461665"/>
          </a:xfrm>
          <a:prstGeom prst="rect">
            <a:avLst/>
          </a:prstGeom>
          <a:solidFill>
            <a:schemeClr val="accent6">
              <a:lumMod val="20000"/>
              <a:lumOff val="80000"/>
            </a:schemeClr>
          </a:solidFill>
        </p:spPr>
        <p:txBody>
          <a:bodyPr wrap="none" rtlCol="0">
            <a:spAutoFit/>
          </a:bodyPr>
          <a:lstStyle/>
          <a:p>
            <a:r>
              <a:rPr lang="en-US" sz="2400" dirty="0">
                <a:latin typeface="+mj-lt"/>
              </a:rPr>
              <a:t>Classical computer</a:t>
            </a:r>
          </a:p>
        </p:txBody>
      </p:sp>
      <p:sp>
        <p:nvSpPr>
          <p:cNvPr id="13" name="TextBox 12">
            <a:extLst>
              <a:ext uri="{FF2B5EF4-FFF2-40B4-BE49-F238E27FC236}">
                <a16:creationId xmlns:a16="http://schemas.microsoft.com/office/drawing/2014/main" id="{18D4B35F-1AC6-774F-8F12-9A8A684C5156}"/>
              </a:ext>
            </a:extLst>
          </p:cNvPr>
          <p:cNvSpPr txBox="1"/>
          <p:nvPr/>
        </p:nvSpPr>
        <p:spPr>
          <a:xfrm>
            <a:off x="1989848" y="5961336"/>
            <a:ext cx="2230867" cy="830997"/>
          </a:xfrm>
          <a:prstGeom prst="rect">
            <a:avLst/>
          </a:prstGeom>
          <a:noFill/>
        </p:spPr>
        <p:txBody>
          <a:bodyPr wrap="none" rtlCol="0">
            <a:spAutoFit/>
          </a:bodyPr>
          <a:lstStyle/>
          <a:p>
            <a:pPr marL="342900" indent="-342900">
              <a:buFont typeface="Arial" panose="020B0604020202020204" pitchFamily="34" charset="0"/>
              <a:buChar char="•"/>
            </a:pPr>
            <a:r>
              <a:rPr lang="en-US" sz="2400" dirty="0">
                <a:latin typeface="+mj-lt"/>
              </a:rPr>
              <a:t>N/2 queries</a:t>
            </a:r>
          </a:p>
          <a:p>
            <a:pPr marL="342900" indent="-342900">
              <a:buFont typeface="Arial" panose="020B0604020202020204" pitchFamily="34" charset="0"/>
              <a:buChar char="•"/>
            </a:pPr>
            <a:r>
              <a:rPr lang="en-US" sz="2400" dirty="0">
                <a:latin typeface="+mj-lt"/>
              </a:rPr>
              <a:t>time: ~ 6 days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0BAE59C-9E0F-4B44-88CC-56E632E387FF}"/>
                  </a:ext>
                </a:extLst>
              </p:cNvPr>
              <p:cNvSpPr txBox="1"/>
              <p:nvPr/>
            </p:nvSpPr>
            <p:spPr>
              <a:xfrm>
                <a:off x="2238901" y="904499"/>
                <a:ext cx="8298873" cy="470000"/>
              </a:xfrm>
              <a:prstGeom prst="rect">
                <a:avLst/>
              </a:prstGeom>
              <a:noFill/>
            </p:spPr>
            <p:txBody>
              <a:bodyPr wrap="square" rtlCol="0">
                <a:spAutoFit/>
              </a:bodyPr>
              <a:lstStyle/>
              <a:p>
                <a:r>
                  <a:rPr lang="en-US" sz="2400" dirty="0">
                    <a:latin typeface="+mj-lt"/>
                  </a:rPr>
                  <a:t>N: 1 trillion (</a:t>
                </a:r>
                <a14:m>
                  <m:oMath xmlns:m="http://schemas.openxmlformats.org/officeDocument/2006/math">
                    <m:sSup>
                      <m:sSupPr>
                        <m:ctrlPr>
                          <a:rPr lang="en-US" sz="2400" i="1" smtClean="0">
                            <a:latin typeface="Cambria Math" panose="02040503050406030204" pitchFamily="18" charset="0"/>
                          </a:rPr>
                        </m:ctrlPr>
                      </m:sSupPr>
                      <m:e>
                        <m:r>
                          <a:rPr lang="sr-Latn-RS" sz="2400" b="0" i="1" smtClean="0">
                            <a:latin typeface="Cambria Math" panose="02040503050406030204" pitchFamily="18" charset="0"/>
                          </a:rPr>
                          <m:t>10</m:t>
                        </m:r>
                      </m:e>
                      <m:sup>
                        <m:r>
                          <a:rPr lang="sr-Latn-RS" sz="2400" b="0" i="1" smtClean="0">
                            <a:latin typeface="Cambria Math" panose="02040503050406030204" pitchFamily="18" charset="0"/>
                          </a:rPr>
                          <m:t>12</m:t>
                        </m:r>
                      </m:sup>
                    </m:sSup>
                  </m:oMath>
                </a14:m>
                <a:r>
                  <a:rPr lang="en-US" sz="2400" dirty="0">
                    <a:latin typeface="+mj-lt"/>
                  </a:rPr>
                  <a:t>)  records  /  1 µs: </a:t>
                </a:r>
                <a:r>
                  <a:rPr lang="en-ZA" sz="2400" dirty="0">
                    <a:latin typeface="+mj-lt"/>
                  </a:rPr>
                  <a:t>time to check 1 record</a:t>
                </a:r>
                <a:endParaRPr lang="en-US" sz="2400" dirty="0">
                  <a:latin typeface="+mj-lt"/>
                </a:endParaRPr>
              </a:p>
            </p:txBody>
          </p:sp>
        </mc:Choice>
        <mc:Fallback xmlns="">
          <p:sp>
            <p:nvSpPr>
              <p:cNvPr id="14" name="TextBox 13">
                <a:extLst>
                  <a:ext uri="{FF2B5EF4-FFF2-40B4-BE49-F238E27FC236}">
                    <a16:creationId xmlns:a16="http://schemas.microsoft.com/office/drawing/2014/main" id="{70BAE59C-9E0F-4B44-88CC-56E632E387FF}"/>
                  </a:ext>
                </a:extLst>
              </p:cNvPr>
              <p:cNvSpPr txBox="1">
                <a:spLocks noRot="1" noChangeAspect="1" noMove="1" noResize="1" noEditPoints="1" noAdjustHandles="1" noChangeArrowheads="1" noChangeShapeType="1" noTextEdit="1"/>
              </p:cNvSpPr>
              <p:nvPr/>
            </p:nvSpPr>
            <p:spPr>
              <a:xfrm>
                <a:off x="2238901" y="904499"/>
                <a:ext cx="8298873" cy="470000"/>
              </a:xfrm>
              <a:prstGeom prst="rect">
                <a:avLst/>
              </a:prstGeom>
              <a:blipFill>
                <a:blip r:embed="rId4"/>
                <a:stretch>
                  <a:fillRect l="-1069" t="-5263" b="-2631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FBEBE84C-6AFF-9A46-B5AE-0039E12CFB15}"/>
              </a:ext>
            </a:extLst>
          </p:cNvPr>
          <p:cNvPicPr>
            <a:picLocks noChangeAspect="1"/>
          </p:cNvPicPr>
          <p:nvPr/>
        </p:nvPicPr>
        <p:blipFill>
          <a:blip r:embed="rId5"/>
          <a:stretch>
            <a:fillRect/>
          </a:stretch>
        </p:blipFill>
        <p:spPr>
          <a:xfrm>
            <a:off x="3060864" y="2068512"/>
            <a:ext cx="1383455" cy="1024781"/>
          </a:xfrm>
          <a:prstGeom prst="rect">
            <a:avLst/>
          </a:prstGeom>
        </p:spPr>
      </p:pic>
      <p:grpSp>
        <p:nvGrpSpPr>
          <p:cNvPr id="35" name="Group 34">
            <a:extLst>
              <a:ext uri="{FF2B5EF4-FFF2-40B4-BE49-F238E27FC236}">
                <a16:creationId xmlns:a16="http://schemas.microsoft.com/office/drawing/2014/main" id="{C696E6BD-8089-7E4E-8108-E6B283E348DC}"/>
              </a:ext>
            </a:extLst>
          </p:cNvPr>
          <p:cNvGrpSpPr/>
          <p:nvPr/>
        </p:nvGrpSpPr>
        <p:grpSpPr>
          <a:xfrm>
            <a:off x="2040190" y="3025347"/>
            <a:ext cx="921488" cy="909255"/>
            <a:chOff x="2354371" y="3234843"/>
            <a:chExt cx="921488" cy="909255"/>
          </a:xfrm>
        </p:grpSpPr>
        <p:sp>
          <p:nvSpPr>
            <p:cNvPr id="7" name="Rectangle 6">
              <a:extLst>
                <a:ext uri="{FF2B5EF4-FFF2-40B4-BE49-F238E27FC236}">
                  <a16:creationId xmlns:a16="http://schemas.microsoft.com/office/drawing/2014/main" id="{9DB1094B-BAAA-394B-B759-8075790BAF24}"/>
                </a:ext>
              </a:extLst>
            </p:cNvPr>
            <p:cNvSpPr/>
            <p:nvPr/>
          </p:nvSpPr>
          <p:spPr>
            <a:xfrm>
              <a:off x="2354371" y="3234843"/>
              <a:ext cx="921488" cy="9092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CDE11FD5-4200-DD44-9FE1-93D02A853D93}"/>
                </a:ext>
              </a:extLst>
            </p:cNvPr>
            <p:cNvCxnSpPr>
              <a:cxnSpLocks/>
            </p:cNvCxnSpPr>
            <p:nvPr/>
          </p:nvCxnSpPr>
          <p:spPr>
            <a:xfrm>
              <a:off x="2446013" y="3426781"/>
              <a:ext cx="36910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8730C73-27AA-8D4F-9818-FF2F0EB31C3D}"/>
                </a:ext>
              </a:extLst>
            </p:cNvPr>
            <p:cNvCxnSpPr>
              <a:cxnSpLocks/>
            </p:cNvCxnSpPr>
            <p:nvPr/>
          </p:nvCxnSpPr>
          <p:spPr>
            <a:xfrm flipV="1">
              <a:off x="2446012" y="3520978"/>
              <a:ext cx="61485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6D54EE0-4841-9C4C-BC31-1D8D1AF54AEB}"/>
                </a:ext>
              </a:extLst>
            </p:cNvPr>
            <p:cNvCxnSpPr>
              <a:cxnSpLocks/>
            </p:cNvCxnSpPr>
            <p:nvPr/>
          </p:nvCxnSpPr>
          <p:spPr>
            <a:xfrm flipV="1">
              <a:off x="2446011" y="3615175"/>
              <a:ext cx="61485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552E3484-052A-7D4E-B25A-71C5884F2C0C}"/>
              </a:ext>
            </a:extLst>
          </p:cNvPr>
          <p:cNvGrpSpPr/>
          <p:nvPr/>
        </p:nvGrpSpPr>
        <p:grpSpPr>
          <a:xfrm>
            <a:off x="4924926" y="1528417"/>
            <a:ext cx="6679367" cy="5287444"/>
            <a:chOff x="4924926" y="1528417"/>
            <a:chExt cx="6679367" cy="5287444"/>
          </a:xfrm>
        </p:grpSpPr>
        <p:sp>
          <p:nvSpPr>
            <p:cNvPr id="28" name="Oval 27">
              <a:extLst>
                <a:ext uri="{FF2B5EF4-FFF2-40B4-BE49-F238E27FC236}">
                  <a16:creationId xmlns:a16="http://schemas.microsoft.com/office/drawing/2014/main" id="{7434E16F-D81B-754D-9531-D7558D8A4D3B}"/>
                </a:ext>
              </a:extLst>
            </p:cNvPr>
            <p:cNvSpPr/>
            <p:nvPr/>
          </p:nvSpPr>
          <p:spPr>
            <a:xfrm>
              <a:off x="6668526" y="3307986"/>
              <a:ext cx="4935767" cy="1910495"/>
            </a:xfrm>
            <a:prstGeom prst="ellipse">
              <a:avLst/>
            </a:prstGeom>
            <a:noFill/>
            <a:ln w="412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72DECF5-DB7B-5F48-ADF4-DEE26B6E2543}"/>
                </a:ext>
              </a:extLst>
            </p:cNvPr>
            <p:cNvSpPr txBox="1"/>
            <p:nvPr/>
          </p:nvSpPr>
          <p:spPr>
            <a:xfrm>
              <a:off x="7809824" y="5984864"/>
              <a:ext cx="2571730" cy="830997"/>
            </a:xfrm>
            <a:prstGeom prst="rect">
              <a:avLst/>
            </a:prstGeom>
            <a:noFill/>
          </p:spPr>
          <p:txBody>
            <a:bodyPr wrap="none" rtlCol="0">
              <a:spAutoFit/>
            </a:bodyPr>
            <a:lstStyle/>
            <a:p>
              <a:pPr marL="342900" indent="-342900">
                <a:buFont typeface="Arial" panose="020B0604020202020204" pitchFamily="34" charset="0"/>
                <a:buChar char="•"/>
              </a:pPr>
              <a:r>
                <a:rPr lang="en-US" sz="2400" dirty="0">
                  <a:latin typeface="+mj-lt"/>
                </a:rPr>
                <a:t>       </a:t>
              </a:r>
              <a:r>
                <a:rPr lang="en-US" sz="2400" dirty="0"/>
                <a:t>queries</a:t>
              </a:r>
              <a:endParaRPr lang="en-US" sz="2400" dirty="0">
                <a:latin typeface="+mj-lt"/>
              </a:endParaRPr>
            </a:p>
            <a:p>
              <a:pPr marL="342900" indent="-342900">
                <a:buFont typeface="Arial" panose="020B0604020202020204" pitchFamily="34" charset="0"/>
                <a:buChar char="•"/>
              </a:pPr>
              <a:r>
                <a:rPr lang="en-US" sz="2400" dirty="0">
                  <a:latin typeface="+mj-lt"/>
                </a:rPr>
                <a:t>time: ~ 1 second</a:t>
              </a:r>
            </a:p>
          </p:txBody>
        </p:sp>
        <p:sp>
          <p:nvSpPr>
            <p:cNvPr id="16" name="TextBox 15">
              <a:extLst>
                <a:ext uri="{FF2B5EF4-FFF2-40B4-BE49-F238E27FC236}">
                  <a16:creationId xmlns:a16="http://schemas.microsoft.com/office/drawing/2014/main" id="{3DE61D63-DC9A-FE41-9F82-CAB95EB0A7C7}"/>
                </a:ext>
              </a:extLst>
            </p:cNvPr>
            <p:cNvSpPr txBox="1"/>
            <p:nvPr/>
          </p:nvSpPr>
          <p:spPr>
            <a:xfrm>
              <a:off x="5381073" y="1528417"/>
              <a:ext cx="2634632" cy="461665"/>
            </a:xfrm>
            <a:prstGeom prst="rect">
              <a:avLst/>
            </a:prstGeom>
            <a:solidFill>
              <a:schemeClr val="accent5">
                <a:lumMod val="20000"/>
                <a:lumOff val="80000"/>
              </a:schemeClr>
            </a:solidFill>
          </p:spPr>
          <p:txBody>
            <a:bodyPr wrap="none" rtlCol="0">
              <a:spAutoFit/>
            </a:bodyPr>
            <a:lstStyle/>
            <a:p>
              <a:r>
                <a:rPr lang="en-US" sz="2400" dirty="0">
                  <a:latin typeface="+mj-lt"/>
                </a:rPr>
                <a:t>Quantum computer</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5242E699-4A87-704C-ACDA-A978D6ECF2FD}"/>
                    </a:ext>
                  </a:extLst>
                </p:cNvPr>
                <p:cNvSpPr/>
                <p:nvPr/>
              </p:nvSpPr>
              <p:spPr>
                <a:xfrm>
                  <a:off x="7958074" y="5964277"/>
                  <a:ext cx="689228" cy="5027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ad>
                          <m:radPr>
                            <m:degHide m:val="on"/>
                            <m:ctrlPr>
                              <a:rPr lang="en-US" sz="2400" i="1" smtClean="0">
                                <a:latin typeface="Cambria Math" panose="02040503050406030204" pitchFamily="18" charset="0"/>
                              </a:rPr>
                            </m:ctrlPr>
                          </m:radPr>
                          <m:deg/>
                          <m:e>
                            <m:r>
                              <a:rPr lang="en-US" sz="2400" b="0" i="1" smtClean="0">
                                <a:latin typeface="Cambria Math" panose="02040503050406030204" pitchFamily="18" charset="0"/>
                              </a:rPr>
                              <m:t>𝑁</m:t>
                            </m:r>
                          </m:e>
                        </m:rad>
                      </m:oMath>
                    </m:oMathPara>
                  </a14:m>
                  <a:endParaRPr lang="en-US" sz="2400" dirty="0"/>
                </a:p>
              </p:txBody>
            </p:sp>
          </mc:Choice>
          <mc:Fallback xmlns="">
            <p:sp>
              <p:nvSpPr>
                <p:cNvPr id="17" name="Rectangle 16">
                  <a:extLst>
                    <a:ext uri="{FF2B5EF4-FFF2-40B4-BE49-F238E27FC236}">
                      <a16:creationId xmlns:a16="http://schemas.microsoft.com/office/drawing/2014/main" id="{5242E699-4A87-704C-ACDA-A978D6ECF2FD}"/>
                    </a:ext>
                  </a:extLst>
                </p:cNvPr>
                <p:cNvSpPr>
                  <a:spLocks noRot="1" noChangeAspect="1" noMove="1" noResize="1" noEditPoints="1" noAdjustHandles="1" noChangeArrowheads="1" noChangeShapeType="1" noTextEdit="1"/>
                </p:cNvSpPr>
                <p:nvPr/>
              </p:nvSpPr>
              <p:spPr>
                <a:xfrm>
                  <a:off x="7958074" y="5964277"/>
                  <a:ext cx="689228" cy="502766"/>
                </a:xfrm>
                <a:prstGeom prst="rect">
                  <a:avLst/>
                </a:prstGeom>
                <a:blipFill>
                  <a:blip r:embed="rId6"/>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10AB0507-DA55-844E-BFF3-741334EE06F5}"/>
                </a:ext>
              </a:extLst>
            </p:cNvPr>
            <p:cNvPicPr>
              <a:picLocks noChangeAspect="1"/>
            </p:cNvPicPr>
            <p:nvPr/>
          </p:nvPicPr>
          <p:blipFill>
            <a:blip r:embed="rId7"/>
            <a:stretch>
              <a:fillRect/>
            </a:stretch>
          </p:blipFill>
          <p:spPr>
            <a:xfrm>
              <a:off x="8431157" y="2246592"/>
              <a:ext cx="1176406" cy="2209964"/>
            </a:xfrm>
            <a:prstGeom prst="rect">
              <a:avLst/>
            </a:prstGeom>
          </p:spPr>
        </p:pic>
        <p:cxnSp>
          <p:nvCxnSpPr>
            <p:cNvPr id="8" name="Straight Connector 7">
              <a:extLst>
                <a:ext uri="{FF2B5EF4-FFF2-40B4-BE49-F238E27FC236}">
                  <a16:creationId xmlns:a16="http://schemas.microsoft.com/office/drawing/2014/main" id="{D41270EC-CEC9-8B41-AEA3-C9AFFF5862B9}"/>
                </a:ext>
              </a:extLst>
            </p:cNvPr>
            <p:cNvCxnSpPr>
              <a:cxnSpLocks/>
            </p:cNvCxnSpPr>
            <p:nvPr/>
          </p:nvCxnSpPr>
          <p:spPr>
            <a:xfrm>
              <a:off x="4924926" y="2008140"/>
              <a:ext cx="0" cy="4204579"/>
            </a:xfrm>
            <a:prstGeom prst="line">
              <a:avLst/>
            </a:prstGeom>
            <a:ln w="101600" cmpd="dbl">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32843DDF-1921-584F-B37D-18EEDBE513E6}"/>
                </a:ext>
              </a:extLst>
            </p:cNvPr>
            <p:cNvGrpSpPr/>
            <p:nvPr/>
          </p:nvGrpSpPr>
          <p:grpSpPr>
            <a:xfrm>
              <a:off x="7098711" y="3133723"/>
              <a:ext cx="921488" cy="909255"/>
              <a:chOff x="2354371" y="3234843"/>
              <a:chExt cx="921488" cy="909255"/>
            </a:xfrm>
          </p:grpSpPr>
          <p:sp>
            <p:nvSpPr>
              <p:cNvPr id="39" name="Rectangle 38">
                <a:extLst>
                  <a:ext uri="{FF2B5EF4-FFF2-40B4-BE49-F238E27FC236}">
                    <a16:creationId xmlns:a16="http://schemas.microsoft.com/office/drawing/2014/main" id="{E94EA86C-050D-5848-8678-3BBD42FC3BBD}"/>
                  </a:ext>
                </a:extLst>
              </p:cNvPr>
              <p:cNvSpPr/>
              <p:nvPr/>
            </p:nvSpPr>
            <p:spPr>
              <a:xfrm>
                <a:off x="2354371" y="3234843"/>
                <a:ext cx="921488" cy="9092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A18D4FC8-4775-C546-8D9F-6095E3F9F18B}"/>
                  </a:ext>
                </a:extLst>
              </p:cNvPr>
              <p:cNvCxnSpPr>
                <a:cxnSpLocks/>
              </p:cNvCxnSpPr>
              <p:nvPr/>
            </p:nvCxnSpPr>
            <p:spPr>
              <a:xfrm>
                <a:off x="2446013" y="3426781"/>
                <a:ext cx="36910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0A1E784-8C7E-E742-9A3D-5160563BC671}"/>
                  </a:ext>
                </a:extLst>
              </p:cNvPr>
              <p:cNvCxnSpPr>
                <a:cxnSpLocks/>
              </p:cNvCxnSpPr>
              <p:nvPr/>
            </p:nvCxnSpPr>
            <p:spPr>
              <a:xfrm flipV="1">
                <a:off x="2446012" y="3520978"/>
                <a:ext cx="61485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255B854-39A9-084B-A6B7-E1B8A3493EF7}"/>
                  </a:ext>
                </a:extLst>
              </p:cNvPr>
              <p:cNvCxnSpPr>
                <a:cxnSpLocks/>
              </p:cNvCxnSpPr>
              <p:nvPr/>
            </p:nvCxnSpPr>
            <p:spPr>
              <a:xfrm flipV="1">
                <a:off x="2446011" y="3615175"/>
                <a:ext cx="61485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A6E97B93-1823-8145-9AC1-D1A63171BD44}"/>
                </a:ext>
              </a:extLst>
            </p:cNvPr>
            <p:cNvGrpSpPr/>
            <p:nvPr/>
          </p:nvGrpSpPr>
          <p:grpSpPr>
            <a:xfrm>
              <a:off x="10123599" y="3093293"/>
              <a:ext cx="921488" cy="909255"/>
              <a:chOff x="2354371" y="3234843"/>
              <a:chExt cx="921488" cy="909255"/>
            </a:xfrm>
          </p:grpSpPr>
          <p:sp>
            <p:nvSpPr>
              <p:cNvPr id="44" name="Rectangle 43">
                <a:extLst>
                  <a:ext uri="{FF2B5EF4-FFF2-40B4-BE49-F238E27FC236}">
                    <a16:creationId xmlns:a16="http://schemas.microsoft.com/office/drawing/2014/main" id="{0130F08C-5570-6744-90BC-5051DD19C342}"/>
                  </a:ext>
                </a:extLst>
              </p:cNvPr>
              <p:cNvSpPr/>
              <p:nvPr/>
            </p:nvSpPr>
            <p:spPr>
              <a:xfrm>
                <a:off x="2354371" y="3234843"/>
                <a:ext cx="921488" cy="9092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F69B6044-BDD9-B54E-9EE8-5176DB23A69F}"/>
                  </a:ext>
                </a:extLst>
              </p:cNvPr>
              <p:cNvCxnSpPr>
                <a:cxnSpLocks/>
              </p:cNvCxnSpPr>
              <p:nvPr/>
            </p:nvCxnSpPr>
            <p:spPr>
              <a:xfrm>
                <a:off x="2446013" y="3426781"/>
                <a:ext cx="36910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7771D20-90A1-0442-8474-67DFB00AAD77}"/>
                  </a:ext>
                </a:extLst>
              </p:cNvPr>
              <p:cNvCxnSpPr>
                <a:cxnSpLocks/>
              </p:cNvCxnSpPr>
              <p:nvPr/>
            </p:nvCxnSpPr>
            <p:spPr>
              <a:xfrm flipV="1">
                <a:off x="2446012" y="3520978"/>
                <a:ext cx="61485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6232981-974F-8048-8A3A-D0EAA439515D}"/>
                  </a:ext>
                </a:extLst>
              </p:cNvPr>
              <p:cNvCxnSpPr>
                <a:cxnSpLocks/>
              </p:cNvCxnSpPr>
              <p:nvPr/>
            </p:nvCxnSpPr>
            <p:spPr>
              <a:xfrm flipV="1">
                <a:off x="2446011" y="3615175"/>
                <a:ext cx="61485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F32AD83B-65C7-AC47-BD2D-669AECB4C3D4}"/>
                </a:ext>
              </a:extLst>
            </p:cNvPr>
            <p:cNvGrpSpPr/>
            <p:nvPr/>
          </p:nvGrpSpPr>
          <p:grpSpPr>
            <a:xfrm>
              <a:off x="7768152" y="4590101"/>
              <a:ext cx="921488" cy="909255"/>
              <a:chOff x="2354371" y="3234843"/>
              <a:chExt cx="921488" cy="909255"/>
            </a:xfrm>
          </p:grpSpPr>
          <p:sp>
            <p:nvSpPr>
              <p:cNvPr id="49" name="Rectangle 48">
                <a:extLst>
                  <a:ext uri="{FF2B5EF4-FFF2-40B4-BE49-F238E27FC236}">
                    <a16:creationId xmlns:a16="http://schemas.microsoft.com/office/drawing/2014/main" id="{36503890-5247-3D4E-912B-EED8D5D851EA}"/>
                  </a:ext>
                </a:extLst>
              </p:cNvPr>
              <p:cNvSpPr/>
              <p:nvPr/>
            </p:nvSpPr>
            <p:spPr>
              <a:xfrm>
                <a:off x="2354371" y="3234843"/>
                <a:ext cx="921488" cy="9092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88C83EBA-54CA-1E44-AE75-9EB81179DCDB}"/>
                  </a:ext>
                </a:extLst>
              </p:cNvPr>
              <p:cNvCxnSpPr>
                <a:cxnSpLocks/>
              </p:cNvCxnSpPr>
              <p:nvPr/>
            </p:nvCxnSpPr>
            <p:spPr>
              <a:xfrm>
                <a:off x="2446013" y="3426781"/>
                <a:ext cx="36910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1B377F6-7423-F849-A811-E2778CCB9893}"/>
                  </a:ext>
                </a:extLst>
              </p:cNvPr>
              <p:cNvCxnSpPr>
                <a:cxnSpLocks/>
              </p:cNvCxnSpPr>
              <p:nvPr/>
            </p:nvCxnSpPr>
            <p:spPr>
              <a:xfrm flipV="1">
                <a:off x="2446012" y="3520978"/>
                <a:ext cx="61485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F77B475-347A-4644-8072-088714C19A94}"/>
                  </a:ext>
                </a:extLst>
              </p:cNvPr>
              <p:cNvCxnSpPr>
                <a:cxnSpLocks/>
              </p:cNvCxnSpPr>
              <p:nvPr/>
            </p:nvCxnSpPr>
            <p:spPr>
              <a:xfrm flipV="1">
                <a:off x="2446011" y="3615175"/>
                <a:ext cx="61485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C57F36B3-4B99-9A47-B626-2052C3545562}"/>
                </a:ext>
              </a:extLst>
            </p:cNvPr>
            <p:cNvGrpSpPr/>
            <p:nvPr/>
          </p:nvGrpSpPr>
          <p:grpSpPr>
            <a:xfrm>
              <a:off x="9930286" y="4595803"/>
              <a:ext cx="921488" cy="909255"/>
              <a:chOff x="2354371" y="3234843"/>
              <a:chExt cx="921488" cy="909255"/>
            </a:xfrm>
          </p:grpSpPr>
          <p:sp>
            <p:nvSpPr>
              <p:cNvPr id="54" name="Rectangle 53">
                <a:extLst>
                  <a:ext uri="{FF2B5EF4-FFF2-40B4-BE49-F238E27FC236}">
                    <a16:creationId xmlns:a16="http://schemas.microsoft.com/office/drawing/2014/main" id="{B922BFA0-E91A-3242-9AF1-A2D9A3A9CCED}"/>
                  </a:ext>
                </a:extLst>
              </p:cNvPr>
              <p:cNvSpPr/>
              <p:nvPr/>
            </p:nvSpPr>
            <p:spPr>
              <a:xfrm>
                <a:off x="2354371" y="3234843"/>
                <a:ext cx="921488" cy="9092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D1A3473E-D017-DA49-891A-09F9A0E11C40}"/>
                  </a:ext>
                </a:extLst>
              </p:cNvPr>
              <p:cNvCxnSpPr>
                <a:cxnSpLocks/>
              </p:cNvCxnSpPr>
              <p:nvPr/>
            </p:nvCxnSpPr>
            <p:spPr>
              <a:xfrm>
                <a:off x="2446013" y="3426781"/>
                <a:ext cx="36910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839D9C4-146D-5E41-B1E8-C7B595DDEBCE}"/>
                  </a:ext>
                </a:extLst>
              </p:cNvPr>
              <p:cNvCxnSpPr>
                <a:cxnSpLocks/>
              </p:cNvCxnSpPr>
              <p:nvPr/>
            </p:nvCxnSpPr>
            <p:spPr>
              <a:xfrm flipV="1">
                <a:off x="2446012" y="3520978"/>
                <a:ext cx="61485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828A6C2-CC12-8F43-8F38-AAF7FDDEDC63}"/>
                  </a:ext>
                </a:extLst>
              </p:cNvPr>
              <p:cNvCxnSpPr>
                <a:cxnSpLocks/>
              </p:cNvCxnSpPr>
              <p:nvPr/>
            </p:nvCxnSpPr>
            <p:spPr>
              <a:xfrm flipV="1">
                <a:off x="2446011" y="3615175"/>
                <a:ext cx="61485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83282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B0AE1A07-10D6-494E-85CF-3705F83929D9}"/>
              </a:ext>
            </a:extLst>
          </p:cNvPr>
          <p:cNvGrpSpPr/>
          <p:nvPr/>
        </p:nvGrpSpPr>
        <p:grpSpPr>
          <a:xfrm>
            <a:off x="5690480" y="3699122"/>
            <a:ext cx="1841500" cy="1816100"/>
            <a:chOff x="866884" y="4814389"/>
            <a:chExt cx="1841500" cy="1816100"/>
          </a:xfrm>
        </p:grpSpPr>
        <p:pic>
          <p:nvPicPr>
            <p:cNvPr id="12" name="Picture 11">
              <a:extLst>
                <a:ext uri="{FF2B5EF4-FFF2-40B4-BE49-F238E27FC236}">
                  <a16:creationId xmlns:a16="http://schemas.microsoft.com/office/drawing/2014/main" id="{00683778-0B21-8B46-8E18-4C7D2FE971F2}"/>
                </a:ext>
              </a:extLst>
            </p:cNvPr>
            <p:cNvPicPr>
              <a:picLocks noChangeAspect="1"/>
            </p:cNvPicPr>
            <p:nvPr/>
          </p:nvPicPr>
          <p:blipFill>
            <a:blip r:embed="rId3"/>
            <a:stretch>
              <a:fillRect/>
            </a:stretch>
          </p:blipFill>
          <p:spPr>
            <a:xfrm>
              <a:off x="866884" y="4814389"/>
              <a:ext cx="1841500" cy="1816100"/>
            </a:xfrm>
            <a:prstGeom prst="rect">
              <a:avLst/>
            </a:prstGeom>
          </p:spPr>
        </p:pic>
        <p:sp>
          <p:nvSpPr>
            <p:cNvPr id="28" name="TextBox 27">
              <a:extLst>
                <a:ext uri="{FF2B5EF4-FFF2-40B4-BE49-F238E27FC236}">
                  <a16:creationId xmlns:a16="http://schemas.microsoft.com/office/drawing/2014/main" id="{E5EE1E32-3D88-AE4B-9A35-4BFEF56DDD1A}"/>
                </a:ext>
              </a:extLst>
            </p:cNvPr>
            <p:cNvSpPr txBox="1"/>
            <p:nvPr/>
          </p:nvSpPr>
          <p:spPr>
            <a:xfrm>
              <a:off x="1781119" y="5248985"/>
              <a:ext cx="816249" cy="584775"/>
            </a:xfrm>
            <a:prstGeom prst="rect">
              <a:avLst/>
            </a:prstGeom>
            <a:noFill/>
          </p:spPr>
          <p:txBody>
            <a:bodyPr wrap="none" rtlCol="0">
              <a:spAutoFit/>
            </a:bodyPr>
            <a:lstStyle/>
            <a:p>
              <a:r>
                <a:rPr lang="en-US" sz="3200" b="1" dirty="0">
                  <a:solidFill>
                    <a:srgbClr val="C00000"/>
                  </a:solidFill>
                  <a:latin typeface="+mj-lt"/>
                </a:rPr>
                <a:t>Mia</a:t>
              </a:r>
            </a:p>
          </p:txBody>
        </p:sp>
        <p:sp>
          <p:nvSpPr>
            <p:cNvPr id="9" name="TextBox 8">
              <a:extLst>
                <a:ext uri="{FF2B5EF4-FFF2-40B4-BE49-F238E27FC236}">
                  <a16:creationId xmlns:a16="http://schemas.microsoft.com/office/drawing/2014/main" id="{F0695638-2874-E044-B394-346ADA9472E8}"/>
                </a:ext>
              </a:extLst>
            </p:cNvPr>
            <p:cNvSpPr txBox="1"/>
            <p:nvPr/>
          </p:nvSpPr>
          <p:spPr>
            <a:xfrm>
              <a:off x="1128376" y="5979560"/>
              <a:ext cx="652743" cy="646331"/>
            </a:xfrm>
            <a:prstGeom prst="rect">
              <a:avLst/>
            </a:prstGeom>
            <a:noFill/>
          </p:spPr>
          <p:txBody>
            <a:bodyPr wrap="none" rtlCol="0">
              <a:spAutoFit/>
            </a:bodyPr>
            <a:lstStyle/>
            <a:p>
              <a:r>
                <a:rPr lang="en-US" sz="3600" dirty="0">
                  <a:latin typeface="+mj-lt"/>
                </a:rPr>
                <a:t>00</a:t>
              </a:r>
            </a:p>
          </p:txBody>
        </p:sp>
      </p:grpSp>
      <p:sp>
        <p:nvSpPr>
          <p:cNvPr id="3" name="Slide Number Placeholder 2">
            <a:extLst>
              <a:ext uri="{FF2B5EF4-FFF2-40B4-BE49-F238E27FC236}">
                <a16:creationId xmlns:a16="http://schemas.microsoft.com/office/drawing/2014/main" id="{F675D591-FCEC-F14F-BF97-A6BFA1585F81}"/>
              </a:ext>
            </a:extLst>
          </p:cNvPr>
          <p:cNvSpPr>
            <a:spLocks noGrp="1"/>
          </p:cNvSpPr>
          <p:nvPr>
            <p:ph type="sldNum" sz="quarter" idx="12"/>
          </p:nvPr>
        </p:nvSpPr>
        <p:spPr/>
        <p:txBody>
          <a:bodyPr/>
          <a:lstStyle/>
          <a:p>
            <a:fld id="{D0A7A90D-170E-2F4F-8861-97D6C3C25EEF}" type="slidenum">
              <a:rPr lang="en-US" smtClean="0"/>
              <a:t>5</a:t>
            </a:fld>
            <a:endParaRPr lang="en-US"/>
          </a:p>
        </p:txBody>
      </p:sp>
      <p:sp>
        <p:nvSpPr>
          <p:cNvPr id="2" name="Title 1">
            <a:extLst>
              <a:ext uri="{FF2B5EF4-FFF2-40B4-BE49-F238E27FC236}">
                <a16:creationId xmlns:a16="http://schemas.microsoft.com/office/drawing/2014/main" id="{097DC2CA-2EB8-8C4C-BA87-4F20A9F813D1}"/>
              </a:ext>
            </a:extLst>
          </p:cNvPr>
          <p:cNvSpPr>
            <a:spLocks noGrp="1"/>
          </p:cNvSpPr>
          <p:nvPr>
            <p:ph type="title"/>
          </p:nvPr>
        </p:nvSpPr>
        <p:spPr/>
        <p:txBody>
          <a:bodyPr/>
          <a:lstStyle/>
          <a:p>
            <a:r>
              <a:rPr lang="en-ZA" dirty="0"/>
              <a:t>Finding Eve: Grover’s Search in Action</a:t>
            </a:r>
            <a:endParaRPr lang="en-US" dirty="0"/>
          </a:p>
        </p:txBody>
      </p:sp>
      <p:pic>
        <p:nvPicPr>
          <p:cNvPr id="5" name="Picture 4">
            <a:extLst>
              <a:ext uri="{FF2B5EF4-FFF2-40B4-BE49-F238E27FC236}">
                <a16:creationId xmlns:a16="http://schemas.microsoft.com/office/drawing/2014/main" id="{2EB86257-D7F7-F14F-9BAA-10DB609F06C0}"/>
              </a:ext>
            </a:extLst>
          </p:cNvPr>
          <p:cNvPicPr>
            <a:picLocks noChangeAspect="1"/>
          </p:cNvPicPr>
          <p:nvPr/>
        </p:nvPicPr>
        <p:blipFill>
          <a:blip r:embed="rId4"/>
          <a:stretch>
            <a:fillRect/>
          </a:stretch>
        </p:blipFill>
        <p:spPr>
          <a:xfrm>
            <a:off x="2774892" y="1593456"/>
            <a:ext cx="1689100" cy="1803400"/>
          </a:xfrm>
          <a:prstGeom prst="rect">
            <a:avLst/>
          </a:prstGeom>
        </p:spPr>
      </p:pic>
      <p:pic>
        <p:nvPicPr>
          <p:cNvPr id="19" name="Picture 18">
            <a:extLst>
              <a:ext uri="{FF2B5EF4-FFF2-40B4-BE49-F238E27FC236}">
                <a16:creationId xmlns:a16="http://schemas.microsoft.com/office/drawing/2014/main" id="{8B81B7F3-3233-4D4F-839A-90EEDCF852B6}"/>
              </a:ext>
            </a:extLst>
          </p:cNvPr>
          <p:cNvPicPr>
            <a:picLocks noChangeAspect="1"/>
          </p:cNvPicPr>
          <p:nvPr/>
        </p:nvPicPr>
        <p:blipFill>
          <a:blip r:embed="rId5"/>
          <a:stretch>
            <a:fillRect/>
          </a:stretch>
        </p:blipFill>
        <p:spPr>
          <a:xfrm>
            <a:off x="4101388" y="2791072"/>
            <a:ext cx="1841500" cy="1816100"/>
          </a:xfrm>
          <a:prstGeom prst="rect">
            <a:avLst/>
          </a:prstGeom>
        </p:spPr>
      </p:pic>
      <p:sp>
        <p:nvSpPr>
          <p:cNvPr id="27" name="TextBox 26">
            <a:extLst>
              <a:ext uri="{FF2B5EF4-FFF2-40B4-BE49-F238E27FC236}">
                <a16:creationId xmlns:a16="http://schemas.microsoft.com/office/drawing/2014/main" id="{BB63AB72-2B31-224F-853E-C10C24DE2C52}"/>
              </a:ext>
            </a:extLst>
          </p:cNvPr>
          <p:cNvSpPr txBox="1"/>
          <p:nvPr/>
        </p:nvSpPr>
        <p:spPr>
          <a:xfrm>
            <a:off x="3536696" y="2034090"/>
            <a:ext cx="774571" cy="584775"/>
          </a:xfrm>
          <a:prstGeom prst="rect">
            <a:avLst/>
          </a:prstGeom>
          <a:noFill/>
        </p:spPr>
        <p:txBody>
          <a:bodyPr wrap="none" rtlCol="0">
            <a:spAutoFit/>
          </a:bodyPr>
          <a:lstStyle/>
          <a:p>
            <a:r>
              <a:rPr lang="en-US" sz="3200" b="1" dirty="0">
                <a:solidFill>
                  <a:srgbClr val="C00000"/>
                </a:solidFill>
                <a:latin typeface="+mj-lt"/>
              </a:rPr>
              <a:t>Leo</a:t>
            </a:r>
          </a:p>
        </p:txBody>
      </p:sp>
      <p:sp>
        <p:nvSpPr>
          <p:cNvPr id="8" name="TextBox 7">
            <a:extLst>
              <a:ext uri="{FF2B5EF4-FFF2-40B4-BE49-F238E27FC236}">
                <a16:creationId xmlns:a16="http://schemas.microsoft.com/office/drawing/2014/main" id="{DCDB1A16-B208-A347-B5AF-AD603F9297B4}"/>
              </a:ext>
            </a:extLst>
          </p:cNvPr>
          <p:cNvSpPr txBox="1"/>
          <p:nvPr/>
        </p:nvSpPr>
        <p:spPr>
          <a:xfrm>
            <a:off x="2881259" y="2764665"/>
            <a:ext cx="652743" cy="646331"/>
          </a:xfrm>
          <a:prstGeom prst="rect">
            <a:avLst/>
          </a:prstGeom>
          <a:noFill/>
        </p:spPr>
        <p:txBody>
          <a:bodyPr wrap="none" rtlCol="0">
            <a:spAutoFit/>
          </a:bodyPr>
          <a:lstStyle/>
          <a:p>
            <a:r>
              <a:rPr lang="en-US" sz="3600" dirty="0">
                <a:latin typeface="+mj-lt"/>
              </a:rPr>
              <a:t>11</a:t>
            </a:r>
          </a:p>
        </p:txBody>
      </p:sp>
      <p:grpSp>
        <p:nvGrpSpPr>
          <p:cNvPr id="31" name="Group 30">
            <a:extLst>
              <a:ext uri="{FF2B5EF4-FFF2-40B4-BE49-F238E27FC236}">
                <a16:creationId xmlns:a16="http://schemas.microsoft.com/office/drawing/2014/main" id="{98A097FB-DCC4-CA4E-9D8F-67600847A226}"/>
              </a:ext>
            </a:extLst>
          </p:cNvPr>
          <p:cNvGrpSpPr/>
          <p:nvPr/>
        </p:nvGrpSpPr>
        <p:grpSpPr>
          <a:xfrm>
            <a:off x="7217536" y="2396109"/>
            <a:ext cx="1778000" cy="1834742"/>
            <a:chOff x="3373103" y="3696935"/>
            <a:chExt cx="1778000" cy="1834742"/>
          </a:xfrm>
        </p:grpSpPr>
        <p:pic>
          <p:nvPicPr>
            <p:cNvPr id="23" name="Picture 22">
              <a:extLst>
                <a:ext uri="{FF2B5EF4-FFF2-40B4-BE49-F238E27FC236}">
                  <a16:creationId xmlns:a16="http://schemas.microsoft.com/office/drawing/2014/main" id="{823D40A4-79DB-AC45-8CE5-4CF517A39515}"/>
                </a:ext>
              </a:extLst>
            </p:cNvPr>
            <p:cNvPicPr>
              <a:picLocks noChangeAspect="1"/>
            </p:cNvPicPr>
            <p:nvPr/>
          </p:nvPicPr>
          <p:blipFill>
            <a:blip r:embed="rId6"/>
            <a:stretch>
              <a:fillRect/>
            </a:stretch>
          </p:blipFill>
          <p:spPr>
            <a:xfrm>
              <a:off x="3373103" y="3696935"/>
              <a:ext cx="1778000" cy="1816100"/>
            </a:xfrm>
            <a:prstGeom prst="rect">
              <a:avLst/>
            </a:prstGeom>
          </p:spPr>
        </p:pic>
        <p:sp>
          <p:nvSpPr>
            <p:cNvPr id="30" name="TextBox 29">
              <a:extLst>
                <a:ext uri="{FF2B5EF4-FFF2-40B4-BE49-F238E27FC236}">
                  <a16:creationId xmlns:a16="http://schemas.microsoft.com/office/drawing/2014/main" id="{7C261D87-3E49-5945-BFF3-2C14C33AB307}"/>
                </a:ext>
              </a:extLst>
            </p:cNvPr>
            <p:cNvSpPr txBox="1"/>
            <p:nvPr/>
          </p:nvSpPr>
          <p:spPr>
            <a:xfrm>
              <a:off x="4202678" y="4101567"/>
              <a:ext cx="821059" cy="584775"/>
            </a:xfrm>
            <a:prstGeom prst="rect">
              <a:avLst/>
            </a:prstGeom>
            <a:noFill/>
          </p:spPr>
          <p:txBody>
            <a:bodyPr wrap="none" rtlCol="0">
              <a:spAutoFit/>
            </a:bodyPr>
            <a:lstStyle/>
            <a:p>
              <a:r>
                <a:rPr lang="en-US" sz="3200" b="1" dirty="0">
                  <a:solidFill>
                    <a:srgbClr val="C00000"/>
                  </a:solidFill>
                  <a:latin typeface="+mj-lt"/>
                </a:rPr>
                <a:t>Ben</a:t>
              </a:r>
            </a:p>
          </p:txBody>
        </p:sp>
        <p:sp>
          <p:nvSpPr>
            <p:cNvPr id="6" name="TextBox 5">
              <a:extLst>
                <a:ext uri="{FF2B5EF4-FFF2-40B4-BE49-F238E27FC236}">
                  <a16:creationId xmlns:a16="http://schemas.microsoft.com/office/drawing/2014/main" id="{8C75ED4D-E351-8C4A-B526-D7E3E150DAF5}"/>
                </a:ext>
              </a:extLst>
            </p:cNvPr>
            <p:cNvSpPr txBox="1"/>
            <p:nvPr/>
          </p:nvSpPr>
          <p:spPr>
            <a:xfrm>
              <a:off x="3609360" y="4885346"/>
              <a:ext cx="652743" cy="646331"/>
            </a:xfrm>
            <a:prstGeom prst="rect">
              <a:avLst/>
            </a:prstGeom>
            <a:noFill/>
          </p:spPr>
          <p:txBody>
            <a:bodyPr wrap="none" rtlCol="0">
              <a:spAutoFit/>
            </a:bodyPr>
            <a:lstStyle/>
            <a:p>
              <a:r>
                <a:rPr lang="en-US" sz="3600" dirty="0">
                  <a:latin typeface="+mj-lt"/>
                </a:rPr>
                <a:t>01</a:t>
              </a:r>
            </a:p>
          </p:txBody>
        </p:sp>
      </p:grpSp>
      <p:sp>
        <p:nvSpPr>
          <p:cNvPr id="29" name="TextBox 28">
            <a:extLst>
              <a:ext uri="{FF2B5EF4-FFF2-40B4-BE49-F238E27FC236}">
                <a16:creationId xmlns:a16="http://schemas.microsoft.com/office/drawing/2014/main" id="{EAC697F7-19EC-BD43-9512-4531BA9B7008}"/>
              </a:ext>
            </a:extLst>
          </p:cNvPr>
          <p:cNvSpPr txBox="1"/>
          <p:nvPr/>
        </p:nvSpPr>
        <p:spPr>
          <a:xfrm>
            <a:off x="4982142" y="3240461"/>
            <a:ext cx="756682" cy="584775"/>
          </a:xfrm>
          <a:prstGeom prst="rect">
            <a:avLst/>
          </a:prstGeom>
          <a:noFill/>
        </p:spPr>
        <p:txBody>
          <a:bodyPr wrap="none" rtlCol="0">
            <a:spAutoFit/>
          </a:bodyPr>
          <a:lstStyle/>
          <a:p>
            <a:r>
              <a:rPr lang="en-US" sz="3200" b="1" dirty="0">
                <a:solidFill>
                  <a:srgbClr val="FF0000"/>
                </a:solidFill>
                <a:latin typeface="+mj-lt"/>
              </a:rPr>
              <a:t>Eve</a:t>
            </a:r>
          </a:p>
        </p:txBody>
      </p:sp>
      <p:sp>
        <p:nvSpPr>
          <p:cNvPr id="7" name="TextBox 6">
            <a:extLst>
              <a:ext uri="{FF2B5EF4-FFF2-40B4-BE49-F238E27FC236}">
                <a16:creationId xmlns:a16="http://schemas.microsoft.com/office/drawing/2014/main" id="{4FB604C7-5EC1-B043-8765-479571F5C274}"/>
              </a:ext>
            </a:extLst>
          </p:cNvPr>
          <p:cNvSpPr txBox="1"/>
          <p:nvPr/>
        </p:nvSpPr>
        <p:spPr>
          <a:xfrm>
            <a:off x="4329399" y="3959664"/>
            <a:ext cx="652743" cy="646331"/>
          </a:xfrm>
          <a:prstGeom prst="rect">
            <a:avLst/>
          </a:prstGeom>
          <a:noFill/>
        </p:spPr>
        <p:txBody>
          <a:bodyPr wrap="none" rtlCol="0">
            <a:spAutoFit/>
          </a:bodyPr>
          <a:lstStyle/>
          <a:p>
            <a:r>
              <a:rPr lang="en-US" sz="3600" dirty="0">
                <a:latin typeface="+mj-lt"/>
              </a:rPr>
              <a:t>10</a:t>
            </a:r>
          </a:p>
        </p:txBody>
      </p:sp>
      <p:pic>
        <p:nvPicPr>
          <p:cNvPr id="38" name="Picture 37">
            <a:extLst>
              <a:ext uri="{FF2B5EF4-FFF2-40B4-BE49-F238E27FC236}">
                <a16:creationId xmlns:a16="http://schemas.microsoft.com/office/drawing/2014/main" id="{51954689-B82B-DD4D-A47C-2AF45F6E88CE}"/>
              </a:ext>
            </a:extLst>
          </p:cNvPr>
          <p:cNvPicPr>
            <a:picLocks noChangeAspect="1"/>
          </p:cNvPicPr>
          <p:nvPr/>
        </p:nvPicPr>
        <p:blipFill>
          <a:blip r:embed="rId7"/>
          <a:stretch>
            <a:fillRect/>
          </a:stretch>
        </p:blipFill>
        <p:spPr>
          <a:xfrm rot="18572775">
            <a:off x="4643866" y="3222785"/>
            <a:ext cx="1549400" cy="1549400"/>
          </a:xfrm>
          <a:prstGeom prst="rect">
            <a:avLst/>
          </a:prstGeom>
        </p:spPr>
      </p:pic>
      <p:sp>
        <p:nvSpPr>
          <p:cNvPr id="20" name="TextBox 19">
            <a:extLst>
              <a:ext uri="{FF2B5EF4-FFF2-40B4-BE49-F238E27FC236}">
                <a16:creationId xmlns:a16="http://schemas.microsoft.com/office/drawing/2014/main" id="{6A2C8203-5F05-E049-A6F0-4215109FAB7B}"/>
              </a:ext>
            </a:extLst>
          </p:cNvPr>
          <p:cNvSpPr txBox="1"/>
          <p:nvPr/>
        </p:nvSpPr>
        <p:spPr>
          <a:xfrm>
            <a:off x="4934064" y="5960900"/>
            <a:ext cx="2688557" cy="584775"/>
          </a:xfrm>
          <a:prstGeom prst="rect">
            <a:avLst/>
          </a:prstGeom>
          <a:noFill/>
        </p:spPr>
        <p:txBody>
          <a:bodyPr wrap="none" rtlCol="0">
            <a:spAutoFit/>
          </a:bodyPr>
          <a:lstStyle/>
          <a:p>
            <a:r>
              <a:rPr lang="en-US" sz="3200" dirty="0"/>
              <a:t>(11, 10, 00, 01)</a:t>
            </a:r>
          </a:p>
        </p:txBody>
      </p:sp>
    </p:spTree>
    <p:extLst>
      <p:ext uri="{BB962C8B-B14F-4D97-AF65-F5344CB8AC3E}">
        <p14:creationId xmlns:p14="http://schemas.microsoft.com/office/powerpoint/2010/main" val="1449627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 name="Straight Connector 101">
            <a:extLst>
              <a:ext uri="{FF2B5EF4-FFF2-40B4-BE49-F238E27FC236}">
                <a16:creationId xmlns:a16="http://schemas.microsoft.com/office/drawing/2014/main" id="{A69F462C-8D63-2747-9B49-89D30668999E}"/>
              </a:ext>
            </a:extLst>
          </p:cNvPr>
          <p:cNvCxnSpPr>
            <a:cxnSpLocks/>
          </p:cNvCxnSpPr>
          <p:nvPr/>
        </p:nvCxnSpPr>
        <p:spPr>
          <a:xfrm>
            <a:off x="970360" y="4523810"/>
            <a:ext cx="101471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8E28186-BDFE-0D47-9CFD-5EADF535F7AA}"/>
              </a:ext>
            </a:extLst>
          </p:cNvPr>
          <p:cNvSpPr>
            <a:spLocks noGrp="1"/>
          </p:cNvSpPr>
          <p:nvPr>
            <p:ph type="title"/>
          </p:nvPr>
        </p:nvSpPr>
        <p:spPr/>
        <p:txBody>
          <a:bodyPr/>
          <a:lstStyle/>
          <a:p>
            <a:r>
              <a:rPr lang="en-ZA" dirty="0"/>
              <a:t>Four Steps of Grover’s Algorithm</a:t>
            </a:r>
            <a:endParaRPr lang="en-US" dirty="0"/>
          </a:p>
        </p:txBody>
      </p:sp>
      <p:sp>
        <p:nvSpPr>
          <p:cNvPr id="3" name="Slide Number Placeholder 2">
            <a:extLst>
              <a:ext uri="{FF2B5EF4-FFF2-40B4-BE49-F238E27FC236}">
                <a16:creationId xmlns:a16="http://schemas.microsoft.com/office/drawing/2014/main" id="{88AEB840-F72D-A247-A4A8-5A4C6EBF6911}"/>
              </a:ext>
            </a:extLst>
          </p:cNvPr>
          <p:cNvSpPr>
            <a:spLocks noGrp="1"/>
          </p:cNvSpPr>
          <p:nvPr>
            <p:ph type="sldNum" sz="quarter" idx="12"/>
          </p:nvPr>
        </p:nvSpPr>
        <p:spPr/>
        <p:txBody>
          <a:bodyPr/>
          <a:lstStyle/>
          <a:p>
            <a:fld id="{591A223C-FA10-BC46-A853-03BA373D023C}" type="slidenum">
              <a:rPr lang="en-US" smtClean="0"/>
              <a:t>6</a:t>
            </a:fld>
            <a:endParaRPr lang="en-US"/>
          </a:p>
        </p:txBody>
      </p:sp>
      <p:cxnSp>
        <p:nvCxnSpPr>
          <p:cNvPr id="79" name="Straight Arrow Connector 78">
            <a:extLst>
              <a:ext uri="{FF2B5EF4-FFF2-40B4-BE49-F238E27FC236}">
                <a16:creationId xmlns:a16="http://schemas.microsoft.com/office/drawing/2014/main" id="{D2232BB1-839E-9A45-ABC7-B3C115547F1E}"/>
              </a:ext>
            </a:extLst>
          </p:cNvPr>
          <p:cNvCxnSpPr>
            <a:cxnSpLocks/>
          </p:cNvCxnSpPr>
          <p:nvPr/>
        </p:nvCxnSpPr>
        <p:spPr>
          <a:xfrm flipV="1">
            <a:off x="3862549" y="1963831"/>
            <a:ext cx="0" cy="1971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24479B55-AE75-B745-B768-348CDDCF3213}"/>
              </a:ext>
            </a:extLst>
          </p:cNvPr>
          <p:cNvCxnSpPr>
            <a:cxnSpLocks/>
          </p:cNvCxnSpPr>
          <p:nvPr/>
        </p:nvCxnSpPr>
        <p:spPr>
          <a:xfrm flipV="1">
            <a:off x="941795" y="1963831"/>
            <a:ext cx="0" cy="1971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CA15D5A-00EC-F541-9260-4980EDF1C2C1}"/>
              </a:ext>
            </a:extLst>
          </p:cNvPr>
          <p:cNvCxnSpPr>
            <a:cxnSpLocks/>
          </p:cNvCxnSpPr>
          <p:nvPr/>
        </p:nvCxnSpPr>
        <p:spPr>
          <a:xfrm>
            <a:off x="882924" y="3252299"/>
            <a:ext cx="206745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2D36D50-7496-2B4D-9739-0465326D394D}"/>
              </a:ext>
            </a:extLst>
          </p:cNvPr>
          <p:cNvSpPr/>
          <p:nvPr/>
        </p:nvSpPr>
        <p:spPr>
          <a:xfrm>
            <a:off x="1107463" y="2650704"/>
            <a:ext cx="207592" cy="605832"/>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Rectangle 13">
            <a:extLst>
              <a:ext uri="{FF2B5EF4-FFF2-40B4-BE49-F238E27FC236}">
                <a16:creationId xmlns:a16="http://schemas.microsoft.com/office/drawing/2014/main" id="{6BB3EAE8-29E9-9D4A-BFC7-226A9021A386}"/>
              </a:ext>
            </a:extLst>
          </p:cNvPr>
          <p:cNvSpPr/>
          <p:nvPr/>
        </p:nvSpPr>
        <p:spPr>
          <a:xfrm>
            <a:off x="1616486" y="2650704"/>
            <a:ext cx="207592" cy="605832"/>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Rectangle 14">
            <a:extLst>
              <a:ext uri="{FF2B5EF4-FFF2-40B4-BE49-F238E27FC236}">
                <a16:creationId xmlns:a16="http://schemas.microsoft.com/office/drawing/2014/main" id="{26F7D36C-0A9F-FD4B-9637-883F03844C7B}"/>
              </a:ext>
            </a:extLst>
          </p:cNvPr>
          <p:cNvSpPr/>
          <p:nvPr/>
        </p:nvSpPr>
        <p:spPr>
          <a:xfrm>
            <a:off x="2125509" y="2650704"/>
            <a:ext cx="207592" cy="605832"/>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6" name="Rectangle 15">
            <a:extLst>
              <a:ext uri="{FF2B5EF4-FFF2-40B4-BE49-F238E27FC236}">
                <a16:creationId xmlns:a16="http://schemas.microsoft.com/office/drawing/2014/main" id="{2008EC58-1712-C741-947C-D6BED4502DEF}"/>
              </a:ext>
            </a:extLst>
          </p:cNvPr>
          <p:cNvSpPr/>
          <p:nvPr/>
        </p:nvSpPr>
        <p:spPr>
          <a:xfrm>
            <a:off x="2634532" y="2650704"/>
            <a:ext cx="207592" cy="605832"/>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 name="TextBox 16">
            <a:extLst>
              <a:ext uri="{FF2B5EF4-FFF2-40B4-BE49-F238E27FC236}">
                <a16:creationId xmlns:a16="http://schemas.microsoft.com/office/drawing/2014/main" id="{CDCC68C1-669B-5E40-BA36-6BE6CAE1D30B}"/>
              </a:ext>
            </a:extLst>
          </p:cNvPr>
          <p:cNvSpPr txBox="1"/>
          <p:nvPr/>
        </p:nvSpPr>
        <p:spPr>
          <a:xfrm>
            <a:off x="1014512" y="3214751"/>
            <a:ext cx="393056" cy="338554"/>
          </a:xfrm>
          <a:prstGeom prst="rect">
            <a:avLst/>
          </a:prstGeom>
          <a:noFill/>
        </p:spPr>
        <p:txBody>
          <a:bodyPr wrap="none" rtlCol="0">
            <a:spAutoFit/>
          </a:bodyPr>
          <a:lstStyle/>
          <a:p>
            <a:r>
              <a:rPr lang="en-US" sz="1600" dirty="0"/>
              <a:t>00</a:t>
            </a:r>
          </a:p>
        </p:txBody>
      </p:sp>
      <p:sp>
        <p:nvSpPr>
          <p:cNvPr id="18" name="TextBox 17">
            <a:extLst>
              <a:ext uri="{FF2B5EF4-FFF2-40B4-BE49-F238E27FC236}">
                <a16:creationId xmlns:a16="http://schemas.microsoft.com/office/drawing/2014/main" id="{D4FF838C-8812-A54D-98F9-276D9B09D5D2}"/>
              </a:ext>
            </a:extLst>
          </p:cNvPr>
          <p:cNvSpPr txBox="1"/>
          <p:nvPr/>
        </p:nvSpPr>
        <p:spPr>
          <a:xfrm>
            <a:off x="1521967" y="3214751"/>
            <a:ext cx="393056" cy="338554"/>
          </a:xfrm>
          <a:prstGeom prst="rect">
            <a:avLst/>
          </a:prstGeom>
          <a:noFill/>
        </p:spPr>
        <p:txBody>
          <a:bodyPr wrap="none" rtlCol="0">
            <a:spAutoFit/>
          </a:bodyPr>
          <a:lstStyle/>
          <a:p>
            <a:r>
              <a:rPr lang="en-US" sz="1600" dirty="0"/>
              <a:t>01</a:t>
            </a:r>
          </a:p>
        </p:txBody>
      </p:sp>
      <p:sp>
        <p:nvSpPr>
          <p:cNvPr id="19" name="TextBox 18">
            <a:extLst>
              <a:ext uri="{FF2B5EF4-FFF2-40B4-BE49-F238E27FC236}">
                <a16:creationId xmlns:a16="http://schemas.microsoft.com/office/drawing/2014/main" id="{EE89CF37-4C32-8840-A0B5-838652A0C641}"/>
              </a:ext>
            </a:extLst>
          </p:cNvPr>
          <p:cNvSpPr txBox="1"/>
          <p:nvPr/>
        </p:nvSpPr>
        <p:spPr>
          <a:xfrm>
            <a:off x="2029422" y="3214751"/>
            <a:ext cx="393056" cy="338554"/>
          </a:xfrm>
          <a:prstGeom prst="rect">
            <a:avLst/>
          </a:prstGeom>
          <a:noFill/>
        </p:spPr>
        <p:txBody>
          <a:bodyPr wrap="none" rtlCol="0">
            <a:spAutoFit/>
          </a:bodyPr>
          <a:lstStyle/>
          <a:p>
            <a:r>
              <a:rPr lang="en-US" sz="1600" dirty="0"/>
              <a:t>10</a:t>
            </a:r>
          </a:p>
        </p:txBody>
      </p:sp>
      <p:sp>
        <p:nvSpPr>
          <p:cNvPr id="20" name="TextBox 19">
            <a:extLst>
              <a:ext uri="{FF2B5EF4-FFF2-40B4-BE49-F238E27FC236}">
                <a16:creationId xmlns:a16="http://schemas.microsoft.com/office/drawing/2014/main" id="{304F88FD-ADD2-774F-8D2D-2AF31675C3A6}"/>
              </a:ext>
            </a:extLst>
          </p:cNvPr>
          <p:cNvSpPr txBox="1"/>
          <p:nvPr/>
        </p:nvSpPr>
        <p:spPr>
          <a:xfrm>
            <a:off x="2536876" y="3214751"/>
            <a:ext cx="393056" cy="338554"/>
          </a:xfrm>
          <a:prstGeom prst="rect">
            <a:avLst/>
          </a:prstGeom>
          <a:noFill/>
        </p:spPr>
        <p:txBody>
          <a:bodyPr wrap="none" rtlCol="0">
            <a:spAutoFit/>
          </a:bodyPr>
          <a:lstStyle/>
          <a:p>
            <a:r>
              <a:rPr lang="en-US" sz="1600" dirty="0"/>
              <a:t>11</a:t>
            </a:r>
          </a:p>
        </p:txBody>
      </p:sp>
      <p:sp>
        <p:nvSpPr>
          <p:cNvPr id="22" name="TextBox 21">
            <a:extLst>
              <a:ext uri="{FF2B5EF4-FFF2-40B4-BE49-F238E27FC236}">
                <a16:creationId xmlns:a16="http://schemas.microsoft.com/office/drawing/2014/main" id="{21887B1F-91CD-8543-9BAE-84C1DB851050}"/>
              </a:ext>
            </a:extLst>
          </p:cNvPr>
          <p:cNvSpPr txBox="1"/>
          <p:nvPr/>
        </p:nvSpPr>
        <p:spPr>
          <a:xfrm>
            <a:off x="627159" y="3086742"/>
            <a:ext cx="288862" cy="338554"/>
          </a:xfrm>
          <a:prstGeom prst="rect">
            <a:avLst/>
          </a:prstGeom>
          <a:noFill/>
        </p:spPr>
        <p:txBody>
          <a:bodyPr wrap="none" rtlCol="0">
            <a:spAutoFit/>
          </a:bodyPr>
          <a:lstStyle/>
          <a:p>
            <a:r>
              <a:rPr lang="en-US" sz="1600" dirty="0"/>
              <a:t>0</a:t>
            </a:r>
          </a:p>
        </p:txBody>
      </p:sp>
      <p:sp>
        <p:nvSpPr>
          <p:cNvPr id="23" name="TextBox 22">
            <a:extLst>
              <a:ext uri="{FF2B5EF4-FFF2-40B4-BE49-F238E27FC236}">
                <a16:creationId xmlns:a16="http://schemas.microsoft.com/office/drawing/2014/main" id="{F8C33531-BA52-0543-9A35-BD58D7B3AB51}"/>
              </a:ext>
            </a:extLst>
          </p:cNvPr>
          <p:cNvSpPr txBox="1"/>
          <p:nvPr/>
        </p:nvSpPr>
        <p:spPr>
          <a:xfrm>
            <a:off x="436239" y="3715127"/>
            <a:ext cx="534121" cy="338554"/>
          </a:xfrm>
          <a:prstGeom prst="rect">
            <a:avLst/>
          </a:prstGeom>
          <a:noFill/>
        </p:spPr>
        <p:txBody>
          <a:bodyPr wrap="none" rtlCol="0">
            <a:spAutoFit/>
          </a:bodyPr>
          <a:lstStyle/>
          <a:p>
            <a:r>
              <a:rPr lang="en-US" sz="1600" dirty="0"/>
              <a:t>-1/2</a:t>
            </a:r>
          </a:p>
        </p:txBody>
      </p:sp>
      <p:sp>
        <p:nvSpPr>
          <p:cNvPr id="24" name="TextBox 23">
            <a:extLst>
              <a:ext uri="{FF2B5EF4-FFF2-40B4-BE49-F238E27FC236}">
                <a16:creationId xmlns:a16="http://schemas.microsoft.com/office/drawing/2014/main" id="{BA1214AC-F9E9-1142-845C-131CC39084BF}"/>
              </a:ext>
            </a:extLst>
          </p:cNvPr>
          <p:cNvSpPr txBox="1"/>
          <p:nvPr/>
        </p:nvSpPr>
        <p:spPr>
          <a:xfrm>
            <a:off x="457287" y="2438413"/>
            <a:ext cx="534121" cy="338554"/>
          </a:xfrm>
          <a:prstGeom prst="rect">
            <a:avLst/>
          </a:prstGeom>
          <a:noFill/>
        </p:spPr>
        <p:txBody>
          <a:bodyPr wrap="none" rtlCol="0">
            <a:spAutoFit/>
          </a:bodyPr>
          <a:lstStyle/>
          <a:p>
            <a:r>
              <a:rPr lang="en-US" sz="1600" dirty="0"/>
              <a:t>-1/2</a:t>
            </a:r>
          </a:p>
        </p:txBody>
      </p:sp>
      <p:sp>
        <p:nvSpPr>
          <p:cNvPr id="25" name="TextBox 24">
            <a:extLst>
              <a:ext uri="{FF2B5EF4-FFF2-40B4-BE49-F238E27FC236}">
                <a16:creationId xmlns:a16="http://schemas.microsoft.com/office/drawing/2014/main" id="{D0778F19-168B-5849-9916-77A5A8ECB185}"/>
              </a:ext>
            </a:extLst>
          </p:cNvPr>
          <p:cNvSpPr txBox="1"/>
          <p:nvPr/>
        </p:nvSpPr>
        <p:spPr>
          <a:xfrm rot="16200000">
            <a:off x="-116661" y="2957179"/>
            <a:ext cx="1053494" cy="338554"/>
          </a:xfrm>
          <a:prstGeom prst="rect">
            <a:avLst/>
          </a:prstGeom>
          <a:noFill/>
        </p:spPr>
        <p:txBody>
          <a:bodyPr wrap="none" rtlCol="0">
            <a:spAutoFit/>
          </a:bodyPr>
          <a:lstStyle/>
          <a:p>
            <a:r>
              <a:rPr lang="en-US" sz="1600" dirty="0"/>
              <a:t>Amplitude</a:t>
            </a:r>
          </a:p>
        </p:txBody>
      </p:sp>
      <p:sp>
        <p:nvSpPr>
          <p:cNvPr id="26" name="TextBox 25">
            <a:extLst>
              <a:ext uri="{FF2B5EF4-FFF2-40B4-BE49-F238E27FC236}">
                <a16:creationId xmlns:a16="http://schemas.microsoft.com/office/drawing/2014/main" id="{FC552276-9F97-EB4A-98B8-02EB2B0EEE24}"/>
              </a:ext>
            </a:extLst>
          </p:cNvPr>
          <p:cNvSpPr txBox="1"/>
          <p:nvPr/>
        </p:nvSpPr>
        <p:spPr>
          <a:xfrm>
            <a:off x="1211040" y="1169173"/>
            <a:ext cx="2042354" cy="369332"/>
          </a:xfrm>
          <a:prstGeom prst="rect">
            <a:avLst/>
          </a:prstGeom>
          <a:noFill/>
        </p:spPr>
        <p:txBody>
          <a:bodyPr wrap="none" rtlCol="0">
            <a:spAutoFit/>
          </a:bodyPr>
          <a:lstStyle/>
          <a:p>
            <a:r>
              <a:rPr lang="en-US" dirty="0"/>
              <a:t>Equal superposition</a:t>
            </a:r>
          </a:p>
        </p:txBody>
      </p:sp>
      <p:sp>
        <p:nvSpPr>
          <p:cNvPr id="28" name="Rounded Rectangle 27">
            <a:extLst>
              <a:ext uri="{FF2B5EF4-FFF2-40B4-BE49-F238E27FC236}">
                <a16:creationId xmlns:a16="http://schemas.microsoft.com/office/drawing/2014/main" id="{3A415DE8-4216-814B-B56A-5F13428E16A6}"/>
              </a:ext>
            </a:extLst>
          </p:cNvPr>
          <p:cNvSpPr/>
          <p:nvPr/>
        </p:nvSpPr>
        <p:spPr>
          <a:xfrm>
            <a:off x="707156" y="5273053"/>
            <a:ext cx="2400394" cy="662232"/>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All four indices have the same positive amplitude</a:t>
            </a:r>
          </a:p>
        </p:txBody>
      </p:sp>
      <p:sp>
        <p:nvSpPr>
          <p:cNvPr id="29" name="Rounded Rectangle 28">
            <a:extLst>
              <a:ext uri="{FF2B5EF4-FFF2-40B4-BE49-F238E27FC236}">
                <a16:creationId xmlns:a16="http://schemas.microsoft.com/office/drawing/2014/main" id="{24BC1C20-DDB5-8A49-87AA-10BE08A10135}"/>
              </a:ext>
            </a:extLst>
          </p:cNvPr>
          <p:cNvSpPr/>
          <p:nvPr/>
        </p:nvSpPr>
        <p:spPr>
          <a:xfrm>
            <a:off x="3643559" y="5197698"/>
            <a:ext cx="2498621" cy="102136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The oracle inverts the sign of the amplitude of the target state |10⟩</a:t>
            </a:r>
          </a:p>
          <a:p>
            <a:pPr algn="ctr"/>
            <a:r>
              <a:rPr lang="en-US" sz="1600" dirty="0">
                <a:solidFill>
                  <a:schemeClr val="tx1"/>
                </a:solidFill>
              </a:rPr>
              <a:t>(Eve’s phone number) </a:t>
            </a:r>
          </a:p>
        </p:txBody>
      </p:sp>
      <p:cxnSp>
        <p:nvCxnSpPr>
          <p:cNvPr id="33" name="Straight Connector 32">
            <a:extLst>
              <a:ext uri="{FF2B5EF4-FFF2-40B4-BE49-F238E27FC236}">
                <a16:creationId xmlns:a16="http://schemas.microsoft.com/office/drawing/2014/main" id="{31F74ECF-04DE-4A4D-A712-5E96B05581DF}"/>
              </a:ext>
            </a:extLst>
          </p:cNvPr>
          <p:cNvCxnSpPr>
            <a:cxnSpLocks/>
          </p:cNvCxnSpPr>
          <p:nvPr/>
        </p:nvCxnSpPr>
        <p:spPr>
          <a:xfrm>
            <a:off x="3803678" y="3252299"/>
            <a:ext cx="206745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0156712-E48E-0047-9B67-7A0FFEDE91CD}"/>
              </a:ext>
            </a:extLst>
          </p:cNvPr>
          <p:cNvSpPr/>
          <p:nvPr/>
        </p:nvSpPr>
        <p:spPr>
          <a:xfrm>
            <a:off x="4028217" y="2650704"/>
            <a:ext cx="207592" cy="605832"/>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5" name="Rectangle 34">
            <a:extLst>
              <a:ext uri="{FF2B5EF4-FFF2-40B4-BE49-F238E27FC236}">
                <a16:creationId xmlns:a16="http://schemas.microsoft.com/office/drawing/2014/main" id="{C9037136-A2BC-3943-B694-A2B0E910B960}"/>
              </a:ext>
            </a:extLst>
          </p:cNvPr>
          <p:cNvSpPr/>
          <p:nvPr/>
        </p:nvSpPr>
        <p:spPr>
          <a:xfrm>
            <a:off x="4537240" y="2650704"/>
            <a:ext cx="207592" cy="605832"/>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6" name="Rectangle 35">
            <a:extLst>
              <a:ext uri="{FF2B5EF4-FFF2-40B4-BE49-F238E27FC236}">
                <a16:creationId xmlns:a16="http://schemas.microsoft.com/office/drawing/2014/main" id="{990F6F6D-10EC-3545-BD06-08C7EA655424}"/>
              </a:ext>
            </a:extLst>
          </p:cNvPr>
          <p:cNvSpPr/>
          <p:nvPr/>
        </p:nvSpPr>
        <p:spPr>
          <a:xfrm>
            <a:off x="5039438" y="3251819"/>
            <a:ext cx="207592" cy="60583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7" name="Rectangle 36">
            <a:extLst>
              <a:ext uri="{FF2B5EF4-FFF2-40B4-BE49-F238E27FC236}">
                <a16:creationId xmlns:a16="http://schemas.microsoft.com/office/drawing/2014/main" id="{49F442E4-06D5-9F41-BABA-35363B2DD5AD}"/>
              </a:ext>
            </a:extLst>
          </p:cNvPr>
          <p:cNvSpPr/>
          <p:nvPr/>
        </p:nvSpPr>
        <p:spPr>
          <a:xfrm>
            <a:off x="5555285" y="2650704"/>
            <a:ext cx="207592" cy="605832"/>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8" name="TextBox 37">
            <a:extLst>
              <a:ext uri="{FF2B5EF4-FFF2-40B4-BE49-F238E27FC236}">
                <a16:creationId xmlns:a16="http://schemas.microsoft.com/office/drawing/2014/main" id="{3B892E43-330A-7442-A0FC-8A1A61670C71}"/>
              </a:ext>
            </a:extLst>
          </p:cNvPr>
          <p:cNvSpPr txBox="1"/>
          <p:nvPr/>
        </p:nvSpPr>
        <p:spPr>
          <a:xfrm>
            <a:off x="3935266" y="3214751"/>
            <a:ext cx="393056" cy="338554"/>
          </a:xfrm>
          <a:prstGeom prst="rect">
            <a:avLst/>
          </a:prstGeom>
          <a:noFill/>
        </p:spPr>
        <p:txBody>
          <a:bodyPr wrap="none" rtlCol="0">
            <a:spAutoFit/>
          </a:bodyPr>
          <a:lstStyle/>
          <a:p>
            <a:r>
              <a:rPr lang="en-US" sz="1600" dirty="0"/>
              <a:t>00</a:t>
            </a:r>
          </a:p>
        </p:txBody>
      </p:sp>
      <p:sp>
        <p:nvSpPr>
          <p:cNvPr id="39" name="TextBox 38">
            <a:extLst>
              <a:ext uri="{FF2B5EF4-FFF2-40B4-BE49-F238E27FC236}">
                <a16:creationId xmlns:a16="http://schemas.microsoft.com/office/drawing/2014/main" id="{52D9573F-5B40-404D-944B-A80D2BE66421}"/>
              </a:ext>
            </a:extLst>
          </p:cNvPr>
          <p:cNvSpPr txBox="1"/>
          <p:nvPr/>
        </p:nvSpPr>
        <p:spPr>
          <a:xfrm>
            <a:off x="4442720" y="3214751"/>
            <a:ext cx="393056" cy="338554"/>
          </a:xfrm>
          <a:prstGeom prst="rect">
            <a:avLst/>
          </a:prstGeom>
          <a:noFill/>
        </p:spPr>
        <p:txBody>
          <a:bodyPr wrap="none" rtlCol="0">
            <a:spAutoFit/>
          </a:bodyPr>
          <a:lstStyle/>
          <a:p>
            <a:r>
              <a:rPr lang="en-US" sz="1600" dirty="0"/>
              <a:t>01</a:t>
            </a:r>
          </a:p>
        </p:txBody>
      </p:sp>
      <p:sp>
        <p:nvSpPr>
          <p:cNvPr id="40" name="TextBox 39">
            <a:extLst>
              <a:ext uri="{FF2B5EF4-FFF2-40B4-BE49-F238E27FC236}">
                <a16:creationId xmlns:a16="http://schemas.microsoft.com/office/drawing/2014/main" id="{6C893A51-9E10-F541-885D-E50013B67079}"/>
              </a:ext>
            </a:extLst>
          </p:cNvPr>
          <p:cNvSpPr txBox="1"/>
          <p:nvPr/>
        </p:nvSpPr>
        <p:spPr>
          <a:xfrm>
            <a:off x="4950175" y="3214751"/>
            <a:ext cx="393056" cy="338554"/>
          </a:xfrm>
          <a:prstGeom prst="rect">
            <a:avLst/>
          </a:prstGeom>
          <a:noFill/>
        </p:spPr>
        <p:txBody>
          <a:bodyPr wrap="none" rtlCol="0">
            <a:spAutoFit/>
          </a:bodyPr>
          <a:lstStyle/>
          <a:p>
            <a:r>
              <a:rPr lang="en-US" sz="1600" dirty="0"/>
              <a:t>10</a:t>
            </a:r>
          </a:p>
        </p:txBody>
      </p:sp>
      <p:sp>
        <p:nvSpPr>
          <p:cNvPr id="41" name="TextBox 40">
            <a:extLst>
              <a:ext uri="{FF2B5EF4-FFF2-40B4-BE49-F238E27FC236}">
                <a16:creationId xmlns:a16="http://schemas.microsoft.com/office/drawing/2014/main" id="{7BBE1C33-E923-5046-9A21-1A76F5BFE020}"/>
              </a:ext>
            </a:extLst>
          </p:cNvPr>
          <p:cNvSpPr txBox="1"/>
          <p:nvPr/>
        </p:nvSpPr>
        <p:spPr>
          <a:xfrm>
            <a:off x="5457630" y="3214751"/>
            <a:ext cx="393056" cy="338554"/>
          </a:xfrm>
          <a:prstGeom prst="rect">
            <a:avLst/>
          </a:prstGeom>
          <a:noFill/>
        </p:spPr>
        <p:txBody>
          <a:bodyPr wrap="none" rtlCol="0">
            <a:spAutoFit/>
          </a:bodyPr>
          <a:lstStyle/>
          <a:p>
            <a:r>
              <a:rPr lang="en-US" sz="1600" dirty="0"/>
              <a:t>11</a:t>
            </a:r>
          </a:p>
        </p:txBody>
      </p:sp>
      <p:sp>
        <p:nvSpPr>
          <p:cNvPr id="43" name="TextBox 42">
            <a:extLst>
              <a:ext uri="{FF2B5EF4-FFF2-40B4-BE49-F238E27FC236}">
                <a16:creationId xmlns:a16="http://schemas.microsoft.com/office/drawing/2014/main" id="{0E1DBD7C-8042-D740-9426-FD24BD2607E3}"/>
              </a:ext>
            </a:extLst>
          </p:cNvPr>
          <p:cNvSpPr txBox="1"/>
          <p:nvPr/>
        </p:nvSpPr>
        <p:spPr>
          <a:xfrm>
            <a:off x="3547913" y="3086742"/>
            <a:ext cx="288862" cy="338554"/>
          </a:xfrm>
          <a:prstGeom prst="rect">
            <a:avLst/>
          </a:prstGeom>
          <a:noFill/>
        </p:spPr>
        <p:txBody>
          <a:bodyPr wrap="none" rtlCol="0">
            <a:spAutoFit/>
          </a:bodyPr>
          <a:lstStyle/>
          <a:p>
            <a:r>
              <a:rPr lang="en-US" sz="1600" dirty="0"/>
              <a:t>0</a:t>
            </a:r>
          </a:p>
        </p:txBody>
      </p:sp>
      <p:sp>
        <p:nvSpPr>
          <p:cNvPr id="44" name="TextBox 43">
            <a:extLst>
              <a:ext uri="{FF2B5EF4-FFF2-40B4-BE49-F238E27FC236}">
                <a16:creationId xmlns:a16="http://schemas.microsoft.com/office/drawing/2014/main" id="{38B1F37E-4849-AD45-ADF5-6ECF001FE3DA}"/>
              </a:ext>
            </a:extLst>
          </p:cNvPr>
          <p:cNvSpPr txBox="1"/>
          <p:nvPr/>
        </p:nvSpPr>
        <p:spPr>
          <a:xfrm>
            <a:off x="3356993" y="3715127"/>
            <a:ext cx="534121" cy="338554"/>
          </a:xfrm>
          <a:prstGeom prst="rect">
            <a:avLst/>
          </a:prstGeom>
          <a:noFill/>
        </p:spPr>
        <p:txBody>
          <a:bodyPr wrap="none" rtlCol="0">
            <a:spAutoFit/>
          </a:bodyPr>
          <a:lstStyle/>
          <a:p>
            <a:r>
              <a:rPr lang="en-US" sz="1600" dirty="0"/>
              <a:t>-1/2</a:t>
            </a:r>
          </a:p>
        </p:txBody>
      </p:sp>
      <p:sp>
        <p:nvSpPr>
          <p:cNvPr id="45" name="TextBox 44">
            <a:extLst>
              <a:ext uri="{FF2B5EF4-FFF2-40B4-BE49-F238E27FC236}">
                <a16:creationId xmlns:a16="http://schemas.microsoft.com/office/drawing/2014/main" id="{92280219-0D52-4C48-BE49-0D400EC5B370}"/>
              </a:ext>
            </a:extLst>
          </p:cNvPr>
          <p:cNvSpPr txBox="1"/>
          <p:nvPr/>
        </p:nvSpPr>
        <p:spPr>
          <a:xfrm>
            <a:off x="3378040" y="2438413"/>
            <a:ext cx="534121" cy="338554"/>
          </a:xfrm>
          <a:prstGeom prst="rect">
            <a:avLst/>
          </a:prstGeom>
          <a:noFill/>
        </p:spPr>
        <p:txBody>
          <a:bodyPr wrap="none" rtlCol="0">
            <a:spAutoFit/>
          </a:bodyPr>
          <a:lstStyle/>
          <a:p>
            <a:r>
              <a:rPr lang="en-US" sz="1600" dirty="0"/>
              <a:t>-1/2</a:t>
            </a:r>
          </a:p>
        </p:txBody>
      </p:sp>
      <p:sp>
        <p:nvSpPr>
          <p:cNvPr id="47" name="TextBox 46">
            <a:extLst>
              <a:ext uri="{FF2B5EF4-FFF2-40B4-BE49-F238E27FC236}">
                <a16:creationId xmlns:a16="http://schemas.microsoft.com/office/drawing/2014/main" id="{94E61E9F-2D6A-0D4C-B7AB-A8C0B8B2F2B5}"/>
              </a:ext>
            </a:extLst>
          </p:cNvPr>
          <p:cNvSpPr txBox="1"/>
          <p:nvPr/>
        </p:nvSpPr>
        <p:spPr>
          <a:xfrm>
            <a:off x="4213907" y="1169173"/>
            <a:ext cx="789062" cy="369332"/>
          </a:xfrm>
          <a:prstGeom prst="rect">
            <a:avLst/>
          </a:prstGeom>
          <a:noFill/>
        </p:spPr>
        <p:txBody>
          <a:bodyPr wrap="none" rtlCol="0">
            <a:spAutoFit/>
          </a:bodyPr>
          <a:lstStyle/>
          <a:p>
            <a:r>
              <a:rPr lang="en-US" dirty="0"/>
              <a:t>Oracle</a:t>
            </a:r>
          </a:p>
        </p:txBody>
      </p:sp>
      <p:cxnSp>
        <p:nvCxnSpPr>
          <p:cNvPr id="50" name="Straight Arrow Connector 49">
            <a:extLst>
              <a:ext uri="{FF2B5EF4-FFF2-40B4-BE49-F238E27FC236}">
                <a16:creationId xmlns:a16="http://schemas.microsoft.com/office/drawing/2014/main" id="{67FF551B-1175-474A-93EA-74A78A39B722}"/>
              </a:ext>
            </a:extLst>
          </p:cNvPr>
          <p:cNvCxnSpPr>
            <a:cxnSpLocks/>
          </p:cNvCxnSpPr>
          <p:nvPr/>
        </p:nvCxnSpPr>
        <p:spPr>
          <a:xfrm flipV="1">
            <a:off x="6869571" y="1963831"/>
            <a:ext cx="0" cy="1971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CCCDF67-A8EF-2447-9C0B-34EDE862388A}"/>
              </a:ext>
            </a:extLst>
          </p:cNvPr>
          <p:cNvCxnSpPr>
            <a:cxnSpLocks/>
          </p:cNvCxnSpPr>
          <p:nvPr/>
        </p:nvCxnSpPr>
        <p:spPr>
          <a:xfrm>
            <a:off x="6810700" y="3252299"/>
            <a:ext cx="206745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92F3568-97BB-3F4F-AD87-A59D2AFD10E4}"/>
              </a:ext>
            </a:extLst>
          </p:cNvPr>
          <p:cNvSpPr/>
          <p:nvPr/>
        </p:nvSpPr>
        <p:spPr>
          <a:xfrm>
            <a:off x="7035239" y="3208353"/>
            <a:ext cx="207592" cy="43033"/>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3" name="Rectangle 52">
            <a:extLst>
              <a:ext uri="{FF2B5EF4-FFF2-40B4-BE49-F238E27FC236}">
                <a16:creationId xmlns:a16="http://schemas.microsoft.com/office/drawing/2014/main" id="{08E65E65-45E1-AE47-B45A-58F030029F7D}"/>
              </a:ext>
            </a:extLst>
          </p:cNvPr>
          <p:cNvSpPr/>
          <p:nvPr/>
        </p:nvSpPr>
        <p:spPr>
          <a:xfrm>
            <a:off x="7544262" y="3208353"/>
            <a:ext cx="207592" cy="43033"/>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4" name="Rectangle 53">
            <a:extLst>
              <a:ext uri="{FF2B5EF4-FFF2-40B4-BE49-F238E27FC236}">
                <a16:creationId xmlns:a16="http://schemas.microsoft.com/office/drawing/2014/main" id="{ECE3AA42-4908-6C49-BA84-284B302F4970}"/>
              </a:ext>
            </a:extLst>
          </p:cNvPr>
          <p:cNvSpPr/>
          <p:nvPr/>
        </p:nvSpPr>
        <p:spPr>
          <a:xfrm>
            <a:off x="8039133" y="2039660"/>
            <a:ext cx="207592" cy="120492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5" name="Rectangle 54">
            <a:extLst>
              <a:ext uri="{FF2B5EF4-FFF2-40B4-BE49-F238E27FC236}">
                <a16:creationId xmlns:a16="http://schemas.microsoft.com/office/drawing/2014/main" id="{DADD82E9-E2AE-374A-8CA4-09E654CF68F3}"/>
              </a:ext>
            </a:extLst>
          </p:cNvPr>
          <p:cNvSpPr/>
          <p:nvPr/>
        </p:nvSpPr>
        <p:spPr>
          <a:xfrm>
            <a:off x="8562307" y="3208353"/>
            <a:ext cx="207592" cy="43033"/>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6" name="TextBox 55">
            <a:extLst>
              <a:ext uri="{FF2B5EF4-FFF2-40B4-BE49-F238E27FC236}">
                <a16:creationId xmlns:a16="http://schemas.microsoft.com/office/drawing/2014/main" id="{162647C4-BD88-0343-A698-F2ED02CE46D0}"/>
              </a:ext>
            </a:extLst>
          </p:cNvPr>
          <p:cNvSpPr txBox="1"/>
          <p:nvPr/>
        </p:nvSpPr>
        <p:spPr>
          <a:xfrm>
            <a:off x="6942287" y="3214751"/>
            <a:ext cx="393056" cy="338554"/>
          </a:xfrm>
          <a:prstGeom prst="rect">
            <a:avLst/>
          </a:prstGeom>
          <a:noFill/>
        </p:spPr>
        <p:txBody>
          <a:bodyPr wrap="none" rtlCol="0">
            <a:spAutoFit/>
          </a:bodyPr>
          <a:lstStyle/>
          <a:p>
            <a:r>
              <a:rPr lang="en-US" sz="1600" dirty="0"/>
              <a:t>00</a:t>
            </a:r>
          </a:p>
        </p:txBody>
      </p:sp>
      <p:sp>
        <p:nvSpPr>
          <p:cNvPr id="57" name="TextBox 56">
            <a:extLst>
              <a:ext uri="{FF2B5EF4-FFF2-40B4-BE49-F238E27FC236}">
                <a16:creationId xmlns:a16="http://schemas.microsoft.com/office/drawing/2014/main" id="{64AABA2F-3B60-2943-9468-37CE63ADE51A}"/>
              </a:ext>
            </a:extLst>
          </p:cNvPr>
          <p:cNvSpPr txBox="1"/>
          <p:nvPr/>
        </p:nvSpPr>
        <p:spPr>
          <a:xfrm>
            <a:off x="7449742" y="3214751"/>
            <a:ext cx="393056" cy="338554"/>
          </a:xfrm>
          <a:prstGeom prst="rect">
            <a:avLst/>
          </a:prstGeom>
          <a:noFill/>
        </p:spPr>
        <p:txBody>
          <a:bodyPr wrap="none" rtlCol="0">
            <a:spAutoFit/>
          </a:bodyPr>
          <a:lstStyle/>
          <a:p>
            <a:r>
              <a:rPr lang="en-US" sz="1600" dirty="0"/>
              <a:t>01</a:t>
            </a:r>
          </a:p>
        </p:txBody>
      </p:sp>
      <p:sp>
        <p:nvSpPr>
          <p:cNvPr id="58" name="TextBox 57">
            <a:extLst>
              <a:ext uri="{FF2B5EF4-FFF2-40B4-BE49-F238E27FC236}">
                <a16:creationId xmlns:a16="http://schemas.microsoft.com/office/drawing/2014/main" id="{32C487AC-1B0B-C946-92A3-D6FCDCCCF387}"/>
              </a:ext>
            </a:extLst>
          </p:cNvPr>
          <p:cNvSpPr txBox="1"/>
          <p:nvPr/>
        </p:nvSpPr>
        <p:spPr>
          <a:xfrm>
            <a:off x="7957197" y="3214751"/>
            <a:ext cx="393056" cy="338554"/>
          </a:xfrm>
          <a:prstGeom prst="rect">
            <a:avLst/>
          </a:prstGeom>
          <a:noFill/>
        </p:spPr>
        <p:txBody>
          <a:bodyPr wrap="none" rtlCol="0">
            <a:spAutoFit/>
          </a:bodyPr>
          <a:lstStyle/>
          <a:p>
            <a:r>
              <a:rPr lang="en-US" sz="1600" dirty="0"/>
              <a:t>10</a:t>
            </a:r>
          </a:p>
        </p:txBody>
      </p:sp>
      <p:sp>
        <p:nvSpPr>
          <p:cNvPr id="59" name="TextBox 58">
            <a:extLst>
              <a:ext uri="{FF2B5EF4-FFF2-40B4-BE49-F238E27FC236}">
                <a16:creationId xmlns:a16="http://schemas.microsoft.com/office/drawing/2014/main" id="{244B6207-542B-3440-AA67-1D6DFC2C8A22}"/>
              </a:ext>
            </a:extLst>
          </p:cNvPr>
          <p:cNvSpPr txBox="1"/>
          <p:nvPr/>
        </p:nvSpPr>
        <p:spPr>
          <a:xfrm>
            <a:off x="8464652" y="3214751"/>
            <a:ext cx="393056" cy="338554"/>
          </a:xfrm>
          <a:prstGeom prst="rect">
            <a:avLst/>
          </a:prstGeom>
          <a:noFill/>
        </p:spPr>
        <p:txBody>
          <a:bodyPr wrap="none" rtlCol="0">
            <a:spAutoFit/>
          </a:bodyPr>
          <a:lstStyle/>
          <a:p>
            <a:r>
              <a:rPr lang="en-US" sz="1600" dirty="0"/>
              <a:t>11</a:t>
            </a:r>
          </a:p>
        </p:txBody>
      </p:sp>
      <p:sp>
        <p:nvSpPr>
          <p:cNvPr id="61" name="TextBox 60">
            <a:extLst>
              <a:ext uri="{FF2B5EF4-FFF2-40B4-BE49-F238E27FC236}">
                <a16:creationId xmlns:a16="http://schemas.microsoft.com/office/drawing/2014/main" id="{C289FC15-4894-5F4D-8F2D-35878F8DFD69}"/>
              </a:ext>
            </a:extLst>
          </p:cNvPr>
          <p:cNvSpPr txBox="1"/>
          <p:nvPr/>
        </p:nvSpPr>
        <p:spPr>
          <a:xfrm>
            <a:off x="6554935" y="3086742"/>
            <a:ext cx="288862" cy="338554"/>
          </a:xfrm>
          <a:prstGeom prst="rect">
            <a:avLst/>
          </a:prstGeom>
          <a:noFill/>
        </p:spPr>
        <p:txBody>
          <a:bodyPr wrap="none" rtlCol="0">
            <a:spAutoFit/>
          </a:bodyPr>
          <a:lstStyle/>
          <a:p>
            <a:r>
              <a:rPr lang="en-US" sz="1600" dirty="0"/>
              <a:t>0</a:t>
            </a:r>
          </a:p>
        </p:txBody>
      </p:sp>
      <p:sp>
        <p:nvSpPr>
          <p:cNvPr id="62" name="TextBox 61">
            <a:extLst>
              <a:ext uri="{FF2B5EF4-FFF2-40B4-BE49-F238E27FC236}">
                <a16:creationId xmlns:a16="http://schemas.microsoft.com/office/drawing/2014/main" id="{38D30A1F-73AE-B741-BBC3-46B753032067}"/>
              </a:ext>
            </a:extLst>
          </p:cNvPr>
          <p:cNvSpPr txBox="1"/>
          <p:nvPr/>
        </p:nvSpPr>
        <p:spPr>
          <a:xfrm>
            <a:off x="6364014" y="3715127"/>
            <a:ext cx="534121" cy="338554"/>
          </a:xfrm>
          <a:prstGeom prst="rect">
            <a:avLst/>
          </a:prstGeom>
          <a:noFill/>
        </p:spPr>
        <p:txBody>
          <a:bodyPr wrap="none" rtlCol="0">
            <a:spAutoFit/>
          </a:bodyPr>
          <a:lstStyle/>
          <a:p>
            <a:r>
              <a:rPr lang="en-US" sz="1600" dirty="0"/>
              <a:t>-1/2</a:t>
            </a:r>
          </a:p>
        </p:txBody>
      </p:sp>
      <p:sp>
        <p:nvSpPr>
          <p:cNvPr id="63" name="TextBox 62">
            <a:extLst>
              <a:ext uri="{FF2B5EF4-FFF2-40B4-BE49-F238E27FC236}">
                <a16:creationId xmlns:a16="http://schemas.microsoft.com/office/drawing/2014/main" id="{BDFC7585-0814-7440-A34B-E81F2F2419F3}"/>
              </a:ext>
            </a:extLst>
          </p:cNvPr>
          <p:cNvSpPr txBox="1"/>
          <p:nvPr/>
        </p:nvSpPr>
        <p:spPr>
          <a:xfrm>
            <a:off x="6385062" y="2438413"/>
            <a:ext cx="534121" cy="338554"/>
          </a:xfrm>
          <a:prstGeom prst="rect">
            <a:avLst/>
          </a:prstGeom>
          <a:noFill/>
        </p:spPr>
        <p:txBody>
          <a:bodyPr wrap="none" rtlCol="0">
            <a:spAutoFit/>
          </a:bodyPr>
          <a:lstStyle/>
          <a:p>
            <a:r>
              <a:rPr lang="en-US" sz="1600" dirty="0"/>
              <a:t>-1/2</a:t>
            </a:r>
          </a:p>
        </p:txBody>
      </p:sp>
      <p:sp>
        <p:nvSpPr>
          <p:cNvPr id="65" name="TextBox 64">
            <a:extLst>
              <a:ext uri="{FF2B5EF4-FFF2-40B4-BE49-F238E27FC236}">
                <a16:creationId xmlns:a16="http://schemas.microsoft.com/office/drawing/2014/main" id="{55383E84-1E0D-D34E-9CE5-8B6C5A518D80}"/>
              </a:ext>
            </a:extLst>
          </p:cNvPr>
          <p:cNvSpPr txBox="1"/>
          <p:nvPr/>
        </p:nvSpPr>
        <p:spPr>
          <a:xfrm>
            <a:off x="7149482" y="1169173"/>
            <a:ext cx="2446632" cy="369332"/>
          </a:xfrm>
          <a:prstGeom prst="rect">
            <a:avLst/>
          </a:prstGeom>
          <a:noFill/>
        </p:spPr>
        <p:txBody>
          <a:bodyPr wrap="none" rtlCol="0">
            <a:spAutoFit/>
          </a:bodyPr>
          <a:lstStyle/>
          <a:p>
            <a:r>
              <a:rPr lang="en-US" dirty="0"/>
              <a:t>Amplification (diffusion)</a:t>
            </a:r>
          </a:p>
        </p:txBody>
      </p:sp>
      <p:grpSp>
        <p:nvGrpSpPr>
          <p:cNvPr id="85" name="Group 84">
            <a:extLst>
              <a:ext uri="{FF2B5EF4-FFF2-40B4-BE49-F238E27FC236}">
                <a16:creationId xmlns:a16="http://schemas.microsoft.com/office/drawing/2014/main" id="{839851F0-4D6D-D348-8D8F-FC6CB3250745}"/>
              </a:ext>
            </a:extLst>
          </p:cNvPr>
          <p:cNvGrpSpPr/>
          <p:nvPr/>
        </p:nvGrpSpPr>
        <p:grpSpPr>
          <a:xfrm>
            <a:off x="9826982" y="2196846"/>
            <a:ext cx="894323" cy="1160242"/>
            <a:chOff x="10034934" y="2708922"/>
            <a:chExt cx="1206788" cy="1518473"/>
          </a:xfrm>
        </p:grpSpPr>
        <p:sp>
          <p:nvSpPr>
            <p:cNvPr id="67" name="Rounded Rectangle 66">
              <a:extLst>
                <a:ext uri="{FF2B5EF4-FFF2-40B4-BE49-F238E27FC236}">
                  <a16:creationId xmlns:a16="http://schemas.microsoft.com/office/drawing/2014/main" id="{5D68C3B1-1B98-FE48-A5BF-21ED71B82B29}"/>
                </a:ext>
              </a:extLst>
            </p:cNvPr>
            <p:cNvSpPr/>
            <p:nvPr/>
          </p:nvSpPr>
          <p:spPr>
            <a:xfrm>
              <a:off x="10034934" y="2708922"/>
              <a:ext cx="1206788" cy="151847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8" name="TextBox 67">
              <a:extLst>
                <a:ext uri="{FF2B5EF4-FFF2-40B4-BE49-F238E27FC236}">
                  <a16:creationId xmlns:a16="http://schemas.microsoft.com/office/drawing/2014/main" id="{F8A5CBFC-7E4C-8349-91A3-18C3D3E53BA4}"/>
                </a:ext>
              </a:extLst>
            </p:cNvPr>
            <p:cNvSpPr txBox="1"/>
            <p:nvPr/>
          </p:nvSpPr>
          <p:spPr>
            <a:xfrm>
              <a:off x="10160986" y="3505878"/>
              <a:ext cx="954685" cy="584775"/>
            </a:xfrm>
            <a:prstGeom prst="rect">
              <a:avLst/>
            </a:prstGeom>
            <a:noFill/>
          </p:spPr>
          <p:txBody>
            <a:bodyPr wrap="none" rtlCol="0">
              <a:spAutoFit/>
            </a:bodyPr>
            <a:lstStyle/>
            <a:p>
              <a:pPr algn="ctr"/>
              <a:r>
                <a:rPr lang="en-US" sz="1600" dirty="0"/>
                <a:t>Outcome</a:t>
              </a:r>
            </a:p>
            <a:p>
              <a:pPr algn="ctr"/>
              <a:r>
                <a:rPr lang="en-US" sz="1600" dirty="0"/>
                <a:t>10</a:t>
              </a:r>
            </a:p>
          </p:txBody>
        </p:sp>
        <p:sp>
          <p:nvSpPr>
            <p:cNvPr id="69" name="Arc 68">
              <a:extLst>
                <a:ext uri="{FF2B5EF4-FFF2-40B4-BE49-F238E27FC236}">
                  <a16:creationId xmlns:a16="http://schemas.microsoft.com/office/drawing/2014/main" id="{F6A2C20F-151C-DE47-8F92-6F9A70256B6D}"/>
                </a:ext>
              </a:extLst>
            </p:cNvPr>
            <p:cNvSpPr/>
            <p:nvPr/>
          </p:nvSpPr>
          <p:spPr>
            <a:xfrm>
              <a:off x="10139300" y="2916611"/>
              <a:ext cx="1014437" cy="859942"/>
            </a:xfrm>
            <a:prstGeom prst="arc">
              <a:avLst>
                <a:gd name="adj1" fmla="val 10509366"/>
                <a:gd name="adj2" fmla="val 28390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p>
          </p:txBody>
        </p:sp>
        <p:cxnSp>
          <p:nvCxnSpPr>
            <p:cNvPr id="71" name="Straight Connector 70">
              <a:extLst>
                <a:ext uri="{FF2B5EF4-FFF2-40B4-BE49-F238E27FC236}">
                  <a16:creationId xmlns:a16="http://schemas.microsoft.com/office/drawing/2014/main" id="{FB8A4504-2DC7-D644-9967-7E833E92B31F}"/>
                </a:ext>
              </a:extLst>
            </p:cNvPr>
            <p:cNvCxnSpPr>
              <a:cxnSpLocks/>
            </p:cNvCxnSpPr>
            <p:nvPr/>
          </p:nvCxnSpPr>
          <p:spPr>
            <a:xfrm flipV="1">
              <a:off x="10638328" y="3117199"/>
              <a:ext cx="373745" cy="321053"/>
            </a:xfrm>
            <a:prstGeom prst="line">
              <a:avLst/>
            </a:prstGeom>
            <a:ln w="12700" cap="rnd">
              <a:headEnd type="oval"/>
            </a:ln>
          </p:spPr>
          <p:style>
            <a:lnRef idx="1">
              <a:schemeClr val="accent1"/>
            </a:lnRef>
            <a:fillRef idx="0">
              <a:schemeClr val="accent1"/>
            </a:fillRef>
            <a:effectRef idx="0">
              <a:schemeClr val="accent1"/>
            </a:effectRef>
            <a:fontRef idx="minor">
              <a:schemeClr val="tx1"/>
            </a:fontRef>
          </p:style>
        </p:cxnSp>
      </p:grpSp>
      <p:sp>
        <p:nvSpPr>
          <p:cNvPr id="73" name="Rounded Rectangle 72">
            <a:extLst>
              <a:ext uri="{FF2B5EF4-FFF2-40B4-BE49-F238E27FC236}">
                <a16:creationId xmlns:a16="http://schemas.microsoft.com/office/drawing/2014/main" id="{5AE01075-8A54-D34D-99DD-556D791DD3E2}"/>
              </a:ext>
            </a:extLst>
          </p:cNvPr>
          <p:cNvSpPr/>
          <p:nvPr/>
        </p:nvSpPr>
        <p:spPr>
          <a:xfrm>
            <a:off x="6594612" y="5206679"/>
            <a:ext cx="2743532" cy="1275974"/>
          </a:xfrm>
          <a:prstGeom prst="roundRect">
            <a:avLst/>
          </a:prstGeom>
          <a:solidFill>
            <a:schemeClr val="accent5">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The diffuser amplifies the marked state |10⟩</a:t>
            </a:r>
          </a:p>
          <a:p>
            <a:pPr algn="ctr"/>
            <a:r>
              <a:rPr lang="en-US" sz="1600" dirty="0">
                <a:solidFill>
                  <a:schemeClr val="tx1"/>
                </a:solidFill>
              </a:rPr>
              <a:t>(Eve’s entry) </a:t>
            </a:r>
          </a:p>
          <a:p>
            <a:pPr algn="ctr"/>
            <a:r>
              <a:rPr lang="en-US" sz="1600" dirty="0">
                <a:solidFill>
                  <a:schemeClr val="tx1"/>
                </a:solidFill>
              </a:rPr>
              <a:t>and reduces the amplitudes of the others</a:t>
            </a:r>
          </a:p>
        </p:txBody>
      </p:sp>
      <p:sp>
        <p:nvSpPr>
          <p:cNvPr id="74" name="Rounded Rectangle 73">
            <a:extLst>
              <a:ext uri="{FF2B5EF4-FFF2-40B4-BE49-F238E27FC236}">
                <a16:creationId xmlns:a16="http://schemas.microsoft.com/office/drawing/2014/main" id="{8174661D-685E-9C41-9A53-A3CC0A29C902}"/>
              </a:ext>
            </a:extLst>
          </p:cNvPr>
          <p:cNvSpPr/>
          <p:nvPr/>
        </p:nvSpPr>
        <p:spPr>
          <a:xfrm>
            <a:off x="9695559" y="5191881"/>
            <a:ext cx="2165012" cy="1290772"/>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Measurement returns the target index 10</a:t>
            </a:r>
          </a:p>
          <a:p>
            <a:pPr algn="ctr"/>
            <a:r>
              <a:rPr lang="en-US" sz="1600" dirty="0">
                <a:solidFill>
                  <a:schemeClr val="tx1"/>
                </a:solidFill>
              </a:rPr>
              <a:t>(Eve’s entry)</a:t>
            </a:r>
          </a:p>
          <a:p>
            <a:pPr algn="ctr"/>
            <a:r>
              <a:rPr lang="en-US" sz="1600" dirty="0">
                <a:solidFill>
                  <a:schemeClr val="tx1"/>
                </a:solidFill>
              </a:rPr>
              <a:t>with high probability</a:t>
            </a:r>
          </a:p>
        </p:txBody>
      </p:sp>
      <p:sp>
        <p:nvSpPr>
          <p:cNvPr id="86" name="Oval 85">
            <a:extLst>
              <a:ext uri="{FF2B5EF4-FFF2-40B4-BE49-F238E27FC236}">
                <a16:creationId xmlns:a16="http://schemas.microsoft.com/office/drawing/2014/main" id="{AEA70D71-25A8-C64E-8DD2-951942DFD55E}"/>
              </a:ext>
            </a:extLst>
          </p:cNvPr>
          <p:cNvSpPr/>
          <p:nvPr/>
        </p:nvSpPr>
        <p:spPr>
          <a:xfrm>
            <a:off x="723596" y="1100102"/>
            <a:ext cx="450000" cy="450000"/>
          </a:xfrm>
          <a:prstGeom prst="ellipse">
            <a:avLst/>
          </a:prstGeom>
          <a:solidFill>
            <a:schemeClr val="accent2">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87" name="Oval 86">
            <a:extLst>
              <a:ext uri="{FF2B5EF4-FFF2-40B4-BE49-F238E27FC236}">
                <a16:creationId xmlns:a16="http://schemas.microsoft.com/office/drawing/2014/main" id="{6204F261-C1B9-CC46-AA36-79587C6AE686}"/>
              </a:ext>
            </a:extLst>
          </p:cNvPr>
          <p:cNvSpPr/>
          <p:nvPr/>
        </p:nvSpPr>
        <p:spPr>
          <a:xfrm>
            <a:off x="3644062" y="1116039"/>
            <a:ext cx="450000" cy="450000"/>
          </a:xfrm>
          <a:prstGeom prst="ellipse">
            <a:avLst/>
          </a:prstGeom>
          <a:solidFill>
            <a:schemeClr val="accent6">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88" name="Oval 87">
            <a:extLst>
              <a:ext uri="{FF2B5EF4-FFF2-40B4-BE49-F238E27FC236}">
                <a16:creationId xmlns:a16="http://schemas.microsoft.com/office/drawing/2014/main" id="{7BE8E6F1-E0E0-B94E-BEDA-BC3BC4A40575}"/>
              </a:ext>
            </a:extLst>
          </p:cNvPr>
          <p:cNvSpPr/>
          <p:nvPr/>
        </p:nvSpPr>
        <p:spPr>
          <a:xfrm>
            <a:off x="6631074" y="1116039"/>
            <a:ext cx="450000" cy="450000"/>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sp>
        <p:nvSpPr>
          <p:cNvPr id="89" name="Right Arrow 88">
            <a:extLst>
              <a:ext uri="{FF2B5EF4-FFF2-40B4-BE49-F238E27FC236}">
                <a16:creationId xmlns:a16="http://schemas.microsoft.com/office/drawing/2014/main" id="{84D8A36B-34CF-384F-BCA2-008C2C69D937}"/>
              </a:ext>
            </a:extLst>
          </p:cNvPr>
          <p:cNvSpPr/>
          <p:nvPr/>
        </p:nvSpPr>
        <p:spPr>
          <a:xfrm>
            <a:off x="3171644" y="3067318"/>
            <a:ext cx="269987" cy="344952"/>
          </a:xfrm>
          <a:prstGeom prst="rightArrow">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ight Arrow 89">
            <a:extLst>
              <a:ext uri="{FF2B5EF4-FFF2-40B4-BE49-F238E27FC236}">
                <a16:creationId xmlns:a16="http://schemas.microsoft.com/office/drawing/2014/main" id="{774DE086-D59E-E94F-8FAF-4986F60403CF}"/>
              </a:ext>
            </a:extLst>
          </p:cNvPr>
          <p:cNvSpPr/>
          <p:nvPr/>
        </p:nvSpPr>
        <p:spPr>
          <a:xfrm>
            <a:off x="6156505" y="3067318"/>
            <a:ext cx="269987" cy="344952"/>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ight Arrow 90">
            <a:extLst>
              <a:ext uri="{FF2B5EF4-FFF2-40B4-BE49-F238E27FC236}">
                <a16:creationId xmlns:a16="http://schemas.microsoft.com/office/drawing/2014/main" id="{D13766CE-0723-2940-8AE3-E659577EA9C0}"/>
              </a:ext>
            </a:extLst>
          </p:cNvPr>
          <p:cNvSpPr/>
          <p:nvPr/>
        </p:nvSpPr>
        <p:spPr>
          <a:xfrm>
            <a:off x="9173290" y="3067318"/>
            <a:ext cx="269987" cy="344952"/>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788D9786-913C-1444-91DE-5044CD2D88EA}"/>
              </a:ext>
            </a:extLst>
          </p:cNvPr>
          <p:cNvSpPr/>
          <p:nvPr/>
        </p:nvSpPr>
        <p:spPr>
          <a:xfrm>
            <a:off x="9679325" y="1129502"/>
            <a:ext cx="450000" cy="450000"/>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a:t>
            </a:r>
          </a:p>
        </p:txBody>
      </p:sp>
      <p:sp>
        <p:nvSpPr>
          <p:cNvPr id="93" name="TextBox 92">
            <a:extLst>
              <a:ext uri="{FF2B5EF4-FFF2-40B4-BE49-F238E27FC236}">
                <a16:creationId xmlns:a16="http://schemas.microsoft.com/office/drawing/2014/main" id="{B2AB4278-A970-DE45-8646-C1EA587B9C38}"/>
              </a:ext>
            </a:extLst>
          </p:cNvPr>
          <p:cNvSpPr txBox="1"/>
          <p:nvPr/>
        </p:nvSpPr>
        <p:spPr>
          <a:xfrm>
            <a:off x="10197469" y="1169173"/>
            <a:ext cx="1508426" cy="369332"/>
          </a:xfrm>
          <a:prstGeom prst="rect">
            <a:avLst/>
          </a:prstGeom>
          <a:noFill/>
        </p:spPr>
        <p:txBody>
          <a:bodyPr wrap="none" rtlCol="0">
            <a:spAutoFit/>
          </a:bodyPr>
          <a:lstStyle/>
          <a:p>
            <a:r>
              <a:rPr lang="en-US" dirty="0"/>
              <a:t>Measurement</a:t>
            </a:r>
          </a:p>
        </p:txBody>
      </p:sp>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D2C59D49-9177-0548-B374-AB6FA0CDBAE0}"/>
                  </a:ext>
                </a:extLst>
              </p:cNvPr>
              <p:cNvSpPr/>
              <p:nvPr/>
            </p:nvSpPr>
            <p:spPr>
              <a:xfrm>
                <a:off x="1302155" y="4163810"/>
                <a:ext cx="1080038"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3200" i="1" smtClean="0">
                              <a:latin typeface="Cambria Math" panose="02040503050406030204" pitchFamily="18" charset="0"/>
                            </a:rPr>
                          </m:ctrlPr>
                        </m:sSupPr>
                        <m:e>
                          <m:r>
                            <m:rPr>
                              <m:sty m:val="p"/>
                            </m:rPr>
                            <a:rPr lang="en-US" sz="3200" i="0">
                              <a:latin typeface="Cambria Math" panose="02040503050406030204" pitchFamily="18" charset="0"/>
                            </a:rPr>
                            <m:t>H</m:t>
                          </m:r>
                        </m:e>
                        <m:sup>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2</m:t>
                          </m:r>
                        </m:sup>
                      </m:sSup>
                    </m:oMath>
                  </m:oMathPara>
                </a14:m>
                <a:endParaRPr lang="en-US" sz="3200" dirty="0">
                  <a:latin typeface="Times" pitchFamily="2" charset="0"/>
                </a:endParaRPr>
              </a:p>
            </p:txBody>
          </p:sp>
        </mc:Choice>
        <mc:Fallback xmlns="">
          <p:sp>
            <p:nvSpPr>
              <p:cNvPr id="94" name="Rectangle 93">
                <a:extLst>
                  <a:ext uri="{FF2B5EF4-FFF2-40B4-BE49-F238E27FC236}">
                    <a16:creationId xmlns:a16="http://schemas.microsoft.com/office/drawing/2014/main" id="{D2C59D49-9177-0548-B374-AB6FA0CDBAE0}"/>
                  </a:ext>
                </a:extLst>
              </p:cNvPr>
              <p:cNvSpPr>
                <a:spLocks noRot="1" noChangeAspect="1" noMove="1" noResize="1" noEditPoints="1" noAdjustHandles="1" noChangeArrowheads="1" noChangeShapeType="1" noTextEdit="1"/>
              </p:cNvSpPr>
              <p:nvPr/>
            </p:nvSpPr>
            <p:spPr>
              <a:xfrm>
                <a:off x="1302155" y="4163810"/>
                <a:ext cx="1080038" cy="720000"/>
              </a:xfrm>
              <a:prstGeom prst="rect">
                <a:avLst/>
              </a:prstGeom>
              <a:blipFill>
                <a:blip r:embed="rId3"/>
                <a:stretch>
                  <a:fillRect l="-1149"/>
                </a:stretch>
              </a:blipFill>
            </p:spPr>
            <p:txBody>
              <a:bodyPr/>
              <a:lstStyle/>
              <a:p>
                <a:r>
                  <a:rPr lang="en-US">
                    <a:noFill/>
                  </a:rPr>
                  <a:t> </a:t>
                </a:r>
              </a:p>
            </p:txBody>
          </p:sp>
        </mc:Fallback>
      </mc:AlternateContent>
      <p:sp>
        <p:nvSpPr>
          <p:cNvPr id="95" name="Rectangle 94">
            <a:extLst>
              <a:ext uri="{FF2B5EF4-FFF2-40B4-BE49-F238E27FC236}">
                <a16:creationId xmlns:a16="http://schemas.microsoft.com/office/drawing/2014/main" id="{FE672135-7695-7C44-98B9-00A9883317CC}"/>
              </a:ext>
            </a:extLst>
          </p:cNvPr>
          <p:cNvSpPr/>
          <p:nvPr/>
        </p:nvSpPr>
        <p:spPr>
          <a:xfrm>
            <a:off x="4475776" y="4163810"/>
            <a:ext cx="720000" cy="7200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O</a:t>
            </a:r>
          </a:p>
        </p:txBody>
      </p:sp>
      <p:sp>
        <p:nvSpPr>
          <p:cNvPr id="96" name="Rectangle 95">
            <a:extLst>
              <a:ext uri="{FF2B5EF4-FFF2-40B4-BE49-F238E27FC236}">
                <a16:creationId xmlns:a16="http://schemas.microsoft.com/office/drawing/2014/main" id="{BA93FAF7-E80E-6340-A5A5-A771EB903C16}"/>
              </a:ext>
            </a:extLst>
          </p:cNvPr>
          <p:cNvSpPr/>
          <p:nvPr/>
        </p:nvSpPr>
        <p:spPr>
          <a:xfrm>
            <a:off x="7482798" y="4163810"/>
            <a:ext cx="720000" cy="7200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D</a:t>
            </a:r>
          </a:p>
        </p:txBody>
      </p:sp>
      <p:grpSp>
        <p:nvGrpSpPr>
          <p:cNvPr id="97" name="Group 96">
            <a:extLst>
              <a:ext uri="{FF2B5EF4-FFF2-40B4-BE49-F238E27FC236}">
                <a16:creationId xmlns:a16="http://schemas.microsoft.com/office/drawing/2014/main" id="{F321E09E-01E2-2348-96E5-C3E512E7040B}"/>
              </a:ext>
            </a:extLst>
          </p:cNvPr>
          <p:cNvGrpSpPr/>
          <p:nvPr/>
        </p:nvGrpSpPr>
        <p:grpSpPr>
          <a:xfrm>
            <a:off x="9910321" y="4163810"/>
            <a:ext cx="720000" cy="796546"/>
            <a:chOff x="3031963" y="4808040"/>
            <a:chExt cx="720000" cy="796546"/>
          </a:xfrm>
        </p:grpSpPr>
        <p:sp>
          <p:nvSpPr>
            <p:cNvPr id="98" name="Rectangle 97">
              <a:extLst>
                <a:ext uri="{FF2B5EF4-FFF2-40B4-BE49-F238E27FC236}">
                  <a16:creationId xmlns:a16="http://schemas.microsoft.com/office/drawing/2014/main" id="{9D46081B-0E1B-3C4D-A175-30DE726E3256}"/>
                </a:ext>
              </a:extLst>
            </p:cNvPr>
            <p:cNvSpPr/>
            <p:nvPr/>
          </p:nvSpPr>
          <p:spPr>
            <a:xfrm>
              <a:off x="3031963" y="4808040"/>
              <a:ext cx="720000" cy="72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99" name="Arc 98">
              <a:extLst>
                <a:ext uri="{FF2B5EF4-FFF2-40B4-BE49-F238E27FC236}">
                  <a16:creationId xmlns:a16="http://schemas.microsoft.com/office/drawing/2014/main" id="{9E46EBFD-2C6E-A94E-B314-DBE3E58FB735}"/>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0" name="Straight Arrow Connector 99">
              <a:extLst>
                <a:ext uri="{FF2B5EF4-FFF2-40B4-BE49-F238E27FC236}">
                  <a16:creationId xmlns:a16="http://schemas.microsoft.com/office/drawing/2014/main" id="{B1B1B01C-B551-144E-9E5A-FFA156D98FB6}"/>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056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421AAC-1EF3-3642-A3EC-8C9D32988211}"/>
              </a:ext>
            </a:extLst>
          </p:cNvPr>
          <p:cNvSpPr>
            <a:spLocks noGrp="1"/>
          </p:cNvSpPr>
          <p:nvPr>
            <p:ph type="sldNum" sz="quarter" idx="12"/>
          </p:nvPr>
        </p:nvSpPr>
        <p:spPr/>
        <p:txBody>
          <a:bodyPr/>
          <a:lstStyle/>
          <a:p>
            <a:fld id="{D0A7A90D-170E-2F4F-8861-97D6C3C25EEF}" type="slidenum">
              <a:rPr lang="en-US" smtClean="0"/>
              <a:t>7</a:t>
            </a:fld>
            <a:endParaRPr lang="en-US"/>
          </a:p>
        </p:txBody>
      </p:sp>
      <p:sp>
        <p:nvSpPr>
          <p:cNvPr id="2" name="Title 1">
            <a:extLst>
              <a:ext uri="{FF2B5EF4-FFF2-40B4-BE49-F238E27FC236}">
                <a16:creationId xmlns:a16="http://schemas.microsoft.com/office/drawing/2014/main" id="{67E63BAB-27BE-1F40-9EE6-8BB028388DCB}"/>
              </a:ext>
            </a:extLst>
          </p:cNvPr>
          <p:cNvSpPr>
            <a:spLocks noGrp="1"/>
          </p:cNvSpPr>
          <p:nvPr>
            <p:ph type="title"/>
          </p:nvPr>
        </p:nvSpPr>
        <p:spPr/>
        <p:txBody>
          <a:bodyPr>
            <a:normAutofit/>
          </a:bodyPr>
          <a:lstStyle/>
          <a:p>
            <a:r>
              <a:rPr lang="en-ZA" dirty="0"/>
              <a:t>Step 1: Creating an Equal Superposition</a:t>
            </a:r>
            <a:endParaRPr lang="en-US" dirty="0">
              <a:solidFill>
                <a:schemeClr val="tx1"/>
              </a:solidFill>
            </a:endParaRPr>
          </a:p>
        </p:txBody>
      </p:sp>
      <p:pic>
        <p:nvPicPr>
          <p:cNvPr id="4" name="Picture 3">
            <a:extLst>
              <a:ext uri="{FF2B5EF4-FFF2-40B4-BE49-F238E27FC236}">
                <a16:creationId xmlns:a16="http://schemas.microsoft.com/office/drawing/2014/main" id="{479548BE-6963-1F40-94EF-11BD803BE1D4}"/>
              </a:ext>
            </a:extLst>
          </p:cNvPr>
          <p:cNvPicPr>
            <a:picLocks noChangeAspect="1"/>
          </p:cNvPicPr>
          <p:nvPr/>
        </p:nvPicPr>
        <p:blipFill>
          <a:blip r:embed="rId3"/>
          <a:stretch>
            <a:fillRect/>
          </a:stretch>
        </p:blipFill>
        <p:spPr>
          <a:xfrm>
            <a:off x="7827615" y="2208240"/>
            <a:ext cx="3962212" cy="2722131"/>
          </a:xfrm>
          <a:prstGeom prst="rect">
            <a:avLst/>
          </a:prstGeom>
        </p:spPr>
      </p:pic>
      <p:cxnSp>
        <p:nvCxnSpPr>
          <p:cNvPr id="5" name="Straight Connector 4">
            <a:extLst>
              <a:ext uri="{FF2B5EF4-FFF2-40B4-BE49-F238E27FC236}">
                <a16:creationId xmlns:a16="http://schemas.microsoft.com/office/drawing/2014/main" id="{B4A84B86-1637-494F-8F74-7FFC2B373140}"/>
              </a:ext>
            </a:extLst>
          </p:cNvPr>
          <p:cNvCxnSpPr>
            <a:cxnSpLocks/>
          </p:cNvCxnSpPr>
          <p:nvPr/>
        </p:nvCxnSpPr>
        <p:spPr>
          <a:xfrm>
            <a:off x="269225" y="2582404"/>
            <a:ext cx="362748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81DCFD3-14C6-9E41-BB60-FA542C2890B7}"/>
              </a:ext>
            </a:extLst>
          </p:cNvPr>
          <p:cNvSpPr/>
          <p:nvPr/>
        </p:nvSpPr>
        <p:spPr>
          <a:xfrm>
            <a:off x="1299242" y="1881718"/>
            <a:ext cx="1371600" cy="13716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dirty="0">
                <a:latin typeface="Times" pitchFamily="2" charset="0"/>
              </a:rPr>
              <a:t>H</a:t>
            </a:r>
          </a:p>
        </p:txBody>
      </p:sp>
      <p:sp>
        <p:nvSpPr>
          <p:cNvPr id="7" name="TextBox 6">
            <a:extLst>
              <a:ext uri="{FF2B5EF4-FFF2-40B4-BE49-F238E27FC236}">
                <a16:creationId xmlns:a16="http://schemas.microsoft.com/office/drawing/2014/main" id="{13E003C0-A726-2744-9D4E-CCC40BBC8290}"/>
              </a:ext>
            </a:extLst>
          </p:cNvPr>
          <p:cNvSpPr txBox="1"/>
          <p:nvPr/>
        </p:nvSpPr>
        <p:spPr>
          <a:xfrm>
            <a:off x="217754" y="2005235"/>
            <a:ext cx="591829" cy="461665"/>
          </a:xfrm>
          <a:prstGeom prst="rect">
            <a:avLst/>
          </a:prstGeom>
          <a:noFill/>
        </p:spPr>
        <p:txBody>
          <a:bodyPr wrap="none" rtlCol="0">
            <a:spAutoFit/>
          </a:bodyPr>
          <a:lstStyle/>
          <a:p>
            <a:r>
              <a:rPr lang="en-US" sz="2400" dirty="0"/>
              <a:t>|0⟩</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A2C60D33-0737-CE48-A141-4A490C44CA0E}"/>
                  </a:ext>
                </a:extLst>
              </p:cNvPr>
              <p:cNvSpPr/>
              <p:nvPr/>
            </p:nvSpPr>
            <p:spPr>
              <a:xfrm>
                <a:off x="2729105" y="1691316"/>
                <a:ext cx="1375505"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den>
                      </m:f>
                    </m:oMath>
                  </m:oMathPara>
                </a14:m>
                <a:endParaRPr lang="en-US" sz="2400" dirty="0"/>
              </a:p>
            </p:txBody>
          </p:sp>
        </mc:Choice>
        <mc:Fallback xmlns="">
          <p:sp>
            <p:nvSpPr>
              <p:cNvPr id="8" name="Rectangle 7">
                <a:extLst>
                  <a:ext uri="{FF2B5EF4-FFF2-40B4-BE49-F238E27FC236}">
                    <a16:creationId xmlns:a16="http://schemas.microsoft.com/office/drawing/2014/main" id="{A2C60D33-0737-CE48-A141-4A490C44CA0E}"/>
                  </a:ext>
                </a:extLst>
              </p:cNvPr>
              <p:cNvSpPr>
                <a:spLocks noRot="1" noChangeAspect="1" noMove="1" noResize="1" noEditPoints="1" noAdjustHandles="1" noChangeArrowheads="1" noChangeShapeType="1" noTextEdit="1"/>
              </p:cNvSpPr>
              <p:nvPr/>
            </p:nvSpPr>
            <p:spPr>
              <a:xfrm>
                <a:off x="2729105" y="1691316"/>
                <a:ext cx="1375505" cy="876202"/>
              </a:xfrm>
              <a:prstGeom prst="rect">
                <a:avLst/>
              </a:prstGeom>
              <a:blipFill>
                <a:blip r:embed="rId4"/>
                <a:stretch>
                  <a:fillRect b="-1429"/>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F2B2B855-01FC-804E-9D65-0EAED5D1EFA4}"/>
              </a:ext>
            </a:extLst>
          </p:cNvPr>
          <p:cNvCxnSpPr>
            <a:cxnSpLocks/>
          </p:cNvCxnSpPr>
          <p:nvPr/>
        </p:nvCxnSpPr>
        <p:spPr>
          <a:xfrm>
            <a:off x="320696" y="4876259"/>
            <a:ext cx="362748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E03EF0AE-0122-AC48-B7AF-9D899EDE7C98}"/>
              </a:ext>
            </a:extLst>
          </p:cNvPr>
          <p:cNvSpPr/>
          <p:nvPr/>
        </p:nvSpPr>
        <p:spPr>
          <a:xfrm>
            <a:off x="1350713" y="4175573"/>
            <a:ext cx="1371600" cy="13716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dirty="0">
                <a:latin typeface="Times" pitchFamily="2" charset="0"/>
              </a:rPr>
              <a:t>H</a:t>
            </a:r>
          </a:p>
        </p:txBody>
      </p:sp>
      <p:sp>
        <p:nvSpPr>
          <p:cNvPr id="13" name="TextBox 12">
            <a:extLst>
              <a:ext uri="{FF2B5EF4-FFF2-40B4-BE49-F238E27FC236}">
                <a16:creationId xmlns:a16="http://schemas.microsoft.com/office/drawing/2014/main" id="{6AD1D09C-5088-004B-B065-AB27C9C3AE3C}"/>
              </a:ext>
            </a:extLst>
          </p:cNvPr>
          <p:cNvSpPr txBox="1"/>
          <p:nvPr/>
        </p:nvSpPr>
        <p:spPr>
          <a:xfrm>
            <a:off x="269225" y="4299090"/>
            <a:ext cx="591829" cy="461665"/>
          </a:xfrm>
          <a:prstGeom prst="rect">
            <a:avLst/>
          </a:prstGeom>
          <a:noFill/>
        </p:spPr>
        <p:txBody>
          <a:bodyPr wrap="none" rtlCol="0">
            <a:spAutoFit/>
          </a:bodyPr>
          <a:lstStyle/>
          <a:p>
            <a:r>
              <a:rPr lang="en-US" sz="2400" dirty="0"/>
              <a:t>|0⟩</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5DF84E92-D464-1948-AB43-E4A5455C1F24}"/>
                  </a:ext>
                </a:extLst>
              </p:cNvPr>
              <p:cNvSpPr/>
              <p:nvPr/>
            </p:nvSpPr>
            <p:spPr>
              <a:xfrm>
                <a:off x="3627811" y="3373696"/>
                <a:ext cx="4199804" cy="613886"/>
              </a:xfrm>
              <a:prstGeom prst="rect">
                <a:avLst/>
              </a:prstGeom>
            </p:spPr>
            <p:txBody>
              <a:bodyPr wrap="none">
                <a:spAutoFit/>
              </a:bodyPr>
              <a:lstStyle/>
              <a:p>
                <a14:m>
                  <m:oMath xmlns:m="http://schemas.openxmlformats.org/officeDocument/2006/math">
                    <m:f>
                      <m:fPr>
                        <m:ctrlPr>
                          <a:rPr lang="en-US" sz="2400" i="1" smtClean="0">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2</m:t>
                        </m:r>
                      </m:den>
                    </m:f>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0</m:t>
                        </m:r>
                        <m:r>
                          <a:rPr lang="en-US" sz="2400" i="1">
                            <a:latin typeface="Cambria Math" panose="02040503050406030204" pitchFamily="18" charset="0"/>
                          </a:rPr>
                          <m:t>0</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r>
                          <a:rPr lang="en-US" sz="2400" b="0" i="1" smtClean="0">
                            <a:latin typeface="Cambria Math" panose="02040503050406030204" pitchFamily="18" charset="0"/>
                          </a:rPr>
                          <m:t>1</m:t>
                        </m:r>
                      </m:e>
                    </m:d>
                    <m:r>
                      <a:rPr lang="en-US" sz="2400" i="1">
                        <a:latin typeface="Cambria Math" panose="02040503050406030204" pitchFamily="18" charset="0"/>
                      </a:rPr>
                      <m:t>+</m:t>
                    </m:r>
                  </m:oMath>
                </a14:m>
                <a:r>
                  <a:rPr lang="en-US" sz="2400" dirty="0"/>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r>
                          <a:rPr lang="en-US" sz="2400" i="1">
                            <a:latin typeface="Cambria Math" panose="02040503050406030204" pitchFamily="18" charset="0"/>
                          </a:rPr>
                          <m:t>0</m:t>
                        </m:r>
                      </m:e>
                    </m:d>
                    <m:r>
                      <a:rPr lang="en-US" sz="2400" i="1">
                        <a:latin typeface="Cambria Math" panose="02040503050406030204" pitchFamily="18" charset="0"/>
                      </a:rPr>
                      <m:t>+</m:t>
                    </m:r>
                  </m:oMath>
                </a14:m>
                <a:r>
                  <a:rPr lang="en-US" sz="2400" dirty="0"/>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11</m:t>
                        </m:r>
                      </m:e>
                    </m:d>
                  </m:oMath>
                </a14:m>
                <a:endParaRPr lang="en-US" sz="2400" dirty="0"/>
              </a:p>
            </p:txBody>
          </p:sp>
        </mc:Choice>
        <mc:Fallback xmlns="">
          <p:sp>
            <p:nvSpPr>
              <p:cNvPr id="15" name="Rectangle 14">
                <a:extLst>
                  <a:ext uri="{FF2B5EF4-FFF2-40B4-BE49-F238E27FC236}">
                    <a16:creationId xmlns:a16="http://schemas.microsoft.com/office/drawing/2014/main" id="{5DF84E92-D464-1948-AB43-E4A5455C1F24}"/>
                  </a:ext>
                </a:extLst>
              </p:cNvPr>
              <p:cNvSpPr>
                <a:spLocks noRot="1" noChangeAspect="1" noMove="1" noResize="1" noEditPoints="1" noAdjustHandles="1" noChangeArrowheads="1" noChangeShapeType="1" noTextEdit="1"/>
              </p:cNvSpPr>
              <p:nvPr/>
            </p:nvSpPr>
            <p:spPr>
              <a:xfrm>
                <a:off x="3627811" y="3373696"/>
                <a:ext cx="4199804" cy="613886"/>
              </a:xfrm>
              <a:prstGeom prst="rect">
                <a:avLst/>
              </a:prstGeom>
              <a:blipFill>
                <a:blip r:embed="rId5"/>
                <a:stretch>
                  <a:fillRect b="-2041"/>
                </a:stretch>
              </a:blipFill>
            </p:spPr>
            <p:txBody>
              <a:bodyPr/>
              <a:lstStyle/>
              <a:p>
                <a:r>
                  <a:rPr lang="en-US">
                    <a:noFill/>
                  </a:rPr>
                  <a:t> </a:t>
                </a:r>
              </a:p>
            </p:txBody>
          </p:sp>
        </mc:Fallback>
      </mc:AlternateContent>
      <p:sp>
        <p:nvSpPr>
          <p:cNvPr id="10" name="Right Brace 9">
            <a:extLst>
              <a:ext uri="{FF2B5EF4-FFF2-40B4-BE49-F238E27FC236}">
                <a16:creationId xmlns:a16="http://schemas.microsoft.com/office/drawing/2014/main" id="{17F08B14-948C-B541-AC73-005093986FC3}"/>
              </a:ext>
            </a:extLst>
          </p:cNvPr>
          <p:cNvSpPr/>
          <p:nvPr/>
        </p:nvSpPr>
        <p:spPr>
          <a:xfrm>
            <a:off x="3042678" y="2582404"/>
            <a:ext cx="585133" cy="2278969"/>
          </a:xfrm>
          <a:prstGeom prst="rightBrace">
            <a:avLst>
              <a:gd name="adj1" fmla="val 58040"/>
              <a:gd name="adj2" fmla="val 5000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DE468466-63CD-6D46-9492-0B55FB8AACB1}"/>
                  </a:ext>
                </a:extLst>
              </p:cNvPr>
              <p:cNvSpPr/>
              <p:nvPr/>
            </p:nvSpPr>
            <p:spPr>
              <a:xfrm>
                <a:off x="2800994" y="4983689"/>
                <a:ext cx="1375505"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den>
                      </m:f>
                    </m:oMath>
                  </m:oMathPara>
                </a14:m>
                <a:endParaRPr lang="en-US" sz="2400" dirty="0"/>
              </a:p>
            </p:txBody>
          </p:sp>
        </mc:Choice>
        <mc:Fallback xmlns="">
          <p:sp>
            <p:nvSpPr>
              <p:cNvPr id="17" name="Rectangle 16">
                <a:extLst>
                  <a:ext uri="{FF2B5EF4-FFF2-40B4-BE49-F238E27FC236}">
                    <a16:creationId xmlns:a16="http://schemas.microsoft.com/office/drawing/2014/main" id="{DE468466-63CD-6D46-9492-0B55FB8AACB1}"/>
                  </a:ext>
                </a:extLst>
              </p:cNvPr>
              <p:cNvSpPr>
                <a:spLocks noRot="1" noChangeAspect="1" noMove="1" noResize="1" noEditPoints="1" noAdjustHandles="1" noChangeArrowheads="1" noChangeShapeType="1" noTextEdit="1"/>
              </p:cNvSpPr>
              <p:nvPr/>
            </p:nvSpPr>
            <p:spPr>
              <a:xfrm>
                <a:off x="2800994" y="4983689"/>
                <a:ext cx="1375505" cy="876202"/>
              </a:xfrm>
              <a:prstGeom prst="rect">
                <a:avLst/>
              </a:prstGeom>
              <a:blipFill>
                <a:blip r:embed="rId6"/>
                <a:stretch>
                  <a:fillRect b="-2857"/>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65C8717C-7FF1-3F4F-B4C4-EEEA66642E94}"/>
              </a:ext>
            </a:extLst>
          </p:cNvPr>
          <p:cNvSpPr txBox="1"/>
          <p:nvPr/>
        </p:nvSpPr>
        <p:spPr>
          <a:xfrm>
            <a:off x="6939643" y="5101046"/>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90688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EABBB4-1708-1B42-B551-E7E519E4730E}"/>
              </a:ext>
            </a:extLst>
          </p:cNvPr>
          <p:cNvSpPr>
            <a:spLocks noGrp="1"/>
          </p:cNvSpPr>
          <p:nvPr>
            <p:ph type="sldNum" sz="quarter" idx="12"/>
          </p:nvPr>
        </p:nvSpPr>
        <p:spPr/>
        <p:txBody>
          <a:bodyPr/>
          <a:lstStyle/>
          <a:p>
            <a:fld id="{D0A7A90D-170E-2F4F-8861-97D6C3C25EEF}" type="slidenum">
              <a:rPr lang="en-US" smtClean="0"/>
              <a:t>8</a:t>
            </a:fld>
            <a:endParaRPr lang="en-US"/>
          </a:p>
        </p:txBody>
      </p:sp>
      <p:sp>
        <p:nvSpPr>
          <p:cNvPr id="14" name="Title 1">
            <a:extLst>
              <a:ext uri="{FF2B5EF4-FFF2-40B4-BE49-F238E27FC236}">
                <a16:creationId xmlns:a16="http://schemas.microsoft.com/office/drawing/2014/main" id="{34BD9E1D-70F8-C441-AA30-4F289E6D8627}"/>
              </a:ext>
            </a:extLst>
          </p:cNvPr>
          <p:cNvSpPr>
            <a:spLocks noGrp="1"/>
          </p:cNvSpPr>
          <p:nvPr>
            <p:ph type="title"/>
          </p:nvPr>
        </p:nvSpPr>
        <p:spPr/>
        <p:txBody>
          <a:bodyPr>
            <a:normAutofit/>
          </a:bodyPr>
          <a:lstStyle/>
          <a:p>
            <a:r>
              <a:rPr lang="en-ZA" dirty="0"/>
              <a:t>Step 2: Amplitude Flip by the Oracle</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B9F3BEB-C0C8-264F-B471-BFA9DD8DBBDA}"/>
                  </a:ext>
                </a:extLst>
              </p:cNvPr>
              <p:cNvSpPr/>
              <p:nvPr/>
            </p:nvSpPr>
            <p:spPr>
              <a:xfrm>
                <a:off x="3843881" y="1004790"/>
                <a:ext cx="6451190" cy="9161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sr-Latn-RS" sz="2400" b="0" i="0" smtClean="0">
                          <a:solidFill>
                            <a:schemeClr val="tx1"/>
                          </a:solidFill>
                          <a:latin typeface="Cambria Math" panose="02040503050406030204" pitchFamily="18" charset="0"/>
                        </a:rPr>
                        <m:t>O</m:t>
                      </m:r>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𝑥</m:t>
                          </m:r>
                        </m:e>
                      </m:d>
                      <m:r>
                        <a:rPr lang="en-US" sz="2400" i="0">
                          <a:solidFill>
                            <a:schemeClr val="tx1"/>
                          </a:solidFill>
                          <a:latin typeface="Cambria Math" panose="02040503050406030204" pitchFamily="18" charset="0"/>
                        </a:rPr>
                        <m:t>=</m:t>
                      </m:r>
                      <m:sSup>
                        <m:sSupPr>
                          <m:ctrlPr>
                            <a:rPr lang="en-US" sz="2400" i="1" smtClean="0">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(−1)</m:t>
                          </m:r>
                        </m:e>
                        <m:sup>
                          <m:r>
                            <a:rPr lang="en-US" sz="2400" i="1">
                              <a:solidFill>
                                <a:schemeClr val="tx1"/>
                              </a:solidFill>
                              <a:latin typeface="Cambria Math" panose="02040503050406030204" pitchFamily="18" charset="0"/>
                            </a:rPr>
                            <m:t>𝑓</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𝑥</m:t>
                          </m:r>
                          <m:r>
                            <a:rPr lang="en-US" sz="2400" i="1">
                              <a:solidFill>
                                <a:schemeClr val="tx1"/>
                              </a:solidFill>
                              <a:latin typeface="Cambria Math" panose="02040503050406030204" pitchFamily="18" charset="0"/>
                            </a:rPr>
                            <m:t>)</m:t>
                          </m:r>
                        </m:sup>
                      </m:sSup>
                      <m:d>
                        <m:dPr>
                          <m:begChr m:val="|"/>
                          <m:endChr m:val="⟩"/>
                          <m:ctrlPr>
                            <a:rPr lang="en-US" sz="2400" i="1" smtClean="0">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𝑥</m:t>
                          </m:r>
                        </m:e>
                      </m:d>
                      <m:r>
                        <a:rPr lang="sr-Latn-R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 </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a:latin typeface="Cambria Math" panose="02040503050406030204" pitchFamily="18" charset="0"/>
                                  </a:rPr>
                                  <m:t>1</m:t>
                                </m:r>
                              </m:e>
                              <m:e>
                                <m:r>
                                  <m:rPr>
                                    <m:nor/>
                                  </m:rPr>
                                  <a:rPr lang="en-US" sz="2400">
                                    <a:latin typeface="+mj-lt"/>
                                  </a:rPr>
                                  <m:t>𝑥</m:t>
                                </m:r>
                                <m:r>
                                  <m:rPr>
                                    <m:nor/>
                                  </m:rPr>
                                  <a:rPr lang="en-US" sz="2400" b="0" i="0" smtClean="0">
                                    <a:latin typeface="+mj-lt"/>
                                  </a:rPr>
                                  <m:t> = </m:t>
                                </m:r>
                                <m:r>
                                  <m:rPr>
                                    <m:nor/>
                                  </m:rPr>
                                  <a:rPr lang="en-ZA" sz="2400">
                                    <a:latin typeface="+mj-lt"/>
                                  </a:rPr>
                                  <m:t>target</m:t>
                                </m:r>
                                <m:r>
                                  <a:rPr lang="en-ZA" sz="2400" i="1" smtClean="0">
                                    <a:latin typeface="Cambria Math" panose="02040503050406030204" pitchFamily="18" charset="0"/>
                                  </a:rPr>
                                  <m:t> </m:t>
                                </m:r>
                              </m:e>
                            </m:mr>
                            <m:mr>
                              <m:e>
                                <m:r>
                                  <a:rPr lang="en-US" sz="2400">
                                    <a:latin typeface="Cambria Math" panose="02040503050406030204" pitchFamily="18" charset="0"/>
                                  </a:rPr>
                                  <m:t>0</m:t>
                                </m:r>
                              </m:e>
                              <m:e>
                                <m:r>
                                  <m:rPr>
                                    <m:nor/>
                                  </m:rPr>
                                  <a:rPr lang="en-US" sz="2400">
                                    <a:latin typeface="+mj-lt"/>
                                  </a:rPr>
                                  <m:t>𝑥</m:t>
                                </m:r>
                                <m:r>
                                  <a:rPr lang="en-US" sz="2400" i="1" smtClean="0">
                                    <a:latin typeface="Cambria Math" panose="02040503050406030204" pitchFamily="18" charset="0"/>
                                    <a:ea typeface="Cambria Math" panose="02040503050406030204" pitchFamily="18" charset="0"/>
                                  </a:rPr>
                                  <m:t>≠</m:t>
                                </m:r>
                                <m:r>
                                  <m:rPr>
                                    <m:nor/>
                                  </m:rPr>
                                  <a:rPr lang="en-ZA" sz="2400">
                                    <a:latin typeface="+mj-lt"/>
                                  </a:rPr>
                                  <m:t>target</m:t>
                                </m:r>
                              </m:e>
                            </m:mr>
                          </m:m>
                        </m:e>
                      </m:d>
                    </m:oMath>
                  </m:oMathPara>
                </a14:m>
                <a:endParaRPr lang="en-US" sz="2400" dirty="0">
                  <a:latin typeface="+mj-lt"/>
                </a:endParaRPr>
              </a:p>
            </p:txBody>
          </p:sp>
        </mc:Choice>
        <mc:Fallback xmlns="">
          <p:sp>
            <p:nvSpPr>
              <p:cNvPr id="3" name="Rectangle 2">
                <a:extLst>
                  <a:ext uri="{FF2B5EF4-FFF2-40B4-BE49-F238E27FC236}">
                    <a16:creationId xmlns:a16="http://schemas.microsoft.com/office/drawing/2014/main" id="{9B9F3BEB-C0C8-264F-B471-BFA9DD8DBBDA}"/>
                  </a:ext>
                </a:extLst>
              </p:cNvPr>
              <p:cNvSpPr>
                <a:spLocks noRot="1" noChangeAspect="1" noMove="1" noResize="1" noEditPoints="1" noAdjustHandles="1" noChangeArrowheads="1" noChangeShapeType="1" noTextEdit="1"/>
              </p:cNvSpPr>
              <p:nvPr/>
            </p:nvSpPr>
            <p:spPr>
              <a:xfrm>
                <a:off x="3843881" y="1004790"/>
                <a:ext cx="6451190" cy="916148"/>
              </a:xfrm>
              <a:prstGeom prst="rect">
                <a:avLst/>
              </a:prstGeom>
              <a:blipFill>
                <a:blip r:embed="rId3"/>
                <a:stretch>
                  <a:fillRect t="-195890" b="-287671"/>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2F82EE0E-3B16-3F4D-B03D-0C6C79C289DD}"/>
              </a:ext>
            </a:extLst>
          </p:cNvPr>
          <p:cNvGrpSpPr/>
          <p:nvPr/>
        </p:nvGrpSpPr>
        <p:grpSpPr>
          <a:xfrm>
            <a:off x="5278749" y="2478685"/>
            <a:ext cx="6608284" cy="2464192"/>
            <a:chOff x="4396470" y="2165122"/>
            <a:chExt cx="6608284" cy="2464192"/>
          </a:xfrm>
        </p:grpSpPr>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E379244B-34D1-2145-84FE-EA85BB397A03}"/>
                    </a:ext>
                  </a:extLst>
                </p:cNvPr>
                <p:cNvSpPr/>
                <p:nvPr/>
              </p:nvSpPr>
              <p:spPr>
                <a:xfrm>
                  <a:off x="4396470" y="3157373"/>
                  <a:ext cx="6608284" cy="1471941"/>
                </a:xfrm>
                <a:prstGeom prst="rect">
                  <a:avLst/>
                </a:prstGeom>
                <a:noFill/>
              </p:spPr>
              <p:txBody>
                <a:bodyPr wrap="none">
                  <a:spAutoFit/>
                </a:bodyPr>
                <a:lstStyle/>
                <a:p>
                  <a:pPr/>
                  <a14:m>
                    <m:oMathPara xmlns:m="http://schemas.openxmlformats.org/officeDocument/2006/math">
                      <m:oMathParaPr>
                        <m:jc m:val="left"/>
                      </m:oMathParaPr>
                      <m:oMath xmlns:m="http://schemas.openxmlformats.org/officeDocument/2006/math">
                        <m:m>
                          <m:mPr>
                            <m:mcs>
                              <m:mc>
                                <m:mcPr>
                                  <m:count m:val="3"/>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𝐼</m:t>
                              </m:r>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0</m:t>
                                        </m:r>
                                      </m:e>
                                      <m:e>
                                        <m:r>
                                          <a:rPr lang="en-US" sz="2400">
                                            <a:latin typeface="Cambria Math" panose="02040503050406030204" pitchFamily="18" charset="0"/>
                                          </a:rPr>
                                          <m:t>0</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a:latin typeface="Cambria Math" panose="02040503050406030204" pitchFamily="18" charset="0"/>
                                          </a:rPr>
                                          <m:t>1</m:t>
                                        </m:r>
                                      </m:e>
                                      <m:e>
                                        <m:r>
                                          <a:rPr lang="en-US" sz="2400">
                                            <a:latin typeface="Cambria Math" panose="02040503050406030204" pitchFamily="18" charset="0"/>
                                          </a:rPr>
                                          <m:t>0</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a:latin typeface="Cambria Math" panose="02040503050406030204" pitchFamily="18" charset="0"/>
                                          </a:rPr>
                                          <m:t>0</m:t>
                                        </m:r>
                                      </m:e>
                                      <m:e>
                                        <m:r>
                                          <a:rPr lang="en-US" sz="2400">
                                            <a:latin typeface="Cambria Math" panose="02040503050406030204" pitchFamily="18" charset="0"/>
                                          </a:rPr>
                                          <m:t>1</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a:latin typeface="Cambria Math" panose="02040503050406030204" pitchFamily="18" charset="0"/>
                                          </a:rPr>
                                          <m:t>0</m:t>
                                        </m:r>
                                      </m:e>
                                      <m:e>
                                        <m:r>
                                          <a:rPr lang="en-US" sz="2400">
                                            <a:latin typeface="Cambria Math" panose="02040503050406030204" pitchFamily="18" charset="0"/>
                                          </a:rPr>
                                          <m:t>0</m:t>
                                        </m:r>
                                      </m:e>
                                      <m:e>
                                        <m:r>
                                          <a:rPr lang="en-US" sz="2400">
                                            <a:latin typeface="Cambria Math" panose="02040503050406030204" pitchFamily="18" charset="0"/>
                                          </a:rPr>
                                          <m:t>1</m:t>
                                        </m:r>
                                      </m:e>
                                    </m:mr>
                                  </m:m>
                                </m:e>
                              </m:d>
                            </m:e>
                            <m:e>
                              <m:r>
                                <a:rPr lang="en-US" sz="2400" b="0" i="1" smtClean="0">
                                  <a:latin typeface="Cambria Math" panose="02040503050406030204" pitchFamily="18" charset="0"/>
                                  <a:ea typeface="Cambria Math" panose="02040503050406030204" pitchFamily="18" charset="0"/>
                                </a:rPr>
                                <m:t>⇒</m:t>
                              </m:r>
                            </m:e>
                            <m:e>
                              <m:r>
                                <a:rPr lang="sr-Latn-RS" sz="2400" b="0" i="1" smtClean="0">
                                  <a:latin typeface="Cambria Math" panose="02040503050406030204" pitchFamily="18" charset="0"/>
                                  <a:ea typeface="Cambria Math" panose="02040503050406030204" pitchFamily="18" charset="0"/>
                                </a:rPr>
                                <m:t>𝑂</m:t>
                              </m:r>
                              <m:r>
                                <a:rPr lang="en-US" sz="2400" i="1">
                                  <a:latin typeface="Cambria Math" panose="02040503050406030204" pitchFamily="18" charset="0"/>
                                </a:rPr>
                                <m:t>=</m:t>
                              </m:r>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0</m:t>
                                        </m:r>
                                      </m:e>
                                      <m:e>
                                        <m:r>
                                          <a:rPr lang="en-US" sz="2400">
                                            <a:latin typeface="Cambria Math" panose="02040503050406030204" pitchFamily="18" charset="0"/>
                                          </a:rPr>
                                          <m:t>0</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a:latin typeface="Cambria Math" panose="02040503050406030204" pitchFamily="18" charset="0"/>
                                          </a:rPr>
                                          <m:t>1</m:t>
                                        </m:r>
                                      </m:e>
                                      <m:e>
                                        <m:r>
                                          <a:rPr lang="en-US" sz="2400">
                                            <a:latin typeface="Cambria Math" panose="02040503050406030204" pitchFamily="18" charset="0"/>
                                          </a:rPr>
                                          <m:t>0</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a:latin typeface="Cambria Math" panose="02040503050406030204" pitchFamily="18" charset="0"/>
                                          </a:rPr>
                                          <m:t>0</m:t>
                                        </m:r>
                                      </m:e>
                                      <m:e>
                                        <m:r>
                                          <a:rPr lang="en-US" sz="2400" i="1">
                                            <a:latin typeface="Cambria Math" panose="02040503050406030204" pitchFamily="18" charset="0"/>
                                          </a:rPr>
                                          <m:t>−</m:t>
                                        </m:r>
                                        <m:r>
                                          <a:rPr lang="en-US" sz="2400">
                                            <a:latin typeface="Cambria Math" panose="02040503050406030204" pitchFamily="18" charset="0"/>
                                          </a:rPr>
                                          <m:t>1</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a:latin typeface="Cambria Math" panose="02040503050406030204" pitchFamily="18" charset="0"/>
                                          </a:rPr>
                                          <m:t>0</m:t>
                                        </m:r>
                                      </m:e>
                                      <m:e>
                                        <m:r>
                                          <a:rPr lang="en-US" sz="2400">
                                            <a:latin typeface="Cambria Math" panose="02040503050406030204" pitchFamily="18" charset="0"/>
                                          </a:rPr>
                                          <m:t>0</m:t>
                                        </m:r>
                                      </m:e>
                                      <m:e>
                                        <m:r>
                                          <a:rPr lang="en-US" sz="2400">
                                            <a:latin typeface="Cambria Math" panose="02040503050406030204" pitchFamily="18" charset="0"/>
                                          </a:rPr>
                                          <m:t>1</m:t>
                                        </m:r>
                                      </m:e>
                                    </m:mr>
                                  </m:m>
                                </m:e>
                              </m:d>
                            </m:e>
                          </m:mr>
                        </m:m>
                      </m:oMath>
                    </m:oMathPara>
                  </a14:m>
                  <a:endParaRPr lang="en-US" sz="2400" dirty="0"/>
                </a:p>
              </p:txBody>
            </p:sp>
          </mc:Choice>
          <mc:Fallback xmlns="">
            <p:sp>
              <p:nvSpPr>
                <p:cNvPr id="12" name="Rectangle 11">
                  <a:extLst>
                    <a:ext uri="{FF2B5EF4-FFF2-40B4-BE49-F238E27FC236}">
                      <a16:creationId xmlns:a16="http://schemas.microsoft.com/office/drawing/2014/main" id="{E379244B-34D1-2145-84FE-EA85BB397A03}"/>
                    </a:ext>
                  </a:extLst>
                </p:cNvPr>
                <p:cNvSpPr>
                  <a:spLocks noRot="1" noChangeAspect="1" noMove="1" noResize="1" noEditPoints="1" noAdjustHandles="1" noChangeArrowheads="1" noChangeShapeType="1" noTextEdit="1"/>
                </p:cNvSpPr>
                <p:nvPr/>
              </p:nvSpPr>
              <p:spPr>
                <a:xfrm>
                  <a:off x="4396470" y="3157373"/>
                  <a:ext cx="6608284" cy="1471941"/>
                </a:xfrm>
                <a:prstGeom prst="rect">
                  <a:avLst/>
                </a:prstGeom>
                <a:blipFill>
                  <a:blip r:embed="rId5"/>
                  <a:stretch>
                    <a:fillRect b="-855"/>
                  </a:stretch>
                </a:blipFill>
              </p:spPr>
              <p:txBody>
                <a:bodyPr/>
                <a:lstStyle/>
                <a:p>
                  <a:r>
                    <a:rPr lang="en-US">
                      <a:noFill/>
                    </a:rPr>
                    <a:t> </a:t>
                  </a:r>
                </a:p>
              </p:txBody>
            </p:sp>
          </mc:Fallback>
        </mc:AlternateContent>
        <p:sp>
          <p:nvSpPr>
            <p:cNvPr id="5" name="Down Arrow 4">
              <a:extLst>
                <a:ext uri="{FF2B5EF4-FFF2-40B4-BE49-F238E27FC236}">
                  <a16:creationId xmlns:a16="http://schemas.microsoft.com/office/drawing/2014/main" id="{3C966F67-56CB-CA4A-A01E-A41404821661}"/>
                </a:ext>
              </a:extLst>
            </p:cNvPr>
            <p:cNvSpPr/>
            <p:nvPr/>
          </p:nvSpPr>
          <p:spPr>
            <a:xfrm>
              <a:off x="7285220" y="2165122"/>
              <a:ext cx="646717" cy="774181"/>
            </a:xfrm>
            <a:prstGeom prst="downArrow">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a:extLst>
              <a:ext uri="{FF2B5EF4-FFF2-40B4-BE49-F238E27FC236}">
                <a16:creationId xmlns:a16="http://schemas.microsoft.com/office/drawing/2014/main" id="{DCB72EBF-76F4-1945-A760-192DEAA9FA6B}"/>
              </a:ext>
            </a:extLst>
          </p:cNvPr>
          <p:cNvPicPr>
            <a:picLocks noChangeAspect="1"/>
          </p:cNvPicPr>
          <p:nvPr/>
        </p:nvPicPr>
        <p:blipFill>
          <a:blip r:embed="rId6"/>
          <a:stretch>
            <a:fillRect/>
          </a:stretch>
        </p:blipFill>
        <p:spPr>
          <a:xfrm>
            <a:off x="536204" y="-153958"/>
            <a:ext cx="4305662" cy="6264000"/>
          </a:xfrm>
          <a:prstGeom prst="rect">
            <a:avLst/>
          </a:prstGeom>
        </p:spPr>
      </p:pic>
    </p:spTree>
    <p:extLst>
      <p:ext uri="{BB962C8B-B14F-4D97-AF65-F5344CB8AC3E}">
        <p14:creationId xmlns:p14="http://schemas.microsoft.com/office/powerpoint/2010/main" val="3437458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6EE76-28BD-BD40-891F-599711DCE6A6}"/>
              </a:ext>
            </a:extLst>
          </p:cNvPr>
          <p:cNvSpPr>
            <a:spLocks noGrp="1"/>
          </p:cNvSpPr>
          <p:nvPr>
            <p:ph type="title"/>
          </p:nvPr>
        </p:nvSpPr>
        <p:spPr/>
        <p:txBody>
          <a:bodyPr/>
          <a:lstStyle/>
          <a:p>
            <a:r>
              <a:rPr lang="en-ZA" dirty="0" err="1"/>
              <a:t>MathBox</a:t>
            </a:r>
            <a:r>
              <a:rPr lang="en-ZA" dirty="0"/>
              <a:t>: </a:t>
            </a:r>
            <a:r>
              <a:rPr lang="en-ZA"/>
              <a:t>Outer </a:t>
            </a:r>
            <a:r>
              <a:rPr lang="en-ZA" dirty="0"/>
              <a:t>P</a:t>
            </a:r>
            <a:r>
              <a:rPr lang="en-ZA"/>
              <a:t>roduct</a:t>
            </a:r>
            <a:endParaRPr lang="en-US" dirty="0"/>
          </a:p>
        </p:txBody>
      </p:sp>
      <p:sp>
        <p:nvSpPr>
          <p:cNvPr id="3" name="Slide Number Placeholder 2">
            <a:extLst>
              <a:ext uri="{FF2B5EF4-FFF2-40B4-BE49-F238E27FC236}">
                <a16:creationId xmlns:a16="http://schemas.microsoft.com/office/drawing/2014/main" id="{54BB9849-A072-6145-B33E-8068F0539FC9}"/>
              </a:ext>
            </a:extLst>
          </p:cNvPr>
          <p:cNvSpPr>
            <a:spLocks noGrp="1"/>
          </p:cNvSpPr>
          <p:nvPr>
            <p:ph type="sldNum" sz="quarter" idx="12"/>
          </p:nvPr>
        </p:nvSpPr>
        <p:spPr/>
        <p:txBody>
          <a:bodyPr/>
          <a:lstStyle/>
          <a:p>
            <a:fld id="{591A223C-FA10-BC46-A853-03BA373D023C}" type="slidenum">
              <a:rPr lang="en-US" smtClean="0"/>
              <a:t>9</a:t>
            </a:fld>
            <a:endParaRPr lang="en-US"/>
          </a:p>
        </p:txBody>
      </p:sp>
      <p:sp>
        <p:nvSpPr>
          <p:cNvPr id="5" name="Rectangle 4">
            <a:extLst>
              <a:ext uri="{FF2B5EF4-FFF2-40B4-BE49-F238E27FC236}">
                <a16:creationId xmlns:a16="http://schemas.microsoft.com/office/drawing/2014/main" id="{15E6E932-EC9E-0B4E-9123-0EEDAE5B1236}"/>
              </a:ext>
            </a:extLst>
          </p:cNvPr>
          <p:cNvSpPr/>
          <p:nvPr/>
        </p:nvSpPr>
        <p:spPr>
          <a:xfrm>
            <a:off x="370955" y="1166469"/>
            <a:ext cx="8668114" cy="461665"/>
          </a:xfrm>
          <a:prstGeom prst="rect">
            <a:avLst/>
          </a:prstGeom>
        </p:spPr>
        <p:txBody>
          <a:bodyPr wrap="square">
            <a:spAutoFit/>
          </a:bodyPr>
          <a:lstStyle/>
          <a:p>
            <a:r>
              <a:rPr lang="en-ZA" sz="2400" dirty="0"/>
              <a:t>The outer product is the product of a ket vector and a bra vector::</a:t>
            </a:r>
            <a:endParaRPr lang="en-US" sz="2400" dirty="0"/>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999165C2-7F3A-B24E-94B2-6EAA17F6569B}"/>
                  </a:ext>
                </a:extLst>
              </p:cNvPr>
              <p:cNvSpPr/>
              <p:nvPr/>
            </p:nvSpPr>
            <p:spPr>
              <a:xfrm>
                <a:off x="2091281" y="4584155"/>
                <a:ext cx="8009437" cy="1563890"/>
              </a:xfrm>
              <a:prstGeom prst="rect">
                <a:avLst/>
              </a:prstGeom>
            </p:spPr>
            <p:txBody>
              <a:bodyPr wrap="none">
                <a:spAutoFit/>
              </a:bodyPr>
              <a:lstStyle/>
              <a:p>
                <a:pPr algn="ct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en-US" sz="2400">
                        <a:latin typeface="Cambria Math" panose="02040503050406030204" pitchFamily="18" charset="0"/>
                      </a:rPr>
                      <m:t>⟨</m:t>
                    </m:r>
                    <m:r>
                      <a:rPr lang="en-US" sz="2400" i="1">
                        <a:latin typeface="Cambria Math" panose="02040503050406030204" pitchFamily="18" charset="0"/>
                      </a:rPr>
                      <m:t>𝑏</m:t>
                    </m:r>
                    <m:r>
                      <a:rPr lang="en-US" sz="2400">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e>
                          </m:mr>
                          <m:mr>
                            <m:e>
                              <m:r>
                                <a:rPr lang="en-US" sz="2400" i="1">
                                  <a:latin typeface="Cambria Math" panose="02040503050406030204" pitchFamily="18" charset="0"/>
                                </a:rPr>
                                <m:t>⋮</m:t>
                              </m:r>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𝑛</m:t>
                                  </m:r>
                                </m:sub>
                              </m:sSub>
                            </m:e>
                          </m:mr>
                        </m:m>
                      </m:e>
                    </m:d>
                    <m:d>
                      <m:dPr>
                        <m:ctrlPr>
                          <a:rPr lang="en-US" sz="2400" i="1">
                            <a:latin typeface="Cambria Math" panose="02040503050406030204" pitchFamily="18" charset="0"/>
                          </a:rPr>
                        </m:ctrlPr>
                      </m:dPr>
                      <m:e>
                        <m:m>
                          <m:mPr>
                            <m:mcs>
                              <m:mc>
                                <m:mcPr>
                                  <m:count m:val="3"/>
                                  <m:mcJc m:val="center"/>
                                </m:mcPr>
                              </m:mc>
                            </m:mcs>
                            <m:ctrlPr>
                              <a:rPr lang="en-US" sz="2400" i="1">
                                <a:latin typeface="Cambria Math" panose="02040503050406030204" pitchFamily="18" charset="0"/>
                              </a:rPr>
                            </m:ctrlPr>
                          </m:mPr>
                          <m:mr>
                            <m:e>
                              <m:sSubSup>
                                <m:sSubSupPr>
                                  <m:ctrlPr>
                                    <a:rPr lang="en-US" sz="2400" i="1">
                                      <a:latin typeface="Cambria Math" panose="02040503050406030204" pitchFamily="18" charset="0"/>
                                    </a:rPr>
                                  </m:ctrlPr>
                                </m:sSubSupPr>
                                <m:e>
                                  <m:r>
                                    <a:rPr lang="en-US" sz="2400" i="1">
                                      <a:latin typeface="Cambria Math" panose="02040503050406030204" pitchFamily="18" charset="0"/>
                                    </a:rPr>
                                    <m:t>𝑏</m:t>
                                  </m:r>
                                </m:e>
                                <m:sub>
                                  <m:r>
                                    <a:rPr lang="en-US" sz="2400" i="1">
                                      <a:latin typeface="Cambria Math" panose="02040503050406030204" pitchFamily="18" charset="0"/>
                                    </a:rPr>
                                    <m:t>1</m:t>
                                  </m:r>
                                </m:sub>
                                <m:sup>
                                  <m:r>
                                    <a:rPr lang="en-US" sz="2400" i="1">
                                      <a:latin typeface="Cambria Math" panose="02040503050406030204" pitchFamily="18" charset="0"/>
                                    </a:rPr>
                                    <m:t>∗</m:t>
                                  </m:r>
                                </m:sup>
                              </m:sSubSup>
                            </m:e>
                            <m:e>
                              <m:r>
                                <a:rPr lang="en-US" sz="2400" i="1">
                                  <a:latin typeface="Cambria Math" panose="02040503050406030204" pitchFamily="18" charset="0"/>
                                </a:rPr>
                                <m:t>⋯</m:t>
                              </m:r>
                            </m:e>
                            <m:e>
                              <m:sSubSup>
                                <m:sSubSupPr>
                                  <m:ctrlPr>
                                    <a:rPr lang="en-US" sz="2400" i="1">
                                      <a:latin typeface="Cambria Math" panose="02040503050406030204" pitchFamily="18" charset="0"/>
                                    </a:rPr>
                                  </m:ctrlPr>
                                </m:sSubSupPr>
                                <m:e>
                                  <m:r>
                                    <a:rPr lang="en-US" sz="2400" i="1">
                                      <a:latin typeface="Cambria Math" panose="02040503050406030204" pitchFamily="18" charset="0"/>
                                    </a:rPr>
                                    <m:t>𝑏</m:t>
                                  </m:r>
                                </m:e>
                                <m:sub>
                                  <m:r>
                                    <a:rPr lang="en-US" sz="2400" i="1">
                                      <a:latin typeface="Cambria Math" panose="02040503050406030204" pitchFamily="18" charset="0"/>
                                    </a:rPr>
                                    <m:t>𝑛</m:t>
                                  </m:r>
                                </m:sub>
                                <m:sup>
                                  <m:r>
                                    <a:rPr lang="en-US" sz="2400" i="1">
                                      <a:latin typeface="Cambria Math" panose="02040503050406030204" pitchFamily="18" charset="0"/>
                                    </a:rPr>
                                    <m:t>∗</m:t>
                                  </m:r>
                                </m:sup>
                              </m:sSubSup>
                            </m:e>
                          </m:mr>
                        </m:m>
                      </m:e>
                    </m:d>
                    <m:r>
                      <a:rPr lang="en-US" sz="2400" i="1">
                        <a:latin typeface="Cambria Math" panose="02040503050406030204" pitchFamily="18" charset="0"/>
                      </a:rPr>
                      <m:t>=</m:t>
                    </m:r>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sSub>
                                <m:sSubPr>
                                  <m:ctrlPr>
                                    <a:rPr lang="en-US" sz="2400" b="1" i="1">
                                      <a:latin typeface="Cambria Math" panose="02040503050406030204" pitchFamily="18" charset="0"/>
                                    </a:rPr>
                                  </m:ctrlPr>
                                </m:sSubPr>
                                <m:e>
                                  <m:r>
                                    <a:rPr lang="en-US" sz="2400" b="1" i="1">
                                      <a:latin typeface="Cambria Math" panose="02040503050406030204" pitchFamily="18" charset="0"/>
                                    </a:rPr>
                                    <m:t>𝒂</m:t>
                                  </m:r>
                                </m:e>
                                <m:sub>
                                  <m:r>
                                    <a:rPr lang="en-US" sz="2400" b="1" i="1">
                                      <a:latin typeface="Cambria Math" panose="02040503050406030204" pitchFamily="18" charset="0"/>
                                    </a:rPr>
                                    <m:t>𝟏</m:t>
                                  </m:r>
                                </m:sub>
                              </m:sSub>
                              <m:sSubSup>
                                <m:sSubSupPr>
                                  <m:ctrlPr>
                                    <a:rPr lang="en-US" sz="2400" b="1" i="1">
                                      <a:latin typeface="Cambria Math" panose="02040503050406030204" pitchFamily="18" charset="0"/>
                                    </a:rPr>
                                  </m:ctrlPr>
                                </m:sSubSupPr>
                                <m:e>
                                  <m:r>
                                    <a:rPr lang="en-US" sz="2400" b="1" i="1">
                                      <a:latin typeface="Cambria Math" panose="02040503050406030204" pitchFamily="18" charset="0"/>
                                    </a:rPr>
                                    <m:t>𝒃</m:t>
                                  </m:r>
                                </m:e>
                                <m:sub>
                                  <m:r>
                                    <a:rPr lang="en-US" sz="2400" b="1" i="1">
                                      <a:latin typeface="Cambria Math" panose="02040503050406030204" pitchFamily="18" charset="0"/>
                                    </a:rPr>
                                    <m:t>𝟏</m:t>
                                  </m:r>
                                </m:sub>
                                <m:sup>
                                  <m:r>
                                    <a:rPr lang="en-US" sz="2400" b="1" i="1">
                                      <a:latin typeface="Cambria Math" panose="02040503050406030204" pitchFamily="18" charset="0"/>
                                    </a:rPr>
                                    <m:t>∗</m:t>
                                  </m:r>
                                </m:sup>
                              </m:sSubSup>
                            </m:e>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sSubSup>
                                <m:sSubSupPr>
                                  <m:ctrlPr>
                                    <a:rPr lang="en-US" sz="2400" i="1">
                                      <a:latin typeface="Cambria Math" panose="02040503050406030204" pitchFamily="18" charset="0"/>
                                    </a:rPr>
                                  </m:ctrlPr>
                                </m:sSubSupPr>
                                <m:e>
                                  <m:r>
                                    <a:rPr lang="en-US" sz="2400" i="1">
                                      <a:latin typeface="Cambria Math" panose="02040503050406030204" pitchFamily="18" charset="0"/>
                                    </a:rPr>
                                    <m:t>𝑏</m:t>
                                  </m:r>
                                </m:e>
                                <m:sub>
                                  <m:r>
                                    <a:rPr lang="en-US" sz="2400" i="1">
                                      <a:latin typeface="Cambria Math" panose="02040503050406030204" pitchFamily="18" charset="0"/>
                                    </a:rPr>
                                    <m:t>2</m:t>
                                  </m:r>
                                </m:sub>
                                <m:sup>
                                  <m:r>
                                    <a:rPr lang="en-US" sz="2400" i="1">
                                      <a:latin typeface="Cambria Math" panose="02040503050406030204" pitchFamily="18" charset="0"/>
                                    </a:rPr>
                                    <m:t>∗</m:t>
                                  </m:r>
                                </m:sup>
                              </m:sSubSup>
                            </m:e>
                            <m:e>
                              <m:r>
                                <a:rPr lang="en-US" sz="2400" i="1">
                                  <a:latin typeface="Cambria Math" panose="02040503050406030204" pitchFamily="18" charset="0"/>
                                </a:rPr>
                                <m:t>⋯</m:t>
                              </m:r>
                            </m:e>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sSubSup>
                                <m:sSubSupPr>
                                  <m:ctrlPr>
                                    <a:rPr lang="en-US" sz="2400" i="1">
                                      <a:latin typeface="Cambria Math" panose="02040503050406030204" pitchFamily="18" charset="0"/>
                                    </a:rPr>
                                  </m:ctrlPr>
                                </m:sSubSupPr>
                                <m:e>
                                  <m:r>
                                    <a:rPr lang="en-US" sz="2400" i="1">
                                      <a:latin typeface="Cambria Math" panose="02040503050406030204" pitchFamily="18" charset="0"/>
                                    </a:rPr>
                                    <m:t>𝑏</m:t>
                                  </m:r>
                                </m:e>
                                <m:sub>
                                  <m:r>
                                    <a:rPr lang="en-US" sz="2400" i="1">
                                      <a:latin typeface="Cambria Math" panose="02040503050406030204" pitchFamily="18" charset="0"/>
                                    </a:rPr>
                                    <m:t>𝑛</m:t>
                                  </m:r>
                                </m:sub>
                                <m:sup>
                                  <m:r>
                                    <a:rPr lang="en-US" sz="2400" i="1">
                                      <a:latin typeface="Cambria Math" panose="02040503050406030204" pitchFamily="18" charset="0"/>
                                    </a:rPr>
                                    <m:t>∗</m:t>
                                  </m:r>
                                </m:sup>
                              </m:sSubSup>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sSubSup>
                                <m:sSubSupPr>
                                  <m:ctrlPr>
                                    <a:rPr lang="en-US" sz="2400" i="1">
                                      <a:latin typeface="Cambria Math" panose="02040503050406030204" pitchFamily="18" charset="0"/>
                                    </a:rPr>
                                  </m:ctrlPr>
                                </m:sSubSupPr>
                                <m:e>
                                  <m:r>
                                    <a:rPr lang="en-US" sz="2400" i="1">
                                      <a:latin typeface="Cambria Math" panose="02040503050406030204" pitchFamily="18" charset="0"/>
                                    </a:rPr>
                                    <m:t>𝑏</m:t>
                                  </m:r>
                                </m:e>
                                <m:sub>
                                  <m:r>
                                    <a:rPr lang="en-US" sz="2400" i="1">
                                      <a:latin typeface="Cambria Math" panose="02040503050406030204" pitchFamily="18" charset="0"/>
                                    </a:rPr>
                                    <m:t>1</m:t>
                                  </m:r>
                                </m:sub>
                                <m:sup>
                                  <m:r>
                                    <a:rPr lang="en-US" sz="2400" i="1">
                                      <a:latin typeface="Cambria Math" panose="02040503050406030204" pitchFamily="18" charset="0"/>
                                    </a:rPr>
                                    <m:t>∗</m:t>
                                  </m:r>
                                </m:sup>
                              </m:sSubSup>
                            </m:e>
                            <m:e>
                              <m:sSub>
                                <m:sSubPr>
                                  <m:ctrlPr>
                                    <a:rPr lang="en-US" sz="2400" b="1" i="1">
                                      <a:latin typeface="Cambria Math" panose="02040503050406030204" pitchFamily="18" charset="0"/>
                                    </a:rPr>
                                  </m:ctrlPr>
                                </m:sSubPr>
                                <m:e>
                                  <m:r>
                                    <a:rPr lang="en-US" sz="2400" b="1" i="1">
                                      <a:latin typeface="Cambria Math" panose="02040503050406030204" pitchFamily="18" charset="0"/>
                                    </a:rPr>
                                    <m:t>𝒂</m:t>
                                  </m:r>
                                </m:e>
                                <m:sub>
                                  <m:r>
                                    <a:rPr lang="en-US" sz="2400" b="1" i="1">
                                      <a:latin typeface="Cambria Math" panose="02040503050406030204" pitchFamily="18" charset="0"/>
                                    </a:rPr>
                                    <m:t>𝟐</m:t>
                                  </m:r>
                                </m:sub>
                              </m:sSub>
                              <m:sSubSup>
                                <m:sSubSupPr>
                                  <m:ctrlPr>
                                    <a:rPr lang="en-US" sz="2400" b="1" i="1">
                                      <a:latin typeface="Cambria Math" panose="02040503050406030204" pitchFamily="18" charset="0"/>
                                    </a:rPr>
                                  </m:ctrlPr>
                                </m:sSubSupPr>
                                <m:e>
                                  <m:r>
                                    <a:rPr lang="en-US" sz="2400" b="1" i="1">
                                      <a:latin typeface="Cambria Math" panose="02040503050406030204" pitchFamily="18" charset="0"/>
                                    </a:rPr>
                                    <m:t>𝒃</m:t>
                                  </m:r>
                                </m:e>
                                <m:sub>
                                  <m:r>
                                    <a:rPr lang="en-US" sz="2400" b="1" i="1">
                                      <a:latin typeface="Cambria Math" panose="02040503050406030204" pitchFamily="18" charset="0"/>
                                    </a:rPr>
                                    <m:t>𝟐</m:t>
                                  </m:r>
                                </m:sub>
                                <m:sup>
                                  <m:r>
                                    <a:rPr lang="en-US" sz="2400" b="1" i="1">
                                      <a:latin typeface="Cambria Math" panose="02040503050406030204" pitchFamily="18" charset="0"/>
                                    </a:rPr>
                                    <m:t>∗</m:t>
                                  </m:r>
                                </m:sup>
                              </m:sSubSup>
                            </m:e>
                            <m:e>
                              <m:r>
                                <a:rPr lang="en-US" sz="2400" i="1">
                                  <a:latin typeface="Cambria Math" panose="02040503050406030204" pitchFamily="18" charset="0"/>
                                </a:rPr>
                                <m:t>⋯</m:t>
                              </m:r>
                            </m:e>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sSubSup>
                                <m:sSubSupPr>
                                  <m:ctrlPr>
                                    <a:rPr lang="en-US" sz="2400" i="1">
                                      <a:latin typeface="Cambria Math" panose="02040503050406030204" pitchFamily="18" charset="0"/>
                                    </a:rPr>
                                  </m:ctrlPr>
                                </m:sSubSupPr>
                                <m:e>
                                  <m:r>
                                    <a:rPr lang="en-US" sz="2400" i="1">
                                      <a:latin typeface="Cambria Math" panose="02040503050406030204" pitchFamily="18" charset="0"/>
                                    </a:rPr>
                                    <m:t>𝑏</m:t>
                                  </m:r>
                                </m:e>
                                <m:sub>
                                  <m:r>
                                    <a:rPr lang="en-US" sz="2400" i="1">
                                      <a:latin typeface="Cambria Math" panose="02040503050406030204" pitchFamily="18" charset="0"/>
                                    </a:rPr>
                                    <m:t>𝑛</m:t>
                                  </m:r>
                                </m:sub>
                                <m:sup>
                                  <m:r>
                                    <a:rPr lang="en-US" sz="2400" i="1">
                                      <a:latin typeface="Cambria Math" panose="02040503050406030204" pitchFamily="18" charset="0"/>
                                    </a:rPr>
                                    <m:t>∗</m:t>
                                  </m:r>
                                </m:sup>
                              </m:sSubSup>
                            </m:e>
                          </m:mr>
                          <m:mr>
                            <m:e>
                              <m:r>
                                <a:rPr lang="en-US" sz="2400" i="1">
                                  <a:latin typeface="Cambria Math" panose="02040503050406030204" pitchFamily="18" charset="0"/>
                                </a:rPr>
                                <m:t>⋮</m:t>
                              </m:r>
                            </m:e>
                            <m:e>
                              <m:r>
                                <a:rPr lang="en-US" sz="2400" i="1">
                                  <a:latin typeface="Cambria Math" panose="02040503050406030204" pitchFamily="18" charset="0"/>
                                </a:rPr>
                                <m:t>⋮</m:t>
                              </m:r>
                            </m:e>
                            <m:e>
                              <m:r>
                                <a:rPr lang="en-US" sz="2400" i="1">
                                  <a:latin typeface="Cambria Math" panose="02040503050406030204" pitchFamily="18" charset="0"/>
                                </a:rPr>
                                <m:t>⋱</m:t>
                              </m:r>
                            </m:e>
                            <m:e>
                              <m:r>
                                <a:rPr lang="en-US" sz="2400" i="1">
                                  <a:latin typeface="Cambria Math" panose="02040503050406030204" pitchFamily="18" charset="0"/>
                                </a:rPr>
                                <m:t>⋮</m:t>
                              </m:r>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𝑛</m:t>
                                  </m:r>
                                </m:sub>
                              </m:sSub>
                              <m:sSubSup>
                                <m:sSubSupPr>
                                  <m:ctrlPr>
                                    <a:rPr lang="en-US" sz="2400" i="1">
                                      <a:latin typeface="Cambria Math" panose="02040503050406030204" pitchFamily="18" charset="0"/>
                                    </a:rPr>
                                  </m:ctrlPr>
                                </m:sSubSupPr>
                                <m:e>
                                  <m:r>
                                    <a:rPr lang="en-US" sz="2400" i="1">
                                      <a:latin typeface="Cambria Math" panose="02040503050406030204" pitchFamily="18" charset="0"/>
                                    </a:rPr>
                                    <m:t>𝑏</m:t>
                                  </m:r>
                                </m:e>
                                <m:sub>
                                  <m:r>
                                    <a:rPr lang="en-US" sz="2400" i="1">
                                      <a:latin typeface="Cambria Math" panose="02040503050406030204" pitchFamily="18" charset="0"/>
                                    </a:rPr>
                                    <m:t>1</m:t>
                                  </m:r>
                                </m:sub>
                                <m:sup>
                                  <m:r>
                                    <a:rPr lang="en-US" sz="2400" i="1">
                                      <a:latin typeface="Cambria Math" panose="02040503050406030204" pitchFamily="18" charset="0"/>
                                    </a:rPr>
                                    <m:t>∗</m:t>
                                  </m:r>
                                </m:sup>
                              </m:sSubSup>
                            </m:e>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𝑛</m:t>
                                  </m:r>
                                </m:sub>
                              </m:sSub>
                              <m:sSubSup>
                                <m:sSubSupPr>
                                  <m:ctrlPr>
                                    <a:rPr lang="en-US" sz="2400" i="1">
                                      <a:latin typeface="Cambria Math" panose="02040503050406030204" pitchFamily="18" charset="0"/>
                                    </a:rPr>
                                  </m:ctrlPr>
                                </m:sSubSupPr>
                                <m:e>
                                  <m:r>
                                    <a:rPr lang="en-US" sz="2400" i="1">
                                      <a:latin typeface="Cambria Math" panose="02040503050406030204" pitchFamily="18" charset="0"/>
                                    </a:rPr>
                                    <m:t>𝑏</m:t>
                                  </m:r>
                                </m:e>
                                <m:sub>
                                  <m:r>
                                    <a:rPr lang="en-US" sz="2400" i="1">
                                      <a:latin typeface="Cambria Math" panose="02040503050406030204" pitchFamily="18" charset="0"/>
                                    </a:rPr>
                                    <m:t>2</m:t>
                                  </m:r>
                                </m:sub>
                                <m:sup>
                                  <m:r>
                                    <a:rPr lang="en-US" sz="2400" i="1">
                                      <a:latin typeface="Cambria Math" panose="02040503050406030204" pitchFamily="18" charset="0"/>
                                    </a:rPr>
                                    <m:t>∗</m:t>
                                  </m:r>
                                </m:sup>
                              </m:sSubSup>
                            </m:e>
                            <m:e>
                              <m:r>
                                <a:rPr lang="en-US" sz="2400" i="1">
                                  <a:latin typeface="Cambria Math" panose="02040503050406030204" pitchFamily="18" charset="0"/>
                                </a:rPr>
                                <m:t>⋯</m:t>
                              </m:r>
                            </m:e>
                            <m:e>
                              <m:sSub>
                                <m:sSubPr>
                                  <m:ctrlPr>
                                    <a:rPr lang="en-US" sz="2400" b="1" i="1">
                                      <a:latin typeface="Cambria Math" panose="02040503050406030204" pitchFamily="18" charset="0"/>
                                    </a:rPr>
                                  </m:ctrlPr>
                                </m:sSubPr>
                                <m:e>
                                  <m:r>
                                    <a:rPr lang="en-US" sz="2400" b="1" i="1">
                                      <a:latin typeface="Cambria Math" panose="02040503050406030204" pitchFamily="18" charset="0"/>
                                    </a:rPr>
                                    <m:t>𝒂</m:t>
                                  </m:r>
                                </m:e>
                                <m:sub>
                                  <m:r>
                                    <a:rPr lang="en-US" sz="2400" b="1" i="1">
                                      <a:latin typeface="Cambria Math" panose="02040503050406030204" pitchFamily="18" charset="0"/>
                                    </a:rPr>
                                    <m:t>𝒏</m:t>
                                  </m:r>
                                </m:sub>
                              </m:sSub>
                              <m:sSubSup>
                                <m:sSubSupPr>
                                  <m:ctrlPr>
                                    <a:rPr lang="en-US" sz="2400" b="1" i="1">
                                      <a:latin typeface="Cambria Math" panose="02040503050406030204" pitchFamily="18" charset="0"/>
                                    </a:rPr>
                                  </m:ctrlPr>
                                </m:sSubSupPr>
                                <m:e>
                                  <m:r>
                                    <a:rPr lang="en-US" sz="2400" b="1" i="1">
                                      <a:latin typeface="Cambria Math" panose="02040503050406030204" pitchFamily="18" charset="0"/>
                                    </a:rPr>
                                    <m:t>𝒃</m:t>
                                  </m:r>
                                </m:e>
                                <m:sub>
                                  <m:r>
                                    <a:rPr lang="en-US" sz="2400" b="1" i="1">
                                      <a:latin typeface="Cambria Math" panose="02040503050406030204" pitchFamily="18" charset="0"/>
                                    </a:rPr>
                                    <m:t>𝒏</m:t>
                                  </m:r>
                                </m:sub>
                                <m:sup>
                                  <m:r>
                                    <a:rPr lang="en-US" sz="2400" b="1" i="1">
                                      <a:latin typeface="Cambria Math" panose="02040503050406030204" pitchFamily="18" charset="0"/>
                                    </a:rPr>
                                    <m:t>∗</m:t>
                                  </m:r>
                                </m:sup>
                              </m:sSubSup>
                            </m:e>
                          </m:mr>
                        </m:m>
                      </m:e>
                    </m:d>
                  </m:oMath>
                </a14:m>
                <a:r>
                  <a:rPr lang="en-US" sz="2400" dirty="0"/>
                  <a:t> </a:t>
                </a:r>
              </a:p>
            </p:txBody>
          </p:sp>
        </mc:Choice>
        <mc:Fallback>
          <p:sp>
            <p:nvSpPr>
              <p:cNvPr id="6" name="Rectangle 5">
                <a:extLst>
                  <a:ext uri="{FF2B5EF4-FFF2-40B4-BE49-F238E27FC236}">
                    <a16:creationId xmlns:a16="http://schemas.microsoft.com/office/drawing/2014/main" id="{999165C2-7F3A-B24E-94B2-6EAA17F6569B}"/>
                  </a:ext>
                </a:extLst>
              </p:cNvPr>
              <p:cNvSpPr>
                <a:spLocks noRot="1" noChangeAspect="1" noMove="1" noResize="1" noEditPoints="1" noAdjustHandles="1" noChangeArrowheads="1" noChangeShapeType="1" noTextEdit="1"/>
              </p:cNvSpPr>
              <p:nvPr/>
            </p:nvSpPr>
            <p:spPr>
              <a:xfrm>
                <a:off x="2091281" y="4584155"/>
                <a:ext cx="8009437" cy="1563890"/>
              </a:xfrm>
              <a:prstGeom prst="rect">
                <a:avLst/>
              </a:prstGeom>
              <a:blipFill>
                <a:blip r:embed="rId3"/>
                <a:stretch>
                  <a:fillRect b="-8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CE42A0C0-0301-444C-BD27-B1DEC435B880}"/>
                  </a:ext>
                </a:extLst>
              </p:cNvPr>
              <p:cNvSpPr/>
              <p:nvPr/>
            </p:nvSpPr>
            <p:spPr>
              <a:xfrm>
                <a:off x="2367605" y="1966404"/>
                <a:ext cx="6368218" cy="79105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𝑎</m:t>
                          </m:r>
                        </m:e>
                      </m:d>
                      <m:r>
                        <a:rPr lang="en-US" sz="2400" i="1">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2</m:t>
                                    </m:r>
                                  </m:sub>
                                </m:sSub>
                              </m:e>
                            </m:mr>
                          </m:m>
                        </m:e>
                      </m:d>
                      <m:r>
                        <a:rPr lang="en-US" sz="2400" b="0" i="1" smtClean="0">
                          <a:latin typeface="Cambria Math" panose="02040503050406030204" pitchFamily="18" charset="0"/>
                        </a:rPr>
                        <m:t>,  </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𝑏</m:t>
                          </m:r>
                        </m:e>
                      </m:d>
                      <m:r>
                        <a:rPr lang="en-US" sz="2400" i="1">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i="1">
                                        <a:latin typeface="Cambria Math" panose="02040503050406030204" pitchFamily="18" charset="0"/>
                                      </a:rPr>
                                      <m:t>1</m:t>
                                    </m:r>
                                  </m:sub>
                                </m:sSub>
                              </m:e>
                            </m:mr>
                            <m:mr>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i="1">
                                        <a:latin typeface="Cambria Math" panose="02040503050406030204" pitchFamily="18" charset="0"/>
                                      </a:rPr>
                                      <m:t>2</m:t>
                                    </m:r>
                                  </m:sub>
                                </m:sSub>
                              </m:e>
                            </m:mr>
                          </m:m>
                        </m:e>
                      </m:d>
                      <m:r>
                        <a:rPr lang="en-US" sz="2400" i="1">
                          <a:latin typeface="Cambria Math" panose="02040503050406030204" pitchFamily="18" charset="0"/>
                          <a:ea typeface="Cambria Math" panose="02040503050406030204" pitchFamily="18" charset="0"/>
                        </a:rPr>
                        <m:t>⇒</m:t>
                      </m:r>
                      <m:r>
                        <a:rPr lang="en-US" sz="2400">
                          <a:latin typeface="Cambria Math" panose="02040503050406030204" pitchFamily="18" charset="0"/>
                        </a:rPr>
                        <m:t>⟨</m:t>
                      </m:r>
                      <m:r>
                        <a:rPr lang="en-US" sz="2400" i="1">
                          <a:latin typeface="Cambria Math" panose="02040503050406030204" pitchFamily="18" charset="0"/>
                        </a:rPr>
                        <m:t>𝑏</m:t>
                      </m:r>
                      <m:r>
                        <a:rPr lang="en-US" sz="2400">
                          <a:latin typeface="Cambria Math" panose="02040503050406030204" pitchFamily="18" charset="0"/>
                        </a:rPr>
                        <m:t>|</m:t>
                      </m:r>
                      <m:r>
                        <a:rPr lang="en-US" sz="2400" b="0" i="0" smtClean="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sSubSup>
                                  <m:sSubSupPr>
                                    <m:ctrlPr>
                                      <a:rPr lang="en-US" sz="2400" i="1" smtClean="0">
                                        <a:latin typeface="Cambria Math" panose="02040503050406030204" pitchFamily="18" charset="0"/>
                                      </a:rPr>
                                    </m:ctrlPr>
                                  </m:sSubSupPr>
                                  <m:e>
                                    <m:r>
                                      <a:rPr lang="en-US" sz="2400" b="0" i="1" smtClean="0">
                                        <a:latin typeface="Cambria Math" panose="02040503050406030204" pitchFamily="18" charset="0"/>
                                      </a:rPr>
                                      <m:t>𝑏</m:t>
                                    </m:r>
                                  </m:e>
                                  <m:sub>
                                    <m:r>
                                      <a:rPr lang="en-US" sz="2400" b="0" i="1" smtClean="0">
                                        <a:latin typeface="Cambria Math" panose="02040503050406030204" pitchFamily="18" charset="0"/>
                                      </a:rPr>
                                      <m:t>1</m:t>
                                    </m:r>
                                  </m:sub>
                                  <m:sup>
                                    <m:r>
                                      <a:rPr lang="en-US" sz="2400" i="1">
                                        <a:latin typeface="Cambria Math" panose="02040503050406030204" pitchFamily="18" charset="0"/>
                                      </a:rPr>
                                      <m:t>∗</m:t>
                                    </m:r>
                                  </m:sup>
                                </m:sSubSup>
                              </m:e>
                              <m:e>
                                <m:sSubSup>
                                  <m:sSubSupPr>
                                    <m:ctrlPr>
                                      <a:rPr lang="en-US" sz="2400" i="1">
                                        <a:latin typeface="Cambria Math" panose="02040503050406030204" pitchFamily="18" charset="0"/>
                                      </a:rPr>
                                    </m:ctrlPr>
                                  </m:sSubSupPr>
                                  <m:e>
                                    <m:r>
                                      <a:rPr lang="en-US" sz="2400" i="1">
                                        <a:latin typeface="Cambria Math" panose="02040503050406030204" pitchFamily="18" charset="0"/>
                                      </a:rPr>
                                      <m:t>𝑏</m:t>
                                    </m:r>
                                  </m:e>
                                  <m:sub>
                                    <m:r>
                                      <a:rPr lang="en-US" sz="2400" b="0" i="1" smtClean="0">
                                        <a:latin typeface="Cambria Math" panose="02040503050406030204" pitchFamily="18" charset="0"/>
                                      </a:rPr>
                                      <m:t>2</m:t>
                                    </m:r>
                                  </m:sub>
                                  <m:sup>
                                    <m:r>
                                      <a:rPr lang="en-US" sz="2400" i="1">
                                        <a:latin typeface="Cambria Math" panose="02040503050406030204" pitchFamily="18" charset="0"/>
                                      </a:rPr>
                                      <m:t>∗</m:t>
                                    </m:r>
                                  </m:sup>
                                </m:sSubSup>
                              </m:e>
                            </m:mr>
                          </m:m>
                        </m:e>
                      </m:d>
                    </m:oMath>
                  </m:oMathPara>
                </a14:m>
                <a:endParaRPr lang="en-US" sz="2400" dirty="0"/>
              </a:p>
            </p:txBody>
          </p:sp>
        </mc:Choice>
        <mc:Fallback>
          <p:sp>
            <p:nvSpPr>
              <p:cNvPr id="4" name="Rectangle 3">
                <a:extLst>
                  <a:ext uri="{FF2B5EF4-FFF2-40B4-BE49-F238E27FC236}">
                    <a16:creationId xmlns:a16="http://schemas.microsoft.com/office/drawing/2014/main" id="{CE42A0C0-0301-444C-BD27-B1DEC435B880}"/>
                  </a:ext>
                </a:extLst>
              </p:cNvPr>
              <p:cNvSpPr>
                <a:spLocks noRot="1" noChangeAspect="1" noMove="1" noResize="1" noEditPoints="1" noAdjustHandles="1" noChangeArrowheads="1" noChangeShapeType="1" noTextEdit="1"/>
              </p:cNvSpPr>
              <p:nvPr/>
            </p:nvSpPr>
            <p:spPr>
              <a:xfrm>
                <a:off x="2367605" y="1966404"/>
                <a:ext cx="6368218" cy="791050"/>
              </a:xfrm>
              <a:prstGeom prst="rect">
                <a:avLst/>
              </a:prstGeom>
              <a:blipFill>
                <a:blip r:embed="rId4"/>
                <a:stretch>
                  <a:fillRect b="-158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73B3DF41-2D47-2A41-B587-F989EFD09EC5}"/>
                  </a:ext>
                </a:extLst>
              </p:cNvPr>
              <p:cNvSpPr txBox="1"/>
              <p:nvPr/>
            </p:nvSpPr>
            <p:spPr>
              <a:xfrm>
                <a:off x="2811220" y="3134865"/>
                <a:ext cx="5480988" cy="82118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a:latin typeface="Cambria Math" panose="02040503050406030204" pitchFamily="18" charset="0"/>
                            </a:rPr>
                            <m:t>𝑎</m:t>
                          </m:r>
                        </m:e>
                      </m:d>
                      <m:r>
                        <a:rPr lang="en-US" sz="2400" b="0">
                          <a:latin typeface="Cambria Math" panose="02040503050406030204" pitchFamily="18" charset="0"/>
                        </a:rPr>
                        <m:t>⟨</m:t>
                      </m:r>
                      <m:r>
                        <a:rPr lang="en-US" sz="2400" b="0" i="1">
                          <a:latin typeface="Cambria Math" panose="02040503050406030204" pitchFamily="18" charset="0"/>
                        </a:rPr>
                        <m:t>𝑏</m:t>
                      </m:r>
                      <m:r>
                        <a:rPr lang="en-US" sz="2400" b="0">
                          <a:latin typeface="Cambria Math" panose="02040503050406030204" pitchFamily="18" charset="0"/>
                        </a:rPr>
                        <m:t>|</m:t>
                      </m:r>
                      <m:r>
                        <a:rPr lang="en-US" sz="2400" b="0">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1</m:t>
                                    </m:r>
                                  </m:sub>
                                </m:sSub>
                              </m:e>
                            </m:mr>
                            <m:mr>
                              <m:e>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2</m:t>
                                    </m:r>
                                  </m:sub>
                                </m:sSub>
                              </m:e>
                            </m:mr>
                          </m:m>
                        </m:e>
                      </m:d>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sSubSup>
                                  <m:sSubSupPr>
                                    <m:ctrlPr>
                                      <a:rPr lang="en-US" sz="2400" i="1">
                                        <a:latin typeface="Cambria Math" panose="02040503050406030204" pitchFamily="18" charset="0"/>
                                      </a:rPr>
                                    </m:ctrlPr>
                                  </m:sSubSupPr>
                                  <m:e>
                                    <m:r>
                                      <a:rPr lang="en-US" sz="2400" b="0" i="1">
                                        <a:latin typeface="Cambria Math" panose="02040503050406030204" pitchFamily="18" charset="0"/>
                                      </a:rPr>
                                      <m:t>𝑏</m:t>
                                    </m:r>
                                  </m:e>
                                  <m:sub>
                                    <m:r>
                                      <a:rPr lang="en-US" sz="2400" b="0" i="1">
                                        <a:latin typeface="Cambria Math" panose="02040503050406030204" pitchFamily="18" charset="0"/>
                                      </a:rPr>
                                      <m:t>1</m:t>
                                    </m:r>
                                  </m:sub>
                                  <m:sup>
                                    <m:r>
                                      <a:rPr lang="en-US" sz="2400" b="0" i="1">
                                        <a:latin typeface="Cambria Math" panose="02040503050406030204" pitchFamily="18" charset="0"/>
                                      </a:rPr>
                                      <m:t>∗</m:t>
                                    </m:r>
                                  </m:sup>
                                </m:sSubSup>
                              </m:e>
                              <m:e>
                                <m:sSubSup>
                                  <m:sSubSupPr>
                                    <m:ctrlPr>
                                      <a:rPr lang="en-US" sz="2400" i="1">
                                        <a:latin typeface="Cambria Math" panose="02040503050406030204" pitchFamily="18" charset="0"/>
                                      </a:rPr>
                                    </m:ctrlPr>
                                  </m:sSubSupPr>
                                  <m:e>
                                    <m:r>
                                      <a:rPr lang="en-US" sz="2400" b="0" i="1">
                                        <a:latin typeface="Cambria Math" panose="02040503050406030204" pitchFamily="18" charset="0"/>
                                      </a:rPr>
                                      <m:t>𝑏</m:t>
                                    </m:r>
                                  </m:e>
                                  <m:sub>
                                    <m:r>
                                      <a:rPr lang="en-US" sz="2400" b="0" i="1">
                                        <a:latin typeface="Cambria Math" panose="02040503050406030204" pitchFamily="18" charset="0"/>
                                      </a:rPr>
                                      <m:t>2</m:t>
                                    </m:r>
                                  </m:sub>
                                  <m:sup>
                                    <m:r>
                                      <a:rPr lang="en-US" sz="2400" b="0" i="1">
                                        <a:latin typeface="Cambria Math" panose="02040503050406030204" pitchFamily="18" charset="0"/>
                                      </a:rPr>
                                      <m:t>∗</m:t>
                                    </m:r>
                                  </m:sup>
                                </m:sSubSup>
                              </m:e>
                            </m:mr>
                          </m:m>
                        </m:e>
                      </m:d>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1</m:t>
                                    </m:r>
                                  </m:sub>
                                </m:sSub>
                                <m:sSubSup>
                                  <m:sSubSupPr>
                                    <m:ctrlPr>
                                      <a:rPr lang="en-US" sz="2400" i="1">
                                        <a:latin typeface="Cambria Math" panose="02040503050406030204" pitchFamily="18" charset="0"/>
                                      </a:rPr>
                                    </m:ctrlPr>
                                  </m:sSubSupPr>
                                  <m:e>
                                    <m:r>
                                      <a:rPr lang="en-US" sz="2400" b="0" i="1">
                                        <a:latin typeface="Cambria Math" panose="02040503050406030204" pitchFamily="18" charset="0"/>
                                      </a:rPr>
                                      <m:t>𝑏</m:t>
                                    </m:r>
                                  </m:e>
                                  <m:sub>
                                    <m:r>
                                      <a:rPr lang="en-US" sz="2400" b="0" i="1">
                                        <a:latin typeface="Cambria Math" panose="02040503050406030204" pitchFamily="18" charset="0"/>
                                      </a:rPr>
                                      <m:t>1</m:t>
                                    </m:r>
                                  </m:sub>
                                  <m:sup>
                                    <m:r>
                                      <a:rPr lang="en-US" sz="2400" b="0" i="1">
                                        <a:latin typeface="Cambria Math" panose="02040503050406030204" pitchFamily="18" charset="0"/>
                                      </a:rPr>
                                      <m:t>∗</m:t>
                                    </m:r>
                                  </m:sup>
                                </m:sSubSup>
                              </m:e>
                              <m:e>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1</m:t>
                                    </m:r>
                                  </m:sub>
                                </m:sSub>
                                <m:sSubSup>
                                  <m:sSubSupPr>
                                    <m:ctrlPr>
                                      <a:rPr lang="en-US" sz="2400" i="1">
                                        <a:latin typeface="Cambria Math" panose="02040503050406030204" pitchFamily="18" charset="0"/>
                                      </a:rPr>
                                    </m:ctrlPr>
                                  </m:sSubSupPr>
                                  <m:e>
                                    <m:r>
                                      <a:rPr lang="en-US" sz="2400" b="0" i="1">
                                        <a:latin typeface="Cambria Math" panose="02040503050406030204" pitchFamily="18" charset="0"/>
                                      </a:rPr>
                                      <m:t>𝑏</m:t>
                                    </m:r>
                                  </m:e>
                                  <m:sub>
                                    <m:r>
                                      <a:rPr lang="en-US" sz="2400" b="0" i="1">
                                        <a:latin typeface="Cambria Math" panose="02040503050406030204" pitchFamily="18" charset="0"/>
                                      </a:rPr>
                                      <m:t>2</m:t>
                                    </m:r>
                                  </m:sub>
                                  <m:sup>
                                    <m:r>
                                      <a:rPr lang="en-US" sz="2400" b="0" i="1">
                                        <a:latin typeface="Cambria Math" panose="02040503050406030204" pitchFamily="18" charset="0"/>
                                      </a:rPr>
                                      <m:t>∗</m:t>
                                    </m:r>
                                  </m:sup>
                                </m:sSubSup>
                              </m:e>
                            </m:mr>
                            <m:mr>
                              <m:e>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2</m:t>
                                    </m:r>
                                  </m:sub>
                                </m:sSub>
                                <m:sSubSup>
                                  <m:sSubSupPr>
                                    <m:ctrlPr>
                                      <a:rPr lang="en-US" sz="2400" i="1">
                                        <a:latin typeface="Cambria Math" panose="02040503050406030204" pitchFamily="18" charset="0"/>
                                      </a:rPr>
                                    </m:ctrlPr>
                                  </m:sSubSupPr>
                                  <m:e>
                                    <m:r>
                                      <a:rPr lang="en-US" sz="2400" b="0" i="1">
                                        <a:latin typeface="Cambria Math" panose="02040503050406030204" pitchFamily="18" charset="0"/>
                                      </a:rPr>
                                      <m:t>𝑏</m:t>
                                    </m:r>
                                  </m:e>
                                  <m:sub>
                                    <m:r>
                                      <a:rPr lang="en-US" sz="2400" b="0" i="1">
                                        <a:latin typeface="Cambria Math" panose="02040503050406030204" pitchFamily="18" charset="0"/>
                                      </a:rPr>
                                      <m:t>1</m:t>
                                    </m:r>
                                  </m:sub>
                                  <m:sup>
                                    <m:r>
                                      <a:rPr lang="en-US" sz="2400" b="0" i="1">
                                        <a:latin typeface="Cambria Math" panose="02040503050406030204" pitchFamily="18" charset="0"/>
                                      </a:rPr>
                                      <m:t>∗</m:t>
                                    </m:r>
                                  </m:sup>
                                </m:sSubSup>
                              </m:e>
                              <m:e>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2</m:t>
                                    </m:r>
                                  </m:sub>
                                </m:sSub>
                                <m:sSubSup>
                                  <m:sSubSupPr>
                                    <m:ctrlPr>
                                      <a:rPr lang="en-US" sz="2400" i="1">
                                        <a:latin typeface="Cambria Math" panose="02040503050406030204" pitchFamily="18" charset="0"/>
                                      </a:rPr>
                                    </m:ctrlPr>
                                  </m:sSubSupPr>
                                  <m:e>
                                    <m:r>
                                      <a:rPr lang="en-US" sz="2400" b="0" i="1">
                                        <a:latin typeface="Cambria Math" panose="02040503050406030204" pitchFamily="18" charset="0"/>
                                      </a:rPr>
                                      <m:t>𝑏</m:t>
                                    </m:r>
                                  </m:e>
                                  <m:sub>
                                    <m:r>
                                      <a:rPr lang="en-US" sz="2400" b="0" i="1">
                                        <a:latin typeface="Cambria Math" panose="02040503050406030204" pitchFamily="18" charset="0"/>
                                      </a:rPr>
                                      <m:t>2</m:t>
                                    </m:r>
                                  </m:sub>
                                  <m:sup>
                                    <m:r>
                                      <a:rPr lang="en-US" sz="2400" b="0" i="1">
                                        <a:latin typeface="Cambria Math" panose="02040503050406030204" pitchFamily="18" charset="0"/>
                                      </a:rPr>
                                      <m:t>∗</m:t>
                                    </m:r>
                                  </m:sup>
                                </m:sSubSup>
                              </m:e>
                            </m:mr>
                          </m:m>
                        </m:e>
                      </m:d>
                    </m:oMath>
                  </m:oMathPara>
                </a14:m>
                <a:endParaRPr lang="en-US" sz="2400" dirty="0"/>
              </a:p>
            </p:txBody>
          </p:sp>
        </mc:Choice>
        <mc:Fallback>
          <p:sp>
            <p:nvSpPr>
              <p:cNvPr id="11" name="TextBox 10">
                <a:extLst>
                  <a:ext uri="{FF2B5EF4-FFF2-40B4-BE49-F238E27FC236}">
                    <a16:creationId xmlns:a16="http://schemas.microsoft.com/office/drawing/2014/main" id="{73B3DF41-2D47-2A41-B587-F989EFD09EC5}"/>
                  </a:ext>
                </a:extLst>
              </p:cNvPr>
              <p:cNvSpPr txBox="1">
                <a:spLocks noRot="1" noChangeAspect="1" noMove="1" noResize="1" noEditPoints="1" noAdjustHandles="1" noChangeArrowheads="1" noChangeShapeType="1" noTextEdit="1"/>
              </p:cNvSpPr>
              <p:nvPr/>
            </p:nvSpPr>
            <p:spPr>
              <a:xfrm>
                <a:off x="2811220" y="3134865"/>
                <a:ext cx="5480988" cy="821187"/>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E6FAE8A6-6015-6140-BEE2-28F4E631DD37}"/>
              </a:ext>
            </a:extLst>
          </p:cNvPr>
          <p:cNvSpPr txBox="1"/>
          <p:nvPr/>
        </p:nvSpPr>
        <p:spPr>
          <a:xfrm>
            <a:off x="586574" y="3969698"/>
            <a:ext cx="1504707" cy="461665"/>
          </a:xfrm>
          <a:prstGeom prst="rect">
            <a:avLst/>
          </a:prstGeom>
          <a:noFill/>
        </p:spPr>
        <p:txBody>
          <a:bodyPr wrap="none" rtlCol="0">
            <a:spAutoFit/>
          </a:bodyPr>
          <a:lstStyle/>
          <a:p>
            <a:r>
              <a:rPr lang="en-US" sz="2400" dirty="0"/>
              <a:t>In general:</a:t>
            </a:r>
          </a:p>
        </p:txBody>
      </p:sp>
    </p:spTree>
    <p:extLst>
      <p:ext uri="{BB962C8B-B14F-4D97-AF65-F5344CB8AC3E}">
        <p14:creationId xmlns:p14="http://schemas.microsoft.com/office/powerpoint/2010/main" val="3718967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0ED48-F41E-D241-B4C6-41D101A6A12B}"/>
              </a:ext>
            </a:extLst>
          </p:cNvPr>
          <p:cNvSpPr>
            <a:spLocks noGrp="1"/>
          </p:cNvSpPr>
          <p:nvPr>
            <p:ph type="title"/>
          </p:nvPr>
        </p:nvSpPr>
        <p:spPr/>
        <p:txBody>
          <a:bodyPr/>
          <a:lstStyle/>
          <a:p>
            <a:r>
              <a:rPr lang="en-ZA" dirty="0"/>
              <a:t>Grover Oracle: Operator Construction</a:t>
            </a:r>
            <a:endParaRPr lang="en-US" dirty="0"/>
          </a:p>
        </p:txBody>
      </p:sp>
      <p:sp>
        <p:nvSpPr>
          <p:cNvPr id="3" name="Slide Number Placeholder 2">
            <a:extLst>
              <a:ext uri="{FF2B5EF4-FFF2-40B4-BE49-F238E27FC236}">
                <a16:creationId xmlns:a16="http://schemas.microsoft.com/office/drawing/2014/main" id="{26B4A02F-71CE-814D-8A45-2421C0437346}"/>
              </a:ext>
            </a:extLst>
          </p:cNvPr>
          <p:cNvSpPr>
            <a:spLocks noGrp="1"/>
          </p:cNvSpPr>
          <p:nvPr>
            <p:ph type="sldNum" sz="quarter" idx="12"/>
          </p:nvPr>
        </p:nvSpPr>
        <p:spPr/>
        <p:txBody>
          <a:bodyPr/>
          <a:lstStyle/>
          <a:p>
            <a:fld id="{591A223C-FA10-BC46-A853-03BA373D023C}" type="slidenum">
              <a:rPr lang="en-US" smtClean="0"/>
              <a:t>10</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1BD22E4-2A59-5443-8EA9-185B6F111E46}"/>
                  </a:ext>
                </a:extLst>
              </p:cNvPr>
              <p:cNvSpPr txBox="1"/>
              <p:nvPr/>
            </p:nvSpPr>
            <p:spPr>
              <a:xfrm>
                <a:off x="37892" y="1113936"/>
                <a:ext cx="5578130" cy="461665"/>
              </a:xfrm>
              <a:prstGeom prst="rect">
                <a:avLst/>
              </a:prstGeom>
              <a:noFill/>
            </p:spPr>
            <p:txBody>
              <a:bodyPr wrap="none" rtlCol="0">
                <a:spAutoFit/>
              </a:bodyPr>
              <a:lstStyle/>
              <a:p>
                <a:r>
                  <a:rPr lang="en-US" sz="2400" dirty="0"/>
                  <a:t>For the target state </a:t>
                </a:r>
                <a14:m>
                  <m:oMath xmlns:m="http://schemas.openxmlformats.org/officeDocument/2006/math">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oMath>
                </a14:m>
                <a:r>
                  <a:rPr lang="en-US" sz="2400" dirty="0"/>
                  <a:t> the oracle action is</a:t>
                </a:r>
              </a:p>
            </p:txBody>
          </p:sp>
        </mc:Choice>
        <mc:Fallback xmlns="">
          <p:sp>
            <p:nvSpPr>
              <p:cNvPr id="5" name="TextBox 4">
                <a:extLst>
                  <a:ext uri="{FF2B5EF4-FFF2-40B4-BE49-F238E27FC236}">
                    <a16:creationId xmlns:a16="http://schemas.microsoft.com/office/drawing/2014/main" id="{A1BD22E4-2A59-5443-8EA9-185B6F111E46}"/>
                  </a:ext>
                </a:extLst>
              </p:cNvPr>
              <p:cNvSpPr txBox="1">
                <a:spLocks noRot="1" noChangeAspect="1" noMove="1" noResize="1" noEditPoints="1" noAdjustHandles="1" noChangeArrowheads="1" noChangeShapeType="1" noTextEdit="1"/>
              </p:cNvSpPr>
              <p:nvPr/>
            </p:nvSpPr>
            <p:spPr>
              <a:xfrm>
                <a:off x="37892" y="1113936"/>
                <a:ext cx="5578130" cy="461665"/>
              </a:xfrm>
              <a:prstGeom prst="rect">
                <a:avLst/>
              </a:prstGeom>
              <a:blipFill>
                <a:blip r:embed="rId3"/>
                <a:stretch>
                  <a:fillRect l="-1364" t="-8108" r="-682" b="-27027"/>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B4566012-798A-4F42-BD5F-591BE33DEDBF}"/>
              </a:ext>
            </a:extLst>
          </p:cNvPr>
          <p:cNvGrpSpPr/>
          <p:nvPr/>
        </p:nvGrpSpPr>
        <p:grpSpPr>
          <a:xfrm>
            <a:off x="1495941" y="1613262"/>
            <a:ext cx="5613872" cy="461665"/>
            <a:chOff x="1495941" y="1604572"/>
            <a:chExt cx="5613872" cy="461665"/>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352AF06-E6E2-0D4F-8977-C927373C0352}"/>
                    </a:ext>
                  </a:extLst>
                </p:cNvPr>
                <p:cNvSpPr txBox="1"/>
                <p:nvPr/>
              </p:nvSpPr>
              <p:spPr>
                <a:xfrm>
                  <a:off x="1495941" y="1604572"/>
                  <a:ext cx="211904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𝑂</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r>
                          <a:rPr lang="sr-Latn-RS" sz="2400" i="1">
                            <a:latin typeface="Cambria Math" panose="02040503050406030204" pitchFamily="18" charset="0"/>
                          </a:rPr>
                          <m:t>=−</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oMath>
                    </m:oMathPara>
                  </a14:m>
                  <a:endParaRPr lang="en-US" sz="2400" dirty="0"/>
                </a:p>
              </p:txBody>
            </p:sp>
          </mc:Choice>
          <mc:Fallback xmlns="">
            <p:sp>
              <p:nvSpPr>
                <p:cNvPr id="6" name="TextBox 5">
                  <a:extLst>
                    <a:ext uri="{FF2B5EF4-FFF2-40B4-BE49-F238E27FC236}">
                      <a16:creationId xmlns:a16="http://schemas.microsoft.com/office/drawing/2014/main" id="{8352AF06-E6E2-0D4F-8977-C927373C0352}"/>
                    </a:ext>
                  </a:extLst>
                </p:cNvPr>
                <p:cNvSpPr txBox="1">
                  <a:spLocks noRot="1" noChangeAspect="1" noMove="1" noResize="1" noEditPoints="1" noAdjustHandles="1" noChangeArrowheads="1" noChangeShapeType="1" noTextEdit="1"/>
                </p:cNvSpPr>
                <p:nvPr/>
              </p:nvSpPr>
              <p:spPr>
                <a:xfrm>
                  <a:off x="1495941" y="1604572"/>
                  <a:ext cx="2119042" cy="461665"/>
                </a:xfrm>
                <a:prstGeom prst="rect">
                  <a:avLst/>
                </a:prstGeom>
                <a:blipFill>
                  <a:blip r:embed="rId4"/>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C8EB90B-8231-CD48-B92D-AC1B6884D7FB}"/>
                </a:ext>
              </a:extLst>
            </p:cNvPr>
            <p:cNvSpPr txBox="1"/>
            <p:nvPr/>
          </p:nvSpPr>
          <p:spPr>
            <a:xfrm>
              <a:off x="3667479" y="1604572"/>
              <a:ext cx="453970" cy="461665"/>
            </a:xfrm>
            <a:prstGeom prst="rect">
              <a:avLst/>
            </a:prstGeom>
            <a:noFill/>
          </p:spPr>
          <p:txBody>
            <a:bodyPr wrap="none" rtlCol="0">
              <a:spAutoFit/>
            </a:bodyPr>
            <a:lstStyle/>
            <a:p>
              <a:r>
                <a:rPr lang="en-US" sz="2400" dirty="0"/>
                <a:t>or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FC9726C-0E64-144F-8010-FE644CC22C1C}"/>
                    </a:ext>
                  </a:extLst>
                </p:cNvPr>
                <p:cNvSpPr txBox="1"/>
                <p:nvPr/>
              </p:nvSpPr>
              <p:spPr>
                <a:xfrm>
                  <a:off x="4173945" y="1604572"/>
                  <a:ext cx="293586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𝑂</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r>
                          <a:rPr lang="sr-Latn-RS" sz="2400" i="1">
                            <a:latin typeface="Cambria Math" panose="02040503050406030204" pitchFamily="18" charset="0"/>
                          </a:rPr>
                          <m:t>=</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r>
                          <a:rPr lang="sr-Latn-RS" sz="2400" i="1">
                            <a:latin typeface="Cambria Math" panose="02040503050406030204" pitchFamily="18" charset="0"/>
                          </a:rPr>
                          <m:t>−2</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oMath>
                    </m:oMathPara>
                  </a14:m>
                  <a:endParaRPr lang="en-US" sz="2400" dirty="0"/>
                </a:p>
              </p:txBody>
            </p:sp>
          </mc:Choice>
          <mc:Fallback xmlns="">
            <p:sp>
              <p:nvSpPr>
                <p:cNvPr id="8" name="TextBox 7">
                  <a:extLst>
                    <a:ext uri="{FF2B5EF4-FFF2-40B4-BE49-F238E27FC236}">
                      <a16:creationId xmlns:a16="http://schemas.microsoft.com/office/drawing/2014/main" id="{FFC9726C-0E64-144F-8010-FE644CC22C1C}"/>
                    </a:ext>
                  </a:extLst>
                </p:cNvPr>
                <p:cNvSpPr txBox="1">
                  <a:spLocks noRot="1" noChangeAspect="1" noMove="1" noResize="1" noEditPoints="1" noAdjustHandles="1" noChangeArrowheads="1" noChangeShapeType="1" noTextEdit="1"/>
                </p:cNvSpPr>
                <p:nvPr/>
              </p:nvSpPr>
              <p:spPr>
                <a:xfrm>
                  <a:off x="4173945" y="1604572"/>
                  <a:ext cx="2935868" cy="461665"/>
                </a:xfrm>
                <a:prstGeom prst="rect">
                  <a:avLst/>
                </a:prstGeom>
                <a:blipFill>
                  <a:blip r:embed="rId5"/>
                  <a:stretch>
                    <a:fillRect/>
                  </a:stretch>
                </a:blipFill>
              </p:spPr>
              <p:txBody>
                <a:bodyPr/>
                <a:lstStyle/>
                <a:p>
                  <a:r>
                    <a:rPr lang="en-US">
                      <a:noFill/>
                    </a:rPr>
                    <a:t> </a:t>
                  </a:r>
                </a:p>
              </p:txBody>
            </p:sp>
          </mc:Fallback>
        </mc:AlternateContent>
      </p:grpSp>
      <p:grpSp>
        <p:nvGrpSpPr>
          <p:cNvPr id="23" name="Group 22">
            <a:extLst>
              <a:ext uri="{FF2B5EF4-FFF2-40B4-BE49-F238E27FC236}">
                <a16:creationId xmlns:a16="http://schemas.microsoft.com/office/drawing/2014/main" id="{CEA4EF59-24DF-C04E-8638-E8113B49B8F9}"/>
              </a:ext>
            </a:extLst>
          </p:cNvPr>
          <p:cNvGrpSpPr/>
          <p:nvPr/>
        </p:nvGrpSpPr>
        <p:grpSpPr>
          <a:xfrm>
            <a:off x="5196659" y="2409208"/>
            <a:ext cx="2918327" cy="461666"/>
            <a:chOff x="5196659" y="2313917"/>
            <a:chExt cx="2918327" cy="461666"/>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B4385CE-CD05-2B4E-AEC3-D82F5D805719}"/>
                    </a:ext>
                  </a:extLst>
                </p:cNvPr>
                <p:cNvSpPr txBox="1"/>
                <p:nvPr/>
              </p:nvSpPr>
              <p:spPr>
                <a:xfrm>
                  <a:off x="5196659" y="2313918"/>
                  <a:ext cx="890437" cy="461665"/>
                </a:xfrm>
                <a:prstGeom prst="rect">
                  <a:avLst/>
                </a:prstGeom>
                <a:solidFill>
                  <a:schemeClr val="accent4">
                    <a:lumMod val="20000"/>
                    <a:lumOff val="80000"/>
                  </a:schemeClr>
                </a:solidFill>
              </p:spPr>
              <p:txBody>
                <a:bodyPr wrap="none" rtlCol="0">
                  <a:spAutoFit/>
                </a:bodyPr>
                <a:lstStyle/>
                <a:p>
                  <a:pPr/>
                  <a14:m>
                    <m:oMathPara xmlns:m="http://schemas.openxmlformats.org/officeDocument/2006/math">
                      <m:oMathParaPr>
                        <m:jc m:val="center"/>
                      </m:oMathParaPr>
                      <m:oMath xmlns:m="http://schemas.openxmlformats.org/officeDocument/2006/math">
                        <m:r>
                          <a:rPr lang="sr-Latn-RS" sz="2400" i="1">
                            <a:latin typeface="Cambria Math" panose="02040503050406030204" pitchFamily="18" charset="0"/>
                          </a:rPr>
                          <m:t>𝐼</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oMath>
                    </m:oMathPara>
                  </a14:m>
                  <a:endParaRPr lang="en-US" sz="2400" dirty="0"/>
                </a:p>
              </p:txBody>
            </p:sp>
          </mc:Choice>
          <mc:Fallback xmlns="">
            <p:sp>
              <p:nvSpPr>
                <p:cNvPr id="9" name="TextBox 8">
                  <a:extLst>
                    <a:ext uri="{FF2B5EF4-FFF2-40B4-BE49-F238E27FC236}">
                      <a16:creationId xmlns:a16="http://schemas.microsoft.com/office/drawing/2014/main" id="{DB4385CE-CD05-2B4E-AEC3-D82F5D805719}"/>
                    </a:ext>
                  </a:extLst>
                </p:cNvPr>
                <p:cNvSpPr txBox="1">
                  <a:spLocks noRot="1" noChangeAspect="1" noMove="1" noResize="1" noEditPoints="1" noAdjustHandles="1" noChangeArrowheads="1" noChangeShapeType="1" noTextEdit="1"/>
                </p:cNvSpPr>
                <p:nvPr/>
              </p:nvSpPr>
              <p:spPr>
                <a:xfrm>
                  <a:off x="5196659" y="2313918"/>
                  <a:ext cx="890437"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3E69ACD-F4AC-F44E-A2AE-6691BF55A59D}"/>
                    </a:ext>
                  </a:extLst>
                </p:cNvPr>
                <p:cNvSpPr/>
                <p:nvPr/>
              </p:nvSpPr>
              <p:spPr>
                <a:xfrm>
                  <a:off x="6258644" y="2313917"/>
                  <a:ext cx="1856342" cy="461665"/>
                </a:xfrm>
                <a:prstGeom prst="rect">
                  <a:avLst/>
                </a:prstGeom>
                <a:solidFill>
                  <a:schemeClr val="accent3">
                    <a:lumMod val="20000"/>
                    <a:lumOff val="80000"/>
                  </a:schemeClr>
                </a:solidFill>
              </p:spPr>
              <p:txBody>
                <a:bodyPr wrap="none">
                  <a:spAutoFit/>
                </a:bodyPr>
                <a:lstStyle/>
                <a:p>
                  <a:pPr/>
                  <a14:m>
                    <m:oMathPara xmlns:m="http://schemas.openxmlformats.org/officeDocument/2006/math">
                      <m:oMathParaPr>
                        <m:jc m:val="center"/>
                      </m:oMathParaPr>
                      <m:oMath xmlns:m="http://schemas.openxmlformats.org/officeDocument/2006/math">
                        <m:r>
                          <a:rPr lang="sr-Latn-RS" sz="2400" i="1">
                            <a:latin typeface="Cambria Math" panose="02040503050406030204" pitchFamily="18" charset="0"/>
                          </a:rPr>
                          <m:t>2</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oMath>
                    </m:oMathPara>
                  </a14:m>
                  <a:endParaRPr lang="en-US" sz="2400" dirty="0"/>
                </a:p>
              </p:txBody>
            </p:sp>
          </mc:Choice>
          <mc:Fallback xmlns="">
            <p:sp>
              <p:nvSpPr>
                <p:cNvPr id="10" name="Rectangle 9">
                  <a:extLst>
                    <a:ext uri="{FF2B5EF4-FFF2-40B4-BE49-F238E27FC236}">
                      <a16:creationId xmlns:a16="http://schemas.microsoft.com/office/drawing/2014/main" id="{53E69ACD-F4AC-F44E-A2AE-6691BF55A59D}"/>
                    </a:ext>
                  </a:extLst>
                </p:cNvPr>
                <p:cNvSpPr>
                  <a:spLocks noRot="1" noChangeAspect="1" noMove="1" noResize="1" noEditPoints="1" noAdjustHandles="1" noChangeArrowheads="1" noChangeShapeType="1" noTextEdit="1"/>
                </p:cNvSpPr>
                <p:nvPr/>
              </p:nvSpPr>
              <p:spPr>
                <a:xfrm>
                  <a:off x="6258644" y="2313917"/>
                  <a:ext cx="1856342" cy="461665"/>
                </a:xfrm>
                <a:prstGeom prst="rect">
                  <a:avLst/>
                </a:prstGeom>
                <a:blipFill>
                  <a:blip r:embed="rId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0A06E13-B530-034C-976E-1854F8532134}"/>
                  </a:ext>
                </a:extLst>
              </p:cNvPr>
              <p:cNvSpPr txBox="1"/>
              <p:nvPr/>
            </p:nvSpPr>
            <p:spPr>
              <a:xfrm>
                <a:off x="4173945" y="3205155"/>
                <a:ext cx="389587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400" i="1" smtClean="0">
                          <a:latin typeface="Cambria Math" panose="02040503050406030204" pitchFamily="18" charset="0"/>
                        </a:rPr>
                        <m:t>𝑂</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r>
                        <a:rPr lang="sr-Latn-RS" sz="2400" i="1">
                          <a:latin typeface="Cambria Math" panose="02040503050406030204" pitchFamily="18" charset="0"/>
                        </a:rPr>
                        <m:t>=</m:t>
                      </m:r>
                      <m:d>
                        <m:dPr>
                          <m:ctrlPr>
                            <a:rPr lang="en-ZA" sz="2400" i="1">
                              <a:latin typeface="Cambria Math" panose="02040503050406030204" pitchFamily="18" charset="0"/>
                            </a:rPr>
                          </m:ctrlPr>
                        </m:dPr>
                        <m:e>
                          <m:r>
                            <a:rPr lang="sr-Latn-RS" sz="2400" i="1">
                              <a:latin typeface="Cambria Math" panose="02040503050406030204" pitchFamily="18" charset="0"/>
                            </a:rPr>
                            <m:t>𝐼</m:t>
                          </m:r>
                          <m:r>
                            <a:rPr lang="sr-Latn-RS" sz="2400" i="1">
                              <a:latin typeface="Cambria Math" panose="02040503050406030204" pitchFamily="18" charset="0"/>
                            </a:rPr>
                            <m:t>−2</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r>
                            <a:rPr lang="sr-Latn-RS" sz="2400">
                              <a:latin typeface="Cambria Math" panose="02040503050406030204" pitchFamily="18" charset="0"/>
                            </a:rPr>
                            <m:t>⟨</m:t>
                          </m:r>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r>
                            <a:rPr lang="sr-Latn-RS" sz="2400">
                              <a:latin typeface="Cambria Math" panose="02040503050406030204" pitchFamily="18" charset="0"/>
                            </a:rPr>
                            <m:t>|</m:t>
                          </m:r>
                        </m:e>
                      </m:d>
                      <m:r>
                        <a:rPr lang="en-US" sz="2400" b="0" i="1" smtClean="0">
                          <a:latin typeface="Cambria Math" panose="02040503050406030204" pitchFamily="18" charset="0"/>
                        </a:rPr>
                        <m:t> </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oMath>
                  </m:oMathPara>
                </a14:m>
                <a:endParaRPr lang="en-US" sz="2400" dirty="0"/>
              </a:p>
            </p:txBody>
          </p:sp>
        </mc:Choice>
        <mc:Fallback xmlns="">
          <p:sp>
            <p:nvSpPr>
              <p:cNvPr id="11" name="TextBox 10">
                <a:extLst>
                  <a:ext uri="{FF2B5EF4-FFF2-40B4-BE49-F238E27FC236}">
                    <a16:creationId xmlns:a16="http://schemas.microsoft.com/office/drawing/2014/main" id="{70A06E13-B530-034C-976E-1854F8532134}"/>
                  </a:ext>
                </a:extLst>
              </p:cNvPr>
              <p:cNvSpPr txBox="1">
                <a:spLocks noRot="1" noChangeAspect="1" noMove="1" noResize="1" noEditPoints="1" noAdjustHandles="1" noChangeArrowheads="1" noChangeShapeType="1" noTextEdit="1"/>
              </p:cNvSpPr>
              <p:nvPr/>
            </p:nvSpPr>
            <p:spPr>
              <a:xfrm>
                <a:off x="4173945" y="3205155"/>
                <a:ext cx="3895875" cy="461665"/>
              </a:xfrm>
              <a:prstGeom prst="rect">
                <a:avLst/>
              </a:prstGeom>
              <a:blipFill>
                <a:blip r:embed="rId8"/>
                <a:stretch>
                  <a:fillRect b="-189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14B1E39-41B5-DC47-891A-84FA22E8F8F0}"/>
                  </a:ext>
                </a:extLst>
              </p:cNvPr>
              <p:cNvSpPr txBox="1"/>
              <p:nvPr/>
            </p:nvSpPr>
            <p:spPr>
              <a:xfrm>
                <a:off x="4913986" y="4001100"/>
                <a:ext cx="2552943" cy="461665"/>
              </a:xfrm>
              <a:prstGeom prst="rect">
                <a:avLst/>
              </a:prstGeom>
              <a:solidFill>
                <a:schemeClr val="accent2">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𝑂</m:t>
                      </m:r>
                      <m:r>
                        <a:rPr lang="sr-Latn-RS" sz="2400" i="1">
                          <a:latin typeface="Cambria Math" panose="02040503050406030204" pitchFamily="18" charset="0"/>
                        </a:rPr>
                        <m:t>=</m:t>
                      </m:r>
                      <m:r>
                        <a:rPr lang="sr-Latn-RS" sz="2400" i="1">
                          <a:latin typeface="Cambria Math" panose="02040503050406030204" pitchFamily="18" charset="0"/>
                        </a:rPr>
                        <m:t>𝐼</m:t>
                      </m:r>
                      <m:r>
                        <a:rPr lang="sr-Latn-RS" sz="2400" i="1">
                          <a:latin typeface="Cambria Math" panose="02040503050406030204" pitchFamily="18" charset="0"/>
                        </a:rPr>
                        <m:t>−2</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r>
                        <a:rPr lang="sr-Latn-RS" sz="2400">
                          <a:latin typeface="Cambria Math" panose="02040503050406030204" pitchFamily="18" charset="0"/>
                        </a:rPr>
                        <m:t>⟨</m:t>
                      </m:r>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r>
                        <a:rPr lang="sr-Latn-RS" sz="2400">
                          <a:latin typeface="Cambria Math" panose="02040503050406030204" pitchFamily="18" charset="0"/>
                        </a:rPr>
                        <m:t>|</m:t>
                      </m:r>
                    </m:oMath>
                  </m:oMathPara>
                </a14:m>
                <a:endParaRPr lang="en-ZA" sz="2400" dirty="0"/>
              </a:p>
            </p:txBody>
          </p:sp>
        </mc:Choice>
        <mc:Fallback xmlns="">
          <p:sp>
            <p:nvSpPr>
              <p:cNvPr id="12" name="TextBox 11">
                <a:extLst>
                  <a:ext uri="{FF2B5EF4-FFF2-40B4-BE49-F238E27FC236}">
                    <a16:creationId xmlns:a16="http://schemas.microsoft.com/office/drawing/2014/main" id="{814B1E39-41B5-DC47-891A-84FA22E8F8F0}"/>
                  </a:ext>
                </a:extLst>
              </p:cNvPr>
              <p:cNvSpPr txBox="1">
                <a:spLocks noRot="1" noChangeAspect="1" noMove="1" noResize="1" noEditPoints="1" noAdjustHandles="1" noChangeArrowheads="1" noChangeShapeType="1" noTextEdit="1"/>
              </p:cNvSpPr>
              <p:nvPr/>
            </p:nvSpPr>
            <p:spPr>
              <a:xfrm>
                <a:off x="4913986" y="4001100"/>
                <a:ext cx="2552943" cy="461665"/>
              </a:xfrm>
              <a:prstGeom prst="rect">
                <a:avLst/>
              </a:prstGeom>
              <a:blipFill>
                <a:blip r:embed="rId9"/>
                <a:stretch>
                  <a:fillRect b="-18919"/>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3BCFCBF8-208D-C84F-BCD3-35E13CEFEC85}"/>
              </a:ext>
            </a:extLst>
          </p:cNvPr>
          <p:cNvGrpSpPr/>
          <p:nvPr/>
        </p:nvGrpSpPr>
        <p:grpSpPr>
          <a:xfrm>
            <a:off x="5563425" y="2068344"/>
            <a:ext cx="1089683" cy="258959"/>
            <a:chOff x="5563425" y="2021727"/>
            <a:chExt cx="1089683" cy="258959"/>
          </a:xfrm>
        </p:grpSpPr>
        <p:sp>
          <p:nvSpPr>
            <p:cNvPr id="13" name="Down Arrow 12">
              <a:extLst>
                <a:ext uri="{FF2B5EF4-FFF2-40B4-BE49-F238E27FC236}">
                  <a16:creationId xmlns:a16="http://schemas.microsoft.com/office/drawing/2014/main" id="{D47316EC-798C-F34D-87D9-81C35371A24B}"/>
                </a:ext>
              </a:extLst>
            </p:cNvPr>
            <p:cNvSpPr/>
            <p:nvPr/>
          </p:nvSpPr>
          <p:spPr>
            <a:xfrm>
              <a:off x="5563425" y="2021727"/>
              <a:ext cx="258417" cy="258959"/>
            </a:xfrm>
            <a:prstGeom prst="down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BCD50AAF-570A-FD4A-A391-15CF66BDAC94}"/>
                </a:ext>
              </a:extLst>
            </p:cNvPr>
            <p:cNvSpPr/>
            <p:nvPr/>
          </p:nvSpPr>
          <p:spPr>
            <a:xfrm>
              <a:off x="6394691" y="2021727"/>
              <a:ext cx="258417" cy="258959"/>
            </a:xfrm>
            <a:prstGeom prst="down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5" name="Line Callout 2 (Border and Accent Bar) 14">
                <a:extLst>
                  <a:ext uri="{FF2B5EF4-FFF2-40B4-BE49-F238E27FC236}">
                    <a16:creationId xmlns:a16="http://schemas.microsoft.com/office/drawing/2014/main" id="{C785921E-8199-0F48-900D-563B3AA2D0E3}"/>
                  </a:ext>
                </a:extLst>
              </p:cNvPr>
              <p:cNvSpPr/>
              <p:nvPr/>
            </p:nvSpPr>
            <p:spPr>
              <a:xfrm>
                <a:off x="8286534" y="1806433"/>
                <a:ext cx="1162266" cy="536514"/>
              </a:xfrm>
              <a:prstGeom prst="accentBorderCallout2">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d>
                      <m:dPr>
                        <m:begChr m:val="⟨"/>
                        <m:endChr m:val="⟩"/>
                        <m:ctrlPr>
                          <a:rPr lang="en-ZA" i="1" smtClean="0">
                            <a:solidFill>
                              <a:schemeClr val="tx1"/>
                            </a:solidFill>
                            <a:latin typeface="Cambria Math" panose="02040503050406030204" pitchFamily="18" charset="0"/>
                          </a:rPr>
                        </m:ctrlPr>
                      </m:dPr>
                      <m:e>
                        <m:sSup>
                          <m:sSupPr>
                            <m:ctrlPr>
                              <a:rPr lang="en-ZA" i="1">
                                <a:solidFill>
                                  <a:schemeClr val="tx1"/>
                                </a:solidFill>
                                <a:latin typeface="Cambria Math" panose="02040503050406030204" pitchFamily="18" charset="0"/>
                              </a:rPr>
                            </m:ctrlPr>
                          </m:sSupPr>
                          <m:e>
                            <m:r>
                              <a:rPr lang="sr-Latn-RS" i="1">
                                <a:solidFill>
                                  <a:schemeClr val="tx1"/>
                                </a:solidFill>
                                <a:latin typeface="Cambria Math" panose="02040503050406030204" pitchFamily="18" charset="0"/>
                              </a:rPr>
                              <m:t>𝑥</m:t>
                            </m:r>
                          </m:e>
                          <m:sup>
                            <m:r>
                              <a:rPr lang="sr-Latn-RS" i="1">
                                <a:solidFill>
                                  <a:schemeClr val="tx1"/>
                                </a:solidFill>
                                <a:latin typeface="Cambria Math" panose="02040503050406030204" pitchFamily="18" charset="0"/>
                              </a:rPr>
                              <m:t>∗</m:t>
                            </m:r>
                          </m:sup>
                        </m:sSup>
                      </m:e>
                      <m:e>
                        <m:sSup>
                          <m:sSupPr>
                            <m:ctrlPr>
                              <a:rPr lang="en-ZA" i="1">
                                <a:solidFill>
                                  <a:schemeClr val="tx1"/>
                                </a:solidFill>
                                <a:latin typeface="Cambria Math" panose="02040503050406030204" pitchFamily="18" charset="0"/>
                              </a:rPr>
                            </m:ctrlPr>
                          </m:sSupPr>
                          <m:e>
                            <m:r>
                              <a:rPr lang="sr-Latn-RS" i="1">
                                <a:solidFill>
                                  <a:schemeClr val="tx1"/>
                                </a:solidFill>
                                <a:latin typeface="Cambria Math" panose="02040503050406030204" pitchFamily="18" charset="0"/>
                              </a:rPr>
                              <m:t>𝑥</m:t>
                            </m:r>
                          </m:e>
                          <m:sup>
                            <m:r>
                              <a:rPr lang="sr-Latn-RS" i="1">
                                <a:solidFill>
                                  <a:schemeClr val="tx1"/>
                                </a:solidFill>
                                <a:latin typeface="Cambria Math" panose="02040503050406030204" pitchFamily="18" charset="0"/>
                              </a:rPr>
                              <m:t>∗</m:t>
                            </m:r>
                          </m:sup>
                        </m:sSup>
                      </m:e>
                    </m:d>
                  </m:oMath>
                </a14:m>
                <a:r>
                  <a:rPr lang="en-US" dirty="0">
                    <a:solidFill>
                      <a:schemeClr val="tx1"/>
                    </a:solidFill>
                  </a:rPr>
                  <a:t>=1</a:t>
                </a:r>
              </a:p>
            </p:txBody>
          </p:sp>
        </mc:Choice>
        <mc:Fallback xmlns="">
          <p:sp>
            <p:nvSpPr>
              <p:cNvPr id="15" name="Line Callout 2 (Border and Accent Bar) 14">
                <a:extLst>
                  <a:ext uri="{FF2B5EF4-FFF2-40B4-BE49-F238E27FC236}">
                    <a16:creationId xmlns:a16="http://schemas.microsoft.com/office/drawing/2014/main" id="{C785921E-8199-0F48-900D-563B3AA2D0E3}"/>
                  </a:ext>
                </a:extLst>
              </p:cNvPr>
              <p:cNvSpPr>
                <a:spLocks noRot="1" noChangeAspect="1" noMove="1" noResize="1" noEditPoints="1" noAdjustHandles="1" noChangeArrowheads="1" noChangeShapeType="1" noTextEdit="1"/>
              </p:cNvSpPr>
              <p:nvPr/>
            </p:nvSpPr>
            <p:spPr>
              <a:xfrm>
                <a:off x="8286534" y="1806433"/>
                <a:ext cx="1162266" cy="536514"/>
              </a:xfrm>
              <a:prstGeom prst="accentBorderCallout2">
                <a:avLst/>
              </a:prstGeom>
              <a:blipFill>
                <a:blip r:embed="rId10"/>
                <a:stretch>
                  <a:fillRect/>
                </a:stretch>
              </a:blipFill>
              <a:ln>
                <a:solidFill>
                  <a:schemeClr val="bg1">
                    <a:lumMod val="50000"/>
                  </a:schemeClr>
                </a:solidFill>
              </a:ln>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1312C25E-A63D-9341-9D14-F04B586656E7}"/>
              </a:ext>
            </a:extLst>
          </p:cNvPr>
          <p:cNvCxnSpPr>
            <a:cxnSpLocks/>
          </p:cNvCxnSpPr>
          <p:nvPr/>
        </p:nvCxnSpPr>
        <p:spPr>
          <a:xfrm flipH="1">
            <a:off x="3312699" y="4858852"/>
            <a:ext cx="771311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Down Arrow 18">
            <a:extLst>
              <a:ext uri="{FF2B5EF4-FFF2-40B4-BE49-F238E27FC236}">
                <a16:creationId xmlns:a16="http://schemas.microsoft.com/office/drawing/2014/main" id="{C4A10340-644E-D440-8DAB-527C0E146228}"/>
              </a:ext>
            </a:extLst>
          </p:cNvPr>
          <p:cNvSpPr/>
          <p:nvPr/>
        </p:nvSpPr>
        <p:spPr>
          <a:xfrm>
            <a:off x="6000227" y="2938031"/>
            <a:ext cx="258417" cy="258959"/>
          </a:xfrm>
          <a:prstGeom prst="down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a:extLst>
              <a:ext uri="{FF2B5EF4-FFF2-40B4-BE49-F238E27FC236}">
                <a16:creationId xmlns:a16="http://schemas.microsoft.com/office/drawing/2014/main" id="{F058760C-4B99-F346-B0E1-EAAF9F1C615A}"/>
              </a:ext>
            </a:extLst>
          </p:cNvPr>
          <p:cNvSpPr/>
          <p:nvPr/>
        </p:nvSpPr>
        <p:spPr>
          <a:xfrm>
            <a:off x="5992673" y="3645489"/>
            <a:ext cx="258417" cy="258959"/>
          </a:xfrm>
          <a:prstGeom prst="down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63AC1469-88A0-924F-8F35-9BE357FF00DD}"/>
                  </a:ext>
                </a:extLst>
              </p:cNvPr>
              <p:cNvSpPr/>
              <p:nvPr/>
            </p:nvSpPr>
            <p:spPr>
              <a:xfrm>
                <a:off x="3013199" y="5251232"/>
                <a:ext cx="7807201" cy="112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O</m:t>
                      </m:r>
                      <m:r>
                        <a:rPr lang="en-US" b="0" i="1" smtClean="0">
                          <a:latin typeface="Cambria Math" panose="02040503050406030204" pitchFamily="18" charset="0"/>
                        </a:rPr>
                        <m:t>=</m:t>
                      </m:r>
                      <m:r>
                        <a:rPr lang="sr-Latn-RS" i="1">
                          <a:latin typeface="Cambria Math" panose="02040503050406030204" pitchFamily="18" charset="0"/>
                        </a:rPr>
                        <m:t>𝐼</m:t>
                      </m:r>
                      <m:r>
                        <a:rPr lang="sr-Latn-RS" i="1">
                          <a:latin typeface="Cambria Math" panose="02040503050406030204" pitchFamily="18" charset="0"/>
                        </a:rPr>
                        <m:t>−2</m:t>
                      </m:r>
                      <m:d>
                        <m:dPr>
                          <m:begChr m:val="|"/>
                          <m:endChr m:val="⟩"/>
                          <m:ctrlPr>
                            <a:rPr lang="en-ZA" i="1">
                              <a:latin typeface="Cambria Math" panose="02040503050406030204" pitchFamily="18" charset="0"/>
                            </a:rPr>
                          </m:ctrlPr>
                        </m:dPr>
                        <m:e>
                          <m:sSup>
                            <m:sSupPr>
                              <m:ctrlPr>
                                <a:rPr lang="en-ZA" i="1">
                                  <a:latin typeface="Cambria Math" panose="02040503050406030204" pitchFamily="18" charset="0"/>
                                </a:rPr>
                              </m:ctrlPr>
                            </m:sSupPr>
                            <m:e>
                              <m:r>
                                <a:rPr lang="sr-Latn-RS" i="1">
                                  <a:latin typeface="Cambria Math" panose="02040503050406030204" pitchFamily="18" charset="0"/>
                                </a:rPr>
                                <m:t>𝑥</m:t>
                              </m:r>
                            </m:e>
                            <m:sup>
                              <m:r>
                                <a:rPr lang="sr-Latn-RS" i="1">
                                  <a:latin typeface="Cambria Math" panose="02040503050406030204" pitchFamily="18" charset="0"/>
                                </a:rPr>
                                <m:t>∗</m:t>
                              </m:r>
                            </m:sup>
                          </m:sSup>
                        </m:e>
                      </m:d>
                      <m:r>
                        <a:rPr lang="sr-Latn-RS">
                          <a:latin typeface="Cambria Math" panose="02040503050406030204" pitchFamily="18" charset="0"/>
                        </a:rPr>
                        <m:t>⟨</m:t>
                      </m:r>
                      <m:sSup>
                        <m:sSupPr>
                          <m:ctrlPr>
                            <a:rPr lang="en-ZA" i="1">
                              <a:latin typeface="Cambria Math" panose="02040503050406030204" pitchFamily="18" charset="0"/>
                            </a:rPr>
                          </m:ctrlPr>
                        </m:sSupPr>
                        <m:e>
                          <m:r>
                            <a:rPr lang="sr-Latn-RS" i="1">
                              <a:latin typeface="Cambria Math" panose="02040503050406030204" pitchFamily="18" charset="0"/>
                            </a:rPr>
                            <m:t>𝑥</m:t>
                          </m:r>
                        </m:e>
                        <m:sup>
                          <m:r>
                            <a:rPr lang="sr-Latn-RS" i="1">
                              <a:latin typeface="Cambria Math" panose="02040503050406030204" pitchFamily="18" charset="0"/>
                            </a:rPr>
                            <m:t>∗</m:t>
                          </m:r>
                        </m:sup>
                      </m:sSup>
                      <m:r>
                        <a:rPr lang="sr-Latn-RS">
                          <a:latin typeface="Cambria Math" panose="02040503050406030204" pitchFamily="18" charset="0"/>
                        </a:rPr>
                        <m:t>|</m:t>
                      </m:r>
                      <m:r>
                        <a:rPr lang="en-US" b="0" i="0" smtClean="0">
                          <a:latin typeface="Cambria Math" panose="02040503050406030204" pitchFamily="18" charset="0"/>
                        </a:rPr>
                        <m:t>=</m:t>
                      </m:r>
                      <m:d>
                        <m:dPr>
                          <m:ctrlPr>
                            <a:rPr lang="en-US" i="1">
                              <a:latin typeface="Cambria Math" panose="02040503050406030204" pitchFamily="18" charset="0"/>
                            </a:rPr>
                          </m:ctrlPr>
                        </m:dPr>
                        <m:e>
                          <m:m>
                            <m:mPr>
                              <m:plcHide m:val="on"/>
                              <m:mcs>
                                <m:mc>
                                  <m:mcPr>
                                    <m:count m:val="4"/>
                                    <m:mcJc m:val="center"/>
                                  </m:mcPr>
                                </m:mc>
                              </m:mcs>
                              <m:ctrlPr>
                                <a:rPr lang="en-US" i="1">
                                  <a:latin typeface="Cambria Math" panose="02040503050406030204" pitchFamily="18" charset="0"/>
                                </a:rPr>
                              </m:ctrlPr>
                            </m:mPr>
                            <m:mr>
                              <m:e>
                                <m:r>
                                  <a:rPr lang="en-US">
                                    <a:latin typeface="Cambria Math" panose="02040503050406030204" pitchFamily="18" charset="0"/>
                                  </a:rPr>
                                  <m:t>1</m:t>
                                </m:r>
                              </m:e>
                              <m:e>
                                <m:r>
                                  <a:rPr lang="en-US" i="0">
                                    <a:latin typeface="Cambria Math" panose="02040503050406030204" pitchFamily="18" charset="0"/>
                                  </a:rPr>
                                  <m:t>0</m:t>
                                </m:r>
                              </m:e>
                              <m:e>
                                <m:r>
                                  <a:rPr lang="en-US" i="0">
                                    <a:latin typeface="Cambria Math" panose="02040503050406030204" pitchFamily="18" charset="0"/>
                                  </a:rPr>
                                  <m:t>0</m:t>
                                </m:r>
                              </m:e>
                              <m:e>
                                <m:r>
                                  <a:rPr lang="en-US" i="0">
                                    <a:latin typeface="Cambria Math" panose="02040503050406030204" pitchFamily="18" charset="0"/>
                                  </a:rPr>
                                  <m:t>0</m:t>
                                </m:r>
                              </m:e>
                            </m:mr>
                            <m:mr>
                              <m:e>
                                <m:r>
                                  <a:rPr lang="en-US" i="0">
                                    <a:latin typeface="Cambria Math" panose="02040503050406030204" pitchFamily="18" charset="0"/>
                                  </a:rPr>
                                  <m:t>0</m:t>
                                </m:r>
                              </m:e>
                              <m:e>
                                <m:r>
                                  <a:rPr lang="en-US" i="0">
                                    <a:latin typeface="Cambria Math" panose="02040503050406030204" pitchFamily="18" charset="0"/>
                                  </a:rPr>
                                  <m:t>1</m:t>
                                </m:r>
                              </m:e>
                              <m:e>
                                <m:r>
                                  <a:rPr lang="en-US" i="0">
                                    <a:latin typeface="Cambria Math" panose="02040503050406030204" pitchFamily="18" charset="0"/>
                                  </a:rPr>
                                  <m:t>0</m:t>
                                </m:r>
                              </m:e>
                              <m:e>
                                <m:r>
                                  <a:rPr lang="en-US" i="0">
                                    <a:latin typeface="Cambria Math" panose="02040503050406030204" pitchFamily="18" charset="0"/>
                                  </a:rPr>
                                  <m:t>0</m:t>
                                </m:r>
                              </m:e>
                            </m:mr>
                            <m:mr>
                              <m:e>
                                <m:r>
                                  <a:rPr lang="en-US" i="0">
                                    <a:latin typeface="Cambria Math" panose="02040503050406030204" pitchFamily="18" charset="0"/>
                                  </a:rPr>
                                  <m:t>0</m:t>
                                </m:r>
                              </m:e>
                              <m:e>
                                <m:r>
                                  <a:rPr lang="en-US" i="0">
                                    <a:latin typeface="Cambria Math" panose="02040503050406030204" pitchFamily="18" charset="0"/>
                                  </a:rPr>
                                  <m:t>0</m:t>
                                </m:r>
                              </m:e>
                              <m:e>
                                <m:r>
                                  <a:rPr lang="en-US" i="0">
                                    <a:latin typeface="Cambria Math" panose="02040503050406030204" pitchFamily="18" charset="0"/>
                                  </a:rPr>
                                  <m:t>1</m:t>
                                </m:r>
                              </m:e>
                              <m:e>
                                <m:r>
                                  <a:rPr lang="en-US" i="0">
                                    <a:latin typeface="Cambria Math" panose="02040503050406030204" pitchFamily="18" charset="0"/>
                                  </a:rPr>
                                  <m:t>0</m:t>
                                </m:r>
                              </m:e>
                            </m:mr>
                            <m:mr>
                              <m:e>
                                <m:r>
                                  <a:rPr lang="en-US" i="0">
                                    <a:latin typeface="Cambria Math" panose="02040503050406030204" pitchFamily="18" charset="0"/>
                                  </a:rPr>
                                  <m:t>0</m:t>
                                </m:r>
                              </m:e>
                              <m:e>
                                <m:r>
                                  <a:rPr lang="en-US" i="0">
                                    <a:latin typeface="Cambria Math" panose="02040503050406030204" pitchFamily="18" charset="0"/>
                                  </a:rPr>
                                  <m:t>0</m:t>
                                </m:r>
                              </m:e>
                              <m:e>
                                <m:r>
                                  <a:rPr lang="en-US" i="0">
                                    <a:latin typeface="Cambria Math" panose="02040503050406030204" pitchFamily="18" charset="0"/>
                                  </a:rPr>
                                  <m:t>0</m:t>
                                </m:r>
                              </m:e>
                              <m:e>
                                <m:r>
                                  <a:rPr lang="en-US" i="0">
                                    <a:latin typeface="Cambria Math" panose="02040503050406030204" pitchFamily="18" charset="0"/>
                                  </a:rPr>
                                  <m:t>1</m:t>
                                </m:r>
                              </m:e>
                            </m:mr>
                          </m:m>
                        </m:e>
                      </m:d>
                      <m:r>
                        <a:rPr lang="sr-Latn-RS" i="1">
                          <a:latin typeface="Cambria Math" panose="02040503050406030204" pitchFamily="18" charset="0"/>
                        </a:rPr>
                        <m:t>−2</m:t>
                      </m:r>
                      <m:d>
                        <m:dPr>
                          <m:ctrlPr>
                            <a:rPr lang="en-ZA" i="1">
                              <a:latin typeface="Cambria Math" panose="02040503050406030204" pitchFamily="18" charset="0"/>
                            </a:rPr>
                          </m:ctrlPr>
                        </m:dPr>
                        <m:e>
                          <m:m>
                            <m:mPr>
                              <m:mcs>
                                <m:mc>
                                  <m:mcPr>
                                    <m:count m:val="4"/>
                                    <m:mcJc m:val="center"/>
                                  </m:mcPr>
                                </m:mc>
                              </m:mcs>
                              <m:ctrlPr>
                                <a:rPr lang="en-ZA" i="1">
                                  <a:latin typeface="Cambria Math" panose="02040503050406030204" pitchFamily="18" charset="0"/>
                                </a:rPr>
                              </m:ctrlPr>
                            </m:mPr>
                            <m:mr>
                              <m:e>
                                <m:r>
                                  <a:rPr lang="sr-Latn-RS">
                                    <a:latin typeface="Cambria Math" panose="02040503050406030204" pitchFamily="18" charset="0"/>
                                  </a:rPr>
                                  <m:t>0</m:t>
                                </m:r>
                              </m:e>
                              <m:e>
                                <m:r>
                                  <a:rPr lang="sr-Latn-RS">
                                    <a:latin typeface="Cambria Math" panose="02040503050406030204" pitchFamily="18" charset="0"/>
                                  </a:rPr>
                                  <m:t>0</m:t>
                                </m:r>
                              </m:e>
                              <m:e>
                                <m:r>
                                  <a:rPr lang="sr-Latn-RS">
                                    <a:latin typeface="Cambria Math" panose="02040503050406030204" pitchFamily="18" charset="0"/>
                                  </a:rPr>
                                  <m:t>0</m:t>
                                </m:r>
                              </m:e>
                              <m:e>
                                <m:r>
                                  <a:rPr lang="sr-Latn-RS">
                                    <a:latin typeface="Cambria Math" panose="02040503050406030204" pitchFamily="18" charset="0"/>
                                  </a:rPr>
                                  <m:t>0</m:t>
                                </m:r>
                              </m:e>
                            </m:mr>
                            <m:mr>
                              <m:e>
                                <m:r>
                                  <a:rPr lang="sr-Latn-RS">
                                    <a:latin typeface="Cambria Math" panose="02040503050406030204" pitchFamily="18" charset="0"/>
                                  </a:rPr>
                                  <m:t>0</m:t>
                                </m:r>
                              </m:e>
                              <m:e>
                                <m:r>
                                  <a:rPr lang="sr-Latn-RS">
                                    <a:latin typeface="Cambria Math" panose="02040503050406030204" pitchFamily="18" charset="0"/>
                                  </a:rPr>
                                  <m:t>0</m:t>
                                </m:r>
                              </m:e>
                              <m:e>
                                <m:r>
                                  <a:rPr lang="sr-Latn-RS">
                                    <a:latin typeface="Cambria Math" panose="02040503050406030204" pitchFamily="18" charset="0"/>
                                  </a:rPr>
                                  <m:t>0</m:t>
                                </m:r>
                              </m:e>
                              <m:e>
                                <m:r>
                                  <a:rPr lang="sr-Latn-RS">
                                    <a:latin typeface="Cambria Math" panose="02040503050406030204" pitchFamily="18" charset="0"/>
                                  </a:rPr>
                                  <m:t>0</m:t>
                                </m:r>
                              </m:e>
                            </m:mr>
                            <m:mr>
                              <m:e>
                                <m:r>
                                  <a:rPr lang="sr-Latn-RS">
                                    <a:latin typeface="Cambria Math" panose="02040503050406030204" pitchFamily="18" charset="0"/>
                                  </a:rPr>
                                  <m:t>0</m:t>
                                </m:r>
                              </m:e>
                              <m:e>
                                <m:r>
                                  <a:rPr lang="sr-Latn-RS">
                                    <a:latin typeface="Cambria Math" panose="02040503050406030204" pitchFamily="18" charset="0"/>
                                  </a:rPr>
                                  <m:t>0</m:t>
                                </m:r>
                              </m:e>
                              <m:e>
                                <m:r>
                                  <a:rPr lang="sr-Latn-RS">
                                    <a:latin typeface="Cambria Math" panose="02040503050406030204" pitchFamily="18" charset="0"/>
                                  </a:rPr>
                                  <m:t>1</m:t>
                                </m:r>
                              </m:e>
                              <m:e>
                                <m:r>
                                  <a:rPr lang="sr-Latn-RS">
                                    <a:latin typeface="Cambria Math" panose="02040503050406030204" pitchFamily="18" charset="0"/>
                                  </a:rPr>
                                  <m:t>0</m:t>
                                </m:r>
                              </m:e>
                            </m:mr>
                            <m:mr>
                              <m:e>
                                <m:r>
                                  <a:rPr lang="sr-Latn-RS">
                                    <a:latin typeface="Cambria Math" panose="02040503050406030204" pitchFamily="18" charset="0"/>
                                  </a:rPr>
                                  <m:t>0</m:t>
                                </m:r>
                              </m:e>
                              <m:e>
                                <m:r>
                                  <a:rPr lang="sr-Latn-RS">
                                    <a:latin typeface="Cambria Math" panose="02040503050406030204" pitchFamily="18" charset="0"/>
                                  </a:rPr>
                                  <m:t>0</m:t>
                                </m:r>
                              </m:e>
                              <m:e>
                                <m:r>
                                  <a:rPr lang="sr-Latn-RS">
                                    <a:latin typeface="Cambria Math" panose="02040503050406030204" pitchFamily="18" charset="0"/>
                                  </a:rPr>
                                  <m:t>0</m:t>
                                </m:r>
                              </m:e>
                              <m:e>
                                <m:r>
                                  <a:rPr lang="sr-Latn-RS">
                                    <a:latin typeface="Cambria Math" panose="02040503050406030204" pitchFamily="18" charset="0"/>
                                  </a:rPr>
                                  <m:t>0</m:t>
                                </m:r>
                              </m:e>
                            </m:mr>
                          </m:m>
                        </m:e>
                      </m:d>
                      <m:r>
                        <a:rPr lang="en-US" b="0" i="1" smtClean="0">
                          <a:latin typeface="Cambria Math" panose="02040503050406030204" pitchFamily="18" charset="0"/>
                        </a:rPr>
                        <m:t>=</m:t>
                      </m:r>
                      <m:d>
                        <m:dPr>
                          <m:ctrlPr>
                            <a:rPr lang="en-ZA" i="1">
                              <a:latin typeface="Cambria Math" panose="02040503050406030204" pitchFamily="18" charset="0"/>
                            </a:rPr>
                          </m:ctrlPr>
                        </m:dPr>
                        <m:e>
                          <m:m>
                            <m:mPr>
                              <m:mcs>
                                <m:mc>
                                  <m:mcPr>
                                    <m:count m:val="4"/>
                                    <m:mcJc m:val="center"/>
                                  </m:mcPr>
                                </m:mc>
                              </m:mcs>
                              <m:ctrlPr>
                                <a:rPr lang="en-ZA" i="1">
                                  <a:latin typeface="Cambria Math" panose="02040503050406030204" pitchFamily="18" charset="0"/>
                                </a:rPr>
                              </m:ctrlPr>
                            </m:mPr>
                            <m:mr>
                              <m:e>
                                <m:r>
                                  <a:rPr lang="sr-Latn-RS">
                                    <a:latin typeface="Cambria Math" panose="02040503050406030204" pitchFamily="18" charset="0"/>
                                  </a:rPr>
                                  <m:t>1</m:t>
                                </m:r>
                              </m:e>
                              <m:e>
                                <m:r>
                                  <a:rPr lang="sr-Latn-RS">
                                    <a:latin typeface="Cambria Math" panose="02040503050406030204" pitchFamily="18" charset="0"/>
                                  </a:rPr>
                                  <m:t>0</m:t>
                                </m:r>
                              </m:e>
                              <m:e>
                                <m:r>
                                  <a:rPr lang="sr-Latn-RS">
                                    <a:latin typeface="Cambria Math" panose="02040503050406030204" pitchFamily="18" charset="0"/>
                                  </a:rPr>
                                  <m:t>0</m:t>
                                </m:r>
                              </m:e>
                              <m:e>
                                <m:r>
                                  <a:rPr lang="sr-Latn-RS">
                                    <a:latin typeface="Cambria Math" panose="02040503050406030204" pitchFamily="18" charset="0"/>
                                  </a:rPr>
                                  <m:t>0</m:t>
                                </m:r>
                              </m:e>
                            </m:mr>
                            <m:mr>
                              <m:e>
                                <m:r>
                                  <a:rPr lang="sr-Latn-RS">
                                    <a:latin typeface="Cambria Math" panose="02040503050406030204" pitchFamily="18" charset="0"/>
                                  </a:rPr>
                                  <m:t>0</m:t>
                                </m:r>
                              </m:e>
                              <m:e>
                                <m:r>
                                  <a:rPr lang="sr-Latn-RS">
                                    <a:latin typeface="Cambria Math" panose="02040503050406030204" pitchFamily="18" charset="0"/>
                                  </a:rPr>
                                  <m:t>1</m:t>
                                </m:r>
                              </m:e>
                              <m:e>
                                <m:r>
                                  <a:rPr lang="sr-Latn-RS">
                                    <a:latin typeface="Cambria Math" panose="02040503050406030204" pitchFamily="18" charset="0"/>
                                  </a:rPr>
                                  <m:t>0</m:t>
                                </m:r>
                              </m:e>
                              <m:e>
                                <m:r>
                                  <a:rPr lang="sr-Latn-RS">
                                    <a:latin typeface="Cambria Math" panose="02040503050406030204" pitchFamily="18" charset="0"/>
                                  </a:rPr>
                                  <m:t>0</m:t>
                                </m:r>
                              </m:e>
                            </m:mr>
                            <m:mr>
                              <m:e>
                                <m:r>
                                  <a:rPr lang="sr-Latn-RS">
                                    <a:latin typeface="Cambria Math" panose="02040503050406030204" pitchFamily="18" charset="0"/>
                                  </a:rPr>
                                  <m:t>0</m:t>
                                </m:r>
                              </m:e>
                              <m:e>
                                <m:r>
                                  <a:rPr lang="sr-Latn-RS">
                                    <a:latin typeface="Cambria Math" panose="02040503050406030204" pitchFamily="18" charset="0"/>
                                  </a:rPr>
                                  <m:t>0</m:t>
                                </m:r>
                              </m:e>
                              <m:e>
                                <m:r>
                                  <a:rPr lang="sr-Latn-RS" i="1">
                                    <a:latin typeface="Cambria Math" panose="02040503050406030204" pitchFamily="18" charset="0"/>
                                  </a:rPr>
                                  <m:t>−</m:t>
                                </m:r>
                                <m:r>
                                  <a:rPr lang="sr-Latn-RS">
                                    <a:latin typeface="Cambria Math" panose="02040503050406030204" pitchFamily="18" charset="0"/>
                                  </a:rPr>
                                  <m:t>1</m:t>
                                </m:r>
                              </m:e>
                              <m:e>
                                <m:r>
                                  <a:rPr lang="sr-Latn-RS">
                                    <a:latin typeface="Cambria Math" panose="02040503050406030204" pitchFamily="18" charset="0"/>
                                  </a:rPr>
                                  <m:t>0</m:t>
                                </m:r>
                              </m:e>
                            </m:mr>
                            <m:mr>
                              <m:e>
                                <m:r>
                                  <a:rPr lang="sr-Latn-RS">
                                    <a:latin typeface="Cambria Math" panose="02040503050406030204" pitchFamily="18" charset="0"/>
                                  </a:rPr>
                                  <m:t>0</m:t>
                                </m:r>
                              </m:e>
                              <m:e>
                                <m:r>
                                  <a:rPr lang="sr-Latn-RS">
                                    <a:latin typeface="Cambria Math" panose="02040503050406030204" pitchFamily="18" charset="0"/>
                                  </a:rPr>
                                  <m:t>0</m:t>
                                </m:r>
                              </m:e>
                              <m:e>
                                <m:r>
                                  <a:rPr lang="sr-Latn-RS">
                                    <a:latin typeface="Cambria Math" panose="02040503050406030204" pitchFamily="18" charset="0"/>
                                  </a:rPr>
                                  <m:t>0</m:t>
                                </m:r>
                              </m:e>
                              <m:e>
                                <m:r>
                                  <a:rPr lang="sr-Latn-RS">
                                    <a:latin typeface="Cambria Math" panose="02040503050406030204" pitchFamily="18" charset="0"/>
                                  </a:rPr>
                                  <m:t>1</m:t>
                                </m:r>
                              </m:e>
                            </m:mr>
                          </m:m>
                        </m:e>
                      </m:d>
                    </m:oMath>
                  </m:oMathPara>
                </a14:m>
                <a:endParaRPr lang="en-US" dirty="0"/>
              </a:p>
            </p:txBody>
          </p:sp>
        </mc:Choice>
        <mc:Fallback xmlns="">
          <p:sp>
            <p:nvSpPr>
              <p:cNvPr id="27" name="Rectangle 26">
                <a:extLst>
                  <a:ext uri="{FF2B5EF4-FFF2-40B4-BE49-F238E27FC236}">
                    <a16:creationId xmlns:a16="http://schemas.microsoft.com/office/drawing/2014/main" id="{63AC1469-88A0-924F-8F35-9BE357FF00DD}"/>
                  </a:ext>
                </a:extLst>
              </p:cNvPr>
              <p:cNvSpPr>
                <a:spLocks noRot="1" noChangeAspect="1" noMove="1" noResize="1" noEditPoints="1" noAdjustHandles="1" noChangeArrowheads="1" noChangeShapeType="1" noTextEdit="1"/>
              </p:cNvSpPr>
              <p:nvPr/>
            </p:nvSpPr>
            <p:spPr>
              <a:xfrm>
                <a:off x="3013199" y="5251232"/>
                <a:ext cx="7807201" cy="1126975"/>
              </a:xfrm>
              <a:prstGeom prst="rect">
                <a:avLst/>
              </a:prstGeom>
              <a:blipFill>
                <a:blip r:embed="rId11"/>
                <a:stretch>
                  <a:fillRect b="-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A61B250-DBCA-A44E-BDFE-0841AE96258E}"/>
                  </a:ext>
                </a:extLst>
              </p:cNvPr>
              <p:cNvSpPr txBox="1"/>
              <p:nvPr/>
            </p:nvSpPr>
            <p:spPr>
              <a:xfrm>
                <a:off x="528157" y="5251232"/>
                <a:ext cx="2102948" cy="11269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ZA" i="1">
                              <a:latin typeface="Cambria Math" panose="02040503050406030204" pitchFamily="18" charset="0"/>
                            </a:rPr>
                          </m:ctrlPr>
                        </m:dPr>
                        <m:e>
                          <m:sSup>
                            <m:sSupPr>
                              <m:ctrlPr>
                                <a:rPr lang="en-ZA" i="1">
                                  <a:latin typeface="Cambria Math" panose="02040503050406030204" pitchFamily="18" charset="0"/>
                                </a:rPr>
                              </m:ctrlPr>
                            </m:sSupPr>
                            <m:e>
                              <m:r>
                                <a:rPr lang="sr-Latn-RS" i="1">
                                  <a:latin typeface="Cambria Math" panose="02040503050406030204" pitchFamily="18" charset="0"/>
                                </a:rPr>
                                <m:t>𝑥</m:t>
                              </m:r>
                            </m:e>
                            <m:sup>
                              <m:r>
                                <a:rPr lang="sr-Latn-RS" i="1">
                                  <a:latin typeface="Cambria Math" panose="02040503050406030204" pitchFamily="18" charset="0"/>
                                </a:rPr>
                                <m:t>∗</m:t>
                              </m:r>
                            </m:sup>
                          </m:sSup>
                        </m:e>
                      </m:d>
                      <m:r>
                        <a:rPr lang="sr-Latn-RS" i="1">
                          <a:latin typeface="Cambria Math" panose="02040503050406030204" pitchFamily="18" charset="0"/>
                        </a:rPr>
                        <m:t>=</m:t>
                      </m:r>
                      <m:d>
                        <m:dPr>
                          <m:begChr m:val="|"/>
                          <m:endChr m:val="⟩"/>
                          <m:ctrlPr>
                            <a:rPr lang="en-ZA" i="1">
                              <a:latin typeface="Cambria Math" panose="02040503050406030204" pitchFamily="18" charset="0"/>
                            </a:rPr>
                          </m:ctrlPr>
                        </m:dPr>
                        <m:e>
                          <m:r>
                            <a:rPr lang="sr-Latn-RS" i="1">
                              <a:latin typeface="Cambria Math" panose="02040503050406030204" pitchFamily="18" charset="0"/>
                            </a:rPr>
                            <m:t>10</m:t>
                          </m:r>
                        </m:e>
                      </m:d>
                      <m:r>
                        <a:rPr lang="sr-Latn-RS" i="1">
                          <a:latin typeface="Cambria Math" panose="02040503050406030204" pitchFamily="18" charset="0"/>
                        </a:rPr>
                        <m:t>=</m:t>
                      </m:r>
                      <m:d>
                        <m:dPr>
                          <m:ctrlPr>
                            <a:rPr lang="en-ZA" i="1">
                              <a:latin typeface="Cambria Math" panose="02040503050406030204" pitchFamily="18" charset="0"/>
                            </a:rPr>
                          </m:ctrlPr>
                        </m:dPr>
                        <m:e>
                          <m:m>
                            <m:mPr>
                              <m:mcs>
                                <m:mc>
                                  <m:mcPr>
                                    <m:count m:val="1"/>
                                    <m:mcJc m:val="center"/>
                                  </m:mcPr>
                                </m:mc>
                              </m:mcs>
                              <m:ctrlPr>
                                <a:rPr lang="en-ZA" i="1">
                                  <a:latin typeface="Cambria Math" panose="02040503050406030204" pitchFamily="18" charset="0"/>
                                </a:rPr>
                              </m:ctrlPr>
                            </m:mPr>
                            <m:mr>
                              <m:e>
                                <m:r>
                                  <a:rPr lang="sr-Latn-RS" i="1">
                                    <a:latin typeface="Cambria Math" panose="02040503050406030204" pitchFamily="18" charset="0"/>
                                  </a:rPr>
                                  <m:t>0</m:t>
                                </m:r>
                              </m:e>
                            </m:mr>
                            <m:mr>
                              <m:e>
                                <m:r>
                                  <a:rPr lang="sr-Latn-RS" i="1">
                                    <a:latin typeface="Cambria Math" panose="02040503050406030204" pitchFamily="18" charset="0"/>
                                  </a:rPr>
                                  <m:t>0</m:t>
                                </m:r>
                              </m:e>
                            </m:mr>
                            <m:mr>
                              <m:e>
                                <m:r>
                                  <a:rPr lang="sr-Latn-RS" i="1">
                                    <a:latin typeface="Cambria Math" panose="02040503050406030204" pitchFamily="18" charset="0"/>
                                  </a:rPr>
                                  <m:t>1</m:t>
                                </m:r>
                              </m:e>
                            </m:mr>
                            <m:mr>
                              <m:e>
                                <m:r>
                                  <a:rPr lang="sr-Latn-RS" i="1">
                                    <a:latin typeface="Cambria Math" panose="02040503050406030204" pitchFamily="18" charset="0"/>
                                  </a:rPr>
                                  <m:t>0</m:t>
                                </m:r>
                              </m:e>
                            </m:mr>
                          </m:m>
                        </m:e>
                      </m:d>
                    </m:oMath>
                  </m:oMathPara>
                </a14:m>
                <a:endParaRPr lang="en-US" dirty="0"/>
              </a:p>
            </p:txBody>
          </p:sp>
        </mc:Choice>
        <mc:Fallback xmlns="">
          <p:sp>
            <p:nvSpPr>
              <p:cNvPr id="29" name="TextBox 28">
                <a:extLst>
                  <a:ext uri="{FF2B5EF4-FFF2-40B4-BE49-F238E27FC236}">
                    <a16:creationId xmlns:a16="http://schemas.microsoft.com/office/drawing/2014/main" id="{8A61B250-DBCA-A44E-BDFE-0841AE96258E}"/>
                  </a:ext>
                </a:extLst>
              </p:cNvPr>
              <p:cNvSpPr txBox="1">
                <a:spLocks noRot="1" noChangeAspect="1" noMove="1" noResize="1" noEditPoints="1" noAdjustHandles="1" noChangeArrowheads="1" noChangeShapeType="1" noTextEdit="1"/>
              </p:cNvSpPr>
              <p:nvPr/>
            </p:nvSpPr>
            <p:spPr>
              <a:xfrm>
                <a:off x="528157" y="5251232"/>
                <a:ext cx="2102948" cy="1126975"/>
              </a:xfrm>
              <a:prstGeom prst="rect">
                <a:avLst/>
              </a:prstGeom>
              <a:blipFill>
                <a:blip r:embed="rId12"/>
                <a:stretch>
                  <a:fillRect b="-2222"/>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CC0EA480-DBA4-D94D-BE96-71E26AED0C6E}"/>
              </a:ext>
            </a:extLst>
          </p:cNvPr>
          <p:cNvSpPr txBox="1"/>
          <p:nvPr/>
        </p:nvSpPr>
        <p:spPr>
          <a:xfrm>
            <a:off x="37892" y="4628377"/>
            <a:ext cx="3274807" cy="369332"/>
          </a:xfrm>
          <a:prstGeom prst="rect">
            <a:avLst/>
          </a:prstGeom>
          <a:noFill/>
        </p:spPr>
        <p:txBody>
          <a:bodyPr wrap="none" rtlCol="0">
            <a:spAutoFit/>
          </a:bodyPr>
          <a:lstStyle/>
          <a:p>
            <a:r>
              <a:rPr lang="en-ZA" dirty="0"/>
              <a:t>For the phone-directory example</a:t>
            </a:r>
            <a:endParaRPr lang="en-US" dirty="0"/>
          </a:p>
        </p:txBody>
      </p:sp>
    </p:spTree>
    <p:extLst>
      <p:ext uri="{BB962C8B-B14F-4D97-AF65-F5344CB8AC3E}">
        <p14:creationId xmlns:p14="http://schemas.microsoft.com/office/powerpoint/2010/main" val="1603884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2AA2-FEC4-AA4E-B087-1CB3620224AF}"/>
              </a:ext>
            </a:extLst>
          </p:cNvPr>
          <p:cNvSpPr>
            <a:spLocks noGrp="1"/>
          </p:cNvSpPr>
          <p:nvPr>
            <p:ph type="title"/>
          </p:nvPr>
        </p:nvSpPr>
        <p:spPr>
          <a:xfrm>
            <a:off x="0" y="0"/>
            <a:ext cx="12192000" cy="928688"/>
          </a:xfrm>
        </p:spPr>
        <p:txBody>
          <a:bodyPr/>
          <a:lstStyle/>
          <a:p>
            <a:r>
              <a:rPr lang="en-ZA" dirty="0"/>
              <a:t>Grover Oracle: Quantum Gate Implementation</a:t>
            </a:r>
            <a:endParaRPr lang="en-US" dirty="0"/>
          </a:p>
        </p:txBody>
      </p:sp>
      <p:sp>
        <p:nvSpPr>
          <p:cNvPr id="3" name="Slide Number Placeholder 2">
            <a:extLst>
              <a:ext uri="{FF2B5EF4-FFF2-40B4-BE49-F238E27FC236}">
                <a16:creationId xmlns:a16="http://schemas.microsoft.com/office/drawing/2014/main" id="{CFBD6788-0F16-194F-AF3C-F494D85B947F}"/>
              </a:ext>
            </a:extLst>
          </p:cNvPr>
          <p:cNvSpPr>
            <a:spLocks noGrp="1"/>
          </p:cNvSpPr>
          <p:nvPr>
            <p:ph type="sldNum" sz="quarter" idx="12"/>
          </p:nvPr>
        </p:nvSpPr>
        <p:spPr/>
        <p:txBody>
          <a:bodyPr/>
          <a:lstStyle/>
          <a:p>
            <a:fld id="{591A223C-FA10-BC46-A853-03BA373D023C}" type="slidenum">
              <a:rPr lang="en-US" smtClean="0"/>
              <a:t>11</a:t>
            </a:fld>
            <a:endParaRPr lang="en-US"/>
          </a:p>
        </p:txBody>
      </p:sp>
      <p:cxnSp>
        <p:nvCxnSpPr>
          <p:cNvPr id="69" name="Straight Connector 68">
            <a:extLst>
              <a:ext uri="{FF2B5EF4-FFF2-40B4-BE49-F238E27FC236}">
                <a16:creationId xmlns:a16="http://schemas.microsoft.com/office/drawing/2014/main" id="{26169DDB-56D8-774B-B44F-7C1E99DD952E}"/>
              </a:ext>
            </a:extLst>
          </p:cNvPr>
          <p:cNvCxnSpPr>
            <a:cxnSpLocks/>
          </p:cNvCxnSpPr>
          <p:nvPr/>
        </p:nvCxnSpPr>
        <p:spPr>
          <a:xfrm>
            <a:off x="1432685" y="1509640"/>
            <a:ext cx="29423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63A37A1-44C5-D045-AA8F-EEE4FCA5AF2B}"/>
              </a:ext>
            </a:extLst>
          </p:cNvPr>
          <p:cNvCxnSpPr>
            <a:cxnSpLocks/>
          </p:cNvCxnSpPr>
          <p:nvPr/>
        </p:nvCxnSpPr>
        <p:spPr>
          <a:xfrm>
            <a:off x="1432686" y="2579949"/>
            <a:ext cx="29423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6898A50-DC61-5040-BA46-73A162A6EDE8}"/>
              </a:ext>
            </a:extLst>
          </p:cNvPr>
          <p:cNvCxnSpPr>
            <a:cxnSpLocks/>
          </p:cNvCxnSpPr>
          <p:nvPr/>
        </p:nvCxnSpPr>
        <p:spPr>
          <a:xfrm flipV="1">
            <a:off x="2870672" y="1509640"/>
            <a:ext cx="0" cy="7638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5FCF5E7B-E73E-E849-A176-9836B5AA63EC}"/>
              </a:ext>
            </a:extLst>
          </p:cNvPr>
          <p:cNvSpPr/>
          <p:nvPr/>
        </p:nvSpPr>
        <p:spPr>
          <a:xfrm>
            <a:off x="2748076" y="1389789"/>
            <a:ext cx="245192" cy="2451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4" name="Straight Connector 93">
            <a:extLst>
              <a:ext uri="{FF2B5EF4-FFF2-40B4-BE49-F238E27FC236}">
                <a16:creationId xmlns:a16="http://schemas.microsoft.com/office/drawing/2014/main" id="{7D6ECB86-A07D-E644-85D4-7BC77758AFF7}"/>
              </a:ext>
            </a:extLst>
          </p:cNvPr>
          <p:cNvCxnSpPr>
            <a:cxnSpLocks/>
          </p:cNvCxnSpPr>
          <p:nvPr/>
        </p:nvCxnSpPr>
        <p:spPr>
          <a:xfrm>
            <a:off x="7512806" y="1506656"/>
            <a:ext cx="29423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936B9ECA-2A92-8A4C-8C49-E723A7FF52FD}"/>
              </a:ext>
            </a:extLst>
          </p:cNvPr>
          <p:cNvCxnSpPr>
            <a:cxnSpLocks/>
          </p:cNvCxnSpPr>
          <p:nvPr/>
        </p:nvCxnSpPr>
        <p:spPr>
          <a:xfrm>
            <a:off x="7512807" y="2576965"/>
            <a:ext cx="29423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C6287B7-BF00-E74F-AF52-2AB840492044}"/>
              </a:ext>
            </a:extLst>
          </p:cNvPr>
          <p:cNvCxnSpPr>
            <a:cxnSpLocks/>
          </p:cNvCxnSpPr>
          <p:nvPr/>
        </p:nvCxnSpPr>
        <p:spPr>
          <a:xfrm flipV="1">
            <a:off x="8950793" y="1506656"/>
            <a:ext cx="0" cy="7638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Oval 99">
            <a:extLst>
              <a:ext uri="{FF2B5EF4-FFF2-40B4-BE49-F238E27FC236}">
                <a16:creationId xmlns:a16="http://schemas.microsoft.com/office/drawing/2014/main" id="{7CFC1BE8-38FE-E641-B0F1-FE68FD41E46B}"/>
              </a:ext>
            </a:extLst>
          </p:cNvPr>
          <p:cNvSpPr/>
          <p:nvPr/>
        </p:nvSpPr>
        <p:spPr>
          <a:xfrm>
            <a:off x="8828197" y="1386805"/>
            <a:ext cx="245192" cy="2451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Oval 100">
            <a:extLst>
              <a:ext uri="{FF2B5EF4-FFF2-40B4-BE49-F238E27FC236}">
                <a16:creationId xmlns:a16="http://schemas.microsoft.com/office/drawing/2014/main" id="{71C5B2C7-D3C4-874D-8ABB-A59C561CBB1F}"/>
              </a:ext>
            </a:extLst>
          </p:cNvPr>
          <p:cNvSpPr>
            <a:spLocks noChangeAspect="1"/>
          </p:cNvSpPr>
          <p:nvPr/>
        </p:nvSpPr>
        <p:spPr>
          <a:xfrm>
            <a:off x="7651078" y="2270317"/>
            <a:ext cx="612980" cy="6129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sp>
        <p:nvSpPr>
          <p:cNvPr id="102" name="Oval 101">
            <a:extLst>
              <a:ext uri="{FF2B5EF4-FFF2-40B4-BE49-F238E27FC236}">
                <a16:creationId xmlns:a16="http://schemas.microsoft.com/office/drawing/2014/main" id="{C3201C82-98C9-5449-BF27-5CA8D59D966C}"/>
              </a:ext>
            </a:extLst>
          </p:cNvPr>
          <p:cNvSpPr>
            <a:spLocks noChangeAspect="1"/>
          </p:cNvSpPr>
          <p:nvPr/>
        </p:nvSpPr>
        <p:spPr>
          <a:xfrm>
            <a:off x="9702148" y="2272109"/>
            <a:ext cx="612980" cy="6129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cxnSp>
        <p:nvCxnSpPr>
          <p:cNvPr id="106" name="Straight Connector 105">
            <a:extLst>
              <a:ext uri="{FF2B5EF4-FFF2-40B4-BE49-F238E27FC236}">
                <a16:creationId xmlns:a16="http://schemas.microsoft.com/office/drawing/2014/main" id="{9EF01D80-2EEA-3D44-A0BE-BBEC8E2833B4}"/>
              </a:ext>
            </a:extLst>
          </p:cNvPr>
          <p:cNvCxnSpPr>
            <a:cxnSpLocks/>
          </p:cNvCxnSpPr>
          <p:nvPr/>
        </p:nvCxnSpPr>
        <p:spPr>
          <a:xfrm>
            <a:off x="1474863" y="4596029"/>
            <a:ext cx="29423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97F817A5-F2C5-5C4E-B8C2-D2F124038437}"/>
              </a:ext>
            </a:extLst>
          </p:cNvPr>
          <p:cNvCxnSpPr>
            <a:cxnSpLocks/>
          </p:cNvCxnSpPr>
          <p:nvPr/>
        </p:nvCxnSpPr>
        <p:spPr>
          <a:xfrm>
            <a:off x="1474864" y="5666338"/>
            <a:ext cx="29423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3F17008-180A-B04E-9C5E-993BA87C479D}"/>
              </a:ext>
            </a:extLst>
          </p:cNvPr>
          <p:cNvCxnSpPr>
            <a:cxnSpLocks/>
          </p:cNvCxnSpPr>
          <p:nvPr/>
        </p:nvCxnSpPr>
        <p:spPr>
          <a:xfrm flipV="1">
            <a:off x="2912850" y="4596029"/>
            <a:ext cx="0" cy="7638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8BC25DF8-FABB-0341-87E2-52A6B99135EB}"/>
              </a:ext>
            </a:extLst>
          </p:cNvPr>
          <p:cNvSpPr/>
          <p:nvPr/>
        </p:nvSpPr>
        <p:spPr>
          <a:xfrm>
            <a:off x="2790254" y="4476178"/>
            <a:ext cx="245192" cy="2451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Oval 114">
            <a:extLst>
              <a:ext uri="{FF2B5EF4-FFF2-40B4-BE49-F238E27FC236}">
                <a16:creationId xmlns:a16="http://schemas.microsoft.com/office/drawing/2014/main" id="{56D2119E-CC2D-504D-91D3-38B396AD7885}"/>
              </a:ext>
            </a:extLst>
          </p:cNvPr>
          <p:cNvSpPr>
            <a:spLocks noChangeAspect="1"/>
          </p:cNvSpPr>
          <p:nvPr/>
        </p:nvSpPr>
        <p:spPr>
          <a:xfrm>
            <a:off x="1707093" y="4286666"/>
            <a:ext cx="612980" cy="6129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sp>
        <p:nvSpPr>
          <p:cNvPr id="116" name="Oval 115">
            <a:extLst>
              <a:ext uri="{FF2B5EF4-FFF2-40B4-BE49-F238E27FC236}">
                <a16:creationId xmlns:a16="http://schemas.microsoft.com/office/drawing/2014/main" id="{3CA9A217-2493-6546-B253-72F6A97D2222}"/>
              </a:ext>
            </a:extLst>
          </p:cNvPr>
          <p:cNvSpPr>
            <a:spLocks noChangeAspect="1"/>
          </p:cNvSpPr>
          <p:nvPr/>
        </p:nvSpPr>
        <p:spPr>
          <a:xfrm>
            <a:off x="3505628" y="4282820"/>
            <a:ext cx="612980" cy="6129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cxnSp>
        <p:nvCxnSpPr>
          <p:cNvPr id="118" name="Straight Connector 117">
            <a:extLst>
              <a:ext uri="{FF2B5EF4-FFF2-40B4-BE49-F238E27FC236}">
                <a16:creationId xmlns:a16="http://schemas.microsoft.com/office/drawing/2014/main" id="{2456265B-291E-C049-92C9-AB7FB369C972}"/>
              </a:ext>
            </a:extLst>
          </p:cNvPr>
          <p:cNvCxnSpPr>
            <a:cxnSpLocks/>
          </p:cNvCxnSpPr>
          <p:nvPr/>
        </p:nvCxnSpPr>
        <p:spPr>
          <a:xfrm>
            <a:off x="7512807" y="4402671"/>
            <a:ext cx="29423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8422ECE5-232C-014A-B2FA-A310CC8A15AF}"/>
              </a:ext>
            </a:extLst>
          </p:cNvPr>
          <p:cNvCxnSpPr>
            <a:cxnSpLocks/>
          </p:cNvCxnSpPr>
          <p:nvPr/>
        </p:nvCxnSpPr>
        <p:spPr>
          <a:xfrm>
            <a:off x="7512807" y="5472980"/>
            <a:ext cx="29423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5FF9FC9F-D5C8-D944-97C5-486D462F015E}"/>
              </a:ext>
            </a:extLst>
          </p:cNvPr>
          <p:cNvCxnSpPr>
            <a:cxnSpLocks/>
          </p:cNvCxnSpPr>
          <p:nvPr/>
        </p:nvCxnSpPr>
        <p:spPr>
          <a:xfrm flipV="1">
            <a:off x="9027301" y="4402671"/>
            <a:ext cx="0" cy="7638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B9415642-C1BF-9843-863B-5DDA311EBE5F}"/>
              </a:ext>
            </a:extLst>
          </p:cNvPr>
          <p:cNvSpPr/>
          <p:nvPr/>
        </p:nvSpPr>
        <p:spPr>
          <a:xfrm>
            <a:off x="8904705" y="4282820"/>
            <a:ext cx="245192" cy="2451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Oval 124">
            <a:extLst>
              <a:ext uri="{FF2B5EF4-FFF2-40B4-BE49-F238E27FC236}">
                <a16:creationId xmlns:a16="http://schemas.microsoft.com/office/drawing/2014/main" id="{FA6F4CA1-8DA3-3945-B2AB-6B3CEF50D3ED}"/>
              </a:ext>
            </a:extLst>
          </p:cNvPr>
          <p:cNvSpPr>
            <a:spLocks noChangeAspect="1"/>
          </p:cNvSpPr>
          <p:nvPr/>
        </p:nvSpPr>
        <p:spPr>
          <a:xfrm>
            <a:off x="7651078" y="5166490"/>
            <a:ext cx="612980" cy="6129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sp>
        <p:nvSpPr>
          <p:cNvPr id="126" name="Oval 125">
            <a:extLst>
              <a:ext uri="{FF2B5EF4-FFF2-40B4-BE49-F238E27FC236}">
                <a16:creationId xmlns:a16="http://schemas.microsoft.com/office/drawing/2014/main" id="{D4DC94E6-7E91-234A-BEE3-7DC53885FE57}"/>
              </a:ext>
            </a:extLst>
          </p:cNvPr>
          <p:cNvSpPr>
            <a:spLocks noChangeAspect="1"/>
          </p:cNvSpPr>
          <p:nvPr/>
        </p:nvSpPr>
        <p:spPr>
          <a:xfrm>
            <a:off x="9702148" y="5157614"/>
            <a:ext cx="612980" cy="6129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sp>
        <p:nvSpPr>
          <p:cNvPr id="127" name="Oval 126">
            <a:extLst>
              <a:ext uri="{FF2B5EF4-FFF2-40B4-BE49-F238E27FC236}">
                <a16:creationId xmlns:a16="http://schemas.microsoft.com/office/drawing/2014/main" id="{373D14B3-6CA5-4149-8869-D17904B34A56}"/>
              </a:ext>
            </a:extLst>
          </p:cNvPr>
          <p:cNvSpPr>
            <a:spLocks noChangeAspect="1"/>
          </p:cNvSpPr>
          <p:nvPr/>
        </p:nvSpPr>
        <p:spPr>
          <a:xfrm>
            <a:off x="7651078" y="4093308"/>
            <a:ext cx="612980" cy="6129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sp>
        <p:nvSpPr>
          <p:cNvPr id="128" name="Oval 127">
            <a:extLst>
              <a:ext uri="{FF2B5EF4-FFF2-40B4-BE49-F238E27FC236}">
                <a16:creationId xmlns:a16="http://schemas.microsoft.com/office/drawing/2014/main" id="{F8108F25-F29A-1047-A801-F9558BE24C43}"/>
              </a:ext>
            </a:extLst>
          </p:cNvPr>
          <p:cNvSpPr>
            <a:spLocks noChangeAspect="1"/>
          </p:cNvSpPr>
          <p:nvPr/>
        </p:nvSpPr>
        <p:spPr>
          <a:xfrm>
            <a:off x="9702148" y="4089462"/>
            <a:ext cx="612980" cy="6129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mc:AlternateContent xmlns:mc="http://schemas.openxmlformats.org/markup-compatibility/2006" xmlns:a14="http://schemas.microsoft.com/office/drawing/2010/main">
        <mc:Choice Requires="a14">
          <p:sp>
            <p:nvSpPr>
              <p:cNvPr id="129" name="Rectangle 128">
                <a:extLst>
                  <a:ext uri="{FF2B5EF4-FFF2-40B4-BE49-F238E27FC236}">
                    <a16:creationId xmlns:a16="http://schemas.microsoft.com/office/drawing/2014/main" id="{FBA037F5-B28E-DA4D-965A-E6C23D7A44DD}"/>
                  </a:ext>
                </a:extLst>
              </p:cNvPr>
              <p:cNvSpPr/>
              <p:nvPr/>
            </p:nvSpPr>
            <p:spPr>
              <a:xfrm>
                <a:off x="964989" y="1725776"/>
                <a:ext cx="1010213"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a:latin typeface="Cambria Math" panose="02040503050406030204" pitchFamily="18" charset="0"/>
                            </a:rPr>
                          </m:ctrlPr>
                        </m:dPr>
                        <m:e>
                          <m:r>
                            <a:rPr lang="en-US" sz="3200" i="1">
                              <a:latin typeface="Cambria Math" panose="02040503050406030204" pitchFamily="18" charset="0"/>
                            </a:rPr>
                            <m:t>11</m:t>
                          </m:r>
                        </m:e>
                      </m:d>
                    </m:oMath>
                  </m:oMathPara>
                </a14:m>
                <a:endParaRPr lang="en-US" sz="3200" dirty="0"/>
              </a:p>
            </p:txBody>
          </p:sp>
        </mc:Choice>
        <mc:Fallback xmlns="">
          <p:sp>
            <p:nvSpPr>
              <p:cNvPr id="129" name="Rectangle 128">
                <a:extLst>
                  <a:ext uri="{FF2B5EF4-FFF2-40B4-BE49-F238E27FC236}">
                    <a16:creationId xmlns:a16="http://schemas.microsoft.com/office/drawing/2014/main" id="{FBA037F5-B28E-DA4D-965A-E6C23D7A44DD}"/>
                  </a:ext>
                </a:extLst>
              </p:cNvPr>
              <p:cNvSpPr>
                <a:spLocks noRot="1" noChangeAspect="1" noMove="1" noResize="1" noEditPoints="1" noAdjustHandles="1" noChangeArrowheads="1" noChangeShapeType="1" noTextEdit="1"/>
              </p:cNvSpPr>
              <p:nvPr/>
            </p:nvSpPr>
            <p:spPr>
              <a:xfrm>
                <a:off x="964989" y="1725776"/>
                <a:ext cx="1010213" cy="584775"/>
              </a:xfrm>
              <a:prstGeom prst="rect">
                <a:avLst/>
              </a:prstGeom>
              <a:blipFill>
                <a:blip r:embed="rId3"/>
                <a:stretch>
                  <a:fillRect/>
                </a:stretch>
              </a:blipFill>
            </p:spPr>
            <p:txBody>
              <a:bodyPr/>
              <a:lstStyle/>
              <a:p>
                <a:r>
                  <a:rPr lang="en-US">
                    <a:noFill/>
                  </a:rPr>
                  <a:t> </a:t>
                </a:r>
              </a:p>
            </p:txBody>
          </p:sp>
        </mc:Fallback>
      </mc:AlternateContent>
      <p:sp>
        <p:nvSpPr>
          <p:cNvPr id="48" name="Rectangle 47">
            <a:extLst>
              <a:ext uri="{FF2B5EF4-FFF2-40B4-BE49-F238E27FC236}">
                <a16:creationId xmlns:a16="http://schemas.microsoft.com/office/drawing/2014/main" id="{1AEF3FFC-05BB-E64C-B5AE-B1F589CE7B99}"/>
              </a:ext>
            </a:extLst>
          </p:cNvPr>
          <p:cNvSpPr/>
          <p:nvPr/>
        </p:nvSpPr>
        <p:spPr>
          <a:xfrm>
            <a:off x="2510672" y="2252811"/>
            <a:ext cx="720000" cy="720000"/>
          </a:xfrm>
          <a:prstGeom prst="rect">
            <a:avLst/>
          </a:prstGeom>
          <a:solidFill>
            <a:srgbClr val="33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49" name="Rectangle 48">
            <a:extLst>
              <a:ext uri="{FF2B5EF4-FFF2-40B4-BE49-F238E27FC236}">
                <a16:creationId xmlns:a16="http://schemas.microsoft.com/office/drawing/2014/main" id="{525107BC-542C-9443-819A-5336DCD86743}"/>
              </a:ext>
            </a:extLst>
          </p:cNvPr>
          <p:cNvSpPr/>
          <p:nvPr/>
        </p:nvSpPr>
        <p:spPr>
          <a:xfrm>
            <a:off x="8605295" y="2274915"/>
            <a:ext cx="720000" cy="720000"/>
          </a:xfrm>
          <a:prstGeom prst="rect">
            <a:avLst/>
          </a:prstGeom>
          <a:solidFill>
            <a:srgbClr val="33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50" name="Rectangle 49">
            <a:extLst>
              <a:ext uri="{FF2B5EF4-FFF2-40B4-BE49-F238E27FC236}">
                <a16:creationId xmlns:a16="http://schemas.microsoft.com/office/drawing/2014/main" id="{C7D14C41-57A2-4C4D-8803-1ECE9D2FE8D4}"/>
              </a:ext>
            </a:extLst>
          </p:cNvPr>
          <p:cNvSpPr/>
          <p:nvPr/>
        </p:nvSpPr>
        <p:spPr>
          <a:xfrm>
            <a:off x="2571512" y="5314758"/>
            <a:ext cx="720000" cy="720000"/>
          </a:xfrm>
          <a:prstGeom prst="rect">
            <a:avLst/>
          </a:prstGeom>
          <a:solidFill>
            <a:srgbClr val="33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51" name="Rectangle 50">
            <a:extLst>
              <a:ext uri="{FF2B5EF4-FFF2-40B4-BE49-F238E27FC236}">
                <a16:creationId xmlns:a16="http://schemas.microsoft.com/office/drawing/2014/main" id="{E61BCE0F-8E7C-CA45-8E46-CBD438382F96}"/>
              </a:ext>
            </a:extLst>
          </p:cNvPr>
          <p:cNvSpPr/>
          <p:nvPr/>
        </p:nvSpPr>
        <p:spPr>
          <a:xfrm>
            <a:off x="8685963" y="5157614"/>
            <a:ext cx="720000" cy="720000"/>
          </a:xfrm>
          <a:prstGeom prst="rect">
            <a:avLst/>
          </a:prstGeom>
          <a:solidFill>
            <a:srgbClr val="33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04311AF1-ABBD-5C4C-B9C1-A04DDC76F11D}"/>
                  </a:ext>
                </a:extLst>
              </p:cNvPr>
              <p:cNvSpPr/>
              <p:nvPr/>
            </p:nvSpPr>
            <p:spPr>
              <a:xfrm>
                <a:off x="3716795" y="1725776"/>
                <a:ext cx="131638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11</m:t>
                          </m:r>
                        </m:e>
                      </m:d>
                    </m:oMath>
                  </m:oMathPara>
                </a14:m>
                <a:endParaRPr lang="en-US" sz="3200" dirty="0"/>
              </a:p>
            </p:txBody>
          </p:sp>
        </mc:Choice>
        <mc:Fallback xmlns="">
          <p:sp>
            <p:nvSpPr>
              <p:cNvPr id="52" name="Rectangle 51">
                <a:extLst>
                  <a:ext uri="{FF2B5EF4-FFF2-40B4-BE49-F238E27FC236}">
                    <a16:creationId xmlns:a16="http://schemas.microsoft.com/office/drawing/2014/main" id="{04311AF1-ABBD-5C4C-B9C1-A04DDC76F11D}"/>
                  </a:ext>
                </a:extLst>
              </p:cNvPr>
              <p:cNvSpPr>
                <a:spLocks noRot="1" noChangeAspect="1" noMove="1" noResize="1" noEditPoints="1" noAdjustHandles="1" noChangeArrowheads="1" noChangeShapeType="1" noTextEdit="1"/>
              </p:cNvSpPr>
              <p:nvPr/>
            </p:nvSpPr>
            <p:spPr>
              <a:xfrm>
                <a:off x="3716795" y="1725776"/>
                <a:ext cx="1316386" cy="58477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594B27F6-9CC9-6443-94F2-0B96B666AF34}"/>
                  </a:ext>
                </a:extLst>
              </p:cNvPr>
              <p:cNvSpPr/>
              <p:nvPr/>
            </p:nvSpPr>
            <p:spPr>
              <a:xfrm>
                <a:off x="7007699" y="1725776"/>
                <a:ext cx="1010213"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r>
                            <a:rPr lang="en-US" sz="3200" i="1">
                              <a:latin typeface="Cambria Math" panose="02040503050406030204" pitchFamily="18" charset="0"/>
                            </a:rPr>
                            <m:t>1</m:t>
                          </m:r>
                          <m:r>
                            <a:rPr lang="en-US" sz="3200" b="0" i="1" smtClean="0">
                              <a:latin typeface="Cambria Math" panose="02040503050406030204" pitchFamily="18" charset="0"/>
                            </a:rPr>
                            <m:t>0</m:t>
                          </m:r>
                        </m:e>
                      </m:d>
                    </m:oMath>
                  </m:oMathPara>
                </a14:m>
                <a:endParaRPr lang="en-US" sz="3200" dirty="0"/>
              </a:p>
            </p:txBody>
          </p:sp>
        </mc:Choice>
        <mc:Fallback xmlns="">
          <p:sp>
            <p:nvSpPr>
              <p:cNvPr id="53" name="Rectangle 52">
                <a:extLst>
                  <a:ext uri="{FF2B5EF4-FFF2-40B4-BE49-F238E27FC236}">
                    <a16:creationId xmlns:a16="http://schemas.microsoft.com/office/drawing/2014/main" id="{594B27F6-9CC9-6443-94F2-0B96B666AF34}"/>
                  </a:ext>
                </a:extLst>
              </p:cNvPr>
              <p:cNvSpPr>
                <a:spLocks noRot="1" noChangeAspect="1" noMove="1" noResize="1" noEditPoints="1" noAdjustHandles="1" noChangeArrowheads="1" noChangeShapeType="1" noTextEdit="1"/>
              </p:cNvSpPr>
              <p:nvPr/>
            </p:nvSpPr>
            <p:spPr>
              <a:xfrm>
                <a:off x="7007699" y="1725776"/>
                <a:ext cx="1010213" cy="58477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4D4FDABB-6025-CC4B-9DF9-D0364F960F4D}"/>
                  </a:ext>
                </a:extLst>
              </p:cNvPr>
              <p:cNvSpPr/>
              <p:nvPr/>
            </p:nvSpPr>
            <p:spPr>
              <a:xfrm>
                <a:off x="9759505" y="1725776"/>
                <a:ext cx="131638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1</m:t>
                          </m:r>
                          <m:r>
                            <a:rPr lang="en-US" sz="3200" b="0" i="1" smtClean="0">
                              <a:latin typeface="Cambria Math" panose="02040503050406030204" pitchFamily="18" charset="0"/>
                            </a:rPr>
                            <m:t>0</m:t>
                          </m:r>
                        </m:e>
                      </m:d>
                    </m:oMath>
                  </m:oMathPara>
                </a14:m>
                <a:endParaRPr lang="en-US" sz="3200" dirty="0"/>
              </a:p>
            </p:txBody>
          </p:sp>
        </mc:Choice>
        <mc:Fallback xmlns="">
          <p:sp>
            <p:nvSpPr>
              <p:cNvPr id="54" name="Rectangle 53">
                <a:extLst>
                  <a:ext uri="{FF2B5EF4-FFF2-40B4-BE49-F238E27FC236}">
                    <a16:creationId xmlns:a16="http://schemas.microsoft.com/office/drawing/2014/main" id="{4D4FDABB-6025-CC4B-9DF9-D0364F960F4D}"/>
                  </a:ext>
                </a:extLst>
              </p:cNvPr>
              <p:cNvSpPr>
                <a:spLocks noRot="1" noChangeAspect="1" noMove="1" noResize="1" noEditPoints="1" noAdjustHandles="1" noChangeArrowheads="1" noChangeShapeType="1" noTextEdit="1"/>
              </p:cNvSpPr>
              <p:nvPr/>
            </p:nvSpPr>
            <p:spPr>
              <a:xfrm>
                <a:off x="9759505" y="1725776"/>
                <a:ext cx="1316386" cy="58477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029293F7-D984-B64D-8EE1-CE7C207DFF42}"/>
                  </a:ext>
                </a:extLst>
              </p:cNvPr>
              <p:cNvSpPr/>
              <p:nvPr/>
            </p:nvSpPr>
            <p:spPr>
              <a:xfrm>
                <a:off x="7007699" y="4622778"/>
                <a:ext cx="1010213"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r>
                            <a:rPr lang="en-US" sz="3200" b="0" i="1" smtClean="0">
                              <a:latin typeface="Cambria Math" panose="02040503050406030204" pitchFamily="18" charset="0"/>
                            </a:rPr>
                            <m:t>00</m:t>
                          </m:r>
                        </m:e>
                      </m:d>
                    </m:oMath>
                  </m:oMathPara>
                </a14:m>
                <a:endParaRPr lang="en-US" sz="3200" dirty="0"/>
              </a:p>
            </p:txBody>
          </p:sp>
        </mc:Choice>
        <mc:Fallback xmlns="">
          <p:sp>
            <p:nvSpPr>
              <p:cNvPr id="55" name="Rectangle 54">
                <a:extLst>
                  <a:ext uri="{FF2B5EF4-FFF2-40B4-BE49-F238E27FC236}">
                    <a16:creationId xmlns:a16="http://schemas.microsoft.com/office/drawing/2014/main" id="{029293F7-D984-B64D-8EE1-CE7C207DFF42}"/>
                  </a:ext>
                </a:extLst>
              </p:cNvPr>
              <p:cNvSpPr>
                <a:spLocks noRot="1" noChangeAspect="1" noMove="1" noResize="1" noEditPoints="1" noAdjustHandles="1" noChangeArrowheads="1" noChangeShapeType="1" noTextEdit="1"/>
              </p:cNvSpPr>
              <p:nvPr/>
            </p:nvSpPr>
            <p:spPr>
              <a:xfrm>
                <a:off x="7007699" y="4622778"/>
                <a:ext cx="1010213" cy="58477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5C831093-D961-7644-9E49-CCB4DF309E67}"/>
                  </a:ext>
                </a:extLst>
              </p:cNvPr>
              <p:cNvSpPr/>
              <p:nvPr/>
            </p:nvSpPr>
            <p:spPr>
              <a:xfrm>
                <a:off x="9759505" y="4622777"/>
                <a:ext cx="131638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00</m:t>
                          </m:r>
                        </m:e>
                      </m:d>
                    </m:oMath>
                  </m:oMathPara>
                </a14:m>
                <a:endParaRPr lang="en-US" sz="3200" dirty="0"/>
              </a:p>
            </p:txBody>
          </p:sp>
        </mc:Choice>
        <mc:Fallback xmlns="">
          <p:sp>
            <p:nvSpPr>
              <p:cNvPr id="56" name="Rectangle 55">
                <a:extLst>
                  <a:ext uri="{FF2B5EF4-FFF2-40B4-BE49-F238E27FC236}">
                    <a16:creationId xmlns:a16="http://schemas.microsoft.com/office/drawing/2014/main" id="{5C831093-D961-7644-9E49-CCB4DF309E67}"/>
                  </a:ext>
                </a:extLst>
              </p:cNvPr>
              <p:cNvSpPr>
                <a:spLocks noRot="1" noChangeAspect="1" noMove="1" noResize="1" noEditPoints="1" noAdjustHandles="1" noChangeArrowheads="1" noChangeShapeType="1" noTextEdit="1"/>
              </p:cNvSpPr>
              <p:nvPr/>
            </p:nvSpPr>
            <p:spPr>
              <a:xfrm>
                <a:off x="9759505" y="4622777"/>
                <a:ext cx="1316386" cy="58477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04CCE9BA-3ABF-8F48-8E95-36A14D4CF877}"/>
                  </a:ext>
                </a:extLst>
              </p:cNvPr>
              <p:cNvSpPr/>
              <p:nvPr/>
            </p:nvSpPr>
            <p:spPr>
              <a:xfrm>
                <a:off x="927578" y="4928317"/>
                <a:ext cx="1010213"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r>
                            <a:rPr lang="en-US" sz="3200" b="0" i="1" smtClean="0">
                              <a:latin typeface="Cambria Math" panose="02040503050406030204" pitchFamily="18" charset="0"/>
                            </a:rPr>
                            <m:t>0</m:t>
                          </m:r>
                          <m:r>
                            <a:rPr lang="en-US" sz="3200" i="1">
                              <a:latin typeface="Cambria Math" panose="02040503050406030204" pitchFamily="18" charset="0"/>
                            </a:rPr>
                            <m:t>1</m:t>
                          </m:r>
                        </m:e>
                      </m:d>
                    </m:oMath>
                  </m:oMathPara>
                </a14:m>
                <a:endParaRPr lang="en-US" sz="3200" dirty="0"/>
              </a:p>
            </p:txBody>
          </p:sp>
        </mc:Choice>
        <mc:Fallback xmlns="">
          <p:sp>
            <p:nvSpPr>
              <p:cNvPr id="57" name="Rectangle 56">
                <a:extLst>
                  <a:ext uri="{FF2B5EF4-FFF2-40B4-BE49-F238E27FC236}">
                    <a16:creationId xmlns:a16="http://schemas.microsoft.com/office/drawing/2014/main" id="{04CCE9BA-3ABF-8F48-8E95-36A14D4CF877}"/>
                  </a:ext>
                </a:extLst>
              </p:cNvPr>
              <p:cNvSpPr>
                <a:spLocks noRot="1" noChangeAspect="1" noMove="1" noResize="1" noEditPoints="1" noAdjustHandles="1" noChangeArrowheads="1" noChangeShapeType="1" noTextEdit="1"/>
              </p:cNvSpPr>
              <p:nvPr/>
            </p:nvSpPr>
            <p:spPr>
              <a:xfrm>
                <a:off x="927578" y="4928317"/>
                <a:ext cx="1010213" cy="58477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06168197-F7A1-D842-93CF-50FC296631D7}"/>
                  </a:ext>
                </a:extLst>
              </p:cNvPr>
              <p:cNvSpPr/>
              <p:nvPr/>
            </p:nvSpPr>
            <p:spPr>
              <a:xfrm>
                <a:off x="3679384" y="4928316"/>
                <a:ext cx="131638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0</m:t>
                          </m:r>
                          <m:r>
                            <a:rPr lang="en-US" sz="3200" i="1">
                              <a:latin typeface="Cambria Math" panose="02040503050406030204" pitchFamily="18" charset="0"/>
                            </a:rPr>
                            <m:t>1</m:t>
                          </m:r>
                        </m:e>
                      </m:d>
                    </m:oMath>
                  </m:oMathPara>
                </a14:m>
                <a:endParaRPr lang="en-US" sz="3200" dirty="0"/>
              </a:p>
            </p:txBody>
          </p:sp>
        </mc:Choice>
        <mc:Fallback xmlns="">
          <p:sp>
            <p:nvSpPr>
              <p:cNvPr id="58" name="Rectangle 57">
                <a:extLst>
                  <a:ext uri="{FF2B5EF4-FFF2-40B4-BE49-F238E27FC236}">
                    <a16:creationId xmlns:a16="http://schemas.microsoft.com/office/drawing/2014/main" id="{06168197-F7A1-D842-93CF-50FC296631D7}"/>
                  </a:ext>
                </a:extLst>
              </p:cNvPr>
              <p:cNvSpPr>
                <a:spLocks noRot="1" noChangeAspect="1" noMove="1" noResize="1" noEditPoints="1" noAdjustHandles="1" noChangeArrowheads="1" noChangeShapeType="1" noTextEdit="1"/>
              </p:cNvSpPr>
              <p:nvPr/>
            </p:nvSpPr>
            <p:spPr>
              <a:xfrm>
                <a:off x="3679384" y="4928316"/>
                <a:ext cx="1316386" cy="584775"/>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06335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B2810C4-AB6A-D44D-AF66-C6060E12A29E}"/>
              </a:ext>
            </a:extLst>
          </p:cNvPr>
          <p:cNvSpPr>
            <a:spLocks noGrp="1"/>
          </p:cNvSpPr>
          <p:nvPr>
            <p:ph type="sldNum" sz="quarter" idx="12"/>
          </p:nvPr>
        </p:nvSpPr>
        <p:spPr/>
        <p:txBody>
          <a:bodyPr/>
          <a:lstStyle/>
          <a:p>
            <a:fld id="{D0A7A90D-170E-2F4F-8861-97D6C3C25EEF}" type="slidenum">
              <a:rPr lang="en-US" smtClean="0"/>
              <a:t>12</a:t>
            </a:fld>
            <a:endParaRPr lang="en-US"/>
          </a:p>
        </p:txBody>
      </p:sp>
      <p:sp>
        <p:nvSpPr>
          <p:cNvPr id="2" name="Title 1">
            <a:extLst>
              <a:ext uri="{FF2B5EF4-FFF2-40B4-BE49-F238E27FC236}">
                <a16:creationId xmlns:a16="http://schemas.microsoft.com/office/drawing/2014/main" id="{67E63BAB-27BE-1F40-9EE6-8BB028388DCB}"/>
              </a:ext>
            </a:extLst>
          </p:cNvPr>
          <p:cNvSpPr>
            <a:spLocks noGrp="1"/>
          </p:cNvSpPr>
          <p:nvPr>
            <p:ph type="title"/>
          </p:nvPr>
        </p:nvSpPr>
        <p:spPr/>
        <p:txBody>
          <a:bodyPr>
            <a:normAutofit/>
          </a:bodyPr>
          <a:lstStyle/>
          <a:p>
            <a:r>
              <a:rPr lang="en-US" dirty="0"/>
              <a:t>Step 3: </a:t>
            </a:r>
            <a:r>
              <a:rPr lang="en-ZA" dirty="0"/>
              <a:t>Amplitude Amplification</a:t>
            </a:r>
            <a:endParaRPr lang="en-US" dirty="0"/>
          </a:p>
        </p:txBody>
      </p:sp>
      <p:pic>
        <p:nvPicPr>
          <p:cNvPr id="8" name="Picture 7">
            <a:extLst>
              <a:ext uri="{FF2B5EF4-FFF2-40B4-BE49-F238E27FC236}">
                <a16:creationId xmlns:a16="http://schemas.microsoft.com/office/drawing/2014/main" id="{C83DCAC2-839D-F441-AEDC-9AF0F54D3BBE}"/>
              </a:ext>
            </a:extLst>
          </p:cNvPr>
          <p:cNvPicPr>
            <a:picLocks noChangeAspect="1"/>
          </p:cNvPicPr>
          <p:nvPr/>
        </p:nvPicPr>
        <p:blipFill>
          <a:blip r:embed="rId3"/>
          <a:stretch>
            <a:fillRect/>
          </a:stretch>
        </p:blipFill>
        <p:spPr>
          <a:xfrm>
            <a:off x="496178" y="1318435"/>
            <a:ext cx="4793021" cy="4465548"/>
          </a:xfrm>
          <a:prstGeom prst="rect">
            <a:avLst/>
          </a:prstGeom>
        </p:spPr>
      </p:pic>
      <p:grpSp>
        <p:nvGrpSpPr>
          <p:cNvPr id="3" name="Group 2">
            <a:extLst>
              <a:ext uri="{FF2B5EF4-FFF2-40B4-BE49-F238E27FC236}">
                <a16:creationId xmlns:a16="http://schemas.microsoft.com/office/drawing/2014/main" id="{7F2ABB0C-9BFD-5041-8213-639607E64EFA}"/>
              </a:ext>
            </a:extLst>
          </p:cNvPr>
          <p:cNvGrpSpPr/>
          <p:nvPr/>
        </p:nvGrpSpPr>
        <p:grpSpPr>
          <a:xfrm>
            <a:off x="5435023" y="1318435"/>
            <a:ext cx="5421715" cy="4361262"/>
            <a:chOff x="5435023" y="2052953"/>
            <a:chExt cx="5421715" cy="4361262"/>
          </a:xfrm>
        </p:grpSpPr>
        <p:pic>
          <p:nvPicPr>
            <p:cNvPr id="5" name="Picture 4">
              <a:extLst>
                <a:ext uri="{FF2B5EF4-FFF2-40B4-BE49-F238E27FC236}">
                  <a16:creationId xmlns:a16="http://schemas.microsoft.com/office/drawing/2014/main" id="{64230E64-1D93-9545-9165-09C6EA126666}"/>
                </a:ext>
              </a:extLst>
            </p:cNvPr>
            <p:cNvPicPr>
              <a:picLocks noChangeAspect="1"/>
            </p:cNvPicPr>
            <p:nvPr/>
          </p:nvPicPr>
          <p:blipFill>
            <a:blip r:embed="rId4"/>
            <a:stretch>
              <a:fillRect/>
            </a:stretch>
          </p:blipFill>
          <p:spPr>
            <a:xfrm>
              <a:off x="6655816" y="2052953"/>
              <a:ext cx="4200922" cy="4361262"/>
            </a:xfrm>
            <a:prstGeom prst="rect">
              <a:avLst/>
            </a:prstGeom>
          </p:spPr>
        </p:pic>
        <p:sp>
          <p:nvSpPr>
            <p:cNvPr id="6" name="Left Arrow 5">
              <a:extLst>
                <a:ext uri="{FF2B5EF4-FFF2-40B4-BE49-F238E27FC236}">
                  <a16:creationId xmlns:a16="http://schemas.microsoft.com/office/drawing/2014/main" id="{DC5CB219-7356-7D4A-96F3-3F93D7270D43}"/>
                </a:ext>
              </a:extLst>
            </p:cNvPr>
            <p:cNvSpPr/>
            <p:nvPr/>
          </p:nvSpPr>
          <p:spPr>
            <a:xfrm rot="10800000">
              <a:off x="5435023" y="4012881"/>
              <a:ext cx="929148" cy="545691"/>
            </a:xfrm>
            <a:prstGeom prst="lef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080E5BBA-5B23-C247-814B-3A47B1C4B034}"/>
                  </a:ext>
                </a:extLst>
              </p:cNvPr>
              <p:cNvSpPr/>
              <p:nvPr/>
            </p:nvSpPr>
            <p:spPr>
              <a:xfrm>
                <a:off x="1282143" y="5763325"/>
                <a:ext cx="3377271" cy="10229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𝑚</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oMath>
                  </m:oMathPara>
                </a14:m>
                <a:endParaRPr lang="en-US" sz="2400" dirty="0"/>
              </a:p>
            </p:txBody>
          </p:sp>
        </mc:Choice>
        <mc:Fallback xmlns="">
          <p:sp>
            <p:nvSpPr>
              <p:cNvPr id="9" name="Rectangle 8">
                <a:extLst>
                  <a:ext uri="{FF2B5EF4-FFF2-40B4-BE49-F238E27FC236}">
                    <a16:creationId xmlns:a16="http://schemas.microsoft.com/office/drawing/2014/main" id="{080E5BBA-5B23-C247-814B-3A47B1C4B034}"/>
                  </a:ext>
                </a:extLst>
              </p:cNvPr>
              <p:cNvSpPr>
                <a:spLocks noRot="1" noChangeAspect="1" noMove="1" noResize="1" noEditPoints="1" noAdjustHandles="1" noChangeArrowheads="1" noChangeShapeType="1" noTextEdit="1"/>
              </p:cNvSpPr>
              <p:nvPr/>
            </p:nvSpPr>
            <p:spPr>
              <a:xfrm>
                <a:off x="1282143" y="5763325"/>
                <a:ext cx="3377271" cy="1022972"/>
              </a:xfrm>
              <a:prstGeom prst="rect">
                <a:avLst/>
              </a:prstGeom>
              <a:blipFill>
                <a:blip r:embed="rId5"/>
                <a:stretch>
                  <a:fillRect b="-4938"/>
                </a:stretch>
              </a:blipFill>
            </p:spPr>
            <p:txBody>
              <a:bodyPr/>
              <a:lstStyle/>
              <a:p>
                <a:r>
                  <a:rPr lang="en-US">
                    <a:noFill/>
                  </a:rPr>
                  <a:t> </a:t>
                </a:r>
              </a:p>
            </p:txBody>
          </p:sp>
        </mc:Fallback>
      </mc:AlternateContent>
    </p:spTree>
    <p:extLst>
      <p:ext uri="{BB962C8B-B14F-4D97-AF65-F5344CB8AC3E}">
        <p14:creationId xmlns:p14="http://schemas.microsoft.com/office/powerpoint/2010/main" val="3372285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CA30E2C-2CA6-E34C-8AFD-88FB6C1224E2}"/>
              </a:ext>
            </a:extLst>
          </p:cNvPr>
          <p:cNvSpPr>
            <a:spLocks noGrp="1"/>
          </p:cNvSpPr>
          <p:nvPr>
            <p:ph type="sldNum" sz="quarter" idx="12"/>
          </p:nvPr>
        </p:nvSpPr>
        <p:spPr/>
        <p:txBody>
          <a:bodyPr/>
          <a:lstStyle/>
          <a:p>
            <a:fld id="{D0A7A90D-170E-2F4F-8861-97D6C3C25EEF}" type="slidenum">
              <a:rPr lang="en-US" smtClean="0"/>
              <a:t>13</a:t>
            </a:fld>
            <a:endParaRPr lang="en-US"/>
          </a:p>
        </p:txBody>
      </p:sp>
      <p:sp>
        <p:nvSpPr>
          <p:cNvPr id="2" name="Title 1">
            <a:extLst>
              <a:ext uri="{FF2B5EF4-FFF2-40B4-BE49-F238E27FC236}">
                <a16:creationId xmlns:a16="http://schemas.microsoft.com/office/drawing/2014/main" id="{BB58FF8D-902D-F942-835C-553DA06DCF37}"/>
              </a:ext>
            </a:extLst>
          </p:cNvPr>
          <p:cNvSpPr>
            <a:spLocks noGrp="1"/>
          </p:cNvSpPr>
          <p:nvPr>
            <p:ph type="title"/>
          </p:nvPr>
        </p:nvSpPr>
        <p:spPr/>
        <p:txBody>
          <a:bodyPr>
            <a:normAutofit/>
          </a:bodyPr>
          <a:lstStyle/>
          <a:p>
            <a:r>
              <a:rPr lang="en-US" dirty="0"/>
              <a:t>Step 3: </a:t>
            </a:r>
            <a:r>
              <a:rPr lang="en-ZA" dirty="0"/>
              <a:t>Diffusion Operator: Inversion About the Mean</a:t>
            </a:r>
            <a:endParaRPr lang="en-US" dirty="0"/>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7318FBC0-049F-5549-B0D4-3AA0BB3A1254}"/>
                  </a:ext>
                </a:extLst>
              </p:cNvPr>
              <p:cNvSpPr/>
              <p:nvPr/>
            </p:nvSpPr>
            <p:spPr>
              <a:xfrm>
                <a:off x="93799" y="5731430"/>
                <a:ext cx="4246291"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200" b="0" i="0" smtClean="0">
                          <a:latin typeface="Cambria Math" panose="02040503050406030204" pitchFamily="18" charset="0"/>
                        </a:rPr>
                        <m:t>reflection</m:t>
                      </m:r>
                      <m:r>
                        <a:rPr lang="en-US" sz="2200" b="0" i="1" smtClean="0">
                          <a:latin typeface="Cambria Math" panose="02040503050406030204" pitchFamily="18" charset="0"/>
                        </a:rPr>
                        <m:t>: </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𝑥</m:t>
                          </m:r>
                          <m:r>
                            <a:rPr lang="en-US" sz="2200" b="0" i="1" smtClean="0">
                              <a:latin typeface="Cambria Math" panose="02040503050406030204" pitchFamily="18" charset="0"/>
                            </a:rPr>
                            <m:t>,</m:t>
                          </m:r>
                          <m:r>
                            <a:rPr lang="en-US" sz="2200" b="0" i="1" smtClean="0">
                              <a:latin typeface="Cambria Math" panose="02040503050406030204" pitchFamily="18" charset="0"/>
                            </a:rPr>
                            <m:t>𝑦</m:t>
                          </m:r>
                        </m:e>
                      </m:d>
                      <m:r>
                        <a:rPr lang="en-US" sz="2200" b="0" i="1" smtClean="0">
                          <a:latin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m:t>
                      </m:r>
                      <m:d>
                        <m:dPr>
                          <m:ctrlPr>
                            <a:rPr lang="en-US" sz="2200" i="1">
                              <a:latin typeface="Cambria Math" panose="02040503050406030204" pitchFamily="18" charset="0"/>
                            </a:rPr>
                          </m:ctrlPr>
                        </m:dPr>
                        <m:e>
                          <m:r>
                            <a:rPr lang="en-US" sz="2200" i="1">
                              <a:latin typeface="Cambria Math" panose="02040503050406030204" pitchFamily="18" charset="0"/>
                            </a:rPr>
                            <m:t>𝑥</m:t>
                          </m:r>
                          <m:r>
                            <a:rPr lang="en-US" sz="2200" i="1">
                              <a:latin typeface="Cambria Math" panose="02040503050406030204" pitchFamily="18" charset="0"/>
                            </a:rPr>
                            <m:t>,2</m:t>
                          </m:r>
                          <m:r>
                            <a:rPr lang="en-US" sz="2200" b="0" i="1" smtClean="0">
                              <a:latin typeface="Cambria Math" panose="02040503050406030204" pitchFamily="18" charset="0"/>
                            </a:rPr>
                            <m:t>𝑚</m:t>
                          </m:r>
                          <m:r>
                            <a:rPr lang="en-US" sz="2200" b="0" i="1" smtClean="0">
                              <a:latin typeface="Cambria Math" panose="02040503050406030204" pitchFamily="18" charset="0"/>
                            </a:rPr>
                            <m:t>−</m:t>
                          </m:r>
                          <m:r>
                            <a:rPr lang="en-US" sz="2200" b="0" i="1" smtClean="0">
                              <a:latin typeface="Cambria Math" panose="02040503050406030204" pitchFamily="18" charset="0"/>
                            </a:rPr>
                            <m:t>𝑦</m:t>
                          </m:r>
                        </m:e>
                      </m:d>
                    </m:oMath>
                  </m:oMathPara>
                </a14:m>
                <a:endParaRPr lang="en-US" sz="2200" dirty="0"/>
              </a:p>
            </p:txBody>
          </p:sp>
        </mc:Choice>
        <mc:Fallback xmlns="">
          <p:sp>
            <p:nvSpPr>
              <p:cNvPr id="10" name="Rectangle 9">
                <a:extLst>
                  <a:ext uri="{FF2B5EF4-FFF2-40B4-BE49-F238E27FC236}">
                    <a16:creationId xmlns:a16="http://schemas.microsoft.com/office/drawing/2014/main" id="{7318FBC0-049F-5549-B0D4-3AA0BB3A1254}"/>
                  </a:ext>
                </a:extLst>
              </p:cNvPr>
              <p:cNvSpPr>
                <a:spLocks noRot="1" noChangeAspect="1" noMove="1" noResize="1" noEditPoints="1" noAdjustHandles="1" noChangeArrowheads="1" noChangeShapeType="1" noTextEdit="1"/>
              </p:cNvSpPr>
              <p:nvPr/>
            </p:nvSpPr>
            <p:spPr>
              <a:xfrm>
                <a:off x="93799" y="5731430"/>
                <a:ext cx="4246291" cy="430887"/>
              </a:xfrm>
              <a:prstGeom prst="rect">
                <a:avLst/>
              </a:prstGeom>
              <a:blipFill>
                <a:blip r:embed="rId3"/>
                <a:stretch>
                  <a:fillRect b="-20000"/>
                </a:stretch>
              </a:blipFill>
            </p:spPr>
            <p:txBody>
              <a:bodyPr/>
              <a:lstStyle/>
              <a:p>
                <a:r>
                  <a:rPr lang="en-US">
                    <a:noFill/>
                  </a:rPr>
                  <a:t> </a:t>
                </a:r>
              </a:p>
            </p:txBody>
          </p:sp>
        </mc:Fallback>
      </mc:AlternateContent>
      <p:pic>
        <p:nvPicPr>
          <p:cNvPr id="40" name="Picture 39">
            <a:extLst>
              <a:ext uri="{FF2B5EF4-FFF2-40B4-BE49-F238E27FC236}">
                <a16:creationId xmlns:a16="http://schemas.microsoft.com/office/drawing/2014/main" id="{1B8F17AF-3245-AF40-8371-B464530CDED1}"/>
              </a:ext>
            </a:extLst>
          </p:cNvPr>
          <p:cNvPicPr>
            <a:picLocks noChangeAspect="1"/>
          </p:cNvPicPr>
          <p:nvPr/>
        </p:nvPicPr>
        <p:blipFill>
          <a:blip r:embed="rId4"/>
          <a:stretch>
            <a:fillRect/>
          </a:stretch>
        </p:blipFill>
        <p:spPr>
          <a:xfrm>
            <a:off x="93799" y="1609295"/>
            <a:ext cx="4433452" cy="3656972"/>
          </a:xfrm>
          <a:prstGeom prst="rect">
            <a:avLst/>
          </a:prstGeom>
        </p:spPr>
      </p:pic>
      <p:grpSp>
        <p:nvGrpSpPr>
          <p:cNvPr id="14" name="Group 13">
            <a:extLst>
              <a:ext uri="{FF2B5EF4-FFF2-40B4-BE49-F238E27FC236}">
                <a16:creationId xmlns:a16="http://schemas.microsoft.com/office/drawing/2014/main" id="{6B58469A-2196-B940-AAA5-F4763DEBAFD1}"/>
              </a:ext>
            </a:extLst>
          </p:cNvPr>
          <p:cNvGrpSpPr/>
          <p:nvPr/>
        </p:nvGrpSpPr>
        <p:grpSpPr>
          <a:xfrm>
            <a:off x="5542047" y="1670758"/>
            <a:ext cx="6157711" cy="1471941"/>
            <a:chOff x="7078477" y="786414"/>
            <a:chExt cx="6157711" cy="1471941"/>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D409C90-F905-A34D-B64F-EB2ABD84EA59}"/>
                    </a:ext>
                  </a:extLst>
                </p:cNvPr>
                <p:cNvSpPr/>
                <p:nvPr/>
              </p:nvSpPr>
              <p:spPr>
                <a:xfrm>
                  <a:off x="7078477" y="786414"/>
                  <a:ext cx="5442974" cy="1471941"/>
                </a:xfrm>
                <a:prstGeom prst="rect">
                  <a:avLst/>
                </a:prstGeom>
              </p:spPr>
              <p:txBody>
                <a:bodyPr wrap="square">
                  <a:spAutoFit/>
                </a:bodyPr>
                <a:lstStyle/>
                <a:p>
                  <a:r>
                    <a:rPr lang="en-US" sz="2400" i="1" dirty="0"/>
                    <a:t>D</a:t>
                  </a:r>
                  <a:r>
                    <a:rPr lang="en-US" sz="2400" dirty="0"/>
                    <a:t> </a:t>
                  </a:r>
                  <a14:m>
                    <m:oMath xmlns:m="http://schemas.openxmlformats.org/officeDocument/2006/math">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𝑎</m:t>
                                </m:r>
                                <m:r>
                                  <a:rPr lang="en-US" sz="2400" i="1" baseline="-25000">
                                    <a:latin typeface="Cambria Math" panose="02040503050406030204" pitchFamily="18" charset="0"/>
                                  </a:rPr>
                                  <m:t>1</m:t>
                                </m:r>
                              </m:e>
                            </m:mr>
                            <m:mr>
                              <m:e>
                                <m:r>
                                  <a:rPr lang="en-US" sz="2400" i="1">
                                    <a:latin typeface="Cambria Math" panose="02040503050406030204" pitchFamily="18" charset="0"/>
                                  </a:rPr>
                                  <m:t>𝑎</m:t>
                                </m:r>
                                <m:r>
                                  <a:rPr lang="en-US" sz="2400" i="1" baseline="-25000">
                                    <a:latin typeface="Cambria Math" panose="02040503050406030204" pitchFamily="18" charset="0"/>
                                  </a:rPr>
                                  <m:t>2</m:t>
                                </m:r>
                              </m:e>
                            </m:mr>
                            <m:mr>
                              <m:e>
                                <m:r>
                                  <a:rPr lang="en-US" sz="2400">
                                    <a:latin typeface="Cambria Math" panose="02040503050406030204" pitchFamily="18" charset="0"/>
                                  </a:rPr>
                                  <m:t>…</m:t>
                                </m:r>
                              </m:e>
                            </m:mr>
                            <m:mr>
                              <m:e>
                                <m:r>
                                  <a:rPr lang="en-US" sz="2400" i="1">
                                    <a:latin typeface="Cambria Math" panose="02040503050406030204" pitchFamily="18" charset="0"/>
                                  </a:rPr>
                                  <m:t>𝑎</m:t>
                                </m:r>
                                <m:r>
                                  <a:rPr lang="en-US" sz="2400" i="1" baseline="-25000">
                                    <a:latin typeface="Cambria Math" panose="02040503050406030204" pitchFamily="18" charset="0"/>
                                  </a:rPr>
                                  <m:t>𝑁</m:t>
                                </m:r>
                              </m:e>
                            </m:mr>
                          </m:m>
                        </m:e>
                      </m:d>
                    </m:oMath>
                  </a14:m>
                  <a:r>
                    <a:rPr lang="en-US" sz="2400" dirty="0"/>
                    <a:t> = </a:t>
                  </a:r>
                  <a14:m>
                    <m:oMath xmlns:m="http://schemas.openxmlformats.org/officeDocument/2006/math">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b="0" i="1" smtClean="0">
                                    <a:latin typeface="Cambria Math" panose="02040503050406030204" pitchFamily="18" charset="0"/>
                                  </a:rPr>
                                  <m:t>2</m:t>
                                </m:r>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i="1">
                                    <a:latin typeface="Cambria Math" panose="02040503050406030204" pitchFamily="18" charset="0"/>
                                  </a:rPr>
                                  <m:t>𝑎</m:t>
                                </m:r>
                                <m:r>
                                  <a:rPr lang="en-US" sz="2400" i="1" baseline="-25000">
                                    <a:latin typeface="Cambria Math" panose="02040503050406030204" pitchFamily="18" charset="0"/>
                                  </a:rPr>
                                  <m:t>1</m:t>
                                </m:r>
                              </m:e>
                            </m:mr>
                            <m:mr>
                              <m:e>
                                <m:r>
                                  <a:rPr lang="en-US" sz="2400" b="0" i="1" smtClean="0">
                                    <a:latin typeface="Cambria Math" panose="02040503050406030204" pitchFamily="18" charset="0"/>
                                  </a:rPr>
                                  <m:t>2</m:t>
                                </m:r>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i="1">
                                    <a:latin typeface="Cambria Math" panose="02040503050406030204" pitchFamily="18" charset="0"/>
                                  </a:rPr>
                                  <m:t>𝑎</m:t>
                                </m:r>
                                <m:r>
                                  <a:rPr lang="en-US" sz="2400" i="1" baseline="-25000">
                                    <a:latin typeface="Cambria Math" panose="02040503050406030204" pitchFamily="18" charset="0"/>
                                  </a:rPr>
                                  <m:t>2</m:t>
                                </m:r>
                              </m:e>
                            </m:mr>
                            <m:mr>
                              <m:e>
                                <m:r>
                                  <a:rPr lang="en-US" sz="2400">
                                    <a:latin typeface="Cambria Math" panose="02040503050406030204" pitchFamily="18" charset="0"/>
                                  </a:rPr>
                                  <m:t>…</m:t>
                                </m:r>
                              </m:e>
                            </m:mr>
                            <m:mr>
                              <m:e>
                                <m:r>
                                  <a:rPr lang="en-US" sz="2400" b="0" i="1" smtClean="0">
                                    <a:latin typeface="Cambria Math" panose="02040503050406030204" pitchFamily="18" charset="0"/>
                                  </a:rPr>
                                  <m:t>2</m:t>
                                </m:r>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i="1">
                                    <a:latin typeface="Cambria Math" panose="02040503050406030204" pitchFamily="18" charset="0"/>
                                  </a:rPr>
                                  <m:t>𝑎</m:t>
                                </m:r>
                                <m:r>
                                  <a:rPr lang="en-US" sz="2400" i="1" baseline="-25000">
                                    <a:latin typeface="Cambria Math" panose="02040503050406030204" pitchFamily="18" charset="0"/>
                                  </a:rPr>
                                  <m:t>𝑁</m:t>
                                </m:r>
                              </m:e>
                            </m:mr>
                          </m:m>
                        </m:e>
                      </m:d>
                      <m:r>
                        <a:rPr lang="en-US" sz="2400" b="0" i="1" smtClean="0">
                          <a:latin typeface="Cambria Math" panose="02040503050406030204" pitchFamily="18" charset="0"/>
                        </a:rPr>
                        <m:t>,     </m:t>
                      </m:r>
                      <m:r>
                        <a:rPr lang="en-US" sz="2400" b="0" i="1" smtClean="0">
                          <a:latin typeface="Cambria Math" panose="02040503050406030204" pitchFamily="18" charset="0"/>
                        </a:rPr>
                        <m:t>𝑚</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𝑁</m:t>
                          </m:r>
                        </m:den>
                      </m:f>
                      <m:nary>
                        <m:naryPr>
                          <m:chr m:val="∑"/>
                          <m:ctrlPr>
                            <a:rPr lang="en-US" sz="2400" i="1">
                              <a:latin typeface="Cambria Math" panose="02040503050406030204" pitchFamily="18" charset="0"/>
                            </a:rPr>
                          </m:ctrlPr>
                        </m:naryPr>
                        <m:sub>
                          <m:r>
                            <a:rPr lang="en-US" sz="2400" b="0" i="1" smtClean="0">
                              <a:latin typeface="Cambria Math" panose="02040503050406030204" pitchFamily="18" charset="0"/>
                            </a:rPr>
                            <m:t>𝑗</m:t>
                          </m:r>
                          <m:r>
                            <a:rPr lang="en-US" sz="2400" i="1">
                              <a:latin typeface="Cambria Math" panose="02040503050406030204" pitchFamily="18" charset="0"/>
                            </a:rPr>
                            <m:t>=</m:t>
                          </m:r>
                          <m:r>
                            <a:rPr lang="en-US" sz="2400" b="0" i="1" smtClean="0">
                              <a:latin typeface="Cambria Math" panose="02040503050406030204" pitchFamily="18" charset="0"/>
                            </a:rPr>
                            <m:t>0</m:t>
                          </m:r>
                        </m:sub>
                        <m:sup>
                          <m:r>
                            <a:rPr lang="en-US" sz="2400" i="1">
                              <a:latin typeface="Cambria Math" panose="02040503050406030204" pitchFamily="18" charset="0"/>
                            </a:rPr>
                            <m:t>𝑁</m:t>
                          </m:r>
                          <m:r>
                            <a:rPr lang="en-US" sz="2400" b="0" i="1" smtClean="0">
                              <a:latin typeface="Cambria Math" panose="02040503050406030204" pitchFamily="18" charset="0"/>
                            </a:rPr>
                            <m:t>−1</m:t>
                          </m:r>
                        </m:sup>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𝑗</m:t>
                              </m:r>
                            </m:sub>
                          </m:sSub>
                        </m:e>
                      </m:nary>
                    </m:oMath>
                  </a14:m>
                  <a:endParaRPr lang="en-US" sz="2400" dirty="0"/>
                </a:p>
              </p:txBody>
            </p:sp>
          </mc:Choice>
          <mc:Fallback xmlns="">
            <p:sp>
              <p:nvSpPr>
                <p:cNvPr id="8" name="Rectangle 7">
                  <a:extLst>
                    <a:ext uri="{FF2B5EF4-FFF2-40B4-BE49-F238E27FC236}">
                      <a16:creationId xmlns:a16="http://schemas.microsoft.com/office/drawing/2014/main" id="{9D409C90-F905-A34D-B64F-EB2ABD84EA59}"/>
                    </a:ext>
                  </a:extLst>
                </p:cNvPr>
                <p:cNvSpPr>
                  <a:spLocks noRot="1" noChangeAspect="1" noMove="1" noResize="1" noEditPoints="1" noAdjustHandles="1" noChangeArrowheads="1" noChangeShapeType="1" noTextEdit="1"/>
                </p:cNvSpPr>
                <p:nvPr/>
              </p:nvSpPr>
              <p:spPr>
                <a:xfrm>
                  <a:off x="7078477" y="786414"/>
                  <a:ext cx="5442974" cy="1471941"/>
                </a:xfrm>
                <a:prstGeom prst="rect">
                  <a:avLst/>
                </a:prstGeom>
                <a:blipFill>
                  <a:blip r:embed="rId5"/>
                  <a:stretch>
                    <a:fillRect l="-1628" t="-7826" b="-2695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484D939-8BFE-2F4A-A6AA-4979BBABF2D2}"/>
                </a:ext>
              </a:extLst>
            </p:cNvPr>
            <p:cNvSpPr txBox="1"/>
            <p:nvPr/>
          </p:nvSpPr>
          <p:spPr>
            <a:xfrm>
              <a:off x="12710082" y="1164000"/>
              <a:ext cx="526106" cy="461665"/>
            </a:xfrm>
            <a:prstGeom prst="rect">
              <a:avLst/>
            </a:prstGeom>
            <a:noFill/>
          </p:spPr>
          <p:txBody>
            <a:bodyPr wrap="none" rtlCol="0">
              <a:spAutoFit/>
            </a:bodyPr>
            <a:lstStyle/>
            <a:p>
              <a:r>
                <a:rPr lang="en-US" sz="2400" dirty="0"/>
                <a:t>(1)</a:t>
              </a:r>
            </a:p>
          </p:txBody>
        </p:sp>
      </p:grpSp>
      <p:grpSp>
        <p:nvGrpSpPr>
          <p:cNvPr id="16" name="Group 15">
            <a:extLst>
              <a:ext uri="{FF2B5EF4-FFF2-40B4-BE49-F238E27FC236}">
                <a16:creationId xmlns:a16="http://schemas.microsoft.com/office/drawing/2014/main" id="{0F3431F4-3109-A44E-B881-6086365C75E8}"/>
              </a:ext>
            </a:extLst>
          </p:cNvPr>
          <p:cNvGrpSpPr/>
          <p:nvPr/>
        </p:nvGrpSpPr>
        <p:grpSpPr>
          <a:xfrm>
            <a:off x="5569894" y="3884770"/>
            <a:ext cx="6129864" cy="2062103"/>
            <a:chOff x="6557430" y="4409874"/>
            <a:chExt cx="6129864" cy="2062103"/>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4EE0D2F-BC25-4A44-B127-1CA34BAC7AF3}"/>
                    </a:ext>
                  </a:extLst>
                </p:cNvPr>
                <p:cNvSpPr/>
                <p:nvPr/>
              </p:nvSpPr>
              <p:spPr>
                <a:xfrm>
                  <a:off x="6557430" y="4409874"/>
                  <a:ext cx="4643835" cy="2062103"/>
                </a:xfrm>
                <a:prstGeom prst="rect">
                  <a:avLst/>
                </a:prstGeom>
              </p:spPr>
              <p:txBody>
                <a:bodyPr wrap="none">
                  <a:spAutoFit/>
                </a:bodyPr>
                <a:lstStyle/>
                <a:p>
                  <a14:m>
                    <m:oMath xmlns:m="http://schemas.openxmlformats.org/officeDocument/2006/math">
                      <m:r>
                        <a:rPr lang="en-US" sz="2400" b="0" i="1" smtClean="0">
                          <a:latin typeface="Cambria Math" panose="02040503050406030204" pitchFamily="18" charset="0"/>
                        </a:rPr>
                        <m:t>𝐷</m:t>
                      </m:r>
                      <m:r>
                        <a:rPr lang="en-US" sz="2400" b="0" i="0" smtClean="0">
                          <a:latin typeface="Cambria Math" panose="02040503050406030204" pitchFamily="18" charset="0"/>
                        </a:rPr>
                        <m:t>=</m:t>
                      </m:r>
                      <m:d>
                        <m:dPr>
                          <m:ctrlPr>
                            <a:rPr lang="en-US" sz="2400" i="1">
                              <a:latin typeface="Cambria Math" panose="02040503050406030204" pitchFamily="18" charset="0"/>
                            </a:rPr>
                          </m:ctrlPr>
                        </m:dPr>
                        <m:e>
                          <m:m>
                            <m:mPr>
                              <m:mcs>
                                <m:mc>
                                  <m:mcPr>
                                    <m:count m:val="4"/>
                                    <m:mcJc m:val="center"/>
                                  </m:mcPr>
                                </m:mc>
                              </m:mcs>
                              <m:ctrlPr>
                                <a:rPr lang="en-US" sz="2400" i="1" smtClean="0">
                                  <a:latin typeface="Cambria Math" panose="02040503050406030204" pitchFamily="18" charset="0"/>
                                </a:rPr>
                              </m:ctrlPr>
                            </m:mPr>
                            <m:mr>
                              <m:e>
                                <m:f>
                                  <m:fPr>
                                    <m:ctrlPr>
                                      <a:rPr lang="en-US" sz="2400" i="1">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𝑁</m:t>
                                    </m:r>
                                  </m:den>
                                </m:f>
                                <m:r>
                                  <a:rPr lang="en-US" sz="2400" b="0" i="1" smtClean="0">
                                    <a:latin typeface="Cambria Math" panose="02040503050406030204" pitchFamily="18" charset="0"/>
                                  </a:rPr>
                                  <m:t>−1</m:t>
                                </m:r>
                              </m:e>
                              <m:e>
                                <m:f>
                                  <m:fPr>
                                    <m:ctrlPr>
                                      <a:rPr lang="en-US" sz="2400" i="1">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𝑁</m:t>
                                    </m:r>
                                  </m:den>
                                </m:f>
                              </m:e>
                              <m:e>
                                <m:r>
                                  <a:rPr lang="en-US" sz="2400" i="1">
                                    <a:latin typeface="Cambria Math" panose="02040503050406030204" pitchFamily="18" charset="0"/>
                                    <a:ea typeface="Cambria Math" panose="02040503050406030204" pitchFamily="18" charset="0"/>
                                  </a:rPr>
                                  <m:t>⋯</m:t>
                                </m:r>
                              </m:e>
                              <m:e>
                                <m:f>
                                  <m:fPr>
                                    <m:ctrlPr>
                                      <a:rPr lang="en-US" sz="2400" i="1">
                                        <a:latin typeface="Cambria Math" panose="02040503050406030204" pitchFamily="18" charset="0"/>
                                      </a:rPr>
                                    </m:ctrlPr>
                                  </m:fPr>
                                  <m:num>
                                    <m:r>
                                      <a:rPr lang="en-US" sz="2400" i="1">
                                        <a:latin typeface="Cambria Math" panose="02040503050406030204" pitchFamily="18" charset="0"/>
                                      </a:rPr>
                                      <m:t>2</m:t>
                                    </m:r>
                                  </m:num>
                                  <m:den>
                                    <m:r>
                                      <a:rPr lang="en-US" sz="2400" i="1">
                                        <a:latin typeface="Cambria Math" panose="02040503050406030204" pitchFamily="18" charset="0"/>
                                      </a:rPr>
                                      <m:t>𝑁</m:t>
                                    </m:r>
                                  </m:den>
                                </m:f>
                              </m:e>
                            </m:mr>
                            <m:mr>
                              <m:e>
                                <m:f>
                                  <m:fPr>
                                    <m:ctrlPr>
                                      <a:rPr lang="en-US" sz="2400" i="1">
                                        <a:latin typeface="Cambria Math" panose="02040503050406030204" pitchFamily="18" charset="0"/>
                                      </a:rPr>
                                    </m:ctrlPr>
                                  </m:fPr>
                                  <m:num>
                                    <m:r>
                                      <a:rPr lang="en-US" sz="2400" i="1">
                                        <a:latin typeface="Cambria Math" panose="02040503050406030204" pitchFamily="18" charset="0"/>
                                      </a:rPr>
                                      <m:t>2</m:t>
                                    </m:r>
                                  </m:num>
                                  <m:den>
                                    <m:r>
                                      <a:rPr lang="en-US" sz="2400" i="1">
                                        <a:latin typeface="Cambria Math" panose="02040503050406030204" pitchFamily="18" charset="0"/>
                                      </a:rPr>
                                      <m:t>𝑁</m:t>
                                    </m:r>
                                  </m:den>
                                </m:f>
                              </m:e>
                              <m:e>
                                <m:f>
                                  <m:fPr>
                                    <m:ctrlPr>
                                      <a:rPr lang="en-US" sz="2400" i="1">
                                        <a:latin typeface="Cambria Math" panose="02040503050406030204" pitchFamily="18" charset="0"/>
                                      </a:rPr>
                                    </m:ctrlPr>
                                  </m:fPr>
                                  <m:num>
                                    <m:r>
                                      <a:rPr lang="en-US" sz="2400" i="1">
                                        <a:latin typeface="Cambria Math" panose="02040503050406030204" pitchFamily="18" charset="0"/>
                                      </a:rPr>
                                      <m:t>2</m:t>
                                    </m:r>
                                  </m:num>
                                  <m:den>
                                    <m:r>
                                      <a:rPr lang="en-US" sz="2400" i="1">
                                        <a:latin typeface="Cambria Math" panose="02040503050406030204" pitchFamily="18" charset="0"/>
                                      </a:rPr>
                                      <m:t>𝑁</m:t>
                                    </m:r>
                                  </m:den>
                                </m:f>
                                <m:r>
                                  <a:rPr lang="en-US" sz="2400" i="1">
                                    <a:latin typeface="Cambria Math" panose="02040503050406030204" pitchFamily="18" charset="0"/>
                                  </a:rPr>
                                  <m:t>−1</m:t>
                                </m:r>
                              </m:e>
                              <m:e>
                                <m:r>
                                  <a:rPr lang="en-US" sz="2400" i="1">
                                    <a:latin typeface="Cambria Math" panose="02040503050406030204" pitchFamily="18" charset="0"/>
                                    <a:ea typeface="Cambria Math" panose="02040503050406030204" pitchFamily="18" charset="0"/>
                                  </a:rPr>
                                  <m:t>⋯</m:t>
                                </m:r>
                              </m:e>
                              <m:e>
                                <m:f>
                                  <m:fPr>
                                    <m:ctrlPr>
                                      <a:rPr lang="en-US" sz="2400" i="1">
                                        <a:latin typeface="Cambria Math" panose="02040503050406030204" pitchFamily="18" charset="0"/>
                                      </a:rPr>
                                    </m:ctrlPr>
                                  </m:fPr>
                                  <m:num>
                                    <m:r>
                                      <a:rPr lang="en-US" sz="2400" i="1">
                                        <a:latin typeface="Cambria Math" panose="02040503050406030204" pitchFamily="18" charset="0"/>
                                      </a:rPr>
                                      <m:t>2</m:t>
                                    </m:r>
                                  </m:num>
                                  <m:den>
                                    <m:r>
                                      <a:rPr lang="en-US" sz="2400" i="1">
                                        <a:latin typeface="Cambria Math" panose="02040503050406030204" pitchFamily="18" charset="0"/>
                                      </a:rPr>
                                      <m:t>𝑁</m:t>
                                    </m:r>
                                  </m:den>
                                </m:f>
                              </m:e>
                            </m:mr>
                            <m:mr>
                              <m:e>
                                <m:r>
                                  <a:rPr lang="en-US" sz="2400" i="1">
                                    <a:latin typeface="Cambria Math" panose="02040503050406030204" pitchFamily="18" charset="0"/>
                                    <a:ea typeface="Cambria Math" panose="02040503050406030204" pitchFamily="18" charset="0"/>
                                  </a:rPr>
                                  <m:t>⋮</m:t>
                                </m:r>
                              </m:e>
                              <m:e>
                                <m:r>
                                  <a:rPr lang="en-US" sz="2400" i="1">
                                    <a:latin typeface="Cambria Math" panose="02040503050406030204" pitchFamily="18" charset="0"/>
                                    <a:ea typeface="Cambria Math" panose="02040503050406030204" pitchFamily="18" charset="0"/>
                                  </a:rPr>
                                  <m:t>⋮</m:t>
                                </m:r>
                              </m:e>
                              <m:e>
                                <m:r>
                                  <a:rPr lang="en-US" sz="2400" i="1">
                                    <a:latin typeface="Cambria Math" panose="02040503050406030204" pitchFamily="18" charset="0"/>
                                    <a:ea typeface="Cambria Math" panose="02040503050406030204" pitchFamily="18" charset="0"/>
                                  </a:rPr>
                                  <m:t>⋱</m:t>
                                </m:r>
                              </m:e>
                              <m:e>
                                <m:r>
                                  <a:rPr lang="en-US" sz="2400" i="1">
                                    <a:latin typeface="Cambria Math" panose="02040503050406030204" pitchFamily="18" charset="0"/>
                                    <a:ea typeface="Cambria Math" panose="02040503050406030204" pitchFamily="18" charset="0"/>
                                  </a:rPr>
                                  <m:t>⋮</m:t>
                                </m:r>
                              </m:e>
                            </m:mr>
                            <m:mr>
                              <m:e>
                                <m:f>
                                  <m:fPr>
                                    <m:ctrlPr>
                                      <a:rPr lang="en-US" sz="2400" i="1">
                                        <a:latin typeface="Cambria Math" panose="02040503050406030204" pitchFamily="18" charset="0"/>
                                      </a:rPr>
                                    </m:ctrlPr>
                                  </m:fPr>
                                  <m:num>
                                    <m:r>
                                      <a:rPr lang="en-US" sz="2400" i="1">
                                        <a:latin typeface="Cambria Math" panose="02040503050406030204" pitchFamily="18" charset="0"/>
                                      </a:rPr>
                                      <m:t>2</m:t>
                                    </m:r>
                                  </m:num>
                                  <m:den>
                                    <m:r>
                                      <a:rPr lang="en-US" sz="2400" i="1">
                                        <a:latin typeface="Cambria Math" panose="02040503050406030204" pitchFamily="18" charset="0"/>
                                      </a:rPr>
                                      <m:t>𝑁</m:t>
                                    </m:r>
                                  </m:den>
                                </m:f>
                              </m:e>
                              <m:e>
                                <m:f>
                                  <m:fPr>
                                    <m:ctrlPr>
                                      <a:rPr lang="en-US" sz="2400" i="1">
                                        <a:latin typeface="Cambria Math" panose="02040503050406030204" pitchFamily="18" charset="0"/>
                                      </a:rPr>
                                    </m:ctrlPr>
                                  </m:fPr>
                                  <m:num>
                                    <m:r>
                                      <a:rPr lang="en-US" sz="2400" i="1">
                                        <a:latin typeface="Cambria Math" panose="02040503050406030204" pitchFamily="18" charset="0"/>
                                      </a:rPr>
                                      <m:t>2</m:t>
                                    </m:r>
                                  </m:num>
                                  <m:den>
                                    <m:r>
                                      <a:rPr lang="en-US" sz="2400" i="1">
                                        <a:latin typeface="Cambria Math" panose="02040503050406030204" pitchFamily="18" charset="0"/>
                                      </a:rPr>
                                      <m:t>𝑁</m:t>
                                    </m:r>
                                  </m:den>
                                </m:f>
                              </m:e>
                              <m:e>
                                <m:r>
                                  <a:rPr lang="en-US" sz="2400" i="1">
                                    <a:latin typeface="Cambria Math" panose="02040503050406030204" pitchFamily="18" charset="0"/>
                                    <a:ea typeface="Cambria Math" panose="02040503050406030204" pitchFamily="18" charset="0"/>
                                  </a:rPr>
                                  <m:t>⋯</m:t>
                                </m:r>
                              </m:e>
                              <m:e>
                                <m:f>
                                  <m:fPr>
                                    <m:ctrlPr>
                                      <a:rPr lang="en-US" sz="2400" i="1">
                                        <a:latin typeface="Cambria Math" panose="02040503050406030204" pitchFamily="18" charset="0"/>
                                      </a:rPr>
                                    </m:ctrlPr>
                                  </m:fPr>
                                  <m:num>
                                    <m:r>
                                      <a:rPr lang="en-US" sz="2400" i="1">
                                        <a:latin typeface="Cambria Math" panose="02040503050406030204" pitchFamily="18" charset="0"/>
                                      </a:rPr>
                                      <m:t>2</m:t>
                                    </m:r>
                                  </m:num>
                                  <m:den>
                                    <m:r>
                                      <a:rPr lang="en-US" sz="2400" i="1">
                                        <a:latin typeface="Cambria Math" panose="02040503050406030204" pitchFamily="18" charset="0"/>
                                      </a:rPr>
                                      <m:t>𝑁</m:t>
                                    </m:r>
                                  </m:den>
                                </m:f>
                                <m:r>
                                  <a:rPr lang="en-US" sz="2400" i="1">
                                    <a:latin typeface="Cambria Math" panose="02040503050406030204" pitchFamily="18" charset="0"/>
                                  </a:rPr>
                                  <m:t>−1</m:t>
                                </m:r>
                              </m:e>
                            </m:mr>
                          </m:m>
                        </m:e>
                      </m:d>
                    </m:oMath>
                  </a14:m>
                  <a:r>
                    <a:rPr lang="en-US" sz="2400" dirty="0"/>
                    <a:t> </a:t>
                  </a:r>
                </a:p>
              </p:txBody>
            </p:sp>
          </mc:Choice>
          <mc:Fallback xmlns="">
            <p:sp>
              <p:nvSpPr>
                <p:cNvPr id="5" name="Rectangle 4">
                  <a:extLst>
                    <a:ext uri="{FF2B5EF4-FFF2-40B4-BE49-F238E27FC236}">
                      <a16:creationId xmlns:a16="http://schemas.microsoft.com/office/drawing/2014/main" id="{C4EE0D2F-BC25-4A44-B127-1CA34BAC7AF3}"/>
                    </a:ext>
                  </a:extLst>
                </p:cNvPr>
                <p:cNvSpPr>
                  <a:spLocks noRot="1" noChangeAspect="1" noMove="1" noResize="1" noEditPoints="1" noAdjustHandles="1" noChangeArrowheads="1" noChangeShapeType="1" noTextEdit="1"/>
                </p:cNvSpPr>
                <p:nvPr/>
              </p:nvSpPr>
              <p:spPr>
                <a:xfrm>
                  <a:off x="6557430" y="4409874"/>
                  <a:ext cx="4643835" cy="2062103"/>
                </a:xfrm>
                <a:prstGeom prst="rect">
                  <a:avLst/>
                </a:prstGeom>
                <a:blipFill>
                  <a:blip r:embed="rId6"/>
                  <a:stretch>
                    <a:fillRect l="-273"/>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3E09F99B-F4B8-9148-A7CD-82D37FB30C63}"/>
                </a:ext>
              </a:extLst>
            </p:cNvPr>
            <p:cNvSpPr txBox="1"/>
            <p:nvPr/>
          </p:nvSpPr>
          <p:spPr>
            <a:xfrm>
              <a:off x="12045850" y="5045931"/>
              <a:ext cx="641444" cy="461665"/>
            </a:xfrm>
            <a:prstGeom prst="rect">
              <a:avLst/>
            </a:prstGeom>
            <a:noFill/>
          </p:spPr>
          <p:txBody>
            <a:bodyPr wrap="square" rtlCol="0">
              <a:spAutoFit/>
            </a:bodyPr>
            <a:lstStyle/>
            <a:p>
              <a:r>
                <a:rPr lang="en-US" sz="2400" dirty="0"/>
                <a:t>(2)</a:t>
              </a:r>
            </a:p>
          </p:txBody>
        </p:sp>
      </p:grpSp>
      <p:cxnSp>
        <p:nvCxnSpPr>
          <p:cNvPr id="9" name="Straight Connector 8">
            <a:extLst>
              <a:ext uri="{FF2B5EF4-FFF2-40B4-BE49-F238E27FC236}">
                <a16:creationId xmlns:a16="http://schemas.microsoft.com/office/drawing/2014/main" id="{FFACE194-66BE-5E41-BB89-ABE656BB4BA5}"/>
              </a:ext>
            </a:extLst>
          </p:cNvPr>
          <p:cNvCxnSpPr>
            <a:cxnSpLocks/>
          </p:cNvCxnSpPr>
          <p:nvPr/>
        </p:nvCxnSpPr>
        <p:spPr>
          <a:xfrm>
            <a:off x="4814219" y="1088091"/>
            <a:ext cx="45164" cy="538388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219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9150B83-6CA0-9049-9646-D4D92621CBF6}"/>
              </a:ext>
            </a:extLst>
          </p:cNvPr>
          <p:cNvSpPr>
            <a:spLocks noGrp="1"/>
          </p:cNvSpPr>
          <p:nvPr>
            <p:ph type="sldNum" sz="quarter" idx="12"/>
          </p:nvPr>
        </p:nvSpPr>
        <p:spPr/>
        <p:txBody>
          <a:bodyPr/>
          <a:lstStyle/>
          <a:p>
            <a:fld id="{591A223C-FA10-BC46-A853-03BA373D023C}" type="slidenum">
              <a:rPr lang="en-US" smtClean="0"/>
              <a:t>14</a:t>
            </a:fld>
            <a:endParaRPr lang="en-US"/>
          </a:p>
        </p:txBody>
      </p:sp>
      <p:sp>
        <p:nvSpPr>
          <p:cNvPr id="6" name="Title 5">
            <a:extLst>
              <a:ext uri="{FF2B5EF4-FFF2-40B4-BE49-F238E27FC236}">
                <a16:creationId xmlns:a16="http://schemas.microsoft.com/office/drawing/2014/main" id="{61B43E26-4A51-F744-8E4C-ED35461EA1AD}"/>
              </a:ext>
            </a:extLst>
          </p:cNvPr>
          <p:cNvSpPr>
            <a:spLocks noGrp="1"/>
          </p:cNvSpPr>
          <p:nvPr>
            <p:ph type="title"/>
          </p:nvPr>
        </p:nvSpPr>
        <p:spPr>
          <a:xfrm>
            <a:off x="0" y="0"/>
            <a:ext cx="12192000" cy="928688"/>
          </a:xfrm>
        </p:spPr>
        <p:txBody>
          <a:bodyPr/>
          <a:lstStyle/>
          <a:p>
            <a:r>
              <a:rPr lang="en-US" dirty="0"/>
              <a:t>Step 3:  </a:t>
            </a:r>
            <a:r>
              <a:rPr lang="en-ZA" dirty="0"/>
              <a:t>Diffusion Operator: Mathematical Construction</a:t>
            </a:r>
            <a:endParaRPr lang="en-US" dirty="0"/>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7B906E6-90B7-964D-9F3C-FA4856AB3B58}"/>
                  </a:ext>
                </a:extLst>
              </p:cNvPr>
              <p:cNvSpPr/>
              <p:nvPr/>
            </p:nvSpPr>
            <p:spPr>
              <a:xfrm>
                <a:off x="535077" y="816630"/>
                <a:ext cx="4387163" cy="18118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1">
                              <a:latin typeface="Cambria Math" panose="02040503050406030204" pitchFamily="18" charset="0"/>
                            </a:rPr>
                            <m:t>𝑆</m:t>
                          </m:r>
                        </m:e>
                      </m:d>
                      <m:r>
                        <a:rPr lang="sr-Latn-RS" sz="2200" b="0" i="1" smtClean="0">
                          <a:latin typeface="Cambria Math" panose="02040503050406030204" pitchFamily="18" charset="0"/>
                        </a:rPr>
                        <m:t>=</m:t>
                      </m:r>
                      <m:f>
                        <m:fPr>
                          <m:ctrlPr>
                            <a:rPr lang="en-US" sz="2200" i="1">
                              <a:latin typeface="Cambria Math" panose="02040503050406030204" pitchFamily="18" charset="0"/>
                            </a:rPr>
                          </m:ctrlPr>
                        </m:fPr>
                        <m:num>
                          <m:r>
                            <a:rPr lang="en-US" sz="2200">
                              <a:latin typeface="Cambria Math" panose="02040503050406030204" pitchFamily="18" charset="0"/>
                            </a:rPr>
                            <m:t>1</m:t>
                          </m:r>
                        </m:num>
                        <m:den>
                          <m:rad>
                            <m:radPr>
                              <m:degHide m:val="on"/>
                              <m:ctrlPr>
                                <a:rPr lang="en-US" sz="2200" i="1">
                                  <a:latin typeface="Cambria Math" panose="02040503050406030204" pitchFamily="18" charset="0"/>
                                </a:rPr>
                              </m:ctrlPr>
                            </m:radPr>
                            <m:deg/>
                            <m:e>
                              <m:r>
                                <a:rPr lang="en-US" sz="2200" i="1">
                                  <a:latin typeface="Cambria Math" panose="02040503050406030204" pitchFamily="18" charset="0"/>
                                </a:rPr>
                                <m:t>𝑁</m:t>
                              </m:r>
                            </m:e>
                          </m:rad>
                        </m:den>
                      </m:f>
                      <m:nary>
                        <m:naryPr>
                          <m:chr m:val="∑"/>
                          <m:ctrlPr>
                            <a:rPr lang="sr-Latn-R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𝑘</m:t>
                          </m:r>
                          <m:r>
                            <a:rPr lang="en-US" sz="2200" b="0" i="1" smtClean="0">
                              <a:latin typeface="Cambria Math" panose="02040503050406030204" pitchFamily="18" charset="0"/>
                            </a:rPr>
                            <m:t>=0</m:t>
                          </m:r>
                        </m:sub>
                        <m:sup>
                          <m:r>
                            <a:rPr lang="en-US" sz="2200" b="0" i="1" smtClean="0">
                              <a:latin typeface="Cambria Math" panose="02040503050406030204" pitchFamily="18" charset="0"/>
                            </a:rPr>
                            <m:t>𝑁</m:t>
                          </m:r>
                          <m:r>
                            <a:rPr lang="en-US" sz="2200" b="0" i="1" smtClean="0">
                              <a:latin typeface="Cambria Math" panose="02040503050406030204" pitchFamily="18" charset="0"/>
                            </a:rPr>
                            <m:t>−1</m:t>
                          </m:r>
                        </m:sup>
                        <m:e>
                          <m:d>
                            <m:dPr>
                              <m:begChr m:val="|"/>
                              <m:endChr m:val="⟩"/>
                              <m:ctrlPr>
                                <a:rPr lang="en-US" sz="2200" i="1">
                                  <a:latin typeface="Cambria Math" panose="02040503050406030204" pitchFamily="18" charset="0"/>
                                </a:rPr>
                              </m:ctrlPr>
                            </m:dPr>
                            <m:e>
                              <m:r>
                                <a:rPr lang="en-US" sz="2200" b="0" i="1" smtClean="0">
                                  <a:latin typeface="Cambria Math" panose="02040503050406030204" pitchFamily="18" charset="0"/>
                                </a:rPr>
                                <m:t>𝑘</m:t>
                              </m:r>
                            </m:e>
                          </m:d>
                          <m:r>
                            <a:rPr lang="en-US" sz="2200" b="0" i="1" smtClean="0">
                              <a:latin typeface="Cambria Math" panose="02040503050406030204" pitchFamily="18" charset="0"/>
                            </a:rPr>
                            <m:t>=</m:t>
                          </m:r>
                        </m:e>
                      </m:nary>
                      <m:d>
                        <m:dPr>
                          <m:ctrlPr>
                            <a:rPr lang="en-US" sz="2200" i="1" smtClean="0">
                              <a:latin typeface="Cambria Math" panose="02040503050406030204" pitchFamily="18" charset="0"/>
                            </a:rPr>
                          </m:ctrlPr>
                        </m:dPr>
                        <m:e>
                          <m:m>
                            <m:mPr>
                              <m:mcs>
                                <m:mc>
                                  <m:mcPr>
                                    <m:count m:val="1"/>
                                    <m:mcJc m:val="center"/>
                                  </m:mcPr>
                                </m:mc>
                              </m:mcs>
                              <m:ctrlPr>
                                <a:rPr lang="en-US" sz="2200" i="1" smtClean="0">
                                  <a:latin typeface="Cambria Math" panose="02040503050406030204" pitchFamily="18" charset="0"/>
                                </a:rPr>
                              </m:ctrlPr>
                            </m:mPr>
                            <m:mr>
                              <m:e>
                                <m:f>
                                  <m:fPr>
                                    <m:ctrlPr>
                                      <a:rPr lang="en-US" sz="2200" i="1">
                                        <a:latin typeface="Cambria Math" panose="02040503050406030204" pitchFamily="18" charset="0"/>
                                      </a:rPr>
                                    </m:ctrlPr>
                                  </m:fPr>
                                  <m:num>
                                    <m:r>
                                      <a:rPr lang="en-US" sz="2200">
                                        <a:latin typeface="Cambria Math" panose="02040503050406030204" pitchFamily="18" charset="0"/>
                                      </a:rPr>
                                      <m:t>1</m:t>
                                    </m:r>
                                  </m:num>
                                  <m:den>
                                    <m:rad>
                                      <m:radPr>
                                        <m:degHide m:val="on"/>
                                        <m:ctrlPr>
                                          <a:rPr lang="en-US" sz="2200" i="1">
                                            <a:latin typeface="Cambria Math" panose="02040503050406030204" pitchFamily="18" charset="0"/>
                                          </a:rPr>
                                        </m:ctrlPr>
                                      </m:radPr>
                                      <m:deg/>
                                      <m:e>
                                        <m:r>
                                          <a:rPr lang="en-US" sz="2200" i="1">
                                            <a:latin typeface="Cambria Math" panose="02040503050406030204" pitchFamily="18" charset="0"/>
                                          </a:rPr>
                                          <m:t>𝑁</m:t>
                                        </m:r>
                                      </m:e>
                                    </m:rad>
                                  </m:den>
                                </m:f>
                              </m:e>
                            </m:mr>
                            <m:mr>
                              <m:e>
                                <m:r>
                                  <a:rPr lang="en-US" sz="2200" i="1" smtClean="0">
                                    <a:latin typeface="Cambria Math" panose="02040503050406030204" pitchFamily="18" charset="0"/>
                                    <a:ea typeface="Cambria Math" panose="02040503050406030204" pitchFamily="18" charset="0"/>
                                  </a:rPr>
                                  <m:t>⋮</m:t>
                                </m:r>
                              </m:e>
                            </m:mr>
                            <m:mr>
                              <m:e>
                                <m:f>
                                  <m:fPr>
                                    <m:ctrlPr>
                                      <a:rPr lang="en-US" sz="2200" i="1">
                                        <a:latin typeface="Cambria Math" panose="02040503050406030204" pitchFamily="18" charset="0"/>
                                      </a:rPr>
                                    </m:ctrlPr>
                                  </m:fPr>
                                  <m:num>
                                    <m:r>
                                      <a:rPr lang="en-US" sz="2200">
                                        <a:latin typeface="Cambria Math" panose="02040503050406030204" pitchFamily="18" charset="0"/>
                                      </a:rPr>
                                      <m:t>1</m:t>
                                    </m:r>
                                  </m:num>
                                  <m:den>
                                    <m:rad>
                                      <m:radPr>
                                        <m:degHide m:val="on"/>
                                        <m:ctrlPr>
                                          <a:rPr lang="en-US" sz="2200" i="1">
                                            <a:latin typeface="Cambria Math" panose="02040503050406030204" pitchFamily="18" charset="0"/>
                                          </a:rPr>
                                        </m:ctrlPr>
                                      </m:radPr>
                                      <m:deg/>
                                      <m:e>
                                        <m:r>
                                          <a:rPr lang="en-US" sz="2200" i="1">
                                            <a:latin typeface="Cambria Math" panose="02040503050406030204" pitchFamily="18" charset="0"/>
                                          </a:rPr>
                                          <m:t>𝑁</m:t>
                                        </m:r>
                                      </m:e>
                                    </m:rad>
                                  </m:den>
                                </m:f>
                              </m:e>
                            </m:mr>
                          </m:m>
                        </m:e>
                      </m:d>
                      <m:r>
                        <a:rPr lang="sr-Latn-RS" sz="2200" b="0" i="1" smtClean="0">
                          <a:latin typeface="Cambria Math" panose="02040503050406030204" pitchFamily="18" charset="0"/>
                        </a:rPr>
                        <m:t>, </m:t>
                      </m:r>
                      <m:r>
                        <a:rPr lang="sr-Latn-RS" sz="2200" b="0" i="1" smtClean="0">
                          <a:latin typeface="Cambria Math" panose="02040503050406030204" pitchFamily="18" charset="0"/>
                        </a:rPr>
                        <m:t>𝑁</m:t>
                      </m:r>
                      <m:r>
                        <a:rPr lang="sr-Latn-RS" sz="2200" b="0" i="1" smtClean="0">
                          <a:latin typeface="Cambria Math" panose="02040503050406030204" pitchFamily="18" charset="0"/>
                        </a:rPr>
                        <m:t>=</m:t>
                      </m:r>
                      <m:sSup>
                        <m:sSupPr>
                          <m:ctrlPr>
                            <a:rPr lang="sr-Latn-RS" sz="2200" b="0" i="1" smtClean="0">
                              <a:latin typeface="Cambria Math" panose="02040503050406030204" pitchFamily="18" charset="0"/>
                            </a:rPr>
                          </m:ctrlPr>
                        </m:sSupPr>
                        <m:e>
                          <m:r>
                            <a:rPr lang="sr-Latn-RS" sz="2200" b="0" i="1" smtClean="0">
                              <a:latin typeface="Cambria Math" panose="02040503050406030204" pitchFamily="18" charset="0"/>
                            </a:rPr>
                            <m:t>2</m:t>
                          </m:r>
                        </m:e>
                        <m:sup>
                          <m:r>
                            <a:rPr lang="sr-Latn-RS" sz="2200" b="0" i="1" smtClean="0">
                              <a:latin typeface="Cambria Math" panose="02040503050406030204" pitchFamily="18" charset="0"/>
                            </a:rPr>
                            <m:t>𝑛</m:t>
                          </m:r>
                        </m:sup>
                      </m:sSup>
                    </m:oMath>
                  </m:oMathPara>
                </a14:m>
                <a:endParaRPr lang="en-US" sz="2200" dirty="0"/>
              </a:p>
            </p:txBody>
          </p:sp>
        </mc:Choice>
        <mc:Fallback xmlns="">
          <p:sp>
            <p:nvSpPr>
              <p:cNvPr id="8" name="Rectangle 7">
                <a:extLst>
                  <a:ext uri="{FF2B5EF4-FFF2-40B4-BE49-F238E27FC236}">
                    <a16:creationId xmlns:a16="http://schemas.microsoft.com/office/drawing/2014/main" id="{77B906E6-90B7-964D-9F3C-FA4856AB3B58}"/>
                  </a:ext>
                </a:extLst>
              </p:cNvPr>
              <p:cNvSpPr>
                <a:spLocks noRot="1" noChangeAspect="1" noMove="1" noResize="1" noEditPoints="1" noAdjustHandles="1" noChangeArrowheads="1" noChangeShapeType="1" noTextEdit="1"/>
              </p:cNvSpPr>
              <p:nvPr/>
            </p:nvSpPr>
            <p:spPr>
              <a:xfrm>
                <a:off x="535077" y="816630"/>
                <a:ext cx="4387163" cy="1811843"/>
              </a:xfrm>
              <a:prstGeom prst="rect">
                <a:avLst/>
              </a:prstGeom>
              <a:blipFill>
                <a:blip r:embed="rId3"/>
                <a:stretch>
                  <a:fillRect t="-36806" b="-68056"/>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54CC6563-CDBC-9B43-84DE-8AB8F32DB464}"/>
              </a:ext>
            </a:extLst>
          </p:cNvPr>
          <p:cNvGrpSpPr/>
          <p:nvPr/>
        </p:nvGrpSpPr>
        <p:grpSpPr>
          <a:xfrm>
            <a:off x="5086179" y="764785"/>
            <a:ext cx="6941882" cy="1811843"/>
            <a:chOff x="3483038" y="816630"/>
            <a:chExt cx="6941882" cy="1811843"/>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53D5591-EE9D-C348-AC39-106BFF7DF21D}"/>
                    </a:ext>
                  </a:extLst>
                </p:cNvPr>
                <p:cNvSpPr/>
                <p:nvPr/>
              </p:nvSpPr>
              <p:spPr>
                <a:xfrm>
                  <a:off x="4333702" y="816630"/>
                  <a:ext cx="6091218" cy="18118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𝑆</m:t>
                            </m:r>
                          </m:e>
                        </m:d>
                        <m:r>
                          <a:rPr lang="en-US" sz="2200" i="0">
                            <a:latin typeface="Cambria Math" panose="02040503050406030204" pitchFamily="18" charset="0"/>
                          </a:rPr>
                          <m:t>⟨</m:t>
                        </m:r>
                        <m:r>
                          <a:rPr lang="en-US" sz="2200" i="1">
                            <a:latin typeface="Cambria Math" panose="02040503050406030204" pitchFamily="18" charset="0"/>
                          </a:rPr>
                          <m:t>𝑆</m:t>
                        </m:r>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1"/>
                                      <m:mcJc m:val="center"/>
                                    </m:mcPr>
                                  </m:mc>
                                </m:mcs>
                                <m:ctrlPr>
                                  <a:rPr lang="en-US" sz="2200" i="1">
                                    <a:latin typeface="Cambria Math" panose="02040503050406030204" pitchFamily="18" charset="0"/>
                                  </a:rPr>
                                </m:ctrlPr>
                              </m:mPr>
                              <m:mr>
                                <m:e>
                                  <m:f>
                                    <m:fPr>
                                      <m:ctrlPr>
                                        <a:rPr lang="en-US" sz="2200" i="1">
                                          <a:latin typeface="Cambria Math" panose="02040503050406030204" pitchFamily="18" charset="0"/>
                                        </a:rPr>
                                      </m:ctrlPr>
                                    </m:fPr>
                                    <m:num>
                                      <m:r>
                                        <a:rPr lang="en-US" sz="2200" i="0">
                                          <a:latin typeface="Cambria Math" panose="02040503050406030204" pitchFamily="18" charset="0"/>
                                        </a:rPr>
                                        <m:t>1</m:t>
                                      </m:r>
                                    </m:num>
                                    <m:den>
                                      <m:rad>
                                        <m:radPr>
                                          <m:degHide m:val="on"/>
                                          <m:ctrlPr>
                                            <a:rPr lang="en-US" sz="2200" i="1">
                                              <a:latin typeface="Cambria Math" panose="02040503050406030204" pitchFamily="18" charset="0"/>
                                            </a:rPr>
                                          </m:ctrlPr>
                                        </m:radPr>
                                        <m:deg/>
                                        <m:e>
                                          <m:r>
                                            <a:rPr lang="en-US" sz="2200" i="1">
                                              <a:latin typeface="Cambria Math" panose="02040503050406030204" pitchFamily="18" charset="0"/>
                                            </a:rPr>
                                            <m:t>𝑁</m:t>
                                          </m:r>
                                        </m:e>
                                      </m:rad>
                                    </m:den>
                                  </m:f>
                                </m:e>
                              </m:mr>
                              <m:mr>
                                <m:e>
                                  <m:r>
                                    <a:rPr lang="en-US" sz="2200" i="0">
                                      <a:latin typeface="Cambria Math" panose="02040503050406030204" pitchFamily="18" charset="0"/>
                                    </a:rPr>
                                    <m:t>⋮</m:t>
                                  </m:r>
                                </m:e>
                              </m:mr>
                              <m:mr>
                                <m:e>
                                  <m:f>
                                    <m:fPr>
                                      <m:ctrlPr>
                                        <a:rPr lang="en-US" sz="2200" i="1">
                                          <a:latin typeface="Cambria Math" panose="02040503050406030204" pitchFamily="18" charset="0"/>
                                        </a:rPr>
                                      </m:ctrlPr>
                                    </m:fPr>
                                    <m:num>
                                      <m:r>
                                        <a:rPr lang="en-US" sz="2200" i="0">
                                          <a:latin typeface="Cambria Math" panose="02040503050406030204" pitchFamily="18" charset="0"/>
                                        </a:rPr>
                                        <m:t>1</m:t>
                                      </m:r>
                                    </m:num>
                                    <m:den>
                                      <m:rad>
                                        <m:radPr>
                                          <m:degHide m:val="on"/>
                                          <m:ctrlPr>
                                            <a:rPr lang="en-US" sz="2200" i="1">
                                              <a:latin typeface="Cambria Math" panose="02040503050406030204" pitchFamily="18" charset="0"/>
                                            </a:rPr>
                                          </m:ctrlPr>
                                        </m:radPr>
                                        <m:deg/>
                                        <m:e>
                                          <m:r>
                                            <a:rPr lang="en-US" sz="2200" i="1">
                                              <a:latin typeface="Cambria Math" panose="02040503050406030204" pitchFamily="18" charset="0"/>
                                            </a:rPr>
                                            <m:t>𝑁</m:t>
                                          </m:r>
                                        </m:e>
                                      </m:rad>
                                    </m:den>
                                  </m:f>
                                </m:e>
                              </m:mr>
                            </m:m>
                          </m:e>
                        </m:d>
                        <m:d>
                          <m:dPr>
                            <m:ctrlPr>
                              <a:rPr lang="en-US" sz="2200" i="1">
                                <a:latin typeface="Cambria Math" panose="02040503050406030204" pitchFamily="18" charset="0"/>
                              </a:rPr>
                            </m:ctrlPr>
                          </m:dPr>
                          <m:e>
                            <m:m>
                              <m:mPr>
                                <m:plcHide m:val="on"/>
                                <m:mcs>
                                  <m:mc>
                                    <m:mcPr>
                                      <m:count m:val="3"/>
                                      <m:mcJc m:val="center"/>
                                    </m:mcPr>
                                  </m:mc>
                                </m:mcs>
                                <m:ctrlPr>
                                  <a:rPr lang="en-US" sz="2200" i="1">
                                    <a:latin typeface="Cambria Math" panose="02040503050406030204" pitchFamily="18" charset="0"/>
                                  </a:rPr>
                                </m:ctrlPr>
                              </m:mPr>
                              <m:mr>
                                <m:e>
                                  <m:f>
                                    <m:fPr>
                                      <m:ctrlPr>
                                        <a:rPr lang="en-US" sz="2200" i="1">
                                          <a:latin typeface="Cambria Math" panose="02040503050406030204" pitchFamily="18" charset="0"/>
                                        </a:rPr>
                                      </m:ctrlPr>
                                    </m:fPr>
                                    <m:num>
                                      <m:r>
                                        <a:rPr lang="en-US" sz="2200" i="0">
                                          <a:latin typeface="Cambria Math" panose="02040503050406030204" pitchFamily="18" charset="0"/>
                                        </a:rPr>
                                        <m:t>1</m:t>
                                      </m:r>
                                    </m:num>
                                    <m:den>
                                      <m:rad>
                                        <m:radPr>
                                          <m:degHide m:val="on"/>
                                          <m:ctrlPr>
                                            <a:rPr lang="en-US" sz="2200" i="1">
                                              <a:latin typeface="Cambria Math" panose="02040503050406030204" pitchFamily="18" charset="0"/>
                                            </a:rPr>
                                          </m:ctrlPr>
                                        </m:radPr>
                                        <m:deg/>
                                        <m:e>
                                          <m:r>
                                            <a:rPr lang="en-US" sz="2200" i="1">
                                              <a:latin typeface="Cambria Math" panose="02040503050406030204" pitchFamily="18" charset="0"/>
                                            </a:rPr>
                                            <m:t>𝑁</m:t>
                                          </m:r>
                                        </m:e>
                                      </m:rad>
                                    </m:den>
                                  </m:f>
                                </m:e>
                                <m:e>
                                  <m:r>
                                    <a:rPr lang="en-US" sz="2200" i="0">
                                      <a:latin typeface="Cambria Math" panose="02040503050406030204" pitchFamily="18" charset="0"/>
                                    </a:rPr>
                                    <m:t>⋯</m:t>
                                  </m:r>
                                </m:e>
                                <m:e>
                                  <m:f>
                                    <m:fPr>
                                      <m:ctrlPr>
                                        <a:rPr lang="en-US" sz="2200" i="1">
                                          <a:latin typeface="Cambria Math" panose="02040503050406030204" pitchFamily="18" charset="0"/>
                                        </a:rPr>
                                      </m:ctrlPr>
                                    </m:fPr>
                                    <m:num>
                                      <m:r>
                                        <a:rPr lang="en-US" sz="2200" i="0">
                                          <a:latin typeface="Cambria Math" panose="02040503050406030204" pitchFamily="18" charset="0"/>
                                        </a:rPr>
                                        <m:t>1</m:t>
                                      </m:r>
                                    </m:num>
                                    <m:den>
                                      <m:rad>
                                        <m:radPr>
                                          <m:degHide m:val="on"/>
                                          <m:ctrlPr>
                                            <a:rPr lang="en-US" sz="2200" i="1">
                                              <a:latin typeface="Cambria Math" panose="02040503050406030204" pitchFamily="18" charset="0"/>
                                            </a:rPr>
                                          </m:ctrlPr>
                                        </m:radPr>
                                        <m:deg/>
                                        <m:e>
                                          <m:r>
                                            <a:rPr lang="en-US" sz="2200" i="1">
                                              <a:latin typeface="Cambria Math" panose="02040503050406030204" pitchFamily="18" charset="0"/>
                                            </a:rPr>
                                            <m:t>𝑁</m:t>
                                          </m:r>
                                        </m:e>
                                      </m:rad>
                                    </m:den>
                                  </m:f>
                                </m:e>
                              </m:mr>
                            </m:m>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3"/>
                                      <m:mcJc m:val="center"/>
                                    </m:mcPr>
                                  </m:mc>
                                </m:mcs>
                                <m:ctrlPr>
                                  <a:rPr lang="en-US" sz="2200" i="1">
                                    <a:latin typeface="Cambria Math" panose="02040503050406030204" pitchFamily="18" charset="0"/>
                                  </a:rPr>
                                </m:ctrlPr>
                              </m:mPr>
                              <m:mr>
                                <m:e>
                                  <m:f>
                                    <m:fPr>
                                      <m:ctrlPr>
                                        <a:rPr lang="en-US" sz="2200" i="1">
                                          <a:latin typeface="Cambria Math" panose="02040503050406030204" pitchFamily="18" charset="0"/>
                                        </a:rPr>
                                      </m:ctrlPr>
                                    </m:fPr>
                                    <m:num>
                                      <m:r>
                                        <a:rPr lang="en-US" sz="2200" i="0">
                                          <a:latin typeface="Cambria Math" panose="02040503050406030204" pitchFamily="18" charset="0"/>
                                        </a:rPr>
                                        <m:t>1</m:t>
                                      </m:r>
                                    </m:num>
                                    <m:den>
                                      <m:r>
                                        <a:rPr lang="en-US" sz="2200" i="1">
                                          <a:latin typeface="Cambria Math" panose="02040503050406030204" pitchFamily="18" charset="0"/>
                                        </a:rPr>
                                        <m:t>𝑁</m:t>
                                      </m:r>
                                    </m:den>
                                  </m:f>
                                </m:e>
                                <m:e>
                                  <m:r>
                                    <a:rPr lang="en-US" sz="2200" i="0">
                                      <a:latin typeface="Cambria Math" panose="02040503050406030204" pitchFamily="18" charset="0"/>
                                    </a:rPr>
                                    <m:t>⋯</m:t>
                                  </m:r>
                                </m:e>
                                <m:e>
                                  <m:f>
                                    <m:fPr>
                                      <m:ctrlPr>
                                        <a:rPr lang="en-US" sz="2200" i="1">
                                          <a:latin typeface="Cambria Math" panose="02040503050406030204" pitchFamily="18" charset="0"/>
                                        </a:rPr>
                                      </m:ctrlPr>
                                    </m:fPr>
                                    <m:num>
                                      <m:r>
                                        <a:rPr lang="en-US" sz="2200" i="0">
                                          <a:latin typeface="Cambria Math" panose="02040503050406030204" pitchFamily="18" charset="0"/>
                                        </a:rPr>
                                        <m:t>1</m:t>
                                      </m:r>
                                    </m:num>
                                    <m:den>
                                      <m:r>
                                        <a:rPr lang="en-US" sz="2200" i="1">
                                          <a:latin typeface="Cambria Math" panose="02040503050406030204" pitchFamily="18" charset="0"/>
                                        </a:rPr>
                                        <m:t>𝑁</m:t>
                                      </m:r>
                                    </m:den>
                                  </m:f>
                                </m:e>
                              </m:mr>
                              <m:mr>
                                <m:e>
                                  <m:r>
                                    <a:rPr lang="en-US" sz="2200" i="0">
                                      <a:latin typeface="Cambria Math" panose="02040503050406030204" pitchFamily="18" charset="0"/>
                                    </a:rPr>
                                    <m:t>⋮</m:t>
                                  </m:r>
                                </m:e>
                                <m:e>
                                  <m:r>
                                    <a:rPr lang="en-US" sz="2200" i="0">
                                      <a:latin typeface="Cambria Math" panose="02040503050406030204" pitchFamily="18" charset="0"/>
                                    </a:rPr>
                                    <m:t>⋱</m:t>
                                  </m:r>
                                </m:e>
                                <m:e>
                                  <m:r>
                                    <a:rPr lang="en-US" sz="2200" i="0">
                                      <a:latin typeface="Cambria Math" panose="02040503050406030204" pitchFamily="18" charset="0"/>
                                    </a:rPr>
                                    <m:t>⋮</m:t>
                                  </m:r>
                                </m:e>
                              </m:mr>
                              <m:mr>
                                <m:e>
                                  <m:f>
                                    <m:fPr>
                                      <m:ctrlPr>
                                        <a:rPr lang="en-US" sz="2200" i="1">
                                          <a:latin typeface="Cambria Math" panose="02040503050406030204" pitchFamily="18" charset="0"/>
                                        </a:rPr>
                                      </m:ctrlPr>
                                    </m:fPr>
                                    <m:num>
                                      <m:r>
                                        <a:rPr lang="en-US" sz="2200" i="0">
                                          <a:latin typeface="Cambria Math" panose="02040503050406030204" pitchFamily="18" charset="0"/>
                                        </a:rPr>
                                        <m:t>1</m:t>
                                      </m:r>
                                    </m:num>
                                    <m:den>
                                      <m:r>
                                        <a:rPr lang="en-US" sz="2200" i="1">
                                          <a:latin typeface="Cambria Math" panose="02040503050406030204" pitchFamily="18" charset="0"/>
                                        </a:rPr>
                                        <m:t>𝑁</m:t>
                                      </m:r>
                                    </m:den>
                                  </m:f>
                                </m:e>
                                <m:e>
                                  <m:r>
                                    <a:rPr lang="en-US" sz="2200" i="0">
                                      <a:latin typeface="Cambria Math" panose="02040503050406030204" pitchFamily="18" charset="0"/>
                                    </a:rPr>
                                    <m:t>⋯</m:t>
                                  </m:r>
                                </m:e>
                                <m:e>
                                  <m:f>
                                    <m:fPr>
                                      <m:ctrlPr>
                                        <a:rPr lang="en-US" sz="2200" i="1">
                                          <a:latin typeface="Cambria Math" panose="02040503050406030204" pitchFamily="18" charset="0"/>
                                        </a:rPr>
                                      </m:ctrlPr>
                                    </m:fPr>
                                    <m:num>
                                      <m:r>
                                        <a:rPr lang="en-US" sz="2200" i="0">
                                          <a:latin typeface="Cambria Math" panose="02040503050406030204" pitchFamily="18" charset="0"/>
                                        </a:rPr>
                                        <m:t>1</m:t>
                                      </m:r>
                                    </m:num>
                                    <m:den>
                                      <m:r>
                                        <a:rPr lang="en-US" sz="2200" i="1">
                                          <a:latin typeface="Cambria Math" panose="02040503050406030204" pitchFamily="18" charset="0"/>
                                        </a:rPr>
                                        <m:t>𝑁</m:t>
                                      </m:r>
                                    </m:den>
                                  </m:f>
                                </m:e>
                              </m:mr>
                            </m:m>
                          </m:e>
                        </m:d>
                      </m:oMath>
                    </m:oMathPara>
                  </a14:m>
                  <a:endParaRPr lang="en-US" sz="2200" dirty="0"/>
                </a:p>
              </p:txBody>
            </p:sp>
          </mc:Choice>
          <mc:Fallback xmlns="">
            <p:sp>
              <p:nvSpPr>
                <p:cNvPr id="7" name="Rectangle 6">
                  <a:extLst>
                    <a:ext uri="{FF2B5EF4-FFF2-40B4-BE49-F238E27FC236}">
                      <a16:creationId xmlns:a16="http://schemas.microsoft.com/office/drawing/2014/main" id="{F53D5591-EE9D-C348-AC39-106BFF7DF21D}"/>
                    </a:ext>
                  </a:extLst>
                </p:cNvPr>
                <p:cNvSpPr>
                  <a:spLocks noRot="1" noChangeAspect="1" noMove="1" noResize="1" noEditPoints="1" noAdjustHandles="1" noChangeArrowheads="1" noChangeShapeType="1" noTextEdit="1"/>
                </p:cNvSpPr>
                <p:nvPr/>
              </p:nvSpPr>
              <p:spPr>
                <a:xfrm>
                  <a:off x="4333702" y="816630"/>
                  <a:ext cx="6091218" cy="1811843"/>
                </a:xfrm>
                <a:prstGeom prst="rect">
                  <a:avLst/>
                </a:prstGeom>
                <a:blipFill>
                  <a:blip r:embed="rId4"/>
                  <a:stretch>
                    <a:fillRect/>
                  </a:stretch>
                </a:blipFill>
              </p:spPr>
              <p:txBody>
                <a:bodyPr/>
                <a:lstStyle/>
                <a:p>
                  <a:r>
                    <a:rPr lang="en-US">
                      <a:noFill/>
                    </a:rPr>
                    <a:t> </a:t>
                  </a:r>
                </a:p>
              </p:txBody>
            </p:sp>
          </mc:Fallback>
        </mc:AlternateContent>
        <p:sp>
          <p:nvSpPr>
            <p:cNvPr id="11" name="Right Arrow 10">
              <a:extLst>
                <a:ext uri="{FF2B5EF4-FFF2-40B4-BE49-F238E27FC236}">
                  <a16:creationId xmlns:a16="http://schemas.microsoft.com/office/drawing/2014/main" id="{84ADFA8B-CD9F-804B-80CE-6F6F413BCE8B}"/>
                </a:ext>
              </a:extLst>
            </p:cNvPr>
            <p:cNvSpPr/>
            <p:nvPr/>
          </p:nvSpPr>
          <p:spPr>
            <a:xfrm>
              <a:off x="3483038" y="1545857"/>
              <a:ext cx="590377" cy="465447"/>
            </a:xfrm>
            <a:prstGeom prst="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46070A05-8321-7B4E-9BA2-073A58509B98}"/>
              </a:ext>
            </a:extLst>
          </p:cNvPr>
          <p:cNvGrpSpPr/>
          <p:nvPr/>
        </p:nvGrpSpPr>
        <p:grpSpPr>
          <a:xfrm>
            <a:off x="535077" y="2412725"/>
            <a:ext cx="10553700" cy="3014442"/>
            <a:chOff x="535077" y="2412725"/>
            <a:chExt cx="10553700" cy="3014442"/>
          </a:xfrm>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4B76276D-5039-7D4F-A6A3-80084B270E5E}"/>
                    </a:ext>
                  </a:extLst>
                </p:cNvPr>
                <p:cNvSpPr/>
                <p:nvPr/>
              </p:nvSpPr>
              <p:spPr>
                <a:xfrm>
                  <a:off x="535077" y="3064084"/>
                  <a:ext cx="10553700" cy="236308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200">
                            <a:latin typeface="Cambria Math" panose="02040503050406030204" pitchFamily="18" charset="0"/>
                          </a:rPr>
                          <m:t>2</m:t>
                        </m:r>
                        <m:d>
                          <m:dPr>
                            <m:ctrlPr>
                              <a:rPr lang="en-US" sz="2200" i="1">
                                <a:latin typeface="Cambria Math" panose="02040503050406030204" pitchFamily="18" charset="0"/>
                              </a:rPr>
                            </m:ctrlPr>
                          </m:dPr>
                          <m:e>
                            <m:m>
                              <m:mPr>
                                <m:plcHide m:val="on"/>
                                <m:mcs>
                                  <m:mc>
                                    <m:mcPr>
                                      <m:count m:val="3"/>
                                      <m:mcJc m:val="center"/>
                                    </m:mcPr>
                                  </m:mc>
                                </m:mcs>
                                <m:ctrlPr>
                                  <a:rPr lang="en-US" sz="2200" i="1">
                                    <a:latin typeface="Cambria Math" panose="02040503050406030204" pitchFamily="18" charset="0"/>
                                  </a:rPr>
                                </m:ctrlPr>
                              </m:mPr>
                              <m:mr>
                                <m:e>
                                  <m:f>
                                    <m:fPr>
                                      <m:ctrlPr>
                                        <a:rPr lang="en-US" sz="2200" i="1">
                                          <a:latin typeface="Cambria Math" panose="02040503050406030204" pitchFamily="18" charset="0"/>
                                        </a:rPr>
                                      </m:ctrlPr>
                                    </m:fPr>
                                    <m:num>
                                      <m:r>
                                        <a:rPr lang="en-US" sz="2200" i="0">
                                          <a:latin typeface="Cambria Math" panose="02040503050406030204" pitchFamily="18" charset="0"/>
                                        </a:rPr>
                                        <m:t>1</m:t>
                                      </m:r>
                                    </m:num>
                                    <m:den>
                                      <m:r>
                                        <a:rPr lang="en-US" sz="2200" i="1">
                                          <a:latin typeface="Cambria Math" panose="02040503050406030204" pitchFamily="18" charset="0"/>
                                        </a:rPr>
                                        <m:t>𝑁</m:t>
                                      </m:r>
                                    </m:den>
                                  </m:f>
                                </m:e>
                                <m:e>
                                  <m:r>
                                    <a:rPr lang="en-US" sz="2200" i="0">
                                      <a:latin typeface="Cambria Math" panose="02040503050406030204" pitchFamily="18" charset="0"/>
                                    </a:rPr>
                                    <m:t>⋯</m:t>
                                  </m:r>
                                </m:e>
                                <m:e>
                                  <m:f>
                                    <m:fPr>
                                      <m:ctrlPr>
                                        <a:rPr lang="en-US" sz="2200" i="1">
                                          <a:latin typeface="Cambria Math" panose="02040503050406030204" pitchFamily="18" charset="0"/>
                                        </a:rPr>
                                      </m:ctrlPr>
                                    </m:fPr>
                                    <m:num>
                                      <m:r>
                                        <a:rPr lang="en-US" sz="2200" i="0">
                                          <a:latin typeface="Cambria Math" panose="02040503050406030204" pitchFamily="18" charset="0"/>
                                        </a:rPr>
                                        <m:t>1</m:t>
                                      </m:r>
                                    </m:num>
                                    <m:den>
                                      <m:r>
                                        <a:rPr lang="en-US" sz="2200" i="1">
                                          <a:latin typeface="Cambria Math" panose="02040503050406030204" pitchFamily="18" charset="0"/>
                                        </a:rPr>
                                        <m:t>𝑁</m:t>
                                      </m:r>
                                    </m:den>
                                  </m:f>
                                </m:e>
                              </m:mr>
                              <m:mr>
                                <m:e>
                                  <m:r>
                                    <a:rPr lang="en-US" sz="2200" i="0">
                                      <a:latin typeface="Cambria Math" panose="02040503050406030204" pitchFamily="18" charset="0"/>
                                    </a:rPr>
                                    <m:t>⋮</m:t>
                                  </m:r>
                                </m:e>
                                <m:e>
                                  <m:r>
                                    <a:rPr lang="en-US" sz="2200" i="0">
                                      <a:latin typeface="Cambria Math" panose="02040503050406030204" pitchFamily="18" charset="0"/>
                                    </a:rPr>
                                    <m:t>⋱</m:t>
                                  </m:r>
                                </m:e>
                                <m:e>
                                  <m:r>
                                    <a:rPr lang="en-US" sz="2200" i="0">
                                      <a:latin typeface="Cambria Math" panose="02040503050406030204" pitchFamily="18" charset="0"/>
                                    </a:rPr>
                                    <m:t>⋮</m:t>
                                  </m:r>
                                </m:e>
                              </m:mr>
                              <m:mr>
                                <m:e>
                                  <m:f>
                                    <m:fPr>
                                      <m:ctrlPr>
                                        <a:rPr lang="en-US" sz="2200" i="1">
                                          <a:latin typeface="Cambria Math" panose="02040503050406030204" pitchFamily="18" charset="0"/>
                                        </a:rPr>
                                      </m:ctrlPr>
                                    </m:fPr>
                                    <m:num>
                                      <m:r>
                                        <a:rPr lang="en-US" sz="2200" i="0">
                                          <a:latin typeface="Cambria Math" panose="02040503050406030204" pitchFamily="18" charset="0"/>
                                        </a:rPr>
                                        <m:t>1</m:t>
                                      </m:r>
                                    </m:num>
                                    <m:den>
                                      <m:r>
                                        <a:rPr lang="en-US" sz="2200" i="1">
                                          <a:latin typeface="Cambria Math" panose="02040503050406030204" pitchFamily="18" charset="0"/>
                                        </a:rPr>
                                        <m:t>𝑁</m:t>
                                      </m:r>
                                    </m:den>
                                  </m:f>
                                </m:e>
                                <m:e>
                                  <m:r>
                                    <a:rPr lang="en-US" sz="2200" i="0">
                                      <a:latin typeface="Cambria Math" panose="02040503050406030204" pitchFamily="18" charset="0"/>
                                    </a:rPr>
                                    <m:t>⋯</m:t>
                                  </m:r>
                                </m:e>
                                <m:e>
                                  <m:f>
                                    <m:fPr>
                                      <m:ctrlPr>
                                        <a:rPr lang="en-US" sz="2200" i="1">
                                          <a:latin typeface="Cambria Math" panose="02040503050406030204" pitchFamily="18" charset="0"/>
                                        </a:rPr>
                                      </m:ctrlPr>
                                    </m:fPr>
                                    <m:num>
                                      <m:r>
                                        <a:rPr lang="en-US" sz="2200" i="0">
                                          <a:latin typeface="Cambria Math" panose="02040503050406030204" pitchFamily="18" charset="0"/>
                                        </a:rPr>
                                        <m:t>1</m:t>
                                      </m:r>
                                    </m:num>
                                    <m:den>
                                      <m:r>
                                        <a:rPr lang="en-US" sz="2200" i="1">
                                          <a:latin typeface="Cambria Math" panose="02040503050406030204" pitchFamily="18" charset="0"/>
                                        </a:rPr>
                                        <m:t>𝑁</m:t>
                                      </m:r>
                                    </m:den>
                                  </m:f>
                                </m:e>
                              </m:mr>
                            </m:m>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3"/>
                                      <m:mcJc m:val="center"/>
                                    </m:mcPr>
                                  </m:mc>
                                </m:mcs>
                                <m:ctrlPr>
                                  <a:rPr lang="en-US" sz="2200" i="1">
                                    <a:latin typeface="Cambria Math" panose="02040503050406030204" pitchFamily="18" charset="0"/>
                                  </a:rPr>
                                </m:ctrlPr>
                              </m:mPr>
                              <m:mr>
                                <m:e>
                                  <m:r>
                                    <a:rPr lang="en-US" sz="2200" i="0">
                                      <a:latin typeface="Cambria Math" panose="02040503050406030204" pitchFamily="18" charset="0"/>
                                    </a:rPr>
                                    <m:t>1</m:t>
                                  </m:r>
                                </m:e>
                                <m:e>
                                  <m:r>
                                    <a:rPr lang="en-US" sz="2200" i="0">
                                      <a:latin typeface="Cambria Math" panose="02040503050406030204" pitchFamily="18" charset="0"/>
                                    </a:rPr>
                                    <m:t>⋯</m:t>
                                  </m:r>
                                </m:e>
                                <m:e>
                                  <m:r>
                                    <a:rPr lang="en-US" sz="2200" i="0">
                                      <a:latin typeface="Cambria Math" panose="02040503050406030204" pitchFamily="18" charset="0"/>
                                    </a:rPr>
                                    <m:t>0</m:t>
                                  </m:r>
                                </m:e>
                              </m:mr>
                              <m:mr>
                                <m:e>
                                  <m:r>
                                    <a:rPr lang="en-US" sz="2200" i="0">
                                      <a:latin typeface="Cambria Math" panose="02040503050406030204" pitchFamily="18" charset="0"/>
                                    </a:rPr>
                                    <m:t>⋮</m:t>
                                  </m:r>
                                </m:e>
                                <m:e>
                                  <m:r>
                                    <a:rPr lang="en-US" sz="2200" i="0">
                                      <a:latin typeface="Cambria Math" panose="02040503050406030204" pitchFamily="18" charset="0"/>
                                    </a:rPr>
                                    <m:t>⋱</m:t>
                                  </m:r>
                                </m:e>
                                <m:e>
                                  <m:r>
                                    <a:rPr lang="en-US" sz="2200" i="0">
                                      <a:latin typeface="Cambria Math" panose="02040503050406030204" pitchFamily="18" charset="0"/>
                                    </a:rPr>
                                    <m:t>⋮</m:t>
                                  </m:r>
                                </m:e>
                              </m:mr>
                              <m:mr>
                                <m:e>
                                  <m:r>
                                    <a:rPr lang="en-US" sz="2200" i="0">
                                      <a:latin typeface="Cambria Math" panose="02040503050406030204" pitchFamily="18" charset="0"/>
                                    </a:rPr>
                                    <m:t>0</m:t>
                                  </m:r>
                                </m:e>
                                <m:e>
                                  <m:r>
                                    <a:rPr lang="en-US" sz="2200" i="0">
                                      <a:latin typeface="Cambria Math" panose="02040503050406030204" pitchFamily="18" charset="0"/>
                                    </a:rPr>
                                    <m:t>⋯</m:t>
                                  </m:r>
                                </m:e>
                                <m:e>
                                  <m:r>
                                    <a:rPr lang="en-US" sz="2200" i="0">
                                      <a:latin typeface="Cambria Math" panose="02040503050406030204" pitchFamily="18" charset="0"/>
                                    </a:rPr>
                                    <m:t>1</m:t>
                                  </m:r>
                                </m:e>
                              </m:mr>
                            </m:m>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4"/>
                                      <m:mcJc m:val="center"/>
                                    </m:mcPr>
                                  </m:mc>
                                </m:mcs>
                                <m:ctrlPr>
                                  <a:rPr lang="en-US" sz="2200" i="1">
                                    <a:latin typeface="Cambria Math" panose="02040503050406030204" pitchFamily="18" charset="0"/>
                                  </a:rPr>
                                </m:ctrlPr>
                              </m:mPr>
                              <m:mr>
                                <m:e>
                                  <m:f>
                                    <m:fPr>
                                      <m:ctrlPr>
                                        <a:rPr lang="en-US" sz="2200" i="1">
                                          <a:latin typeface="Cambria Math" panose="02040503050406030204" pitchFamily="18" charset="0"/>
                                        </a:rPr>
                                      </m:ctrlPr>
                                    </m:fPr>
                                    <m:num>
                                      <m:r>
                                        <a:rPr lang="en-US" sz="2200" i="0">
                                          <a:latin typeface="Cambria Math" panose="02040503050406030204" pitchFamily="18" charset="0"/>
                                        </a:rPr>
                                        <m:t>2</m:t>
                                      </m:r>
                                    </m:num>
                                    <m:den>
                                      <m:r>
                                        <a:rPr lang="en-US" sz="2200" i="1">
                                          <a:latin typeface="Cambria Math" panose="02040503050406030204" pitchFamily="18" charset="0"/>
                                        </a:rPr>
                                        <m:t>𝑁</m:t>
                                      </m:r>
                                    </m:den>
                                  </m:f>
                                  <m:r>
                                    <a:rPr lang="en-US" sz="2200" i="0">
                                      <a:latin typeface="Cambria Math" panose="02040503050406030204" pitchFamily="18" charset="0"/>
                                    </a:rPr>
                                    <m:t>−1</m:t>
                                  </m:r>
                                </m:e>
                                <m:e>
                                  <m:f>
                                    <m:fPr>
                                      <m:ctrlPr>
                                        <a:rPr lang="en-US" sz="2200" i="1">
                                          <a:latin typeface="Cambria Math" panose="02040503050406030204" pitchFamily="18" charset="0"/>
                                        </a:rPr>
                                      </m:ctrlPr>
                                    </m:fPr>
                                    <m:num>
                                      <m:r>
                                        <a:rPr lang="en-US" sz="2200" i="0">
                                          <a:latin typeface="Cambria Math" panose="02040503050406030204" pitchFamily="18" charset="0"/>
                                        </a:rPr>
                                        <m:t>2</m:t>
                                      </m:r>
                                    </m:num>
                                    <m:den>
                                      <m:r>
                                        <a:rPr lang="en-US" sz="2200" i="1">
                                          <a:latin typeface="Cambria Math" panose="02040503050406030204" pitchFamily="18" charset="0"/>
                                        </a:rPr>
                                        <m:t>𝑁</m:t>
                                      </m:r>
                                    </m:den>
                                  </m:f>
                                </m:e>
                                <m:e>
                                  <m:r>
                                    <a:rPr lang="en-US" sz="2200" i="0">
                                      <a:latin typeface="Cambria Math" panose="02040503050406030204" pitchFamily="18" charset="0"/>
                                    </a:rPr>
                                    <m:t>⋯</m:t>
                                  </m:r>
                                </m:e>
                                <m:e>
                                  <m:f>
                                    <m:fPr>
                                      <m:ctrlPr>
                                        <a:rPr lang="en-US" sz="2200" i="1">
                                          <a:latin typeface="Cambria Math" panose="02040503050406030204" pitchFamily="18" charset="0"/>
                                        </a:rPr>
                                      </m:ctrlPr>
                                    </m:fPr>
                                    <m:num>
                                      <m:r>
                                        <a:rPr lang="en-US" sz="2200" i="0">
                                          <a:latin typeface="Cambria Math" panose="02040503050406030204" pitchFamily="18" charset="0"/>
                                        </a:rPr>
                                        <m:t>2</m:t>
                                      </m:r>
                                    </m:num>
                                    <m:den>
                                      <m:r>
                                        <a:rPr lang="en-US" sz="2200" i="1">
                                          <a:latin typeface="Cambria Math" panose="02040503050406030204" pitchFamily="18" charset="0"/>
                                        </a:rPr>
                                        <m:t>𝑁</m:t>
                                      </m:r>
                                    </m:den>
                                  </m:f>
                                </m:e>
                              </m:mr>
                              <m:mr>
                                <m:e>
                                  <m:f>
                                    <m:fPr>
                                      <m:ctrlPr>
                                        <a:rPr lang="en-US" sz="2200" i="1">
                                          <a:latin typeface="Cambria Math" panose="02040503050406030204" pitchFamily="18" charset="0"/>
                                        </a:rPr>
                                      </m:ctrlPr>
                                    </m:fPr>
                                    <m:num>
                                      <m:r>
                                        <a:rPr lang="en-US" sz="2200" i="0">
                                          <a:latin typeface="Cambria Math" panose="02040503050406030204" pitchFamily="18" charset="0"/>
                                        </a:rPr>
                                        <m:t>2</m:t>
                                      </m:r>
                                    </m:num>
                                    <m:den>
                                      <m:r>
                                        <a:rPr lang="en-US" sz="2200" i="1">
                                          <a:latin typeface="Cambria Math" panose="02040503050406030204" pitchFamily="18" charset="0"/>
                                        </a:rPr>
                                        <m:t>𝑁</m:t>
                                      </m:r>
                                    </m:den>
                                  </m:f>
                                </m:e>
                                <m:e>
                                  <m:f>
                                    <m:fPr>
                                      <m:ctrlPr>
                                        <a:rPr lang="en-US" sz="2200" i="1">
                                          <a:latin typeface="Cambria Math" panose="02040503050406030204" pitchFamily="18" charset="0"/>
                                        </a:rPr>
                                      </m:ctrlPr>
                                    </m:fPr>
                                    <m:num>
                                      <m:r>
                                        <a:rPr lang="en-US" sz="2200" i="0">
                                          <a:latin typeface="Cambria Math" panose="02040503050406030204" pitchFamily="18" charset="0"/>
                                        </a:rPr>
                                        <m:t>2</m:t>
                                      </m:r>
                                    </m:num>
                                    <m:den>
                                      <m:r>
                                        <a:rPr lang="en-US" sz="2200" i="1">
                                          <a:latin typeface="Cambria Math" panose="02040503050406030204" pitchFamily="18" charset="0"/>
                                        </a:rPr>
                                        <m:t>𝑁</m:t>
                                      </m:r>
                                    </m:den>
                                  </m:f>
                                  <m:r>
                                    <a:rPr lang="en-US" sz="2200" i="0">
                                      <a:latin typeface="Cambria Math" panose="02040503050406030204" pitchFamily="18" charset="0"/>
                                    </a:rPr>
                                    <m:t>−1</m:t>
                                  </m:r>
                                </m:e>
                                <m:e>
                                  <m:r>
                                    <a:rPr lang="en-US" sz="2200" i="0">
                                      <a:latin typeface="Cambria Math" panose="02040503050406030204" pitchFamily="18" charset="0"/>
                                    </a:rPr>
                                    <m:t>⋯</m:t>
                                  </m:r>
                                </m:e>
                                <m:e>
                                  <m:f>
                                    <m:fPr>
                                      <m:ctrlPr>
                                        <a:rPr lang="en-US" sz="2200" i="1">
                                          <a:latin typeface="Cambria Math" panose="02040503050406030204" pitchFamily="18" charset="0"/>
                                        </a:rPr>
                                      </m:ctrlPr>
                                    </m:fPr>
                                    <m:num>
                                      <m:r>
                                        <a:rPr lang="en-US" sz="2200" i="0">
                                          <a:latin typeface="Cambria Math" panose="02040503050406030204" pitchFamily="18" charset="0"/>
                                        </a:rPr>
                                        <m:t>2</m:t>
                                      </m:r>
                                    </m:num>
                                    <m:den>
                                      <m:r>
                                        <a:rPr lang="en-US" sz="2200" i="1">
                                          <a:latin typeface="Cambria Math" panose="02040503050406030204" pitchFamily="18" charset="0"/>
                                        </a:rPr>
                                        <m:t>𝑁</m:t>
                                      </m:r>
                                    </m:den>
                                  </m:f>
                                </m:e>
                              </m:mr>
                              <m:mr>
                                <m:e>
                                  <m:r>
                                    <a:rPr lang="en-US" sz="2200" i="0">
                                      <a:latin typeface="Cambria Math" panose="02040503050406030204" pitchFamily="18" charset="0"/>
                                    </a:rPr>
                                    <m:t>⋮</m:t>
                                  </m:r>
                                </m:e>
                                <m:e>
                                  <m:r>
                                    <a:rPr lang="en-US" sz="2200" i="0">
                                      <a:latin typeface="Cambria Math" panose="02040503050406030204" pitchFamily="18" charset="0"/>
                                    </a:rPr>
                                    <m:t>⋮</m:t>
                                  </m:r>
                                </m:e>
                                <m:e>
                                  <m:r>
                                    <a:rPr lang="en-US" sz="2200" i="0">
                                      <a:latin typeface="Cambria Math" panose="02040503050406030204" pitchFamily="18" charset="0"/>
                                    </a:rPr>
                                    <m:t>⋮</m:t>
                                  </m:r>
                                </m:e>
                                <m:e>
                                  <m:r>
                                    <a:rPr lang="en-US" sz="2200" i="0">
                                      <a:latin typeface="Cambria Math" panose="02040503050406030204" pitchFamily="18" charset="0"/>
                                    </a:rPr>
                                    <m:t>⋮</m:t>
                                  </m:r>
                                </m:e>
                              </m:mr>
                              <m:mr>
                                <m:e>
                                  <m:f>
                                    <m:fPr>
                                      <m:ctrlPr>
                                        <a:rPr lang="en-US" sz="2200" i="1">
                                          <a:latin typeface="Cambria Math" panose="02040503050406030204" pitchFamily="18" charset="0"/>
                                        </a:rPr>
                                      </m:ctrlPr>
                                    </m:fPr>
                                    <m:num>
                                      <m:r>
                                        <a:rPr lang="en-US" sz="2200" i="0">
                                          <a:latin typeface="Cambria Math" panose="02040503050406030204" pitchFamily="18" charset="0"/>
                                        </a:rPr>
                                        <m:t>2</m:t>
                                      </m:r>
                                    </m:num>
                                    <m:den>
                                      <m:r>
                                        <a:rPr lang="en-US" sz="2200" i="1">
                                          <a:latin typeface="Cambria Math" panose="02040503050406030204" pitchFamily="18" charset="0"/>
                                        </a:rPr>
                                        <m:t>𝑁</m:t>
                                      </m:r>
                                    </m:den>
                                  </m:f>
                                </m:e>
                                <m:e>
                                  <m:f>
                                    <m:fPr>
                                      <m:ctrlPr>
                                        <a:rPr lang="en-US" sz="2200" i="1">
                                          <a:latin typeface="Cambria Math" panose="02040503050406030204" pitchFamily="18" charset="0"/>
                                        </a:rPr>
                                      </m:ctrlPr>
                                    </m:fPr>
                                    <m:num>
                                      <m:r>
                                        <a:rPr lang="en-US" sz="2200" i="0">
                                          <a:latin typeface="Cambria Math" panose="02040503050406030204" pitchFamily="18" charset="0"/>
                                        </a:rPr>
                                        <m:t>2</m:t>
                                      </m:r>
                                    </m:num>
                                    <m:den>
                                      <m:r>
                                        <a:rPr lang="en-US" sz="2200" i="1">
                                          <a:latin typeface="Cambria Math" panose="02040503050406030204" pitchFamily="18" charset="0"/>
                                        </a:rPr>
                                        <m:t>𝑁</m:t>
                                      </m:r>
                                    </m:den>
                                  </m:f>
                                </m:e>
                                <m:e>
                                  <m:r>
                                    <a:rPr lang="en-US" sz="2200" i="0">
                                      <a:latin typeface="Cambria Math" panose="02040503050406030204" pitchFamily="18" charset="0"/>
                                    </a:rPr>
                                    <m:t>⋯</m:t>
                                  </m:r>
                                </m:e>
                                <m:e>
                                  <m:f>
                                    <m:fPr>
                                      <m:ctrlPr>
                                        <a:rPr lang="en-US" sz="2200" i="1">
                                          <a:latin typeface="Cambria Math" panose="02040503050406030204" pitchFamily="18" charset="0"/>
                                        </a:rPr>
                                      </m:ctrlPr>
                                    </m:fPr>
                                    <m:num>
                                      <m:r>
                                        <a:rPr lang="en-US" sz="2200" i="0">
                                          <a:latin typeface="Cambria Math" panose="02040503050406030204" pitchFamily="18" charset="0"/>
                                        </a:rPr>
                                        <m:t>2</m:t>
                                      </m:r>
                                    </m:num>
                                    <m:den>
                                      <m:r>
                                        <a:rPr lang="en-US" sz="2200" i="1">
                                          <a:latin typeface="Cambria Math" panose="02040503050406030204" pitchFamily="18" charset="0"/>
                                        </a:rPr>
                                        <m:t>𝑁</m:t>
                                      </m:r>
                                    </m:den>
                                  </m:f>
                                  <m:r>
                                    <a:rPr lang="en-US" sz="2200" i="0">
                                      <a:latin typeface="Cambria Math" panose="02040503050406030204" pitchFamily="18" charset="0"/>
                                    </a:rPr>
                                    <m:t>−1</m:t>
                                  </m:r>
                                </m:e>
                              </m:mr>
                            </m:m>
                          </m:e>
                        </m:d>
                      </m:oMath>
                    </m:oMathPara>
                  </a14:m>
                  <a:endParaRPr lang="en-US" sz="2200" dirty="0"/>
                </a:p>
              </p:txBody>
            </p:sp>
          </mc:Choice>
          <mc:Fallback xmlns="">
            <p:sp>
              <p:nvSpPr>
                <p:cNvPr id="9" name="Rectangle 8">
                  <a:extLst>
                    <a:ext uri="{FF2B5EF4-FFF2-40B4-BE49-F238E27FC236}">
                      <a16:creationId xmlns:a16="http://schemas.microsoft.com/office/drawing/2014/main" id="{4B76276D-5039-7D4F-A6A3-80084B270E5E}"/>
                    </a:ext>
                  </a:extLst>
                </p:cNvPr>
                <p:cNvSpPr>
                  <a:spLocks noRot="1" noChangeAspect="1" noMove="1" noResize="1" noEditPoints="1" noAdjustHandles="1" noChangeArrowheads="1" noChangeShapeType="1" noTextEdit="1"/>
                </p:cNvSpPr>
                <p:nvPr/>
              </p:nvSpPr>
              <p:spPr>
                <a:xfrm>
                  <a:off x="535077" y="3064084"/>
                  <a:ext cx="10553700" cy="2363083"/>
                </a:xfrm>
                <a:prstGeom prst="rect">
                  <a:avLst/>
                </a:prstGeom>
                <a:blipFill>
                  <a:blip r:embed="rId5"/>
                  <a:stretch>
                    <a:fillRect b="-535"/>
                  </a:stretch>
                </a:blipFill>
              </p:spPr>
              <p:txBody>
                <a:bodyPr/>
                <a:lstStyle/>
                <a:p>
                  <a:r>
                    <a:rPr lang="en-US">
                      <a:noFill/>
                    </a:rPr>
                    <a:t> </a:t>
                  </a:r>
                </a:p>
              </p:txBody>
            </p:sp>
          </mc:Fallback>
        </mc:AlternateContent>
        <p:sp>
          <p:nvSpPr>
            <p:cNvPr id="12" name="Right Arrow 11">
              <a:extLst>
                <a:ext uri="{FF2B5EF4-FFF2-40B4-BE49-F238E27FC236}">
                  <a16:creationId xmlns:a16="http://schemas.microsoft.com/office/drawing/2014/main" id="{D32EDC6D-482D-3A4A-B7EA-542158D694CD}"/>
                </a:ext>
              </a:extLst>
            </p:cNvPr>
            <p:cNvSpPr/>
            <p:nvPr/>
          </p:nvSpPr>
          <p:spPr>
            <a:xfrm rot="5400000">
              <a:off x="4278656" y="2475190"/>
              <a:ext cx="590377" cy="465447"/>
            </a:xfrm>
            <a:prstGeom prst="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8C5F80D-26CF-B94D-A7C4-793A781B5AA2}"/>
              </a:ext>
            </a:extLst>
          </p:cNvPr>
          <p:cNvGrpSpPr/>
          <p:nvPr/>
        </p:nvGrpSpPr>
        <p:grpSpPr>
          <a:xfrm>
            <a:off x="3595327" y="5131978"/>
            <a:ext cx="2294218" cy="1331221"/>
            <a:chOff x="3595327" y="5131978"/>
            <a:chExt cx="2294218" cy="1331221"/>
          </a:xfrm>
        </p:grpSpPr>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6BDE8078-68B8-FF42-98BA-990E8C499DB6}"/>
                    </a:ext>
                  </a:extLst>
                </p:cNvPr>
                <p:cNvSpPr/>
                <p:nvPr/>
              </p:nvSpPr>
              <p:spPr>
                <a:xfrm>
                  <a:off x="3595327" y="6001534"/>
                  <a:ext cx="2294218" cy="461665"/>
                </a:xfrm>
                <a:prstGeom prst="rect">
                  <a:avLst/>
                </a:prstGeom>
                <a:solidFill>
                  <a:schemeClr val="accent4">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𝐷</m:t>
                        </m:r>
                        <m:r>
                          <a:rPr lang="en-US" sz="2400" i="0">
                            <a:latin typeface="Cambria Math" panose="02040503050406030204" pitchFamily="18" charset="0"/>
                          </a:rPr>
                          <m:t>=2</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0">
                            <a:latin typeface="Cambria Math" panose="02040503050406030204" pitchFamily="18" charset="0"/>
                          </a:rPr>
                          <m:t>⟨</m:t>
                        </m:r>
                        <m:r>
                          <a:rPr lang="en-US" sz="2400" i="1">
                            <a:latin typeface="Cambria Math" panose="02040503050406030204" pitchFamily="18" charset="0"/>
                          </a:rPr>
                          <m:t>𝑆</m:t>
                        </m:r>
                        <m:r>
                          <a:rPr lang="en-US" sz="2400" i="0">
                            <a:latin typeface="Cambria Math" panose="02040503050406030204" pitchFamily="18" charset="0"/>
                          </a:rPr>
                          <m:t>|−</m:t>
                        </m:r>
                        <m:r>
                          <a:rPr lang="en-US" sz="2400" i="1">
                            <a:latin typeface="Cambria Math" panose="02040503050406030204" pitchFamily="18" charset="0"/>
                          </a:rPr>
                          <m:t>𝐼</m:t>
                        </m:r>
                      </m:oMath>
                    </m:oMathPara>
                  </a14:m>
                  <a:endParaRPr lang="en-US" sz="2400" dirty="0"/>
                </a:p>
              </p:txBody>
            </p:sp>
          </mc:Choice>
          <mc:Fallback xmlns="">
            <p:sp>
              <p:nvSpPr>
                <p:cNvPr id="10" name="Rectangle 9">
                  <a:extLst>
                    <a:ext uri="{FF2B5EF4-FFF2-40B4-BE49-F238E27FC236}">
                      <a16:creationId xmlns:a16="http://schemas.microsoft.com/office/drawing/2014/main" id="{6BDE8078-68B8-FF42-98BA-990E8C499DB6}"/>
                    </a:ext>
                  </a:extLst>
                </p:cNvPr>
                <p:cNvSpPr>
                  <a:spLocks noRot="1" noChangeAspect="1" noMove="1" noResize="1" noEditPoints="1" noAdjustHandles="1" noChangeArrowheads="1" noChangeShapeType="1" noTextEdit="1"/>
                </p:cNvSpPr>
                <p:nvPr/>
              </p:nvSpPr>
              <p:spPr>
                <a:xfrm>
                  <a:off x="3595327" y="6001534"/>
                  <a:ext cx="2294218" cy="461665"/>
                </a:xfrm>
                <a:prstGeom prst="rect">
                  <a:avLst/>
                </a:prstGeom>
                <a:blipFill>
                  <a:blip r:embed="rId6"/>
                  <a:stretch>
                    <a:fillRect b="-16216"/>
                  </a:stretch>
                </a:blipFill>
              </p:spPr>
              <p:txBody>
                <a:bodyPr/>
                <a:lstStyle/>
                <a:p>
                  <a:r>
                    <a:rPr lang="en-US">
                      <a:noFill/>
                    </a:rPr>
                    <a:t> </a:t>
                  </a:r>
                </a:p>
              </p:txBody>
            </p:sp>
          </mc:Fallback>
        </mc:AlternateContent>
        <p:sp>
          <p:nvSpPr>
            <p:cNvPr id="13" name="Right Arrow 12">
              <a:extLst>
                <a:ext uri="{FF2B5EF4-FFF2-40B4-BE49-F238E27FC236}">
                  <a16:creationId xmlns:a16="http://schemas.microsoft.com/office/drawing/2014/main" id="{288F2E2C-766B-6740-A34F-6FC8126036DE}"/>
                </a:ext>
              </a:extLst>
            </p:cNvPr>
            <p:cNvSpPr/>
            <p:nvPr/>
          </p:nvSpPr>
          <p:spPr>
            <a:xfrm rot="5400000">
              <a:off x="4449106" y="5194443"/>
              <a:ext cx="590377" cy="465447"/>
            </a:xfrm>
            <a:prstGeom prst="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9911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a:extLst>
              <a:ext uri="{FF2B5EF4-FFF2-40B4-BE49-F238E27FC236}">
                <a16:creationId xmlns:a16="http://schemas.microsoft.com/office/drawing/2014/main" id="{0C372A9A-AD21-0541-A258-615A077B091F}"/>
              </a:ext>
            </a:extLst>
          </p:cNvPr>
          <p:cNvSpPr/>
          <p:nvPr/>
        </p:nvSpPr>
        <p:spPr>
          <a:xfrm>
            <a:off x="3460652" y="4127771"/>
            <a:ext cx="5050302" cy="525425"/>
          </a:xfrm>
          <a:prstGeom prst="round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7A2548C-F990-0540-8399-2825EF4E4D8E}"/>
                  </a:ext>
                </a:extLst>
              </p:cNvPr>
              <p:cNvSpPr txBox="1"/>
              <p:nvPr/>
            </p:nvSpPr>
            <p:spPr>
              <a:xfrm>
                <a:off x="144669" y="3210787"/>
                <a:ext cx="11583427" cy="1569660"/>
              </a:xfrm>
              <a:prstGeom prst="rect">
                <a:avLst/>
              </a:prstGeom>
              <a:noFill/>
            </p:spPr>
            <p:txBody>
              <a:bodyPr wrap="square" rtlCol="0">
                <a:spAutoFit/>
              </a:bodyPr>
              <a:lstStyle/>
              <a:p>
                <a:r>
                  <a:rPr lang="en-ZA" sz="2400" b="1" dirty="0">
                    <a:solidFill>
                      <a:schemeClr val="accent5">
                        <a:lumMod val="75000"/>
                      </a:schemeClr>
                    </a:solidFill>
                  </a:rPr>
                  <a:t>2. Reflection) about </a:t>
                </a:r>
                <a14:m>
                  <m:oMath xmlns:m="http://schemas.openxmlformats.org/officeDocument/2006/math">
                    <m:d>
                      <m:dPr>
                        <m:begChr m:val="|"/>
                        <m:endChr m:val="⟩"/>
                        <m:ctrlPr>
                          <a:rPr lang="en-ZA" sz="2400" b="1" i="1">
                            <a:solidFill>
                              <a:schemeClr val="accent5">
                                <a:lumMod val="75000"/>
                              </a:schemeClr>
                            </a:solidFill>
                            <a:latin typeface="Cambria Math" panose="02040503050406030204" pitchFamily="18" charset="0"/>
                          </a:rPr>
                        </m:ctrlPr>
                      </m:dPr>
                      <m:e>
                        <m:sSup>
                          <m:sSupPr>
                            <m:ctrlPr>
                              <a:rPr lang="en-ZA" sz="2400" b="1" i="1">
                                <a:solidFill>
                                  <a:schemeClr val="accent5">
                                    <a:lumMod val="75000"/>
                                  </a:schemeClr>
                                </a:solidFill>
                                <a:latin typeface="Cambria Math" panose="02040503050406030204" pitchFamily="18" charset="0"/>
                              </a:rPr>
                            </m:ctrlPr>
                          </m:sSupPr>
                          <m:e>
                            <m:r>
                              <a:rPr lang="en-US" sz="2400" b="1" i="1">
                                <a:solidFill>
                                  <a:schemeClr val="accent5">
                                    <a:lumMod val="75000"/>
                                  </a:schemeClr>
                                </a:solidFill>
                                <a:latin typeface="Cambria Math" panose="02040503050406030204" pitchFamily="18" charset="0"/>
                              </a:rPr>
                              <m:t>𝟎</m:t>
                            </m:r>
                          </m:e>
                          <m:sup>
                            <m:r>
                              <a:rPr lang="en-US" sz="2400" b="1" i="1">
                                <a:solidFill>
                                  <a:schemeClr val="accent5">
                                    <a:lumMod val="75000"/>
                                  </a:schemeClr>
                                </a:solidFill>
                                <a:latin typeface="Cambria Math" panose="02040503050406030204" pitchFamily="18" charset="0"/>
                              </a:rPr>
                              <m:t>𝒏</m:t>
                            </m:r>
                          </m:sup>
                        </m:sSup>
                      </m:e>
                    </m:d>
                  </m:oMath>
                </a14:m>
                <a:r>
                  <a:rPr lang="en-ZA" sz="2400" b="1" dirty="0">
                    <a:solidFill>
                      <a:schemeClr val="accent5">
                        <a:lumMod val="75000"/>
                      </a:schemeClr>
                    </a:solidFill>
                  </a:rPr>
                  <a:t> </a:t>
                </a:r>
              </a:p>
              <a:p>
                <a:r>
                  <a:rPr lang="en-ZA" sz="2400" dirty="0"/>
                  <a:t>	For Grover’s diffuser, the reflection is performed about the all-zero state </a:t>
                </a:r>
                <a14:m>
                  <m:oMath xmlns:m="http://schemas.openxmlformats.org/officeDocument/2006/math">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en-US" sz="2400" i="1">
                                <a:latin typeface="Cambria Math" panose="02040503050406030204" pitchFamily="18" charset="0"/>
                              </a:rPr>
                              <m:t>0</m:t>
                            </m:r>
                          </m:e>
                          <m:sup>
                            <m:r>
                              <a:rPr lang="en-US" sz="2400" i="1">
                                <a:latin typeface="Cambria Math" panose="02040503050406030204" pitchFamily="18" charset="0"/>
                              </a:rPr>
                              <m:t>𝑛</m:t>
                            </m:r>
                          </m:sup>
                        </m:sSup>
                      </m:e>
                    </m:d>
                  </m:oMath>
                </a14:m>
                <a:r>
                  <a:rPr lang="en-ZA" sz="2400" dirty="0"/>
                  <a:t>.</a:t>
                </a:r>
              </a:p>
              <a:p>
                <a:endParaRPr lang="en-US" sz="12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𝑅</m:t>
                      </m:r>
                      <m:r>
                        <a:rPr lang="sr-Latn-RS" sz="2400" i="1">
                          <a:latin typeface="Cambria Math" panose="02040503050406030204" pitchFamily="18" charset="0"/>
                        </a:rPr>
                        <m:t>=2</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m:t>
                          </m:r>
                        </m:e>
                      </m:d>
                      <m:r>
                        <a:rPr lang="sr-Latn-RS" sz="2400">
                          <a:latin typeface="Cambria Math" panose="02040503050406030204" pitchFamily="18" charset="0"/>
                        </a:rPr>
                        <m:t>⟨</m:t>
                      </m:r>
                      <m:r>
                        <a:rPr lang="sr-Latn-RS" sz="2400" i="1">
                          <a:latin typeface="Cambria Math" panose="02040503050406030204" pitchFamily="18" charset="0"/>
                        </a:rPr>
                        <m:t>0</m:t>
                      </m:r>
                      <m:r>
                        <a:rPr lang="sr-Latn-RS" sz="2400">
                          <a:latin typeface="Cambria Math" panose="02040503050406030204" pitchFamily="18" charset="0"/>
                        </a:rPr>
                        <m:t>|</m:t>
                      </m:r>
                      <m:r>
                        <a:rPr lang="sr-Latn-RS" sz="2400" i="1">
                          <a:latin typeface="Cambria Math" panose="02040503050406030204" pitchFamily="18" charset="0"/>
                        </a:rPr>
                        <m:t>−</m:t>
                      </m:r>
                      <m:r>
                        <a:rPr lang="sr-Latn-RS" sz="2400" i="1">
                          <a:latin typeface="Cambria Math" panose="02040503050406030204" pitchFamily="18" charset="0"/>
                        </a:rPr>
                        <m:t>𝐼</m:t>
                      </m:r>
                      <m:r>
                        <a:rPr lang="en-US" sz="2400" b="0" i="1" smtClean="0">
                          <a:latin typeface="Cambria Math" panose="02040503050406030204" pitchFamily="18" charset="0"/>
                        </a:rPr>
                        <m:t>=</m:t>
                      </m:r>
                      <m:r>
                        <m:rPr>
                          <m:sty m:val="p"/>
                        </m:rPr>
                        <a:rPr lang="en-US" sz="2400">
                          <a:latin typeface="Cambria Math" panose="02040503050406030204" pitchFamily="18" charset="0"/>
                        </a:rPr>
                        <m:t>diag</m:t>
                      </m:r>
                      <m:d>
                        <m:dPr>
                          <m:ctrlPr>
                            <a:rPr lang="en-US" sz="2400" i="1">
                              <a:latin typeface="Cambria Math" panose="02040503050406030204" pitchFamily="18" charset="0"/>
                            </a:rPr>
                          </m:ctrlPr>
                        </m:dPr>
                        <m:e>
                          <m:r>
                            <a:rPr lang="en-US" sz="2400" i="1">
                              <a:latin typeface="Cambria Math" panose="02040503050406030204" pitchFamily="18" charset="0"/>
                            </a:rPr>
                            <m:t>1,−1,</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,−1</m:t>
                          </m:r>
                        </m:e>
                      </m:d>
                    </m:oMath>
                  </m:oMathPara>
                </a14:m>
                <a:endParaRPr lang="en-US" sz="2400" dirty="0"/>
              </a:p>
              <a:p>
                <a:endParaRPr lang="en-US" sz="1200" dirty="0"/>
              </a:p>
            </p:txBody>
          </p:sp>
        </mc:Choice>
        <mc:Fallback xmlns="">
          <p:sp>
            <p:nvSpPr>
              <p:cNvPr id="20" name="TextBox 19">
                <a:extLst>
                  <a:ext uri="{FF2B5EF4-FFF2-40B4-BE49-F238E27FC236}">
                    <a16:creationId xmlns:a16="http://schemas.microsoft.com/office/drawing/2014/main" id="{B7A2548C-F990-0540-8399-2825EF4E4D8E}"/>
                  </a:ext>
                </a:extLst>
              </p:cNvPr>
              <p:cNvSpPr txBox="1">
                <a:spLocks noRot="1" noChangeAspect="1" noMove="1" noResize="1" noEditPoints="1" noAdjustHandles="1" noChangeArrowheads="1" noChangeShapeType="1" noTextEdit="1"/>
              </p:cNvSpPr>
              <p:nvPr/>
            </p:nvSpPr>
            <p:spPr>
              <a:xfrm>
                <a:off x="144669" y="3210787"/>
                <a:ext cx="11583427" cy="1569660"/>
              </a:xfrm>
              <a:prstGeom prst="rect">
                <a:avLst/>
              </a:prstGeom>
              <a:blipFill>
                <a:blip r:embed="rId3"/>
                <a:stretch>
                  <a:fillRect l="-767" t="-1613"/>
                </a:stretch>
              </a:blipFill>
            </p:spPr>
            <p:txBody>
              <a:bodyPr/>
              <a:lstStyle/>
              <a:p>
                <a:r>
                  <a:rPr lang="en-US">
                    <a:noFill/>
                  </a:rPr>
                  <a:t> </a:t>
                </a:r>
              </a:p>
            </p:txBody>
          </p:sp>
        </mc:Fallback>
      </mc:AlternateContent>
      <p:sp>
        <p:nvSpPr>
          <p:cNvPr id="25" name="Rounded Rectangle 24">
            <a:extLst>
              <a:ext uri="{FF2B5EF4-FFF2-40B4-BE49-F238E27FC236}">
                <a16:creationId xmlns:a16="http://schemas.microsoft.com/office/drawing/2014/main" id="{795276A1-6B48-E04D-A55B-C57AF1250E2D}"/>
              </a:ext>
            </a:extLst>
          </p:cNvPr>
          <p:cNvSpPr/>
          <p:nvPr/>
        </p:nvSpPr>
        <p:spPr>
          <a:xfrm>
            <a:off x="4012846" y="6075793"/>
            <a:ext cx="3962400" cy="525425"/>
          </a:xfrm>
          <a:prstGeom prst="round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71B8B051-A403-D446-9DE2-33E3A27B998D}"/>
              </a:ext>
            </a:extLst>
          </p:cNvPr>
          <p:cNvSpPr/>
          <p:nvPr/>
        </p:nvSpPr>
        <p:spPr>
          <a:xfrm>
            <a:off x="4685433" y="1763488"/>
            <a:ext cx="2501900" cy="525425"/>
          </a:xfrm>
          <a:prstGeom prst="round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E2F751C-CE74-3F4E-A713-27043F576420}"/>
                  </a:ext>
                </a:extLst>
              </p:cNvPr>
              <p:cNvSpPr txBox="1"/>
              <p:nvPr/>
            </p:nvSpPr>
            <p:spPr>
              <a:xfrm>
                <a:off x="144670" y="864520"/>
                <a:ext cx="11583427" cy="1384995"/>
              </a:xfrm>
              <a:prstGeom prst="rect">
                <a:avLst/>
              </a:prstGeom>
              <a:noFill/>
            </p:spPr>
            <p:txBody>
              <a:bodyPr wrap="none" rtlCol="0">
                <a:spAutoFit/>
              </a:bodyPr>
              <a:lstStyle/>
              <a:p>
                <a:r>
                  <a:rPr lang="en-ZA" sz="2400" b="1" dirty="0">
                    <a:solidFill>
                      <a:schemeClr val="accent5">
                        <a:lumMod val="75000"/>
                      </a:schemeClr>
                    </a:solidFill>
                  </a:rPr>
                  <a:t>1. Reflection) about a normalized state </a:t>
                </a:r>
              </a:p>
              <a:p>
                <a:r>
                  <a:rPr lang="en-ZA" sz="2400" dirty="0"/>
                  <a:t>	A reflection (Householder reflection) about a normalized state </a:t>
                </a:r>
                <a14:m>
                  <m:oMath xmlns:m="http://schemas.openxmlformats.org/officeDocument/2006/math">
                    <m:d>
                      <m:dPr>
                        <m:begChr m:val="|"/>
                        <m:endChr m:val="⟩"/>
                        <m:ctrlPr>
                          <a:rPr lang="en-ZA" sz="2400" i="1">
                            <a:latin typeface="Cambria Math" panose="02040503050406030204" pitchFamily="18" charset="0"/>
                          </a:rPr>
                        </m:ctrlPr>
                      </m:dPr>
                      <m:e>
                        <m:r>
                          <a:rPr lang="en-US" sz="2400" i="1">
                            <a:latin typeface="Cambria Math" panose="02040503050406030204" pitchFamily="18" charset="0"/>
                          </a:rPr>
                          <m:t>𝑣</m:t>
                        </m:r>
                      </m:e>
                    </m:d>
                  </m:oMath>
                </a14:m>
                <a:r>
                  <a:rPr lang="en-ZA" sz="2400" dirty="0"/>
                  <a:t> can be written as </a:t>
                </a:r>
              </a:p>
              <a:p>
                <a:endParaRPr lang="en-US" sz="12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𝑣</m:t>
                          </m:r>
                        </m:sub>
                      </m:sSub>
                      <m:r>
                        <a:rPr lang="en-US" sz="2400">
                          <a:latin typeface="Cambria Math" panose="02040503050406030204" pitchFamily="18" charset="0"/>
                        </a:rPr>
                        <m:t>=</m:t>
                      </m:r>
                      <m:r>
                        <a:rPr lang="sr-Latn-RS" sz="2400" i="1">
                          <a:latin typeface="Cambria Math" panose="02040503050406030204" pitchFamily="18" charset="0"/>
                        </a:rPr>
                        <m:t>2</m:t>
                      </m:r>
                      <m:d>
                        <m:dPr>
                          <m:begChr m:val="|"/>
                          <m:endChr m:val="⟩"/>
                          <m:ctrlPr>
                            <a:rPr lang="en-ZA" sz="2400" i="1">
                              <a:latin typeface="Cambria Math" panose="02040503050406030204" pitchFamily="18" charset="0"/>
                            </a:rPr>
                          </m:ctrlPr>
                        </m:dPr>
                        <m:e>
                          <m:r>
                            <a:rPr lang="en-US" sz="2400" i="1">
                              <a:latin typeface="Cambria Math" panose="02040503050406030204" pitchFamily="18" charset="0"/>
                            </a:rPr>
                            <m:t>𝑣</m:t>
                          </m:r>
                        </m:e>
                      </m:d>
                      <m:r>
                        <a:rPr lang="sr-Latn-RS" sz="2400">
                          <a:latin typeface="Cambria Math" panose="02040503050406030204" pitchFamily="18" charset="0"/>
                        </a:rPr>
                        <m:t>⟨</m:t>
                      </m:r>
                      <m:r>
                        <a:rPr lang="en-US" sz="2400" i="1">
                          <a:latin typeface="Cambria Math" panose="02040503050406030204" pitchFamily="18" charset="0"/>
                        </a:rPr>
                        <m:t>𝑣</m:t>
                      </m:r>
                      <m:r>
                        <a:rPr lang="sr-Latn-RS" sz="2400">
                          <a:latin typeface="Cambria Math" panose="02040503050406030204" pitchFamily="18" charset="0"/>
                        </a:rPr>
                        <m:t>|</m:t>
                      </m:r>
                      <m:r>
                        <a:rPr lang="sr-Latn-RS" sz="2400" i="1">
                          <a:latin typeface="Cambria Math" panose="02040503050406030204" pitchFamily="18" charset="0"/>
                        </a:rPr>
                        <m:t>−</m:t>
                      </m:r>
                      <m:r>
                        <a:rPr lang="sr-Latn-RS" sz="2400" i="1">
                          <a:latin typeface="Cambria Math" panose="02040503050406030204" pitchFamily="18" charset="0"/>
                        </a:rPr>
                        <m:t>𝐼</m:t>
                      </m:r>
                    </m:oMath>
                  </m:oMathPara>
                </a14:m>
                <a:endParaRPr lang="en-US" sz="2400" dirty="0"/>
              </a:p>
            </p:txBody>
          </p:sp>
        </mc:Choice>
        <mc:Fallback xmlns="">
          <p:sp>
            <p:nvSpPr>
              <p:cNvPr id="9" name="TextBox 8">
                <a:extLst>
                  <a:ext uri="{FF2B5EF4-FFF2-40B4-BE49-F238E27FC236}">
                    <a16:creationId xmlns:a16="http://schemas.microsoft.com/office/drawing/2014/main" id="{EE2F751C-CE74-3F4E-A713-27043F576420}"/>
                  </a:ext>
                </a:extLst>
              </p:cNvPr>
              <p:cNvSpPr txBox="1">
                <a:spLocks noRot="1" noChangeAspect="1" noMove="1" noResize="1" noEditPoints="1" noAdjustHandles="1" noChangeArrowheads="1" noChangeShapeType="1" noTextEdit="1"/>
              </p:cNvSpPr>
              <p:nvPr/>
            </p:nvSpPr>
            <p:spPr>
              <a:xfrm>
                <a:off x="144670" y="864520"/>
                <a:ext cx="11583427" cy="1384995"/>
              </a:xfrm>
              <a:prstGeom prst="rect">
                <a:avLst/>
              </a:prstGeom>
              <a:blipFill>
                <a:blip r:embed="rId4"/>
                <a:stretch>
                  <a:fillRect l="-767" t="-2727" b="-454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413BEB9-EFFB-AB42-B8FB-C7A5716DECF5}"/>
              </a:ext>
            </a:extLst>
          </p:cNvPr>
          <p:cNvSpPr>
            <a:spLocks noGrp="1"/>
          </p:cNvSpPr>
          <p:nvPr>
            <p:ph type="sldNum" sz="quarter" idx="12"/>
          </p:nvPr>
        </p:nvSpPr>
        <p:spPr/>
        <p:txBody>
          <a:bodyPr/>
          <a:lstStyle/>
          <a:p>
            <a:fld id="{591A223C-FA10-BC46-A853-03BA373D023C}" type="slidenum">
              <a:rPr lang="en-US" smtClean="0"/>
              <a:t>15</a:t>
            </a:fld>
            <a:endParaRPr lang="en-US"/>
          </a:p>
        </p:txBody>
      </p:sp>
      <p:sp>
        <p:nvSpPr>
          <p:cNvPr id="3" name="Title 2">
            <a:extLst>
              <a:ext uri="{FF2B5EF4-FFF2-40B4-BE49-F238E27FC236}">
                <a16:creationId xmlns:a16="http://schemas.microsoft.com/office/drawing/2014/main" id="{8EDE1D18-2168-D745-BCCF-4EABB6F5626C}"/>
              </a:ext>
            </a:extLst>
          </p:cNvPr>
          <p:cNvSpPr>
            <a:spLocks noGrp="1"/>
          </p:cNvSpPr>
          <p:nvPr>
            <p:ph type="title"/>
          </p:nvPr>
        </p:nvSpPr>
        <p:spPr>
          <a:xfrm>
            <a:off x="0" y="0"/>
            <a:ext cx="12192000" cy="928688"/>
          </a:xfrm>
        </p:spPr>
        <p:txBody>
          <a:bodyPr/>
          <a:lstStyle/>
          <a:p>
            <a:r>
              <a:rPr lang="en-US" dirty="0"/>
              <a:t>Step 3: </a:t>
            </a:r>
            <a:r>
              <a:rPr lang="en-ZA" dirty="0"/>
              <a:t>Building Diffusion with Reflection</a:t>
            </a:r>
            <a:endParaRPr lang="en-US" dirty="0"/>
          </a:p>
        </p:txBody>
      </p:sp>
      <p:sp>
        <p:nvSpPr>
          <p:cNvPr id="6" name="Rounded Rectangle 5">
            <a:extLst>
              <a:ext uri="{FF2B5EF4-FFF2-40B4-BE49-F238E27FC236}">
                <a16:creationId xmlns:a16="http://schemas.microsoft.com/office/drawing/2014/main" id="{C3077C57-2783-D046-9947-4F515DDAA875}"/>
              </a:ext>
            </a:extLst>
          </p:cNvPr>
          <p:cNvSpPr/>
          <p:nvPr/>
        </p:nvSpPr>
        <p:spPr>
          <a:xfrm>
            <a:off x="259997" y="2378084"/>
            <a:ext cx="11468100" cy="539595"/>
          </a:xfrm>
          <a:prstGeom prst="roundRect">
            <a:avLst/>
          </a:prstGeom>
          <a:solidFill>
            <a:schemeClr val="accent5">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2000" dirty="0">
              <a:solidFill>
                <a:schemeClr val="tx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F0E4C49-57C5-7049-8A0A-06380327C7C0}"/>
                  </a:ext>
                </a:extLst>
              </p:cNvPr>
              <p:cNvSpPr txBox="1"/>
              <p:nvPr/>
            </p:nvSpPr>
            <p:spPr>
              <a:xfrm>
                <a:off x="824522" y="2471038"/>
                <a:ext cx="10339049" cy="400110"/>
              </a:xfrm>
              <a:prstGeom prst="rect">
                <a:avLst/>
              </a:prstGeom>
              <a:noFill/>
            </p:spPr>
            <p:txBody>
              <a:bodyPr wrap="none" rtlCol="0">
                <a:spAutoFit/>
              </a:bodyPr>
              <a:lstStyle/>
              <a:p>
                <a:r>
                  <a:rPr lang="en-ZA" sz="2000" dirty="0"/>
                  <a:t>This operator leaves the component along </a:t>
                </a:r>
                <a14:m>
                  <m:oMath xmlns:m="http://schemas.openxmlformats.org/officeDocument/2006/math">
                    <m:d>
                      <m:dPr>
                        <m:begChr m:val="|"/>
                        <m:endChr m:val="⟩"/>
                        <m:ctrlPr>
                          <a:rPr lang="en-ZA" sz="2000" i="1">
                            <a:latin typeface="Cambria Math" panose="02040503050406030204" pitchFamily="18" charset="0"/>
                          </a:rPr>
                        </m:ctrlPr>
                      </m:dPr>
                      <m:e>
                        <m:r>
                          <a:rPr lang="en-US" sz="2000" i="1">
                            <a:latin typeface="Cambria Math" panose="02040503050406030204" pitchFamily="18" charset="0"/>
                          </a:rPr>
                          <m:t>𝑣</m:t>
                        </m:r>
                      </m:e>
                    </m:d>
                  </m:oMath>
                </a14:m>
                <a:r>
                  <a:rPr lang="en-ZA" sz="2000" dirty="0"/>
                  <a:t> unchanged and flips all perpendicular components.</a:t>
                </a:r>
              </a:p>
            </p:txBody>
          </p:sp>
        </mc:Choice>
        <mc:Fallback xmlns="">
          <p:sp>
            <p:nvSpPr>
              <p:cNvPr id="7" name="TextBox 6">
                <a:extLst>
                  <a:ext uri="{FF2B5EF4-FFF2-40B4-BE49-F238E27FC236}">
                    <a16:creationId xmlns:a16="http://schemas.microsoft.com/office/drawing/2014/main" id="{9F0E4C49-57C5-7049-8A0A-06380327C7C0}"/>
                  </a:ext>
                </a:extLst>
              </p:cNvPr>
              <p:cNvSpPr txBox="1">
                <a:spLocks noRot="1" noChangeAspect="1" noMove="1" noResize="1" noEditPoints="1" noAdjustHandles="1" noChangeArrowheads="1" noChangeShapeType="1" noTextEdit="1"/>
              </p:cNvSpPr>
              <p:nvPr/>
            </p:nvSpPr>
            <p:spPr>
              <a:xfrm>
                <a:off x="824522" y="2471038"/>
                <a:ext cx="10339049" cy="400110"/>
              </a:xfrm>
              <a:prstGeom prst="rect">
                <a:avLst/>
              </a:prstGeom>
              <a:blipFill>
                <a:blip r:embed="rId5"/>
                <a:stretch>
                  <a:fillRect l="-491" t="-625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D6F6776-DBD7-8244-8778-277EE0A1569A}"/>
                  </a:ext>
                </a:extLst>
              </p:cNvPr>
              <p:cNvSpPr txBox="1"/>
              <p:nvPr/>
            </p:nvSpPr>
            <p:spPr>
              <a:xfrm>
                <a:off x="259998" y="4865987"/>
                <a:ext cx="11468100" cy="1761316"/>
              </a:xfrm>
              <a:prstGeom prst="rect">
                <a:avLst/>
              </a:prstGeom>
              <a:noFill/>
            </p:spPr>
            <p:txBody>
              <a:bodyPr wrap="square" rtlCol="0">
                <a:spAutoFit/>
              </a:bodyPr>
              <a:lstStyle/>
              <a:p>
                <a:r>
                  <a:rPr lang="en-ZA" sz="2400" b="1" dirty="0">
                    <a:solidFill>
                      <a:schemeClr val="accent5">
                        <a:lumMod val="75000"/>
                      </a:schemeClr>
                    </a:solidFill>
                  </a:rPr>
                  <a:t>3. </a:t>
                </a:r>
                <a:r>
                  <a:rPr lang="en-US" sz="2400" b="1" dirty="0">
                    <a:solidFill>
                      <a:schemeClr val="accent5">
                        <a:lumMod val="75000"/>
                      </a:schemeClr>
                    </a:solidFill>
                  </a:rPr>
                  <a:t>Diffusion operator</a:t>
                </a:r>
                <a:r>
                  <a:rPr lang="en-ZA" sz="2400" b="1" dirty="0">
                    <a:solidFill>
                      <a:schemeClr val="accent5">
                        <a:lumMod val="75000"/>
                      </a:schemeClr>
                    </a:solidFill>
                  </a:rPr>
                  <a:t> </a:t>
                </a:r>
              </a:p>
              <a:p>
                <a:r>
                  <a:rPr lang="en-ZA" sz="2400" dirty="0"/>
                  <a:t>	 The Hadamard layers transform the reflection about </a:t>
                </a:r>
                <a14:m>
                  <m:oMath xmlns:m="http://schemas.openxmlformats.org/officeDocument/2006/math">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en-US" sz="2400" i="1">
                                <a:latin typeface="Cambria Math" panose="02040503050406030204" pitchFamily="18" charset="0"/>
                              </a:rPr>
                              <m:t>0</m:t>
                            </m:r>
                          </m:e>
                          <m:sup>
                            <m:r>
                              <a:rPr lang="en-US" sz="2400" i="1">
                                <a:latin typeface="Cambria Math" panose="02040503050406030204" pitchFamily="18" charset="0"/>
                              </a:rPr>
                              <m:t>𝑛</m:t>
                            </m:r>
                          </m:sup>
                        </m:sSup>
                      </m:e>
                    </m:d>
                  </m:oMath>
                </a14:m>
                <a:r>
                  <a:rPr lang="en-ZA" sz="2400" dirty="0"/>
                  <a:t> into a reflection about 	the equal-superposition state </a:t>
                </a:r>
                <a14:m>
                  <m:oMath xmlns:m="http://schemas.openxmlformats.org/officeDocument/2006/math">
                    <m:d>
                      <m:dPr>
                        <m:begChr m:val="|"/>
                        <m:endChr m:val="⟩"/>
                        <m:ctrlPr>
                          <a:rPr lang="en-ZA" sz="2400" i="1">
                            <a:latin typeface="Cambria Math" panose="02040503050406030204" pitchFamily="18" charset="0"/>
                          </a:rPr>
                        </m:ctrlPr>
                      </m:dPr>
                      <m:e>
                        <m:r>
                          <a:rPr lang="en-US" sz="2400" i="1">
                            <a:latin typeface="Cambria Math" panose="02040503050406030204" pitchFamily="18" charset="0"/>
                          </a:rPr>
                          <m:t>𝑆</m:t>
                        </m:r>
                      </m:e>
                    </m:d>
                  </m:oMath>
                </a14:m>
                <a:r>
                  <a:rPr lang="en-ZA" sz="2400" dirty="0"/>
                  <a:t>, producing the diffusion operator:.</a:t>
                </a:r>
              </a:p>
              <a:p>
                <a:endParaRPr lang="en-US" sz="12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𝐷</m:t>
                      </m:r>
                      <m:r>
                        <a:rPr lang="en-US" sz="2400">
                          <a:latin typeface="Cambria Math" panose="02040503050406030204" pitchFamily="18" charset="0"/>
                        </a:rPr>
                        <m:t>=2</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a:latin typeface="Cambria Math" panose="02040503050406030204" pitchFamily="18" charset="0"/>
                        </a:rPr>
                        <m:t>⟨</m:t>
                      </m:r>
                      <m:r>
                        <a:rPr lang="en-US" sz="2400" i="1">
                          <a:latin typeface="Cambria Math" panose="02040503050406030204" pitchFamily="18" charset="0"/>
                        </a:rPr>
                        <m:t>𝑆</m:t>
                      </m:r>
                      <m:r>
                        <a:rPr lang="en-US" sz="2400">
                          <a:latin typeface="Cambria Math" panose="02040503050406030204" pitchFamily="18" charset="0"/>
                        </a:rPr>
                        <m:t>|−</m:t>
                      </m:r>
                      <m:r>
                        <a:rPr lang="en-US" sz="2400" i="1">
                          <a:latin typeface="Cambria Math" panose="02040503050406030204" pitchFamily="18" charset="0"/>
                        </a:rPr>
                        <m:t>𝐼</m:t>
                      </m:r>
                      <m:r>
                        <a:rPr lang="en-US" sz="2400" b="0" i="0"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𝐻</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𝑛</m:t>
                          </m:r>
                        </m:sup>
                      </m:sSup>
                      <m:r>
                        <a:rPr lang="en-US" sz="2400" i="1">
                          <a:latin typeface="Cambria Math" panose="02040503050406030204" pitchFamily="18" charset="0"/>
                        </a:rPr>
                        <m:t>𝑅</m:t>
                      </m:r>
                      <m:sSup>
                        <m:sSupPr>
                          <m:ctrlPr>
                            <a:rPr lang="en-US" sz="2400" i="1">
                              <a:latin typeface="Cambria Math" panose="02040503050406030204" pitchFamily="18" charset="0"/>
                            </a:rPr>
                          </m:ctrlPr>
                        </m:sSupPr>
                        <m:e>
                          <m:r>
                            <a:rPr lang="en-US" sz="2400" i="1">
                              <a:latin typeface="Cambria Math" panose="02040503050406030204" pitchFamily="18" charset="0"/>
                            </a:rPr>
                            <m:t>𝐻</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𝑛</m:t>
                          </m:r>
                        </m:sup>
                      </m:sSup>
                    </m:oMath>
                  </m:oMathPara>
                </a14:m>
                <a:endParaRPr lang="en-US" sz="2400" dirty="0"/>
              </a:p>
            </p:txBody>
          </p:sp>
        </mc:Choice>
        <mc:Fallback xmlns="">
          <p:sp>
            <p:nvSpPr>
              <p:cNvPr id="24" name="TextBox 23">
                <a:extLst>
                  <a:ext uri="{FF2B5EF4-FFF2-40B4-BE49-F238E27FC236}">
                    <a16:creationId xmlns:a16="http://schemas.microsoft.com/office/drawing/2014/main" id="{ED6F6776-DBD7-8244-8778-277EE0A1569A}"/>
                  </a:ext>
                </a:extLst>
              </p:cNvPr>
              <p:cNvSpPr txBox="1">
                <a:spLocks noRot="1" noChangeAspect="1" noMove="1" noResize="1" noEditPoints="1" noAdjustHandles="1" noChangeArrowheads="1" noChangeShapeType="1" noTextEdit="1"/>
              </p:cNvSpPr>
              <p:nvPr/>
            </p:nvSpPr>
            <p:spPr>
              <a:xfrm>
                <a:off x="259998" y="4865987"/>
                <a:ext cx="11468100" cy="1761316"/>
              </a:xfrm>
              <a:prstGeom prst="rect">
                <a:avLst/>
              </a:prstGeom>
              <a:blipFill>
                <a:blip r:embed="rId6"/>
                <a:stretch>
                  <a:fillRect l="-774" t="-2143" b="-3571"/>
                </a:stretch>
              </a:blipFill>
            </p:spPr>
            <p:txBody>
              <a:bodyPr/>
              <a:lstStyle/>
              <a:p>
                <a:r>
                  <a:rPr lang="en-US">
                    <a:noFill/>
                  </a:rPr>
                  <a:t> </a:t>
                </a:r>
              </a:p>
            </p:txBody>
          </p:sp>
        </mc:Fallback>
      </mc:AlternateContent>
    </p:spTree>
    <p:extLst>
      <p:ext uri="{BB962C8B-B14F-4D97-AF65-F5344CB8AC3E}">
        <p14:creationId xmlns:p14="http://schemas.microsoft.com/office/powerpoint/2010/main" val="2575973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24D11-F2A5-9B47-B592-21CFFC84D2E1}"/>
              </a:ext>
            </a:extLst>
          </p:cNvPr>
          <p:cNvSpPr>
            <a:spLocks noGrp="1"/>
          </p:cNvSpPr>
          <p:nvPr>
            <p:ph type="title"/>
          </p:nvPr>
        </p:nvSpPr>
        <p:spPr/>
        <p:txBody>
          <a:bodyPr/>
          <a:lstStyle/>
          <a:p>
            <a:r>
              <a:rPr lang="en-ZA" dirty="0"/>
              <a:t>Constructing the Grover Diffuser</a:t>
            </a:r>
            <a:endParaRPr lang="en-US" dirty="0"/>
          </a:p>
        </p:txBody>
      </p:sp>
      <p:sp>
        <p:nvSpPr>
          <p:cNvPr id="3" name="Slide Number Placeholder 2">
            <a:extLst>
              <a:ext uri="{FF2B5EF4-FFF2-40B4-BE49-F238E27FC236}">
                <a16:creationId xmlns:a16="http://schemas.microsoft.com/office/drawing/2014/main" id="{C46D2F8F-C35D-1F4F-BDCB-D0C4562DFA1F}"/>
              </a:ext>
            </a:extLst>
          </p:cNvPr>
          <p:cNvSpPr>
            <a:spLocks noGrp="1"/>
          </p:cNvSpPr>
          <p:nvPr>
            <p:ph type="sldNum" sz="quarter" idx="12"/>
          </p:nvPr>
        </p:nvSpPr>
        <p:spPr/>
        <p:txBody>
          <a:bodyPr/>
          <a:lstStyle/>
          <a:p>
            <a:fld id="{591A223C-FA10-BC46-A853-03BA373D023C}" type="slidenum">
              <a:rPr lang="en-US" smtClean="0"/>
              <a:t>16</a:t>
            </a:fld>
            <a:endParaRPr lang="en-US"/>
          </a:p>
        </p:txBody>
      </p:sp>
      <p:cxnSp>
        <p:nvCxnSpPr>
          <p:cNvPr id="4" name="Straight Connector 3">
            <a:extLst>
              <a:ext uri="{FF2B5EF4-FFF2-40B4-BE49-F238E27FC236}">
                <a16:creationId xmlns:a16="http://schemas.microsoft.com/office/drawing/2014/main" id="{01892E9C-B589-7E47-8B3A-8BE563B8B93B}"/>
              </a:ext>
            </a:extLst>
          </p:cNvPr>
          <p:cNvCxnSpPr>
            <a:cxnSpLocks/>
          </p:cNvCxnSpPr>
          <p:nvPr/>
        </p:nvCxnSpPr>
        <p:spPr>
          <a:xfrm>
            <a:off x="1831607" y="2181538"/>
            <a:ext cx="75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7F4DAA8-4DE3-B74E-B6B6-80EC858B869F}"/>
              </a:ext>
            </a:extLst>
          </p:cNvPr>
          <p:cNvCxnSpPr>
            <a:cxnSpLocks/>
          </p:cNvCxnSpPr>
          <p:nvPr/>
        </p:nvCxnSpPr>
        <p:spPr>
          <a:xfrm>
            <a:off x="1831607" y="3703797"/>
            <a:ext cx="75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E86AF271-AC75-0147-B899-FE5D9D2B9491}"/>
              </a:ext>
            </a:extLst>
          </p:cNvPr>
          <p:cNvSpPr/>
          <p:nvPr/>
        </p:nvSpPr>
        <p:spPr>
          <a:xfrm>
            <a:off x="2503043" y="3251186"/>
            <a:ext cx="900000" cy="90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H</a:t>
            </a:r>
          </a:p>
        </p:txBody>
      </p:sp>
      <p:cxnSp>
        <p:nvCxnSpPr>
          <p:cNvPr id="9" name="Straight Connector 8">
            <a:extLst>
              <a:ext uri="{FF2B5EF4-FFF2-40B4-BE49-F238E27FC236}">
                <a16:creationId xmlns:a16="http://schemas.microsoft.com/office/drawing/2014/main" id="{0D45F964-E532-224D-8899-7D965761615A}"/>
              </a:ext>
            </a:extLst>
          </p:cNvPr>
          <p:cNvCxnSpPr>
            <a:cxnSpLocks/>
          </p:cNvCxnSpPr>
          <p:nvPr/>
        </p:nvCxnSpPr>
        <p:spPr>
          <a:xfrm flipV="1">
            <a:off x="5672391" y="2195394"/>
            <a:ext cx="0" cy="11214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A1B551A7-7D87-5C45-997C-BBB87F4BCCE9}"/>
              </a:ext>
            </a:extLst>
          </p:cNvPr>
          <p:cNvSpPr/>
          <p:nvPr/>
        </p:nvSpPr>
        <p:spPr>
          <a:xfrm>
            <a:off x="5492391" y="2019424"/>
            <a:ext cx="360000" cy="360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B765E805-7B33-F941-AD82-432BF3AA75B0}"/>
              </a:ext>
            </a:extLst>
          </p:cNvPr>
          <p:cNvSpPr>
            <a:spLocks noChangeAspect="1"/>
          </p:cNvSpPr>
          <p:nvPr/>
        </p:nvSpPr>
        <p:spPr>
          <a:xfrm>
            <a:off x="6519910" y="3251186"/>
            <a:ext cx="900000" cy="9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sp>
        <p:nvSpPr>
          <p:cNvPr id="12" name="Rectangle 11">
            <a:extLst>
              <a:ext uri="{FF2B5EF4-FFF2-40B4-BE49-F238E27FC236}">
                <a16:creationId xmlns:a16="http://schemas.microsoft.com/office/drawing/2014/main" id="{D90797B0-6A18-A341-A03C-AC9AAE90C719}"/>
              </a:ext>
            </a:extLst>
          </p:cNvPr>
          <p:cNvSpPr/>
          <p:nvPr/>
        </p:nvSpPr>
        <p:spPr>
          <a:xfrm>
            <a:off x="2489188" y="1712723"/>
            <a:ext cx="900000" cy="90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H</a:t>
            </a:r>
          </a:p>
        </p:txBody>
      </p:sp>
      <p:sp>
        <p:nvSpPr>
          <p:cNvPr id="13" name="Oval 12">
            <a:extLst>
              <a:ext uri="{FF2B5EF4-FFF2-40B4-BE49-F238E27FC236}">
                <a16:creationId xmlns:a16="http://schemas.microsoft.com/office/drawing/2014/main" id="{654DDF35-D415-D34A-B080-590A1D2E54E1}"/>
              </a:ext>
            </a:extLst>
          </p:cNvPr>
          <p:cNvSpPr>
            <a:spLocks noChangeAspect="1"/>
          </p:cNvSpPr>
          <p:nvPr/>
        </p:nvSpPr>
        <p:spPr>
          <a:xfrm>
            <a:off x="3848800" y="3251186"/>
            <a:ext cx="900000" cy="9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sp>
        <p:nvSpPr>
          <p:cNvPr id="15" name="Oval 14">
            <a:extLst>
              <a:ext uri="{FF2B5EF4-FFF2-40B4-BE49-F238E27FC236}">
                <a16:creationId xmlns:a16="http://schemas.microsoft.com/office/drawing/2014/main" id="{80A3FC7F-F002-D342-A24B-9C992D939383}"/>
              </a:ext>
            </a:extLst>
          </p:cNvPr>
          <p:cNvSpPr>
            <a:spLocks noChangeAspect="1"/>
          </p:cNvSpPr>
          <p:nvPr/>
        </p:nvSpPr>
        <p:spPr>
          <a:xfrm>
            <a:off x="3838425" y="1712723"/>
            <a:ext cx="900000" cy="9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sp>
        <p:nvSpPr>
          <p:cNvPr id="16" name="Oval 15">
            <a:extLst>
              <a:ext uri="{FF2B5EF4-FFF2-40B4-BE49-F238E27FC236}">
                <a16:creationId xmlns:a16="http://schemas.microsoft.com/office/drawing/2014/main" id="{5606E538-FAD3-3D45-B7F7-148E5862ED04}"/>
              </a:ext>
            </a:extLst>
          </p:cNvPr>
          <p:cNvSpPr>
            <a:spLocks noChangeAspect="1"/>
          </p:cNvSpPr>
          <p:nvPr/>
        </p:nvSpPr>
        <p:spPr>
          <a:xfrm>
            <a:off x="6502577" y="1712723"/>
            <a:ext cx="900000" cy="9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sp>
        <p:nvSpPr>
          <p:cNvPr id="17" name="Rectangle 16">
            <a:extLst>
              <a:ext uri="{FF2B5EF4-FFF2-40B4-BE49-F238E27FC236}">
                <a16:creationId xmlns:a16="http://schemas.microsoft.com/office/drawing/2014/main" id="{F9360096-B8CE-064C-9D24-351FA99DFA43}"/>
              </a:ext>
            </a:extLst>
          </p:cNvPr>
          <p:cNvSpPr/>
          <p:nvPr/>
        </p:nvSpPr>
        <p:spPr>
          <a:xfrm>
            <a:off x="7851814" y="1712723"/>
            <a:ext cx="900000" cy="90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H</a:t>
            </a:r>
          </a:p>
        </p:txBody>
      </p:sp>
      <p:sp>
        <p:nvSpPr>
          <p:cNvPr id="18" name="Rectangle 17">
            <a:extLst>
              <a:ext uri="{FF2B5EF4-FFF2-40B4-BE49-F238E27FC236}">
                <a16:creationId xmlns:a16="http://schemas.microsoft.com/office/drawing/2014/main" id="{841CBDF7-4995-0C43-973D-53FA90924F1A}"/>
              </a:ext>
            </a:extLst>
          </p:cNvPr>
          <p:cNvSpPr/>
          <p:nvPr/>
        </p:nvSpPr>
        <p:spPr>
          <a:xfrm>
            <a:off x="7865669" y="3251186"/>
            <a:ext cx="900000" cy="90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H</a:t>
            </a:r>
          </a:p>
        </p:txBody>
      </p:sp>
      <p:sp>
        <p:nvSpPr>
          <p:cNvPr id="23" name="Rectangle 22">
            <a:extLst>
              <a:ext uri="{FF2B5EF4-FFF2-40B4-BE49-F238E27FC236}">
                <a16:creationId xmlns:a16="http://schemas.microsoft.com/office/drawing/2014/main" id="{E1100B29-93F1-0747-95EB-3F652CB86A6F}"/>
              </a:ext>
            </a:extLst>
          </p:cNvPr>
          <p:cNvSpPr/>
          <p:nvPr/>
        </p:nvSpPr>
        <p:spPr>
          <a:xfrm>
            <a:off x="5222391" y="3251186"/>
            <a:ext cx="900000" cy="900000"/>
          </a:xfrm>
          <a:prstGeom prst="rect">
            <a:avLst/>
          </a:prstGeom>
          <a:solidFill>
            <a:srgbClr val="33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25" name="Left Brace 24">
            <a:extLst>
              <a:ext uri="{FF2B5EF4-FFF2-40B4-BE49-F238E27FC236}">
                <a16:creationId xmlns:a16="http://schemas.microsoft.com/office/drawing/2014/main" id="{16CCDBAA-E69F-D34D-A78A-189DF79FFACA}"/>
              </a:ext>
            </a:extLst>
          </p:cNvPr>
          <p:cNvSpPr/>
          <p:nvPr/>
        </p:nvSpPr>
        <p:spPr>
          <a:xfrm rot="16200000">
            <a:off x="5255564" y="2923305"/>
            <a:ext cx="757583" cy="3571110"/>
          </a:xfrm>
          <a:prstGeom prst="leftBrace">
            <a:avLst>
              <a:gd name="adj1" fmla="val 315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FA385F0-F4F0-464F-92A7-80E9E7F4B75C}"/>
                  </a:ext>
                </a:extLst>
              </p:cNvPr>
              <p:cNvSpPr txBox="1"/>
              <p:nvPr/>
            </p:nvSpPr>
            <p:spPr>
              <a:xfrm>
                <a:off x="4500354" y="5100939"/>
                <a:ext cx="2485039" cy="53142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800" i="1">
                          <a:latin typeface="Cambria Math" panose="02040503050406030204" pitchFamily="18" charset="0"/>
                        </a:rPr>
                        <m:t>𝑅</m:t>
                      </m:r>
                      <m:r>
                        <a:rPr lang="sr-Latn-RS" sz="2800" i="1">
                          <a:latin typeface="Cambria Math" panose="02040503050406030204" pitchFamily="18" charset="0"/>
                          <a:ea typeface="Cambria Math" panose="02040503050406030204" pitchFamily="18" charset="0"/>
                        </a:rPr>
                        <m:t>~</m:t>
                      </m:r>
                      <m:sSup>
                        <m:sSupPr>
                          <m:ctrlPr>
                            <a:rPr lang="sr-Latn-R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𝑋</m:t>
                          </m:r>
                        </m:e>
                        <m:sup>
                          <m:r>
                            <a:rPr lang="sr-Latn-R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2</m:t>
                          </m:r>
                        </m:sup>
                      </m:sSup>
                      <m:r>
                        <a:rPr lang="en-US" sz="2800" i="1">
                          <a:latin typeface="Cambria Math" panose="02040503050406030204" pitchFamily="18" charset="0"/>
                          <a:ea typeface="Cambria Math" panose="02040503050406030204" pitchFamily="18" charset="0"/>
                        </a:rPr>
                        <m:t>𝐶𝑍</m:t>
                      </m:r>
                      <m:sSup>
                        <m:sSupPr>
                          <m:ctrlPr>
                            <a:rPr lang="sr-Latn-R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𝑋</m:t>
                          </m:r>
                        </m:e>
                        <m:sup>
                          <m:r>
                            <a:rPr lang="sr-Latn-R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2</m:t>
                          </m:r>
                        </m:sup>
                      </m:sSup>
                    </m:oMath>
                  </m:oMathPara>
                </a14:m>
                <a:endParaRPr lang="en-US" sz="2800" dirty="0"/>
              </a:p>
            </p:txBody>
          </p:sp>
        </mc:Choice>
        <mc:Fallback xmlns="">
          <p:sp>
            <p:nvSpPr>
              <p:cNvPr id="26" name="TextBox 25">
                <a:extLst>
                  <a:ext uri="{FF2B5EF4-FFF2-40B4-BE49-F238E27FC236}">
                    <a16:creationId xmlns:a16="http://schemas.microsoft.com/office/drawing/2014/main" id="{BFA385F0-F4F0-464F-92A7-80E9E7F4B75C}"/>
                  </a:ext>
                </a:extLst>
              </p:cNvPr>
              <p:cNvSpPr txBox="1">
                <a:spLocks noRot="1" noChangeAspect="1" noMove="1" noResize="1" noEditPoints="1" noAdjustHandles="1" noChangeArrowheads="1" noChangeShapeType="1" noTextEdit="1"/>
              </p:cNvSpPr>
              <p:nvPr/>
            </p:nvSpPr>
            <p:spPr>
              <a:xfrm>
                <a:off x="4500354" y="5100939"/>
                <a:ext cx="2485039" cy="531428"/>
              </a:xfrm>
              <a:prstGeom prst="rect">
                <a:avLst/>
              </a:prstGeom>
              <a:blipFill>
                <a:blip r:embed="rId3"/>
                <a:stretch>
                  <a:fillRect/>
                </a:stretch>
              </a:blipFill>
            </p:spPr>
            <p:txBody>
              <a:bodyPr/>
              <a:lstStyle/>
              <a:p>
                <a:r>
                  <a:rPr lang="en-US">
                    <a:noFill/>
                  </a:rPr>
                  <a:t> </a:t>
                </a:r>
              </a:p>
            </p:txBody>
          </p:sp>
        </mc:Fallback>
      </mc:AlternateContent>
      <p:sp>
        <p:nvSpPr>
          <p:cNvPr id="27" name="Left Brace 26">
            <a:extLst>
              <a:ext uri="{FF2B5EF4-FFF2-40B4-BE49-F238E27FC236}">
                <a16:creationId xmlns:a16="http://schemas.microsoft.com/office/drawing/2014/main" id="{B39A9808-3586-1648-A933-9362367C0E59}"/>
              </a:ext>
            </a:extLst>
          </p:cNvPr>
          <p:cNvSpPr/>
          <p:nvPr/>
        </p:nvSpPr>
        <p:spPr>
          <a:xfrm rot="16200000">
            <a:off x="5293599" y="2694026"/>
            <a:ext cx="757583" cy="6238570"/>
          </a:xfrm>
          <a:prstGeom prst="leftBrace">
            <a:avLst>
              <a:gd name="adj1" fmla="val 315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76741CD-B7DF-FC48-84CD-54B60BE73782}"/>
                  </a:ext>
                </a:extLst>
              </p:cNvPr>
              <p:cNvSpPr txBox="1"/>
              <p:nvPr/>
            </p:nvSpPr>
            <p:spPr>
              <a:xfrm>
                <a:off x="3753659" y="6267401"/>
                <a:ext cx="3837461" cy="53142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Cambria Math" panose="02040503050406030204" pitchFamily="18" charset="0"/>
                        </a:rPr>
                        <m:t>𝐷</m:t>
                      </m:r>
                      <m:r>
                        <a:rPr lang="sr-Latn-RS" sz="2800" i="1">
                          <a:latin typeface="Cambria Math" panose="02040503050406030204" pitchFamily="18" charset="0"/>
                          <a:ea typeface="Cambria Math" panose="02040503050406030204" pitchFamily="18" charset="0"/>
                        </a:rPr>
                        <m:t>~</m:t>
                      </m:r>
                      <m:sSup>
                        <m:sSupPr>
                          <m:ctrlPr>
                            <a:rPr lang="sr-Latn-R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𝐻</m:t>
                          </m:r>
                        </m:e>
                        <m:sup>
                          <m:r>
                            <a:rPr lang="sr-Latn-R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2</m:t>
                          </m:r>
                        </m:sup>
                      </m:sSup>
                      <m:sSup>
                        <m:sSupPr>
                          <m:ctrlPr>
                            <a:rPr lang="sr-Latn-R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𝑋</m:t>
                          </m:r>
                        </m:e>
                        <m:sup>
                          <m:r>
                            <a:rPr lang="sr-Latn-R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2</m:t>
                          </m:r>
                        </m:sup>
                      </m:sSup>
                      <m:r>
                        <a:rPr lang="en-US" sz="2800" i="1">
                          <a:latin typeface="Cambria Math" panose="02040503050406030204" pitchFamily="18" charset="0"/>
                          <a:ea typeface="Cambria Math" panose="02040503050406030204" pitchFamily="18" charset="0"/>
                        </a:rPr>
                        <m:t>𝐶𝑍</m:t>
                      </m:r>
                      <m:sSup>
                        <m:sSupPr>
                          <m:ctrlPr>
                            <a:rPr lang="sr-Latn-R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𝑋</m:t>
                          </m:r>
                        </m:e>
                        <m:sup>
                          <m:r>
                            <a:rPr lang="sr-Latn-R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2</m:t>
                          </m:r>
                        </m:sup>
                      </m:sSup>
                      <m:sSup>
                        <m:sSupPr>
                          <m:ctrlPr>
                            <a:rPr lang="sr-Latn-R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𝐻</m:t>
                          </m:r>
                        </m:e>
                        <m:sup>
                          <m:r>
                            <a:rPr lang="sr-Latn-R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2</m:t>
                          </m:r>
                        </m:sup>
                      </m:sSup>
                    </m:oMath>
                  </m:oMathPara>
                </a14:m>
                <a:endParaRPr lang="en-ZA" sz="2800" dirty="0"/>
              </a:p>
            </p:txBody>
          </p:sp>
        </mc:Choice>
        <mc:Fallback xmlns="">
          <p:sp>
            <p:nvSpPr>
              <p:cNvPr id="28" name="TextBox 27">
                <a:extLst>
                  <a:ext uri="{FF2B5EF4-FFF2-40B4-BE49-F238E27FC236}">
                    <a16:creationId xmlns:a16="http://schemas.microsoft.com/office/drawing/2014/main" id="{876741CD-B7DF-FC48-84CD-54B60BE73782}"/>
                  </a:ext>
                </a:extLst>
              </p:cNvPr>
              <p:cNvSpPr txBox="1">
                <a:spLocks noRot="1" noChangeAspect="1" noMove="1" noResize="1" noEditPoints="1" noAdjustHandles="1" noChangeArrowheads="1" noChangeShapeType="1" noTextEdit="1"/>
              </p:cNvSpPr>
              <p:nvPr/>
            </p:nvSpPr>
            <p:spPr>
              <a:xfrm>
                <a:off x="3753659" y="6267401"/>
                <a:ext cx="3837461" cy="53142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DDB020C-8F52-4F45-BBAE-A4E0A6F945C4}"/>
                  </a:ext>
                </a:extLst>
              </p:cNvPr>
              <p:cNvSpPr/>
              <p:nvPr/>
            </p:nvSpPr>
            <p:spPr>
              <a:xfrm>
                <a:off x="3268867" y="932083"/>
                <a:ext cx="4730975" cy="5314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𝐷</m:t>
                      </m:r>
                      <m:r>
                        <a:rPr lang="en-US" sz="2800">
                          <a:latin typeface="Cambria Math" panose="02040503050406030204" pitchFamily="18" charset="0"/>
                        </a:rPr>
                        <m:t>=2</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e>
                      </m:d>
                      <m:r>
                        <a:rPr lang="en-US" sz="2800">
                          <a:latin typeface="Cambria Math" panose="02040503050406030204" pitchFamily="18" charset="0"/>
                        </a:rPr>
                        <m:t>⟨</m:t>
                      </m:r>
                      <m:r>
                        <a:rPr lang="en-US" sz="2800" i="1">
                          <a:latin typeface="Cambria Math" panose="02040503050406030204" pitchFamily="18" charset="0"/>
                        </a:rPr>
                        <m:t>𝑆</m:t>
                      </m:r>
                      <m:r>
                        <a:rPr lang="en-US" sz="2800">
                          <a:latin typeface="Cambria Math" panose="02040503050406030204" pitchFamily="18" charset="0"/>
                        </a:rPr>
                        <m:t>|−</m:t>
                      </m:r>
                      <m:r>
                        <a:rPr lang="en-US" sz="2800" i="1">
                          <a:latin typeface="Cambria Math" panose="02040503050406030204" pitchFamily="18" charset="0"/>
                        </a:rPr>
                        <m:t>𝐼</m:t>
                      </m:r>
                      <m:r>
                        <a:rPr lang="en-US" sz="2800">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𝐻</m:t>
                          </m:r>
                        </m:e>
                        <m:sup>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𝑛</m:t>
                          </m:r>
                        </m:sup>
                      </m:sSup>
                      <m:r>
                        <a:rPr lang="en-US" sz="2800" i="1">
                          <a:latin typeface="Cambria Math" panose="02040503050406030204" pitchFamily="18" charset="0"/>
                        </a:rPr>
                        <m:t>𝑅</m:t>
                      </m:r>
                      <m:sSup>
                        <m:sSupPr>
                          <m:ctrlPr>
                            <a:rPr lang="en-US" sz="2800" i="1">
                              <a:latin typeface="Cambria Math" panose="02040503050406030204" pitchFamily="18" charset="0"/>
                            </a:rPr>
                          </m:ctrlPr>
                        </m:sSupPr>
                        <m:e>
                          <m:r>
                            <a:rPr lang="en-US" sz="2800" i="1">
                              <a:latin typeface="Cambria Math" panose="02040503050406030204" pitchFamily="18" charset="0"/>
                            </a:rPr>
                            <m:t>𝐻</m:t>
                          </m:r>
                        </m:e>
                        <m:sup>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𝑛</m:t>
                          </m:r>
                        </m:sup>
                      </m:sSup>
                    </m:oMath>
                  </m:oMathPara>
                </a14:m>
                <a:endParaRPr lang="en-US" sz="2800" dirty="0"/>
              </a:p>
            </p:txBody>
          </p:sp>
        </mc:Choice>
        <mc:Fallback xmlns="">
          <p:sp>
            <p:nvSpPr>
              <p:cNvPr id="7" name="Rectangle 6">
                <a:extLst>
                  <a:ext uri="{FF2B5EF4-FFF2-40B4-BE49-F238E27FC236}">
                    <a16:creationId xmlns:a16="http://schemas.microsoft.com/office/drawing/2014/main" id="{FDDB020C-8F52-4F45-BBAE-A4E0A6F945C4}"/>
                  </a:ext>
                </a:extLst>
              </p:cNvPr>
              <p:cNvSpPr>
                <a:spLocks noRot="1" noChangeAspect="1" noMove="1" noResize="1" noEditPoints="1" noAdjustHandles="1" noChangeArrowheads="1" noChangeShapeType="1" noTextEdit="1"/>
              </p:cNvSpPr>
              <p:nvPr/>
            </p:nvSpPr>
            <p:spPr>
              <a:xfrm>
                <a:off x="3268867" y="932083"/>
                <a:ext cx="4730975" cy="531428"/>
              </a:xfrm>
              <a:prstGeom prst="rect">
                <a:avLst/>
              </a:prstGeom>
              <a:blipFill>
                <a:blip r:embed="rId5"/>
                <a:stretch>
                  <a:fillRect b="-18605"/>
                </a:stretch>
              </a:blipFill>
            </p:spPr>
            <p:txBody>
              <a:bodyPr/>
              <a:lstStyle/>
              <a:p>
                <a:r>
                  <a:rPr lang="en-US">
                    <a:noFill/>
                  </a:rPr>
                  <a:t> </a:t>
                </a:r>
              </a:p>
            </p:txBody>
          </p:sp>
        </mc:Fallback>
      </mc:AlternateContent>
    </p:spTree>
    <p:extLst>
      <p:ext uri="{BB962C8B-B14F-4D97-AF65-F5344CB8AC3E}">
        <p14:creationId xmlns:p14="http://schemas.microsoft.com/office/powerpoint/2010/main" val="1766761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B2810C4-AB6A-D44D-AF66-C6060E12A29E}"/>
              </a:ext>
            </a:extLst>
          </p:cNvPr>
          <p:cNvSpPr>
            <a:spLocks noGrp="1"/>
          </p:cNvSpPr>
          <p:nvPr>
            <p:ph type="sldNum" sz="quarter" idx="12"/>
          </p:nvPr>
        </p:nvSpPr>
        <p:spPr/>
        <p:txBody>
          <a:bodyPr/>
          <a:lstStyle/>
          <a:p>
            <a:fld id="{D0A7A90D-170E-2F4F-8861-97D6C3C25EEF}" type="slidenum">
              <a:rPr lang="en-US" smtClean="0"/>
              <a:t>17</a:t>
            </a:fld>
            <a:endParaRPr lang="en-US"/>
          </a:p>
        </p:txBody>
      </p:sp>
      <p:sp>
        <p:nvSpPr>
          <p:cNvPr id="2" name="Title 1">
            <a:extLst>
              <a:ext uri="{FF2B5EF4-FFF2-40B4-BE49-F238E27FC236}">
                <a16:creationId xmlns:a16="http://schemas.microsoft.com/office/drawing/2014/main" id="{67E63BAB-27BE-1F40-9EE6-8BB028388DCB}"/>
              </a:ext>
            </a:extLst>
          </p:cNvPr>
          <p:cNvSpPr>
            <a:spLocks noGrp="1"/>
          </p:cNvSpPr>
          <p:nvPr>
            <p:ph type="title"/>
          </p:nvPr>
        </p:nvSpPr>
        <p:spPr/>
        <p:txBody>
          <a:bodyPr>
            <a:normAutofit/>
          </a:bodyPr>
          <a:lstStyle/>
          <a:p>
            <a:r>
              <a:rPr lang="en-US" dirty="0"/>
              <a:t>Step 4: </a:t>
            </a:r>
            <a:r>
              <a:rPr lang="en-ZA" dirty="0"/>
              <a:t>Measurement</a:t>
            </a:r>
            <a:endParaRPr lang="en-US" dirty="0"/>
          </a:p>
        </p:txBody>
      </p:sp>
      <p:pic>
        <p:nvPicPr>
          <p:cNvPr id="5" name="Picture 4">
            <a:extLst>
              <a:ext uri="{FF2B5EF4-FFF2-40B4-BE49-F238E27FC236}">
                <a16:creationId xmlns:a16="http://schemas.microsoft.com/office/drawing/2014/main" id="{64230E64-1D93-9545-9165-09C6EA126666}"/>
              </a:ext>
            </a:extLst>
          </p:cNvPr>
          <p:cNvPicPr>
            <a:picLocks noChangeAspect="1"/>
          </p:cNvPicPr>
          <p:nvPr/>
        </p:nvPicPr>
        <p:blipFill>
          <a:blip r:embed="rId3"/>
          <a:stretch>
            <a:fillRect/>
          </a:stretch>
        </p:blipFill>
        <p:spPr>
          <a:xfrm>
            <a:off x="1196310" y="1394137"/>
            <a:ext cx="4200922" cy="4361262"/>
          </a:xfrm>
          <a:prstGeom prst="rect">
            <a:avLst/>
          </a:prstGeom>
        </p:spPr>
      </p:pic>
      <p:grpSp>
        <p:nvGrpSpPr>
          <p:cNvPr id="15" name="Group 14">
            <a:extLst>
              <a:ext uri="{FF2B5EF4-FFF2-40B4-BE49-F238E27FC236}">
                <a16:creationId xmlns:a16="http://schemas.microsoft.com/office/drawing/2014/main" id="{168E0EE2-585F-334C-86EC-90C50196360B}"/>
              </a:ext>
            </a:extLst>
          </p:cNvPr>
          <p:cNvGrpSpPr>
            <a:grpSpLocks noChangeAspect="1"/>
          </p:cNvGrpSpPr>
          <p:nvPr/>
        </p:nvGrpSpPr>
        <p:grpSpPr>
          <a:xfrm>
            <a:off x="7136930" y="3031410"/>
            <a:ext cx="1591753" cy="1760978"/>
            <a:chOff x="3031963" y="4808040"/>
            <a:chExt cx="720000" cy="796546"/>
          </a:xfrm>
        </p:grpSpPr>
        <p:sp>
          <p:nvSpPr>
            <p:cNvPr id="16" name="Rectangle 15">
              <a:extLst>
                <a:ext uri="{FF2B5EF4-FFF2-40B4-BE49-F238E27FC236}">
                  <a16:creationId xmlns:a16="http://schemas.microsoft.com/office/drawing/2014/main" id="{CF4D053A-3477-E040-AC24-A1B0465E7D43}"/>
                </a:ext>
              </a:extLst>
            </p:cNvPr>
            <p:cNvSpPr/>
            <p:nvPr/>
          </p:nvSpPr>
          <p:spPr>
            <a:xfrm>
              <a:off x="3031963" y="4808040"/>
              <a:ext cx="720000" cy="72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7" name="Arc 16">
              <a:extLst>
                <a:ext uri="{FF2B5EF4-FFF2-40B4-BE49-F238E27FC236}">
                  <a16:creationId xmlns:a16="http://schemas.microsoft.com/office/drawing/2014/main" id="{14E6E272-92D1-6D46-9AE7-EDB1005FAD89}"/>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68B94D64-0219-0E44-81BE-F17A285C030A}"/>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19" name="Right Arrow 18">
            <a:extLst>
              <a:ext uri="{FF2B5EF4-FFF2-40B4-BE49-F238E27FC236}">
                <a16:creationId xmlns:a16="http://schemas.microsoft.com/office/drawing/2014/main" id="{3CB16168-F80D-A047-9225-B61ED105DA5B}"/>
              </a:ext>
            </a:extLst>
          </p:cNvPr>
          <p:cNvSpPr/>
          <p:nvPr/>
        </p:nvSpPr>
        <p:spPr>
          <a:xfrm>
            <a:off x="5679216" y="3357372"/>
            <a:ext cx="1175730" cy="1096909"/>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63ED34E-A791-564C-88AC-52A2DAD01C10}"/>
              </a:ext>
            </a:extLst>
          </p:cNvPr>
          <p:cNvSpPr txBox="1"/>
          <p:nvPr/>
        </p:nvSpPr>
        <p:spPr>
          <a:xfrm>
            <a:off x="10468380" y="3551882"/>
            <a:ext cx="704039" cy="707886"/>
          </a:xfrm>
          <a:prstGeom prst="rect">
            <a:avLst/>
          </a:prstGeom>
          <a:noFill/>
        </p:spPr>
        <p:txBody>
          <a:bodyPr wrap="none" rtlCol="0">
            <a:spAutoFit/>
          </a:bodyPr>
          <a:lstStyle/>
          <a:p>
            <a:r>
              <a:rPr lang="en-US" sz="4000" dirty="0"/>
              <a:t>10</a:t>
            </a:r>
          </a:p>
        </p:txBody>
      </p:sp>
      <p:sp>
        <p:nvSpPr>
          <p:cNvPr id="24" name="Right Arrow 23">
            <a:extLst>
              <a:ext uri="{FF2B5EF4-FFF2-40B4-BE49-F238E27FC236}">
                <a16:creationId xmlns:a16="http://schemas.microsoft.com/office/drawing/2014/main" id="{F7E64BEC-1E71-0C4F-8E84-435664676F10}"/>
              </a:ext>
            </a:extLst>
          </p:cNvPr>
          <p:cNvSpPr/>
          <p:nvPr/>
        </p:nvSpPr>
        <p:spPr>
          <a:xfrm>
            <a:off x="9010667" y="3357371"/>
            <a:ext cx="1175730" cy="1096909"/>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3321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E03837A-D3D0-354F-A301-BB0F854C06E4}"/>
              </a:ext>
            </a:extLst>
          </p:cNvPr>
          <p:cNvCxnSpPr>
            <a:cxnSpLocks/>
          </p:cNvCxnSpPr>
          <p:nvPr/>
        </p:nvCxnSpPr>
        <p:spPr>
          <a:xfrm>
            <a:off x="387458" y="2054579"/>
            <a:ext cx="1136025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243D3DF1-A5DD-414E-8D7B-66F58DDB405B}"/>
              </a:ext>
            </a:extLst>
          </p:cNvPr>
          <p:cNvSpPr>
            <a:spLocks noGrp="1"/>
          </p:cNvSpPr>
          <p:nvPr>
            <p:ph type="sldNum" sz="quarter" idx="12"/>
          </p:nvPr>
        </p:nvSpPr>
        <p:spPr/>
        <p:txBody>
          <a:bodyPr/>
          <a:lstStyle/>
          <a:p>
            <a:fld id="{591A223C-FA10-BC46-A853-03BA373D023C}" type="slidenum">
              <a:rPr lang="en-US" smtClean="0"/>
              <a:t>18</a:t>
            </a:fld>
            <a:endParaRPr lang="en-US"/>
          </a:p>
        </p:txBody>
      </p:sp>
      <p:sp>
        <p:nvSpPr>
          <p:cNvPr id="6" name="Title 5">
            <a:extLst>
              <a:ext uri="{FF2B5EF4-FFF2-40B4-BE49-F238E27FC236}">
                <a16:creationId xmlns:a16="http://schemas.microsoft.com/office/drawing/2014/main" id="{B9A45E48-DD5D-2F42-94AF-E844038AC49D}"/>
              </a:ext>
            </a:extLst>
          </p:cNvPr>
          <p:cNvSpPr>
            <a:spLocks noGrp="1"/>
          </p:cNvSpPr>
          <p:nvPr>
            <p:ph type="title"/>
          </p:nvPr>
        </p:nvSpPr>
        <p:spPr/>
        <p:txBody>
          <a:bodyPr/>
          <a:lstStyle/>
          <a:p>
            <a:r>
              <a:rPr lang="en-ZA" dirty="0"/>
              <a:t>Grover’s Algorithm: State Evolution for N=4</a:t>
            </a:r>
            <a:endParaRPr lang="en-US" dirty="0"/>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A30784AA-E6B8-4048-9B6B-557ABB2782F5}"/>
                  </a:ext>
                </a:extLst>
              </p:cNvPr>
              <p:cNvSpPr/>
              <p:nvPr/>
            </p:nvSpPr>
            <p:spPr>
              <a:xfrm>
                <a:off x="697688" y="3834963"/>
                <a:ext cx="5204904" cy="783804"/>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m:rPr>
                          <m:nor/>
                        </m:rPr>
                        <a:rPr lang="en-ZA" sz="2400" dirty="0" smtClean="0"/>
                        <m:t>②</m:t>
                      </m:r>
                      <m:r>
                        <a:rPr lang="en-US" sz="2400" b="0" i="1" dirty="0" smtClean="0">
                          <a:latin typeface="Cambria Math" panose="02040503050406030204" pitchFamily="18" charset="0"/>
                        </a:rPr>
                        <m:t>   </m:t>
                      </m:r>
                      <m:groupChr>
                        <m:groupChrPr>
                          <m:chr m:val="→"/>
                          <m:vertJc m:val="bot"/>
                          <m:ctrlPr>
                            <a:rPr lang="en-US" sz="2400" b="0" i="1" smtClean="0">
                              <a:latin typeface="Cambria Math" panose="02040503050406030204" pitchFamily="18" charset="0"/>
                            </a:rPr>
                          </m:ctrlPr>
                        </m:groupChrPr>
                        <m:e>
                          <m:r>
                            <m:rPr>
                              <m:brk m:alnAt="2"/>
                            </m:rPr>
                            <a:rPr lang="en-US" sz="2400" b="0" i="1" smtClean="0">
                              <a:latin typeface="Cambria Math" panose="02040503050406030204" pitchFamily="18" charset="0"/>
                            </a:rPr>
                            <m:t>𝑂</m:t>
                          </m:r>
                        </m:e>
                      </m:groupChr>
                      <m:f>
                        <m:fPr>
                          <m:ctrlPr>
                            <a:rPr lang="en-US" sz="2400" i="1" smtClean="0">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2</m:t>
                          </m:r>
                        </m:den>
                      </m:f>
                      <m:d>
                        <m:dPr>
                          <m:ctrlPr>
                            <a:rPr lang="en-US" sz="2400" b="0" i="1" smtClean="0">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r>
                                <a:rPr lang="en-US" sz="2400" b="0" i="1" smtClean="0">
                                  <a:latin typeface="Cambria Math" panose="02040503050406030204" pitchFamily="18" charset="0"/>
                                </a:rPr>
                                <m:t>1</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r>
                                <a:rPr lang="en-US" sz="2400" i="1">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11</m:t>
                              </m:r>
                            </m:e>
                          </m:d>
                        </m:e>
                      </m:d>
                    </m:oMath>
                  </m:oMathPara>
                </a14:m>
                <a:endParaRPr lang="en-US" sz="2400" dirty="0"/>
              </a:p>
            </p:txBody>
          </p:sp>
        </mc:Choice>
        <mc:Fallback xmlns="">
          <p:sp>
            <p:nvSpPr>
              <p:cNvPr id="48" name="Rectangle 47">
                <a:extLst>
                  <a:ext uri="{FF2B5EF4-FFF2-40B4-BE49-F238E27FC236}">
                    <a16:creationId xmlns:a16="http://schemas.microsoft.com/office/drawing/2014/main" id="{A30784AA-E6B8-4048-9B6B-557ABB2782F5}"/>
                  </a:ext>
                </a:extLst>
              </p:cNvPr>
              <p:cNvSpPr>
                <a:spLocks noRot="1" noChangeAspect="1" noMove="1" noResize="1" noEditPoints="1" noAdjustHandles="1" noChangeArrowheads="1" noChangeShapeType="1" noTextEdit="1"/>
              </p:cNvSpPr>
              <p:nvPr/>
            </p:nvSpPr>
            <p:spPr>
              <a:xfrm>
                <a:off x="697688" y="3834963"/>
                <a:ext cx="5204904" cy="783804"/>
              </a:xfrm>
              <a:prstGeom prst="rect">
                <a:avLst/>
              </a:prstGeom>
              <a:blipFill>
                <a:blip r:embed="rId7"/>
                <a:stretch>
                  <a:fillRect l="-1460"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55405171-C0D4-FF43-B48B-184F0DC53D19}"/>
                  </a:ext>
                </a:extLst>
              </p:cNvPr>
              <p:cNvSpPr/>
              <p:nvPr/>
            </p:nvSpPr>
            <p:spPr>
              <a:xfrm>
                <a:off x="697688" y="4619041"/>
                <a:ext cx="6547515" cy="745140"/>
              </a:xfrm>
              <a:prstGeom prst="rect">
                <a:avLst/>
              </a:prstGeom>
            </p:spPr>
            <p:txBody>
              <a:bodyPr wrap="square">
                <a:spAutoFit/>
              </a:bodyPr>
              <a:lstStyle/>
              <a:p>
                <a:r>
                  <a:rPr lang="en-ZA" sz="2400" dirty="0"/>
                  <a:t>③</a:t>
                </a:r>
                <a:r>
                  <a:rPr lang="en-US" sz="2400" dirty="0"/>
                  <a:t>  </a:t>
                </a:r>
                <a14:m>
                  <m:oMath xmlns:m="http://schemas.openxmlformats.org/officeDocument/2006/math">
                    <m:r>
                      <a:rPr lang="en-US" sz="2400" b="0" i="1" smtClean="0">
                        <a:latin typeface="Cambria Math" panose="02040503050406030204" pitchFamily="18" charset="0"/>
                      </a:rPr>
                      <m:t> </m:t>
                    </m:r>
                    <m:groupChr>
                      <m:groupChrPr>
                        <m:chr m:val="→"/>
                        <m:vertJc m:val="bot"/>
                        <m:ctrlPr>
                          <a:rPr lang="en-US" sz="2400" i="1">
                            <a:latin typeface="Cambria Math" panose="02040503050406030204" pitchFamily="18" charset="0"/>
                          </a:rPr>
                        </m:ctrlPr>
                      </m:groupChrPr>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𝐻</m:t>
                            </m:r>
                          </m:e>
                          <m:sup>
                            <m:r>
                              <a:rPr lang="en-US" sz="2400" i="1">
                                <a:latin typeface="Cambria Math" panose="02040503050406030204" pitchFamily="18" charset="0"/>
                                <a:ea typeface="Cambria Math" panose="02040503050406030204" pitchFamily="18" charset="0"/>
                              </a:rPr>
                              <m:t>⊗2</m:t>
                            </m:r>
                          </m:sup>
                        </m:sSup>
                      </m:e>
                    </m:groupChr>
                    <m:f>
                      <m:fPr>
                        <m:ctrlPr>
                          <a:rPr lang="en-US" sz="2400" i="1" smtClean="0">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2</m:t>
                        </m:r>
                      </m:den>
                    </m:f>
                    <m:d>
                      <m:dPr>
                        <m:ctrlPr>
                          <a:rPr lang="en-US" sz="2400" b="0" i="1" smtClean="0">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r>
                              <a:rPr lang="en-US" sz="2400" b="0" i="1" smtClean="0">
                                <a:latin typeface="Cambria Math" panose="02040503050406030204" pitchFamily="18" charset="0"/>
                              </a:rPr>
                              <m:t>1</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r>
                              <a:rPr lang="en-US" sz="2400" i="1">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11</m:t>
                            </m:r>
                          </m:e>
                        </m:d>
                      </m:e>
                    </m:d>
                  </m:oMath>
                </a14:m>
                <a:endParaRPr lang="en-US" sz="2400" dirty="0"/>
              </a:p>
            </p:txBody>
          </p:sp>
        </mc:Choice>
        <mc:Fallback xmlns="">
          <p:sp>
            <p:nvSpPr>
              <p:cNvPr id="49" name="Rectangle 48">
                <a:extLst>
                  <a:ext uri="{FF2B5EF4-FFF2-40B4-BE49-F238E27FC236}">
                    <a16:creationId xmlns:a16="http://schemas.microsoft.com/office/drawing/2014/main" id="{55405171-C0D4-FF43-B48B-184F0DC53D19}"/>
                  </a:ext>
                </a:extLst>
              </p:cNvPr>
              <p:cNvSpPr>
                <a:spLocks noRot="1" noChangeAspect="1" noMove="1" noResize="1" noEditPoints="1" noAdjustHandles="1" noChangeArrowheads="1" noChangeShapeType="1" noTextEdit="1"/>
              </p:cNvSpPr>
              <p:nvPr/>
            </p:nvSpPr>
            <p:spPr>
              <a:xfrm>
                <a:off x="697688" y="4619041"/>
                <a:ext cx="6547515" cy="745140"/>
              </a:xfrm>
              <a:prstGeom prst="rect">
                <a:avLst/>
              </a:prstGeom>
              <a:blipFill>
                <a:blip r:embed="rId8"/>
                <a:stretch>
                  <a:fillRect l="-1357"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A5AAA24A-2B91-794F-9EA0-C7BCC79F494A}"/>
                  </a:ext>
                </a:extLst>
              </p:cNvPr>
              <p:cNvSpPr/>
              <p:nvPr/>
            </p:nvSpPr>
            <p:spPr>
              <a:xfrm>
                <a:off x="697688" y="5364455"/>
                <a:ext cx="5715124" cy="674928"/>
              </a:xfrm>
              <a:prstGeom prst="rect">
                <a:avLst/>
              </a:prstGeom>
            </p:spPr>
            <p:txBody>
              <a:bodyPr wrap="square">
                <a:spAutoFit/>
              </a:bodyPr>
              <a:lstStyle/>
              <a:p>
                <a:r>
                  <a:rPr lang="en-ZA" sz="2400" dirty="0"/>
                  <a:t>④</a:t>
                </a:r>
                <a:r>
                  <a:rPr lang="en-US" sz="2400" dirty="0"/>
                  <a:t>  </a:t>
                </a:r>
                <a14:m>
                  <m:oMath xmlns:m="http://schemas.openxmlformats.org/officeDocument/2006/math">
                    <m:groupChr>
                      <m:groupChrPr>
                        <m:chr m:val="→"/>
                        <m:vertJc m:val="bot"/>
                        <m:ctrlPr>
                          <a:rPr lang="en-US" sz="2400" i="1" smtClean="0">
                            <a:latin typeface="Cambria Math" panose="02040503050406030204" pitchFamily="18" charset="0"/>
                          </a:rPr>
                        </m:ctrlPr>
                      </m:groupChrPr>
                      <m:e>
                        <m:r>
                          <m:rPr>
                            <m:brk m:alnAt="2"/>
                          </m:rPr>
                          <a:rPr lang="en-US" sz="2400" b="0" i="1" smtClean="0">
                            <a:latin typeface="Cambria Math" panose="02040503050406030204" pitchFamily="18" charset="0"/>
                          </a:rPr>
                          <m:t>𝑅</m:t>
                        </m:r>
                      </m:e>
                    </m:groupChr>
                    <m:f>
                      <m:fPr>
                        <m:ctrlPr>
                          <a:rPr lang="en-US" sz="2400" i="1" smtClean="0">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2</m:t>
                        </m:r>
                      </m:den>
                    </m:f>
                    <m:d>
                      <m:dPr>
                        <m:ctrlPr>
                          <a:rPr lang="en-US" sz="2400" b="0" i="1" smtClean="0">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r>
                              <a:rPr lang="en-US" sz="2400" b="0" i="1" smtClean="0">
                                <a:latin typeface="Cambria Math" panose="02040503050406030204" pitchFamily="18" charset="0"/>
                              </a:rPr>
                              <m:t>1</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r>
                              <a:rPr lang="en-US" sz="2400" i="1">
                                <a:latin typeface="Cambria Math" panose="02040503050406030204" pitchFamily="18" charset="0"/>
                              </a:rPr>
                              <m:t>0</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11</m:t>
                            </m:r>
                          </m:e>
                        </m:d>
                      </m:e>
                    </m:d>
                  </m:oMath>
                </a14:m>
                <a:endParaRPr lang="en-US" sz="2400" dirty="0"/>
              </a:p>
            </p:txBody>
          </p:sp>
        </mc:Choice>
        <mc:Fallback xmlns="">
          <p:sp>
            <p:nvSpPr>
              <p:cNvPr id="50" name="Rectangle 49">
                <a:extLst>
                  <a:ext uri="{FF2B5EF4-FFF2-40B4-BE49-F238E27FC236}">
                    <a16:creationId xmlns:a16="http://schemas.microsoft.com/office/drawing/2014/main" id="{A5AAA24A-2B91-794F-9EA0-C7BCC79F494A}"/>
                  </a:ext>
                </a:extLst>
              </p:cNvPr>
              <p:cNvSpPr>
                <a:spLocks noRot="1" noChangeAspect="1" noMove="1" noResize="1" noEditPoints="1" noAdjustHandles="1" noChangeArrowheads="1" noChangeShapeType="1" noTextEdit="1"/>
              </p:cNvSpPr>
              <p:nvPr/>
            </p:nvSpPr>
            <p:spPr>
              <a:xfrm>
                <a:off x="697688" y="5364455"/>
                <a:ext cx="5715124" cy="674928"/>
              </a:xfrm>
              <a:prstGeom prst="rect">
                <a:avLst/>
              </a:prstGeom>
              <a:blipFill>
                <a:blip r:embed="rId9"/>
                <a:stretch>
                  <a:fillRect l="-1552" b="-2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D16BCF7C-4BBA-5943-8EBC-3E502780BB6A}"/>
                  </a:ext>
                </a:extLst>
              </p:cNvPr>
              <p:cNvSpPr/>
              <p:nvPr/>
            </p:nvSpPr>
            <p:spPr>
              <a:xfrm>
                <a:off x="697688" y="6039656"/>
                <a:ext cx="1931355" cy="658706"/>
              </a:xfrm>
              <a:prstGeom prst="rect">
                <a:avLst/>
              </a:prstGeom>
            </p:spPr>
            <p:txBody>
              <a:bodyPr wrap="square">
                <a:spAutoFit/>
              </a:bodyPr>
              <a:lstStyle/>
              <a:p>
                <a:r>
                  <a:rPr lang="en-ZA" sz="2400" dirty="0"/>
                  <a:t>⑤</a:t>
                </a:r>
                <a:r>
                  <a:rPr lang="en-US" sz="2400" dirty="0"/>
                  <a:t>  </a:t>
                </a:r>
                <a14:m>
                  <m:oMath xmlns:m="http://schemas.openxmlformats.org/officeDocument/2006/math">
                    <m:groupChr>
                      <m:groupChrPr>
                        <m:chr m:val="→"/>
                        <m:vertJc m:val="bot"/>
                        <m:ctrlPr>
                          <a:rPr lang="en-US" sz="2400" i="1" smtClean="0">
                            <a:latin typeface="Cambria Math" panose="02040503050406030204" pitchFamily="18" charset="0"/>
                          </a:rPr>
                        </m:ctrlPr>
                      </m:groupChrPr>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𝐻</m:t>
                            </m:r>
                          </m:e>
                          <m:sup>
                            <m:r>
                              <a:rPr lang="en-US" sz="2400" i="1">
                                <a:latin typeface="Cambria Math" panose="02040503050406030204" pitchFamily="18" charset="0"/>
                                <a:ea typeface="Cambria Math" panose="02040503050406030204" pitchFamily="18" charset="0"/>
                              </a:rPr>
                              <m:t>⊗2</m:t>
                            </m:r>
                          </m:sup>
                        </m:sSup>
                      </m:e>
                    </m:groupChr>
                    <m:d>
                      <m:dPr>
                        <m:begChr m:val="|"/>
                        <m:endChr m:val="⟩"/>
                        <m:ctrlPr>
                          <a:rPr lang="en-US" sz="2400" i="1">
                            <a:latin typeface="Cambria Math" panose="02040503050406030204" pitchFamily="18" charset="0"/>
                          </a:rPr>
                        </m:ctrlPr>
                      </m:dPr>
                      <m:e>
                        <m:r>
                          <a:rPr lang="en-US" sz="2400" i="1">
                            <a:latin typeface="Cambria Math" panose="02040503050406030204" pitchFamily="18" charset="0"/>
                          </a:rPr>
                          <m:t>10</m:t>
                        </m:r>
                      </m:e>
                    </m:d>
                  </m:oMath>
                </a14:m>
                <a:endParaRPr lang="en-US" sz="2400" dirty="0"/>
              </a:p>
            </p:txBody>
          </p:sp>
        </mc:Choice>
        <mc:Fallback xmlns="">
          <p:sp>
            <p:nvSpPr>
              <p:cNvPr id="52" name="Rectangle 51">
                <a:extLst>
                  <a:ext uri="{FF2B5EF4-FFF2-40B4-BE49-F238E27FC236}">
                    <a16:creationId xmlns:a16="http://schemas.microsoft.com/office/drawing/2014/main" id="{D16BCF7C-4BBA-5943-8EBC-3E502780BB6A}"/>
                  </a:ext>
                </a:extLst>
              </p:cNvPr>
              <p:cNvSpPr>
                <a:spLocks noRot="1" noChangeAspect="1" noMove="1" noResize="1" noEditPoints="1" noAdjustHandles="1" noChangeArrowheads="1" noChangeShapeType="1" noTextEdit="1"/>
              </p:cNvSpPr>
              <p:nvPr/>
            </p:nvSpPr>
            <p:spPr>
              <a:xfrm>
                <a:off x="697688" y="6039656"/>
                <a:ext cx="1931355" cy="658706"/>
              </a:xfrm>
              <a:prstGeom prst="rect">
                <a:avLst/>
              </a:prstGeom>
              <a:blipFill>
                <a:blip r:embed="rId10"/>
                <a:stretch>
                  <a:fillRect l="-4575" b="-211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9541A659-AD00-6147-BEE3-B480E95265BD}"/>
                  </a:ext>
                </a:extLst>
              </p:cNvPr>
              <p:cNvSpPr/>
              <p:nvPr/>
            </p:nvSpPr>
            <p:spPr>
              <a:xfrm>
                <a:off x="697688" y="3089549"/>
                <a:ext cx="5655523" cy="745140"/>
              </a:xfrm>
              <a:prstGeom prst="rect">
                <a:avLst/>
              </a:prstGeom>
            </p:spPr>
            <p:txBody>
              <a:bodyPr wrap="none">
                <a:spAutoFit/>
              </a:bodyPr>
              <a:lstStyle/>
              <a:p>
                <a:r>
                  <a:rPr lang="en-ZA" sz="2400" dirty="0"/>
                  <a:t>① </a:t>
                </a:r>
                <a14:m>
                  <m:oMath xmlns:m="http://schemas.openxmlformats.org/officeDocument/2006/math">
                    <m:r>
                      <a:rPr lang="en-US" sz="2400" dirty="0">
                        <a:latin typeface="Cambria Math" panose="02040503050406030204" pitchFamily="18" charset="0"/>
                      </a:rPr>
                      <m:t> </m:t>
                    </m:r>
                    <m:r>
                      <a:rPr lang="en-US" sz="2400" b="0" i="0" dirty="0" smtClean="0">
                        <a:latin typeface="Cambria Math" panose="02040503050406030204" pitchFamily="18" charset="0"/>
                      </a:rPr>
                      <m:t> </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m:t>
                        </m:r>
                      </m:e>
                    </m:d>
                    <m:groupChr>
                      <m:groupChrPr>
                        <m:chr m:val="→"/>
                        <m:vertJc m:val="bot"/>
                        <m:ctrlPr>
                          <a:rPr lang="en-US" sz="2400" i="1">
                            <a:latin typeface="Cambria Math" panose="02040503050406030204" pitchFamily="18" charset="0"/>
                          </a:rPr>
                        </m:ctrlPr>
                      </m:groupChrPr>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𝐻</m:t>
                            </m:r>
                          </m:e>
                          <m:sup>
                            <m:r>
                              <a:rPr lang="en-US" sz="2400" i="1">
                                <a:latin typeface="Cambria Math" panose="02040503050406030204" pitchFamily="18" charset="0"/>
                                <a:ea typeface="Cambria Math" panose="02040503050406030204" pitchFamily="18" charset="0"/>
                              </a:rPr>
                              <m:t>⊗2</m:t>
                            </m:r>
                          </m:sup>
                        </m:sSup>
                      </m:e>
                    </m:groupChr>
                    <m:f>
                      <m:fPr>
                        <m:ctrlPr>
                          <a:rPr lang="en-US" sz="2400" i="1" smtClean="0">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2</m:t>
                        </m:r>
                      </m:den>
                    </m:f>
                    <m:d>
                      <m:dPr>
                        <m:ctrlPr>
                          <a:rPr lang="en-US" sz="2400" b="0" i="1" smtClean="0">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r>
                              <a:rPr lang="en-US" sz="2400" b="0" i="1" smtClean="0">
                                <a:latin typeface="Cambria Math" panose="02040503050406030204" pitchFamily="18" charset="0"/>
                              </a:rPr>
                              <m:t>1</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r>
                              <a:rPr lang="en-US" sz="2400" i="1">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11</m:t>
                            </m:r>
                          </m:e>
                        </m:d>
                      </m:e>
                    </m:d>
                  </m:oMath>
                </a14:m>
                <a:endParaRPr lang="en-US" sz="2400" dirty="0"/>
              </a:p>
            </p:txBody>
          </p:sp>
        </mc:Choice>
        <mc:Fallback xmlns="">
          <p:sp>
            <p:nvSpPr>
              <p:cNvPr id="58" name="Rectangle 57">
                <a:extLst>
                  <a:ext uri="{FF2B5EF4-FFF2-40B4-BE49-F238E27FC236}">
                    <a16:creationId xmlns:a16="http://schemas.microsoft.com/office/drawing/2014/main" id="{9541A659-AD00-6147-BEE3-B480E95265BD}"/>
                  </a:ext>
                </a:extLst>
              </p:cNvPr>
              <p:cNvSpPr>
                <a:spLocks noRot="1" noChangeAspect="1" noMove="1" noResize="1" noEditPoints="1" noAdjustHandles="1" noChangeArrowheads="1" noChangeShapeType="1" noTextEdit="1"/>
              </p:cNvSpPr>
              <p:nvPr/>
            </p:nvSpPr>
            <p:spPr>
              <a:xfrm>
                <a:off x="697688" y="3089549"/>
                <a:ext cx="5655523" cy="745140"/>
              </a:xfrm>
              <a:prstGeom prst="rect">
                <a:avLst/>
              </a:prstGeom>
              <a:blipFill>
                <a:blip r:embed="rId12"/>
                <a:stretch>
                  <a:fillRect l="-1570" b="-6667"/>
                </a:stretch>
              </a:blipFill>
            </p:spPr>
            <p:txBody>
              <a:bodyPr/>
              <a:lstStyle/>
              <a:p>
                <a:r>
                  <a:rPr lang="en-US">
                    <a:noFill/>
                  </a:rPr>
                  <a:t> </a:t>
                </a:r>
              </a:p>
            </p:txBody>
          </p:sp>
        </mc:Fallback>
      </mc:AlternateContent>
      <p:sp>
        <p:nvSpPr>
          <p:cNvPr id="59" name="Rectangle 58">
            <a:extLst>
              <a:ext uri="{FF2B5EF4-FFF2-40B4-BE49-F238E27FC236}">
                <a16:creationId xmlns:a16="http://schemas.microsoft.com/office/drawing/2014/main" id="{BD11F98E-153C-294D-8783-74CED8AEB253}"/>
              </a:ext>
            </a:extLst>
          </p:cNvPr>
          <p:cNvSpPr/>
          <p:nvPr/>
        </p:nvSpPr>
        <p:spPr>
          <a:xfrm>
            <a:off x="2227330" y="1485411"/>
            <a:ext cx="559769" cy="430887"/>
          </a:xfrm>
          <a:prstGeom prst="rect">
            <a:avLst/>
          </a:prstGeom>
        </p:spPr>
        <p:txBody>
          <a:bodyPr wrap="none">
            <a:spAutoFit/>
          </a:bodyPr>
          <a:lstStyle/>
          <a:p>
            <a:r>
              <a:rPr lang="en-ZA" sz="2200" dirty="0"/>
              <a:t>①</a:t>
            </a:r>
            <a:endParaRPr lang="en-US" sz="2200" dirty="0"/>
          </a:p>
        </p:txBody>
      </p:sp>
      <p:sp>
        <p:nvSpPr>
          <p:cNvPr id="60" name="Rectangle 59">
            <a:extLst>
              <a:ext uri="{FF2B5EF4-FFF2-40B4-BE49-F238E27FC236}">
                <a16:creationId xmlns:a16="http://schemas.microsoft.com/office/drawing/2014/main" id="{6863771E-FBE1-8A49-AEFF-7E99403C980A}"/>
              </a:ext>
            </a:extLst>
          </p:cNvPr>
          <p:cNvSpPr/>
          <p:nvPr/>
        </p:nvSpPr>
        <p:spPr>
          <a:xfrm>
            <a:off x="4138958" y="1485411"/>
            <a:ext cx="559769" cy="430887"/>
          </a:xfrm>
          <a:prstGeom prst="rect">
            <a:avLst/>
          </a:prstGeom>
        </p:spPr>
        <p:txBody>
          <a:bodyPr wrap="none">
            <a:spAutoFit/>
          </a:bodyPr>
          <a:lstStyle/>
          <a:p>
            <a:r>
              <a:rPr lang="en-ZA" sz="2200" dirty="0"/>
              <a:t>②</a:t>
            </a:r>
            <a:endParaRPr lang="en-US" sz="2200" dirty="0"/>
          </a:p>
        </p:txBody>
      </p:sp>
      <p:sp>
        <p:nvSpPr>
          <p:cNvPr id="61" name="Rectangle 60">
            <a:extLst>
              <a:ext uri="{FF2B5EF4-FFF2-40B4-BE49-F238E27FC236}">
                <a16:creationId xmlns:a16="http://schemas.microsoft.com/office/drawing/2014/main" id="{B186EF9C-4E3F-6B4C-AA25-752ADF5D9D2F}"/>
              </a:ext>
            </a:extLst>
          </p:cNvPr>
          <p:cNvSpPr/>
          <p:nvPr/>
        </p:nvSpPr>
        <p:spPr>
          <a:xfrm>
            <a:off x="6335812" y="1485411"/>
            <a:ext cx="559769" cy="430887"/>
          </a:xfrm>
          <a:prstGeom prst="rect">
            <a:avLst/>
          </a:prstGeom>
        </p:spPr>
        <p:txBody>
          <a:bodyPr wrap="none">
            <a:spAutoFit/>
          </a:bodyPr>
          <a:lstStyle/>
          <a:p>
            <a:r>
              <a:rPr lang="en-ZA" sz="2200" dirty="0"/>
              <a:t>③</a:t>
            </a:r>
            <a:endParaRPr lang="en-US" sz="2200" dirty="0"/>
          </a:p>
        </p:txBody>
      </p:sp>
      <p:sp>
        <p:nvSpPr>
          <p:cNvPr id="62" name="Rectangle 61">
            <a:extLst>
              <a:ext uri="{FF2B5EF4-FFF2-40B4-BE49-F238E27FC236}">
                <a16:creationId xmlns:a16="http://schemas.microsoft.com/office/drawing/2014/main" id="{0EA0156C-BD2F-F047-92E0-EC521A1A2E24}"/>
              </a:ext>
            </a:extLst>
          </p:cNvPr>
          <p:cNvSpPr/>
          <p:nvPr/>
        </p:nvSpPr>
        <p:spPr>
          <a:xfrm>
            <a:off x="9246573" y="1485411"/>
            <a:ext cx="559769" cy="430887"/>
          </a:xfrm>
          <a:prstGeom prst="rect">
            <a:avLst/>
          </a:prstGeom>
        </p:spPr>
        <p:txBody>
          <a:bodyPr wrap="none">
            <a:spAutoFit/>
          </a:bodyPr>
          <a:lstStyle/>
          <a:p>
            <a:r>
              <a:rPr lang="en-ZA" sz="2200" dirty="0"/>
              <a:t>④</a:t>
            </a:r>
            <a:endParaRPr lang="en-US" sz="2200" dirty="0"/>
          </a:p>
        </p:txBody>
      </p:sp>
      <p:sp>
        <p:nvSpPr>
          <p:cNvPr id="63" name="Rectangle 62">
            <a:extLst>
              <a:ext uri="{FF2B5EF4-FFF2-40B4-BE49-F238E27FC236}">
                <a16:creationId xmlns:a16="http://schemas.microsoft.com/office/drawing/2014/main" id="{0EE8DEC6-7595-014B-B6F8-F8DAE246E1AF}"/>
              </a:ext>
            </a:extLst>
          </p:cNvPr>
          <p:cNvSpPr/>
          <p:nvPr/>
        </p:nvSpPr>
        <p:spPr>
          <a:xfrm>
            <a:off x="11467230" y="1485411"/>
            <a:ext cx="559769" cy="430887"/>
          </a:xfrm>
          <a:prstGeom prst="rect">
            <a:avLst/>
          </a:prstGeom>
        </p:spPr>
        <p:txBody>
          <a:bodyPr wrap="none">
            <a:spAutoFit/>
          </a:bodyPr>
          <a:lstStyle/>
          <a:p>
            <a:r>
              <a:rPr lang="en-ZA" sz="2200" dirty="0"/>
              <a:t>⑤</a:t>
            </a:r>
            <a:endParaRPr lang="en-US" sz="2200" dirty="0"/>
          </a:p>
        </p:txBody>
      </p:sp>
      <p:sp>
        <p:nvSpPr>
          <p:cNvPr id="2" name="Rectangle 1">
            <a:extLst>
              <a:ext uri="{FF2B5EF4-FFF2-40B4-BE49-F238E27FC236}">
                <a16:creationId xmlns:a16="http://schemas.microsoft.com/office/drawing/2014/main" id="{846FC861-E374-864E-B040-F299F44AC41E}"/>
              </a:ext>
            </a:extLst>
          </p:cNvPr>
          <p:cNvSpPr/>
          <p:nvPr/>
        </p:nvSpPr>
        <p:spPr>
          <a:xfrm>
            <a:off x="4698727" y="838529"/>
            <a:ext cx="6785517" cy="2531871"/>
          </a:xfrm>
          <a:prstGeom prst="rect">
            <a:avLst/>
          </a:prstGeom>
          <a:noFill/>
          <a:ln>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31E625ED-D3E2-914D-8E58-3A1616065BD1}"/>
                  </a:ext>
                </a:extLst>
              </p:cNvPr>
              <p:cNvSpPr/>
              <p:nvPr/>
            </p:nvSpPr>
            <p:spPr>
              <a:xfrm>
                <a:off x="715922" y="1514579"/>
                <a:ext cx="1410545" cy="108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4000" i="1" smtClean="0">
                              <a:latin typeface="Cambria Math" panose="02040503050406030204" pitchFamily="18" charset="0"/>
                            </a:rPr>
                          </m:ctrlPr>
                        </m:sSupPr>
                        <m:e>
                          <m:r>
                            <m:rPr>
                              <m:sty m:val="p"/>
                            </m:rPr>
                            <a:rPr lang="en-US" sz="4000" i="0">
                              <a:latin typeface="Cambria Math" panose="02040503050406030204" pitchFamily="18" charset="0"/>
                            </a:rPr>
                            <m:t>H</m:t>
                          </m:r>
                        </m:e>
                        <m:sup>
                          <m:r>
                            <a:rPr lang="en-US" sz="4000" i="0">
                              <a:latin typeface="Cambria Math" panose="02040503050406030204" pitchFamily="18" charset="0"/>
                              <a:ea typeface="Cambria Math" panose="02040503050406030204" pitchFamily="18" charset="0"/>
                            </a:rPr>
                            <m:t>⨂</m:t>
                          </m:r>
                          <m:r>
                            <a:rPr lang="en-US" sz="4000" b="0" i="0" smtClean="0">
                              <a:latin typeface="Cambria Math" panose="02040503050406030204" pitchFamily="18" charset="0"/>
                              <a:ea typeface="Cambria Math" panose="02040503050406030204" pitchFamily="18" charset="0"/>
                            </a:rPr>
                            <m:t>2</m:t>
                          </m:r>
                        </m:sup>
                      </m:sSup>
                    </m:oMath>
                  </m:oMathPara>
                </a14:m>
                <a:endParaRPr lang="en-US" sz="4000" dirty="0">
                  <a:latin typeface="Times" pitchFamily="2" charset="0"/>
                </a:endParaRPr>
              </a:p>
            </p:txBody>
          </p:sp>
        </mc:Choice>
        <mc:Fallback xmlns="">
          <p:sp>
            <p:nvSpPr>
              <p:cNvPr id="42" name="Rectangle 41">
                <a:extLst>
                  <a:ext uri="{FF2B5EF4-FFF2-40B4-BE49-F238E27FC236}">
                    <a16:creationId xmlns:a16="http://schemas.microsoft.com/office/drawing/2014/main" id="{31E625ED-D3E2-914D-8E58-3A1616065BD1}"/>
                  </a:ext>
                </a:extLst>
              </p:cNvPr>
              <p:cNvSpPr>
                <a:spLocks noRot="1" noChangeAspect="1" noMove="1" noResize="1" noEditPoints="1" noAdjustHandles="1" noChangeArrowheads="1" noChangeShapeType="1" noTextEdit="1"/>
              </p:cNvSpPr>
              <p:nvPr/>
            </p:nvSpPr>
            <p:spPr>
              <a:xfrm>
                <a:off x="715922" y="1514579"/>
                <a:ext cx="1410545" cy="1080000"/>
              </a:xfrm>
              <a:prstGeom prst="rect">
                <a:avLst/>
              </a:prstGeom>
              <a:blipFill>
                <a:blip r:embed="rId13"/>
                <a:stretch>
                  <a:fillRect/>
                </a:stretch>
              </a:blipFill>
            </p:spPr>
            <p:txBody>
              <a:bodyPr/>
              <a:lstStyle/>
              <a:p>
                <a:r>
                  <a:rPr lang="en-US">
                    <a:noFill/>
                  </a:rPr>
                  <a:t> </a:t>
                </a:r>
              </a:p>
            </p:txBody>
          </p:sp>
        </mc:Fallback>
      </mc:AlternateContent>
      <p:sp>
        <p:nvSpPr>
          <p:cNvPr id="46" name="Rectangle 45">
            <a:extLst>
              <a:ext uri="{FF2B5EF4-FFF2-40B4-BE49-F238E27FC236}">
                <a16:creationId xmlns:a16="http://schemas.microsoft.com/office/drawing/2014/main" id="{65E510A2-A6E5-D044-8407-99EBE9224328}"/>
              </a:ext>
            </a:extLst>
          </p:cNvPr>
          <p:cNvSpPr/>
          <p:nvPr/>
        </p:nvSpPr>
        <p:spPr>
          <a:xfrm>
            <a:off x="2925941" y="1543748"/>
            <a:ext cx="1080000" cy="10800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O</a:t>
            </a:r>
          </a:p>
        </p:txBody>
      </p: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0E629E47-08A6-D547-8253-9EDBE11F05F2}"/>
                  </a:ext>
                </a:extLst>
              </p:cNvPr>
              <p:cNvSpPr/>
              <p:nvPr/>
            </p:nvSpPr>
            <p:spPr>
              <a:xfrm>
                <a:off x="7015434" y="1264934"/>
                <a:ext cx="2111286" cy="167905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Times" pitchFamily="2" charset="0"/>
                  </a:rPr>
                  <a:t>R</a:t>
                </a:r>
              </a:p>
              <a:p>
                <a:pPr algn="ctr"/>
                <a14:m>
                  <m:oMathPara xmlns:m="http://schemas.openxmlformats.org/officeDocument/2006/math">
                    <m:oMathParaPr>
                      <m:jc m:val="centerGroup"/>
                    </m:oMathParaPr>
                    <m:oMath xmlns:m="http://schemas.openxmlformats.org/officeDocument/2006/math">
                      <m:d>
                        <m:dPr>
                          <m:begChr m:val="|"/>
                          <m:endChr m:val="⟩"/>
                          <m:ctrlPr>
                            <a:rPr lang="en-US" sz="3200" i="1">
                              <a:solidFill>
                                <a:schemeClr val="tx1"/>
                              </a:solidFill>
                              <a:latin typeface="Cambria Math" panose="02040503050406030204" pitchFamily="18" charset="0"/>
                            </a:rPr>
                          </m:ctrlPr>
                        </m:dPr>
                        <m:e>
                          <m:r>
                            <a:rPr lang="en-US" sz="3200" i="1">
                              <a:solidFill>
                                <a:schemeClr val="tx1"/>
                              </a:solidFill>
                              <a:latin typeface="Cambria Math" panose="02040503050406030204" pitchFamily="18" charset="0"/>
                            </a:rPr>
                            <m:t>0</m:t>
                          </m:r>
                        </m:e>
                      </m:d>
                      <m:r>
                        <a:rPr lang="en-US" sz="32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3200" i="1">
                              <a:solidFill>
                                <a:schemeClr val="tx1"/>
                              </a:solidFill>
                              <a:latin typeface="Cambria Math" panose="02040503050406030204" pitchFamily="18" charset="0"/>
                            </a:rPr>
                          </m:ctrlPr>
                        </m:dPr>
                        <m:e>
                          <m:r>
                            <a:rPr lang="en-US" sz="3200" i="1">
                              <a:solidFill>
                                <a:schemeClr val="tx1"/>
                              </a:solidFill>
                              <a:latin typeface="Cambria Math" panose="02040503050406030204" pitchFamily="18" charset="0"/>
                            </a:rPr>
                            <m:t>0</m:t>
                          </m:r>
                        </m:e>
                      </m:d>
                    </m:oMath>
                  </m:oMathPara>
                </a14:m>
                <a:endParaRPr lang="en-US" sz="3200" dirty="0">
                  <a:solidFill>
                    <a:schemeClr val="tx1"/>
                  </a:solidFill>
                  <a:latin typeface="Times" pitchFamily="2" charset="0"/>
                </a:endParaRPr>
              </a:p>
              <a:p>
                <a:pPr algn="ctr"/>
                <a14:m>
                  <m:oMathPara xmlns:m="http://schemas.openxmlformats.org/officeDocument/2006/math">
                    <m:oMathParaPr>
                      <m:jc m:val="centerGroup"/>
                    </m:oMathParaPr>
                    <m:oMath xmlns:m="http://schemas.openxmlformats.org/officeDocument/2006/math">
                      <m:d>
                        <m:dPr>
                          <m:begChr m:val="|"/>
                          <m:endChr m:val="⟩"/>
                          <m:ctrlPr>
                            <a:rPr lang="en-US" sz="3200" i="1">
                              <a:solidFill>
                                <a:schemeClr val="tx1"/>
                              </a:solidFill>
                              <a:latin typeface="Cambria Math" panose="02040503050406030204" pitchFamily="18" charset="0"/>
                            </a:rPr>
                          </m:ctrlPr>
                        </m:dPr>
                        <m:e>
                          <m:r>
                            <a:rPr lang="en-US" sz="3200" b="0" i="1" smtClean="0">
                              <a:solidFill>
                                <a:schemeClr val="tx1"/>
                              </a:solidFill>
                              <a:latin typeface="Cambria Math" panose="02040503050406030204" pitchFamily="18" charset="0"/>
                            </a:rPr>
                            <m:t>𝑥</m:t>
                          </m:r>
                        </m:e>
                      </m:d>
                      <m:r>
                        <a:rPr lang="en-US" sz="3200" i="1">
                          <a:solidFill>
                            <a:schemeClr val="tx1"/>
                          </a:solidFill>
                          <a:latin typeface="Cambria Math" panose="02040503050406030204" pitchFamily="18" charset="0"/>
                          <a:ea typeface="Cambria Math" panose="02040503050406030204" pitchFamily="18" charset="0"/>
                        </a:rPr>
                        <m:t>→</m:t>
                      </m:r>
                      <m:d>
                        <m:dPr>
                          <m:begChr m:val="|"/>
                          <m:endChr m:val="⟩"/>
                          <m:ctrlPr>
                            <a:rPr lang="en-US" sz="3200" i="1">
                              <a:solidFill>
                                <a:schemeClr val="tx1"/>
                              </a:solidFill>
                              <a:latin typeface="Cambria Math" panose="02040503050406030204" pitchFamily="18" charset="0"/>
                            </a:rPr>
                          </m:ctrlPr>
                        </m:dPr>
                        <m:e>
                          <m:r>
                            <a:rPr lang="en-US" sz="3200" b="0" i="1"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𝑥</m:t>
                          </m:r>
                        </m:e>
                      </m:d>
                    </m:oMath>
                  </m:oMathPara>
                </a14:m>
                <a:endParaRPr lang="en-US" sz="3200" dirty="0">
                  <a:solidFill>
                    <a:schemeClr val="tx1"/>
                  </a:solidFill>
                  <a:latin typeface="Times" pitchFamily="2" charset="0"/>
                </a:endParaRPr>
              </a:p>
            </p:txBody>
          </p:sp>
        </mc:Choice>
        <mc:Fallback xmlns="">
          <p:sp>
            <p:nvSpPr>
              <p:cNvPr id="51" name="Rectangle 50">
                <a:extLst>
                  <a:ext uri="{FF2B5EF4-FFF2-40B4-BE49-F238E27FC236}">
                    <a16:creationId xmlns:a16="http://schemas.microsoft.com/office/drawing/2014/main" id="{0E629E47-08A6-D547-8253-9EDBE11F05F2}"/>
                  </a:ext>
                </a:extLst>
              </p:cNvPr>
              <p:cNvSpPr>
                <a:spLocks noRot="1" noChangeAspect="1" noMove="1" noResize="1" noEditPoints="1" noAdjustHandles="1" noChangeArrowheads="1" noChangeShapeType="1" noTextEdit="1"/>
              </p:cNvSpPr>
              <p:nvPr/>
            </p:nvSpPr>
            <p:spPr>
              <a:xfrm>
                <a:off x="7015434" y="1264934"/>
                <a:ext cx="2111286" cy="1679051"/>
              </a:xfrm>
              <a:prstGeom prst="rect">
                <a:avLst/>
              </a:prstGeom>
              <a:blipFill>
                <a:blip r:embed="rId14"/>
                <a:stretch>
                  <a:fillRect t="-7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26A4A340-E12B-B44D-AA1D-73F1889EAEE1}"/>
                  </a:ext>
                </a:extLst>
              </p:cNvPr>
              <p:cNvSpPr/>
              <p:nvPr/>
            </p:nvSpPr>
            <p:spPr>
              <a:xfrm>
                <a:off x="4805415" y="1541600"/>
                <a:ext cx="1410545" cy="108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4000" i="1" smtClean="0">
                              <a:latin typeface="Cambria Math" panose="02040503050406030204" pitchFamily="18" charset="0"/>
                            </a:rPr>
                          </m:ctrlPr>
                        </m:sSupPr>
                        <m:e>
                          <m:r>
                            <m:rPr>
                              <m:sty m:val="p"/>
                            </m:rPr>
                            <a:rPr lang="en-US" sz="4000" i="0">
                              <a:latin typeface="Cambria Math" panose="02040503050406030204" pitchFamily="18" charset="0"/>
                            </a:rPr>
                            <m:t>H</m:t>
                          </m:r>
                        </m:e>
                        <m:sup>
                          <m:r>
                            <a:rPr lang="en-US" sz="4000" i="0">
                              <a:latin typeface="Cambria Math" panose="02040503050406030204" pitchFamily="18" charset="0"/>
                              <a:ea typeface="Cambria Math" panose="02040503050406030204" pitchFamily="18" charset="0"/>
                            </a:rPr>
                            <m:t>⨂</m:t>
                          </m:r>
                          <m:r>
                            <a:rPr lang="en-US" sz="4000" b="0" i="0" smtClean="0">
                              <a:latin typeface="Cambria Math" panose="02040503050406030204" pitchFamily="18" charset="0"/>
                              <a:ea typeface="Cambria Math" panose="02040503050406030204" pitchFamily="18" charset="0"/>
                            </a:rPr>
                            <m:t>2</m:t>
                          </m:r>
                        </m:sup>
                      </m:sSup>
                    </m:oMath>
                  </m:oMathPara>
                </a14:m>
                <a:endParaRPr lang="en-US" sz="4000" dirty="0">
                  <a:latin typeface="Times" pitchFamily="2" charset="0"/>
                </a:endParaRPr>
              </a:p>
            </p:txBody>
          </p:sp>
        </mc:Choice>
        <mc:Fallback xmlns="">
          <p:sp>
            <p:nvSpPr>
              <p:cNvPr id="70" name="Rectangle 69">
                <a:extLst>
                  <a:ext uri="{FF2B5EF4-FFF2-40B4-BE49-F238E27FC236}">
                    <a16:creationId xmlns:a16="http://schemas.microsoft.com/office/drawing/2014/main" id="{26A4A340-E12B-B44D-AA1D-73F1889EAEE1}"/>
                  </a:ext>
                </a:extLst>
              </p:cNvPr>
              <p:cNvSpPr>
                <a:spLocks noRot="1" noChangeAspect="1" noMove="1" noResize="1" noEditPoints="1" noAdjustHandles="1" noChangeArrowheads="1" noChangeShapeType="1" noTextEdit="1"/>
              </p:cNvSpPr>
              <p:nvPr/>
            </p:nvSpPr>
            <p:spPr>
              <a:xfrm>
                <a:off x="4805415" y="1541600"/>
                <a:ext cx="1410545" cy="108000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5063C3ED-12F9-964B-89D1-09B38A48F7E5}"/>
                  </a:ext>
                </a:extLst>
              </p:cNvPr>
              <p:cNvSpPr/>
              <p:nvPr/>
            </p:nvSpPr>
            <p:spPr>
              <a:xfrm>
                <a:off x="9926195" y="1560163"/>
                <a:ext cx="1410545" cy="108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4000" i="1" smtClean="0">
                              <a:latin typeface="Cambria Math" panose="02040503050406030204" pitchFamily="18" charset="0"/>
                            </a:rPr>
                          </m:ctrlPr>
                        </m:sSupPr>
                        <m:e>
                          <m:r>
                            <m:rPr>
                              <m:sty m:val="p"/>
                            </m:rPr>
                            <a:rPr lang="en-US" sz="4000" i="0">
                              <a:latin typeface="Cambria Math" panose="02040503050406030204" pitchFamily="18" charset="0"/>
                            </a:rPr>
                            <m:t>H</m:t>
                          </m:r>
                        </m:e>
                        <m:sup>
                          <m:r>
                            <a:rPr lang="en-US" sz="4000" i="0">
                              <a:latin typeface="Cambria Math" panose="02040503050406030204" pitchFamily="18" charset="0"/>
                              <a:ea typeface="Cambria Math" panose="02040503050406030204" pitchFamily="18" charset="0"/>
                            </a:rPr>
                            <m:t>⨂</m:t>
                          </m:r>
                          <m:r>
                            <a:rPr lang="en-US" sz="4000" b="0" i="0" smtClean="0">
                              <a:latin typeface="Cambria Math" panose="02040503050406030204" pitchFamily="18" charset="0"/>
                              <a:ea typeface="Cambria Math" panose="02040503050406030204" pitchFamily="18" charset="0"/>
                            </a:rPr>
                            <m:t>2</m:t>
                          </m:r>
                        </m:sup>
                      </m:sSup>
                    </m:oMath>
                  </m:oMathPara>
                </a14:m>
                <a:endParaRPr lang="en-US" sz="4000" dirty="0">
                  <a:latin typeface="Times" pitchFamily="2" charset="0"/>
                </a:endParaRPr>
              </a:p>
            </p:txBody>
          </p:sp>
        </mc:Choice>
        <mc:Fallback xmlns="">
          <p:sp>
            <p:nvSpPr>
              <p:cNvPr id="71" name="Rectangle 70">
                <a:extLst>
                  <a:ext uri="{FF2B5EF4-FFF2-40B4-BE49-F238E27FC236}">
                    <a16:creationId xmlns:a16="http://schemas.microsoft.com/office/drawing/2014/main" id="{5063C3ED-12F9-964B-89D1-09B38A48F7E5}"/>
                  </a:ext>
                </a:extLst>
              </p:cNvPr>
              <p:cNvSpPr>
                <a:spLocks noRot="1" noChangeAspect="1" noMove="1" noResize="1" noEditPoints="1" noAdjustHandles="1" noChangeArrowheads="1" noChangeShapeType="1" noTextEdit="1"/>
              </p:cNvSpPr>
              <p:nvPr/>
            </p:nvSpPr>
            <p:spPr>
              <a:xfrm>
                <a:off x="9926195" y="1560163"/>
                <a:ext cx="1410545" cy="1080000"/>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7288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dissolve">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dissolve">
                                      <p:cBhvr>
                                        <p:cTn id="17" dur="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dissolve">
                                      <p:cBhvr>
                                        <p:cTn id="2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ounded Rectangle 53">
            <a:extLst>
              <a:ext uri="{FF2B5EF4-FFF2-40B4-BE49-F238E27FC236}">
                <a16:creationId xmlns:a16="http://schemas.microsoft.com/office/drawing/2014/main" id="{CA26E72E-0A5A-E444-8A28-39D2F3A2AC22}"/>
              </a:ext>
            </a:extLst>
          </p:cNvPr>
          <p:cNvSpPr/>
          <p:nvPr/>
        </p:nvSpPr>
        <p:spPr>
          <a:xfrm>
            <a:off x="5206171" y="1619404"/>
            <a:ext cx="4666073" cy="1857600"/>
          </a:xfrm>
          <a:prstGeom prst="roundRect">
            <a:avLst>
              <a:gd name="adj" fmla="val 6749"/>
            </a:avLst>
          </a:prstGeom>
          <a:solidFill>
            <a:schemeClr val="accent5">
              <a:lumMod val="20000"/>
              <a:lumOff val="80000"/>
            </a:schemeClr>
          </a:solidFill>
          <a:ln>
            <a:solidFill>
              <a:schemeClr val="accent5">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55" name="Rounded Rectangle 54">
            <a:extLst>
              <a:ext uri="{FF2B5EF4-FFF2-40B4-BE49-F238E27FC236}">
                <a16:creationId xmlns:a16="http://schemas.microsoft.com/office/drawing/2014/main" id="{7C4FFB42-CFD4-5D4D-82FC-04926E9BC480}"/>
              </a:ext>
            </a:extLst>
          </p:cNvPr>
          <p:cNvSpPr/>
          <p:nvPr/>
        </p:nvSpPr>
        <p:spPr>
          <a:xfrm>
            <a:off x="2157109" y="1625357"/>
            <a:ext cx="2902647" cy="1857288"/>
          </a:xfrm>
          <a:prstGeom prst="roundRect">
            <a:avLst>
              <a:gd name="adj" fmla="val 7849"/>
            </a:avLst>
          </a:prstGeom>
          <a:solidFill>
            <a:schemeClr val="accent6">
              <a:lumMod val="20000"/>
              <a:lumOff val="80000"/>
            </a:schemeClr>
          </a:solid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88" name="Straight Connector 87">
            <a:extLst>
              <a:ext uri="{FF2B5EF4-FFF2-40B4-BE49-F238E27FC236}">
                <a16:creationId xmlns:a16="http://schemas.microsoft.com/office/drawing/2014/main" id="{B1695B0E-F5A6-FC4D-A15A-114796F60DE9}"/>
              </a:ext>
            </a:extLst>
          </p:cNvPr>
          <p:cNvCxnSpPr>
            <a:cxnSpLocks/>
          </p:cNvCxnSpPr>
          <p:nvPr/>
        </p:nvCxnSpPr>
        <p:spPr>
          <a:xfrm>
            <a:off x="3240411" y="5814355"/>
            <a:ext cx="561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F71557E-8A83-FB48-8DAF-2094F6B8D6DB}"/>
              </a:ext>
            </a:extLst>
          </p:cNvPr>
          <p:cNvCxnSpPr>
            <a:cxnSpLocks/>
          </p:cNvCxnSpPr>
          <p:nvPr/>
        </p:nvCxnSpPr>
        <p:spPr>
          <a:xfrm>
            <a:off x="3240411" y="5278721"/>
            <a:ext cx="561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ABCB3C7-8739-4F4E-B20C-D87E42B6B50F}"/>
              </a:ext>
            </a:extLst>
          </p:cNvPr>
          <p:cNvCxnSpPr>
            <a:cxnSpLocks/>
          </p:cNvCxnSpPr>
          <p:nvPr/>
        </p:nvCxnSpPr>
        <p:spPr>
          <a:xfrm>
            <a:off x="3240411" y="4743087"/>
            <a:ext cx="561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4793287-7C3F-CE44-8E17-B8C997AB4F6F}"/>
              </a:ext>
            </a:extLst>
          </p:cNvPr>
          <p:cNvCxnSpPr>
            <a:cxnSpLocks/>
          </p:cNvCxnSpPr>
          <p:nvPr/>
        </p:nvCxnSpPr>
        <p:spPr>
          <a:xfrm>
            <a:off x="3240411" y="4242081"/>
            <a:ext cx="561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38B59EB-5CE4-0248-923E-7C1D60901669}"/>
              </a:ext>
            </a:extLst>
          </p:cNvPr>
          <p:cNvSpPr>
            <a:spLocks noGrp="1"/>
          </p:cNvSpPr>
          <p:nvPr>
            <p:ph type="title"/>
          </p:nvPr>
        </p:nvSpPr>
        <p:spPr/>
        <p:txBody>
          <a:bodyPr/>
          <a:lstStyle/>
          <a:p>
            <a:r>
              <a:rPr lang="en-ZA" dirty="0"/>
              <a:t>Grover’s Algorithm: Complete Circuit</a:t>
            </a:r>
            <a:endParaRPr lang="en-US" dirty="0"/>
          </a:p>
        </p:txBody>
      </p:sp>
      <p:cxnSp>
        <p:nvCxnSpPr>
          <p:cNvPr id="4" name="Straight Connector 3">
            <a:extLst>
              <a:ext uri="{FF2B5EF4-FFF2-40B4-BE49-F238E27FC236}">
                <a16:creationId xmlns:a16="http://schemas.microsoft.com/office/drawing/2014/main" id="{1721F1C0-8915-184C-843E-6CC437D92173}"/>
              </a:ext>
            </a:extLst>
          </p:cNvPr>
          <p:cNvCxnSpPr>
            <a:cxnSpLocks/>
          </p:cNvCxnSpPr>
          <p:nvPr/>
        </p:nvCxnSpPr>
        <p:spPr>
          <a:xfrm>
            <a:off x="1220800" y="2026551"/>
            <a:ext cx="97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83628D0-A7DF-8741-AF29-68C199AB88D4}"/>
              </a:ext>
            </a:extLst>
          </p:cNvPr>
          <p:cNvCxnSpPr>
            <a:cxnSpLocks/>
          </p:cNvCxnSpPr>
          <p:nvPr/>
        </p:nvCxnSpPr>
        <p:spPr>
          <a:xfrm>
            <a:off x="1220800" y="2978807"/>
            <a:ext cx="97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24880D4E-1764-E04D-ADB3-7980DC1469E0}"/>
              </a:ext>
            </a:extLst>
          </p:cNvPr>
          <p:cNvSpPr/>
          <p:nvPr/>
        </p:nvSpPr>
        <p:spPr>
          <a:xfrm>
            <a:off x="5372749" y="2689978"/>
            <a:ext cx="562660" cy="56266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cxnSp>
        <p:nvCxnSpPr>
          <p:cNvPr id="9" name="Straight Connector 8">
            <a:extLst>
              <a:ext uri="{FF2B5EF4-FFF2-40B4-BE49-F238E27FC236}">
                <a16:creationId xmlns:a16="http://schemas.microsoft.com/office/drawing/2014/main" id="{5E0BE89F-64F4-A744-B4B9-8B5F93C0CDED}"/>
              </a:ext>
            </a:extLst>
          </p:cNvPr>
          <p:cNvCxnSpPr>
            <a:cxnSpLocks/>
          </p:cNvCxnSpPr>
          <p:nvPr/>
        </p:nvCxnSpPr>
        <p:spPr>
          <a:xfrm flipV="1">
            <a:off x="7534200" y="1993463"/>
            <a:ext cx="0" cy="7011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B67DFB1D-C7C7-E54C-910C-70625818B6CA}"/>
              </a:ext>
            </a:extLst>
          </p:cNvPr>
          <p:cNvSpPr/>
          <p:nvPr/>
        </p:nvSpPr>
        <p:spPr>
          <a:xfrm>
            <a:off x="7421668" y="1883451"/>
            <a:ext cx="225063" cy="22506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1" name="Oval 10">
            <a:extLst>
              <a:ext uri="{FF2B5EF4-FFF2-40B4-BE49-F238E27FC236}">
                <a16:creationId xmlns:a16="http://schemas.microsoft.com/office/drawing/2014/main" id="{0D5197C2-29A0-1F4F-9184-0798F277833F}"/>
              </a:ext>
            </a:extLst>
          </p:cNvPr>
          <p:cNvSpPr>
            <a:spLocks noChangeAspect="1"/>
          </p:cNvSpPr>
          <p:nvPr/>
        </p:nvSpPr>
        <p:spPr>
          <a:xfrm>
            <a:off x="8190486" y="2689978"/>
            <a:ext cx="562660" cy="5626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a:t>
            </a:r>
          </a:p>
        </p:txBody>
      </p:sp>
      <p:sp>
        <p:nvSpPr>
          <p:cNvPr id="12" name="Rectangle 11">
            <a:extLst>
              <a:ext uri="{FF2B5EF4-FFF2-40B4-BE49-F238E27FC236}">
                <a16:creationId xmlns:a16="http://schemas.microsoft.com/office/drawing/2014/main" id="{D4E612FB-646B-EB4C-9351-4E3F56A33003}"/>
              </a:ext>
            </a:extLst>
          </p:cNvPr>
          <p:cNvSpPr/>
          <p:nvPr/>
        </p:nvSpPr>
        <p:spPr>
          <a:xfrm>
            <a:off x="5377132" y="1739366"/>
            <a:ext cx="562660" cy="56266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3" name="Oval 12">
            <a:extLst>
              <a:ext uri="{FF2B5EF4-FFF2-40B4-BE49-F238E27FC236}">
                <a16:creationId xmlns:a16="http://schemas.microsoft.com/office/drawing/2014/main" id="{4FE393E1-CF71-4F4B-B980-0B0D2A3B2E7D}"/>
              </a:ext>
            </a:extLst>
          </p:cNvPr>
          <p:cNvSpPr>
            <a:spLocks noChangeAspect="1"/>
          </p:cNvSpPr>
          <p:nvPr/>
        </p:nvSpPr>
        <p:spPr>
          <a:xfrm>
            <a:off x="6312348" y="2689978"/>
            <a:ext cx="562660" cy="5626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a:t>
            </a:r>
          </a:p>
        </p:txBody>
      </p:sp>
      <p:sp>
        <p:nvSpPr>
          <p:cNvPr id="15" name="Oval 14">
            <a:extLst>
              <a:ext uri="{FF2B5EF4-FFF2-40B4-BE49-F238E27FC236}">
                <a16:creationId xmlns:a16="http://schemas.microsoft.com/office/drawing/2014/main" id="{1FD69004-2C7F-D240-BAF5-A353D286E96D}"/>
              </a:ext>
            </a:extLst>
          </p:cNvPr>
          <p:cNvSpPr>
            <a:spLocks noChangeAspect="1"/>
          </p:cNvSpPr>
          <p:nvPr/>
        </p:nvSpPr>
        <p:spPr>
          <a:xfrm>
            <a:off x="6306405" y="1739366"/>
            <a:ext cx="562660" cy="5626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a:t>
            </a:r>
          </a:p>
        </p:txBody>
      </p:sp>
      <p:sp>
        <p:nvSpPr>
          <p:cNvPr id="16" name="Oval 15">
            <a:extLst>
              <a:ext uri="{FF2B5EF4-FFF2-40B4-BE49-F238E27FC236}">
                <a16:creationId xmlns:a16="http://schemas.microsoft.com/office/drawing/2014/main" id="{C83F5233-012F-D147-89F5-A49E9A7F1D2F}"/>
              </a:ext>
            </a:extLst>
          </p:cNvPr>
          <p:cNvSpPr>
            <a:spLocks noChangeAspect="1"/>
          </p:cNvSpPr>
          <p:nvPr/>
        </p:nvSpPr>
        <p:spPr>
          <a:xfrm>
            <a:off x="8186852" y="1739366"/>
            <a:ext cx="562660" cy="5626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a:t>
            </a:r>
          </a:p>
        </p:txBody>
      </p:sp>
      <p:sp>
        <p:nvSpPr>
          <p:cNvPr id="17" name="Rectangle 16">
            <a:extLst>
              <a:ext uri="{FF2B5EF4-FFF2-40B4-BE49-F238E27FC236}">
                <a16:creationId xmlns:a16="http://schemas.microsoft.com/office/drawing/2014/main" id="{26C8DEF6-EC09-C84B-B38F-1D5C1DBEDD37}"/>
              </a:ext>
            </a:extLst>
          </p:cNvPr>
          <p:cNvSpPr/>
          <p:nvPr/>
        </p:nvSpPr>
        <p:spPr>
          <a:xfrm>
            <a:off x="9101413" y="1739366"/>
            <a:ext cx="562660" cy="56266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18" name="Rectangle 17">
            <a:extLst>
              <a:ext uri="{FF2B5EF4-FFF2-40B4-BE49-F238E27FC236}">
                <a16:creationId xmlns:a16="http://schemas.microsoft.com/office/drawing/2014/main" id="{A4D0BCEC-8145-304F-AEE5-2DE08C3834CD}"/>
              </a:ext>
            </a:extLst>
          </p:cNvPr>
          <p:cNvSpPr/>
          <p:nvPr/>
        </p:nvSpPr>
        <p:spPr>
          <a:xfrm>
            <a:off x="9130085" y="2689978"/>
            <a:ext cx="562660" cy="56266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cxnSp>
        <p:nvCxnSpPr>
          <p:cNvPr id="23" name="Straight Connector 22">
            <a:extLst>
              <a:ext uri="{FF2B5EF4-FFF2-40B4-BE49-F238E27FC236}">
                <a16:creationId xmlns:a16="http://schemas.microsoft.com/office/drawing/2014/main" id="{51690A8A-3EB5-184F-9EB8-4372C14F069B}"/>
              </a:ext>
            </a:extLst>
          </p:cNvPr>
          <p:cNvCxnSpPr>
            <a:cxnSpLocks/>
          </p:cNvCxnSpPr>
          <p:nvPr/>
        </p:nvCxnSpPr>
        <p:spPr>
          <a:xfrm flipV="1">
            <a:off x="3641395" y="2030156"/>
            <a:ext cx="0" cy="7011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117414BE-C871-4C47-84FE-86A0BD3D67A8}"/>
              </a:ext>
            </a:extLst>
          </p:cNvPr>
          <p:cNvSpPr/>
          <p:nvPr/>
        </p:nvSpPr>
        <p:spPr>
          <a:xfrm>
            <a:off x="3516507" y="1920144"/>
            <a:ext cx="225063" cy="22506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9" name="Rectangle 28">
            <a:extLst>
              <a:ext uri="{FF2B5EF4-FFF2-40B4-BE49-F238E27FC236}">
                <a16:creationId xmlns:a16="http://schemas.microsoft.com/office/drawing/2014/main" id="{620FAC06-6A85-CC45-AB81-583B26BF42FA}"/>
              </a:ext>
            </a:extLst>
          </p:cNvPr>
          <p:cNvSpPr/>
          <p:nvPr/>
        </p:nvSpPr>
        <p:spPr>
          <a:xfrm>
            <a:off x="1427935" y="1739366"/>
            <a:ext cx="562660" cy="56266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30" name="Rectangle 29">
            <a:extLst>
              <a:ext uri="{FF2B5EF4-FFF2-40B4-BE49-F238E27FC236}">
                <a16:creationId xmlns:a16="http://schemas.microsoft.com/office/drawing/2014/main" id="{53FD5B29-20D2-3646-81A8-4F8B7B456FBA}"/>
              </a:ext>
            </a:extLst>
          </p:cNvPr>
          <p:cNvSpPr/>
          <p:nvPr/>
        </p:nvSpPr>
        <p:spPr>
          <a:xfrm>
            <a:off x="1427935" y="2689978"/>
            <a:ext cx="562660" cy="56266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H</a:t>
            </a:r>
          </a:p>
        </p:txBody>
      </p:sp>
      <p:sp>
        <p:nvSpPr>
          <p:cNvPr id="31" name="Oval 30">
            <a:extLst>
              <a:ext uri="{FF2B5EF4-FFF2-40B4-BE49-F238E27FC236}">
                <a16:creationId xmlns:a16="http://schemas.microsoft.com/office/drawing/2014/main" id="{B8E1F2D4-E343-D44A-A2B8-C35F6E16F202}"/>
              </a:ext>
            </a:extLst>
          </p:cNvPr>
          <p:cNvSpPr>
            <a:spLocks noChangeAspect="1"/>
          </p:cNvSpPr>
          <p:nvPr/>
        </p:nvSpPr>
        <p:spPr>
          <a:xfrm>
            <a:off x="2421517" y="2689978"/>
            <a:ext cx="562660" cy="5626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a:t>
            </a:r>
          </a:p>
        </p:txBody>
      </p:sp>
      <p:sp>
        <p:nvSpPr>
          <p:cNvPr id="32" name="Oval 31">
            <a:extLst>
              <a:ext uri="{FF2B5EF4-FFF2-40B4-BE49-F238E27FC236}">
                <a16:creationId xmlns:a16="http://schemas.microsoft.com/office/drawing/2014/main" id="{17850AD7-BB00-974E-9F98-76E72A4F9230}"/>
              </a:ext>
            </a:extLst>
          </p:cNvPr>
          <p:cNvSpPr>
            <a:spLocks noChangeAspect="1"/>
          </p:cNvSpPr>
          <p:nvPr/>
        </p:nvSpPr>
        <p:spPr>
          <a:xfrm>
            <a:off x="4299655" y="2689978"/>
            <a:ext cx="562660" cy="5626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a:t>
            </a:r>
          </a:p>
        </p:txBody>
      </p:sp>
      <p:grpSp>
        <p:nvGrpSpPr>
          <p:cNvPr id="34" name="Group 33">
            <a:extLst>
              <a:ext uri="{FF2B5EF4-FFF2-40B4-BE49-F238E27FC236}">
                <a16:creationId xmlns:a16="http://schemas.microsoft.com/office/drawing/2014/main" id="{D3FB28F3-B93E-D843-93F8-697C519055E4}"/>
              </a:ext>
            </a:extLst>
          </p:cNvPr>
          <p:cNvGrpSpPr>
            <a:grpSpLocks noChangeAspect="1"/>
          </p:cNvGrpSpPr>
          <p:nvPr/>
        </p:nvGrpSpPr>
        <p:grpSpPr>
          <a:xfrm>
            <a:off x="10136920" y="1739366"/>
            <a:ext cx="568315" cy="628735"/>
            <a:chOff x="3031963" y="4808040"/>
            <a:chExt cx="720000" cy="796546"/>
          </a:xfrm>
        </p:grpSpPr>
        <p:sp>
          <p:nvSpPr>
            <p:cNvPr id="35" name="Rectangle 34">
              <a:extLst>
                <a:ext uri="{FF2B5EF4-FFF2-40B4-BE49-F238E27FC236}">
                  <a16:creationId xmlns:a16="http://schemas.microsoft.com/office/drawing/2014/main" id="{BC25C439-A63D-3F45-AE1D-CB69B7844EA3}"/>
                </a:ext>
              </a:extLst>
            </p:cNvPr>
            <p:cNvSpPr/>
            <p:nvPr/>
          </p:nvSpPr>
          <p:spPr>
            <a:xfrm>
              <a:off x="3031963" y="4808040"/>
              <a:ext cx="720000" cy="72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36" name="Arc 35">
              <a:extLst>
                <a:ext uri="{FF2B5EF4-FFF2-40B4-BE49-F238E27FC236}">
                  <a16:creationId xmlns:a16="http://schemas.microsoft.com/office/drawing/2014/main" id="{E6C95A07-8F84-0F43-9249-3348BCA46BCD}"/>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A0E24E84-656A-844D-8F27-57DAB80D2717}"/>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8945D459-68B6-A948-9EB9-8D24D4D49EA1}"/>
              </a:ext>
            </a:extLst>
          </p:cNvPr>
          <p:cNvGrpSpPr>
            <a:grpSpLocks noChangeAspect="1"/>
          </p:cNvGrpSpPr>
          <p:nvPr/>
        </p:nvGrpSpPr>
        <p:grpSpPr>
          <a:xfrm>
            <a:off x="10136920" y="2689978"/>
            <a:ext cx="568315" cy="628735"/>
            <a:chOff x="3031963" y="4808040"/>
            <a:chExt cx="720000" cy="796546"/>
          </a:xfrm>
        </p:grpSpPr>
        <p:sp>
          <p:nvSpPr>
            <p:cNvPr id="39" name="Rectangle 38">
              <a:extLst>
                <a:ext uri="{FF2B5EF4-FFF2-40B4-BE49-F238E27FC236}">
                  <a16:creationId xmlns:a16="http://schemas.microsoft.com/office/drawing/2014/main" id="{9D1C9CE6-257A-2C46-94B2-FCC162077D3B}"/>
                </a:ext>
              </a:extLst>
            </p:cNvPr>
            <p:cNvSpPr/>
            <p:nvPr/>
          </p:nvSpPr>
          <p:spPr>
            <a:xfrm>
              <a:off x="3031963" y="4808040"/>
              <a:ext cx="720000" cy="72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40" name="Arc 39">
              <a:extLst>
                <a:ext uri="{FF2B5EF4-FFF2-40B4-BE49-F238E27FC236}">
                  <a16:creationId xmlns:a16="http://schemas.microsoft.com/office/drawing/2014/main" id="{DAB3E9DC-C071-174F-91A8-8F8BC2433133}"/>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48B13AFD-6B40-9A44-A4CA-65A88F3805A5}"/>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7089538D-6CA3-4441-8BF3-EEF343F291C6}"/>
              </a:ext>
            </a:extLst>
          </p:cNvPr>
          <p:cNvSpPr txBox="1"/>
          <p:nvPr/>
        </p:nvSpPr>
        <p:spPr>
          <a:xfrm>
            <a:off x="3078019" y="1136077"/>
            <a:ext cx="991105" cy="461665"/>
          </a:xfrm>
          <a:prstGeom prst="rect">
            <a:avLst/>
          </a:prstGeom>
          <a:noFill/>
        </p:spPr>
        <p:txBody>
          <a:bodyPr wrap="none" rtlCol="0">
            <a:spAutoFit/>
          </a:bodyPr>
          <a:lstStyle/>
          <a:p>
            <a:r>
              <a:rPr lang="en-US" sz="2400" dirty="0"/>
              <a:t>Oracle</a:t>
            </a:r>
          </a:p>
        </p:txBody>
      </p:sp>
      <p:sp>
        <p:nvSpPr>
          <p:cNvPr id="62" name="TextBox 61">
            <a:extLst>
              <a:ext uri="{FF2B5EF4-FFF2-40B4-BE49-F238E27FC236}">
                <a16:creationId xmlns:a16="http://schemas.microsoft.com/office/drawing/2014/main" id="{D1BA4F0F-17FD-7B40-94C9-FBCD07E4A06D}"/>
              </a:ext>
            </a:extLst>
          </p:cNvPr>
          <p:cNvSpPr txBox="1"/>
          <p:nvPr/>
        </p:nvSpPr>
        <p:spPr>
          <a:xfrm>
            <a:off x="6952251" y="1135979"/>
            <a:ext cx="1173911" cy="461665"/>
          </a:xfrm>
          <a:prstGeom prst="rect">
            <a:avLst/>
          </a:prstGeom>
          <a:noFill/>
        </p:spPr>
        <p:txBody>
          <a:bodyPr wrap="none" rtlCol="0">
            <a:spAutoFit/>
          </a:bodyPr>
          <a:lstStyle/>
          <a:p>
            <a:r>
              <a:rPr lang="en-US" sz="2400" dirty="0"/>
              <a:t>Diffuser</a:t>
            </a:r>
          </a:p>
        </p:txBody>
      </p:sp>
      <p:sp>
        <p:nvSpPr>
          <p:cNvPr id="63" name="TextBox 62">
            <a:extLst>
              <a:ext uri="{FF2B5EF4-FFF2-40B4-BE49-F238E27FC236}">
                <a16:creationId xmlns:a16="http://schemas.microsoft.com/office/drawing/2014/main" id="{95355548-C6E0-8846-87EF-84AC7C0E1820}"/>
              </a:ext>
            </a:extLst>
          </p:cNvPr>
          <p:cNvSpPr txBox="1"/>
          <p:nvPr/>
        </p:nvSpPr>
        <p:spPr>
          <a:xfrm>
            <a:off x="564371" y="1136077"/>
            <a:ext cx="1922321" cy="461665"/>
          </a:xfrm>
          <a:prstGeom prst="rect">
            <a:avLst/>
          </a:prstGeom>
          <a:noFill/>
        </p:spPr>
        <p:txBody>
          <a:bodyPr wrap="none" rtlCol="0">
            <a:spAutoFit/>
          </a:bodyPr>
          <a:lstStyle/>
          <a:p>
            <a:r>
              <a:rPr lang="en-US" sz="2400" dirty="0"/>
              <a:t>Superposition</a:t>
            </a:r>
          </a:p>
        </p:txBody>
      </p:sp>
      <p:sp>
        <p:nvSpPr>
          <p:cNvPr id="64" name="TextBox 63">
            <a:extLst>
              <a:ext uri="{FF2B5EF4-FFF2-40B4-BE49-F238E27FC236}">
                <a16:creationId xmlns:a16="http://schemas.microsoft.com/office/drawing/2014/main" id="{1200120F-66DE-C242-9D96-0A6CC3A5106E}"/>
              </a:ext>
            </a:extLst>
          </p:cNvPr>
          <p:cNvSpPr txBox="1"/>
          <p:nvPr/>
        </p:nvSpPr>
        <p:spPr>
          <a:xfrm>
            <a:off x="9495596" y="1136077"/>
            <a:ext cx="1949060" cy="461665"/>
          </a:xfrm>
          <a:prstGeom prst="rect">
            <a:avLst/>
          </a:prstGeom>
          <a:noFill/>
        </p:spPr>
        <p:txBody>
          <a:bodyPr wrap="none" rtlCol="0">
            <a:spAutoFit/>
          </a:bodyPr>
          <a:lstStyle/>
          <a:p>
            <a:r>
              <a:rPr lang="en-US" sz="2400" dirty="0"/>
              <a:t>Measurement</a:t>
            </a:r>
          </a:p>
        </p:txBody>
      </p:sp>
      <p:sp>
        <p:nvSpPr>
          <p:cNvPr id="70" name="Rectangle 69">
            <a:extLst>
              <a:ext uri="{FF2B5EF4-FFF2-40B4-BE49-F238E27FC236}">
                <a16:creationId xmlns:a16="http://schemas.microsoft.com/office/drawing/2014/main" id="{50BD36F9-F91E-E545-8B16-0084BA60E617}"/>
              </a:ext>
            </a:extLst>
          </p:cNvPr>
          <p:cNvSpPr/>
          <p:nvPr/>
        </p:nvSpPr>
        <p:spPr>
          <a:xfrm>
            <a:off x="4269580" y="6178540"/>
            <a:ext cx="141849" cy="171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9E046949-5E49-984D-922E-501326F4FC3F}"/>
              </a:ext>
            </a:extLst>
          </p:cNvPr>
          <p:cNvSpPr/>
          <p:nvPr/>
        </p:nvSpPr>
        <p:spPr>
          <a:xfrm>
            <a:off x="5447505" y="4173235"/>
            <a:ext cx="141849" cy="217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3E97BD6B-A1DD-6A42-98A8-16B2F8081598}"/>
              </a:ext>
            </a:extLst>
          </p:cNvPr>
          <p:cNvSpPr/>
          <p:nvPr/>
        </p:nvSpPr>
        <p:spPr>
          <a:xfrm>
            <a:off x="6625430" y="6302364"/>
            <a:ext cx="141849" cy="47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4" name="Straight Connector 73">
            <a:extLst>
              <a:ext uri="{FF2B5EF4-FFF2-40B4-BE49-F238E27FC236}">
                <a16:creationId xmlns:a16="http://schemas.microsoft.com/office/drawing/2014/main" id="{2C442670-9C66-7B4F-8689-CBDDAC369DD2}"/>
              </a:ext>
            </a:extLst>
          </p:cNvPr>
          <p:cNvCxnSpPr>
            <a:cxnSpLocks/>
          </p:cNvCxnSpPr>
          <p:nvPr/>
        </p:nvCxnSpPr>
        <p:spPr>
          <a:xfrm>
            <a:off x="3171587" y="6349989"/>
            <a:ext cx="576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B032E0B-53B2-CA42-BE32-B5681EDA8E9D}"/>
              </a:ext>
            </a:extLst>
          </p:cNvPr>
          <p:cNvCxnSpPr>
            <a:cxnSpLocks/>
          </p:cNvCxnSpPr>
          <p:nvPr/>
        </p:nvCxnSpPr>
        <p:spPr>
          <a:xfrm>
            <a:off x="3229462" y="3983650"/>
            <a:ext cx="0" cy="25377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9BFB118E-D586-DE4A-B839-27EC8BEE70EA}"/>
              </a:ext>
            </a:extLst>
          </p:cNvPr>
          <p:cNvSpPr txBox="1"/>
          <p:nvPr/>
        </p:nvSpPr>
        <p:spPr>
          <a:xfrm>
            <a:off x="4170943" y="6322242"/>
            <a:ext cx="341760" cy="276999"/>
          </a:xfrm>
          <a:prstGeom prst="rect">
            <a:avLst/>
          </a:prstGeom>
          <a:noFill/>
        </p:spPr>
        <p:txBody>
          <a:bodyPr wrap="none" rtlCol="0">
            <a:spAutoFit/>
          </a:bodyPr>
          <a:lstStyle/>
          <a:p>
            <a:r>
              <a:rPr lang="en-US" sz="1200" dirty="0"/>
              <a:t>00</a:t>
            </a:r>
          </a:p>
        </p:txBody>
      </p:sp>
      <p:sp>
        <p:nvSpPr>
          <p:cNvPr id="80" name="TextBox 79">
            <a:extLst>
              <a:ext uri="{FF2B5EF4-FFF2-40B4-BE49-F238E27FC236}">
                <a16:creationId xmlns:a16="http://schemas.microsoft.com/office/drawing/2014/main" id="{9A49B1BD-E1BB-184E-B5C1-1FB0D24A0548}"/>
              </a:ext>
            </a:extLst>
          </p:cNvPr>
          <p:cNvSpPr txBox="1"/>
          <p:nvPr/>
        </p:nvSpPr>
        <p:spPr>
          <a:xfrm>
            <a:off x="5349573" y="6322242"/>
            <a:ext cx="341760" cy="276999"/>
          </a:xfrm>
          <a:prstGeom prst="rect">
            <a:avLst/>
          </a:prstGeom>
          <a:noFill/>
        </p:spPr>
        <p:txBody>
          <a:bodyPr wrap="none" rtlCol="0">
            <a:spAutoFit/>
          </a:bodyPr>
          <a:lstStyle/>
          <a:p>
            <a:r>
              <a:rPr lang="en-US" sz="1200" dirty="0"/>
              <a:t>01</a:t>
            </a:r>
          </a:p>
        </p:txBody>
      </p:sp>
      <p:sp>
        <p:nvSpPr>
          <p:cNvPr id="81" name="TextBox 80">
            <a:extLst>
              <a:ext uri="{FF2B5EF4-FFF2-40B4-BE49-F238E27FC236}">
                <a16:creationId xmlns:a16="http://schemas.microsoft.com/office/drawing/2014/main" id="{0449242E-E579-1344-8B75-109988350E5E}"/>
              </a:ext>
            </a:extLst>
          </p:cNvPr>
          <p:cNvSpPr txBox="1"/>
          <p:nvPr/>
        </p:nvSpPr>
        <p:spPr>
          <a:xfrm>
            <a:off x="6528203" y="6322242"/>
            <a:ext cx="341760" cy="276999"/>
          </a:xfrm>
          <a:prstGeom prst="rect">
            <a:avLst/>
          </a:prstGeom>
          <a:noFill/>
        </p:spPr>
        <p:txBody>
          <a:bodyPr wrap="none" rtlCol="0">
            <a:spAutoFit/>
          </a:bodyPr>
          <a:lstStyle/>
          <a:p>
            <a:r>
              <a:rPr lang="en-US" sz="1200" dirty="0"/>
              <a:t>10</a:t>
            </a:r>
          </a:p>
        </p:txBody>
      </p:sp>
      <p:sp>
        <p:nvSpPr>
          <p:cNvPr id="82" name="TextBox 81">
            <a:extLst>
              <a:ext uri="{FF2B5EF4-FFF2-40B4-BE49-F238E27FC236}">
                <a16:creationId xmlns:a16="http://schemas.microsoft.com/office/drawing/2014/main" id="{50C67396-E010-C240-98D2-6DDB086A3C86}"/>
              </a:ext>
            </a:extLst>
          </p:cNvPr>
          <p:cNvSpPr txBox="1"/>
          <p:nvPr/>
        </p:nvSpPr>
        <p:spPr>
          <a:xfrm>
            <a:off x="7703190" y="6322242"/>
            <a:ext cx="341760" cy="276999"/>
          </a:xfrm>
          <a:prstGeom prst="rect">
            <a:avLst/>
          </a:prstGeom>
          <a:noFill/>
        </p:spPr>
        <p:txBody>
          <a:bodyPr wrap="none" rtlCol="0">
            <a:spAutoFit/>
          </a:bodyPr>
          <a:lstStyle/>
          <a:p>
            <a:r>
              <a:rPr lang="en-US" sz="1200" dirty="0"/>
              <a:t>11</a:t>
            </a:r>
          </a:p>
        </p:txBody>
      </p:sp>
      <p:sp>
        <p:nvSpPr>
          <p:cNvPr id="83" name="Rectangle 82">
            <a:extLst>
              <a:ext uri="{FF2B5EF4-FFF2-40B4-BE49-F238E27FC236}">
                <a16:creationId xmlns:a16="http://schemas.microsoft.com/office/drawing/2014/main" id="{6EF44A00-8958-D043-941E-641A448913CA}"/>
              </a:ext>
            </a:extLst>
          </p:cNvPr>
          <p:cNvSpPr/>
          <p:nvPr/>
        </p:nvSpPr>
        <p:spPr>
          <a:xfrm>
            <a:off x="7795821" y="6042016"/>
            <a:ext cx="141849" cy="303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TextBox 83">
            <a:extLst>
              <a:ext uri="{FF2B5EF4-FFF2-40B4-BE49-F238E27FC236}">
                <a16:creationId xmlns:a16="http://schemas.microsoft.com/office/drawing/2014/main" id="{F29938F9-2234-FF48-A51D-1AFE5DFF55E8}"/>
              </a:ext>
            </a:extLst>
          </p:cNvPr>
          <p:cNvSpPr txBox="1"/>
          <p:nvPr/>
        </p:nvSpPr>
        <p:spPr>
          <a:xfrm>
            <a:off x="2905807" y="5675856"/>
            <a:ext cx="380232" cy="276999"/>
          </a:xfrm>
          <a:prstGeom prst="rect">
            <a:avLst/>
          </a:prstGeom>
          <a:noFill/>
        </p:spPr>
        <p:txBody>
          <a:bodyPr wrap="none" rtlCol="0">
            <a:spAutoFit/>
          </a:bodyPr>
          <a:lstStyle/>
          <a:p>
            <a:r>
              <a:rPr lang="en-US" sz="1200" dirty="0"/>
              <a:t>0.2</a:t>
            </a:r>
          </a:p>
        </p:txBody>
      </p:sp>
      <p:sp>
        <p:nvSpPr>
          <p:cNvPr id="85" name="TextBox 84">
            <a:extLst>
              <a:ext uri="{FF2B5EF4-FFF2-40B4-BE49-F238E27FC236}">
                <a16:creationId xmlns:a16="http://schemas.microsoft.com/office/drawing/2014/main" id="{D1330E98-304F-734C-BC3E-78BC1D0ADA0B}"/>
              </a:ext>
            </a:extLst>
          </p:cNvPr>
          <p:cNvSpPr txBox="1"/>
          <p:nvPr/>
        </p:nvSpPr>
        <p:spPr>
          <a:xfrm>
            <a:off x="2905807" y="5140222"/>
            <a:ext cx="380232" cy="276999"/>
          </a:xfrm>
          <a:prstGeom prst="rect">
            <a:avLst/>
          </a:prstGeom>
          <a:noFill/>
        </p:spPr>
        <p:txBody>
          <a:bodyPr wrap="none" rtlCol="0">
            <a:spAutoFit/>
          </a:bodyPr>
          <a:lstStyle/>
          <a:p>
            <a:r>
              <a:rPr lang="en-US" sz="1200" dirty="0"/>
              <a:t>0.4</a:t>
            </a:r>
          </a:p>
        </p:txBody>
      </p:sp>
      <p:sp>
        <p:nvSpPr>
          <p:cNvPr id="86" name="TextBox 85">
            <a:extLst>
              <a:ext uri="{FF2B5EF4-FFF2-40B4-BE49-F238E27FC236}">
                <a16:creationId xmlns:a16="http://schemas.microsoft.com/office/drawing/2014/main" id="{B24D5897-301A-BB44-B677-915E425A85AB}"/>
              </a:ext>
            </a:extLst>
          </p:cNvPr>
          <p:cNvSpPr txBox="1"/>
          <p:nvPr/>
        </p:nvSpPr>
        <p:spPr>
          <a:xfrm>
            <a:off x="2905807" y="4595406"/>
            <a:ext cx="380232" cy="276999"/>
          </a:xfrm>
          <a:prstGeom prst="rect">
            <a:avLst/>
          </a:prstGeom>
          <a:noFill/>
        </p:spPr>
        <p:txBody>
          <a:bodyPr wrap="none" rtlCol="0">
            <a:spAutoFit/>
          </a:bodyPr>
          <a:lstStyle/>
          <a:p>
            <a:r>
              <a:rPr lang="en-US" sz="1200" dirty="0"/>
              <a:t>0.6</a:t>
            </a:r>
          </a:p>
        </p:txBody>
      </p:sp>
      <p:sp>
        <p:nvSpPr>
          <p:cNvPr id="87" name="TextBox 86">
            <a:extLst>
              <a:ext uri="{FF2B5EF4-FFF2-40B4-BE49-F238E27FC236}">
                <a16:creationId xmlns:a16="http://schemas.microsoft.com/office/drawing/2014/main" id="{C53C5B3B-FB86-EA42-BF4C-CBF9BCA27BEE}"/>
              </a:ext>
            </a:extLst>
          </p:cNvPr>
          <p:cNvSpPr txBox="1"/>
          <p:nvPr/>
        </p:nvSpPr>
        <p:spPr>
          <a:xfrm>
            <a:off x="2905807" y="4085218"/>
            <a:ext cx="380232" cy="276999"/>
          </a:xfrm>
          <a:prstGeom prst="rect">
            <a:avLst/>
          </a:prstGeom>
          <a:noFill/>
        </p:spPr>
        <p:txBody>
          <a:bodyPr wrap="none" rtlCol="0">
            <a:spAutoFit/>
          </a:bodyPr>
          <a:lstStyle/>
          <a:p>
            <a:r>
              <a:rPr lang="en-US" sz="1200" dirty="0"/>
              <a:t>0.8</a:t>
            </a:r>
          </a:p>
        </p:txBody>
      </p:sp>
      <p:sp>
        <p:nvSpPr>
          <p:cNvPr id="92" name="TextBox 91">
            <a:extLst>
              <a:ext uri="{FF2B5EF4-FFF2-40B4-BE49-F238E27FC236}">
                <a16:creationId xmlns:a16="http://schemas.microsoft.com/office/drawing/2014/main" id="{FC020922-5EBA-0F40-8500-8000060AE12E}"/>
              </a:ext>
            </a:extLst>
          </p:cNvPr>
          <p:cNvSpPr txBox="1"/>
          <p:nvPr/>
        </p:nvSpPr>
        <p:spPr>
          <a:xfrm>
            <a:off x="5274357" y="6563245"/>
            <a:ext cx="1659237" cy="276999"/>
          </a:xfrm>
          <a:prstGeom prst="rect">
            <a:avLst/>
          </a:prstGeom>
          <a:noFill/>
        </p:spPr>
        <p:txBody>
          <a:bodyPr wrap="none" rtlCol="0">
            <a:spAutoFit/>
          </a:bodyPr>
          <a:lstStyle/>
          <a:p>
            <a:r>
              <a:rPr lang="en-US" sz="1200" dirty="0"/>
              <a:t>Measurement outcome</a:t>
            </a:r>
          </a:p>
        </p:txBody>
      </p:sp>
      <p:sp>
        <p:nvSpPr>
          <p:cNvPr id="93" name="TextBox 92">
            <a:extLst>
              <a:ext uri="{FF2B5EF4-FFF2-40B4-BE49-F238E27FC236}">
                <a16:creationId xmlns:a16="http://schemas.microsoft.com/office/drawing/2014/main" id="{C2403289-1CC6-D945-9FAE-710690C3D1AA}"/>
              </a:ext>
            </a:extLst>
          </p:cNvPr>
          <p:cNvSpPr txBox="1"/>
          <p:nvPr/>
        </p:nvSpPr>
        <p:spPr>
          <a:xfrm rot="16200000">
            <a:off x="2235441" y="5017437"/>
            <a:ext cx="857029" cy="276999"/>
          </a:xfrm>
          <a:prstGeom prst="rect">
            <a:avLst/>
          </a:prstGeom>
          <a:noFill/>
        </p:spPr>
        <p:txBody>
          <a:bodyPr wrap="none" rtlCol="0">
            <a:spAutoFit/>
          </a:bodyPr>
          <a:lstStyle/>
          <a:p>
            <a:r>
              <a:rPr lang="en-US" sz="1200" dirty="0"/>
              <a:t>Probability</a:t>
            </a:r>
          </a:p>
        </p:txBody>
      </p:sp>
      <p:sp>
        <p:nvSpPr>
          <p:cNvPr id="95" name="Rectangle 94">
            <a:extLst>
              <a:ext uri="{FF2B5EF4-FFF2-40B4-BE49-F238E27FC236}">
                <a16:creationId xmlns:a16="http://schemas.microsoft.com/office/drawing/2014/main" id="{378E54DA-4A34-3A44-9A3F-552722B6F54A}"/>
              </a:ext>
            </a:extLst>
          </p:cNvPr>
          <p:cNvSpPr>
            <a:spLocks noChangeAspect="1"/>
          </p:cNvSpPr>
          <p:nvPr/>
        </p:nvSpPr>
        <p:spPr>
          <a:xfrm>
            <a:off x="3361116" y="2689978"/>
            <a:ext cx="561600" cy="561600"/>
          </a:xfrm>
          <a:prstGeom prst="rect">
            <a:avLst/>
          </a:prstGeom>
          <a:solidFill>
            <a:srgbClr val="33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Z</a:t>
            </a:r>
          </a:p>
        </p:txBody>
      </p:sp>
      <p:sp>
        <p:nvSpPr>
          <p:cNvPr id="96" name="Rectangle 95">
            <a:extLst>
              <a:ext uri="{FF2B5EF4-FFF2-40B4-BE49-F238E27FC236}">
                <a16:creationId xmlns:a16="http://schemas.microsoft.com/office/drawing/2014/main" id="{A3B2CCAA-B083-384C-B642-AC7AD9112CF5}"/>
              </a:ext>
            </a:extLst>
          </p:cNvPr>
          <p:cNvSpPr>
            <a:spLocks noChangeAspect="1"/>
          </p:cNvSpPr>
          <p:nvPr/>
        </p:nvSpPr>
        <p:spPr>
          <a:xfrm>
            <a:off x="7251947" y="2689978"/>
            <a:ext cx="561600" cy="561600"/>
          </a:xfrm>
          <a:prstGeom prst="rect">
            <a:avLst/>
          </a:prstGeom>
          <a:solidFill>
            <a:srgbClr val="33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Z</a:t>
            </a:r>
          </a:p>
        </p:txBody>
      </p:sp>
      <mc:AlternateContent xmlns:mc="http://schemas.openxmlformats.org/markup-compatibility/2006" xmlns:a14="http://schemas.microsoft.com/office/drawing/2010/main">
        <mc:Choice Requires="a14">
          <p:sp>
            <p:nvSpPr>
              <p:cNvPr id="99" name="Rectangle 98">
                <a:extLst>
                  <a:ext uri="{FF2B5EF4-FFF2-40B4-BE49-F238E27FC236}">
                    <a16:creationId xmlns:a16="http://schemas.microsoft.com/office/drawing/2014/main" id="{B4FDE359-85B1-6D49-AB96-07D0F74FA85A}"/>
                  </a:ext>
                </a:extLst>
              </p:cNvPr>
              <p:cNvSpPr/>
              <p:nvPr/>
            </p:nvSpPr>
            <p:spPr>
              <a:xfrm>
                <a:off x="675730" y="1836030"/>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0</m:t>
                          </m:r>
                        </m:e>
                      </m:d>
                    </m:oMath>
                  </m:oMathPara>
                </a14:m>
                <a:endParaRPr lang="en-US" dirty="0"/>
              </a:p>
            </p:txBody>
          </p:sp>
        </mc:Choice>
        <mc:Fallback xmlns="">
          <p:sp>
            <p:nvSpPr>
              <p:cNvPr id="99" name="Rectangle 98">
                <a:extLst>
                  <a:ext uri="{FF2B5EF4-FFF2-40B4-BE49-F238E27FC236}">
                    <a16:creationId xmlns:a16="http://schemas.microsoft.com/office/drawing/2014/main" id="{B4FDE359-85B1-6D49-AB96-07D0F74FA85A}"/>
                  </a:ext>
                </a:extLst>
              </p:cNvPr>
              <p:cNvSpPr>
                <a:spLocks noRot="1" noChangeAspect="1" noMove="1" noResize="1" noEditPoints="1" noAdjustHandles="1" noChangeArrowheads="1" noChangeShapeType="1" noTextEdit="1"/>
              </p:cNvSpPr>
              <p:nvPr/>
            </p:nvSpPr>
            <p:spPr>
              <a:xfrm>
                <a:off x="675730" y="1836030"/>
                <a:ext cx="52181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A50FD378-3B70-0949-90AE-F57F2C5EA72B}"/>
                  </a:ext>
                </a:extLst>
              </p:cNvPr>
              <p:cNvSpPr/>
              <p:nvPr/>
            </p:nvSpPr>
            <p:spPr>
              <a:xfrm>
                <a:off x="670387" y="279414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0</m:t>
                          </m:r>
                        </m:e>
                      </m:d>
                    </m:oMath>
                  </m:oMathPara>
                </a14:m>
                <a:endParaRPr lang="en-US" dirty="0"/>
              </a:p>
            </p:txBody>
          </p:sp>
        </mc:Choice>
        <mc:Fallback xmlns="">
          <p:sp>
            <p:nvSpPr>
              <p:cNvPr id="100" name="Rectangle 99">
                <a:extLst>
                  <a:ext uri="{FF2B5EF4-FFF2-40B4-BE49-F238E27FC236}">
                    <a16:creationId xmlns:a16="http://schemas.microsoft.com/office/drawing/2014/main" id="{A50FD378-3B70-0949-90AE-F57F2C5EA72B}"/>
                  </a:ext>
                </a:extLst>
              </p:cNvPr>
              <p:cNvSpPr>
                <a:spLocks noRot="1" noChangeAspect="1" noMove="1" noResize="1" noEditPoints="1" noAdjustHandles="1" noChangeArrowheads="1" noChangeShapeType="1" noTextEdit="1"/>
              </p:cNvSpPr>
              <p:nvPr/>
            </p:nvSpPr>
            <p:spPr>
              <a:xfrm>
                <a:off x="670387" y="2794141"/>
                <a:ext cx="521810" cy="36933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02820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2AA2-FEC4-AA4E-B087-1CB3620224AF}"/>
              </a:ext>
            </a:extLst>
          </p:cNvPr>
          <p:cNvSpPr>
            <a:spLocks noGrp="1"/>
          </p:cNvSpPr>
          <p:nvPr>
            <p:ph type="title"/>
          </p:nvPr>
        </p:nvSpPr>
        <p:spPr/>
        <p:txBody>
          <a:bodyPr/>
          <a:lstStyle/>
          <a:p>
            <a:r>
              <a:rPr lang="en-ZA" dirty="0"/>
              <a:t>Constructing Controlled-Z Gates</a:t>
            </a:r>
            <a:endParaRPr lang="en-US" dirty="0"/>
          </a:p>
        </p:txBody>
      </p:sp>
      <p:sp>
        <p:nvSpPr>
          <p:cNvPr id="3" name="Slide Number Placeholder 2">
            <a:extLst>
              <a:ext uri="{FF2B5EF4-FFF2-40B4-BE49-F238E27FC236}">
                <a16:creationId xmlns:a16="http://schemas.microsoft.com/office/drawing/2014/main" id="{CFBD6788-0F16-194F-AF3C-F494D85B947F}"/>
              </a:ext>
            </a:extLst>
          </p:cNvPr>
          <p:cNvSpPr>
            <a:spLocks noGrp="1"/>
          </p:cNvSpPr>
          <p:nvPr>
            <p:ph type="sldNum" sz="quarter" idx="12"/>
          </p:nvPr>
        </p:nvSpPr>
        <p:spPr/>
        <p:txBody>
          <a:bodyPr/>
          <a:lstStyle/>
          <a:p>
            <a:fld id="{591A223C-FA10-BC46-A853-03BA373D023C}" type="slidenum">
              <a:rPr lang="en-US" smtClean="0"/>
              <a:t>20</a:t>
            </a:fld>
            <a:endParaRPr lang="en-US"/>
          </a:p>
        </p:txBody>
      </p:sp>
      <p:cxnSp>
        <p:nvCxnSpPr>
          <p:cNvPr id="20" name="Straight Connector 19">
            <a:extLst>
              <a:ext uri="{FF2B5EF4-FFF2-40B4-BE49-F238E27FC236}">
                <a16:creationId xmlns:a16="http://schemas.microsoft.com/office/drawing/2014/main" id="{543CD4B1-7B62-6D49-8797-7B55E0F27D46}"/>
              </a:ext>
            </a:extLst>
          </p:cNvPr>
          <p:cNvCxnSpPr>
            <a:cxnSpLocks/>
          </p:cNvCxnSpPr>
          <p:nvPr/>
        </p:nvCxnSpPr>
        <p:spPr>
          <a:xfrm>
            <a:off x="241537" y="1784504"/>
            <a:ext cx="33834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EACD955-D1B4-6449-B7FA-C11E43915B98}"/>
              </a:ext>
            </a:extLst>
          </p:cNvPr>
          <p:cNvSpPr/>
          <p:nvPr/>
        </p:nvSpPr>
        <p:spPr>
          <a:xfrm>
            <a:off x="4667589" y="1406138"/>
            <a:ext cx="720000" cy="720000"/>
          </a:xfrm>
          <a:prstGeom prst="rect">
            <a:avLst/>
          </a:prstGeom>
          <a:solidFill>
            <a:srgbClr val="33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22" name="Rectangle 21">
            <a:extLst>
              <a:ext uri="{FF2B5EF4-FFF2-40B4-BE49-F238E27FC236}">
                <a16:creationId xmlns:a16="http://schemas.microsoft.com/office/drawing/2014/main" id="{A206E4D1-D8E7-2B48-B9FE-8FAEF7B4028D}"/>
              </a:ext>
            </a:extLst>
          </p:cNvPr>
          <p:cNvSpPr>
            <a:spLocks noChangeAspect="1"/>
          </p:cNvSpPr>
          <p:nvPr/>
        </p:nvSpPr>
        <p:spPr>
          <a:xfrm>
            <a:off x="625833" y="1423047"/>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23" name="Oval 22">
            <a:extLst>
              <a:ext uri="{FF2B5EF4-FFF2-40B4-BE49-F238E27FC236}">
                <a16:creationId xmlns:a16="http://schemas.microsoft.com/office/drawing/2014/main" id="{67585EAB-86C4-DC46-9F71-56AFB7ACEAAD}"/>
              </a:ext>
            </a:extLst>
          </p:cNvPr>
          <p:cNvSpPr/>
          <p:nvPr/>
        </p:nvSpPr>
        <p:spPr>
          <a:xfrm>
            <a:off x="1573240" y="1423047"/>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4" name="Rectangle 23">
            <a:extLst>
              <a:ext uri="{FF2B5EF4-FFF2-40B4-BE49-F238E27FC236}">
                <a16:creationId xmlns:a16="http://schemas.microsoft.com/office/drawing/2014/main" id="{AE751434-E666-A14F-BCFE-878A4A4B7E08}"/>
              </a:ext>
            </a:extLst>
          </p:cNvPr>
          <p:cNvSpPr>
            <a:spLocks noChangeAspect="1"/>
          </p:cNvSpPr>
          <p:nvPr/>
        </p:nvSpPr>
        <p:spPr>
          <a:xfrm>
            <a:off x="2543278" y="1423047"/>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C74324A7-8603-9344-8BCB-8648B4BD2364}"/>
                  </a:ext>
                </a:extLst>
              </p:cNvPr>
              <p:cNvSpPr/>
              <p:nvPr/>
            </p:nvSpPr>
            <p:spPr>
              <a:xfrm>
                <a:off x="5572499" y="1337810"/>
                <a:ext cx="6491457" cy="12246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d>
                        <m:dPr>
                          <m:ctrlPr>
                            <a:rPr lang="en-US" sz="2400" i="1" smtClean="0">
                              <a:solidFill>
                                <a:srgbClr val="0000FF"/>
                              </a:solidFill>
                              <a:latin typeface="Cambria Math" panose="02040503050406030204" pitchFamily="18" charset="0"/>
                            </a:rPr>
                          </m:ctrlPr>
                        </m:dPr>
                        <m:e>
                          <m:m>
                            <m:mPr>
                              <m:plcHide m:val="on"/>
                              <m:mcs>
                                <m:mc>
                                  <m:mcPr>
                                    <m:count m:val="2"/>
                                    <m:mcJc m:val="center"/>
                                  </m:mcPr>
                                </m:mc>
                              </m:mcs>
                              <m:ctrlPr>
                                <a:rPr lang="en-US" sz="2400" i="1">
                                  <a:solidFill>
                                    <a:srgbClr val="0000FF"/>
                                  </a:solidFill>
                                  <a:latin typeface="Cambria Math" panose="02040503050406030204" pitchFamily="18" charset="0"/>
                                </a:rPr>
                              </m:ctrlPr>
                            </m:mPr>
                            <m:mr>
                              <m:e>
                                <m:r>
                                  <m:rPr>
                                    <m:nor/>
                                  </m:rPr>
                                  <a:rPr lang="en-US" sz="2400" b="0" i="0" smtClean="0">
                                    <a:solidFill>
                                      <a:srgbClr val="0000FF"/>
                                    </a:solidFill>
                                    <a:latin typeface="Cambria Math" panose="02040503050406030204" pitchFamily="18" charset="0"/>
                                  </a:rPr>
                                  <m:t>0</m:t>
                                </m:r>
                              </m:e>
                              <m:e>
                                <m:r>
                                  <m:rPr>
                                    <m:nor/>
                                  </m:rPr>
                                  <a:rPr lang="en-US" sz="2400">
                                    <a:solidFill>
                                      <a:srgbClr val="0000FF"/>
                                    </a:solidFill>
                                    <a:latin typeface="Cambria Math" panose="02040503050406030204" pitchFamily="18" charset="0"/>
                                  </a:rPr>
                                  <m:t>1</m:t>
                                </m:r>
                              </m:e>
                            </m:mr>
                            <m:mr>
                              <m:e>
                                <m:r>
                                  <m:rPr>
                                    <m:nor/>
                                  </m:rPr>
                                  <a:rPr lang="en-US" sz="2400">
                                    <a:solidFill>
                                      <a:srgbClr val="0000FF"/>
                                    </a:solidFill>
                                    <a:latin typeface="Cambria Math" panose="02040503050406030204" pitchFamily="18" charset="0"/>
                                  </a:rPr>
                                  <m:t>1</m:t>
                                </m:r>
                              </m:e>
                              <m:e>
                                <m:r>
                                  <m:rPr>
                                    <m:nor/>
                                  </m:rPr>
                                  <a:rPr lang="en-US" sz="2400" b="0" i="0" smtClean="0">
                                    <a:solidFill>
                                      <a:srgbClr val="0000FF"/>
                                    </a:solidFill>
                                    <a:latin typeface="Cambria Math" panose="02040503050406030204" pitchFamily="18" charset="0"/>
                                  </a:rPr>
                                  <m:t>0</m:t>
                                </m:r>
                              </m:e>
                            </m:mr>
                          </m:m>
                        </m:e>
                      </m:d>
                      <m:f>
                        <m:fPr>
                          <m:ctrlPr>
                            <a:rPr lang="en-US" sz="2400" i="1">
                              <a:latin typeface="Cambria Math" panose="02040503050406030204" pitchFamily="18" charset="0"/>
                            </a:rPr>
                          </m:ctrlPr>
                        </m:fPr>
                        <m:num>
                          <m:r>
                            <m:rPr>
                              <m:nor/>
                            </m:rP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m:rPr>
                                  <m:nor/>
                                </m:rP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r>
                              <m:e>
                                <m:r>
                                  <m:rPr>
                                    <m:nor/>
                                  </m:rPr>
                                  <a:rPr lang="en-US" sz="2400">
                                    <a:latin typeface="Cambria Math" panose="02040503050406030204" pitchFamily="18" charset="0"/>
                                  </a:rPr>
                                  <m:t>1</m:t>
                                </m:r>
                              </m:e>
                              <m:e>
                                <m:r>
                                  <m:rPr>
                                    <m:nor/>
                                  </m:rPr>
                                  <a:rPr lang="en-US" sz="2400">
                                    <a:latin typeface="Cambria Math" panose="02040503050406030204" pitchFamily="18" charset="0"/>
                                  </a:rPr>
                                  <m:t>−1</m:t>
                                </m:r>
                              </m:e>
                            </m:mr>
                          </m:m>
                        </m:e>
                      </m:d>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b="0" i="0" smtClean="0">
                                    <a:latin typeface="Cambria Math" panose="02040503050406030204" pitchFamily="18" charset="0"/>
                                  </a:rPr>
                                  <m:t>1</m:t>
                                </m:r>
                              </m:e>
                              <m:e>
                                <m:r>
                                  <m:rPr>
                                    <m:nor/>
                                  </m:rPr>
                                  <a:rPr lang="en-US" sz="2400" b="0" i="0" smtClean="0">
                                    <a:latin typeface="Cambria Math" panose="02040503050406030204" pitchFamily="18" charset="0"/>
                                  </a:rPr>
                                  <m:t>0</m:t>
                                </m:r>
                              </m:e>
                            </m:mr>
                            <m:mr>
                              <m:e>
                                <m:r>
                                  <m:rPr>
                                    <m:nor/>
                                  </m:rPr>
                                  <a:rPr lang="en-US" sz="2400" b="0" i="0" smtClean="0">
                                    <a:latin typeface="Cambria Math" panose="02040503050406030204" pitchFamily="18" charset="0"/>
                                  </a:rPr>
                                  <m:t>0</m:t>
                                </m:r>
                              </m:e>
                              <m:e>
                                <m:r>
                                  <m:rPr>
                                    <m:nor/>
                                  </m:rPr>
                                  <a:rPr lang="en-US" sz="2400">
                                    <a:latin typeface="Cambria Math" panose="02040503050406030204" pitchFamily="18" charset="0"/>
                                  </a:rPr>
                                  <m:t>−1</m:t>
                                </m:r>
                              </m:e>
                            </m:mr>
                          </m:m>
                        </m:e>
                      </m:d>
                    </m:oMath>
                  </m:oMathPara>
                </a14:m>
                <a:endParaRPr lang="en-US" sz="2400" dirty="0"/>
              </a:p>
              <a:p>
                <a:endParaRPr lang="en-US" sz="2400" dirty="0"/>
              </a:p>
            </p:txBody>
          </p:sp>
        </mc:Choice>
        <mc:Fallback xmlns="">
          <p:sp>
            <p:nvSpPr>
              <p:cNvPr id="25" name="Rectangle 24">
                <a:extLst>
                  <a:ext uri="{FF2B5EF4-FFF2-40B4-BE49-F238E27FC236}">
                    <a16:creationId xmlns:a16="http://schemas.microsoft.com/office/drawing/2014/main" id="{C74324A7-8603-9344-8BCB-8648B4BD2364}"/>
                  </a:ext>
                </a:extLst>
              </p:cNvPr>
              <p:cNvSpPr>
                <a:spLocks noRot="1" noChangeAspect="1" noMove="1" noResize="1" noEditPoints="1" noAdjustHandles="1" noChangeArrowheads="1" noChangeShapeType="1" noTextEdit="1"/>
              </p:cNvSpPr>
              <p:nvPr/>
            </p:nvSpPr>
            <p:spPr>
              <a:xfrm>
                <a:off x="5572499" y="1337810"/>
                <a:ext cx="6491457" cy="12246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2CFD82DA-6D1C-E846-BA5D-DD77633BC9AC}"/>
                  </a:ext>
                </a:extLst>
              </p:cNvPr>
              <p:cNvSpPr/>
              <p:nvPr/>
            </p:nvSpPr>
            <p:spPr>
              <a:xfrm>
                <a:off x="3765461" y="1459881"/>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26" name="Rectangle 25">
                <a:extLst>
                  <a:ext uri="{FF2B5EF4-FFF2-40B4-BE49-F238E27FC236}">
                    <a16:creationId xmlns:a16="http://schemas.microsoft.com/office/drawing/2014/main" id="{2CFD82DA-6D1C-E846-BA5D-DD77633BC9AC}"/>
                  </a:ext>
                </a:extLst>
              </p:cNvPr>
              <p:cNvSpPr>
                <a:spLocks noRot="1" noChangeAspect="1" noMove="1" noResize="1" noEditPoints="1" noAdjustHandles="1" noChangeArrowheads="1" noChangeShapeType="1" noTextEdit="1"/>
              </p:cNvSpPr>
              <p:nvPr/>
            </p:nvSpPr>
            <p:spPr>
              <a:xfrm>
                <a:off x="3765461" y="1459881"/>
                <a:ext cx="633507" cy="646331"/>
              </a:xfrm>
              <a:prstGeom prst="rect">
                <a:avLst/>
              </a:prstGeom>
              <a:blipFill>
                <a:blip r:embed="rId4"/>
                <a:stretch>
                  <a:fillRect/>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2C41FF6B-A1E8-4241-BF7E-9EB83D626939}"/>
              </a:ext>
            </a:extLst>
          </p:cNvPr>
          <p:cNvSpPr txBox="1"/>
          <p:nvPr/>
        </p:nvSpPr>
        <p:spPr>
          <a:xfrm>
            <a:off x="6609243" y="899827"/>
            <a:ext cx="407484" cy="523220"/>
          </a:xfrm>
          <a:prstGeom prst="rect">
            <a:avLst/>
          </a:prstGeom>
          <a:noFill/>
        </p:spPr>
        <p:txBody>
          <a:bodyPr wrap="none" rtlCol="0">
            <a:spAutoFit/>
          </a:bodyPr>
          <a:lstStyle/>
          <a:p>
            <a:r>
              <a:rPr lang="en-US" sz="2800" dirty="0">
                <a:latin typeface="+mj-lt"/>
              </a:rPr>
              <a:t>H</a:t>
            </a:r>
          </a:p>
        </p:txBody>
      </p:sp>
      <p:sp>
        <p:nvSpPr>
          <p:cNvPr id="28" name="TextBox 27">
            <a:extLst>
              <a:ext uri="{FF2B5EF4-FFF2-40B4-BE49-F238E27FC236}">
                <a16:creationId xmlns:a16="http://schemas.microsoft.com/office/drawing/2014/main" id="{05A55AB2-C5F8-6A4E-B9B6-F019B250312C}"/>
              </a:ext>
            </a:extLst>
          </p:cNvPr>
          <p:cNvSpPr txBox="1"/>
          <p:nvPr/>
        </p:nvSpPr>
        <p:spPr>
          <a:xfrm>
            <a:off x="7829811" y="920465"/>
            <a:ext cx="364202" cy="523220"/>
          </a:xfrm>
          <a:prstGeom prst="rect">
            <a:avLst/>
          </a:prstGeom>
          <a:noFill/>
        </p:spPr>
        <p:txBody>
          <a:bodyPr wrap="none" rtlCol="0">
            <a:spAutoFit/>
          </a:bodyPr>
          <a:lstStyle/>
          <a:p>
            <a:r>
              <a:rPr lang="en-US" sz="2800" dirty="0">
                <a:latin typeface="+mj-lt"/>
              </a:rPr>
              <a:t>X</a:t>
            </a:r>
          </a:p>
        </p:txBody>
      </p:sp>
      <p:sp>
        <p:nvSpPr>
          <p:cNvPr id="29" name="TextBox 28">
            <a:extLst>
              <a:ext uri="{FF2B5EF4-FFF2-40B4-BE49-F238E27FC236}">
                <a16:creationId xmlns:a16="http://schemas.microsoft.com/office/drawing/2014/main" id="{601A13D3-5421-4B45-B2B6-DD79E86F0B9D}"/>
              </a:ext>
            </a:extLst>
          </p:cNvPr>
          <p:cNvSpPr txBox="1"/>
          <p:nvPr/>
        </p:nvSpPr>
        <p:spPr>
          <a:xfrm>
            <a:off x="9263629" y="899827"/>
            <a:ext cx="407484" cy="523220"/>
          </a:xfrm>
          <a:prstGeom prst="rect">
            <a:avLst/>
          </a:prstGeom>
          <a:noFill/>
        </p:spPr>
        <p:txBody>
          <a:bodyPr wrap="none" rtlCol="0">
            <a:spAutoFit/>
          </a:bodyPr>
          <a:lstStyle/>
          <a:p>
            <a:r>
              <a:rPr lang="en-US" sz="2800" dirty="0">
                <a:latin typeface="+mj-lt"/>
              </a:rPr>
              <a:t>H</a:t>
            </a:r>
          </a:p>
        </p:txBody>
      </p:sp>
      <p:sp>
        <p:nvSpPr>
          <p:cNvPr id="30" name="TextBox 29">
            <a:extLst>
              <a:ext uri="{FF2B5EF4-FFF2-40B4-BE49-F238E27FC236}">
                <a16:creationId xmlns:a16="http://schemas.microsoft.com/office/drawing/2014/main" id="{0DD4E115-CAED-2644-AFDD-D22C4C8F1409}"/>
              </a:ext>
            </a:extLst>
          </p:cNvPr>
          <p:cNvSpPr txBox="1"/>
          <p:nvPr/>
        </p:nvSpPr>
        <p:spPr>
          <a:xfrm>
            <a:off x="10838971" y="882918"/>
            <a:ext cx="351378" cy="523220"/>
          </a:xfrm>
          <a:prstGeom prst="rect">
            <a:avLst/>
          </a:prstGeom>
          <a:noFill/>
        </p:spPr>
        <p:txBody>
          <a:bodyPr wrap="none" rtlCol="0">
            <a:spAutoFit/>
          </a:bodyPr>
          <a:lstStyle/>
          <a:p>
            <a:r>
              <a:rPr lang="en-US" sz="2800" dirty="0">
                <a:latin typeface="+mj-lt"/>
              </a:rPr>
              <a:t>Z</a:t>
            </a:r>
          </a:p>
        </p:txBody>
      </p:sp>
      <p:cxnSp>
        <p:nvCxnSpPr>
          <p:cNvPr id="50" name="Straight Connector 49">
            <a:extLst>
              <a:ext uri="{FF2B5EF4-FFF2-40B4-BE49-F238E27FC236}">
                <a16:creationId xmlns:a16="http://schemas.microsoft.com/office/drawing/2014/main" id="{3B6E7372-FE16-C144-845C-FF552BD88A76}"/>
              </a:ext>
            </a:extLst>
          </p:cNvPr>
          <p:cNvCxnSpPr>
            <a:cxnSpLocks/>
          </p:cNvCxnSpPr>
          <p:nvPr/>
        </p:nvCxnSpPr>
        <p:spPr>
          <a:xfrm>
            <a:off x="7016727" y="6270636"/>
            <a:ext cx="33834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82AE99F3-3164-4E44-A8C8-800CF611BEAD}"/>
              </a:ext>
            </a:extLst>
          </p:cNvPr>
          <p:cNvSpPr>
            <a:spLocks noChangeAspect="1"/>
          </p:cNvSpPr>
          <p:nvPr/>
        </p:nvSpPr>
        <p:spPr>
          <a:xfrm>
            <a:off x="7401023" y="59091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53" name="Oval 52">
            <a:extLst>
              <a:ext uri="{FF2B5EF4-FFF2-40B4-BE49-F238E27FC236}">
                <a16:creationId xmlns:a16="http://schemas.microsoft.com/office/drawing/2014/main" id="{626C1F00-7CE1-8945-A384-AE9004016FE4}"/>
              </a:ext>
            </a:extLst>
          </p:cNvPr>
          <p:cNvSpPr/>
          <p:nvPr/>
        </p:nvSpPr>
        <p:spPr>
          <a:xfrm>
            <a:off x="8348430" y="590917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54" name="Rectangle 53">
            <a:extLst>
              <a:ext uri="{FF2B5EF4-FFF2-40B4-BE49-F238E27FC236}">
                <a16:creationId xmlns:a16="http://schemas.microsoft.com/office/drawing/2014/main" id="{DAF51B81-D11D-0749-84ED-9BDE74833DB9}"/>
              </a:ext>
            </a:extLst>
          </p:cNvPr>
          <p:cNvSpPr>
            <a:spLocks noChangeAspect="1"/>
          </p:cNvSpPr>
          <p:nvPr/>
        </p:nvSpPr>
        <p:spPr>
          <a:xfrm>
            <a:off x="9318468" y="59091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116DEE68-0C78-2F49-B571-2699A7516890}"/>
                  </a:ext>
                </a:extLst>
              </p:cNvPr>
              <p:cNvSpPr/>
              <p:nvPr/>
            </p:nvSpPr>
            <p:spPr>
              <a:xfrm>
                <a:off x="5358164" y="4627349"/>
                <a:ext cx="63350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55" name="Rectangle 54">
                <a:extLst>
                  <a:ext uri="{FF2B5EF4-FFF2-40B4-BE49-F238E27FC236}">
                    <a16:creationId xmlns:a16="http://schemas.microsoft.com/office/drawing/2014/main" id="{116DEE68-0C78-2F49-B571-2699A7516890}"/>
                  </a:ext>
                </a:extLst>
              </p:cNvPr>
              <p:cNvSpPr>
                <a:spLocks noRot="1" noChangeAspect="1" noMove="1" noResize="1" noEditPoints="1" noAdjustHandles="1" noChangeArrowheads="1" noChangeShapeType="1" noTextEdit="1"/>
              </p:cNvSpPr>
              <p:nvPr/>
            </p:nvSpPr>
            <p:spPr>
              <a:xfrm>
                <a:off x="5358164" y="4627349"/>
                <a:ext cx="633507" cy="646331"/>
              </a:xfrm>
              <a:prstGeom prst="rect">
                <a:avLst/>
              </a:prstGeom>
              <a:blipFill>
                <a:blip r:embed="rId5"/>
                <a:stretch>
                  <a:fillRect/>
                </a:stretch>
              </a:blipFill>
            </p:spPr>
            <p:txBody>
              <a:bodyPr/>
              <a:lstStyle/>
              <a:p>
                <a:r>
                  <a:rPr lang="en-US">
                    <a:noFill/>
                  </a:rPr>
                  <a:t> </a:t>
                </a:r>
              </a:p>
            </p:txBody>
          </p:sp>
        </mc:Fallback>
      </mc:AlternateContent>
      <p:cxnSp>
        <p:nvCxnSpPr>
          <p:cNvPr id="56" name="Straight Connector 55">
            <a:extLst>
              <a:ext uri="{FF2B5EF4-FFF2-40B4-BE49-F238E27FC236}">
                <a16:creationId xmlns:a16="http://schemas.microsoft.com/office/drawing/2014/main" id="{5482613C-1333-DA43-9922-17F17236E866}"/>
              </a:ext>
            </a:extLst>
          </p:cNvPr>
          <p:cNvCxnSpPr>
            <a:cxnSpLocks/>
          </p:cNvCxnSpPr>
          <p:nvPr/>
        </p:nvCxnSpPr>
        <p:spPr>
          <a:xfrm>
            <a:off x="7016727" y="5506309"/>
            <a:ext cx="33834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F176029-8F1D-4B47-B813-035114AE600B}"/>
              </a:ext>
            </a:extLst>
          </p:cNvPr>
          <p:cNvCxnSpPr>
            <a:cxnSpLocks/>
          </p:cNvCxnSpPr>
          <p:nvPr/>
        </p:nvCxnSpPr>
        <p:spPr>
          <a:xfrm>
            <a:off x="7016727" y="4741982"/>
            <a:ext cx="33834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874D6A2-2360-D244-B491-B4C36551B8CB}"/>
              </a:ext>
            </a:extLst>
          </p:cNvPr>
          <p:cNvCxnSpPr>
            <a:cxnSpLocks/>
          </p:cNvCxnSpPr>
          <p:nvPr/>
        </p:nvCxnSpPr>
        <p:spPr>
          <a:xfrm>
            <a:off x="8710590" y="4407709"/>
            <a:ext cx="0" cy="15014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297CEDC-CCDB-4842-830E-CCDAD8DC5E80}"/>
              </a:ext>
            </a:extLst>
          </p:cNvPr>
          <p:cNvCxnSpPr>
            <a:cxnSpLocks/>
          </p:cNvCxnSpPr>
          <p:nvPr/>
        </p:nvCxnSpPr>
        <p:spPr>
          <a:xfrm>
            <a:off x="7016727" y="3565644"/>
            <a:ext cx="33834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3EC603F8-05AA-7C48-990B-8BA98CAA837C}"/>
              </a:ext>
            </a:extLst>
          </p:cNvPr>
          <p:cNvSpPr/>
          <p:nvPr/>
        </p:nvSpPr>
        <p:spPr>
          <a:xfrm>
            <a:off x="8609430" y="5406589"/>
            <a:ext cx="198000" cy="199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C6C6D9-A450-7540-A384-9A7B1333F7BC}"/>
              </a:ext>
            </a:extLst>
          </p:cNvPr>
          <p:cNvSpPr/>
          <p:nvPr/>
        </p:nvSpPr>
        <p:spPr>
          <a:xfrm>
            <a:off x="8609430" y="4638584"/>
            <a:ext cx="198000" cy="199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582502B-FFC2-4344-BA17-D4CDCCC5D0C3}"/>
              </a:ext>
            </a:extLst>
          </p:cNvPr>
          <p:cNvSpPr/>
          <p:nvPr/>
        </p:nvSpPr>
        <p:spPr>
          <a:xfrm>
            <a:off x="8604262" y="3476034"/>
            <a:ext cx="198000" cy="199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Connector 69">
            <a:extLst>
              <a:ext uri="{FF2B5EF4-FFF2-40B4-BE49-F238E27FC236}">
                <a16:creationId xmlns:a16="http://schemas.microsoft.com/office/drawing/2014/main" id="{3FC2D4BB-4208-BE4B-AD78-265671AF35CF}"/>
              </a:ext>
            </a:extLst>
          </p:cNvPr>
          <p:cNvCxnSpPr>
            <a:cxnSpLocks/>
            <a:endCxn id="68" idx="4"/>
          </p:cNvCxnSpPr>
          <p:nvPr/>
        </p:nvCxnSpPr>
        <p:spPr>
          <a:xfrm flipV="1">
            <a:off x="8703262" y="3675474"/>
            <a:ext cx="0" cy="66559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944CA20-E0E0-0F4B-B2AE-1D6A63508E48}"/>
              </a:ext>
            </a:extLst>
          </p:cNvPr>
          <p:cNvCxnSpPr>
            <a:cxnSpLocks/>
          </p:cNvCxnSpPr>
          <p:nvPr/>
        </p:nvCxnSpPr>
        <p:spPr>
          <a:xfrm>
            <a:off x="2724968" y="6260483"/>
            <a:ext cx="1674000" cy="145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2FFB8C9-6C7E-7C49-A073-8FD210339C85}"/>
              </a:ext>
            </a:extLst>
          </p:cNvPr>
          <p:cNvCxnSpPr>
            <a:cxnSpLocks/>
          </p:cNvCxnSpPr>
          <p:nvPr/>
        </p:nvCxnSpPr>
        <p:spPr>
          <a:xfrm>
            <a:off x="2724968" y="5497613"/>
            <a:ext cx="167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B24A39E-D7CC-9149-86C3-BCA08E7454CC}"/>
              </a:ext>
            </a:extLst>
          </p:cNvPr>
          <p:cNvCxnSpPr>
            <a:cxnSpLocks/>
          </p:cNvCxnSpPr>
          <p:nvPr/>
        </p:nvCxnSpPr>
        <p:spPr>
          <a:xfrm>
            <a:off x="2724968" y="4733286"/>
            <a:ext cx="167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29B4D8B-D24C-EA4E-B48C-ADF0A101A2CA}"/>
              </a:ext>
            </a:extLst>
          </p:cNvPr>
          <p:cNvCxnSpPr>
            <a:cxnSpLocks/>
          </p:cNvCxnSpPr>
          <p:nvPr/>
        </p:nvCxnSpPr>
        <p:spPr>
          <a:xfrm>
            <a:off x="3555053" y="4399013"/>
            <a:ext cx="0" cy="15014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45BA8B7-EF1C-F44B-B221-4ADA5AA3C508}"/>
              </a:ext>
            </a:extLst>
          </p:cNvPr>
          <p:cNvCxnSpPr>
            <a:cxnSpLocks/>
          </p:cNvCxnSpPr>
          <p:nvPr/>
        </p:nvCxnSpPr>
        <p:spPr>
          <a:xfrm>
            <a:off x="2724968" y="3556948"/>
            <a:ext cx="167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E552EF57-50AE-5D47-B746-F91D1B38D013}"/>
              </a:ext>
            </a:extLst>
          </p:cNvPr>
          <p:cNvSpPr/>
          <p:nvPr/>
        </p:nvSpPr>
        <p:spPr>
          <a:xfrm>
            <a:off x="3453893" y="5397893"/>
            <a:ext cx="198000" cy="199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3D129B42-8A54-E942-9765-8433186AFBBF}"/>
              </a:ext>
            </a:extLst>
          </p:cNvPr>
          <p:cNvSpPr/>
          <p:nvPr/>
        </p:nvSpPr>
        <p:spPr>
          <a:xfrm>
            <a:off x="3453893" y="4629888"/>
            <a:ext cx="198000" cy="199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28FF7669-7F6F-4E40-93C0-69EA144BA585}"/>
              </a:ext>
            </a:extLst>
          </p:cNvPr>
          <p:cNvSpPr/>
          <p:nvPr/>
        </p:nvSpPr>
        <p:spPr>
          <a:xfrm>
            <a:off x="3448725" y="3467338"/>
            <a:ext cx="198000" cy="199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5135D1DC-E579-7D4A-BF4E-0BDCEDE3C0DF}"/>
              </a:ext>
            </a:extLst>
          </p:cNvPr>
          <p:cNvCxnSpPr>
            <a:cxnSpLocks/>
            <a:endCxn id="82" idx="4"/>
          </p:cNvCxnSpPr>
          <p:nvPr/>
        </p:nvCxnSpPr>
        <p:spPr>
          <a:xfrm flipV="1">
            <a:off x="3547725" y="3666778"/>
            <a:ext cx="0" cy="66559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33AF8FFA-1AD6-7D4B-8329-8FC5BC8C895A}"/>
              </a:ext>
            </a:extLst>
          </p:cNvPr>
          <p:cNvSpPr/>
          <p:nvPr/>
        </p:nvSpPr>
        <p:spPr>
          <a:xfrm>
            <a:off x="3237197" y="5883574"/>
            <a:ext cx="720000" cy="720000"/>
          </a:xfrm>
          <a:prstGeom prst="rect">
            <a:avLst/>
          </a:prstGeom>
          <a:solidFill>
            <a:srgbClr val="33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93" name="Right Brace 92">
            <a:extLst>
              <a:ext uri="{FF2B5EF4-FFF2-40B4-BE49-F238E27FC236}">
                <a16:creationId xmlns:a16="http://schemas.microsoft.com/office/drawing/2014/main" id="{B8E10441-087E-0A41-A92F-27CB6B32F87A}"/>
              </a:ext>
            </a:extLst>
          </p:cNvPr>
          <p:cNvSpPr/>
          <p:nvPr/>
        </p:nvSpPr>
        <p:spPr>
          <a:xfrm rot="5400000">
            <a:off x="5537377" y="-2931690"/>
            <a:ext cx="772629" cy="11364309"/>
          </a:xfrm>
          <a:prstGeom prst="rightBrace">
            <a:avLst>
              <a:gd name="adj1" fmla="val 1971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50012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02E72-B2C9-AF47-BB3C-BB6DBA7D0965}"/>
              </a:ext>
            </a:extLst>
          </p:cNvPr>
          <p:cNvSpPr>
            <a:spLocks noGrp="1"/>
          </p:cNvSpPr>
          <p:nvPr>
            <p:ph type="title"/>
          </p:nvPr>
        </p:nvSpPr>
        <p:spPr/>
        <p:txBody>
          <a:bodyPr/>
          <a:lstStyle/>
          <a:p>
            <a:r>
              <a:rPr lang="en-ZA" dirty="0"/>
              <a:t>Grover’s Algorithm: Three-Qubit Circuit</a:t>
            </a:r>
            <a:endParaRPr lang="en-US" dirty="0"/>
          </a:p>
        </p:txBody>
      </p:sp>
      <p:sp>
        <p:nvSpPr>
          <p:cNvPr id="3" name="Slide Number Placeholder 2">
            <a:extLst>
              <a:ext uri="{FF2B5EF4-FFF2-40B4-BE49-F238E27FC236}">
                <a16:creationId xmlns:a16="http://schemas.microsoft.com/office/drawing/2014/main" id="{91D97294-2382-674A-8E87-0C6B940827CE}"/>
              </a:ext>
            </a:extLst>
          </p:cNvPr>
          <p:cNvSpPr>
            <a:spLocks noGrp="1"/>
          </p:cNvSpPr>
          <p:nvPr>
            <p:ph type="sldNum" sz="quarter" idx="12"/>
          </p:nvPr>
        </p:nvSpPr>
        <p:spPr/>
        <p:txBody>
          <a:bodyPr/>
          <a:lstStyle/>
          <a:p>
            <a:fld id="{591A223C-FA10-BC46-A853-03BA373D023C}" type="slidenum">
              <a:rPr lang="en-US" smtClean="0"/>
              <a:t>21</a:t>
            </a:fld>
            <a:endParaRPr lang="en-US"/>
          </a:p>
        </p:txBody>
      </p:sp>
      <p:pic>
        <p:nvPicPr>
          <p:cNvPr id="9" name="Graphic 8">
            <a:extLst>
              <a:ext uri="{FF2B5EF4-FFF2-40B4-BE49-F238E27FC236}">
                <a16:creationId xmlns:a16="http://schemas.microsoft.com/office/drawing/2014/main" id="{C9E0B643-92E4-4649-BE46-78C4DBD8C4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7927" y="1411750"/>
            <a:ext cx="10479320" cy="1809751"/>
          </a:xfrm>
          <a:prstGeom prst="rect">
            <a:avLst/>
          </a:prstGeom>
        </p:spPr>
      </p:pic>
      <p:pic>
        <p:nvPicPr>
          <p:cNvPr id="13" name="Picture 12">
            <a:extLst>
              <a:ext uri="{FF2B5EF4-FFF2-40B4-BE49-F238E27FC236}">
                <a16:creationId xmlns:a16="http://schemas.microsoft.com/office/drawing/2014/main" id="{4C9C6087-EDC1-404F-AAB4-BDD5B397F1E1}"/>
              </a:ext>
            </a:extLst>
          </p:cNvPr>
          <p:cNvPicPr>
            <a:picLocks noChangeAspect="1"/>
          </p:cNvPicPr>
          <p:nvPr/>
        </p:nvPicPr>
        <p:blipFill>
          <a:blip r:embed="rId5"/>
          <a:stretch>
            <a:fillRect/>
          </a:stretch>
        </p:blipFill>
        <p:spPr>
          <a:xfrm>
            <a:off x="2029928" y="3221501"/>
            <a:ext cx="7665740" cy="3636499"/>
          </a:xfrm>
          <a:prstGeom prst="rect">
            <a:avLst/>
          </a:prstGeom>
        </p:spPr>
      </p:pic>
    </p:spTree>
    <p:extLst>
      <p:ext uri="{BB962C8B-B14F-4D97-AF65-F5344CB8AC3E}">
        <p14:creationId xmlns:p14="http://schemas.microsoft.com/office/powerpoint/2010/main" val="2127517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6A5762A-9394-B742-BD31-01CB61AB837A}"/>
              </a:ext>
            </a:extLst>
          </p:cNvPr>
          <p:cNvSpPr>
            <a:spLocks noGrp="1"/>
          </p:cNvSpPr>
          <p:nvPr>
            <p:ph type="sldNum" sz="quarter" idx="12"/>
          </p:nvPr>
        </p:nvSpPr>
        <p:spPr/>
        <p:txBody>
          <a:bodyPr/>
          <a:lstStyle/>
          <a:p>
            <a:fld id="{591A223C-FA10-BC46-A853-03BA373D023C}" type="slidenum">
              <a:rPr lang="en-US" smtClean="0"/>
              <a:t>22</a:t>
            </a:fld>
            <a:endParaRPr lang="en-US"/>
          </a:p>
        </p:txBody>
      </p:sp>
      <p:sp>
        <p:nvSpPr>
          <p:cNvPr id="6" name="Title 5">
            <a:extLst>
              <a:ext uri="{FF2B5EF4-FFF2-40B4-BE49-F238E27FC236}">
                <a16:creationId xmlns:a16="http://schemas.microsoft.com/office/drawing/2014/main" id="{E034100A-FE4B-604A-ACEB-5B493B808C7E}"/>
              </a:ext>
            </a:extLst>
          </p:cNvPr>
          <p:cNvSpPr>
            <a:spLocks noGrp="1"/>
          </p:cNvSpPr>
          <p:nvPr>
            <p:ph type="title"/>
          </p:nvPr>
        </p:nvSpPr>
        <p:spPr/>
        <p:txBody>
          <a:bodyPr/>
          <a:lstStyle/>
          <a:p>
            <a:r>
              <a:rPr lang="en-ZA" dirty="0"/>
              <a:t>Geometric Interpretation of Grover’s Algorithm (1)</a:t>
            </a:r>
            <a:endParaRPr lang="en-US" dirty="0"/>
          </a:p>
        </p:txBody>
      </p:sp>
      <p:sp>
        <p:nvSpPr>
          <p:cNvPr id="4" name="Rectangle 3">
            <a:extLst>
              <a:ext uri="{FF2B5EF4-FFF2-40B4-BE49-F238E27FC236}">
                <a16:creationId xmlns:a16="http://schemas.microsoft.com/office/drawing/2014/main" id="{69D3401F-0B7E-B546-A25A-CCFE8F582030}"/>
              </a:ext>
            </a:extLst>
          </p:cNvPr>
          <p:cNvSpPr/>
          <p:nvPr/>
        </p:nvSpPr>
        <p:spPr>
          <a:xfrm>
            <a:off x="7353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9BC96FF4-FFF7-0E41-973A-37E96B2429D6}"/>
              </a:ext>
            </a:extLst>
          </p:cNvPr>
          <p:cNvSpPr/>
          <p:nvPr/>
        </p:nvSpPr>
        <p:spPr>
          <a:xfrm>
            <a:off x="7605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FF7B9571-E1BD-5C45-B011-A684CB77B0C2}"/>
              </a:ext>
            </a:extLst>
          </p:cNvPr>
          <p:cNvSpPr/>
          <p:nvPr/>
        </p:nvSpPr>
        <p:spPr>
          <a:xfrm>
            <a:off x="7857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4F57839A-766D-EF47-9675-A489687C8C24}"/>
              </a:ext>
            </a:extLst>
          </p:cNvPr>
          <p:cNvSpPr/>
          <p:nvPr/>
        </p:nvSpPr>
        <p:spPr>
          <a:xfrm>
            <a:off x="8109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0A568D61-A4E5-394C-89F2-F6399FC99321}"/>
              </a:ext>
            </a:extLst>
          </p:cNvPr>
          <p:cNvSpPr/>
          <p:nvPr/>
        </p:nvSpPr>
        <p:spPr>
          <a:xfrm>
            <a:off x="8361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5E25E4F9-383A-9048-BD17-3CE68EA1EF35}"/>
              </a:ext>
            </a:extLst>
          </p:cNvPr>
          <p:cNvSpPr/>
          <p:nvPr/>
        </p:nvSpPr>
        <p:spPr>
          <a:xfrm>
            <a:off x="8613484" y="2507622"/>
            <a:ext cx="252000" cy="1440000"/>
          </a:xfrm>
          <a:prstGeom prst="rect">
            <a:avLst/>
          </a:prstGeom>
          <a:solidFill>
            <a:srgbClr val="FF000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1EC9E388-AB14-8D4E-8BA1-4484A96B4718}"/>
              </a:ext>
            </a:extLst>
          </p:cNvPr>
          <p:cNvSpPr/>
          <p:nvPr/>
        </p:nvSpPr>
        <p:spPr>
          <a:xfrm>
            <a:off x="8865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66C78C75-FD2B-5547-AD58-1366985EA1D8}"/>
              </a:ext>
            </a:extLst>
          </p:cNvPr>
          <p:cNvSpPr/>
          <p:nvPr/>
        </p:nvSpPr>
        <p:spPr>
          <a:xfrm>
            <a:off x="9117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1E050A00-BF22-184A-AB4F-69C28853EBC8}"/>
              </a:ext>
            </a:extLst>
          </p:cNvPr>
          <p:cNvSpPr/>
          <p:nvPr/>
        </p:nvSpPr>
        <p:spPr>
          <a:xfrm>
            <a:off x="9369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4B188437-2B95-844B-A396-C17395DC878B}"/>
              </a:ext>
            </a:extLst>
          </p:cNvPr>
          <p:cNvSpPr/>
          <p:nvPr/>
        </p:nvSpPr>
        <p:spPr>
          <a:xfrm>
            <a:off x="9621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Arrow Connector 70">
            <a:extLst>
              <a:ext uri="{FF2B5EF4-FFF2-40B4-BE49-F238E27FC236}">
                <a16:creationId xmlns:a16="http://schemas.microsoft.com/office/drawing/2014/main" id="{AB3455A2-5AF7-6645-84FB-92B72C37A6D1}"/>
              </a:ext>
            </a:extLst>
          </p:cNvPr>
          <p:cNvCxnSpPr>
            <a:cxnSpLocks/>
          </p:cNvCxnSpPr>
          <p:nvPr/>
        </p:nvCxnSpPr>
        <p:spPr>
          <a:xfrm>
            <a:off x="7353483" y="3943304"/>
            <a:ext cx="2880000" cy="2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5D46528-C38F-C04E-9E65-260D0EF301F4}"/>
              </a:ext>
            </a:extLst>
          </p:cNvPr>
          <p:cNvCxnSpPr>
            <a:cxnSpLocks/>
          </p:cNvCxnSpPr>
          <p:nvPr/>
        </p:nvCxnSpPr>
        <p:spPr>
          <a:xfrm rot="16200000">
            <a:off x="6273955" y="2862062"/>
            <a:ext cx="216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B62A127B-B89D-714D-A611-4E8000F66157}"/>
                  </a:ext>
                </a:extLst>
              </p:cNvPr>
              <p:cNvSpPr/>
              <p:nvPr/>
            </p:nvSpPr>
            <p:spPr>
              <a:xfrm>
                <a:off x="8512354" y="3986708"/>
                <a:ext cx="525978"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200" i="1" smtClean="0">
                              <a:latin typeface="Cambria Math" panose="02040503050406030204" pitchFamily="18" charset="0"/>
                            </a:rPr>
                          </m:ctrlPr>
                        </m:sSupPr>
                        <m:e>
                          <m:r>
                            <a:rPr lang="en-US" sz="2200" i="1">
                              <a:latin typeface="Cambria Math" panose="02040503050406030204" pitchFamily="18" charset="0"/>
                            </a:rPr>
                            <m:t>𝑥</m:t>
                          </m:r>
                        </m:e>
                        <m:sup>
                          <m:r>
                            <a:rPr lang="en-US" sz="2200" b="0" i="1" smtClean="0">
                              <a:latin typeface="Cambria Math" panose="02040503050406030204" pitchFamily="18" charset="0"/>
                            </a:rPr>
                            <m:t>∗</m:t>
                          </m:r>
                        </m:sup>
                      </m:sSup>
                    </m:oMath>
                  </m:oMathPara>
                </a14:m>
                <a:endParaRPr lang="en-US" sz="2200" dirty="0"/>
              </a:p>
            </p:txBody>
          </p:sp>
        </mc:Choice>
        <mc:Fallback xmlns="">
          <p:sp>
            <p:nvSpPr>
              <p:cNvPr id="77" name="Rectangle 76">
                <a:extLst>
                  <a:ext uri="{FF2B5EF4-FFF2-40B4-BE49-F238E27FC236}">
                    <a16:creationId xmlns:a16="http://schemas.microsoft.com/office/drawing/2014/main" id="{B62A127B-B89D-714D-A611-4E8000F66157}"/>
                  </a:ext>
                </a:extLst>
              </p:cNvPr>
              <p:cNvSpPr>
                <a:spLocks noRot="1" noChangeAspect="1" noMove="1" noResize="1" noEditPoints="1" noAdjustHandles="1" noChangeArrowheads="1" noChangeShapeType="1" noTextEdit="1"/>
              </p:cNvSpPr>
              <p:nvPr/>
            </p:nvSpPr>
            <p:spPr>
              <a:xfrm>
                <a:off x="8512354" y="3986708"/>
                <a:ext cx="525978"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74244054-578D-B649-A38F-664EC32D4494}"/>
                  </a:ext>
                </a:extLst>
              </p:cNvPr>
              <p:cNvSpPr/>
              <p:nvPr/>
            </p:nvSpPr>
            <p:spPr>
              <a:xfrm>
                <a:off x="7186941" y="3986708"/>
                <a:ext cx="404277"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0</m:t>
                      </m:r>
                    </m:oMath>
                  </m:oMathPara>
                </a14:m>
                <a:endParaRPr lang="en-US" sz="2200" dirty="0"/>
              </a:p>
            </p:txBody>
          </p:sp>
        </mc:Choice>
        <mc:Fallback xmlns="">
          <p:sp>
            <p:nvSpPr>
              <p:cNvPr id="78" name="Rectangle 77">
                <a:extLst>
                  <a:ext uri="{FF2B5EF4-FFF2-40B4-BE49-F238E27FC236}">
                    <a16:creationId xmlns:a16="http://schemas.microsoft.com/office/drawing/2014/main" id="{74244054-578D-B649-A38F-664EC32D4494}"/>
                  </a:ext>
                </a:extLst>
              </p:cNvPr>
              <p:cNvSpPr>
                <a:spLocks noRot="1" noChangeAspect="1" noMove="1" noResize="1" noEditPoints="1" noAdjustHandles="1" noChangeArrowheads="1" noChangeShapeType="1" noTextEdit="1"/>
              </p:cNvSpPr>
              <p:nvPr/>
            </p:nvSpPr>
            <p:spPr>
              <a:xfrm>
                <a:off x="7186941" y="3986708"/>
                <a:ext cx="404277" cy="4308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C27DC3CB-C3CA-3E42-A0EE-AC959E448B22}"/>
                  </a:ext>
                </a:extLst>
              </p:cNvPr>
              <p:cNvSpPr/>
              <p:nvPr/>
            </p:nvSpPr>
            <p:spPr>
              <a:xfrm>
                <a:off x="9565039" y="3986708"/>
                <a:ext cx="462434"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𝑁</m:t>
                      </m:r>
                    </m:oMath>
                  </m:oMathPara>
                </a14:m>
                <a:endParaRPr lang="en-US" sz="2200" dirty="0"/>
              </a:p>
            </p:txBody>
          </p:sp>
        </mc:Choice>
        <mc:Fallback xmlns="">
          <p:sp>
            <p:nvSpPr>
              <p:cNvPr id="79" name="Rectangle 78">
                <a:extLst>
                  <a:ext uri="{FF2B5EF4-FFF2-40B4-BE49-F238E27FC236}">
                    <a16:creationId xmlns:a16="http://schemas.microsoft.com/office/drawing/2014/main" id="{C27DC3CB-C3CA-3E42-A0EE-AC959E448B22}"/>
                  </a:ext>
                </a:extLst>
              </p:cNvPr>
              <p:cNvSpPr>
                <a:spLocks noRot="1" noChangeAspect="1" noMove="1" noResize="1" noEditPoints="1" noAdjustHandles="1" noChangeArrowheads="1" noChangeShapeType="1" noTextEdit="1"/>
              </p:cNvSpPr>
              <p:nvPr/>
            </p:nvSpPr>
            <p:spPr>
              <a:xfrm>
                <a:off x="9565039" y="3986708"/>
                <a:ext cx="462434" cy="430887"/>
              </a:xfrm>
              <a:prstGeom prst="rect">
                <a:avLst/>
              </a:prstGeom>
              <a:blipFill>
                <a:blip r:embed="rId5"/>
                <a:stretch>
                  <a:fillRect/>
                </a:stretch>
              </a:blipFill>
            </p:spPr>
            <p:txBody>
              <a:bodyPr/>
              <a:lstStyle/>
              <a:p>
                <a:r>
                  <a:rPr lang="en-US">
                    <a:noFill/>
                  </a:rPr>
                  <a:t> </a:t>
                </a:r>
              </a:p>
            </p:txBody>
          </p:sp>
        </mc:Fallback>
      </mc:AlternateContent>
      <p:sp>
        <p:nvSpPr>
          <p:cNvPr id="80" name="TextBox 79">
            <a:extLst>
              <a:ext uri="{FF2B5EF4-FFF2-40B4-BE49-F238E27FC236}">
                <a16:creationId xmlns:a16="http://schemas.microsoft.com/office/drawing/2014/main" id="{8B9219E7-D5BD-3347-B976-382AEAD4432B}"/>
              </a:ext>
            </a:extLst>
          </p:cNvPr>
          <p:cNvSpPr txBox="1"/>
          <p:nvPr/>
        </p:nvSpPr>
        <p:spPr>
          <a:xfrm>
            <a:off x="10042355" y="3940540"/>
            <a:ext cx="792909" cy="430887"/>
          </a:xfrm>
          <a:prstGeom prst="rect">
            <a:avLst/>
          </a:prstGeom>
          <a:noFill/>
        </p:spPr>
        <p:txBody>
          <a:bodyPr wrap="none" rtlCol="0">
            <a:spAutoFit/>
          </a:bodyPr>
          <a:lstStyle/>
          <a:p>
            <a:r>
              <a:rPr lang="en-US" sz="2200" dirty="0">
                <a:latin typeface="+mj-lt"/>
              </a:rPr>
              <a:t>index</a:t>
            </a:r>
          </a:p>
        </p:txBody>
      </p:sp>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2694E8F0-4D69-894D-99D7-3B47E4C88121}"/>
                  </a:ext>
                </a:extLst>
              </p:cNvPr>
              <p:cNvSpPr/>
              <p:nvPr/>
            </p:nvSpPr>
            <p:spPr>
              <a:xfrm>
                <a:off x="6650525" y="2111744"/>
                <a:ext cx="647741" cy="7917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1</m:t>
                          </m:r>
                        </m:num>
                        <m:den>
                          <m:rad>
                            <m:radPr>
                              <m:degHide m:val="on"/>
                              <m:ctrlPr>
                                <a:rPr lang="en-US" sz="2200" i="1" smtClean="0">
                                  <a:latin typeface="Cambria Math" panose="02040503050406030204" pitchFamily="18" charset="0"/>
                                  <a:ea typeface="Cambria Math" panose="02040503050406030204" pitchFamily="18" charset="0"/>
                                </a:rPr>
                              </m:ctrlPr>
                            </m:radPr>
                            <m:deg/>
                            <m:e>
                              <m:r>
                                <a:rPr lang="en-US" sz="2200" b="0" i="1" smtClean="0">
                                  <a:latin typeface="Cambria Math" panose="02040503050406030204" pitchFamily="18" charset="0"/>
                                  <a:ea typeface="Cambria Math" panose="02040503050406030204" pitchFamily="18" charset="0"/>
                                </a:rPr>
                                <m:t>𝑁</m:t>
                              </m:r>
                            </m:e>
                          </m:rad>
                        </m:den>
                      </m:f>
                    </m:oMath>
                  </m:oMathPara>
                </a14:m>
                <a:endParaRPr lang="en-US" sz="2200" dirty="0"/>
              </a:p>
            </p:txBody>
          </p:sp>
        </mc:Choice>
        <mc:Fallback xmlns="">
          <p:sp>
            <p:nvSpPr>
              <p:cNvPr id="81" name="Rectangle 80">
                <a:extLst>
                  <a:ext uri="{FF2B5EF4-FFF2-40B4-BE49-F238E27FC236}">
                    <a16:creationId xmlns:a16="http://schemas.microsoft.com/office/drawing/2014/main" id="{2694E8F0-4D69-894D-99D7-3B47E4C88121}"/>
                  </a:ext>
                </a:extLst>
              </p:cNvPr>
              <p:cNvSpPr>
                <a:spLocks noRot="1" noChangeAspect="1" noMove="1" noResize="1" noEditPoints="1" noAdjustHandles="1" noChangeArrowheads="1" noChangeShapeType="1" noTextEdit="1"/>
              </p:cNvSpPr>
              <p:nvPr/>
            </p:nvSpPr>
            <p:spPr>
              <a:xfrm>
                <a:off x="6650525" y="2111744"/>
                <a:ext cx="647741" cy="791755"/>
              </a:xfrm>
              <a:prstGeom prst="rect">
                <a:avLst/>
              </a:prstGeom>
              <a:blipFill>
                <a:blip r:embed="rId6"/>
                <a:stretch>
                  <a:fillRect b="-1563"/>
                </a:stretch>
              </a:blipFill>
            </p:spPr>
            <p:txBody>
              <a:bodyPr/>
              <a:lstStyle/>
              <a:p>
                <a:r>
                  <a:rPr lang="en-US">
                    <a:noFill/>
                  </a:rPr>
                  <a:t> </a:t>
                </a:r>
              </a:p>
            </p:txBody>
          </p:sp>
        </mc:Fallback>
      </mc:AlternateContent>
      <p:sp>
        <p:nvSpPr>
          <p:cNvPr id="83" name="TextBox 82">
            <a:extLst>
              <a:ext uri="{FF2B5EF4-FFF2-40B4-BE49-F238E27FC236}">
                <a16:creationId xmlns:a16="http://schemas.microsoft.com/office/drawing/2014/main" id="{DF0171FB-FC3D-DA41-A87C-7B2FFD87A2B8}"/>
              </a:ext>
            </a:extLst>
          </p:cNvPr>
          <p:cNvSpPr txBox="1"/>
          <p:nvPr/>
        </p:nvSpPr>
        <p:spPr>
          <a:xfrm>
            <a:off x="6309790" y="1287267"/>
            <a:ext cx="1335622" cy="430887"/>
          </a:xfrm>
          <a:prstGeom prst="rect">
            <a:avLst/>
          </a:prstGeom>
          <a:noFill/>
        </p:spPr>
        <p:txBody>
          <a:bodyPr wrap="none" rtlCol="0">
            <a:spAutoFit/>
          </a:bodyPr>
          <a:lstStyle/>
          <a:p>
            <a:r>
              <a:rPr lang="en-US" sz="2200" dirty="0">
                <a:latin typeface="+mj-lt"/>
              </a:rPr>
              <a:t>amplitude</a:t>
            </a:r>
          </a:p>
        </p:txBody>
      </p:sp>
      <p:sp>
        <p:nvSpPr>
          <p:cNvPr id="43" name="Arc 42">
            <a:extLst>
              <a:ext uri="{FF2B5EF4-FFF2-40B4-BE49-F238E27FC236}">
                <a16:creationId xmlns:a16="http://schemas.microsoft.com/office/drawing/2014/main" id="{DE57B77D-D199-5F4C-9171-E8CE5924F889}"/>
              </a:ext>
            </a:extLst>
          </p:cNvPr>
          <p:cNvSpPr/>
          <p:nvPr/>
        </p:nvSpPr>
        <p:spPr>
          <a:xfrm rot="21316755">
            <a:off x="-1219288" y="1503149"/>
            <a:ext cx="5040000" cy="5040000"/>
          </a:xfrm>
          <a:prstGeom prst="arc">
            <a:avLst>
              <a:gd name="adj1" fmla="val 16200000"/>
              <a:gd name="adj2" fmla="val 1571981"/>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BE4AF929-9FE7-AA46-820B-B78C5D15EB20}"/>
              </a:ext>
            </a:extLst>
          </p:cNvPr>
          <p:cNvCxnSpPr>
            <a:cxnSpLocks/>
          </p:cNvCxnSpPr>
          <p:nvPr/>
        </p:nvCxnSpPr>
        <p:spPr>
          <a:xfrm flipV="1">
            <a:off x="1300711" y="1503150"/>
            <a:ext cx="0" cy="2520000"/>
          </a:xfrm>
          <a:prstGeom prst="straightConnector1">
            <a:avLst/>
          </a:prstGeom>
          <a:ln w="12700">
            <a:solidFill>
              <a:schemeClr val="tx1">
                <a:lumMod val="50000"/>
                <a:lumOff val="50000"/>
              </a:schemeClr>
            </a:solidFill>
            <a:round/>
            <a:tailEnd type="triangle" w="lg" len="lg"/>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BF95507-423D-3B49-BE06-7685379728D3}"/>
              </a:ext>
            </a:extLst>
          </p:cNvPr>
          <p:cNvCxnSpPr>
            <a:cxnSpLocks/>
          </p:cNvCxnSpPr>
          <p:nvPr/>
        </p:nvCxnSpPr>
        <p:spPr>
          <a:xfrm rot="5400000" flipV="1">
            <a:off x="2560711" y="2763150"/>
            <a:ext cx="0" cy="2520000"/>
          </a:xfrm>
          <a:prstGeom prst="straightConnector1">
            <a:avLst/>
          </a:prstGeom>
          <a:ln w="12700">
            <a:solidFill>
              <a:schemeClr val="tx1">
                <a:lumMod val="50000"/>
                <a:lumOff val="50000"/>
              </a:schemeClr>
            </a:solidFill>
            <a:roun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CACA463F-F527-3942-853E-F7DF1CCFC2A1}"/>
                  </a:ext>
                </a:extLst>
              </p:cNvPr>
              <p:cNvSpPr/>
              <p:nvPr/>
            </p:nvSpPr>
            <p:spPr>
              <a:xfrm>
                <a:off x="3820711" y="3838483"/>
                <a:ext cx="2526974" cy="8392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𝑁</m:t>
                              </m:r>
                              <m:r>
                                <a:rPr lang="en-US" sz="2000" b="0" i="1" smtClean="0">
                                  <a:latin typeface="Cambria Math" panose="02040503050406030204" pitchFamily="18" charset="0"/>
                                </a:rPr>
                                <m:t>−1</m:t>
                              </m:r>
                            </m:e>
                          </m:rad>
                        </m:den>
                      </m:f>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𝑥</m:t>
                              </m:r>
                            </m:e>
                            <m:sup>
                              <m:r>
                                <a:rPr lang="en-US" sz="2000" b="0" i="1" smtClean="0">
                                  <a:latin typeface="Cambria Math" panose="02040503050406030204" pitchFamily="18" charset="0"/>
                                  <a:ea typeface="Cambria Math" panose="02040503050406030204" pitchFamily="18" charset="0"/>
                                </a:rPr>
                                <m:t>∗</m:t>
                              </m:r>
                            </m:sup>
                          </m:sSup>
                        </m:sub>
                        <m:sup/>
                        <m:e>
                          <m:d>
                            <m:dPr>
                              <m:begChr m:val="|"/>
                              <m:endChr m:val="⟩"/>
                              <m:ctrlPr>
                                <a:rPr lang="en-US" sz="2000" i="1">
                                  <a:latin typeface="Cambria Math" panose="02040503050406030204" pitchFamily="18" charset="0"/>
                                </a:rPr>
                              </m:ctrlPr>
                            </m:dPr>
                            <m:e>
                              <m:r>
                                <a:rPr lang="en-US" sz="2000" b="0" i="1" smtClean="0">
                                  <a:latin typeface="Cambria Math" panose="02040503050406030204" pitchFamily="18" charset="0"/>
                                </a:rPr>
                                <m:t>𝑘</m:t>
                              </m:r>
                            </m:e>
                          </m:d>
                        </m:e>
                      </m:nary>
                    </m:oMath>
                  </m:oMathPara>
                </a14:m>
                <a:endParaRPr lang="en-US" sz="2000" dirty="0"/>
              </a:p>
            </p:txBody>
          </p:sp>
        </mc:Choice>
        <mc:Fallback xmlns="">
          <p:sp>
            <p:nvSpPr>
              <p:cNvPr id="52" name="Rectangle 51">
                <a:extLst>
                  <a:ext uri="{FF2B5EF4-FFF2-40B4-BE49-F238E27FC236}">
                    <a16:creationId xmlns:a16="http://schemas.microsoft.com/office/drawing/2014/main" id="{CACA463F-F527-3942-853E-F7DF1CCFC2A1}"/>
                  </a:ext>
                </a:extLst>
              </p:cNvPr>
              <p:cNvSpPr>
                <a:spLocks noRot="1" noChangeAspect="1" noMove="1" noResize="1" noEditPoints="1" noAdjustHandles="1" noChangeArrowheads="1" noChangeShapeType="1" noTextEdit="1"/>
              </p:cNvSpPr>
              <p:nvPr/>
            </p:nvSpPr>
            <p:spPr>
              <a:xfrm>
                <a:off x="3820711" y="3838483"/>
                <a:ext cx="2526974" cy="839269"/>
              </a:xfrm>
              <a:prstGeom prst="rect">
                <a:avLst/>
              </a:prstGeom>
              <a:blipFill>
                <a:blip r:embed="rId7"/>
                <a:stretch>
                  <a:fillRect t="-123881" r="-4500" b="-1746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C7E89887-8E56-114A-B281-6FD55CBC2CFB}"/>
                  </a:ext>
                </a:extLst>
              </p:cNvPr>
              <p:cNvSpPr/>
              <p:nvPr/>
            </p:nvSpPr>
            <p:spPr>
              <a:xfrm>
                <a:off x="831417" y="1076268"/>
                <a:ext cx="66646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sup>
                          </m:sSup>
                        </m:e>
                      </m:d>
                    </m:oMath>
                  </m:oMathPara>
                </a14:m>
                <a:endParaRPr lang="en-US" sz="2000" dirty="0"/>
              </a:p>
            </p:txBody>
          </p:sp>
        </mc:Choice>
        <mc:Fallback xmlns="">
          <p:sp>
            <p:nvSpPr>
              <p:cNvPr id="53" name="Rectangle 52">
                <a:extLst>
                  <a:ext uri="{FF2B5EF4-FFF2-40B4-BE49-F238E27FC236}">
                    <a16:creationId xmlns:a16="http://schemas.microsoft.com/office/drawing/2014/main" id="{C7E89887-8E56-114A-B281-6FD55CBC2CFB}"/>
                  </a:ext>
                </a:extLst>
              </p:cNvPr>
              <p:cNvSpPr>
                <a:spLocks noRot="1" noChangeAspect="1" noMove="1" noResize="1" noEditPoints="1" noAdjustHandles="1" noChangeArrowheads="1" noChangeShapeType="1" noTextEdit="1"/>
              </p:cNvSpPr>
              <p:nvPr/>
            </p:nvSpPr>
            <p:spPr>
              <a:xfrm>
                <a:off x="831417" y="1076268"/>
                <a:ext cx="666464" cy="400110"/>
              </a:xfrm>
              <a:prstGeom prst="rect">
                <a:avLst/>
              </a:prstGeom>
              <a:blipFill>
                <a:blip r:embed="rId8"/>
                <a:stretch>
                  <a:fillRect/>
                </a:stretch>
              </a:blipFill>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34F9033A-CF06-DE47-8399-FDFCA74070D3}"/>
              </a:ext>
            </a:extLst>
          </p:cNvPr>
          <p:cNvGrpSpPr/>
          <p:nvPr/>
        </p:nvGrpSpPr>
        <p:grpSpPr>
          <a:xfrm>
            <a:off x="215045" y="2842612"/>
            <a:ext cx="11040266" cy="3874590"/>
            <a:chOff x="215045" y="2842612"/>
            <a:chExt cx="11040266" cy="3874590"/>
          </a:xfrm>
        </p:grpSpPr>
        <p:grpSp>
          <p:nvGrpSpPr>
            <p:cNvPr id="14" name="Group 13">
              <a:extLst>
                <a:ext uri="{FF2B5EF4-FFF2-40B4-BE49-F238E27FC236}">
                  <a16:creationId xmlns:a16="http://schemas.microsoft.com/office/drawing/2014/main" id="{196107C2-6A46-9D48-BF8F-73FA3EA4FCF7}"/>
                </a:ext>
              </a:extLst>
            </p:cNvPr>
            <p:cNvGrpSpPr/>
            <p:nvPr/>
          </p:nvGrpSpPr>
          <p:grpSpPr>
            <a:xfrm>
              <a:off x="215045" y="4978779"/>
              <a:ext cx="11040266" cy="1738423"/>
              <a:chOff x="215045" y="4978779"/>
              <a:chExt cx="11040266" cy="1738423"/>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A0D15E9-A032-904A-B068-562F0F23EC08}"/>
                      </a:ext>
                    </a:extLst>
                  </p:cNvPr>
                  <p:cNvSpPr txBox="1"/>
                  <p:nvPr/>
                </p:nvSpPr>
                <p:spPr>
                  <a:xfrm>
                    <a:off x="215045" y="4978779"/>
                    <a:ext cx="11040266" cy="10016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000" i="1" smtClean="0">
                                  <a:latin typeface="Cambria Math" panose="02040503050406030204" pitchFamily="18" charset="0"/>
                                </a:rPr>
                              </m:ctrlPr>
                            </m:dPr>
                            <m:e>
                              <m:sSub>
                                <m:sSubPr>
                                  <m:ctrlPr>
                                    <a:rPr lang="en-ZA" sz="2000" i="1">
                                      <a:latin typeface="Cambria Math" panose="02040503050406030204" pitchFamily="18" charset="0"/>
                                    </a:rPr>
                                  </m:ctrlPr>
                                </m:sSubPr>
                                <m:e>
                                  <m:r>
                                    <a:rPr lang="sr-Latn-RS" sz="2000" i="1">
                                      <a:latin typeface="Cambria Math" panose="02040503050406030204" pitchFamily="18" charset="0"/>
                                    </a:rPr>
                                    <m:t>𝑆</m:t>
                                  </m:r>
                                </m:e>
                                <m:sub>
                                  <m:r>
                                    <a:rPr lang="sr-Latn-RS" sz="2000" i="1">
                                      <a:latin typeface="Cambria Math" panose="02040503050406030204" pitchFamily="18" charset="0"/>
                                    </a:rPr>
                                    <m:t>0</m:t>
                                  </m:r>
                                </m:sub>
                              </m:sSub>
                            </m:e>
                          </m:d>
                          <m:r>
                            <a:rPr lang="sr-Latn-RS" sz="2000" i="1">
                              <a:latin typeface="Cambria Math" panose="02040503050406030204" pitchFamily="18" charset="0"/>
                            </a:rPr>
                            <m:t>=</m:t>
                          </m:r>
                          <m:rad>
                            <m:radPr>
                              <m:degHide m:val="on"/>
                              <m:ctrlPr>
                                <a:rPr lang="en-ZA" sz="2000" i="1">
                                  <a:latin typeface="Cambria Math" panose="02040503050406030204" pitchFamily="18" charset="0"/>
                                </a:rPr>
                              </m:ctrlPr>
                            </m:radPr>
                            <m:deg/>
                            <m:e>
                              <m:f>
                                <m:fPr>
                                  <m:ctrlPr>
                                    <a:rPr lang="en-ZA" sz="2000" i="1">
                                      <a:latin typeface="Cambria Math" panose="02040503050406030204" pitchFamily="18" charset="0"/>
                                    </a:rPr>
                                  </m:ctrlPr>
                                </m:fPr>
                                <m:num>
                                  <m:r>
                                    <a:rPr lang="sr-Latn-RS" sz="2000" i="1">
                                      <a:latin typeface="Cambria Math" panose="02040503050406030204" pitchFamily="18" charset="0"/>
                                    </a:rPr>
                                    <m:t>𝑁</m:t>
                                  </m:r>
                                  <m:r>
                                    <a:rPr lang="sr-Latn-RS" sz="2000" i="1">
                                      <a:latin typeface="Cambria Math" panose="02040503050406030204" pitchFamily="18" charset="0"/>
                                    </a:rPr>
                                    <m:t>−</m:t>
                                  </m:r>
                                  <m:r>
                                    <a:rPr lang="sr-Latn-RS" sz="2000">
                                      <a:latin typeface="Cambria Math" panose="02040503050406030204" pitchFamily="18" charset="0"/>
                                    </a:rPr>
                                    <m:t>1</m:t>
                                  </m:r>
                                </m:num>
                                <m:den>
                                  <m:r>
                                    <a:rPr lang="sr-Latn-RS" sz="2000" i="1">
                                      <a:latin typeface="Cambria Math" panose="02040503050406030204" pitchFamily="18" charset="0"/>
                                    </a:rPr>
                                    <m:t>𝑁</m:t>
                                  </m:r>
                                </m:den>
                              </m:f>
                            </m:e>
                          </m:rad>
                          <m:d>
                            <m:dPr>
                              <m:begChr m:val="|"/>
                              <m:endChr m:val="⟩"/>
                              <m:ctrlPr>
                                <a:rPr lang="en-ZA" sz="2000" i="1">
                                  <a:latin typeface="Cambria Math" panose="02040503050406030204" pitchFamily="18" charset="0"/>
                                </a:rPr>
                              </m:ctrlPr>
                            </m:dPr>
                            <m:e>
                              <m:r>
                                <a:rPr lang="en-US" sz="2000" b="0" i="1" smtClean="0">
                                  <a:latin typeface="Cambria Math" panose="02040503050406030204" pitchFamily="18" charset="0"/>
                                </a:rPr>
                                <m:t>𝑥</m:t>
                              </m:r>
                            </m:e>
                          </m:d>
                          <m:r>
                            <a:rPr lang="sr-Latn-RS" sz="2000">
                              <a:latin typeface="Cambria Math" panose="02040503050406030204" pitchFamily="18" charset="0"/>
                            </a:rPr>
                            <m:t>+</m:t>
                          </m:r>
                          <m:f>
                            <m:fPr>
                              <m:ctrlPr>
                                <a:rPr lang="en-ZA" sz="2000" i="1">
                                  <a:latin typeface="Cambria Math" panose="02040503050406030204" pitchFamily="18" charset="0"/>
                                </a:rPr>
                              </m:ctrlPr>
                            </m:fPr>
                            <m:num>
                              <m:r>
                                <a:rPr lang="sr-Latn-RS" sz="2000">
                                  <a:latin typeface="Cambria Math" panose="02040503050406030204" pitchFamily="18" charset="0"/>
                                </a:rPr>
                                <m:t>1</m:t>
                              </m:r>
                            </m:num>
                            <m:den>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𝑁</m:t>
                                  </m:r>
                                </m:e>
                              </m:rad>
                            </m:den>
                          </m:f>
                          <m:d>
                            <m:dPr>
                              <m:begChr m:val="|"/>
                              <m:endChr m:val="⟩"/>
                              <m:ctrlPr>
                                <a:rPr lang="en-ZA" sz="2000" i="1">
                                  <a:latin typeface="Cambria Math" panose="02040503050406030204" pitchFamily="18" charset="0"/>
                                </a:rPr>
                              </m:ctrlPr>
                            </m:dPr>
                            <m:e>
                              <m:sSup>
                                <m:sSupPr>
                                  <m:ctrlPr>
                                    <a:rPr lang="en-ZA" sz="2000" i="1">
                                      <a:latin typeface="Cambria Math" panose="02040503050406030204" pitchFamily="18" charset="0"/>
                                    </a:rPr>
                                  </m:ctrlPr>
                                </m:sSupPr>
                                <m:e>
                                  <m:r>
                                    <a:rPr lang="sr-Latn-RS" sz="2000" i="1">
                                      <a:latin typeface="Cambria Math" panose="02040503050406030204" pitchFamily="18" charset="0"/>
                                    </a:rPr>
                                    <m:t>𝑥</m:t>
                                  </m:r>
                                </m:e>
                                <m:sup>
                                  <m:r>
                                    <a:rPr lang="sr-Latn-RS" sz="2000" i="1">
                                      <a:latin typeface="Cambria Math" panose="02040503050406030204" pitchFamily="18" charset="0"/>
                                    </a:rPr>
                                    <m:t>∗</m:t>
                                  </m:r>
                                </m:sup>
                              </m:sSup>
                            </m:e>
                          </m:d>
                          <m:r>
                            <a:rPr lang="sr-Latn-RS" sz="2000" b="0" i="1" smtClean="0">
                              <a:latin typeface="Cambria Math" panose="02040503050406030204" pitchFamily="18" charset="0"/>
                            </a:rPr>
                            <m:t>, </m:t>
                          </m:r>
                          <m:func>
                            <m:funcPr>
                              <m:ctrlPr>
                                <a:rPr lang="en-ZA" sz="2000" i="1">
                                  <a:latin typeface="Cambria Math" panose="02040503050406030204" pitchFamily="18" charset="0"/>
                                </a:rPr>
                              </m:ctrlPr>
                            </m:funcPr>
                            <m:fName>
                              <m:groupChr>
                                <m:groupChrPr>
                                  <m:chr m:val="→"/>
                                  <m:vertJc m:val="bot"/>
                                  <m:ctrlPr>
                                    <a:rPr lang="en-ZA" sz="2000" i="1" smtClean="0">
                                      <a:latin typeface="Cambria Math" panose="02040503050406030204" pitchFamily="18" charset="0"/>
                                    </a:rPr>
                                  </m:ctrlPr>
                                </m:groupChrPr>
                                <m:e>
                                  <m:d>
                                    <m:dPr>
                                      <m:begChr m:val="⟨"/>
                                      <m:endChr m:val="⟩"/>
                                      <m:ctrlPr>
                                        <a:rPr lang="en-ZA" i="1">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𝑥</m:t>
                                      </m:r>
                                    </m:e>
                                  </m:d>
                                  <m:r>
                                    <a:rPr lang="sr-Latn-RS" i="1">
                                      <a:latin typeface="Cambria Math" panose="02040503050406030204" pitchFamily="18" charset="0"/>
                                    </a:rPr>
                                    <m:t>=1</m:t>
                                  </m:r>
                                  <m:r>
                                    <m:rPr>
                                      <m:nor/>
                                    </m:rPr>
                                    <a:rPr lang="en-US" b="0" i="0" smtClean="0">
                                      <a:latin typeface="Cambria Math" panose="02040503050406030204" pitchFamily="18" charset="0"/>
                                    </a:rPr>
                                    <m:t>, </m:t>
                                  </m:r>
                                  <m:r>
                                    <m:rPr>
                                      <m:nor/>
                                    </m:rPr>
                                    <a:rPr lang="sr-Latn-RS"/>
                                    <m:t> </m:t>
                                  </m:r>
                                  <m:d>
                                    <m:dPr>
                                      <m:begChr m:val="⟨"/>
                                      <m:endChr m:val="⟩"/>
                                      <m:ctrlPr>
                                        <a:rPr lang="en-ZA" i="1">
                                          <a:latin typeface="Cambria Math" panose="02040503050406030204" pitchFamily="18" charset="0"/>
                                        </a:rPr>
                                      </m:ctrlPr>
                                    </m:dPr>
                                    <m:e>
                                      <m:sSup>
                                        <m:sSupPr>
                                          <m:ctrlPr>
                                            <a:rPr lang="en-ZA" i="1">
                                              <a:latin typeface="Cambria Math" panose="02040503050406030204" pitchFamily="18" charset="0"/>
                                            </a:rPr>
                                          </m:ctrlPr>
                                        </m:sSupPr>
                                        <m:e>
                                          <m:r>
                                            <a:rPr lang="sr-Latn-RS" i="1">
                                              <a:latin typeface="Cambria Math" panose="02040503050406030204" pitchFamily="18" charset="0"/>
                                            </a:rPr>
                                            <m:t>𝑥</m:t>
                                          </m:r>
                                        </m:e>
                                        <m:sup>
                                          <m:r>
                                            <a:rPr lang="sr-Latn-RS" i="1">
                                              <a:latin typeface="Cambria Math" panose="02040503050406030204" pitchFamily="18" charset="0"/>
                                            </a:rPr>
                                            <m:t>∗</m:t>
                                          </m:r>
                                        </m:sup>
                                      </m:sSup>
                                    </m:e>
                                    <m:e>
                                      <m:r>
                                        <a:rPr lang="en-US" b="0" i="1" smtClean="0">
                                          <a:latin typeface="Cambria Math" panose="02040503050406030204" pitchFamily="18" charset="0"/>
                                        </a:rPr>
                                        <m:t>𝑥</m:t>
                                      </m:r>
                                    </m:e>
                                  </m:d>
                                  <m:r>
                                    <a:rPr lang="sr-Latn-RS" i="1">
                                      <a:latin typeface="Cambria Math" panose="02040503050406030204" pitchFamily="18" charset="0"/>
                                    </a:rPr>
                                    <m:t>=0</m:t>
                                  </m:r>
                                </m:e>
                              </m:groupChr>
                              <m:r>
                                <a:rPr lang="sr-Latn-RS" sz="2000" b="0" i="1" smtClean="0">
                                  <a:latin typeface="Cambria Math" panose="02040503050406030204" pitchFamily="18" charset="0"/>
                                </a:rPr>
                                <m:t>    </m:t>
                              </m:r>
                              <m:r>
                                <m:rPr>
                                  <m:sty m:val="p"/>
                                </m:rPr>
                                <a:rPr lang="sr-Latn-RS" sz="2000" i="0">
                                  <a:latin typeface="Cambria Math" panose="02040503050406030204" pitchFamily="18" charset="0"/>
                                </a:rPr>
                                <m:t>cos</m:t>
                              </m:r>
                            </m:fName>
                            <m:e>
                              <m:r>
                                <a:rPr lang="sr-Latn-RS" sz="2000" i="1">
                                  <a:latin typeface="Cambria Math" panose="02040503050406030204" pitchFamily="18" charset="0"/>
                                </a:rPr>
                                <m:t>𝜃</m:t>
                              </m:r>
                              <m:r>
                                <a:rPr lang="sr-Latn-RS" sz="2000" i="1">
                                  <a:latin typeface="Cambria Math" panose="02040503050406030204" pitchFamily="18" charset="0"/>
                                </a:rPr>
                                <m:t>=</m:t>
                              </m:r>
                              <m:d>
                                <m:dPr>
                                  <m:begChr m:val="⟨"/>
                                  <m:endChr m:val="⟩"/>
                                  <m:ctrlPr>
                                    <a:rPr lang="en-ZA" sz="2000" i="1">
                                      <a:latin typeface="Cambria Math" panose="02040503050406030204" pitchFamily="18" charset="0"/>
                                    </a:rPr>
                                  </m:ctrlPr>
                                </m:dPr>
                                <m:e>
                                  <m:r>
                                    <a:rPr lang="en-US" sz="2000" b="0" i="1" smtClean="0">
                                      <a:latin typeface="Cambria Math" panose="02040503050406030204" pitchFamily="18" charset="0"/>
                                    </a:rPr>
                                    <m:t>𝑥</m:t>
                                  </m:r>
                                </m:e>
                                <m:e>
                                  <m:sSub>
                                    <m:sSubPr>
                                      <m:ctrlPr>
                                        <a:rPr lang="en-ZA" sz="2000" i="1">
                                          <a:latin typeface="Cambria Math" panose="02040503050406030204" pitchFamily="18" charset="0"/>
                                        </a:rPr>
                                      </m:ctrlPr>
                                    </m:sSubPr>
                                    <m:e>
                                      <m:r>
                                        <a:rPr lang="sr-Latn-RS" sz="2000" i="1">
                                          <a:latin typeface="Cambria Math" panose="02040503050406030204" pitchFamily="18" charset="0"/>
                                        </a:rPr>
                                        <m:t>𝑆</m:t>
                                      </m:r>
                                    </m:e>
                                    <m:sub>
                                      <m:r>
                                        <a:rPr lang="sr-Latn-RS" sz="2000" i="1">
                                          <a:latin typeface="Cambria Math" panose="02040503050406030204" pitchFamily="18" charset="0"/>
                                        </a:rPr>
                                        <m:t>0</m:t>
                                      </m:r>
                                    </m:sub>
                                  </m:sSub>
                                </m:e>
                              </m:d>
                              <m:r>
                                <a:rPr lang="sr-Latn-RS" sz="2000" b="0" i="1" smtClean="0">
                                  <a:latin typeface="Cambria Math" panose="02040503050406030204" pitchFamily="18" charset="0"/>
                                </a:rPr>
                                <m:t>=</m:t>
                              </m:r>
                              <m:rad>
                                <m:radPr>
                                  <m:degHide m:val="on"/>
                                  <m:ctrlPr>
                                    <a:rPr lang="en-ZA" sz="2000" i="1">
                                      <a:latin typeface="Cambria Math" panose="02040503050406030204" pitchFamily="18" charset="0"/>
                                    </a:rPr>
                                  </m:ctrlPr>
                                </m:radPr>
                                <m:deg/>
                                <m:e>
                                  <m:f>
                                    <m:fPr>
                                      <m:ctrlPr>
                                        <a:rPr lang="en-ZA" sz="2000" i="1">
                                          <a:latin typeface="Cambria Math" panose="02040503050406030204" pitchFamily="18" charset="0"/>
                                        </a:rPr>
                                      </m:ctrlPr>
                                    </m:fPr>
                                    <m:num>
                                      <m:r>
                                        <a:rPr lang="sr-Latn-RS" sz="2000" i="1">
                                          <a:latin typeface="Cambria Math" panose="02040503050406030204" pitchFamily="18" charset="0"/>
                                        </a:rPr>
                                        <m:t>𝑁</m:t>
                                      </m:r>
                                      <m:r>
                                        <a:rPr lang="sr-Latn-RS" sz="2000" i="1">
                                          <a:latin typeface="Cambria Math" panose="02040503050406030204" pitchFamily="18" charset="0"/>
                                        </a:rPr>
                                        <m:t>−</m:t>
                                      </m:r>
                                      <m:r>
                                        <a:rPr lang="sr-Latn-RS" sz="2000">
                                          <a:latin typeface="Cambria Math" panose="02040503050406030204" pitchFamily="18" charset="0"/>
                                        </a:rPr>
                                        <m:t>1</m:t>
                                      </m:r>
                                    </m:num>
                                    <m:den>
                                      <m:r>
                                        <a:rPr lang="sr-Latn-RS" sz="2000" i="1">
                                          <a:latin typeface="Cambria Math" panose="02040503050406030204" pitchFamily="18" charset="0"/>
                                        </a:rPr>
                                        <m:t>𝑁</m:t>
                                      </m:r>
                                    </m:den>
                                  </m:f>
                                </m:e>
                              </m:rad>
                              <m:r>
                                <m:rPr>
                                  <m:brk m:alnAt="2"/>
                                </m:rPr>
                                <a:rPr lang="sr-Latn-RS" sz="2000" b="0" i="1" smtClean="0">
                                  <a:latin typeface="Cambria Math" panose="02040503050406030204" pitchFamily="18" charset="0"/>
                                </a:rPr>
                                <m:t>.</m:t>
                              </m:r>
                              <m:r>
                                <a:rPr lang="sr-Latn-RS" sz="2000" b="0" i="1" smtClean="0">
                                  <a:latin typeface="Cambria Math" panose="02040503050406030204" pitchFamily="18" charset="0"/>
                                </a:rPr>
                                <m:t>   </m:t>
                              </m:r>
                              <m:groupChr>
                                <m:groupChrPr>
                                  <m:chr m:val="→"/>
                                  <m:vertJc m:val="bot"/>
                                  <m:ctrlPr>
                                    <a:rPr lang="en-ZA" sz="2400" i="1">
                                      <a:latin typeface="Cambria Math" panose="02040503050406030204" pitchFamily="18" charset="0"/>
                                    </a:rPr>
                                  </m:ctrlPr>
                                </m:groupChrPr>
                                <m:e>
                                  <m:sSup>
                                    <m:sSupPr>
                                      <m:ctrlPr>
                                        <a:rPr lang="en-ZA" i="1">
                                          <a:latin typeface="Cambria Math" panose="02040503050406030204" pitchFamily="18" charset="0"/>
                                        </a:rPr>
                                      </m:ctrlPr>
                                    </m:sSupPr>
                                    <m:e>
                                      <m:r>
                                        <a:rPr lang="sr-Latn-RS" i="1">
                                          <a:latin typeface="Cambria Math" panose="02040503050406030204" pitchFamily="18" charset="0"/>
                                        </a:rPr>
                                        <m:t>𝑐𝑜𝑠</m:t>
                                      </m:r>
                                    </m:e>
                                    <m:sup>
                                      <m:r>
                                        <a:rPr lang="sr-Latn-RS" i="1">
                                          <a:latin typeface="Cambria Math" panose="02040503050406030204" pitchFamily="18" charset="0"/>
                                        </a:rPr>
                                        <m:t>2</m:t>
                                      </m:r>
                                    </m:sup>
                                  </m:sSup>
                                  <m:r>
                                    <a:rPr lang="sr-Latn-RS" i="1">
                                      <a:latin typeface="Cambria Math" panose="02040503050406030204" pitchFamily="18" charset="0"/>
                                    </a:rPr>
                                    <m:t>𝜃</m:t>
                                  </m:r>
                                  <m:r>
                                    <a:rPr lang="sr-Latn-RS" i="1">
                                      <a:latin typeface="Cambria Math" panose="02040503050406030204" pitchFamily="18" charset="0"/>
                                    </a:rPr>
                                    <m:t>+</m:t>
                                  </m:r>
                                  <m:sSup>
                                    <m:sSupPr>
                                      <m:ctrlPr>
                                        <a:rPr lang="en-ZA" i="1">
                                          <a:latin typeface="Cambria Math" panose="02040503050406030204" pitchFamily="18" charset="0"/>
                                        </a:rPr>
                                      </m:ctrlPr>
                                    </m:sSupPr>
                                    <m:e>
                                      <m:r>
                                        <a:rPr lang="sr-Latn-RS" i="1">
                                          <a:latin typeface="Cambria Math" panose="02040503050406030204" pitchFamily="18" charset="0"/>
                                        </a:rPr>
                                        <m:t>𝑠𝑖𝑛</m:t>
                                      </m:r>
                                    </m:e>
                                    <m:sup>
                                      <m:r>
                                        <a:rPr lang="sr-Latn-RS" i="1">
                                          <a:latin typeface="Cambria Math" panose="02040503050406030204" pitchFamily="18" charset="0"/>
                                        </a:rPr>
                                        <m:t>2</m:t>
                                      </m:r>
                                    </m:sup>
                                  </m:sSup>
                                  <m:r>
                                    <a:rPr lang="sr-Latn-RS" i="1">
                                      <a:latin typeface="Cambria Math" panose="02040503050406030204" pitchFamily="18" charset="0"/>
                                    </a:rPr>
                                    <m:t>𝜃</m:t>
                                  </m:r>
                                  <m:r>
                                    <a:rPr lang="sr-Latn-RS" i="1">
                                      <a:latin typeface="Cambria Math" panose="02040503050406030204" pitchFamily="18" charset="0"/>
                                    </a:rPr>
                                    <m:t>=1</m:t>
                                  </m:r>
                                </m:e>
                              </m:groupChr>
                            </m:e>
                          </m:func>
                          <m:func>
                            <m:funcPr>
                              <m:ctrlPr>
                                <a:rPr lang="en-ZA" sz="2000" i="1">
                                  <a:latin typeface="Cambria Math" panose="02040503050406030204" pitchFamily="18" charset="0"/>
                                </a:rPr>
                              </m:ctrlPr>
                            </m:funcPr>
                            <m:fName>
                              <m:r>
                                <m:rPr>
                                  <m:sty m:val="p"/>
                                </m:rPr>
                                <a:rPr lang="sr-Latn-RS" sz="2000" i="0">
                                  <a:latin typeface="Cambria Math" panose="02040503050406030204" pitchFamily="18" charset="0"/>
                                </a:rPr>
                                <m:t>sin</m:t>
                              </m:r>
                            </m:fName>
                            <m:e>
                              <m:r>
                                <a:rPr lang="sr-Latn-RS" sz="2000" i="1">
                                  <a:latin typeface="Cambria Math" panose="02040503050406030204" pitchFamily="18" charset="0"/>
                                </a:rPr>
                                <m:t>𝜃</m:t>
                              </m:r>
                              <m:r>
                                <a:rPr lang="sr-Latn-RS" sz="2000" i="1">
                                  <a:latin typeface="Cambria Math" panose="02040503050406030204" pitchFamily="18" charset="0"/>
                                </a:rPr>
                                <m:t>=</m:t>
                              </m:r>
                              <m:f>
                                <m:fPr>
                                  <m:ctrlPr>
                                    <a:rPr lang="sr-Latn-RS" sz="2000" i="1" smtClean="0">
                                      <a:latin typeface="Cambria Math" panose="02040503050406030204" pitchFamily="18" charset="0"/>
                                    </a:rPr>
                                  </m:ctrlPr>
                                </m:fPr>
                                <m:num>
                                  <m:r>
                                    <a:rPr lang="sr-Latn-RS" sz="2000" b="0" i="1" smtClean="0">
                                      <a:latin typeface="Cambria Math" panose="02040503050406030204" pitchFamily="18" charset="0"/>
                                    </a:rPr>
                                    <m:t>1</m:t>
                                  </m:r>
                                </m:num>
                                <m:den>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𝑁</m:t>
                                      </m:r>
                                    </m:e>
                                  </m:rad>
                                </m:den>
                              </m:f>
                            </m:e>
                          </m:func>
                        </m:oMath>
                      </m:oMathPara>
                    </a14:m>
                    <a:endParaRPr lang="en-US" sz="2000" dirty="0"/>
                  </a:p>
                </p:txBody>
              </p:sp>
            </mc:Choice>
            <mc:Fallback xmlns="">
              <p:sp>
                <p:nvSpPr>
                  <p:cNvPr id="10" name="TextBox 9">
                    <a:extLst>
                      <a:ext uri="{FF2B5EF4-FFF2-40B4-BE49-F238E27FC236}">
                        <a16:creationId xmlns:a16="http://schemas.microsoft.com/office/drawing/2014/main" id="{5A0D15E9-A032-904A-B068-562F0F23EC08}"/>
                      </a:ext>
                    </a:extLst>
                  </p:cNvPr>
                  <p:cNvSpPr txBox="1">
                    <a:spLocks noRot="1" noChangeAspect="1" noMove="1" noResize="1" noEditPoints="1" noAdjustHandles="1" noChangeArrowheads="1" noChangeShapeType="1" noTextEdit="1"/>
                  </p:cNvSpPr>
                  <p:nvPr/>
                </p:nvSpPr>
                <p:spPr>
                  <a:xfrm>
                    <a:off x="215045" y="4978779"/>
                    <a:ext cx="11040266" cy="100168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A0A1E8FD-21B7-EE4A-B182-41FD81A1339C}"/>
                      </a:ext>
                    </a:extLst>
                  </p:cNvPr>
                  <p:cNvSpPr/>
                  <p:nvPr/>
                </p:nvSpPr>
                <p:spPr>
                  <a:xfrm>
                    <a:off x="4515907" y="5989118"/>
                    <a:ext cx="3176703" cy="7280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sr-Latn-RS" sz="2000" i="1" smtClean="0">
                                  <a:latin typeface="Cambria Math" panose="02040503050406030204" pitchFamily="18" charset="0"/>
                                </a:rPr>
                              </m:ctrlPr>
                            </m:fPr>
                            <m:num>
                              <m:r>
                                <a:rPr lang="sr-Latn-RS" sz="2000" i="1">
                                  <a:latin typeface="Cambria Math" panose="02040503050406030204" pitchFamily="18" charset="0"/>
                                </a:rPr>
                                <m:t>1</m:t>
                              </m:r>
                            </m:num>
                            <m:den>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𝑁</m:t>
                                  </m:r>
                                </m:e>
                              </m:rad>
                            </m:den>
                          </m:f>
                          <m:r>
                            <a:rPr lang="sr-Latn-RS" sz="2000" i="1" smtClean="0">
                              <a:latin typeface="Cambria Math" panose="02040503050406030204" pitchFamily="18" charset="0"/>
                              <a:ea typeface="Cambria Math" panose="02040503050406030204" pitchFamily="18" charset="0"/>
                            </a:rPr>
                            <m:t>≪</m:t>
                          </m:r>
                          <m:r>
                            <a:rPr lang="sr-Latn-RS" sz="2000" b="0" i="1" smtClean="0">
                              <a:latin typeface="Cambria Math" panose="02040503050406030204" pitchFamily="18" charset="0"/>
                              <a:ea typeface="Cambria Math" panose="02040503050406030204" pitchFamily="18" charset="0"/>
                            </a:rPr>
                            <m:t>1</m:t>
                          </m:r>
                          <m:func>
                            <m:funcPr>
                              <m:ctrlPr>
                                <a:rPr lang="en-ZA" sz="2000" i="1">
                                  <a:latin typeface="Cambria Math" panose="02040503050406030204" pitchFamily="18" charset="0"/>
                                </a:rPr>
                              </m:ctrlPr>
                            </m:funcPr>
                            <m:fName>
                              <m:r>
                                <a:rPr lang="sr-Latn-RS" sz="2000">
                                  <a:latin typeface="Cambria Math" panose="02040503050406030204" pitchFamily="18" charset="0"/>
                                </a:rPr>
                                <m:t>→</m:t>
                              </m:r>
                              <m:r>
                                <m:rPr>
                                  <m:sty m:val="p"/>
                                </m:rPr>
                                <a:rPr lang="sr-Latn-RS" sz="2000" i="0">
                                  <a:latin typeface="Cambria Math" panose="02040503050406030204" pitchFamily="18" charset="0"/>
                                </a:rPr>
                                <m:t>sin</m:t>
                              </m:r>
                            </m:fName>
                            <m:e>
                              <m:r>
                                <a:rPr lang="sr-Latn-RS" sz="2000" i="1">
                                  <a:latin typeface="Cambria Math" panose="02040503050406030204" pitchFamily="18" charset="0"/>
                                </a:rPr>
                                <m:t>𝜃</m:t>
                              </m:r>
                              <m:r>
                                <a:rPr lang="sr-Latn-RS" sz="2000" i="1" smtClean="0">
                                  <a:latin typeface="Cambria Math" panose="02040503050406030204" pitchFamily="18" charset="0"/>
                                  <a:ea typeface="Cambria Math" panose="02040503050406030204" pitchFamily="18" charset="0"/>
                                </a:rPr>
                                <m:t>≈</m:t>
                              </m:r>
                              <m:r>
                                <a:rPr lang="sr-Latn-RS" sz="2000" i="1">
                                  <a:latin typeface="Cambria Math" panose="02040503050406030204" pitchFamily="18" charset="0"/>
                                </a:rPr>
                                <m:t>𝜃</m:t>
                              </m:r>
                              <m:r>
                                <a:rPr lang="sr-Latn-RS" sz="2000" i="1">
                                  <a:latin typeface="Cambria Math" panose="02040503050406030204" pitchFamily="18" charset="0"/>
                                </a:rPr>
                                <m:t>=</m:t>
                              </m:r>
                              <m:f>
                                <m:fPr>
                                  <m:ctrlPr>
                                    <a:rPr lang="en-ZA" sz="2000" i="1">
                                      <a:latin typeface="Cambria Math" panose="02040503050406030204" pitchFamily="18" charset="0"/>
                                    </a:rPr>
                                  </m:ctrlPr>
                                </m:fPr>
                                <m:num>
                                  <m:r>
                                    <a:rPr lang="sr-Latn-RS" sz="2000" i="1">
                                      <a:latin typeface="Cambria Math" panose="02040503050406030204" pitchFamily="18" charset="0"/>
                                    </a:rPr>
                                    <m:t>1</m:t>
                                  </m:r>
                                </m:num>
                                <m:den>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𝑁</m:t>
                                      </m:r>
                                    </m:e>
                                  </m:rad>
                                </m:den>
                              </m:f>
                            </m:e>
                          </m:func>
                        </m:oMath>
                      </m:oMathPara>
                    </a14:m>
                    <a:endParaRPr lang="en-US" sz="2000" dirty="0"/>
                  </a:p>
                </p:txBody>
              </p:sp>
            </mc:Choice>
            <mc:Fallback xmlns="">
              <p:sp>
                <p:nvSpPr>
                  <p:cNvPr id="13" name="Rectangle 12">
                    <a:extLst>
                      <a:ext uri="{FF2B5EF4-FFF2-40B4-BE49-F238E27FC236}">
                        <a16:creationId xmlns:a16="http://schemas.microsoft.com/office/drawing/2014/main" id="{A0A1E8FD-21B7-EE4A-B182-41FD81A1339C}"/>
                      </a:ext>
                    </a:extLst>
                  </p:cNvPr>
                  <p:cNvSpPr>
                    <a:spLocks noRot="1" noChangeAspect="1" noMove="1" noResize="1" noEditPoints="1" noAdjustHandles="1" noChangeArrowheads="1" noChangeShapeType="1" noTextEdit="1"/>
                  </p:cNvSpPr>
                  <p:nvPr/>
                </p:nvSpPr>
                <p:spPr>
                  <a:xfrm>
                    <a:off x="4515907" y="5989118"/>
                    <a:ext cx="3176703" cy="728084"/>
                  </a:xfrm>
                  <a:prstGeom prst="rect">
                    <a:avLst/>
                  </a:prstGeom>
                  <a:blipFill>
                    <a:blip r:embed="rId10"/>
                    <a:stretch>
                      <a:fillRect b="-1724"/>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BE402BF-E913-7845-92FA-4E62AE13D8D2}"/>
                    </a:ext>
                  </a:extLst>
                </p:cNvPr>
                <p:cNvSpPr txBox="1"/>
                <p:nvPr/>
              </p:nvSpPr>
              <p:spPr>
                <a:xfrm>
                  <a:off x="726412" y="2842612"/>
                  <a:ext cx="604653" cy="7280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ZA" sz="2000" i="1">
                                <a:latin typeface="Cambria Math" panose="02040503050406030204" pitchFamily="18" charset="0"/>
                              </a:rPr>
                            </m:ctrlPr>
                          </m:fPr>
                          <m:num>
                            <m:r>
                              <a:rPr lang="sr-Latn-RS" sz="2000" i="1">
                                <a:latin typeface="Cambria Math" panose="02040503050406030204" pitchFamily="18" charset="0"/>
                              </a:rPr>
                              <m:t>1</m:t>
                            </m:r>
                          </m:num>
                          <m:den>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𝑁</m:t>
                                </m:r>
                              </m:e>
                            </m:rad>
                          </m:den>
                        </m:f>
                      </m:oMath>
                    </m:oMathPara>
                  </a14:m>
                  <a:endParaRPr lang="en-US" sz="2000" dirty="0"/>
                </a:p>
              </p:txBody>
            </p:sp>
          </mc:Choice>
          <mc:Fallback xmlns="">
            <p:sp>
              <p:nvSpPr>
                <p:cNvPr id="15" name="TextBox 14">
                  <a:extLst>
                    <a:ext uri="{FF2B5EF4-FFF2-40B4-BE49-F238E27FC236}">
                      <a16:creationId xmlns:a16="http://schemas.microsoft.com/office/drawing/2014/main" id="{3BE402BF-E913-7845-92FA-4E62AE13D8D2}"/>
                    </a:ext>
                  </a:extLst>
                </p:cNvPr>
                <p:cNvSpPr txBox="1">
                  <a:spLocks noRot="1" noChangeAspect="1" noMove="1" noResize="1" noEditPoints="1" noAdjustHandles="1" noChangeArrowheads="1" noChangeShapeType="1" noTextEdit="1"/>
                </p:cNvSpPr>
                <p:nvPr/>
              </p:nvSpPr>
              <p:spPr>
                <a:xfrm>
                  <a:off x="726412" y="2842612"/>
                  <a:ext cx="604653" cy="728084"/>
                </a:xfrm>
                <a:prstGeom prst="rect">
                  <a:avLst/>
                </a:prstGeom>
                <a:blipFill>
                  <a:blip r:embed="rId14"/>
                  <a:stretch>
                    <a:fillRect b="-3448"/>
                  </a:stretch>
                </a:blipFill>
              </p:spPr>
              <p:txBody>
                <a:bodyPr/>
                <a:lstStyle/>
                <a:p>
                  <a:r>
                    <a:rPr lang="en-US">
                      <a:noFill/>
                    </a:rPr>
                    <a:t> </a:t>
                  </a:r>
                </a:p>
              </p:txBody>
            </p:sp>
          </mc:Fallback>
        </mc:AlternateContent>
      </p:grpSp>
      <p:sp>
        <p:nvSpPr>
          <p:cNvPr id="3" name="TextBox 2">
            <a:extLst>
              <a:ext uri="{FF2B5EF4-FFF2-40B4-BE49-F238E27FC236}">
                <a16:creationId xmlns:a16="http://schemas.microsoft.com/office/drawing/2014/main" id="{2CCF6F2F-6623-BB47-80B1-9D7FF315AFC3}"/>
              </a:ext>
            </a:extLst>
          </p:cNvPr>
          <p:cNvSpPr txBox="1"/>
          <p:nvPr/>
        </p:nvSpPr>
        <p:spPr>
          <a:xfrm>
            <a:off x="1345373" y="1097866"/>
            <a:ext cx="1085554" cy="369332"/>
          </a:xfrm>
          <a:prstGeom prst="rect">
            <a:avLst/>
          </a:prstGeom>
          <a:noFill/>
        </p:spPr>
        <p:txBody>
          <a:bodyPr wrap="none" rtlCol="0">
            <a:spAutoFit/>
          </a:bodyPr>
          <a:lstStyle/>
          <a:p>
            <a:r>
              <a:rPr lang="en-US" dirty="0">
                <a:latin typeface="+mj-lt"/>
              </a:rPr>
              <a:t>(solution)</a:t>
            </a:r>
          </a:p>
        </p:txBody>
      </p:sp>
      <p:sp>
        <p:nvSpPr>
          <p:cNvPr id="39" name="TextBox 38">
            <a:extLst>
              <a:ext uri="{FF2B5EF4-FFF2-40B4-BE49-F238E27FC236}">
                <a16:creationId xmlns:a16="http://schemas.microsoft.com/office/drawing/2014/main" id="{BD8C26AA-187A-1241-8B4A-869C01B6CC12}"/>
              </a:ext>
            </a:extLst>
          </p:cNvPr>
          <p:cNvSpPr txBox="1"/>
          <p:nvPr/>
        </p:nvSpPr>
        <p:spPr>
          <a:xfrm>
            <a:off x="3889889" y="4487136"/>
            <a:ext cx="1611339" cy="369332"/>
          </a:xfrm>
          <a:prstGeom prst="rect">
            <a:avLst/>
          </a:prstGeom>
          <a:noFill/>
        </p:spPr>
        <p:txBody>
          <a:bodyPr wrap="none" rtlCol="0">
            <a:spAutoFit/>
          </a:bodyPr>
          <a:lstStyle/>
          <a:p>
            <a:r>
              <a:rPr lang="en-US" dirty="0">
                <a:latin typeface="+mj-lt"/>
              </a:rPr>
              <a:t>(non-solutions)</a:t>
            </a:r>
          </a:p>
        </p:txBody>
      </p:sp>
      <p:grpSp>
        <p:nvGrpSpPr>
          <p:cNvPr id="7" name="Group 6">
            <a:extLst>
              <a:ext uri="{FF2B5EF4-FFF2-40B4-BE49-F238E27FC236}">
                <a16:creationId xmlns:a16="http://schemas.microsoft.com/office/drawing/2014/main" id="{E0B12292-43C2-5B44-AC09-C00FC11DB885}"/>
              </a:ext>
            </a:extLst>
          </p:cNvPr>
          <p:cNvGrpSpPr/>
          <p:nvPr/>
        </p:nvGrpSpPr>
        <p:grpSpPr>
          <a:xfrm>
            <a:off x="1296813" y="2380102"/>
            <a:ext cx="3820071" cy="1696917"/>
            <a:chOff x="1296813" y="2380102"/>
            <a:chExt cx="3820071" cy="1696917"/>
          </a:xfrm>
        </p:grpSpPr>
        <p:grpSp>
          <p:nvGrpSpPr>
            <p:cNvPr id="9" name="Group 8">
              <a:extLst>
                <a:ext uri="{FF2B5EF4-FFF2-40B4-BE49-F238E27FC236}">
                  <a16:creationId xmlns:a16="http://schemas.microsoft.com/office/drawing/2014/main" id="{7B80CD2A-C81C-3C4C-ABB1-9C26FE81885C}"/>
                </a:ext>
              </a:extLst>
            </p:cNvPr>
            <p:cNvGrpSpPr/>
            <p:nvPr/>
          </p:nvGrpSpPr>
          <p:grpSpPr>
            <a:xfrm>
              <a:off x="1296813" y="2380102"/>
              <a:ext cx="3820071" cy="1696917"/>
              <a:chOff x="1296813" y="2380102"/>
              <a:chExt cx="3820071" cy="1696917"/>
            </a:xfrm>
          </p:grpSpPr>
          <p:grpSp>
            <p:nvGrpSpPr>
              <p:cNvPr id="2" name="Group 1">
                <a:extLst>
                  <a:ext uri="{FF2B5EF4-FFF2-40B4-BE49-F238E27FC236}">
                    <a16:creationId xmlns:a16="http://schemas.microsoft.com/office/drawing/2014/main" id="{16ADF2AD-FC2D-AF48-8CA1-75EF31C7EA82}"/>
                  </a:ext>
                </a:extLst>
              </p:cNvPr>
              <p:cNvGrpSpPr/>
              <p:nvPr/>
            </p:nvGrpSpPr>
            <p:grpSpPr>
              <a:xfrm>
                <a:off x="1296813" y="3174915"/>
                <a:ext cx="2372859" cy="902104"/>
                <a:chOff x="1296813" y="3174915"/>
                <a:chExt cx="2372859" cy="902104"/>
              </a:xfrm>
            </p:grpSpPr>
            <p:cxnSp>
              <p:nvCxnSpPr>
                <p:cNvPr id="84" name="Straight Connector 83">
                  <a:extLst>
                    <a:ext uri="{FF2B5EF4-FFF2-40B4-BE49-F238E27FC236}">
                      <a16:creationId xmlns:a16="http://schemas.microsoft.com/office/drawing/2014/main" id="{157CA1DB-0FA6-D849-8FC1-52241513BEC9}"/>
                    </a:ext>
                  </a:extLst>
                </p:cNvPr>
                <p:cNvCxnSpPr>
                  <a:cxnSpLocks/>
                </p:cNvCxnSpPr>
                <p:nvPr/>
              </p:nvCxnSpPr>
              <p:spPr>
                <a:xfrm flipH="1">
                  <a:off x="1296813" y="3174915"/>
                  <a:ext cx="2366599"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D23A18E-7666-704C-8597-A6E0CA9531F9}"/>
                    </a:ext>
                  </a:extLst>
                </p:cNvPr>
                <p:cNvCxnSpPr>
                  <a:cxnSpLocks/>
                </p:cNvCxnSpPr>
                <p:nvPr/>
              </p:nvCxnSpPr>
              <p:spPr>
                <a:xfrm flipV="1">
                  <a:off x="1300710" y="3218624"/>
                  <a:ext cx="2368962" cy="804526"/>
                </a:xfrm>
                <a:prstGeom prst="straightConnector1">
                  <a:avLst/>
                </a:prstGeom>
                <a:ln w="158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8CBDF6F0-6D4C-0948-B3EA-EDCBF2ACEFC0}"/>
                        </a:ext>
                      </a:extLst>
                    </p:cNvPr>
                    <p:cNvSpPr/>
                    <p:nvPr/>
                  </p:nvSpPr>
                  <p:spPr>
                    <a:xfrm>
                      <a:off x="1938904" y="3676909"/>
                      <a:ext cx="39414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𝜃</m:t>
                            </m:r>
                          </m:oMath>
                        </m:oMathPara>
                      </a14:m>
                      <a:endParaRPr lang="en-US" sz="2000" dirty="0"/>
                    </a:p>
                  </p:txBody>
                </p:sp>
              </mc:Choice>
              <mc:Fallback xmlns="">
                <p:sp>
                  <p:nvSpPr>
                    <p:cNvPr id="49" name="Rectangle 48">
                      <a:extLst>
                        <a:ext uri="{FF2B5EF4-FFF2-40B4-BE49-F238E27FC236}">
                          <a16:creationId xmlns:a16="http://schemas.microsoft.com/office/drawing/2014/main" id="{8CBDF6F0-6D4C-0948-B3EA-EDCBF2ACEFC0}"/>
                        </a:ext>
                      </a:extLst>
                    </p:cNvPr>
                    <p:cNvSpPr>
                      <a:spLocks noRot="1" noChangeAspect="1" noMove="1" noResize="1" noEditPoints="1" noAdjustHandles="1" noChangeArrowheads="1" noChangeShapeType="1" noTextEdit="1"/>
                    </p:cNvSpPr>
                    <p:nvPr/>
                  </p:nvSpPr>
                  <p:spPr>
                    <a:xfrm>
                      <a:off x="1938904" y="3676909"/>
                      <a:ext cx="394146" cy="400110"/>
                    </a:xfrm>
                    <a:prstGeom prst="rect">
                      <a:avLst/>
                    </a:prstGeom>
                    <a:blipFill>
                      <a:blip r:embed="rId15"/>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1DEA54A-2295-8A44-8D95-DB9EB4D9B8A9}"/>
                      </a:ext>
                    </a:extLst>
                  </p:cNvPr>
                  <p:cNvSpPr txBox="1"/>
                  <p:nvPr/>
                </p:nvSpPr>
                <p:spPr>
                  <a:xfrm>
                    <a:off x="2105290" y="2380102"/>
                    <a:ext cx="3011594" cy="9106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ZA" i="1" smtClean="0">
                                  <a:latin typeface="Cambria Math" panose="02040503050406030204" pitchFamily="18" charset="0"/>
                                </a:rPr>
                              </m:ctrlPr>
                            </m:dPr>
                            <m:e>
                              <m:sSub>
                                <m:sSubPr>
                                  <m:ctrlPr>
                                    <a:rPr lang="en-ZA" i="1">
                                      <a:latin typeface="Cambria Math" panose="02040503050406030204" pitchFamily="18" charset="0"/>
                                    </a:rPr>
                                  </m:ctrlPr>
                                </m:sSubPr>
                                <m:e>
                                  <m:r>
                                    <a:rPr lang="sr-Latn-RS" i="1">
                                      <a:latin typeface="Cambria Math" panose="02040503050406030204" pitchFamily="18" charset="0"/>
                                    </a:rPr>
                                    <m:t>𝑆</m:t>
                                  </m:r>
                                </m:e>
                                <m:sub>
                                  <m:r>
                                    <a:rPr lang="sr-Latn-RS" i="1">
                                      <a:latin typeface="Cambria Math" panose="02040503050406030204" pitchFamily="18" charset="0"/>
                                    </a:rPr>
                                    <m:t>0</m:t>
                                  </m:r>
                                </m:sub>
                              </m:sSub>
                            </m:e>
                          </m:d>
                          <m:r>
                            <a:rPr lang="sr-Latn-RS" i="1">
                              <a:latin typeface="Cambria Math" panose="02040503050406030204" pitchFamily="18" charset="0"/>
                            </a:rPr>
                            <m:t>=</m:t>
                          </m:r>
                          <m:rad>
                            <m:radPr>
                              <m:degHide m:val="on"/>
                              <m:ctrlPr>
                                <a:rPr lang="en-ZA" i="1">
                                  <a:latin typeface="Cambria Math" panose="02040503050406030204" pitchFamily="18" charset="0"/>
                                </a:rPr>
                              </m:ctrlPr>
                            </m:radPr>
                            <m:deg/>
                            <m:e>
                              <m:f>
                                <m:fPr>
                                  <m:ctrlPr>
                                    <a:rPr lang="en-ZA" i="1">
                                      <a:latin typeface="Cambria Math" panose="02040503050406030204" pitchFamily="18" charset="0"/>
                                    </a:rPr>
                                  </m:ctrlPr>
                                </m:fPr>
                                <m:num>
                                  <m:r>
                                    <a:rPr lang="sr-Latn-RS" i="1">
                                      <a:latin typeface="Cambria Math" panose="02040503050406030204" pitchFamily="18" charset="0"/>
                                    </a:rPr>
                                    <m:t>𝑁</m:t>
                                  </m:r>
                                  <m:r>
                                    <a:rPr lang="sr-Latn-RS" i="1">
                                      <a:latin typeface="Cambria Math" panose="02040503050406030204" pitchFamily="18" charset="0"/>
                                    </a:rPr>
                                    <m:t>−</m:t>
                                  </m:r>
                                  <m:r>
                                    <a:rPr lang="sr-Latn-RS">
                                      <a:latin typeface="Cambria Math" panose="02040503050406030204" pitchFamily="18" charset="0"/>
                                    </a:rPr>
                                    <m:t>1</m:t>
                                  </m:r>
                                </m:num>
                                <m:den>
                                  <m:r>
                                    <a:rPr lang="sr-Latn-RS" i="1">
                                      <a:latin typeface="Cambria Math" panose="02040503050406030204" pitchFamily="18" charset="0"/>
                                    </a:rPr>
                                    <m:t>𝑁</m:t>
                                  </m:r>
                                </m:den>
                              </m:f>
                            </m:e>
                          </m:rad>
                          <m:d>
                            <m:dPr>
                              <m:begChr m:val="|"/>
                              <m:endChr m:val="⟩"/>
                              <m:ctrlPr>
                                <a:rPr lang="en-ZA" i="1">
                                  <a:latin typeface="Cambria Math" panose="02040503050406030204" pitchFamily="18" charset="0"/>
                                </a:rPr>
                              </m:ctrlPr>
                            </m:dPr>
                            <m:e>
                              <m:r>
                                <a:rPr lang="en-US" b="0" i="1" smtClean="0">
                                  <a:latin typeface="Cambria Math" panose="02040503050406030204" pitchFamily="18" charset="0"/>
                                </a:rPr>
                                <m:t>𝑥</m:t>
                              </m:r>
                            </m:e>
                          </m:d>
                          <m:r>
                            <a:rPr lang="sr-Latn-RS">
                              <a:latin typeface="Cambria Math" panose="02040503050406030204" pitchFamily="18" charset="0"/>
                            </a:rPr>
                            <m:t>+</m:t>
                          </m:r>
                          <m:f>
                            <m:fPr>
                              <m:ctrlPr>
                                <a:rPr lang="en-ZA" i="1">
                                  <a:latin typeface="Cambria Math" panose="02040503050406030204" pitchFamily="18" charset="0"/>
                                </a:rPr>
                              </m:ctrlPr>
                            </m:fPr>
                            <m:num>
                              <m:r>
                                <a:rPr lang="sr-Latn-RS">
                                  <a:latin typeface="Cambria Math" panose="02040503050406030204" pitchFamily="18" charset="0"/>
                                </a:rPr>
                                <m:t>1</m:t>
                              </m:r>
                            </m:num>
                            <m:den>
                              <m:rad>
                                <m:radPr>
                                  <m:degHide m:val="on"/>
                                  <m:ctrlPr>
                                    <a:rPr lang="en-ZA" i="1">
                                      <a:latin typeface="Cambria Math" panose="02040503050406030204" pitchFamily="18" charset="0"/>
                                    </a:rPr>
                                  </m:ctrlPr>
                                </m:radPr>
                                <m:deg/>
                                <m:e>
                                  <m:r>
                                    <a:rPr lang="sr-Latn-RS" i="1">
                                      <a:latin typeface="Cambria Math" panose="02040503050406030204" pitchFamily="18" charset="0"/>
                                    </a:rPr>
                                    <m:t>𝑁</m:t>
                                  </m:r>
                                </m:e>
                              </m:rad>
                            </m:den>
                          </m:f>
                          <m:d>
                            <m:dPr>
                              <m:begChr m:val="|"/>
                              <m:endChr m:val="⟩"/>
                              <m:ctrlPr>
                                <a:rPr lang="en-ZA" i="1">
                                  <a:latin typeface="Cambria Math" panose="02040503050406030204" pitchFamily="18" charset="0"/>
                                </a:rPr>
                              </m:ctrlPr>
                            </m:dPr>
                            <m:e>
                              <m:sSup>
                                <m:sSupPr>
                                  <m:ctrlPr>
                                    <a:rPr lang="en-ZA" i="1">
                                      <a:latin typeface="Cambria Math" panose="02040503050406030204" pitchFamily="18" charset="0"/>
                                    </a:rPr>
                                  </m:ctrlPr>
                                </m:sSupPr>
                                <m:e>
                                  <m:r>
                                    <a:rPr lang="sr-Latn-RS" i="1">
                                      <a:latin typeface="Cambria Math" panose="02040503050406030204" pitchFamily="18" charset="0"/>
                                    </a:rPr>
                                    <m:t>𝑥</m:t>
                                  </m:r>
                                </m:e>
                                <m:sup>
                                  <m:r>
                                    <a:rPr lang="sr-Latn-RS" i="1">
                                      <a:latin typeface="Cambria Math" panose="02040503050406030204" pitchFamily="18" charset="0"/>
                                    </a:rPr>
                                    <m:t>∗</m:t>
                                  </m:r>
                                </m:sup>
                              </m:sSup>
                            </m:e>
                          </m:d>
                        </m:oMath>
                      </m:oMathPara>
                    </a14:m>
                    <a:endParaRPr lang="en-US" dirty="0"/>
                  </a:p>
                </p:txBody>
              </p:sp>
            </mc:Choice>
            <mc:Fallback xmlns="">
              <p:sp>
                <p:nvSpPr>
                  <p:cNvPr id="8" name="TextBox 7">
                    <a:extLst>
                      <a:ext uri="{FF2B5EF4-FFF2-40B4-BE49-F238E27FC236}">
                        <a16:creationId xmlns:a16="http://schemas.microsoft.com/office/drawing/2014/main" id="{F1DEA54A-2295-8A44-8D95-DB9EB4D9B8A9}"/>
                      </a:ext>
                    </a:extLst>
                  </p:cNvPr>
                  <p:cNvSpPr txBox="1">
                    <a:spLocks noRot="1" noChangeAspect="1" noMove="1" noResize="1" noEditPoints="1" noAdjustHandles="1" noChangeArrowheads="1" noChangeShapeType="1" noTextEdit="1"/>
                  </p:cNvSpPr>
                  <p:nvPr/>
                </p:nvSpPr>
                <p:spPr>
                  <a:xfrm>
                    <a:off x="2105290" y="2380102"/>
                    <a:ext cx="3011594" cy="910699"/>
                  </a:xfrm>
                  <a:prstGeom prst="rect">
                    <a:avLst/>
                  </a:prstGeom>
                  <a:blipFill>
                    <a:blip r:embed="rId11"/>
                    <a:stretch>
                      <a:fillRect/>
                    </a:stretch>
                  </a:blipFill>
                </p:spPr>
                <p:txBody>
                  <a:bodyPr/>
                  <a:lstStyle/>
                  <a:p>
                    <a:r>
                      <a:rPr lang="en-US">
                        <a:noFill/>
                      </a:rPr>
                      <a:t> </a:t>
                    </a:r>
                  </a:p>
                </p:txBody>
              </p:sp>
            </mc:Fallback>
          </mc:AlternateContent>
        </p:grpSp>
        <p:sp>
          <p:nvSpPr>
            <p:cNvPr id="40" name="TextBox 39">
              <a:extLst>
                <a:ext uri="{FF2B5EF4-FFF2-40B4-BE49-F238E27FC236}">
                  <a16:creationId xmlns:a16="http://schemas.microsoft.com/office/drawing/2014/main" id="{38DF2627-6A83-7146-BACB-7EFD4061D363}"/>
                </a:ext>
              </a:extLst>
            </p:cNvPr>
            <p:cNvSpPr txBox="1"/>
            <p:nvPr/>
          </p:nvSpPr>
          <p:spPr>
            <a:xfrm rot="20511531">
              <a:off x="1590260" y="3345630"/>
              <a:ext cx="1359283" cy="369332"/>
            </a:xfrm>
            <a:prstGeom prst="rect">
              <a:avLst/>
            </a:prstGeom>
            <a:noFill/>
          </p:spPr>
          <p:txBody>
            <a:bodyPr wrap="none" rtlCol="0">
              <a:spAutoFit/>
            </a:bodyPr>
            <a:lstStyle/>
            <a:p>
              <a:r>
                <a:rPr lang="en-US" dirty="0">
                  <a:latin typeface="+mj-lt"/>
                </a:rPr>
                <a:t>(initial state)</a:t>
              </a:r>
            </a:p>
          </p:txBody>
        </p:sp>
      </p:grpSp>
    </p:spTree>
    <p:extLst>
      <p:ext uri="{BB962C8B-B14F-4D97-AF65-F5344CB8AC3E}">
        <p14:creationId xmlns:p14="http://schemas.microsoft.com/office/powerpoint/2010/main" val="120251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6A5762A-9394-B742-BD31-01CB61AB837A}"/>
              </a:ext>
            </a:extLst>
          </p:cNvPr>
          <p:cNvSpPr>
            <a:spLocks noGrp="1"/>
          </p:cNvSpPr>
          <p:nvPr>
            <p:ph type="sldNum" sz="quarter" idx="12"/>
          </p:nvPr>
        </p:nvSpPr>
        <p:spPr/>
        <p:txBody>
          <a:bodyPr/>
          <a:lstStyle/>
          <a:p>
            <a:fld id="{591A223C-FA10-BC46-A853-03BA373D023C}" type="slidenum">
              <a:rPr lang="en-US" smtClean="0"/>
              <a:t>23</a:t>
            </a:fld>
            <a:endParaRPr lang="en-US"/>
          </a:p>
        </p:txBody>
      </p:sp>
      <p:sp>
        <p:nvSpPr>
          <p:cNvPr id="6" name="Title 5">
            <a:extLst>
              <a:ext uri="{FF2B5EF4-FFF2-40B4-BE49-F238E27FC236}">
                <a16:creationId xmlns:a16="http://schemas.microsoft.com/office/drawing/2014/main" id="{E034100A-FE4B-604A-ACEB-5B493B808C7E}"/>
              </a:ext>
            </a:extLst>
          </p:cNvPr>
          <p:cNvSpPr>
            <a:spLocks noGrp="1"/>
          </p:cNvSpPr>
          <p:nvPr>
            <p:ph type="title"/>
          </p:nvPr>
        </p:nvSpPr>
        <p:spPr/>
        <p:txBody>
          <a:bodyPr/>
          <a:lstStyle/>
          <a:p>
            <a:r>
              <a:rPr lang="en-ZA" dirty="0"/>
              <a:t>Geometric Interpretation of Grover’s Algorithm (2)</a:t>
            </a:r>
            <a:endParaRPr lang="en-US" dirty="0"/>
          </a:p>
        </p:txBody>
      </p:sp>
      <p:sp>
        <p:nvSpPr>
          <p:cNvPr id="4" name="Rectangle 3">
            <a:extLst>
              <a:ext uri="{FF2B5EF4-FFF2-40B4-BE49-F238E27FC236}">
                <a16:creationId xmlns:a16="http://schemas.microsoft.com/office/drawing/2014/main" id="{69D3401F-0B7E-B546-A25A-CCFE8F582030}"/>
              </a:ext>
            </a:extLst>
          </p:cNvPr>
          <p:cNvSpPr/>
          <p:nvPr/>
        </p:nvSpPr>
        <p:spPr>
          <a:xfrm>
            <a:off x="7353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9BC96FF4-FFF7-0E41-973A-37E96B2429D6}"/>
              </a:ext>
            </a:extLst>
          </p:cNvPr>
          <p:cNvSpPr/>
          <p:nvPr/>
        </p:nvSpPr>
        <p:spPr>
          <a:xfrm>
            <a:off x="7605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FF7B9571-E1BD-5C45-B011-A684CB77B0C2}"/>
              </a:ext>
            </a:extLst>
          </p:cNvPr>
          <p:cNvSpPr/>
          <p:nvPr/>
        </p:nvSpPr>
        <p:spPr>
          <a:xfrm>
            <a:off x="7857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4F57839A-766D-EF47-9675-A489687C8C24}"/>
              </a:ext>
            </a:extLst>
          </p:cNvPr>
          <p:cNvSpPr/>
          <p:nvPr/>
        </p:nvSpPr>
        <p:spPr>
          <a:xfrm>
            <a:off x="8109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0A568D61-A4E5-394C-89F2-F6399FC99321}"/>
              </a:ext>
            </a:extLst>
          </p:cNvPr>
          <p:cNvSpPr/>
          <p:nvPr/>
        </p:nvSpPr>
        <p:spPr>
          <a:xfrm>
            <a:off x="8361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5E25E4F9-383A-9048-BD17-3CE68EA1EF35}"/>
              </a:ext>
            </a:extLst>
          </p:cNvPr>
          <p:cNvSpPr/>
          <p:nvPr/>
        </p:nvSpPr>
        <p:spPr>
          <a:xfrm>
            <a:off x="8614222" y="3948665"/>
            <a:ext cx="252000" cy="1440000"/>
          </a:xfrm>
          <a:prstGeom prst="rect">
            <a:avLst/>
          </a:prstGeom>
          <a:solidFill>
            <a:srgbClr val="FF000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1EC9E388-AB14-8D4E-8BA1-4484A96B4718}"/>
              </a:ext>
            </a:extLst>
          </p:cNvPr>
          <p:cNvSpPr/>
          <p:nvPr/>
        </p:nvSpPr>
        <p:spPr>
          <a:xfrm>
            <a:off x="8865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66C78C75-FD2B-5547-AD58-1366985EA1D8}"/>
              </a:ext>
            </a:extLst>
          </p:cNvPr>
          <p:cNvSpPr/>
          <p:nvPr/>
        </p:nvSpPr>
        <p:spPr>
          <a:xfrm>
            <a:off x="9117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1E050A00-BF22-184A-AB4F-69C28853EBC8}"/>
              </a:ext>
            </a:extLst>
          </p:cNvPr>
          <p:cNvSpPr/>
          <p:nvPr/>
        </p:nvSpPr>
        <p:spPr>
          <a:xfrm>
            <a:off x="9369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4B188437-2B95-844B-A396-C17395DC878B}"/>
              </a:ext>
            </a:extLst>
          </p:cNvPr>
          <p:cNvSpPr/>
          <p:nvPr/>
        </p:nvSpPr>
        <p:spPr>
          <a:xfrm>
            <a:off x="9621484" y="2507622"/>
            <a:ext cx="252000" cy="144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Arrow Connector 70">
            <a:extLst>
              <a:ext uri="{FF2B5EF4-FFF2-40B4-BE49-F238E27FC236}">
                <a16:creationId xmlns:a16="http://schemas.microsoft.com/office/drawing/2014/main" id="{AB3455A2-5AF7-6645-84FB-92B72C37A6D1}"/>
              </a:ext>
            </a:extLst>
          </p:cNvPr>
          <p:cNvCxnSpPr>
            <a:cxnSpLocks/>
          </p:cNvCxnSpPr>
          <p:nvPr/>
        </p:nvCxnSpPr>
        <p:spPr>
          <a:xfrm>
            <a:off x="7353483" y="3943304"/>
            <a:ext cx="2880000" cy="2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5D46528-C38F-C04E-9E65-260D0EF301F4}"/>
              </a:ext>
            </a:extLst>
          </p:cNvPr>
          <p:cNvCxnSpPr>
            <a:cxnSpLocks/>
          </p:cNvCxnSpPr>
          <p:nvPr/>
        </p:nvCxnSpPr>
        <p:spPr>
          <a:xfrm rot="16200000">
            <a:off x="6273955" y="2862062"/>
            <a:ext cx="216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B62A127B-B89D-714D-A611-4E8000F66157}"/>
                  </a:ext>
                </a:extLst>
              </p:cNvPr>
              <p:cNvSpPr/>
              <p:nvPr/>
            </p:nvSpPr>
            <p:spPr>
              <a:xfrm>
                <a:off x="8512354" y="3986708"/>
                <a:ext cx="523477"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200" i="1" smtClean="0">
                              <a:solidFill>
                                <a:schemeClr val="bg1"/>
                              </a:solidFill>
                              <a:latin typeface="Cambria Math" panose="02040503050406030204" pitchFamily="18" charset="0"/>
                            </a:rPr>
                          </m:ctrlPr>
                        </m:sSupPr>
                        <m:e>
                          <m:r>
                            <a:rPr lang="en-US" sz="2200" i="1">
                              <a:solidFill>
                                <a:schemeClr val="bg1"/>
                              </a:solidFill>
                              <a:latin typeface="Cambria Math" panose="02040503050406030204" pitchFamily="18" charset="0"/>
                            </a:rPr>
                            <m:t>𝑥</m:t>
                          </m:r>
                        </m:e>
                        <m:sup>
                          <m:r>
                            <a:rPr lang="en-US" sz="2200" i="1">
                              <a:solidFill>
                                <a:schemeClr val="bg1"/>
                              </a:solidFill>
                              <a:latin typeface="Cambria Math" panose="02040503050406030204" pitchFamily="18" charset="0"/>
                            </a:rPr>
                            <m:t>𝑡</m:t>
                          </m:r>
                        </m:sup>
                      </m:sSup>
                    </m:oMath>
                  </m:oMathPara>
                </a14:m>
                <a:endParaRPr lang="en-US" sz="2200" dirty="0"/>
              </a:p>
            </p:txBody>
          </p:sp>
        </mc:Choice>
        <mc:Fallback xmlns="">
          <p:sp>
            <p:nvSpPr>
              <p:cNvPr id="77" name="Rectangle 76">
                <a:extLst>
                  <a:ext uri="{FF2B5EF4-FFF2-40B4-BE49-F238E27FC236}">
                    <a16:creationId xmlns:a16="http://schemas.microsoft.com/office/drawing/2014/main" id="{B62A127B-B89D-714D-A611-4E8000F66157}"/>
                  </a:ext>
                </a:extLst>
              </p:cNvPr>
              <p:cNvSpPr>
                <a:spLocks noRot="1" noChangeAspect="1" noMove="1" noResize="1" noEditPoints="1" noAdjustHandles="1" noChangeArrowheads="1" noChangeShapeType="1" noTextEdit="1"/>
              </p:cNvSpPr>
              <p:nvPr/>
            </p:nvSpPr>
            <p:spPr>
              <a:xfrm>
                <a:off x="8512354" y="3986708"/>
                <a:ext cx="523477"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74244054-578D-B649-A38F-664EC32D4494}"/>
                  </a:ext>
                </a:extLst>
              </p:cNvPr>
              <p:cNvSpPr/>
              <p:nvPr/>
            </p:nvSpPr>
            <p:spPr>
              <a:xfrm>
                <a:off x="7186941" y="3986708"/>
                <a:ext cx="404277"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0</m:t>
                      </m:r>
                    </m:oMath>
                  </m:oMathPara>
                </a14:m>
                <a:endParaRPr lang="en-US" sz="2200" dirty="0"/>
              </a:p>
            </p:txBody>
          </p:sp>
        </mc:Choice>
        <mc:Fallback xmlns="">
          <p:sp>
            <p:nvSpPr>
              <p:cNvPr id="78" name="Rectangle 77">
                <a:extLst>
                  <a:ext uri="{FF2B5EF4-FFF2-40B4-BE49-F238E27FC236}">
                    <a16:creationId xmlns:a16="http://schemas.microsoft.com/office/drawing/2014/main" id="{74244054-578D-B649-A38F-664EC32D4494}"/>
                  </a:ext>
                </a:extLst>
              </p:cNvPr>
              <p:cNvSpPr>
                <a:spLocks noRot="1" noChangeAspect="1" noMove="1" noResize="1" noEditPoints="1" noAdjustHandles="1" noChangeArrowheads="1" noChangeShapeType="1" noTextEdit="1"/>
              </p:cNvSpPr>
              <p:nvPr/>
            </p:nvSpPr>
            <p:spPr>
              <a:xfrm>
                <a:off x="7186941" y="3986708"/>
                <a:ext cx="404277" cy="4308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C27DC3CB-C3CA-3E42-A0EE-AC959E448B22}"/>
                  </a:ext>
                </a:extLst>
              </p:cNvPr>
              <p:cNvSpPr/>
              <p:nvPr/>
            </p:nvSpPr>
            <p:spPr>
              <a:xfrm>
                <a:off x="9565039" y="3986708"/>
                <a:ext cx="462434"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𝑁</m:t>
                      </m:r>
                    </m:oMath>
                  </m:oMathPara>
                </a14:m>
                <a:endParaRPr lang="en-US" sz="2200" dirty="0"/>
              </a:p>
            </p:txBody>
          </p:sp>
        </mc:Choice>
        <mc:Fallback xmlns="">
          <p:sp>
            <p:nvSpPr>
              <p:cNvPr id="79" name="Rectangle 78">
                <a:extLst>
                  <a:ext uri="{FF2B5EF4-FFF2-40B4-BE49-F238E27FC236}">
                    <a16:creationId xmlns:a16="http://schemas.microsoft.com/office/drawing/2014/main" id="{C27DC3CB-C3CA-3E42-A0EE-AC959E448B22}"/>
                  </a:ext>
                </a:extLst>
              </p:cNvPr>
              <p:cNvSpPr>
                <a:spLocks noRot="1" noChangeAspect="1" noMove="1" noResize="1" noEditPoints="1" noAdjustHandles="1" noChangeArrowheads="1" noChangeShapeType="1" noTextEdit="1"/>
              </p:cNvSpPr>
              <p:nvPr/>
            </p:nvSpPr>
            <p:spPr>
              <a:xfrm>
                <a:off x="9565039" y="3986708"/>
                <a:ext cx="462434"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2694E8F0-4D69-894D-99D7-3B47E4C88121}"/>
                  </a:ext>
                </a:extLst>
              </p:cNvPr>
              <p:cNvSpPr/>
              <p:nvPr/>
            </p:nvSpPr>
            <p:spPr>
              <a:xfrm>
                <a:off x="6650525" y="2111744"/>
                <a:ext cx="647741" cy="7917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1</m:t>
                          </m:r>
                        </m:num>
                        <m:den>
                          <m:rad>
                            <m:radPr>
                              <m:degHide m:val="on"/>
                              <m:ctrlPr>
                                <a:rPr lang="en-US" sz="2200" i="1" smtClean="0">
                                  <a:latin typeface="Cambria Math" panose="02040503050406030204" pitchFamily="18" charset="0"/>
                                  <a:ea typeface="Cambria Math" panose="02040503050406030204" pitchFamily="18" charset="0"/>
                                </a:rPr>
                              </m:ctrlPr>
                            </m:radPr>
                            <m:deg/>
                            <m:e>
                              <m:r>
                                <a:rPr lang="en-US" sz="2200" b="0" i="1" smtClean="0">
                                  <a:latin typeface="Cambria Math" panose="02040503050406030204" pitchFamily="18" charset="0"/>
                                  <a:ea typeface="Cambria Math" panose="02040503050406030204" pitchFamily="18" charset="0"/>
                                </a:rPr>
                                <m:t>𝑁</m:t>
                              </m:r>
                            </m:e>
                          </m:rad>
                        </m:den>
                      </m:f>
                    </m:oMath>
                  </m:oMathPara>
                </a14:m>
                <a:endParaRPr lang="en-US" sz="2200" dirty="0"/>
              </a:p>
            </p:txBody>
          </p:sp>
        </mc:Choice>
        <mc:Fallback xmlns="">
          <p:sp>
            <p:nvSpPr>
              <p:cNvPr id="81" name="Rectangle 80">
                <a:extLst>
                  <a:ext uri="{FF2B5EF4-FFF2-40B4-BE49-F238E27FC236}">
                    <a16:creationId xmlns:a16="http://schemas.microsoft.com/office/drawing/2014/main" id="{2694E8F0-4D69-894D-99D7-3B47E4C88121}"/>
                  </a:ext>
                </a:extLst>
              </p:cNvPr>
              <p:cNvSpPr>
                <a:spLocks noRot="1" noChangeAspect="1" noMove="1" noResize="1" noEditPoints="1" noAdjustHandles="1" noChangeArrowheads="1" noChangeShapeType="1" noTextEdit="1"/>
              </p:cNvSpPr>
              <p:nvPr/>
            </p:nvSpPr>
            <p:spPr>
              <a:xfrm>
                <a:off x="6650525" y="2111744"/>
                <a:ext cx="647741" cy="791755"/>
              </a:xfrm>
              <a:prstGeom prst="rect">
                <a:avLst/>
              </a:prstGeom>
              <a:blipFill>
                <a:blip r:embed="rId6"/>
                <a:stretch>
                  <a:fillRect b="-1563"/>
                </a:stretch>
              </a:blipFill>
            </p:spPr>
            <p:txBody>
              <a:bodyPr/>
              <a:lstStyle/>
              <a:p>
                <a:r>
                  <a:rPr lang="en-US">
                    <a:noFill/>
                  </a:rPr>
                  <a:t> </a:t>
                </a:r>
              </a:p>
            </p:txBody>
          </p:sp>
        </mc:Fallback>
      </mc:AlternateContent>
      <p:cxnSp>
        <p:nvCxnSpPr>
          <p:cNvPr id="84" name="Straight Connector 83">
            <a:extLst>
              <a:ext uri="{FF2B5EF4-FFF2-40B4-BE49-F238E27FC236}">
                <a16:creationId xmlns:a16="http://schemas.microsoft.com/office/drawing/2014/main" id="{157CA1DB-0FA6-D849-8FC1-52241513BEC9}"/>
              </a:ext>
            </a:extLst>
          </p:cNvPr>
          <p:cNvCxnSpPr>
            <a:cxnSpLocks/>
          </p:cNvCxnSpPr>
          <p:nvPr/>
        </p:nvCxnSpPr>
        <p:spPr>
          <a:xfrm flipH="1">
            <a:off x="1296813" y="3174915"/>
            <a:ext cx="2366599"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43D38868-89DC-0748-8628-22146E46BB8D}"/>
                  </a:ext>
                </a:extLst>
              </p:cNvPr>
              <p:cNvSpPr/>
              <p:nvPr/>
            </p:nvSpPr>
            <p:spPr>
              <a:xfrm>
                <a:off x="788050" y="2901796"/>
                <a:ext cx="563103" cy="6646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ad>
                            <m:radPr>
                              <m:degHide m:val="on"/>
                              <m:ctrlPr>
                                <a:rPr lang="en-US"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𝑁</m:t>
                              </m:r>
                            </m:e>
                          </m:rad>
                        </m:den>
                      </m:f>
                    </m:oMath>
                  </m:oMathPara>
                </a14:m>
                <a:endParaRPr lang="en-US" dirty="0"/>
              </a:p>
            </p:txBody>
          </p:sp>
        </mc:Choice>
        <mc:Fallback xmlns="">
          <p:sp>
            <p:nvSpPr>
              <p:cNvPr id="85" name="Rectangle 84">
                <a:extLst>
                  <a:ext uri="{FF2B5EF4-FFF2-40B4-BE49-F238E27FC236}">
                    <a16:creationId xmlns:a16="http://schemas.microsoft.com/office/drawing/2014/main" id="{43D38868-89DC-0748-8628-22146E46BB8D}"/>
                  </a:ext>
                </a:extLst>
              </p:cNvPr>
              <p:cNvSpPr>
                <a:spLocks noRot="1" noChangeAspect="1" noMove="1" noResize="1" noEditPoints="1" noAdjustHandles="1" noChangeArrowheads="1" noChangeShapeType="1" noTextEdit="1"/>
              </p:cNvSpPr>
              <p:nvPr/>
            </p:nvSpPr>
            <p:spPr>
              <a:xfrm>
                <a:off x="788050" y="2901796"/>
                <a:ext cx="563103" cy="664606"/>
              </a:xfrm>
              <a:prstGeom prst="rect">
                <a:avLst/>
              </a:prstGeom>
              <a:blipFill>
                <a:blip r:embed="rId7"/>
                <a:stretch>
                  <a:fillRect/>
                </a:stretch>
              </a:blipFill>
            </p:spPr>
            <p:txBody>
              <a:bodyPr/>
              <a:lstStyle/>
              <a:p>
                <a:r>
                  <a:rPr lang="en-US">
                    <a:noFill/>
                  </a:rPr>
                  <a:t> </a:t>
                </a:r>
              </a:p>
            </p:txBody>
          </p:sp>
        </mc:Fallback>
      </mc:AlternateContent>
      <p:sp>
        <p:nvSpPr>
          <p:cNvPr id="43" name="Arc 42">
            <a:extLst>
              <a:ext uri="{FF2B5EF4-FFF2-40B4-BE49-F238E27FC236}">
                <a16:creationId xmlns:a16="http://schemas.microsoft.com/office/drawing/2014/main" id="{DE57B77D-D199-5F4C-9171-E8CE5924F889}"/>
              </a:ext>
            </a:extLst>
          </p:cNvPr>
          <p:cNvSpPr/>
          <p:nvPr/>
        </p:nvSpPr>
        <p:spPr>
          <a:xfrm rot="21316755">
            <a:off x="-1219288" y="1503149"/>
            <a:ext cx="5040000" cy="5040000"/>
          </a:xfrm>
          <a:prstGeom prst="arc">
            <a:avLst>
              <a:gd name="adj1" fmla="val 16200000"/>
              <a:gd name="adj2" fmla="val 1571981"/>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BE4AF929-9FE7-AA46-820B-B78C5D15EB20}"/>
              </a:ext>
            </a:extLst>
          </p:cNvPr>
          <p:cNvCxnSpPr>
            <a:cxnSpLocks/>
          </p:cNvCxnSpPr>
          <p:nvPr/>
        </p:nvCxnSpPr>
        <p:spPr>
          <a:xfrm flipV="1">
            <a:off x="1300711" y="1503150"/>
            <a:ext cx="0" cy="2520000"/>
          </a:xfrm>
          <a:prstGeom prst="straightConnector1">
            <a:avLst/>
          </a:prstGeom>
          <a:ln w="12700">
            <a:solidFill>
              <a:schemeClr val="tx1">
                <a:lumMod val="50000"/>
                <a:lumOff val="50000"/>
              </a:schemeClr>
            </a:solidFill>
            <a:round/>
            <a:tailEnd type="triangle" w="lg" len="lg"/>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BF95507-423D-3B49-BE06-7685379728D3}"/>
              </a:ext>
            </a:extLst>
          </p:cNvPr>
          <p:cNvCxnSpPr>
            <a:cxnSpLocks/>
          </p:cNvCxnSpPr>
          <p:nvPr/>
        </p:nvCxnSpPr>
        <p:spPr>
          <a:xfrm rot="5400000" flipV="1">
            <a:off x="2560711" y="2763150"/>
            <a:ext cx="0" cy="2520000"/>
          </a:xfrm>
          <a:prstGeom prst="straightConnector1">
            <a:avLst/>
          </a:prstGeom>
          <a:ln w="12700">
            <a:solidFill>
              <a:schemeClr val="tx1">
                <a:lumMod val="50000"/>
                <a:lumOff val="50000"/>
              </a:schemeClr>
            </a:solidFill>
            <a:round/>
            <a:tailEnd type="triangle" w="lg" len="lg"/>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D23A18E-7666-704C-8597-A6E0CA9531F9}"/>
              </a:ext>
            </a:extLst>
          </p:cNvPr>
          <p:cNvCxnSpPr>
            <a:cxnSpLocks/>
          </p:cNvCxnSpPr>
          <p:nvPr/>
        </p:nvCxnSpPr>
        <p:spPr>
          <a:xfrm flipV="1">
            <a:off x="1300710" y="3218624"/>
            <a:ext cx="2368962" cy="804526"/>
          </a:xfrm>
          <a:prstGeom prst="straightConnector1">
            <a:avLst/>
          </a:prstGeom>
          <a:ln w="15875">
            <a:solidFill>
              <a:schemeClr val="bg1">
                <a:lumMod val="6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8CBDF6F0-6D4C-0948-B3EA-EDCBF2ACEFC0}"/>
                  </a:ext>
                </a:extLst>
              </p:cNvPr>
              <p:cNvSpPr/>
              <p:nvPr/>
            </p:nvSpPr>
            <p:spPr>
              <a:xfrm>
                <a:off x="1938904" y="3676909"/>
                <a:ext cx="39414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𝜃</m:t>
                      </m:r>
                    </m:oMath>
                  </m:oMathPara>
                </a14:m>
                <a:endParaRPr lang="en-US" sz="2000" dirty="0"/>
              </a:p>
            </p:txBody>
          </p:sp>
        </mc:Choice>
        <mc:Fallback xmlns="">
          <p:sp>
            <p:nvSpPr>
              <p:cNvPr id="49" name="Rectangle 48">
                <a:extLst>
                  <a:ext uri="{FF2B5EF4-FFF2-40B4-BE49-F238E27FC236}">
                    <a16:creationId xmlns:a16="http://schemas.microsoft.com/office/drawing/2014/main" id="{8CBDF6F0-6D4C-0948-B3EA-EDCBF2ACEFC0}"/>
                  </a:ext>
                </a:extLst>
              </p:cNvPr>
              <p:cNvSpPr>
                <a:spLocks noRot="1" noChangeAspect="1" noMove="1" noResize="1" noEditPoints="1" noAdjustHandles="1" noChangeArrowheads="1" noChangeShapeType="1" noTextEdit="1"/>
              </p:cNvSpPr>
              <p:nvPr/>
            </p:nvSpPr>
            <p:spPr>
              <a:xfrm>
                <a:off x="1938904" y="3676909"/>
                <a:ext cx="394146" cy="40011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CACA463F-F527-3942-853E-F7DF1CCFC2A1}"/>
                  </a:ext>
                </a:extLst>
              </p:cNvPr>
              <p:cNvSpPr/>
              <p:nvPr/>
            </p:nvSpPr>
            <p:spPr>
              <a:xfrm>
                <a:off x="3820711" y="3838483"/>
                <a:ext cx="55976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𝑥</m:t>
                          </m:r>
                        </m:e>
                      </m:d>
                    </m:oMath>
                  </m:oMathPara>
                </a14:m>
                <a:endParaRPr lang="en-US" sz="2000" dirty="0"/>
              </a:p>
            </p:txBody>
          </p:sp>
        </mc:Choice>
        <mc:Fallback xmlns="">
          <p:sp>
            <p:nvSpPr>
              <p:cNvPr id="52" name="Rectangle 51">
                <a:extLst>
                  <a:ext uri="{FF2B5EF4-FFF2-40B4-BE49-F238E27FC236}">
                    <a16:creationId xmlns:a16="http://schemas.microsoft.com/office/drawing/2014/main" id="{CACA463F-F527-3942-853E-F7DF1CCFC2A1}"/>
                  </a:ext>
                </a:extLst>
              </p:cNvPr>
              <p:cNvSpPr>
                <a:spLocks noRot="1" noChangeAspect="1" noMove="1" noResize="1" noEditPoints="1" noAdjustHandles="1" noChangeArrowheads="1" noChangeShapeType="1" noTextEdit="1"/>
              </p:cNvSpPr>
              <p:nvPr/>
            </p:nvSpPr>
            <p:spPr>
              <a:xfrm>
                <a:off x="3820711" y="3838483"/>
                <a:ext cx="559769" cy="40011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C7E89887-8E56-114A-B281-6FD55CBC2CFB}"/>
                  </a:ext>
                </a:extLst>
              </p:cNvPr>
              <p:cNvSpPr/>
              <p:nvPr/>
            </p:nvSpPr>
            <p:spPr>
              <a:xfrm>
                <a:off x="831417" y="1076268"/>
                <a:ext cx="66646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sup>
                          </m:sSup>
                        </m:e>
                      </m:d>
                    </m:oMath>
                  </m:oMathPara>
                </a14:m>
                <a:endParaRPr lang="en-US" sz="2000" dirty="0"/>
              </a:p>
            </p:txBody>
          </p:sp>
        </mc:Choice>
        <mc:Fallback xmlns="">
          <p:sp>
            <p:nvSpPr>
              <p:cNvPr id="53" name="Rectangle 52">
                <a:extLst>
                  <a:ext uri="{FF2B5EF4-FFF2-40B4-BE49-F238E27FC236}">
                    <a16:creationId xmlns:a16="http://schemas.microsoft.com/office/drawing/2014/main" id="{C7E89887-8E56-114A-B281-6FD55CBC2CFB}"/>
                  </a:ext>
                </a:extLst>
              </p:cNvPr>
              <p:cNvSpPr>
                <a:spLocks noRot="1" noChangeAspect="1" noMove="1" noResize="1" noEditPoints="1" noAdjustHandles="1" noChangeArrowheads="1" noChangeShapeType="1" noTextEdit="1"/>
              </p:cNvSpPr>
              <p:nvPr/>
            </p:nvSpPr>
            <p:spPr>
              <a:xfrm>
                <a:off x="831417" y="1076268"/>
                <a:ext cx="666464" cy="40011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2642505A-CF6B-234A-81AB-6248A0852FD2}"/>
                  </a:ext>
                </a:extLst>
              </p:cNvPr>
              <p:cNvSpPr/>
              <p:nvPr/>
            </p:nvSpPr>
            <p:spPr>
              <a:xfrm>
                <a:off x="3616004" y="2903624"/>
                <a:ext cx="66037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𝑆</m:t>
                              </m:r>
                            </m:e>
                            <m:sub>
                              <m:r>
                                <a:rPr lang="en-US" sz="2000" b="0" i="1" smtClean="0">
                                  <a:solidFill>
                                    <a:schemeClr val="tx1"/>
                                  </a:solidFill>
                                  <a:latin typeface="Cambria Math" panose="02040503050406030204" pitchFamily="18" charset="0"/>
                                </a:rPr>
                                <m:t>0</m:t>
                              </m:r>
                            </m:sub>
                          </m:sSub>
                        </m:e>
                      </m:d>
                    </m:oMath>
                  </m:oMathPara>
                </a14:m>
                <a:endParaRPr lang="en-US" sz="2000" dirty="0">
                  <a:solidFill>
                    <a:schemeClr val="tx1"/>
                  </a:solidFill>
                </a:endParaRPr>
              </a:p>
            </p:txBody>
          </p:sp>
        </mc:Choice>
        <mc:Fallback xmlns="">
          <p:sp>
            <p:nvSpPr>
              <p:cNvPr id="54" name="Rectangle 53">
                <a:extLst>
                  <a:ext uri="{FF2B5EF4-FFF2-40B4-BE49-F238E27FC236}">
                    <a16:creationId xmlns:a16="http://schemas.microsoft.com/office/drawing/2014/main" id="{2642505A-CF6B-234A-81AB-6248A0852FD2}"/>
                  </a:ext>
                </a:extLst>
              </p:cNvPr>
              <p:cNvSpPr>
                <a:spLocks noRot="1" noChangeAspect="1" noMove="1" noResize="1" noEditPoints="1" noAdjustHandles="1" noChangeArrowheads="1" noChangeShapeType="1" noTextEdit="1"/>
              </p:cNvSpPr>
              <p:nvPr/>
            </p:nvSpPr>
            <p:spPr>
              <a:xfrm>
                <a:off x="3616004" y="2903624"/>
                <a:ext cx="660373" cy="400110"/>
              </a:xfrm>
              <a:prstGeom prst="rect">
                <a:avLst/>
              </a:prstGeom>
              <a:blipFill>
                <a:blip r:embed="rId11"/>
                <a:stretch>
                  <a:fillRect/>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13FB3545-D153-1A40-B189-916F7CE691EC}"/>
              </a:ext>
            </a:extLst>
          </p:cNvPr>
          <p:cNvCxnSpPr>
            <a:cxnSpLocks/>
          </p:cNvCxnSpPr>
          <p:nvPr/>
        </p:nvCxnSpPr>
        <p:spPr>
          <a:xfrm>
            <a:off x="1308151" y="4023149"/>
            <a:ext cx="2368962" cy="804526"/>
          </a:xfrm>
          <a:prstGeom prst="straightConnector1">
            <a:avLst/>
          </a:prstGeom>
          <a:ln w="158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4914DFC4-D98D-5A4E-BFBA-FCF49A0A0995}"/>
                  </a:ext>
                </a:extLst>
              </p:cNvPr>
              <p:cNvSpPr/>
              <p:nvPr/>
            </p:nvSpPr>
            <p:spPr>
              <a:xfrm>
                <a:off x="1937044" y="3960268"/>
                <a:ext cx="39414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𝜃</m:t>
                      </m:r>
                    </m:oMath>
                  </m:oMathPara>
                </a14:m>
                <a:endParaRPr lang="en-US" sz="2000" dirty="0"/>
              </a:p>
            </p:txBody>
          </p:sp>
        </mc:Choice>
        <mc:Fallback xmlns="">
          <p:sp>
            <p:nvSpPr>
              <p:cNvPr id="38" name="Rectangle 37">
                <a:extLst>
                  <a:ext uri="{FF2B5EF4-FFF2-40B4-BE49-F238E27FC236}">
                    <a16:creationId xmlns:a16="http://schemas.microsoft.com/office/drawing/2014/main" id="{4914DFC4-D98D-5A4E-BFBA-FCF49A0A0995}"/>
                  </a:ext>
                </a:extLst>
              </p:cNvPr>
              <p:cNvSpPr>
                <a:spLocks noRot="1" noChangeAspect="1" noMove="1" noResize="1" noEditPoints="1" noAdjustHandles="1" noChangeArrowheads="1" noChangeShapeType="1" noTextEdit="1"/>
              </p:cNvSpPr>
              <p:nvPr/>
            </p:nvSpPr>
            <p:spPr>
              <a:xfrm>
                <a:off x="1937044" y="3960268"/>
                <a:ext cx="394146" cy="400110"/>
              </a:xfrm>
              <a:prstGeom prst="rect">
                <a:avLst/>
              </a:prstGeom>
              <a:blipFill>
                <a:blip r:embed="rId12"/>
                <a:stretch>
                  <a:fillRect/>
                </a:stretch>
              </a:blipFill>
            </p:spPr>
            <p:txBody>
              <a:bodyPr/>
              <a:lstStyle/>
              <a:p>
                <a:r>
                  <a:rPr lang="en-US">
                    <a:noFill/>
                  </a:rPr>
                  <a:t> </a:t>
                </a:r>
              </a:p>
            </p:txBody>
          </p:sp>
        </mc:Fallback>
      </mc:AlternateContent>
      <p:sp>
        <p:nvSpPr>
          <p:cNvPr id="37" name="Arc 36">
            <a:extLst>
              <a:ext uri="{FF2B5EF4-FFF2-40B4-BE49-F238E27FC236}">
                <a16:creationId xmlns:a16="http://schemas.microsoft.com/office/drawing/2014/main" id="{8FCE6303-97C3-094F-B5D6-D59710FE46A2}"/>
              </a:ext>
            </a:extLst>
          </p:cNvPr>
          <p:cNvSpPr/>
          <p:nvPr/>
        </p:nvSpPr>
        <p:spPr>
          <a:xfrm rot="283245" flipV="1">
            <a:off x="-606993" y="2398330"/>
            <a:ext cx="3166002" cy="3458022"/>
          </a:xfrm>
          <a:prstGeom prst="arc">
            <a:avLst>
              <a:gd name="adj1" fmla="val 21233025"/>
              <a:gd name="adj2" fmla="val 1376168"/>
            </a:avLst>
          </a:prstGeom>
          <a:ln w="12700">
            <a:solidFill>
              <a:schemeClr val="bg1">
                <a:lumMod val="50000"/>
              </a:schemeClr>
            </a:solidFill>
            <a:prstDash val="dash"/>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76AFEC00-1B19-2048-B7A7-30E70C573126}"/>
                  </a:ext>
                </a:extLst>
              </p:cNvPr>
              <p:cNvSpPr/>
              <p:nvPr/>
            </p:nvSpPr>
            <p:spPr>
              <a:xfrm>
                <a:off x="3689371" y="4644908"/>
                <a:ext cx="65441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𝑆</m:t>
                              </m:r>
                            </m:e>
                            <m:sub>
                              <m:r>
                                <a:rPr lang="en-US" sz="2000" b="0" i="1" smtClean="0">
                                  <a:solidFill>
                                    <a:schemeClr val="tx1"/>
                                  </a:solidFill>
                                  <a:latin typeface="Cambria Math" panose="02040503050406030204" pitchFamily="18" charset="0"/>
                                </a:rPr>
                                <m:t>1</m:t>
                              </m:r>
                            </m:sub>
                          </m:sSub>
                        </m:e>
                      </m:d>
                    </m:oMath>
                  </m:oMathPara>
                </a14:m>
                <a:endParaRPr lang="en-US" sz="2000" dirty="0">
                  <a:solidFill>
                    <a:schemeClr val="tx1"/>
                  </a:solidFill>
                </a:endParaRPr>
              </a:p>
            </p:txBody>
          </p:sp>
        </mc:Choice>
        <mc:Fallback xmlns="">
          <p:sp>
            <p:nvSpPr>
              <p:cNvPr id="40" name="Rectangle 39">
                <a:extLst>
                  <a:ext uri="{FF2B5EF4-FFF2-40B4-BE49-F238E27FC236}">
                    <a16:creationId xmlns:a16="http://schemas.microsoft.com/office/drawing/2014/main" id="{76AFEC00-1B19-2048-B7A7-30E70C573126}"/>
                  </a:ext>
                </a:extLst>
              </p:cNvPr>
              <p:cNvSpPr>
                <a:spLocks noRot="1" noChangeAspect="1" noMove="1" noResize="1" noEditPoints="1" noAdjustHandles="1" noChangeArrowheads="1" noChangeShapeType="1" noTextEdit="1"/>
              </p:cNvSpPr>
              <p:nvPr/>
            </p:nvSpPr>
            <p:spPr>
              <a:xfrm>
                <a:off x="3689371" y="4644908"/>
                <a:ext cx="654410" cy="400110"/>
              </a:xfrm>
              <a:prstGeom prst="rect">
                <a:avLst/>
              </a:prstGeom>
              <a:blipFill>
                <a:blip r:embed="rId13"/>
                <a:stretch>
                  <a:fillRect/>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653B2593-9FEB-1C43-B042-11210F98DBD6}"/>
              </a:ext>
            </a:extLst>
          </p:cNvPr>
          <p:cNvCxnSpPr>
            <a:cxnSpLocks/>
          </p:cNvCxnSpPr>
          <p:nvPr/>
        </p:nvCxnSpPr>
        <p:spPr>
          <a:xfrm>
            <a:off x="7353483" y="2707574"/>
            <a:ext cx="2880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4E7E099-F339-D143-B589-4154E7B3AC73}"/>
              </a:ext>
            </a:extLst>
          </p:cNvPr>
          <p:cNvSpPr txBox="1"/>
          <p:nvPr/>
        </p:nvSpPr>
        <p:spPr>
          <a:xfrm>
            <a:off x="10248405" y="2470068"/>
            <a:ext cx="369012" cy="369332"/>
          </a:xfrm>
          <a:prstGeom prst="rect">
            <a:avLst/>
          </a:prstGeom>
          <a:noFill/>
        </p:spPr>
        <p:txBody>
          <a:bodyPr wrap="none" rtlCol="0">
            <a:spAutoFit/>
          </a:bodyPr>
          <a:lstStyle/>
          <a:p>
            <a:r>
              <a:rPr lang="en-US" i="1" dirty="0"/>
              <a:t>m</a:t>
            </a:r>
          </a:p>
        </p:txBody>
      </p:sp>
      <p:sp>
        <p:nvSpPr>
          <p:cNvPr id="39" name="TextBox 38">
            <a:extLst>
              <a:ext uri="{FF2B5EF4-FFF2-40B4-BE49-F238E27FC236}">
                <a16:creationId xmlns:a16="http://schemas.microsoft.com/office/drawing/2014/main" id="{5DCCB8B5-892B-EB43-A0FF-D322FA9E012C}"/>
              </a:ext>
            </a:extLst>
          </p:cNvPr>
          <p:cNvSpPr txBox="1"/>
          <p:nvPr/>
        </p:nvSpPr>
        <p:spPr>
          <a:xfrm>
            <a:off x="10042355" y="3940540"/>
            <a:ext cx="792909" cy="430887"/>
          </a:xfrm>
          <a:prstGeom prst="rect">
            <a:avLst/>
          </a:prstGeom>
          <a:noFill/>
        </p:spPr>
        <p:txBody>
          <a:bodyPr wrap="none" rtlCol="0">
            <a:spAutoFit/>
          </a:bodyPr>
          <a:lstStyle/>
          <a:p>
            <a:r>
              <a:rPr lang="en-US" sz="2200" dirty="0">
                <a:latin typeface="+mj-lt"/>
              </a:rPr>
              <a:t>index</a:t>
            </a:r>
          </a:p>
        </p:txBody>
      </p:sp>
      <p:sp>
        <p:nvSpPr>
          <p:cNvPr id="41" name="TextBox 40">
            <a:extLst>
              <a:ext uri="{FF2B5EF4-FFF2-40B4-BE49-F238E27FC236}">
                <a16:creationId xmlns:a16="http://schemas.microsoft.com/office/drawing/2014/main" id="{F71B69BB-EE36-0A49-878D-B3E931A4137E}"/>
              </a:ext>
            </a:extLst>
          </p:cNvPr>
          <p:cNvSpPr txBox="1"/>
          <p:nvPr/>
        </p:nvSpPr>
        <p:spPr>
          <a:xfrm>
            <a:off x="6309790" y="1287267"/>
            <a:ext cx="1335622" cy="430887"/>
          </a:xfrm>
          <a:prstGeom prst="rect">
            <a:avLst/>
          </a:prstGeom>
          <a:noFill/>
        </p:spPr>
        <p:txBody>
          <a:bodyPr wrap="none" rtlCol="0">
            <a:spAutoFit/>
          </a:bodyPr>
          <a:lstStyle/>
          <a:p>
            <a:r>
              <a:rPr lang="en-US" sz="2200" dirty="0">
                <a:latin typeface="+mj-lt"/>
              </a:rPr>
              <a:t>amplitude</a:t>
            </a:r>
          </a:p>
        </p:txBody>
      </p:sp>
    </p:spTree>
    <p:extLst>
      <p:ext uri="{BB962C8B-B14F-4D97-AF65-F5344CB8AC3E}">
        <p14:creationId xmlns:p14="http://schemas.microsoft.com/office/powerpoint/2010/main" val="38205068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6A5762A-9394-B742-BD31-01CB61AB837A}"/>
              </a:ext>
            </a:extLst>
          </p:cNvPr>
          <p:cNvSpPr>
            <a:spLocks noGrp="1"/>
          </p:cNvSpPr>
          <p:nvPr>
            <p:ph type="sldNum" sz="quarter" idx="12"/>
          </p:nvPr>
        </p:nvSpPr>
        <p:spPr/>
        <p:txBody>
          <a:bodyPr/>
          <a:lstStyle/>
          <a:p>
            <a:fld id="{591A223C-FA10-BC46-A853-03BA373D023C}" type="slidenum">
              <a:rPr lang="en-US" smtClean="0"/>
              <a:t>24</a:t>
            </a:fld>
            <a:endParaRPr lang="en-US"/>
          </a:p>
        </p:txBody>
      </p:sp>
      <p:sp>
        <p:nvSpPr>
          <p:cNvPr id="6" name="Title 5">
            <a:extLst>
              <a:ext uri="{FF2B5EF4-FFF2-40B4-BE49-F238E27FC236}">
                <a16:creationId xmlns:a16="http://schemas.microsoft.com/office/drawing/2014/main" id="{E034100A-FE4B-604A-ACEB-5B493B808C7E}"/>
              </a:ext>
            </a:extLst>
          </p:cNvPr>
          <p:cNvSpPr>
            <a:spLocks noGrp="1"/>
          </p:cNvSpPr>
          <p:nvPr>
            <p:ph type="title"/>
          </p:nvPr>
        </p:nvSpPr>
        <p:spPr/>
        <p:txBody>
          <a:bodyPr/>
          <a:lstStyle/>
          <a:p>
            <a:r>
              <a:rPr lang="en-ZA" dirty="0"/>
              <a:t>Geometric Interpretation of Grover’s Algorithm (3)</a:t>
            </a:r>
            <a:endParaRPr lang="en-US" dirty="0"/>
          </a:p>
        </p:txBody>
      </p:sp>
      <p:cxnSp>
        <p:nvCxnSpPr>
          <p:cNvPr id="84" name="Straight Connector 83">
            <a:extLst>
              <a:ext uri="{FF2B5EF4-FFF2-40B4-BE49-F238E27FC236}">
                <a16:creationId xmlns:a16="http://schemas.microsoft.com/office/drawing/2014/main" id="{157CA1DB-0FA6-D849-8FC1-52241513BEC9}"/>
              </a:ext>
            </a:extLst>
          </p:cNvPr>
          <p:cNvCxnSpPr>
            <a:cxnSpLocks/>
          </p:cNvCxnSpPr>
          <p:nvPr/>
        </p:nvCxnSpPr>
        <p:spPr>
          <a:xfrm flipH="1">
            <a:off x="1296813" y="3174915"/>
            <a:ext cx="2366599"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43D38868-89DC-0748-8628-22146E46BB8D}"/>
                  </a:ext>
                </a:extLst>
              </p:cNvPr>
              <p:cNvSpPr/>
              <p:nvPr/>
            </p:nvSpPr>
            <p:spPr>
              <a:xfrm>
                <a:off x="788050" y="2901796"/>
                <a:ext cx="563103" cy="6646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ad>
                            <m:radPr>
                              <m:degHide m:val="on"/>
                              <m:ctrlPr>
                                <a:rPr lang="en-US"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𝑁</m:t>
                              </m:r>
                            </m:e>
                          </m:rad>
                        </m:den>
                      </m:f>
                    </m:oMath>
                  </m:oMathPara>
                </a14:m>
                <a:endParaRPr lang="en-US" dirty="0"/>
              </a:p>
            </p:txBody>
          </p:sp>
        </mc:Choice>
        <mc:Fallback xmlns="">
          <p:sp>
            <p:nvSpPr>
              <p:cNvPr id="85" name="Rectangle 84">
                <a:extLst>
                  <a:ext uri="{FF2B5EF4-FFF2-40B4-BE49-F238E27FC236}">
                    <a16:creationId xmlns:a16="http://schemas.microsoft.com/office/drawing/2014/main" id="{43D38868-89DC-0748-8628-22146E46BB8D}"/>
                  </a:ext>
                </a:extLst>
              </p:cNvPr>
              <p:cNvSpPr>
                <a:spLocks noRot="1" noChangeAspect="1" noMove="1" noResize="1" noEditPoints="1" noAdjustHandles="1" noChangeArrowheads="1" noChangeShapeType="1" noTextEdit="1"/>
              </p:cNvSpPr>
              <p:nvPr/>
            </p:nvSpPr>
            <p:spPr>
              <a:xfrm>
                <a:off x="788050" y="2901796"/>
                <a:ext cx="563103" cy="664606"/>
              </a:xfrm>
              <a:prstGeom prst="rect">
                <a:avLst/>
              </a:prstGeom>
              <a:blipFill>
                <a:blip r:embed="rId3"/>
                <a:stretch>
                  <a:fillRect/>
                </a:stretch>
              </a:blipFill>
            </p:spPr>
            <p:txBody>
              <a:bodyPr/>
              <a:lstStyle/>
              <a:p>
                <a:r>
                  <a:rPr lang="en-US">
                    <a:noFill/>
                  </a:rPr>
                  <a:t> </a:t>
                </a:r>
              </a:p>
            </p:txBody>
          </p:sp>
        </mc:Fallback>
      </mc:AlternateContent>
      <p:grpSp>
        <p:nvGrpSpPr>
          <p:cNvPr id="41" name="Group 40">
            <a:extLst>
              <a:ext uri="{FF2B5EF4-FFF2-40B4-BE49-F238E27FC236}">
                <a16:creationId xmlns:a16="http://schemas.microsoft.com/office/drawing/2014/main" id="{EC4B7D7B-DC24-854B-8535-22D3F94D4039}"/>
              </a:ext>
            </a:extLst>
          </p:cNvPr>
          <p:cNvGrpSpPr/>
          <p:nvPr/>
        </p:nvGrpSpPr>
        <p:grpSpPr>
          <a:xfrm>
            <a:off x="-1219288" y="1076268"/>
            <a:ext cx="5599768" cy="5466881"/>
            <a:chOff x="2996881" y="380838"/>
            <a:chExt cx="5599768" cy="5466881"/>
          </a:xfrm>
        </p:grpSpPr>
        <p:sp>
          <p:nvSpPr>
            <p:cNvPr id="43" name="Arc 42">
              <a:extLst>
                <a:ext uri="{FF2B5EF4-FFF2-40B4-BE49-F238E27FC236}">
                  <a16:creationId xmlns:a16="http://schemas.microsoft.com/office/drawing/2014/main" id="{DE57B77D-D199-5F4C-9171-E8CE5924F889}"/>
                </a:ext>
              </a:extLst>
            </p:cNvPr>
            <p:cNvSpPr/>
            <p:nvPr/>
          </p:nvSpPr>
          <p:spPr>
            <a:xfrm rot="21316755">
              <a:off x="2996881" y="807719"/>
              <a:ext cx="5040000" cy="5040000"/>
            </a:xfrm>
            <a:prstGeom prst="arc">
              <a:avLst>
                <a:gd name="adj1" fmla="val 16200000"/>
                <a:gd name="adj2" fmla="val 1571981"/>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BE4AF929-9FE7-AA46-820B-B78C5D15EB20}"/>
                </a:ext>
              </a:extLst>
            </p:cNvPr>
            <p:cNvCxnSpPr>
              <a:cxnSpLocks/>
            </p:cNvCxnSpPr>
            <p:nvPr/>
          </p:nvCxnSpPr>
          <p:spPr>
            <a:xfrm flipV="1">
              <a:off x="5516880" y="807720"/>
              <a:ext cx="0" cy="2520000"/>
            </a:xfrm>
            <a:prstGeom prst="straightConnector1">
              <a:avLst/>
            </a:prstGeom>
            <a:ln w="12700">
              <a:solidFill>
                <a:schemeClr val="tx1">
                  <a:lumMod val="50000"/>
                  <a:lumOff val="50000"/>
                </a:schemeClr>
              </a:solidFill>
              <a:round/>
              <a:tailEnd type="triangle" w="lg" len="lg"/>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BF95507-423D-3B49-BE06-7685379728D3}"/>
                </a:ext>
              </a:extLst>
            </p:cNvPr>
            <p:cNvCxnSpPr>
              <a:cxnSpLocks/>
            </p:cNvCxnSpPr>
            <p:nvPr/>
          </p:nvCxnSpPr>
          <p:spPr>
            <a:xfrm rot="5400000" flipV="1">
              <a:off x="6776880" y="2067720"/>
              <a:ext cx="0" cy="2520000"/>
            </a:xfrm>
            <a:prstGeom prst="straightConnector1">
              <a:avLst/>
            </a:prstGeom>
            <a:ln w="12700">
              <a:solidFill>
                <a:schemeClr val="tx1">
                  <a:lumMod val="50000"/>
                  <a:lumOff val="50000"/>
                </a:schemeClr>
              </a:solidFill>
              <a:round/>
              <a:tailEnd type="triangle" w="lg" len="lg"/>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D23A18E-7666-704C-8597-A6E0CA9531F9}"/>
                </a:ext>
              </a:extLst>
            </p:cNvPr>
            <p:cNvCxnSpPr>
              <a:cxnSpLocks/>
            </p:cNvCxnSpPr>
            <p:nvPr/>
          </p:nvCxnSpPr>
          <p:spPr>
            <a:xfrm flipV="1">
              <a:off x="5516879" y="2523194"/>
              <a:ext cx="2368962" cy="804526"/>
            </a:xfrm>
            <a:prstGeom prst="straightConnector1">
              <a:avLst/>
            </a:prstGeom>
            <a:ln w="15875">
              <a:solidFill>
                <a:schemeClr val="bg1">
                  <a:lumMod val="6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8CBDF6F0-6D4C-0948-B3EA-EDCBF2ACEFC0}"/>
                    </a:ext>
                  </a:extLst>
                </p:cNvPr>
                <p:cNvSpPr/>
                <p:nvPr/>
              </p:nvSpPr>
              <p:spPr>
                <a:xfrm>
                  <a:off x="6155073" y="2981479"/>
                  <a:ext cx="39414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𝜃</m:t>
                        </m:r>
                      </m:oMath>
                    </m:oMathPara>
                  </a14:m>
                  <a:endParaRPr lang="en-US" sz="2000" dirty="0"/>
                </a:p>
              </p:txBody>
            </p:sp>
          </mc:Choice>
          <mc:Fallback xmlns="">
            <p:sp>
              <p:nvSpPr>
                <p:cNvPr id="49" name="Rectangle 48">
                  <a:extLst>
                    <a:ext uri="{FF2B5EF4-FFF2-40B4-BE49-F238E27FC236}">
                      <a16:creationId xmlns:a16="http://schemas.microsoft.com/office/drawing/2014/main" id="{8CBDF6F0-6D4C-0948-B3EA-EDCBF2ACEFC0}"/>
                    </a:ext>
                  </a:extLst>
                </p:cNvPr>
                <p:cNvSpPr>
                  <a:spLocks noRot="1" noChangeAspect="1" noMove="1" noResize="1" noEditPoints="1" noAdjustHandles="1" noChangeArrowheads="1" noChangeShapeType="1" noTextEdit="1"/>
                </p:cNvSpPr>
                <p:nvPr/>
              </p:nvSpPr>
              <p:spPr>
                <a:xfrm>
                  <a:off x="6155073" y="2981479"/>
                  <a:ext cx="394146" cy="40011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CACA463F-F527-3942-853E-F7DF1CCFC2A1}"/>
                    </a:ext>
                  </a:extLst>
                </p:cNvPr>
                <p:cNvSpPr/>
                <p:nvPr/>
              </p:nvSpPr>
              <p:spPr>
                <a:xfrm>
                  <a:off x="8036880" y="3143053"/>
                  <a:ext cx="55976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𝑥</m:t>
                            </m:r>
                          </m:e>
                        </m:d>
                      </m:oMath>
                    </m:oMathPara>
                  </a14:m>
                  <a:endParaRPr lang="en-US" sz="2000" dirty="0"/>
                </a:p>
              </p:txBody>
            </p:sp>
          </mc:Choice>
          <mc:Fallback xmlns="">
            <p:sp>
              <p:nvSpPr>
                <p:cNvPr id="52" name="Rectangle 51">
                  <a:extLst>
                    <a:ext uri="{FF2B5EF4-FFF2-40B4-BE49-F238E27FC236}">
                      <a16:creationId xmlns:a16="http://schemas.microsoft.com/office/drawing/2014/main" id="{CACA463F-F527-3942-853E-F7DF1CCFC2A1}"/>
                    </a:ext>
                  </a:extLst>
                </p:cNvPr>
                <p:cNvSpPr>
                  <a:spLocks noRot="1" noChangeAspect="1" noMove="1" noResize="1" noEditPoints="1" noAdjustHandles="1" noChangeArrowheads="1" noChangeShapeType="1" noTextEdit="1"/>
                </p:cNvSpPr>
                <p:nvPr/>
              </p:nvSpPr>
              <p:spPr>
                <a:xfrm>
                  <a:off x="8036880" y="3143053"/>
                  <a:ext cx="559769"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C7E89887-8E56-114A-B281-6FD55CBC2CFB}"/>
                    </a:ext>
                  </a:extLst>
                </p:cNvPr>
                <p:cNvSpPr/>
                <p:nvPr/>
              </p:nvSpPr>
              <p:spPr>
                <a:xfrm>
                  <a:off x="5047586" y="380838"/>
                  <a:ext cx="66646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sup>
                            </m:sSup>
                          </m:e>
                        </m:d>
                      </m:oMath>
                    </m:oMathPara>
                  </a14:m>
                  <a:endParaRPr lang="en-US" sz="2000" dirty="0"/>
                </a:p>
              </p:txBody>
            </p:sp>
          </mc:Choice>
          <mc:Fallback xmlns="">
            <p:sp>
              <p:nvSpPr>
                <p:cNvPr id="53" name="Rectangle 52">
                  <a:extLst>
                    <a:ext uri="{FF2B5EF4-FFF2-40B4-BE49-F238E27FC236}">
                      <a16:creationId xmlns:a16="http://schemas.microsoft.com/office/drawing/2014/main" id="{C7E89887-8E56-114A-B281-6FD55CBC2CFB}"/>
                    </a:ext>
                  </a:extLst>
                </p:cNvPr>
                <p:cNvSpPr>
                  <a:spLocks noRot="1" noChangeAspect="1" noMove="1" noResize="1" noEditPoints="1" noAdjustHandles="1" noChangeArrowheads="1" noChangeShapeType="1" noTextEdit="1"/>
                </p:cNvSpPr>
                <p:nvPr/>
              </p:nvSpPr>
              <p:spPr>
                <a:xfrm>
                  <a:off x="5047586" y="380838"/>
                  <a:ext cx="666464"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2642505A-CF6B-234A-81AB-6248A0852FD2}"/>
                    </a:ext>
                  </a:extLst>
                </p:cNvPr>
                <p:cNvSpPr/>
                <p:nvPr/>
              </p:nvSpPr>
              <p:spPr>
                <a:xfrm>
                  <a:off x="7832173" y="2208194"/>
                  <a:ext cx="66037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𝑆</m:t>
                                </m:r>
                              </m:e>
                              <m:sub>
                                <m:r>
                                  <a:rPr lang="en-US" sz="2000" b="0" i="1" smtClean="0">
                                    <a:solidFill>
                                      <a:schemeClr val="tx1"/>
                                    </a:solidFill>
                                    <a:latin typeface="Cambria Math" panose="02040503050406030204" pitchFamily="18" charset="0"/>
                                  </a:rPr>
                                  <m:t>0</m:t>
                                </m:r>
                              </m:sub>
                            </m:sSub>
                          </m:e>
                        </m:d>
                      </m:oMath>
                    </m:oMathPara>
                  </a14:m>
                  <a:endParaRPr lang="en-US" sz="2000" dirty="0">
                    <a:solidFill>
                      <a:schemeClr val="tx1"/>
                    </a:solidFill>
                  </a:endParaRPr>
                </a:p>
              </p:txBody>
            </p:sp>
          </mc:Choice>
          <mc:Fallback xmlns="">
            <p:sp>
              <p:nvSpPr>
                <p:cNvPr id="54" name="Rectangle 53">
                  <a:extLst>
                    <a:ext uri="{FF2B5EF4-FFF2-40B4-BE49-F238E27FC236}">
                      <a16:creationId xmlns:a16="http://schemas.microsoft.com/office/drawing/2014/main" id="{2642505A-CF6B-234A-81AB-6248A0852FD2}"/>
                    </a:ext>
                  </a:extLst>
                </p:cNvPr>
                <p:cNvSpPr>
                  <a:spLocks noRot="1" noChangeAspect="1" noMove="1" noResize="1" noEditPoints="1" noAdjustHandles="1" noChangeArrowheads="1" noChangeShapeType="1" noTextEdit="1"/>
                </p:cNvSpPr>
                <p:nvPr/>
              </p:nvSpPr>
              <p:spPr>
                <a:xfrm>
                  <a:off x="7832173" y="2208194"/>
                  <a:ext cx="660373" cy="400110"/>
                </a:xfrm>
                <a:prstGeom prst="rect">
                  <a:avLst/>
                </a:prstGeom>
                <a:blipFill>
                  <a:blip r:embed="rId7"/>
                  <a:stretch>
                    <a:fillRect/>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13FB3545-D153-1A40-B189-916F7CE691EC}"/>
                </a:ext>
              </a:extLst>
            </p:cNvPr>
            <p:cNvCxnSpPr>
              <a:cxnSpLocks/>
            </p:cNvCxnSpPr>
            <p:nvPr/>
          </p:nvCxnSpPr>
          <p:spPr>
            <a:xfrm>
              <a:off x="5524320" y="3327719"/>
              <a:ext cx="2368962" cy="804526"/>
            </a:xfrm>
            <a:prstGeom prst="straightConnector1">
              <a:avLst/>
            </a:prstGeom>
            <a:ln w="15875">
              <a:solidFill>
                <a:schemeClr val="bg1">
                  <a:lumMod val="6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4914DFC4-D98D-5A4E-BFBA-FCF49A0A0995}"/>
                    </a:ext>
                  </a:extLst>
                </p:cNvPr>
                <p:cNvSpPr/>
                <p:nvPr/>
              </p:nvSpPr>
              <p:spPr>
                <a:xfrm>
                  <a:off x="6153213" y="3264838"/>
                  <a:ext cx="39414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𝜃</m:t>
                        </m:r>
                      </m:oMath>
                    </m:oMathPara>
                  </a14:m>
                  <a:endParaRPr lang="en-US" sz="2000" dirty="0"/>
                </a:p>
              </p:txBody>
            </p:sp>
          </mc:Choice>
          <mc:Fallback xmlns="">
            <p:sp>
              <p:nvSpPr>
                <p:cNvPr id="38" name="Rectangle 37">
                  <a:extLst>
                    <a:ext uri="{FF2B5EF4-FFF2-40B4-BE49-F238E27FC236}">
                      <a16:creationId xmlns:a16="http://schemas.microsoft.com/office/drawing/2014/main" id="{4914DFC4-D98D-5A4E-BFBA-FCF49A0A0995}"/>
                    </a:ext>
                  </a:extLst>
                </p:cNvPr>
                <p:cNvSpPr>
                  <a:spLocks noRot="1" noChangeAspect="1" noMove="1" noResize="1" noEditPoints="1" noAdjustHandles="1" noChangeArrowheads="1" noChangeShapeType="1" noTextEdit="1"/>
                </p:cNvSpPr>
                <p:nvPr/>
              </p:nvSpPr>
              <p:spPr>
                <a:xfrm>
                  <a:off x="6153213" y="3264838"/>
                  <a:ext cx="394146" cy="40011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EE18ECBE-8B0D-AE47-BDFE-3803088B9483}"/>
                    </a:ext>
                  </a:extLst>
                </p:cNvPr>
                <p:cNvSpPr/>
                <p:nvPr/>
              </p:nvSpPr>
              <p:spPr>
                <a:xfrm>
                  <a:off x="7905540" y="3949478"/>
                  <a:ext cx="65441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𝑆</m:t>
                                </m:r>
                              </m:e>
                              <m:sub>
                                <m:r>
                                  <a:rPr lang="en-US" sz="2000" b="0" i="1" smtClean="0">
                                    <a:solidFill>
                                      <a:schemeClr val="tx1"/>
                                    </a:solidFill>
                                    <a:latin typeface="Cambria Math" panose="02040503050406030204" pitchFamily="18" charset="0"/>
                                  </a:rPr>
                                  <m:t>1</m:t>
                                </m:r>
                              </m:sub>
                            </m:sSub>
                          </m:e>
                        </m:d>
                      </m:oMath>
                    </m:oMathPara>
                  </a14:m>
                  <a:endParaRPr lang="en-US" sz="2000" dirty="0">
                    <a:solidFill>
                      <a:schemeClr val="tx1"/>
                    </a:solidFill>
                  </a:endParaRPr>
                </a:p>
              </p:txBody>
            </p:sp>
          </mc:Choice>
          <mc:Fallback xmlns="">
            <p:sp>
              <p:nvSpPr>
                <p:cNvPr id="88" name="Rectangle 87">
                  <a:extLst>
                    <a:ext uri="{FF2B5EF4-FFF2-40B4-BE49-F238E27FC236}">
                      <a16:creationId xmlns:a16="http://schemas.microsoft.com/office/drawing/2014/main" id="{EE18ECBE-8B0D-AE47-BDFE-3803088B9483}"/>
                    </a:ext>
                  </a:extLst>
                </p:cNvPr>
                <p:cNvSpPr>
                  <a:spLocks noRot="1" noChangeAspect="1" noMove="1" noResize="1" noEditPoints="1" noAdjustHandles="1" noChangeArrowheads="1" noChangeShapeType="1" noTextEdit="1"/>
                </p:cNvSpPr>
                <p:nvPr/>
              </p:nvSpPr>
              <p:spPr>
                <a:xfrm>
                  <a:off x="7905540" y="3949478"/>
                  <a:ext cx="654410" cy="40011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Rectangle 88">
                  <a:extLst>
                    <a:ext uri="{FF2B5EF4-FFF2-40B4-BE49-F238E27FC236}">
                      <a16:creationId xmlns:a16="http://schemas.microsoft.com/office/drawing/2014/main" id="{2C0D3BA5-350C-D84C-B63F-F8593C6A3EEA}"/>
                    </a:ext>
                  </a:extLst>
                </p:cNvPr>
                <p:cNvSpPr/>
                <p:nvPr/>
              </p:nvSpPr>
              <p:spPr>
                <a:xfrm>
                  <a:off x="6878930" y="885902"/>
                  <a:ext cx="66037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𝑆</m:t>
                                </m:r>
                              </m:e>
                              <m:sub>
                                <m:r>
                                  <a:rPr lang="en-US" sz="2000" b="0" i="1" smtClean="0">
                                    <a:solidFill>
                                      <a:schemeClr val="tx1"/>
                                    </a:solidFill>
                                    <a:latin typeface="Cambria Math" panose="02040503050406030204" pitchFamily="18" charset="0"/>
                                  </a:rPr>
                                  <m:t>2</m:t>
                                </m:r>
                              </m:sub>
                            </m:sSub>
                          </m:e>
                        </m:d>
                      </m:oMath>
                    </m:oMathPara>
                  </a14:m>
                  <a:endParaRPr lang="en-US" sz="2000" dirty="0">
                    <a:solidFill>
                      <a:schemeClr val="tx1"/>
                    </a:solidFill>
                  </a:endParaRPr>
                </a:p>
              </p:txBody>
            </p:sp>
          </mc:Choice>
          <mc:Fallback xmlns="">
            <p:sp>
              <p:nvSpPr>
                <p:cNvPr id="89" name="Rectangle 88">
                  <a:extLst>
                    <a:ext uri="{FF2B5EF4-FFF2-40B4-BE49-F238E27FC236}">
                      <a16:creationId xmlns:a16="http://schemas.microsoft.com/office/drawing/2014/main" id="{2C0D3BA5-350C-D84C-B63F-F8593C6A3EEA}"/>
                    </a:ext>
                  </a:extLst>
                </p:cNvPr>
                <p:cNvSpPr>
                  <a:spLocks noRot="1" noChangeAspect="1" noMove="1" noResize="1" noEditPoints="1" noAdjustHandles="1" noChangeArrowheads="1" noChangeShapeType="1" noTextEdit="1"/>
                </p:cNvSpPr>
                <p:nvPr/>
              </p:nvSpPr>
              <p:spPr>
                <a:xfrm>
                  <a:off x="6878930" y="885902"/>
                  <a:ext cx="660373" cy="400110"/>
                </a:xfrm>
                <a:prstGeom prst="rect">
                  <a:avLst/>
                </a:prstGeom>
                <a:blipFill>
                  <a:blip r:embed="rId10"/>
                  <a:stretch>
                    <a:fillRect/>
                  </a:stretch>
                </a:blipFill>
              </p:spPr>
              <p:txBody>
                <a:bodyPr/>
                <a:lstStyle/>
                <a:p>
                  <a:r>
                    <a:rPr lang="en-US">
                      <a:noFill/>
                    </a:rPr>
                    <a:t> </a:t>
                  </a:r>
                </a:p>
              </p:txBody>
            </p:sp>
          </mc:Fallback>
        </mc:AlternateContent>
      </p:grpSp>
      <p:sp>
        <p:nvSpPr>
          <p:cNvPr id="39" name="Rectangle 38">
            <a:extLst>
              <a:ext uri="{FF2B5EF4-FFF2-40B4-BE49-F238E27FC236}">
                <a16:creationId xmlns:a16="http://schemas.microsoft.com/office/drawing/2014/main" id="{F41A4657-04A4-1841-B110-0E3BB1A2F85D}"/>
              </a:ext>
            </a:extLst>
          </p:cNvPr>
          <p:cNvSpPr/>
          <p:nvPr/>
        </p:nvSpPr>
        <p:spPr>
          <a:xfrm>
            <a:off x="7353484" y="3218624"/>
            <a:ext cx="250524" cy="728998"/>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C320240-B539-0B45-AA64-16DCA496A938}"/>
              </a:ext>
            </a:extLst>
          </p:cNvPr>
          <p:cNvSpPr/>
          <p:nvPr/>
        </p:nvSpPr>
        <p:spPr>
          <a:xfrm>
            <a:off x="7605484" y="3218624"/>
            <a:ext cx="250524" cy="728998"/>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4A85384-460A-8443-9E5E-198864D458E3}"/>
              </a:ext>
            </a:extLst>
          </p:cNvPr>
          <p:cNvSpPr/>
          <p:nvPr/>
        </p:nvSpPr>
        <p:spPr>
          <a:xfrm>
            <a:off x="7857484" y="3218624"/>
            <a:ext cx="250524" cy="728998"/>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5B91244-2716-BE49-8189-6CF6E0CC5A56}"/>
              </a:ext>
            </a:extLst>
          </p:cNvPr>
          <p:cNvSpPr/>
          <p:nvPr/>
        </p:nvSpPr>
        <p:spPr>
          <a:xfrm>
            <a:off x="8109484" y="3218624"/>
            <a:ext cx="250524" cy="728998"/>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EA9EAC7-AE4F-934E-B265-D0D7176CE0CF}"/>
              </a:ext>
            </a:extLst>
          </p:cNvPr>
          <p:cNvSpPr/>
          <p:nvPr/>
        </p:nvSpPr>
        <p:spPr>
          <a:xfrm>
            <a:off x="8361484" y="3218624"/>
            <a:ext cx="250524" cy="728998"/>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401AAF2-C67F-514D-A5EA-41DAC7E67876}"/>
              </a:ext>
            </a:extLst>
          </p:cNvPr>
          <p:cNvSpPr/>
          <p:nvPr/>
        </p:nvSpPr>
        <p:spPr>
          <a:xfrm>
            <a:off x="8613484" y="2009553"/>
            <a:ext cx="249048" cy="1938069"/>
          </a:xfrm>
          <a:prstGeom prst="rect">
            <a:avLst/>
          </a:prstGeom>
          <a:solidFill>
            <a:srgbClr val="FF000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CDE1EC8-A3B5-7A40-B765-E9F4D65A3318}"/>
              </a:ext>
            </a:extLst>
          </p:cNvPr>
          <p:cNvSpPr/>
          <p:nvPr/>
        </p:nvSpPr>
        <p:spPr>
          <a:xfrm>
            <a:off x="8865484" y="3218624"/>
            <a:ext cx="250524" cy="728998"/>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493389D-D684-664D-AB05-5A223C83F3BE}"/>
              </a:ext>
            </a:extLst>
          </p:cNvPr>
          <p:cNvSpPr/>
          <p:nvPr/>
        </p:nvSpPr>
        <p:spPr>
          <a:xfrm>
            <a:off x="9117484" y="3218624"/>
            <a:ext cx="250524" cy="728998"/>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CB43E83D-14E7-0F41-A267-91F44EFA35F9}"/>
              </a:ext>
            </a:extLst>
          </p:cNvPr>
          <p:cNvSpPr/>
          <p:nvPr/>
        </p:nvSpPr>
        <p:spPr>
          <a:xfrm>
            <a:off x="9369484" y="3218624"/>
            <a:ext cx="250524" cy="728998"/>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EE56FC0B-03B1-C14A-AAB5-0FEF1A914537}"/>
              </a:ext>
            </a:extLst>
          </p:cNvPr>
          <p:cNvSpPr/>
          <p:nvPr/>
        </p:nvSpPr>
        <p:spPr>
          <a:xfrm>
            <a:off x="9621484" y="3218624"/>
            <a:ext cx="250524" cy="728998"/>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2BAEDDE3-60CE-0E48-9739-7ECD1971613B}"/>
              </a:ext>
            </a:extLst>
          </p:cNvPr>
          <p:cNvCxnSpPr>
            <a:cxnSpLocks/>
          </p:cNvCxnSpPr>
          <p:nvPr/>
        </p:nvCxnSpPr>
        <p:spPr>
          <a:xfrm>
            <a:off x="7353483" y="3943304"/>
            <a:ext cx="2880000" cy="2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CA6CB27-A530-0845-ADC0-EF3A3BDE3E3C}"/>
              </a:ext>
            </a:extLst>
          </p:cNvPr>
          <p:cNvCxnSpPr>
            <a:cxnSpLocks/>
          </p:cNvCxnSpPr>
          <p:nvPr/>
        </p:nvCxnSpPr>
        <p:spPr>
          <a:xfrm rot="16200000">
            <a:off x="6273955" y="2862062"/>
            <a:ext cx="216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71D29A83-3124-554E-824E-7E2A86B0FDD8}"/>
                  </a:ext>
                </a:extLst>
              </p:cNvPr>
              <p:cNvSpPr/>
              <p:nvPr/>
            </p:nvSpPr>
            <p:spPr>
              <a:xfrm>
                <a:off x="8512354" y="3986708"/>
                <a:ext cx="525978"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200" i="1" smtClean="0">
                              <a:latin typeface="Cambria Math" panose="02040503050406030204" pitchFamily="18" charset="0"/>
                            </a:rPr>
                          </m:ctrlPr>
                        </m:sSupPr>
                        <m:e>
                          <m:r>
                            <a:rPr lang="en-US" sz="2200" i="1">
                              <a:latin typeface="Cambria Math" panose="02040503050406030204" pitchFamily="18" charset="0"/>
                            </a:rPr>
                            <m:t>𝑥</m:t>
                          </m:r>
                        </m:e>
                        <m:sup>
                          <m:r>
                            <a:rPr lang="en-US" sz="2200" b="0" i="1" smtClean="0">
                              <a:latin typeface="Cambria Math" panose="02040503050406030204" pitchFamily="18" charset="0"/>
                            </a:rPr>
                            <m:t>∗</m:t>
                          </m:r>
                        </m:sup>
                      </m:sSup>
                    </m:oMath>
                  </m:oMathPara>
                </a14:m>
                <a:endParaRPr lang="en-US" sz="2200" dirty="0"/>
              </a:p>
            </p:txBody>
          </p:sp>
        </mc:Choice>
        <mc:Fallback xmlns="">
          <p:sp>
            <p:nvSpPr>
              <p:cNvPr id="60" name="Rectangle 59">
                <a:extLst>
                  <a:ext uri="{FF2B5EF4-FFF2-40B4-BE49-F238E27FC236}">
                    <a16:creationId xmlns:a16="http://schemas.microsoft.com/office/drawing/2014/main" id="{71D29A83-3124-554E-824E-7E2A86B0FDD8}"/>
                  </a:ext>
                </a:extLst>
              </p:cNvPr>
              <p:cNvSpPr>
                <a:spLocks noRot="1" noChangeAspect="1" noMove="1" noResize="1" noEditPoints="1" noAdjustHandles="1" noChangeArrowheads="1" noChangeShapeType="1" noTextEdit="1"/>
              </p:cNvSpPr>
              <p:nvPr/>
            </p:nvSpPr>
            <p:spPr>
              <a:xfrm>
                <a:off x="8512354" y="3986708"/>
                <a:ext cx="525978" cy="43088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32043F94-8374-1C44-9ADB-2C48F4B32F7C}"/>
                  </a:ext>
                </a:extLst>
              </p:cNvPr>
              <p:cNvSpPr/>
              <p:nvPr/>
            </p:nvSpPr>
            <p:spPr>
              <a:xfrm>
                <a:off x="7186941" y="3986708"/>
                <a:ext cx="404277"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0</m:t>
                      </m:r>
                    </m:oMath>
                  </m:oMathPara>
                </a14:m>
                <a:endParaRPr lang="en-US" sz="2200" dirty="0"/>
              </a:p>
            </p:txBody>
          </p:sp>
        </mc:Choice>
        <mc:Fallback xmlns="">
          <p:sp>
            <p:nvSpPr>
              <p:cNvPr id="70" name="Rectangle 69">
                <a:extLst>
                  <a:ext uri="{FF2B5EF4-FFF2-40B4-BE49-F238E27FC236}">
                    <a16:creationId xmlns:a16="http://schemas.microsoft.com/office/drawing/2014/main" id="{32043F94-8374-1C44-9ADB-2C48F4B32F7C}"/>
                  </a:ext>
                </a:extLst>
              </p:cNvPr>
              <p:cNvSpPr>
                <a:spLocks noRot="1" noChangeAspect="1" noMove="1" noResize="1" noEditPoints="1" noAdjustHandles="1" noChangeArrowheads="1" noChangeShapeType="1" noTextEdit="1"/>
              </p:cNvSpPr>
              <p:nvPr/>
            </p:nvSpPr>
            <p:spPr>
              <a:xfrm>
                <a:off x="7186941" y="3986708"/>
                <a:ext cx="404277" cy="43088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D96621F5-AE33-9D4A-9B6F-B01D0914380D}"/>
                  </a:ext>
                </a:extLst>
              </p:cNvPr>
              <p:cNvSpPr/>
              <p:nvPr/>
            </p:nvSpPr>
            <p:spPr>
              <a:xfrm>
                <a:off x="9565039" y="3986708"/>
                <a:ext cx="462434"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𝑁</m:t>
                      </m:r>
                    </m:oMath>
                  </m:oMathPara>
                </a14:m>
                <a:endParaRPr lang="en-US" sz="2200" dirty="0"/>
              </a:p>
            </p:txBody>
          </p:sp>
        </mc:Choice>
        <mc:Fallback xmlns="">
          <p:sp>
            <p:nvSpPr>
              <p:cNvPr id="72" name="Rectangle 71">
                <a:extLst>
                  <a:ext uri="{FF2B5EF4-FFF2-40B4-BE49-F238E27FC236}">
                    <a16:creationId xmlns:a16="http://schemas.microsoft.com/office/drawing/2014/main" id="{D96621F5-AE33-9D4A-9B6F-B01D0914380D}"/>
                  </a:ext>
                </a:extLst>
              </p:cNvPr>
              <p:cNvSpPr>
                <a:spLocks noRot="1" noChangeAspect="1" noMove="1" noResize="1" noEditPoints="1" noAdjustHandles="1" noChangeArrowheads="1" noChangeShapeType="1" noTextEdit="1"/>
              </p:cNvSpPr>
              <p:nvPr/>
            </p:nvSpPr>
            <p:spPr>
              <a:xfrm>
                <a:off x="9565039" y="3986708"/>
                <a:ext cx="462434" cy="430887"/>
              </a:xfrm>
              <a:prstGeom prst="rect">
                <a:avLst/>
              </a:prstGeom>
              <a:blipFill>
                <a:blip r:embed="rId13"/>
                <a:stretch>
                  <a:fillRect/>
                </a:stretch>
              </a:blipFill>
            </p:spPr>
            <p:txBody>
              <a:bodyPr/>
              <a:lstStyle/>
              <a:p>
                <a:r>
                  <a:rPr lang="en-US">
                    <a:noFill/>
                  </a:rPr>
                  <a:t> </a:t>
                </a:r>
              </a:p>
            </p:txBody>
          </p:sp>
        </mc:Fallback>
      </mc:AlternateContent>
      <p:cxnSp>
        <p:nvCxnSpPr>
          <p:cNvPr id="82" name="Straight Arrow Connector 81">
            <a:extLst>
              <a:ext uri="{FF2B5EF4-FFF2-40B4-BE49-F238E27FC236}">
                <a16:creationId xmlns:a16="http://schemas.microsoft.com/office/drawing/2014/main" id="{7FB8D837-81FA-B445-A9A3-59D09FEFCCF2}"/>
              </a:ext>
            </a:extLst>
          </p:cNvPr>
          <p:cNvCxnSpPr>
            <a:cxnSpLocks/>
          </p:cNvCxnSpPr>
          <p:nvPr/>
        </p:nvCxnSpPr>
        <p:spPr>
          <a:xfrm flipV="1">
            <a:off x="1303664" y="1927545"/>
            <a:ext cx="1383743" cy="2095606"/>
          </a:xfrm>
          <a:prstGeom prst="straightConnector1">
            <a:avLst/>
          </a:prstGeom>
          <a:ln w="158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6" name="Arc 85">
            <a:extLst>
              <a:ext uri="{FF2B5EF4-FFF2-40B4-BE49-F238E27FC236}">
                <a16:creationId xmlns:a16="http://schemas.microsoft.com/office/drawing/2014/main" id="{9207B09B-6FD2-604F-844B-ABF37F6122A5}"/>
              </a:ext>
            </a:extLst>
          </p:cNvPr>
          <p:cNvSpPr/>
          <p:nvPr/>
        </p:nvSpPr>
        <p:spPr>
          <a:xfrm rot="21316755">
            <a:off x="-214902" y="2257697"/>
            <a:ext cx="3166002" cy="3458022"/>
          </a:xfrm>
          <a:prstGeom prst="arc">
            <a:avLst>
              <a:gd name="adj1" fmla="val 18445757"/>
              <a:gd name="adj2" fmla="val 1534994"/>
            </a:avLst>
          </a:prstGeom>
          <a:ln w="12700">
            <a:solidFill>
              <a:schemeClr val="bg1">
                <a:lumMod val="65000"/>
              </a:schemeClr>
            </a:solidFill>
            <a:prstDash val="dash"/>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A5F5D76A-8C72-9B44-9740-E9CB5083F7A4}"/>
                  </a:ext>
                </a:extLst>
              </p:cNvPr>
              <p:cNvSpPr/>
              <p:nvPr/>
            </p:nvSpPr>
            <p:spPr>
              <a:xfrm>
                <a:off x="1805608" y="3297135"/>
                <a:ext cx="53681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𝜃</m:t>
                      </m:r>
                    </m:oMath>
                  </m:oMathPara>
                </a14:m>
                <a:endParaRPr lang="en-US" sz="2000" dirty="0"/>
              </a:p>
            </p:txBody>
          </p:sp>
        </mc:Choice>
        <mc:Fallback xmlns="">
          <p:sp>
            <p:nvSpPr>
              <p:cNvPr id="87" name="Rectangle 86">
                <a:extLst>
                  <a:ext uri="{FF2B5EF4-FFF2-40B4-BE49-F238E27FC236}">
                    <a16:creationId xmlns:a16="http://schemas.microsoft.com/office/drawing/2014/main" id="{A5F5D76A-8C72-9B44-9740-E9CB5083F7A4}"/>
                  </a:ext>
                </a:extLst>
              </p:cNvPr>
              <p:cNvSpPr>
                <a:spLocks noRot="1" noChangeAspect="1" noMove="1" noResize="1" noEditPoints="1" noAdjustHandles="1" noChangeArrowheads="1" noChangeShapeType="1" noTextEdit="1"/>
              </p:cNvSpPr>
              <p:nvPr/>
            </p:nvSpPr>
            <p:spPr>
              <a:xfrm>
                <a:off x="1805608" y="3297135"/>
                <a:ext cx="536814" cy="40011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Rectangle 89">
                <a:extLst>
                  <a:ext uri="{FF2B5EF4-FFF2-40B4-BE49-F238E27FC236}">
                    <a16:creationId xmlns:a16="http://schemas.microsoft.com/office/drawing/2014/main" id="{4AA4C470-0449-E846-9A70-6CDAB8837A7E}"/>
                  </a:ext>
                </a:extLst>
              </p:cNvPr>
              <p:cNvSpPr/>
              <p:nvPr/>
            </p:nvSpPr>
            <p:spPr>
              <a:xfrm>
                <a:off x="1392946" y="2253627"/>
                <a:ext cx="44723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𝛼</m:t>
                      </m:r>
                    </m:oMath>
                  </m:oMathPara>
                </a14:m>
                <a:endParaRPr lang="en-US" sz="2400" dirty="0">
                  <a:solidFill>
                    <a:srgbClr val="FF0000"/>
                  </a:solidFill>
                </a:endParaRPr>
              </a:p>
            </p:txBody>
          </p:sp>
        </mc:Choice>
        <mc:Fallback xmlns="">
          <p:sp>
            <p:nvSpPr>
              <p:cNvPr id="90" name="Rectangle 89">
                <a:extLst>
                  <a:ext uri="{FF2B5EF4-FFF2-40B4-BE49-F238E27FC236}">
                    <a16:creationId xmlns:a16="http://schemas.microsoft.com/office/drawing/2014/main" id="{4AA4C470-0449-E846-9A70-6CDAB8837A7E}"/>
                  </a:ext>
                </a:extLst>
              </p:cNvPr>
              <p:cNvSpPr>
                <a:spLocks noRot="1" noChangeAspect="1" noMove="1" noResize="1" noEditPoints="1" noAdjustHandles="1" noChangeArrowheads="1" noChangeShapeType="1" noTextEdit="1"/>
              </p:cNvSpPr>
              <p:nvPr/>
            </p:nvSpPr>
            <p:spPr>
              <a:xfrm>
                <a:off x="1392946" y="2253627"/>
                <a:ext cx="447238" cy="46166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Rectangle 90">
                <a:extLst>
                  <a:ext uri="{FF2B5EF4-FFF2-40B4-BE49-F238E27FC236}">
                    <a16:creationId xmlns:a16="http://schemas.microsoft.com/office/drawing/2014/main" id="{891E1212-30E4-CD43-99C8-4440B923E5DA}"/>
                  </a:ext>
                </a:extLst>
              </p:cNvPr>
              <p:cNvSpPr/>
              <p:nvPr/>
            </p:nvSpPr>
            <p:spPr>
              <a:xfrm>
                <a:off x="249272" y="5102086"/>
                <a:ext cx="10220362" cy="710194"/>
              </a:xfrm>
              <a:prstGeom prst="rect">
                <a:avLst/>
              </a:prstGeom>
            </p:spPr>
            <p:txBody>
              <a:bodyPr wrap="none">
                <a:spAutoFit/>
              </a:bodyPr>
              <a:lstStyle/>
              <a:p>
                <a14:m>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ea typeface="Cambria Math" panose="02040503050406030204" pitchFamily="18" charset="0"/>
                          </a:rPr>
                          <m:t>2</m:t>
                        </m:r>
                      </m:den>
                    </m:f>
                    <m:r>
                      <a:rPr lang="en-US" sz="2400" i="1">
                        <a:latin typeface="Cambria Math" panose="02040503050406030204" pitchFamily="18" charset="0"/>
                        <a:ea typeface="Cambria Math" panose="02040503050406030204" pitchFamily="18" charset="0"/>
                      </a:rPr>
                      <m:t>−</m:t>
                    </m:r>
                  </m:oMath>
                </a14:m>
                <a:r>
                  <a:rPr lang="en-US" sz="2400" dirty="0"/>
                  <a:t>2</a:t>
                </a:r>
                <a14:m>
                  <m:oMath xmlns:m="http://schemas.openxmlformats.org/officeDocument/2006/math">
                    <m:r>
                      <a:rPr lang="en-US" sz="2400" i="1">
                        <a:latin typeface="Cambria Math" panose="02040503050406030204" pitchFamily="18" charset="0"/>
                        <a:ea typeface="Cambria Math" panose="02040503050406030204" pitchFamily="18" charset="0"/>
                      </a:rPr>
                      <m:t>𝜃</m:t>
                    </m:r>
                    <m:r>
                      <a:rPr lang="sr-Latn-R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𝜃</m:t>
                    </m:r>
                    <m:groupChr>
                      <m:groupChrPr>
                        <m:chr m:val="→"/>
                        <m:vertJc m:val="bot"/>
                        <m:ctrlPr>
                          <a:rPr lang="en-US" sz="2400" i="1" smtClean="0">
                            <a:latin typeface="Cambria Math" panose="02040503050406030204" pitchFamily="18" charset="0"/>
                            <a:ea typeface="Cambria Math" panose="02040503050406030204" pitchFamily="18" charset="0"/>
                          </a:rPr>
                        </m:ctrlPr>
                      </m:groupChrPr>
                      <m:e>
                        <m:r>
                          <m:rPr>
                            <m:brk m:alnAt="2"/>
                          </m:rPr>
                          <a:rPr lang="en-US" sz="2400" b="0" i="1" smtClean="0">
                            <a:latin typeface="Cambria Math" panose="02040503050406030204" pitchFamily="18" charset="0"/>
                            <a:ea typeface="Cambria Math" panose="02040503050406030204" pitchFamily="18" charset="0"/>
                          </a:rPr>
                          <m:t>𝑘</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𝑖𝑡𝑒𝑟𝑎𝑡𝑖𝑜𝑛𝑠</m:t>
                        </m:r>
                      </m:e>
                    </m:groupChr>
                    <m:r>
                      <a:rPr lang="sr-Latn-R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ea typeface="Cambria Math" panose="02040503050406030204" pitchFamily="18" charset="0"/>
                          </a:rPr>
                          <m:t>2</m:t>
                        </m:r>
                      </m:den>
                    </m:f>
                    <m:r>
                      <a:rPr lang="en-US" sz="2400" i="1">
                        <a:latin typeface="Cambria Math" panose="02040503050406030204" pitchFamily="18" charset="0"/>
                        <a:ea typeface="Cambria Math" panose="02040503050406030204" pitchFamily="18" charset="0"/>
                      </a:rPr>
                      <m:t>−</m:t>
                    </m:r>
                    <m:r>
                      <m:rPr>
                        <m:nor/>
                      </m:rPr>
                      <a:rPr lang="en-US" sz="2400" dirty="0"/>
                      <m:t>2</m:t>
                    </m:r>
                    <m:r>
                      <m:rPr>
                        <m:nor/>
                      </m:rPr>
                      <a:rPr lang="en-US" sz="2400" b="0" i="0" dirty="0" smtClean="0"/>
                      <m:t>k</m:t>
                    </m:r>
                    <m:r>
                      <a:rPr lang="en-US" sz="2400" i="1">
                        <a:latin typeface="Cambria Math" panose="02040503050406030204" pitchFamily="18" charset="0"/>
                        <a:ea typeface="Cambria Math" panose="02040503050406030204" pitchFamily="18" charset="0"/>
                      </a:rPr>
                      <m:t>𝜃</m:t>
                    </m:r>
                    <m:r>
                      <a:rPr lang="sr-Latn-R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ea typeface="Cambria Math" panose="02040503050406030204" pitchFamily="18" charset="0"/>
                          </a:rPr>
                          <m:t>2</m:t>
                        </m:r>
                      </m:den>
                    </m:f>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𝑘</m:t>
                        </m:r>
                        <m:r>
                          <a:rPr lang="en-US" sz="2400" b="0" i="1" smtClean="0">
                            <a:latin typeface="Cambria Math" panose="02040503050406030204" pitchFamily="18" charset="0"/>
                            <a:ea typeface="Cambria Math" panose="02040503050406030204" pitchFamily="18" charset="0"/>
                          </a:rPr>
                          <m:t>+1</m:t>
                        </m:r>
                      </m:e>
                    </m:d>
                    <m:r>
                      <a:rPr lang="en-US" sz="2400" i="1">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where</m:t>
                    </m:r>
                    <m:r>
                      <a:rPr lang="en-U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𝜃</m:t>
                    </m:r>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𝑁</m:t>
                            </m:r>
                          </m:e>
                        </m:rad>
                      </m:den>
                    </m:f>
                  </m:oMath>
                </a14:m>
                <a:endParaRPr lang="en-US" sz="2400" dirty="0"/>
              </a:p>
            </p:txBody>
          </p:sp>
        </mc:Choice>
        <mc:Fallback xmlns="">
          <p:sp>
            <p:nvSpPr>
              <p:cNvPr id="91" name="Rectangle 90">
                <a:extLst>
                  <a:ext uri="{FF2B5EF4-FFF2-40B4-BE49-F238E27FC236}">
                    <a16:creationId xmlns:a16="http://schemas.microsoft.com/office/drawing/2014/main" id="{891E1212-30E4-CD43-99C8-4440B923E5DA}"/>
                  </a:ext>
                </a:extLst>
              </p:cNvPr>
              <p:cNvSpPr>
                <a:spLocks noRot="1" noChangeAspect="1" noMove="1" noResize="1" noEditPoints="1" noAdjustHandles="1" noChangeArrowheads="1" noChangeShapeType="1" noTextEdit="1"/>
              </p:cNvSpPr>
              <p:nvPr/>
            </p:nvSpPr>
            <p:spPr>
              <a:xfrm>
                <a:off x="249272" y="5102086"/>
                <a:ext cx="10220362" cy="710194"/>
              </a:xfrm>
              <a:prstGeom prst="rect">
                <a:avLst/>
              </a:prstGeom>
              <a:blipFill>
                <a:blip r:embed="rId16"/>
                <a:stretch>
                  <a:fillRect b="-1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Rectangle 91">
                <a:extLst>
                  <a:ext uri="{FF2B5EF4-FFF2-40B4-BE49-F238E27FC236}">
                    <a16:creationId xmlns:a16="http://schemas.microsoft.com/office/drawing/2014/main" id="{81EF3B3F-6854-BF4D-A069-C2A769EF153F}"/>
                  </a:ext>
                </a:extLst>
              </p:cNvPr>
              <p:cNvSpPr/>
              <p:nvPr/>
            </p:nvSpPr>
            <p:spPr>
              <a:xfrm>
                <a:off x="208464" y="5853360"/>
                <a:ext cx="6124817" cy="7861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𝑘</m:t>
                          </m:r>
                          <m:r>
                            <a:rPr lang="en-US" sz="2400" i="1">
                              <a:latin typeface="Cambria Math" panose="02040503050406030204" pitchFamily="18" charset="0"/>
                              <a:ea typeface="Cambria Math" panose="02040503050406030204" pitchFamily="18" charset="0"/>
                            </a:rPr>
                            <m:t>+1</m:t>
                          </m:r>
                        </m:e>
                      </m:d>
                      <m:r>
                        <a:rPr lang="en-US" sz="2400" i="1">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ea typeface="Cambria Math" panose="02040503050406030204" pitchFamily="18" charset="0"/>
                            </a:rPr>
                            <m:t>2</m:t>
                          </m:r>
                        </m:den>
                      </m:f>
                      <m:r>
                        <a:rPr lang="en-US" sz="240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𝑘</m:t>
                          </m:r>
                        </m:e>
                        <m:sub>
                          <m:r>
                            <a:rPr lang="en-US" sz="2400" i="1">
                              <a:latin typeface="Cambria Math" panose="02040503050406030204" pitchFamily="18" charset="0"/>
                              <a:ea typeface="Cambria Math" panose="02040503050406030204" pitchFamily="18" charset="0"/>
                            </a:rPr>
                            <m:t>𝑜𝑝𝑡</m:t>
                          </m:r>
                        </m:sub>
                      </m:sSub>
                      <m:r>
                        <a:rPr lang="en-US" sz="2400" b="0" i="0"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ea typeface="Cambria Math" panose="02040503050406030204" pitchFamily="18" charset="0"/>
                            </a:rPr>
                            <m:t>4</m:t>
                          </m:r>
                          <m:r>
                            <a:rPr lang="en-US" sz="2400" i="1">
                              <a:latin typeface="Cambria Math" panose="02040503050406030204" pitchFamily="18" charset="0"/>
                              <a:ea typeface="Cambria Math" panose="02040503050406030204" pitchFamily="18" charset="0"/>
                            </a:rPr>
                            <m:t>𝜃</m:t>
                          </m:r>
                        </m:den>
                      </m:f>
                      <m:r>
                        <a:rPr lang="en-US" sz="2400" b="0" i="0"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2</m:t>
                          </m:r>
                        </m:den>
                      </m:f>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ea typeface="Cambria Math" panose="02040503050406030204" pitchFamily="18" charset="0"/>
                            </a:rPr>
                            <m:t>4</m:t>
                          </m:r>
                        </m:den>
                      </m:f>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𝑁</m:t>
                          </m:r>
                        </m:e>
                      </m:rad>
                      <m:r>
                        <a:rPr lang="en-US" sz="240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2</m:t>
                          </m:r>
                        </m:den>
                      </m:f>
                      <m:r>
                        <a:rPr lang="en-US" sz="2400" b="0" i="1" smtClean="0">
                          <a:latin typeface="Cambria Math" panose="02040503050406030204" pitchFamily="18" charset="0"/>
                          <a:ea typeface="Cambria Math" panose="02040503050406030204" pitchFamily="18" charset="0"/>
                        </a:rPr>
                        <m:t> </m:t>
                      </m:r>
                    </m:oMath>
                  </m:oMathPara>
                </a14:m>
                <a:endParaRPr lang="en-US" sz="2400" dirty="0"/>
              </a:p>
            </p:txBody>
          </p:sp>
        </mc:Choice>
        <mc:Fallback xmlns="">
          <p:sp>
            <p:nvSpPr>
              <p:cNvPr id="92" name="Rectangle 91">
                <a:extLst>
                  <a:ext uri="{FF2B5EF4-FFF2-40B4-BE49-F238E27FC236}">
                    <a16:creationId xmlns:a16="http://schemas.microsoft.com/office/drawing/2014/main" id="{81EF3B3F-6854-BF4D-A069-C2A769EF153F}"/>
                  </a:ext>
                </a:extLst>
              </p:cNvPr>
              <p:cNvSpPr>
                <a:spLocks noRot="1" noChangeAspect="1" noMove="1" noResize="1" noEditPoints="1" noAdjustHandles="1" noChangeArrowheads="1" noChangeShapeType="1" noTextEdit="1"/>
              </p:cNvSpPr>
              <p:nvPr/>
            </p:nvSpPr>
            <p:spPr>
              <a:xfrm>
                <a:off x="208464" y="5853360"/>
                <a:ext cx="6124817" cy="786177"/>
              </a:xfrm>
              <a:prstGeom prst="rect">
                <a:avLst/>
              </a:prstGeom>
              <a:blipFill>
                <a:blip r:embed="rId17"/>
                <a:stretch>
                  <a:fillRect b="-47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5A5BFA51-2B53-1644-A730-AD84438ED561}"/>
                  </a:ext>
                </a:extLst>
              </p:cNvPr>
              <p:cNvSpPr/>
              <p:nvPr/>
            </p:nvSpPr>
            <p:spPr>
              <a:xfrm>
                <a:off x="6845759" y="5884226"/>
                <a:ext cx="1892249" cy="719941"/>
              </a:xfrm>
              <a:prstGeom prst="rect">
                <a:avLst/>
              </a:prstGeom>
              <a:solidFill>
                <a:schemeClr val="accent4">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𝑘</m:t>
                          </m:r>
                        </m:e>
                        <m:sub>
                          <m:r>
                            <a:rPr lang="en-US" sz="2400" i="1">
                              <a:latin typeface="Cambria Math" panose="02040503050406030204" pitchFamily="18" charset="0"/>
                              <a:ea typeface="Cambria Math" panose="02040503050406030204" pitchFamily="18" charset="0"/>
                            </a:rPr>
                            <m:t>𝑜𝑝𝑡</m:t>
                          </m:r>
                        </m:sub>
                      </m:sSub>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ea typeface="Cambria Math" panose="02040503050406030204" pitchFamily="18" charset="0"/>
                            </a:rPr>
                            <m:t>4</m:t>
                          </m:r>
                        </m:den>
                      </m:f>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𝑁</m:t>
                          </m:r>
                        </m:e>
                      </m:rad>
                    </m:oMath>
                  </m:oMathPara>
                </a14:m>
                <a:endParaRPr lang="en-US" sz="2400" dirty="0"/>
              </a:p>
            </p:txBody>
          </p:sp>
        </mc:Choice>
        <mc:Fallback xmlns="">
          <p:sp>
            <p:nvSpPr>
              <p:cNvPr id="94" name="Rectangle 93">
                <a:extLst>
                  <a:ext uri="{FF2B5EF4-FFF2-40B4-BE49-F238E27FC236}">
                    <a16:creationId xmlns:a16="http://schemas.microsoft.com/office/drawing/2014/main" id="{5A5BFA51-2B53-1644-A730-AD84438ED561}"/>
                  </a:ext>
                </a:extLst>
              </p:cNvPr>
              <p:cNvSpPr>
                <a:spLocks noRot="1" noChangeAspect="1" noMove="1" noResize="1" noEditPoints="1" noAdjustHandles="1" noChangeArrowheads="1" noChangeShapeType="1" noTextEdit="1"/>
              </p:cNvSpPr>
              <p:nvPr/>
            </p:nvSpPr>
            <p:spPr>
              <a:xfrm>
                <a:off x="6845759" y="5884226"/>
                <a:ext cx="1892249" cy="719941"/>
              </a:xfrm>
              <a:prstGeom prst="rect">
                <a:avLst/>
              </a:prstGeom>
              <a:blipFill>
                <a:blip r:embed="rId18"/>
                <a:stretch>
                  <a:fillRect b="-6897"/>
                </a:stretch>
              </a:blipFill>
            </p:spPr>
            <p:txBody>
              <a:bodyPr/>
              <a:lstStyle/>
              <a:p>
                <a:r>
                  <a:rPr lang="en-US">
                    <a:noFill/>
                  </a:rPr>
                  <a:t> </a:t>
                </a:r>
              </a:p>
            </p:txBody>
          </p:sp>
        </mc:Fallback>
      </mc:AlternateContent>
      <p:sp>
        <p:nvSpPr>
          <p:cNvPr id="61" name="TextBox 60">
            <a:extLst>
              <a:ext uri="{FF2B5EF4-FFF2-40B4-BE49-F238E27FC236}">
                <a16:creationId xmlns:a16="http://schemas.microsoft.com/office/drawing/2014/main" id="{4538582C-5688-D24C-A464-69336F3C3DFD}"/>
              </a:ext>
            </a:extLst>
          </p:cNvPr>
          <p:cNvSpPr txBox="1"/>
          <p:nvPr/>
        </p:nvSpPr>
        <p:spPr>
          <a:xfrm>
            <a:off x="10042355" y="3940540"/>
            <a:ext cx="792909" cy="430887"/>
          </a:xfrm>
          <a:prstGeom prst="rect">
            <a:avLst/>
          </a:prstGeom>
          <a:noFill/>
        </p:spPr>
        <p:txBody>
          <a:bodyPr wrap="none" rtlCol="0">
            <a:spAutoFit/>
          </a:bodyPr>
          <a:lstStyle/>
          <a:p>
            <a:r>
              <a:rPr lang="en-US" sz="2200" dirty="0">
                <a:latin typeface="+mj-lt"/>
              </a:rPr>
              <a:t>index</a:t>
            </a:r>
          </a:p>
        </p:txBody>
      </p:sp>
      <p:sp>
        <p:nvSpPr>
          <p:cNvPr id="62" name="TextBox 61">
            <a:extLst>
              <a:ext uri="{FF2B5EF4-FFF2-40B4-BE49-F238E27FC236}">
                <a16:creationId xmlns:a16="http://schemas.microsoft.com/office/drawing/2014/main" id="{D73D8486-D848-A948-8E90-883221E308D8}"/>
              </a:ext>
            </a:extLst>
          </p:cNvPr>
          <p:cNvSpPr txBox="1"/>
          <p:nvPr/>
        </p:nvSpPr>
        <p:spPr>
          <a:xfrm>
            <a:off x="6309790" y="1287267"/>
            <a:ext cx="1335622" cy="430887"/>
          </a:xfrm>
          <a:prstGeom prst="rect">
            <a:avLst/>
          </a:prstGeom>
          <a:noFill/>
        </p:spPr>
        <p:txBody>
          <a:bodyPr wrap="none" rtlCol="0">
            <a:spAutoFit/>
          </a:bodyPr>
          <a:lstStyle/>
          <a:p>
            <a:r>
              <a:rPr lang="en-US" sz="2200" dirty="0">
                <a:latin typeface="+mj-lt"/>
              </a:rPr>
              <a:t>amplitude</a:t>
            </a:r>
          </a:p>
        </p:txBody>
      </p:sp>
    </p:spTree>
    <p:extLst>
      <p:ext uri="{BB962C8B-B14F-4D97-AF65-F5344CB8AC3E}">
        <p14:creationId xmlns:p14="http://schemas.microsoft.com/office/powerpoint/2010/main" val="1420773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EC87BF0-4E5E-FA44-B11B-0D25C47DB832}"/>
              </a:ext>
            </a:extLst>
          </p:cNvPr>
          <p:cNvSpPr>
            <a:spLocks noGrp="1"/>
          </p:cNvSpPr>
          <p:nvPr>
            <p:ph type="sldNum" sz="quarter" idx="12"/>
          </p:nvPr>
        </p:nvSpPr>
        <p:spPr/>
        <p:txBody>
          <a:bodyPr/>
          <a:lstStyle/>
          <a:p>
            <a:fld id="{591A223C-FA10-BC46-A853-03BA373D023C}" type="slidenum">
              <a:rPr lang="en-US" smtClean="0"/>
              <a:t>25</a:t>
            </a:fld>
            <a:endParaRPr lang="en-US"/>
          </a:p>
        </p:txBody>
      </p:sp>
      <p:sp>
        <p:nvSpPr>
          <p:cNvPr id="6" name="Title 5">
            <a:extLst>
              <a:ext uri="{FF2B5EF4-FFF2-40B4-BE49-F238E27FC236}">
                <a16:creationId xmlns:a16="http://schemas.microsoft.com/office/drawing/2014/main" id="{1AA4675B-26D2-8146-83D9-331BE6EE4542}"/>
              </a:ext>
            </a:extLst>
          </p:cNvPr>
          <p:cNvSpPr>
            <a:spLocks noGrp="1"/>
          </p:cNvSpPr>
          <p:nvPr>
            <p:ph type="title"/>
          </p:nvPr>
        </p:nvSpPr>
        <p:spPr/>
        <p:txBody>
          <a:bodyPr/>
          <a:lstStyle/>
          <a:p>
            <a:r>
              <a:rPr lang="en-ZA" dirty="0"/>
              <a:t>Why Reflect About the Initial Superposition?</a:t>
            </a:r>
            <a:endParaRPr lang="en-US" dirty="0"/>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9E0D4B1-42E5-BE49-9B33-27BAED491DA7}"/>
                  </a:ext>
                </a:extLst>
              </p:cNvPr>
              <p:cNvSpPr/>
              <p:nvPr/>
            </p:nvSpPr>
            <p:spPr>
              <a:xfrm>
                <a:off x="355013" y="1211910"/>
                <a:ext cx="2564100" cy="1131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0</m:t>
                              </m:r>
                            </m:sub>
                          </m:sSub>
                        </m:e>
                      </m:d>
                      <m:r>
                        <a:rPr lang="en-US" sz="2400" b="0" i="1" smtClean="0">
                          <a:latin typeface="Cambria Math" panose="02040503050406030204" pitchFamily="18" charset="0"/>
                        </a:rPr>
                        <m:t>= </m:t>
                      </m:r>
                      <m:f>
                        <m:fPr>
                          <m:ctrlPr>
                            <a:rPr lang="en-US" sz="2400" i="1" smtClean="0">
                              <a:latin typeface="Cambria Math" panose="02040503050406030204" pitchFamily="18" charset="0"/>
                            </a:rPr>
                          </m:ctrlPr>
                        </m:fPr>
                        <m:num>
                          <m:r>
                            <a:rPr lang="en-US" sz="2400" i="1" smtClean="0">
                              <a:latin typeface="Cambria Math" panose="02040503050406030204" pitchFamily="18" charset="0"/>
                            </a:rPr>
                            <m:t>1</m:t>
                          </m:r>
                        </m:num>
                        <m:den>
                          <m:rad>
                            <m:radPr>
                              <m:degHide m:val="on"/>
                              <m:ctrlPr>
                                <a:rPr lang="en-US" sz="2400" i="1" smtClean="0">
                                  <a:latin typeface="Cambria Math" panose="02040503050406030204" pitchFamily="18" charset="0"/>
                                </a:rPr>
                              </m:ctrlPr>
                            </m:radPr>
                            <m:deg/>
                            <m:e>
                              <m:r>
                                <a:rPr lang="en-US" sz="2400" b="0" i="1" smtClean="0">
                                  <a:latin typeface="Cambria Math" panose="02040503050406030204" pitchFamily="18" charset="0"/>
                                </a:rPr>
                                <m:t>𝑁</m:t>
                              </m:r>
                            </m:e>
                          </m:rad>
                        </m:den>
                      </m:f>
                      <m:nary>
                        <m:naryPr>
                          <m:chr m:val="∑"/>
                          <m:ctrlPr>
                            <a:rPr lang="en-US" sz="2400" i="1" smtClean="0">
                              <a:latin typeface="Cambria Math" panose="02040503050406030204" pitchFamily="18" charset="0"/>
                            </a:rPr>
                          </m:ctrlPr>
                        </m:naryPr>
                        <m:sub>
                          <m:r>
                            <a:rPr lang="en-US" sz="2400" b="0" i="1" smtClean="0">
                              <a:latin typeface="Cambria Math" panose="02040503050406030204" pitchFamily="18" charset="0"/>
                            </a:rPr>
                            <m:t>𝑘</m:t>
                          </m:r>
                          <m:r>
                            <a:rPr lang="en-US" sz="2400" b="0" i="1" smtClean="0">
                              <a:latin typeface="Cambria Math" panose="02040503050406030204" pitchFamily="18" charset="0"/>
                            </a:rPr>
                            <m:t>=0</m:t>
                          </m:r>
                        </m:sub>
                        <m:sup>
                          <m:r>
                            <a:rPr lang="en-US" sz="2400" b="0" i="1" smtClean="0">
                              <a:latin typeface="Cambria Math" panose="02040503050406030204" pitchFamily="18" charset="0"/>
                            </a:rPr>
                            <m:t>𝑁</m:t>
                          </m:r>
                          <m:r>
                            <a:rPr lang="en-US" sz="2400" b="0" i="1" smtClean="0">
                              <a:latin typeface="Cambria Math" panose="02040503050406030204" pitchFamily="18" charset="0"/>
                            </a:rPr>
                            <m:t>−1</m:t>
                          </m:r>
                        </m:sup>
                        <m:e>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𝑘</m:t>
                              </m:r>
                            </m:e>
                          </m:d>
                        </m:e>
                      </m:nary>
                    </m:oMath>
                  </m:oMathPara>
                </a14:m>
                <a:endParaRPr lang="en-US" sz="2400" dirty="0"/>
              </a:p>
            </p:txBody>
          </p:sp>
        </mc:Choice>
        <mc:Fallback xmlns="">
          <p:sp>
            <p:nvSpPr>
              <p:cNvPr id="7" name="Rectangle 6">
                <a:extLst>
                  <a:ext uri="{FF2B5EF4-FFF2-40B4-BE49-F238E27FC236}">
                    <a16:creationId xmlns:a16="http://schemas.microsoft.com/office/drawing/2014/main" id="{F9E0D4B1-42E5-BE49-9B33-27BAED491DA7}"/>
                  </a:ext>
                </a:extLst>
              </p:cNvPr>
              <p:cNvSpPr>
                <a:spLocks noRot="1" noChangeAspect="1" noMove="1" noResize="1" noEditPoints="1" noAdjustHandles="1" noChangeArrowheads="1" noChangeShapeType="1" noTextEdit="1"/>
              </p:cNvSpPr>
              <p:nvPr/>
            </p:nvSpPr>
            <p:spPr>
              <a:xfrm>
                <a:off x="355013" y="1211910"/>
                <a:ext cx="2564100" cy="1131143"/>
              </a:xfrm>
              <a:prstGeom prst="rect">
                <a:avLst/>
              </a:prstGeom>
              <a:blipFill>
                <a:blip r:embed="rId3"/>
                <a:stretch>
                  <a:fillRect t="-101111" r="-8374" b="-15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2A24B6F-D526-E242-8013-090C97F865BA}"/>
                  </a:ext>
                </a:extLst>
              </p:cNvPr>
              <p:cNvSpPr/>
              <p:nvPr/>
            </p:nvSpPr>
            <p:spPr>
              <a:xfrm>
                <a:off x="3405557" y="1216526"/>
                <a:ext cx="2488309" cy="11265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𝑚</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𝑁</m:t>
                              </m:r>
                              <m:r>
                                <a:rPr lang="en-US" sz="2400" b="0" i="1" smtClean="0">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𝑁</m:t>
                                  </m:r>
                                </m:e>
                              </m:rad>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𝑁</m:t>
                                  </m:r>
                                </m:e>
                              </m:rad>
                            </m:den>
                          </m:f>
                        </m:num>
                        <m:den>
                          <m:r>
                            <a:rPr lang="en-US" sz="2400" b="0" i="1" smtClean="0">
                              <a:latin typeface="Cambria Math" panose="02040503050406030204" pitchFamily="18" charset="0"/>
                            </a:rPr>
                            <m:t>𝑁</m:t>
                          </m:r>
                        </m:den>
                      </m:f>
                    </m:oMath>
                  </m:oMathPara>
                </a14:m>
                <a:endParaRPr lang="en-US" sz="2400" dirty="0"/>
              </a:p>
            </p:txBody>
          </p:sp>
        </mc:Choice>
        <mc:Fallback xmlns="">
          <p:sp>
            <p:nvSpPr>
              <p:cNvPr id="8" name="Rectangle 7">
                <a:extLst>
                  <a:ext uri="{FF2B5EF4-FFF2-40B4-BE49-F238E27FC236}">
                    <a16:creationId xmlns:a16="http://schemas.microsoft.com/office/drawing/2014/main" id="{82A24B6F-D526-E242-8013-090C97F865BA}"/>
                  </a:ext>
                </a:extLst>
              </p:cNvPr>
              <p:cNvSpPr>
                <a:spLocks noRot="1" noChangeAspect="1" noMove="1" noResize="1" noEditPoints="1" noAdjustHandles="1" noChangeArrowheads="1" noChangeShapeType="1" noTextEdit="1"/>
              </p:cNvSpPr>
              <p:nvPr/>
            </p:nvSpPr>
            <p:spPr>
              <a:xfrm>
                <a:off x="3405557" y="1216526"/>
                <a:ext cx="2488309" cy="1126527"/>
              </a:xfrm>
              <a:prstGeom prst="rect">
                <a:avLst/>
              </a:prstGeom>
              <a:blipFill>
                <a:blip r:embed="rId4"/>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C0C85296-F7D8-6741-A1AE-0396332087D9}"/>
                  </a:ext>
                </a:extLst>
              </p:cNvPr>
              <p:cNvGraphicFramePr>
                <a:graphicFrameLocks noGrp="1"/>
              </p:cNvGraphicFramePr>
              <p:nvPr>
                <p:extLst/>
              </p:nvPr>
            </p:nvGraphicFramePr>
            <p:xfrm>
              <a:off x="6509513" y="842729"/>
              <a:ext cx="4759584" cy="1869504"/>
            </p:xfrm>
            <a:graphic>
              <a:graphicData uri="http://schemas.openxmlformats.org/drawingml/2006/table">
                <a:tbl>
                  <a:tblPr firstRow="1" bandRow="1">
                    <a:tableStyleId>{5C22544A-7EE6-4342-B048-85BDC9FD1C3A}</a:tableStyleId>
                  </a:tblPr>
                  <a:tblGrid>
                    <a:gridCol w="1586528">
                      <a:extLst>
                        <a:ext uri="{9D8B030D-6E8A-4147-A177-3AD203B41FA5}">
                          <a16:colId xmlns:a16="http://schemas.microsoft.com/office/drawing/2014/main" val="2597367225"/>
                        </a:ext>
                      </a:extLst>
                    </a:gridCol>
                    <a:gridCol w="1586528">
                      <a:extLst>
                        <a:ext uri="{9D8B030D-6E8A-4147-A177-3AD203B41FA5}">
                          <a16:colId xmlns:a16="http://schemas.microsoft.com/office/drawing/2014/main" val="2502721357"/>
                        </a:ext>
                      </a:extLst>
                    </a:gridCol>
                    <a:gridCol w="1586528">
                      <a:extLst>
                        <a:ext uri="{9D8B030D-6E8A-4147-A177-3AD203B41FA5}">
                          <a16:colId xmlns:a16="http://schemas.microsoft.com/office/drawing/2014/main" val="1251114671"/>
                        </a:ext>
                      </a:extLst>
                    </a:gridCol>
                  </a:tblGrid>
                  <a:tr h="370840">
                    <a:tc>
                      <a:txBody>
                        <a:bodyPr/>
                        <a:lstStyle/>
                        <a:p>
                          <a:pPr algn="ctr"/>
                          <a:r>
                            <a:rPr lang="en-US" sz="2400" dirty="0"/>
                            <a:t>N</a:t>
                          </a:r>
                        </a:p>
                      </a:txBody>
                      <a:tcPr/>
                    </a:tc>
                    <a:tc>
                      <a:txBody>
                        <a:bodyPr/>
                        <a:lstStyle/>
                        <a:p>
                          <a:pPr algn="ctr"/>
                          <a14:m>
                            <m:oMathPara xmlns:m="http://schemas.openxmlformats.org/officeDocument/2006/math">
                              <m:oMathParaPr>
                                <m:jc m:val="centerGroup"/>
                              </m:oMathParaPr>
                              <m:oMath xmlns:m="http://schemas.openxmlformats.org/officeDocument/2006/math">
                                <m:f>
                                  <m:fPr>
                                    <m:type m:val="lin"/>
                                    <m:ctrlPr>
                                      <a:rPr lang="en-US" sz="2400" i="1" smtClean="0">
                                        <a:latin typeface="Cambria Math" panose="02040503050406030204" pitchFamily="18" charset="0"/>
                                      </a:rPr>
                                    </m:ctrlPr>
                                  </m:fPr>
                                  <m:num>
                                    <m:r>
                                      <a:rPr lang="en-US" sz="2400" i="1" smtClean="0">
                                        <a:latin typeface="Cambria Math" panose="02040503050406030204" pitchFamily="18" charset="0"/>
                                      </a:rPr>
                                      <m:t>1</m:t>
                                    </m:r>
                                  </m:num>
                                  <m:den>
                                    <m:rad>
                                      <m:radPr>
                                        <m:degHide m:val="on"/>
                                        <m:ctrlPr>
                                          <a:rPr lang="en-US" sz="2400" i="1" smtClean="0">
                                            <a:latin typeface="Cambria Math" panose="02040503050406030204" pitchFamily="18" charset="0"/>
                                          </a:rPr>
                                        </m:ctrlPr>
                                      </m:radPr>
                                      <m:deg/>
                                      <m:e>
                                        <m:r>
                                          <a:rPr lang="en-US" sz="2400" b="0" i="1" smtClean="0">
                                            <a:latin typeface="Cambria Math" panose="02040503050406030204" pitchFamily="18" charset="0"/>
                                          </a:rPr>
                                          <m:t>𝑁</m:t>
                                        </m:r>
                                      </m:e>
                                    </m:rad>
                                  </m:den>
                                </m:f>
                              </m:oMath>
                            </m:oMathPara>
                          </a14:m>
                          <a:endParaRPr lang="en-US" sz="2400" dirty="0"/>
                        </a:p>
                      </a:txBody>
                      <a:tcPr/>
                    </a:tc>
                    <a:tc>
                      <a:txBody>
                        <a:bodyPr/>
                        <a:lstStyle/>
                        <a:p>
                          <a:pPr algn="ctr"/>
                          <a:r>
                            <a:rPr lang="en-US" sz="2400" dirty="0"/>
                            <a:t>m</a:t>
                          </a:r>
                        </a:p>
                      </a:txBody>
                      <a:tcPr/>
                    </a:tc>
                    <a:extLst>
                      <a:ext uri="{0D108BD9-81ED-4DB2-BD59-A6C34878D82A}">
                        <a16:rowId xmlns:a16="http://schemas.microsoft.com/office/drawing/2014/main" val="1344287027"/>
                      </a:ext>
                    </a:extLst>
                  </a:tr>
                  <a:tr h="370840">
                    <a:tc>
                      <a:txBody>
                        <a:bodyPr/>
                        <a:lstStyle/>
                        <a:p>
                          <a:pPr algn="ctr"/>
                          <a:r>
                            <a:rPr lang="en-US" sz="2400" dirty="0"/>
                            <a:t>4</a:t>
                          </a:r>
                        </a:p>
                      </a:txBody>
                      <a:tcPr/>
                    </a:tc>
                    <a:tc>
                      <a:txBody>
                        <a:bodyPr/>
                        <a:lstStyle/>
                        <a:p>
                          <a:pPr algn="ctr"/>
                          <a:r>
                            <a:rPr lang="en-US" sz="2400" dirty="0"/>
                            <a:t>0.5</a:t>
                          </a:r>
                        </a:p>
                      </a:txBody>
                      <a:tcPr/>
                    </a:tc>
                    <a:tc>
                      <a:txBody>
                        <a:bodyPr/>
                        <a:lstStyle/>
                        <a:p>
                          <a:pPr algn="ctr"/>
                          <a:r>
                            <a:rPr lang="en-US" sz="2400" dirty="0"/>
                            <a:t>0.25</a:t>
                          </a:r>
                        </a:p>
                      </a:txBody>
                      <a:tcPr/>
                    </a:tc>
                    <a:extLst>
                      <a:ext uri="{0D108BD9-81ED-4DB2-BD59-A6C34878D82A}">
                        <a16:rowId xmlns:a16="http://schemas.microsoft.com/office/drawing/2014/main" val="1808481249"/>
                      </a:ext>
                    </a:extLst>
                  </a:tr>
                  <a:tr h="370840">
                    <a:tc>
                      <a:txBody>
                        <a:bodyPr/>
                        <a:lstStyle/>
                        <a:p>
                          <a:pPr algn="ctr"/>
                          <a:r>
                            <a:rPr lang="en-US" sz="2400" dirty="0"/>
                            <a:t>16</a:t>
                          </a:r>
                        </a:p>
                      </a:txBody>
                      <a:tcPr/>
                    </a:tc>
                    <a:tc>
                      <a:txBody>
                        <a:bodyPr/>
                        <a:lstStyle/>
                        <a:p>
                          <a:pPr algn="ctr"/>
                          <a:r>
                            <a:rPr lang="en-US" sz="2400" dirty="0"/>
                            <a:t>0.25</a:t>
                          </a:r>
                        </a:p>
                      </a:txBody>
                      <a:tcPr/>
                    </a:tc>
                    <a:tc>
                      <a:txBody>
                        <a:bodyPr/>
                        <a:lstStyle/>
                        <a:p>
                          <a:pPr algn="ctr"/>
                          <a:r>
                            <a:rPr lang="en-US" sz="2400" dirty="0"/>
                            <a:t>0.218</a:t>
                          </a:r>
                        </a:p>
                      </a:txBody>
                      <a:tcPr/>
                    </a:tc>
                    <a:extLst>
                      <a:ext uri="{0D108BD9-81ED-4DB2-BD59-A6C34878D82A}">
                        <a16:rowId xmlns:a16="http://schemas.microsoft.com/office/drawing/2014/main" val="4234411342"/>
                      </a:ext>
                    </a:extLst>
                  </a:tr>
                  <a:tr h="370840">
                    <a:tc>
                      <a:txBody>
                        <a:bodyPr/>
                        <a:lstStyle/>
                        <a:p>
                          <a:pPr algn="ctr"/>
                          <a:r>
                            <a:rPr lang="en-US" sz="2400" dirty="0"/>
                            <a:t>64</a:t>
                          </a:r>
                        </a:p>
                      </a:txBody>
                      <a:tcPr/>
                    </a:tc>
                    <a:tc>
                      <a:txBody>
                        <a:bodyPr/>
                        <a:lstStyle/>
                        <a:p>
                          <a:pPr algn="ctr"/>
                          <a:r>
                            <a:rPr lang="en-US" sz="2400" dirty="0"/>
                            <a:t>0.125</a:t>
                          </a:r>
                        </a:p>
                      </a:txBody>
                      <a:tcPr/>
                    </a:tc>
                    <a:tc>
                      <a:txBody>
                        <a:bodyPr/>
                        <a:lstStyle/>
                        <a:p>
                          <a:pPr algn="ctr"/>
                          <a:r>
                            <a:rPr lang="en-US" sz="2400" dirty="0"/>
                            <a:t>0.121</a:t>
                          </a:r>
                        </a:p>
                      </a:txBody>
                      <a:tcPr/>
                    </a:tc>
                    <a:extLst>
                      <a:ext uri="{0D108BD9-81ED-4DB2-BD59-A6C34878D82A}">
                        <a16:rowId xmlns:a16="http://schemas.microsoft.com/office/drawing/2014/main" val="201757663"/>
                      </a:ext>
                    </a:extLst>
                  </a:tr>
                </a:tbl>
              </a:graphicData>
            </a:graphic>
          </p:graphicFrame>
        </mc:Choice>
        <mc:Fallback xmlns="">
          <p:graphicFrame>
            <p:nvGraphicFramePr>
              <p:cNvPr id="9" name="Table 8">
                <a:extLst>
                  <a:ext uri="{FF2B5EF4-FFF2-40B4-BE49-F238E27FC236}">
                    <a16:creationId xmlns:a16="http://schemas.microsoft.com/office/drawing/2014/main" id="{C0C85296-F7D8-6741-A1AE-0396332087D9}"/>
                  </a:ext>
                </a:extLst>
              </p:cNvPr>
              <p:cNvGraphicFramePr>
                <a:graphicFrameLocks noGrp="1"/>
              </p:cNvGraphicFramePr>
              <p:nvPr>
                <p:extLst>
                  <p:ext uri="{D42A27DB-BD31-4B8C-83A1-F6EECF244321}">
                    <p14:modId xmlns:p14="http://schemas.microsoft.com/office/powerpoint/2010/main" val="3019874676"/>
                  </p:ext>
                </p:extLst>
              </p:nvPr>
            </p:nvGraphicFramePr>
            <p:xfrm>
              <a:off x="6509513" y="842729"/>
              <a:ext cx="4759584" cy="1869504"/>
            </p:xfrm>
            <a:graphic>
              <a:graphicData uri="http://schemas.openxmlformats.org/drawingml/2006/table">
                <a:tbl>
                  <a:tblPr firstRow="1" bandRow="1">
                    <a:tableStyleId>{5C22544A-7EE6-4342-B048-85BDC9FD1C3A}</a:tableStyleId>
                  </a:tblPr>
                  <a:tblGrid>
                    <a:gridCol w="1586528">
                      <a:extLst>
                        <a:ext uri="{9D8B030D-6E8A-4147-A177-3AD203B41FA5}">
                          <a16:colId xmlns:a16="http://schemas.microsoft.com/office/drawing/2014/main" val="2597367225"/>
                        </a:ext>
                      </a:extLst>
                    </a:gridCol>
                    <a:gridCol w="1586528">
                      <a:extLst>
                        <a:ext uri="{9D8B030D-6E8A-4147-A177-3AD203B41FA5}">
                          <a16:colId xmlns:a16="http://schemas.microsoft.com/office/drawing/2014/main" val="2502721357"/>
                        </a:ext>
                      </a:extLst>
                    </a:gridCol>
                    <a:gridCol w="1586528">
                      <a:extLst>
                        <a:ext uri="{9D8B030D-6E8A-4147-A177-3AD203B41FA5}">
                          <a16:colId xmlns:a16="http://schemas.microsoft.com/office/drawing/2014/main" val="1251114671"/>
                        </a:ext>
                      </a:extLst>
                    </a:gridCol>
                  </a:tblGrid>
                  <a:tr h="497904">
                    <a:tc>
                      <a:txBody>
                        <a:bodyPr/>
                        <a:lstStyle/>
                        <a:p>
                          <a:pPr algn="ctr"/>
                          <a:r>
                            <a:rPr lang="en-US" sz="2400" dirty="0"/>
                            <a:t>N</a:t>
                          </a:r>
                        </a:p>
                      </a:txBody>
                      <a:tcPr/>
                    </a:tc>
                    <a:tc>
                      <a:txBody>
                        <a:bodyPr/>
                        <a:lstStyle/>
                        <a:p>
                          <a:endParaRPr lang="en-US"/>
                        </a:p>
                      </a:txBody>
                      <a:tcPr>
                        <a:blipFill>
                          <a:blip r:embed="rId5"/>
                          <a:stretch>
                            <a:fillRect l="-100000" t="-112821" r="-100000" b="-302564"/>
                          </a:stretch>
                        </a:blipFill>
                      </a:tcPr>
                    </a:tc>
                    <a:tc>
                      <a:txBody>
                        <a:bodyPr/>
                        <a:lstStyle/>
                        <a:p>
                          <a:pPr algn="ctr"/>
                          <a:r>
                            <a:rPr lang="en-US" sz="2400" dirty="0"/>
                            <a:t>m</a:t>
                          </a:r>
                        </a:p>
                      </a:txBody>
                      <a:tcPr/>
                    </a:tc>
                    <a:extLst>
                      <a:ext uri="{0D108BD9-81ED-4DB2-BD59-A6C34878D82A}">
                        <a16:rowId xmlns:a16="http://schemas.microsoft.com/office/drawing/2014/main" val="1344287027"/>
                      </a:ext>
                    </a:extLst>
                  </a:tr>
                  <a:tr h="457200">
                    <a:tc>
                      <a:txBody>
                        <a:bodyPr/>
                        <a:lstStyle/>
                        <a:p>
                          <a:pPr algn="ctr"/>
                          <a:r>
                            <a:rPr lang="en-US" sz="2400" dirty="0"/>
                            <a:t>4</a:t>
                          </a:r>
                        </a:p>
                      </a:txBody>
                      <a:tcPr/>
                    </a:tc>
                    <a:tc>
                      <a:txBody>
                        <a:bodyPr/>
                        <a:lstStyle/>
                        <a:p>
                          <a:pPr algn="ctr"/>
                          <a:r>
                            <a:rPr lang="en-US" sz="2400" dirty="0"/>
                            <a:t>0.5</a:t>
                          </a:r>
                        </a:p>
                      </a:txBody>
                      <a:tcPr/>
                    </a:tc>
                    <a:tc>
                      <a:txBody>
                        <a:bodyPr/>
                        <a:lstStyle/>
                        <a:p>
                          <a:pPr algn="ctr"/>
                          <a:r>
                            <a:rPr lang="en-US" sz="2400" dirty="0"/>
                            <a:t>0.25</a:t>
                          </a:r>
                        </a:p>
                      </a:txBody>
                      <a:tcPr/>
                    </a:tc>
                    <a:extLst>
                      <a:ext uri="{0D108BD9-81ED-4DB2-BD59-A6C34878D82A}">
                        <a16:rowId xmlns:a16="http://schemas.microsoft.com/office/drawing/2014/main" val="1808481249"/>
                      </a:ext>
                    </a:extLst>
                  </a:tr>
                  <a:tr h="457200">
                    <a:tc>
                      <a:txBody>
                        <a:bodyPr/>
                        <a:lstStyle/>
                        <a:p>
                          <a:pPr algn="ctr"/>
                          <a:r>
                            <a:rPr lang="en-US" sz="2400" dirty="0"/>
                            <a:t>16</a:t>
                          </a:r>
                        </a:p>
                      </a:txBody>
                      <a:tcPr/>
                    </a:tc>
                    <a:tc>
                      <a:txBody>
                        <a:bodyPr/>
                        <a:lstStyle/>
                        <a:p>
                          <a:pPr algn="ctr"/>
                          <a:r>
                            <a:rPr lang="en-US" sz="2400" dirty="0"/>
                            <a:t>0.25</a:t>
                          </a:r>
                        </a:p>
                      </a:txBody>
                      <a:tcPr/>
                    </a:tc>
                    <a:tc>
                      <a:txBody>
                        <a:bodyPr/>
                        <a:lstStyle/>
                        <a:p>
                          <a:pPr algn="ctr"/>
                          <a:r>
                            <a:rPr lang="en-US" sz="2400" dirty="0"/>
                            <a:t>0.218</a:t>
                          </a:r>
                        </a:p>
                      </a:txBody>
                      <a:tcPr/>
                    </a:tc>
                    <a:extLst>
                      <a:ext uri="{0D108BD9-81ED-4DB2-BD59-A6C34878D82A}">
                        <a16:rowId xmlns:a16="http://schemas.microsoft.com/office/drawing/2014/main" val="4234411342"/>
                      </a:ext>
                    </a:extLst>
                  </a:tr>
                  <a:tr h="457200">
                    <a:tc>
                      <a:txBody>
                        <a:bodyPr/>
                        <a:lstStyle/>
                        <a:p>
                          <a:pPr algn="ctr"/>
                          <a:r>
                            <a:rPr lang="en-US" sz="2400" dirty="0"/>
                            <a:t>64</a:t>
                          </a:r>
                        </a:p>
                      </a:txBody>
                      <a:tcPr/>
                    </a:tc>
                    <a:tc>
                      <a:txBody>
                        <a:bodyPr/>
                        <a:lstStyle/>
                        <a:p>
                          <a:pPr algn="ctr"/>
                          <a:r>
                            <a:rPr lang="en-US" sz="2400" dirty="0"/>
                            <a:t>0.125</a:t>
                          </a:r>
                        </a:p>
                      </a:txBody>
                      <a:tcPr/>
                    </a:tc>
                    <a:tc>
                      <a:txBody>
                        <a:bodyPr/>
                        <a:lstStyle/>
                        <a:p>
                          <a:pPr algn="ctr"/>
                          <a:r>
                            <a:rPr lang="en-US" sz="2400" dirty="0"/>
                            <a:t>0.121</a:t>
                          </a:r>
                        </a:p>
                      </a:txBody>
                      <a:tcPr/>
                    </a:tc>
                    <a:extLst>
                      <a:ext uri="{0D108BD9-81ED-4DB2-BD59-A6C34878D82A}">
                        <a16:rowId xmlns:a16="http://schemas.microsoft.com/office/drawing/2014/main" val="201757663"/>
                      </a:ext>
                    </a:extLst>
                  </a:tr>
                </a:tbl>
              </a:graphicData>
            </a:graphic>
          </p:graphicFrame>
        </mc:Fallback>
      </mc:AlternateContent>
      <p:pic>
        <p:nvPicPr>
          <p:cNvPr id="11" name="Picture 10">
            <a:extLst>
              <a:ext uri="{FF2B5EF4-FFF2-40B4-BE49-F238E27FC236}">
                <a16:creationId xmlns:a16="http://schemas.microsoft.com/office/drawing/2014/main" id="{854771DB-D6F5-824A-87AC-C35E49CDA860}"/>
              </a:ext>
            </a:extLst>
          </p:cNvPr>
          <p:cNvPicPr>
            <a:picLocks noChangeAspect="1"/>
          </p:cNvPicPr>
          <p:nvPr/>
        </p:nvPicPr>
        <p:blipFill>
          <a:blip r:embed="rId6"/>
          <a:stretch>
            <a:fillRect/>
          </a:stretch>
        </p:blipFill>
        <p:spPr>
          <a:xfrm>
            <a:off x="1572461" y="3065248"/>
            <a:ext cx="8758263" cy="3792752"/>
          </a:xfrm>
          <a:prstGeom prst="rect">
            <a:avLst/>
          </a:prstGeom>
        </p:spPr>
      </p:pic>
    </p:spTree>
    <p:extLst>
      <p:ext uri="{BB962C8B-B14F-4D97-AF65-F5344CB8AC3E}">
        <p14:creationId xmlns:p14="http://schemas.microsoft.com/office/powerpoint/2010/main" val="4120493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DF8A2278-D937-B246-8B64-BC140C276ECB}"/>
              </a:ext>
            </a:extLst>
          </p:cNvPr>
          <p:cNvCxnSpPr>
            <a:cxnSpLocks/>
          </p:cNvCxnSpPr>
          <p:nvPr/>
        </p:nvCxnSpPr>
        <p:spPr>
          <a:xfrm>
            <a:off x="40535" y="2934957"/>
            <a:ext cx="1196649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DDBF003-77E0-E04A-8D9D-EC543A5495E6}"/>
              </a:ext>
            </a:extLst>
          </p:cNvPr>
          <p:cNvSpPr>
            <a:spLocks noGrp="1"/>
          </p:cNvSpPr>
          <p:nvPr>
            <p:ph type="title"/>
          </p:nvPr>
        </p:nvSpPr>
        <p:spPr/>
        <p:txBody>
          <a:bodyPr/>
          <a:lstStyle/>
          <a:p>
            <a:r>
              <a:rPr lang="en-ZA" dirty="0"/>
              <a:t>Grover’s Algorithm with Multiple Solutions</a:t>
            </a:r>
            <a:endParaRPr lang="en-US" dirty="0"/>
          </a:p>
        </p:txBody>
      </p:sp>
      <p:sp>
        <p:nvSpPr>
          <p:cNvPr id="3" name="Slide Number Placeholder 2">
            <a:extLst>
              <a:ext uri="{FF2B5EF4-FFF2-40B4-BE49-F238E27FC236}">
                <a16:creationId xmlns:a16="http://schemas.microsoft.com/office/drawing/2014/main" id="{5EDAC64E-A6EC-364D-8B8B-A83A4090E538}"/>
              </a:ext>
            </a:extLst>
          </p:cNvPr>
          <p:cNvSpPr>
            <a:spLocks noGrp="1"/>
          </p:cNvSpPr>
          <p:nvPr>
            <p:ph type="sldNum" sz="quarter" idx="12"/>
          </p:nvPr>
        </p:nvSpPr>
        <p:spPr/>
        <p:txBody>
          <a:bodyPr/>
          <a:lstStyle/>
          <a:p>
            <a:fld id="{591A223C-FA10-BC46-A853-03BA373D023C}" type="slidenum">
              <a:rPr lang="en-US" smtClean="0"/>
              <a:t>26</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647999C9-2A0C-0D41-A986-94505FC48F4B}"/>
                  </a:ext>
                </a:extLst>
              </p:cNvPr>
              <p:cNvSpPr/>
              <p:nvPr/>
            </p:nvSpPr>
            <p:spPr>
              <a:xfrm>
                <a:off x="335963" y="2394957"/>
                <a:ext cx="1410545" cy="108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4000" i="1" smtClean="0">
                              <a:latin typeface="Cambria Math" panose="02040503050406030204" pitchFamily="18" charset="0"/>
                            </a:rPr>
                          </m:ctrlPr>
                        </m:sSupPr>
                        <m:e>
                          <m:r>
                            <m:rPr>
                              <m:sty m:val="p"/>
                            </m:rPr>
                            <a:rPr lang="en-US" sz="4000" i="0">
                              <a:latin typeface="Cambria Math" panose="02040503050406030204" pitchFamily="18" charset="0"/>
                            </a:rPr>
                            <m:t>H</m:t>
                          </m:r>
                        </m:e>
                        <m:sup>
                          <m:r>
                            <a:rPr lang="en-US" sz="4000" i="0">
                              <a:latin typeface="Cambria Math" panose="02040503050406030204" pitchFamily="18" charset="0"/>
                              <a:ea typeface="Cambria Math" panose="02040503050406030204" pitchFamily="18" charset="0"/>
                            </a:rPr>
                            <m:t>⨂</m:t>
                          </m:r>
                          <m:r>
                            <a:rPr lang="en-US" sz="4000" b="0" i="0" smtClean="0">
                              <a:latin typeface="Cambria Math" panose="02040503050406030204" pitchFamily="18" charset="0"/>
                              <a:ea typeface="Cambria Math" panose="02040503050406030204" pitchFamily="18" charset="0"/>
                            </a:rPr>
                            <m:t>2</m:t>
                          </m:r>
                        </m:sup>
                      </m:sSup>
                    </m:oMath>
                  </m:oMathPara>
                </a14:m>
                <a:endParaRPr lang="en-US" sz="4000" dirty="0">
                  <a:latin typeface="Times" pitchFamily="2" charset="0"/>
                </a:endParaRPr>
              </a:p>
            </p:txBody>
          </p:sp>
        </mc:Choice>
        <mc:Fallback xmlns="">
          <p:sp>
            <p:nvSpPr>
              <p:cNvPr id="4" name="Rectangle 3">
                <a:extLst>
                  <a:ext uri="{FF2B5EF4-FFF2-40B4-BE49-F238E27FC236}">
                    <a16:creationId xmlns:a16="http://schemas.microsoft.com/office/drawing/2014/main" id="{647999C9-2A0C-0D41-A986-94505FC48F4B}"/>
                  </a:ext>
                </a:extLst>
              </p:cNvPr>
              <p:cNvSpPr>
                <a:spLocks noRot="1" noChangeAspect="1" noMove="1" noResize="1" noEditPoints="1" noAdjustHandles="1" noChangeArrowheads="1" noChangeShapeType="1" noTextEdit="1"/>
              </p:cNvSpPr>
              <p:nvPr/>
            </p:nvSpPr>
            <p:spPr>
              <a:xfrm>
                <a:off x="335963" y="2394957"/>
                <a:ext cx="1410545" cy="1080000"/>
              </a:xfrm>
              <a:prstGeom prst="rect">
                <a:avLst/>
              </a:prstGeom>
              <a:blipFill>
                <a:blip r:embed="rId3"/>
                <a:stretch>
                  <a:fillRect/>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19E7C949-4EC6-0344-9DEF-0F6D4AA41940}"/>
              </a:ext>
            </a:extLst>
          </p:cNvPr>
          <p:cNvGrpSpPr/>
          <p:nvPr/>
        </p:nvGrpSpPr>
        <p:grpSpPr>
          <a:xfrm>
            <a:off x="2183076" y="2394957"/>
            <a:ext cx="3740186" cy="1080000"/>
            <a:chOff x="2229205" y="1528647"/>
            <a:chExt cx="3740186" cy="108000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8CD6ED2-AAA1-2048-B635-AC1393D4E96F}"/>
                    </a:ext>
                  </a:extLst>
                </p:cNvPr>
                <p:cNvSpPr/>
                <p:nvPr/>
              </p:nvSpPr>
              <p:spPr>
                <a:xfrm>
                  <a:off x="2229205" y="1528647"/>
                  <a:ext cx="1080000" cy="10800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4000" i="1" smtClean="0">
                                <a:solidFill>
                                  <a:schemeClr val="tx1"/>
                                </a:solidFill>
                                <a:latin typeface="Cambria Math" panose="02040503050406030204" pitchFamily="18" charset="0"/>
                              </a:rPr>
                            </m:ctrlPr>
                          </m:sSubPr>
                          <m:e>
                            <m:r>
                              <m:rPr>
                                <m:sty m:val="p"/>
                              </m:rPr>
                              <a:rPr lang="en-US" sz="4000" b="0" i="0" smtClean="0">
                                <a:solidFill>
                                  <a:schemeClr val="tx1"/>
                                </a:solidFill>
                                <a:latin typeface="Cambria Math" panose="02040503050406030204" pitchFamily="18" charset="0"/>
                              </a:rPr>
                              <m:t>O</m:t>
                            </m:r>
                          </m:e>
                          <m:sub>
                            <m:r>
                              <a:rPr lang="en-US" sz="4000" b="0" i="0" smtClean="0">
                                <a:solidFill>
                                  <a:schemeClr val="tx1"/>
                                </a:solidFill>
                                <a:latin typeface="Cambria Math" panose="02040503050406030204" pitchFamily="18" charset="0"/>
                              </a:rPr>
                              <m:t>1</m:t>
                            </m:r>
                          </m:sub>
                        </m:sSub>
                      </m:oMath>
                    </m:oMathPara>
                  </a14:m>
                  <a:endParaRPr lang="en-US" sz="4000" dirty="0">
                    <a:solidFill>
                      <a:schemeClr val="tx1"/>
                    </a:solidFill>
                    <a:latin typeface="Times" pitchFamily="2" charset="0"/>
                  </a:endParaRPr>
                </a:p>
              </p:txBody>
            </p:sp>
          </mc:Choice>
          <mc:Fallback xmlns="">
            <p:sp>
              <p:nvSpPr>
                <p:cNvPr id="5" name="Rectangle 4">
                  <a:extLst>
                    <a:ext uri="{FF2B5EF4-FFF2-40B4-BE49-F238E27FC236}">
                      <a16:creationId xmlns:a16="http://schemas.microsoft.com/office/drawing/2014/main" id="{D8CD6ED2-AAA1-2048-B635-AC1393D4E96F}"/>
                    </a:ext>
                  </a:extLst>
                </p:cNvPr>
                <p:cNvSpPr>
                  <a:spLocks noRot="1" noChangeAspect="1" noMove="1" noResize="1" noEditPoints="1" noAdjustHandles="1" noChangeArrowheads="1" noChangeShapeType="1" noTextEdit="1"/>
                </p:cNvSpPr>
                <p:nvPr/>
              </p:nvSpPr>
              <p:spPr>
                <a:xfrm>
                  <a:off x="2229205" y="1528647"/>
                  <a:ext cx="1080000" cy="108000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42D781E-ED7D-E148-9443-ACCFF0EFD7A9}"/>
                    </a:ext>
                  </a:extLst>
                </p:cNvPr>
                <p:cNvSpPr/>
                <p:nvPr/>
              </p:nvSpPr>
              <p:spPr>
                <a:xfrm>
                  <a:off x="3559298" y="1528647"/>
                  <a:ext cx="1080000" cy="10800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4000" i="1" smtClean="0">
                                <a:solidFill>
                                  <a:schemeClr val="tx1"/>
                                </a:solidFill>
                                <a:latin typeface="Cambria Math" panose="02040503050406030204" pitchFamily="18" charset="0"/>
                              </a:rPr>
                            </m:ctrlPr>
                          </m:sSubPr>
                          <m:e>
                            <m:r>
                              <m:rPr>
                                <m:sty m:val="p"/>
                              </m:rPr>
                              <a:rPr lang="en-US" sz="4000" b="0" i="0" smtClean="0">
                                <a:solidFill>
                                  <a:schemeClr val="tx1"/>
                                </a:solidFill>
                                <a:latin typeface="Cambria Math" panose="02040503050406030204" pitchFamily="18" charset="0"/>
                              </a:rPr>
                              <m:t>O</m:t>
                            </m:r>
                          </m:e>
                          <m:sub>
                            <m:r>
                              <a:rPr lang="en-US" sz="4000" b="0" i="0" smtClean="0">
                                <a:solidFill>
                                  <a:schemeClr val="tx1"/>
                                </a:solidFill>
                                <a:latin typeface="Cambria Math" panose="02040503050406030204" pitchFamily="18" charset="0"/>
                              </a:rPr>
                              <m:t>2</m:t>
                            </m:r>
                          </m:sub>
                        </m:sSub>
                      </m:oMath>
                    </m:oMathPara>
                  </a14:m>
                  <a:endParaRPr lang="en-US" sz="4000" dirty="0">
                    <a:solidFill>
                      <a:schemeClr val="tx1"/>
                    </a:solidFill>
                    <a:latin typeface="Times" pitchFamily="2" charset="0"/>
                  </a:endParaRPr>
                </a:p>
              </p:txBody>
            </p:sp>
          </mc:Choice>
          <mc:Fallback xmlns="">
            <p:sp>
              <p:nvSpPr>
                <p:cNvPr id="7" name="Rectangle 6">
                  <a:extLst>
                    <a:ext uri="{FF2B5EF4-FFF2-40B4-BE49-F238E27FC236}">
                      <a16:creationId xmlns:a16="http://schemas.microsoft.com/office/drawing/2014/main" id="{542D781E-ED7D-E148-9443-ACCFF0EFD7A9}"/>
                    </a:ext>
                  </a:extLst>
                </p:cNvPr>
                <p:cNvSpPr>
                  <a:spLocks noRot="1" noChangeAspect="1" noMove="1" noResize="1" noEditPoints="1" noAdjustHandles="1" noChangeArrowheads="1" noChangeShapeType="1" noTextEdit="1"/>
                </p:cNvSpPr>
                <p:nvPr/>
              </p:nvSpPr>
              <p:spPr>
                <a:xfrm>
                  <a:off x="3559298" y="1528647"/>
                  <a:ext cx="1080000" cy="10800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302EB4C3-20C8-204C-B3FF-ED74EF78D325}"/>
                    </a:ext>
                  </a:extLst>
                </p:cNvPr>
                <p:cNvSpPr/>
                <p:nvPr/>
              </p:nvSpPr>
              <p:spPr>
                <a:xfrm>
                  <a:off x="4889391" y="1528647"/>
                  <a:ext cx="1080000" cy="10800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sz="4000" i="0" smtClean="0">
                            <a:solidFill>
                              <a:schemeClr val="tx1"/>
                            </a:solidFill>
                            <a:latin typeface="Cambria Math" panose="02040503050406030204" pitchFamily="18" charset="0"/>
                          </a:rPr>
                          <m:t>D</m:t>
                        </m:r>
                      </m:oMath>
                    </m:oMathPara>
                  </a14:m>
                  <a:endParaRPr lang="en-US" sz="4000" dirty="0">
                    <a:solidFill>
                      <a:schemeClr val="tx1"/>
                    </a:solidFill>
                    <a:latin typeface="Times" pitchFamily="2" charset="0"/>
                  </a:endParaRPr>
                </a:p>
              </p:txBody>
            </p:sp>
          </mc:Choice>
          <mc:Fallback xmlns="">
            <p:sp>
              <p:nvSpPr>
                <p:cNvPr id="8" name="Rectangle 7">
                  <a:extLst>
                    <a:ext uri="{FF2B5EF4-FFF2-40B4-BE49-F238E27FC236}">
                      <a16:creationId xmlns:a16="http://schemas.microsoft.com/office/drawing/2014/main" id="{302EB4C3-20C8-204C-B3FF-ED74EF78D325}"/>
                    </a:ext>
                  </a:extLst>
                </p:cNvPr>
                <p:cNvSpPr>
                  <a:spLocks noRot="1" noChangeAspect="1" noMove="1" noResize="1" noEditPoints="1" noAdjustHandles="1" noChangeArrowheads="1" noChangeShapeType="1" noTextEdit="1"/>
                </p:cNvSpPr>
                <p:nvPr/>
              </p:nvSpPr>
              <p:spPr>
                <a:xfrm>
                  <a:off x="4889391" y="1528647"/>
                  <a:ext cx="1080000" cy="1080000"/>
                </a:xfrm>
                <a:prstGeom prst="rect">
                  <a:avLst/>
                </a:prstGeom>
                <a:blipFill>
                  <a:blip r:embed="rId6"/>
                  <a:stretch>
                    <a:fillRect/>
                  </a:stretch>
                </a:blipFill>
              </p:spPr>
              <p:txBody>
                <a:bodyPr/>
                <a:lstStyle/>
                <a:p>
                  <a:r>
                    <a:rPr lang="en-US">
                      <a:noFill/>
                    </a:rPr>
                    <a:t> </a:t>
                  </a:r>
                </a:p>
              </p:txBody>
            </p:sp>
          </mc:Fallback>
        </mc:AlternateContent>
      </p:grpSp>
      <p:grpSp>
        <p:nvGrpSpPr>
          <p:cNvPr id="22" name="Group 21">
            <a:extLst>
              <a:ext uri="{FF2B5EF4-FFF2-40B4-BE49-F238E27FC236}">
                <a16:creationId xmlns:a16="http://schemas.microsoft.com/office/drawing/2014/main" id="{18CCF4DA-E9F3-5C40-A444-BD8FBCCD94C7}"/>
              </a:ext>
            </a:extLst>
          </p:cNvPr>
          <p:cNvGrpSpPr/>
          <p:nvPr/>
        </p:nvGrpSpPr>
        <p:grpSpPr>
          <a:xfrm>
            <a:off x="6359830" y="2394957"/>
            <a:ext cx="3740186" cy="1080000"/>
            <a:chOff x="6447169" y="1528647"/>
            <a:chExt cx="3740186" cy="1080000"/>
          </a:xfrm>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0ECF664B-AE94-DF44-9378-4F82448B0420}"/>
                    </a:ext>
                  </a:extLst>
                </p:cNvPr>
                <p:cNvSpPr/>
                <p:nvPr/>
              </p:nvSpPr>
              <p:spPr>
                <a:xfrm>
                  <a:off x="6447169" y="1528647"/>
                  <a:ext cx="1080000" cy="10800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4000" i="1" smtClean="0">
                                <a:solidFill>
                                  <a:schemeClr val="tx1"/>
                                </a:solidFill>
                                <a:latin typeface="Cambria Math" panose="02040503050406030204" pitchFamily="18" charset="0"/>
                              </a:rPr>
                            </m:ctrlPr>
                          </m:sSubPr>
                          <m:e>
                            <m:r>
                              <m:rPr>
                                <m:sty m:val="p"/>
                              </m:rPr>
                              <a:rPr lang="en-US" sz="4000" b="0" i="0" smtClean="0">
                                <a:solidFill>
                                  <a:schemeClr val="tx1"/>
                                </a:solidFill>
                                <a:latin typeface="Cambria Math" panose="02040503050406030204" pitchFamily="18" charset="0"/>
                              </a:rPr>
                              <m:t>O</m:t>
                            </m:r>
                          </m:e>
                          <m:sub>
                            <m:r>
                              <a:rPr lang="en-US" sz="4000" b="0" i="0" smtClean="0">
                                <a:solidFill>
                                  <a:schemeClr val="tx1"/>
                                </a:solidFill>
                                <a:latin typeface="Cambria Math" panose="02040503050406030204" pitchFamily="18" charset="0"/>
                              </a:rPr>
                              <m:t>1</m:t>
                            </m:r>
                          </m:sub>
                        </m:sSub>
                      </m:oMath>
                    </m:oMathPara>
                  </a14:m>
                  <a:endParaRPr lang="en-US" sz="4000" dirty="0">
                    <a:solidFill>
                      <a:schemeClr val="tx1"/>
                    </a:solidFill>
                    <a:latin typeface="Times" pitchFamily="2" charset="0"/>
                  </a:endParaRPr>
                </a:p>
              </p:txBody>
            </p:sp>
          </mc:Choice>
          <mc:Fallback xmlns="">
            <p:sp>
              <p:nvSpPr>
                <p:cNvPr id="9" name="Rectangle 8">
                  <a:extLst>
                    <a:ext uri="{FF2B5EF4-FFF2-40B4-BE49-F238E27FC236}">
                      <a16:creationId xmlns:a16="http://schemas.microsoft.com/office/drawing/2014/main" id="{0ECF664B-AE94-DF44-9378-4F82448B0420}"/>
                    </a:ext>
                  </a:extLst>
                </p:cNvPr>
                <p:cNvSpPr>
                  <a:spLocks noRot="1" noChangeAspect="1" noMove="1" noResize="1" noEditPoints="1" noAdjustHandles="1" noChangeArrowheads="1" noChangeShapeType="1" noTextEdit="1"/>
                </p:cNvSpPr>
                <p:nvPr/>
              </p:nvSpPr>
              <p:spPr>
                <a:xfrm>
                  <a:off x="6447169" y="1528647"/>
                  <a:ext cx="1080000" cy="108000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8C196D00-41FC-6B40-8011-C4B23E9C02E5}"/>
                    </a:ext>
                  </a:extLst>
                </p:cNvPr>
                <p:cNvSpPr/>
                <p:nvPr/>
              </p:nvSpPr>
              <p:spPr>
                <a:xfrm>
                  <a:off x="7777262" y="1528647"/>
                  <a:ext cx="1080000" cy="10800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4000" i="1" smtClean="0">
                                <a:solidFill>
                                  <a:schemeClr val="tx1"/>
                                </a:solidFill>
                                <a:latin typeface="Cambria Math" panose="02040503050406030204" pitchFamily="18" charset="0"/>
                              </a:rPr>
                            </m:ctrlPr>
                          </m:sSubPr>
                          <m:e>
                            <m:r>
                              <m:rPr>
                                <m:sty m:val="p"/>
                              </m:rPr>
                              <a:rPr lang="en-US" sz="4000" b="0" i="0" smtClean="0">
                                <a:solidFill>
                                  <a:schemeClr val="tx1"/>
                                </a:solidFill>
                                <a:latin typeface="Cambria Math" panose="02040503050406030204" pitchFamily="18" charset="0"/>
                              </a:rPr>
                              <m:t>O</m:t>
                            </m:r>
                          </m:e>
                          <m:sub>
                            <m:r>
                              <a:rPr lang="en-US" sz="4000" b="0" i="0" smtClean="0">
                                <a:solidFill>
                                  <a:schemeClr val="tx1"/>
                                </a:solidFill>
                                <a:latin typeface="Cambria Math" panose="02040503050406030204" pitchFamily="18" charset="0"/>
                              </a:rPr>
                              <m:t>2</m:t>
                            </m:r>
                          </m:sub>
                        </m:sSub>
                      </m:oMath>
                    </m:oMathPara>
                  </a14:m>
                  <a:endParaRPr lang="en-US" sz="4000" dirty="0">
                    <a:solidFill>
                      <a:schemeClr val="tx1"/>
                    </a:solidFill>
                    <a:latin typeface="Times" pitchFamily="2" charset="0"/>
                  </a:endParaRPr>
                </a:p>
              </p:txBody>
            </p:sp>
          </mc:Choice>
          <mc:Fallback xmlns="">
            <p:sp>
              <p:nvSpPr>
                <p:cNvPr id="10" name="Rectangle 9">
                  <a:extLst>
                    <a:ext uri="{FF2B5EF4-FFF2-40B4-BE49-F238E27FC236}">
                      <a16:creationId xmlns:a16="http://schemas.microsoft.com/office/drawing/2014/main" id="{8C196D00-41FC-6B40-8011-C4B23E9C02E5}"/>
                    </a:ext>
                  </a:extLst>
                </p:cNvPr>
                <p:cNvSpPr>
                  <a:spLocks noRot="1" noChangeAspect="1" noMove="1" noResize="1" noEditPoints="1" noAdjustHandles="1" noChangeArrowheads="1" noChangeShapeType="1" noTextEdit="1"/>
                </p:cNvSpPr>
                <p:nvPr/>
              </p:nvSpPr>
              <p:spPr>
                <a:xfrm>
                  <a:off x="7777262" y="1528647"/>
                  <a:ext cx="1080000" cy="10800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69731A8-A3BC-3B4A-AA05-85875D757D59}"/>
                    </a:ext>
                  </a:extLst>
                </p:cNvPr>
                <p:cNvSpPr/>
                <p:nvPr/>
              </p:nvSpPr>
              <p:spPr>
                <a:xfrm>
                  <a:off x="9107355" y="1528647"/>
                  <a:ext cx="1080000" cy="10800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sz="4000" i="0" smtClean="0">
                            <a:solidFill>
                              <a:schemeClr val="tx1"/>
                            </a:solidFill>
                            <a:latin typeface="Cambria Math" panose="02040503050406030204" pitchFamily="18" charset="0"/>
                          </a:rPr>
                          <m:t>D</m:t>
                        </m:r>
                      </m:oMath>
                    </m:oMathPara>
                  </a14:m>
                  <a:endParaRPr lang="en-US" sz="4000" dirty="0">
                    <a:solidFill>
                      <a:schemeClr val="tx1"/>
                    </a:solidFill>
                    <a:latin typeface="Times" pitchFamily="2" charset="0"/>
                  </a:endParaRPr>
                </a:p>
              </p:txBody>
            </p:sp>
          </mc:Choice>
          <mc:Fallback xmlns="">
            <p:sp>
              <p:nvSpPr>
                <p:cNvPr id="11" name="Rectangle 10">
                  <a:extLst>
                    <a:ext uri="{FF2B5EF4-FFF2-40B4-BE49-F238E27FC236}">
                      <a16:creationId xmlns:a16="http://schemas.microsoft.com/office/drawing/2014/main" id="{969731A8-A3BC-3B4A-AA05-85875D757D59}"/>
                    </a:ext>
                  </a:extLst>
                </p:cNvPr>
                <p:cNvSpPr>
                  <a:spLocks noRot="1" noChangeAspect="1" noMove="1" noResize="1" noEditPoints="1" noAdjustHandles="1" noChangeArrowheads="1" noChangeShapeType="1" noTextEdit="1"/>
                </p:cNvSpPr>
                <p:nvPr/>
              </p:nvSpPr>
              <p:spPr>
                <a:xfrm>
                  <a:off x="9107355" y="1528647"/>
                  <a:ext cx="1080000" cy="1080000"/>
                </a:xfrm>
                <a:prstGeom prst="rect">
                  <a:avLst/>
                </a:prstGeom>
                <a:blipFill>
                  <a:blip r:embed="rId6"/>
                  <a:stretch>
                    <a:fillRect/>
                  </a:stretch>
                </a:blipFill>
              </p:spPr>
              <p:txBody>
                <a:bodyPr/>
                <a:lstStyle/>
                <a:p>
                  <a:r>
                    <a:rPr lang="en-US">
                      <a:noFill/>
                    </a:rPr>
                    <a:t> </a:t>
                  </a:r>
                </a:p>
              </p:txBody>
            </p:sp>
          </mc:Fallback>
        </mc:AlternateContent>
      </p:grpSp>
      <p:grpSp>
        <p:nvGrpSpPr>
          <p:cNvPr id="12" name="Group 11">
            <a:extLst>
              <a:ext uri="{FF2B5EF4-FFF2-40B4-BE49-F238E27FC236}">
                <a16:creationId xmlns:a16="http://schemas.microsoft.com/office/drawing/2014/main" id="{1A2F3993-5396-B54A-9088-989C3C616241}"/>
              </a:ext>
            </a:extLst>
          </p:cNvPr>
          <p:cNvGrpSpPr>
            <a:grpSpLocks noChangeAspect="1"/>
          </p:cNvGrpSpPr>
          <p:nvPr/>
        </p:nvGrpSpPr>
        <p:grpSpPr>
          <a:xfrm>
            <a:off x="10536584" y="2394957"/>
            <a:ext cx="1072227" cy="1186220"/>
            <a:chOff x="3031963" y="4808040"/>
            <a:chExt cx="720000" cy="796546"/>
          </a:xfrm>
        </p:grpSpPr>
        <p:sp>
          <p:nvSpPr>
            <p:cNvPr id="13" name="Rectangle 12">
              <a:extLst>
                <a:ext uri="{FF2B5EF4-FFF2-40B4-BE49-F238E27FC236}">
                  <a16:creationId xmlns:a16="http://schemas.microsoft.com/office/drawing/2014/main" id="{2C7B7542-F6F7-754A-B49B-FF058D3FB6A4}"/>
                </a:ext>
              </a:extLst>
            </p:cNvPr>
            <p:cNvSpPr/>
            <p:nvPr/>
          </p:nvSpPr>
          <p:spPr>
            <a:xfrm>
              <a:off x="3031963" y="4808040"/>
              <a:ext cx="720000" cy="720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4" name="Arc 13">
              <a:extLst>
                <a:ext uri="{FF2B5EF4-FFF2-40B4-BE49-F238E27FC236}">
                  <a16:creationId xmlns:a16="http://schemas.microsoft.com/office/drawing/2014/main" id="{8CB064F3-EEE8-5F41-813C-3A48A94CB1AE}"/>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C38CB6F3-2FC0-4C40-86A5-39B0FB5D0A5F}"/>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23" name="Rounded Rectangle 22">
            <a:extLst>
              <a:ext uri="{FF2B5EF4-FFF2-40B4-BE49-F238E27FC236}">
                <a16:creationId xmlns:a16="http://schemas.microsoft.com/office/drawing/2014/main" id="{732DDE4D-8BC7-A443-81F9-6FBFC3E49422}"/>
              </a:ext>
            </a:extLst>
          </p:cNvPr>
          <p:cNvSpPr/>
          <p:nvPr/>
        </p:nvSpPr>
        <p:spPr>
          <a:xfrm>
            <a:off x="2033031" y="2230876"/>
            <a:ext cx="4076705" cy="1463040"/>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0345F287-009A-0D43-9F8B-14930A82BFBC}"/>
              </a:ext>
            </a:extLst>
          </p:cNvPr>
          <p:cNvSpPr/>
          <p:nvPr/>
        </p:nvSpPr>
        <p:spPr>
          <a:xfrm>
            <a:off x="6198012" y="2199550"/>
            <a:ext cx="4076705" cy="1463040"/>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ECC6865-6349-774E-8C3D-8AB876580C6F}"/>
                  </a:ext>
                </a:extLst>
              </p:cNvPr>
              <p:cNvSpPr txBox="1"/>
              <p:nvPr/>
            </p:nvSpPr>
            <p:spPr>
              <a:xfrm>
                <a:off x="2440776" y="3777067"/>
                <a:ext cx="3306290" cy="461665"/>
              </a:xfrm>
              <a:prstGeom prst="rect">
                <a:avLst/>
              </a:prstGeom>
              <a:noFill/>
            </p:spPr>
            <p:txBody>
              <a:bodyPr wrap="none" rtlCol="0">
                <a:spAutoFit/>
              </a:bodyPr>
              <a:lstStyle/>
              <a:p>
                <a:r>
                  <a:rPr lang="en-US" sz="2400" dirty="0"/>
                  <a:t>Grover operator </a:t>
                </a:r>
                <a14:m>
                  <m:oMath xmlns:m="http://schemas.openxmlformats.org/officeDocument/2006/math">
                    <m:r>
                      <a:rPr lang="en-US" sz="2400" b="0" i="1" smtClean="0">
                        <a:latin typeface="Cambria Math" panose="02040503050406030204" pitchFamily="18" charset="0"/>
                      </a:rPr>
                      <m:t>𝐺</m:t>
                    </m:r>
                    <m:r>
                      <a:rPr lang="en-US" sz="2400" b="0" i="1" smtClean="0">
                        <a:latin typeface="Cambria Math" panose="02040503050406030204" pitchFamily="18" charset="0"/>
                      </a:rPr>
                      <m:t>=</m:t>
                    </m:r>
                    <m:r>
                      <a:rPr lang="en-US" sz="2400" b="0" i="1" smtClean="0">
                        <a:latin typeface="Cambria Math" panose="02040503050406030204" pitchFamily="18" charset="0"/>
                      </a:rPr>
                      <m:t>𝐷𝑂</m:t>
                    </m:r>
                  </m:oMath>
                </a14:m>
                <a:endParaRPr lang="en-US" sz="2400" i="1" dirty="0"/>
              </a:p>
            </p:txBody>
          </p:sp>
        </mc:Choice>
        <mc:Fallback xmlns="">
          <p:sp>
            <p:nvSpPr>
              <p:cNvPr id="25" name="TextBox 24">
                <a:extLst>
                  <a:ext uri="{FF2B5EF4-FFF2-40B4-BE49-F238E27FC236}">
                    <a16:creationId xmlns:a16="http://schemas.microsoft.com/office/drawing/2014/main" id="{7ECC6865-6349-774E-8C3D-8AB876580C6F}"/>
                  </a:ext>
                </a:extLst>
              </p:cNvPr>
              <p:cNvSpPr txBox="1">
                <a:spLocks noRot="1" noChangeAspect="1" noMove="1" noResize="1" noEditPoints="1" noAdjustHandles="1" noChangeArrowheads="1" noChangeShapeType="1" noTextEdit="1"/>
              </p:cNvSpPr>
              <p:nvPr/>
            </p:nvSpPr>
            <p:spPr>
              <a:xfrm>
                <a:off x="2440776" y="3777067"/>
                <a:ext cx="3306290" cy="461665"/>
              </a:xfrm>
              <a:prstGeom prst="rect">
                <a:avLst/>
              </a:prstGeom>
              <a:blipFill>
                <a:blip r:embed="rId7"/>
                <a:stretch>
                  <a:fillRect l="-3065" t="-5263" b="-26316"/>
                </a:stretch>
              </a:blipFill>
            </p:spPr>
            <p:txBody>
              <a:bodyPr/>
              <a:lstStyle/>
              <a:p>
                <a:r>
                  <a:rPr lang="en-US">
                    <a:noFill/>
                  </a:rPr>
                  <a:t> </a:t>
                </a:r>
              </a:p>
            </p:txBody>
          </p:sp>
        </mc:Fallback>
      </mc:AlternateContent>
      <p:sp>
        <p:nvSpPr>
          <p:cNvPr id="27" name="Left Brace 26">
            <a:extLst>
              <a:ext uri="{FF2B5EF4-FFF2-40B4-BE49-F238E27FC236}">
                <a16:creationId xmlns:a16="http://schemas.microsoft.com/office/drawing/2014/main" id="{F4ACA04A-A951-5441-B4C8-E749E9CDE16A}"/>
              </a:ext>
            </a:extLst>
          </p:cNvPr>
          <p:cNvSpPr/>
          <p:nvPr/>
        </p:nvSpPr>
        <p:spPr>
          <a:xfrm rot="16200000">
            <a:off x="3875532" y="2530450"/>
            <a:ext cx="593539" cy="3874870"/>
          </a:xfrm>
          <a:prstGeom prst="leftBrace">
            <a:avLst>
              <a:gd name="adj1" fmla="val 2363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C5B67C15-6C09-2744-88C7-A8885B497138}"/>
              </a:ext>
            </a:extLst>
          </p:cNvPr>
          <p:cNvSpPr txBox="1"/>
          <p:nvPr/>
        </p:nvSpPr>
        <p:spPr>
          <a:xfrm>
            <a:off x="3155614" y="4837753"/>
            <a:ext cx="2294859" cy="461665"/>
          </a:xfrm>
          <a:prstGeom prst="rect">
            <a:avLst/>
          </a:prstGeom>
          <a:noFill/>
        </p:spPr>
        <p:txBody>
          <a:bodyPr wrap="none" rtlCol="0">
            <a:spAutoFit/>
          </a:bodyPr>
          <a:lstStyle/>
          <a:p>
            <a:r>
              <a:rPr lang="en-US" sz="2400" dirty="0"/>
              <a:t>Grover iterations</a:t>
            </a:r>
          </a:p>
        </p:txBody>
      </p:sp>
      <p:sp>
        <p:nvSpPr>
          <p:cNvPr id="29" name="Left Brace 28">
            <a:extLst>
              <a:ext uri="{FF2B5EF4-FFF2-40B4-BE49-F238E27FC236}">
                <a16:creationId xmlns:a16="http://schemas.microsoft.com/office/drawing/2014/main" id="{C820AD29-2A7A-4041-90A6-20FAFD8F7C0F}"/>
              </a:ext>
            </a:extLst>
          </p:cNvPr>
          <p:cNvSpPr/>
          <p:nvPr/>
        </p:nvSpPr>
        <p:spPr>
          <a:xfrm rot="5400000" flipV="1">
            <a:off x="3117248" y="663068"/>
            <a:ext cx="593539" cy="2358303"/>
          </a:xfrm>
          <a:prstGeom prst="leftBrace">
            <a:avLst>
              <a:gd name="adj1" fmla="val 2363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32464E5-3D21-9047-A0C9-9E39B6FA9632}"/>
                  </a:ext>
                </a:extLst>
              </p:cNvPr>
              <p:cNvSpPr txBox="1"/>
              <p:nvPr/>
            </p:nvSpPr>
            <p:spPr>
              <a:xfrm>
                <a:off x="2277406" y="1027521"/>
                <a:ext cx="226406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𝑂</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𝑂</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𝑂</m:t>
                          </m:r>
                        </m:e>
                        <m:sub>
                          <m:r>
                            <a:rPr lang="en-US" sz="2400" b="0" i="1" smtClean="0">
                              <a:latin typeface="Cambria Math" panose="02040503050406030204" pitchFamily="18" charset="0"/>
                            </a:rPr>
                            <m:t>2</m:t>
                          </m:r>
                        </m:sub>
                      </m:sSub>
                    </m:oMath>
                  </m:oMathPara>
                </a14:m>
                <a:endParaRPr lang="en-US" sz="2400" i="1" dirty="0">
                  <a:latin typeface="Times" pitchFamily="2" charset="0"/>
                </a:endParaRPr>
              </a:p>
            </p:txBody>
          </p:sp>
        </mc:Choice>
        <mc:Fallback xmlns="">
          <p:sp>
            <p:nvSpPr>
              <p:cNvPr id="30" name="TextBox 29">
                <a:extLst>
                  <a:ext uri="{FF2B5EF4-FFF2-40B4-BE49-F238E27FC236}">
                    <a16:creationId xmlns:a16="http://schemas.microsoft.com/office/drawing/2014/main" id="{932464E5-3D21-9047-A0C9-9E39B6FA9632}"/>
                  </a:ext>
                </a:extLst>
              </p:cNvPr>
              <p:cNvSpPr txBox="1">
                <a:spLocks noRot="1" noChangeAspect="1" noMove="1" noResize="1" noEditPoints="1" noAdjustHandles="1" noChangeArrowheads="1" noChangeShapeType="1" noTextEdit="1"/>
              </p:cNvSpPr>
              <p:nvPr/>
            </p:nvSpPr>
            <p:spPr>
              <a:xfrm>
                <a:off x="2277406" y="1027521"/>
                <a:ext cx="2264066"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CB9E1F6-45D5-F34D-94E0-3562737AB40C}"/>
                  </a:ext>
                </a:extLst>
              </p:cNvPr>
              <p:cNvSpPr txBox="1"/>
              <p:nvPr/>
            </p:nvSpPr>
            <p:spPr>
              <a:xfrm>
                <a:off x="718457" y="5569776"/>
                <a:ext cx="255294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𝑂</m:t>
                      </m:r>
                      <m:r>
                        <a:rPr lang="en-US" sz="2400" i="1">
                          <a:latin typeface="Cambria Math" panose="02040503050406030204" pitchFamily="18" charset="0"/>
                        </a:rPr>
                        <m:t>=</m:t>
                      </m:r>
                      <m:r>
                        <a:rPr lang="sr-Latn-RS" sz="2400" i="1">
                          <a:latin typeface="Cambria Math" panose="02040503050406030204" pitchFamily="18" charset="0"/>
                        </a:rPr>
                        <m:t>𝐼</m:t>
                      </m:r>
                      <m:r>
                        <a:rPr lang="sr-Latn-RS" sz="2400" i="1">
                          <a:latin typeface="Cambria Math" panose="02040503050406030204" pitchFamily="18" charset="0"/>
                        </a:rPr>
                        <m:t>−2</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r>
                        <a:rPr lang="sr-Latn-RS" sz="2400">
                          <a:latin typeface="Cambria Math" panose="02040503050406030204" pitchFamily="18" charset="0"/>
                        </a:rPr>
                        <m:t>⟨</m:t>
                      </m:r>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r>
                        <a:rPr lang="sr-Latn-RS" sz="2400">
                          <a:latin typeface="Cambria Math" panose="02040503050406030204" pitchFamily="18" charset="0"/>
                        </a:rPr>
                        <m:t>|</m:t>
                      </m:r>
                    </m:oMath>
                  </m:oMathPara>
                </a14:m>
                <a:endParaRPr lang="en-US" sz="2400" dirty="0"/>
              </a:p>
            </p:txBody>
          </p:sp>
        </mc:Choice>
        <mc:Fallback xmlns="">
          <p:sp>
            <p:nvSpPr>
              <p:cNvPr id="31" name="TextBox 30">
                <a:extLst>
                  <a:ext uri="{FF2B5EF4-FFF2-40B4-BE49-F238E27FC236}">
                    <a16:creationId xmlns:a16="http://schemas.microsoft.com/office/drawing/2014/main" id="{6CB9E1F6-45D5-F34D-94E0-3562737AB40C}"/>
                  </a:ext>
                </a:extLst>
              </p:cNvPr>
              <p:cNvSpPr txBox="1">
                <a:spLocks noRot="1" noChangeAspect="1" noMove="1" noResize="1" noEditPoints="1" noAdjustHandles="1" noChangeArrowheads="1" noChangeShapeType="1" noTextEdit="1"/>
              </p:cNvSpPr>
              <p:nvPr/>
            </p:nvSpPr>
            <p:spPr>
              <a:xfrm>
                <a:off x="718457" y="5569776"/>
                <a:ext cx="2552943" cy="461665"/>
              </a:xfrm>
              <a:prstGeom prst="rect">
                <a:avLst/>
              </a:prstGeom>
              <a:blipFill>
                <a:blip r:embed="rId9"/>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DD5AE40-F035-AC4D-9AEC-56F457F3B7BA}"/>
                  </a:ext>
                </a:extLst>
              </p:cNvPr>
              <p:cNvSpPr txBox="1"/>
              <p:nvPr/>
            </p:nvSpPr>
            <p:spPr>
              <a:xfrm>
                <a:off x="718457" y="6237352"/>
                <a:ext cx="229421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𝐷</m:t>
                      </m:r>
                      <m:r>
                        <a:rPr lang="en-US" sz="2400">
                          <a:latin typeface="Cambria Math" panose="02040503050406030204" pitchFamily="18" charset="0"/>
                        </a:rPr>
                        <m:t>=2</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a:latin typeface="Cambria Math" panose="02040503050406030204" pitchFamily="18" charset="0"/>
                        </a:rPr>
                        <m:t>⟨</m:t>
                      </m:r>
                      <m:r>
                        <a:rPr lang="en-US" sz="2400" i="1">
                          <a:latin typeface="Cambria Math" panose="02040503050406030204" pitchFamily="18" charset="0"/>
                        </a:rPr>
                        <m:t>𝑆</m:t>
                      </m:r>
                      <m:r>
                        <a:rPr lang="en-US" sz="2400">
                          <a:latin typeface="Cambria Math" panose="02040503050406030204" pitchFamily="18" charset="0"/>
                        </a:rPr>
                        <m:t>|−</m:t>
                      </m:r>
                      <m:r>
                        <a:rPr lang="en-US" sz="2400" i="1">
                          <a:latin typeface="Cambria Math" panose="02040503050406030204" pitchFamily="18" charset="0"/>
                        </a:rPr>
                        <m:t>𝐼</m:t>
                      </m:r>
                    </m:oMath>
                  </m:oMathPara>
                </a14:m>
                <a:endParaRPr lang="en-US" sz="2400" dirty="0"/>
              </a:p>
            </p:txBody>
          </p:sp>
        </mc:Choice>
        <mc:Fallback xmlns="">
          <p:sp>
            <p:nvSpPr>
              <p:cNvPr id="32" name="TextBox 31">
                <a:extLst>
                  <a:ext uri="{FF2B5EF4-FFF2-40B4-BE49-F238E27FC236}">
                    <a16:creationId xmlns:a16="http://schemas.microsoft.com/office/drawing/2014/main" id="{4DD5AE40-F035-AC4D-9AEC-56F457F3B7BA}"/>
                  </a:ext>
                </a:extLst>
              </p:cNvPr>
              <p:cNvSpPr txBox="1">
                <a:spLocks noRot="1" noChangeAspect="1" noMove="1" noResize="1" noEditPoints="1" noAdjustHandles="1" noChangeArrowheads="1" noChangeShapeType="1" noTextEdit="1"/>
              </p:cNvSpPr>
              <p:nvPr/>
            </p:nvSpPr>
            <p:spPr>
              <a:xfrm>
                <a:off x="718457" y="6237352"/>
                <a:ext cx="2294218" cy="461665"/>
              </a:xfrm>
              <a:prstGeom prst="rect">
                <a:avLst/>
              </a:prstGeom>
              <a:blipFill>
                <a:blip r:embed="rId10"/>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F5CB81B-F130-E544-A87D-216960456851}"/>
                  </a:ext>
                </a:extLst>
              </p:cNvPr>
              <p:cNvSpPr txBox="1"/>
              <p:nvPr/>
            </p:nvSpPr>
            <p:spPr>
              <a:xfrm>
                <a:off x="3876486" y="5888937"/>
                <a:ext cx="53029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𝐺</m:t>
                      </m:r>
                      <m:r>
                        <a:rPr lang="en-US" sz="2400" i="1" smtClean="0">
                          <a:latin typeface="Cambria Math" panose="02040503050406030204" pitchFamily="18" charset="0"/>
                        </a:rPr>
                        <m:t>=</m:t>
                      </m:r>
                      <m:r>
                        <a:rPr lang="en-US" sz="2400" b="0" i="1" smtClean="0">
                          <a:latin typeface="Cambria Math" panose="02040503050406030204" pitchFamily="18" charset="0"/>
                        </a:rPr>
                        <m:t>𝐷𝑂</m:t>
                      </m:r>
                      <m:r>
                        <a:rPr lang="en-US" sz="2400" b="0" i="1" smtClean="0">
                          <a:latin typeface="Cambria Math" panose="02040503050406030204" pitchFamily="18" charset="0"/>
                        </a:rPr>
                        <m:t>=</m:t>
                      </m:r>
                      <m:d>
                        <m:dPr>
                          <m:ctrlPr>
                            <a:rPr lang="en-US" sz="2400" i="1">
                              <a:latin typeface="Cambria Math" panose="02040503050406030204" pitchFamily="18" charset="0"/>
                            </a:rPr>
                          </m:ctrlPr>
                        </m:dPr>
                        <m:e>
                          <m:r>
                            <a:rPr lang="en-US" sz="2400">
                              <a:latin typeface="Cambria Math" panose="02040503050406030204" pitchFamily="18" charset="0"/>
                            </a:rPr>
                            <m:t>2</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a:latin typeface="Cambria Math" panose="02040503050406030204" pitchFamily="18" charset="0"/>
                            </a:rPr>
                            <m:t>⟨</m:t>
                          </m:r>
                          <m:r>
                            <a:rPr lang="en-US" sz="2400" i="1">
                              <a:latin typeface="Cambria Math" panose="02040503050406030204" pitchFamily="18" charset="0"/>
                            </a:rPr>
                            <m:t>𝑆</m:t>
                          </m:r>
                          <m:r>
                            <a:rPr lang="en-US" sz="2400">
                              <a:latin typeface="Cambria Math" panose="02040503050406030204" pitchFamily="18" charset="0"/>
                            </a:rPr>
                            <m:t>|−</m:t>
                          </m:r>
                          <m:r>
                            <a:rPr lang="en-US" sz="2400" i="1">
                              <a:latin typeface="Cambria Math" panose="02040503050406030204" pitchFamily="18" charset="0"/>
                            </a:rPr>
                            <m:t>𝐼</m:t>
                          </m:r>
                        </m:e>
                      </m:d>
                      <m:d>
                        <m:dPr>
                          <m:ctrlPr>
                            <a:rPr lang="en-US" sz="2400" i="1">
                              <a:latin typeface="Cambria Math" panose="02040503050406030204" pitchFamily="18" charset="0"/>
                            </a:rPr>
                          </m:ctrlPr>
                        </m:dPr>
                        <m:e>
                          <m:r>
                            <a:rPr lang="sr-Latn-RS" sz="2400" i="1">
                              <a:latin typeface="Cambria Math" panose="02040503050406030204" pitchFamily="18" charset="0"/>
                            </a:rPr>
                            <m:t>𝐼</m:t>
                          </m:r>
                          <m:r>
                            <a:rPr lang="sr-Latn-RS" sz="2400" i="1">
                              <a:latin typeface="Cambria Math" panose="02040503050406030204" pitchFamily="18" charset="0"/>
                            </a:rPr>
                            <m:t>−2</m:t>
                          </m:r>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e>
                          </m:d>
                          <m:r>
                            <a:rPr lang="sr-Latn-RS" sz="2400">
                              <a:latin typeface="Cambria Math" panose="02040503050406030204" pitchFamily="18" charset="0"/>
                            </a:rPr>
                            <m:t>⟨</m:t>
                          </m:r>
                          <m:sSup>
                            <m:sSupPr>
                              <m:ctrlPr>
                                <a:rPr lang="en-ZA" sz="2400" i="1">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m:t>
                              </m:r>
                            </m:sup>
                          </m:sSup>
                          <m:r>
                            <a:rPr lang="sr-Latn-RS" sz="2400">
                              <a:latin typeface="Cambria Math" panose="02040503050406030204" pitchFamily="18" charset="0"/>
                            </a:rPr>
                            <m:t>|</m:t>
                          </m:r>
                        </m:e>
                      </m:d>
                    </m:oMath>
                  </m:oMathPara>
                </a14:m>
                <a:endParaRPr lang="en-US" sz="2400" dirty="0"/>
              </a:p>
            </p:txBody>
          </p:sp>
        </mc:Choice>
        <mc:Fallback xmlns="">
          <p:sp>
            <p:nvSpPr>
              <p:cNvPr id="33" name="TextBox 32">
                <a:extLst>
                  <a:ext uri="{FF2B5EF4-FFF2-40B4-BE49-F238E27FC236}">
                    <a16:creationId xmlns:a16="http://schemas.microsoft.com/office/drawing/2014/main" id="{5F5CB81B-F130-E544-A87D-216960456851}"/>
                  </a:ext>
                </a:extLst>
              </p:cNvPr>
              <p:cNvSpPr txBox="1">
                <a:spLocks noRot="1" noChangeAspect="1" noMove="1" noResize="1" noEditPoints="1" noAdjustHandles="1" noChangeArrowheads="1" noChangeShapeType="1" noTextEdit="1"/>
              </p:cNvSpPr>
              <p:nvPr/>
            </p:nvSpPr>
            <p:spPr>
              <a:xfrm>
                <a:off x="3876486" y="5888937"/>
                <a:ext cx="5302927" cy="461665"/>
              </a:xfrm>
              <a:prstGeom prst="rect">
                <a:avLst/>
              </a:prstGeom>
              <a:blipFill>
                <a:blip r:embed="rId11"/>
                <a:stretch>
                  <a:fillRect b="-16216"/>
                </a:stretch>
              </a:blipFill>
            </p:spPr>
            <p:txBody>
              <a:bodyPr/>
              <a:lstStyle/>
              <a:p>
                <a:r>
                  <a:rPr lang="en-US">
                    <a:noFill/>
                  </a:rPr>
                  <a:t> </a:t>
                </a:r>
              </a:p>
            </p:txBody>
          </p:sp>
        </mc:Fallback>
      </mc:AlternateContent>
      <p:sp>
        <p:nvSpPr>
          <p:cNvPr id="34" name="Left Brace 33">
            <a:extLst>
              <a:ext uri="{FF2B5EF4-FFF2-40B4-BE49-F238E27FC236}">
                <a16:creationId xmlns:a16="http://schemas.microsoft.com/office/drawing/2014/main" id="{6F674F90-7844-2049-84A3-2215DF2A9F9D}"/>
              </a:ext>
            </a:extLst>
          </p:cNvPr>
          <p:cNvSpPr/>
          <p:nvPr/>
        </p:nvSpPr>
        <p:spPr>
          <a:xfrm rot="10800000" flipV="1">
            <a:off x="3375552" y="5569776"/>
            <a:ext cx="396781" cy="1129241"/>
          </a:xfrm>
          <a:prstGeom prst="leftBrace">
            <a:avLst>
              <a:gd name="adj1" fmla="val 2242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Left Brace 34">
            <a:extLst>
              <a:ext uri="{FF2B5EF4-FFF2-40B4-BE49-F238E27FC236}">
                <a16:creationId xmlns:a16="http://schemas.microsoft.com/office/drawing/2014/main" id="{3828546D-B91D-364E-9DA2-B58628CA59DC}"/>
              </a:ext>
            </a:extLst>
          </p:cNvPr>
          <p:cNvSpPr/>
          <p:nvPr/>
        </p:nvSpPr>
        <p:spPr>
          <a:xfrm rot="16200000">
            <a:off x="8040512" y="2526485"/>
            <a:ext cx="593539" cy="3874870"/>
          </a:xfrm>
          <a:prstGeom prst="leftBrace">
            <a:avLst>
              <a:gd name="adj1" fmla="val 2363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a:extLst>
              <a:ext uri="{FF2B5EF4-FFF2-40B4-BE49-F238E27FC236}">
                <a16:creationId xmlns:a16="http://schemas.microsoft.com/office/drawing/2014/main" id="{24D1FFBC-11C3-A84C-9AEE-279770390159}"/>
              </a:ext>
            </a:extLst>
          </p:cNvPr>
          <p:cNvSpPr txBox="1"/>
          <p:nvPr/>
        </p:nvSpPr>
        <p:spPr>
          <a:xfrm>
            <a:off x="7320594" y="4833788"/>
            <a:ext cx="2294859" cy="461665"/>
          </a:xfrm>
          <a:prstGeom prst="rect">
            <a:avLst/>
          </a:prstGeom>
          <a:noFill/>
        </p:spPr>
        <p:txBody>
          <a:bodyPr wrap="none" rtlCol="0">
            <a:spAutoFit/>
          </a:bodyPr>
          <a:lstStyle/>
          <a:p>
            <a:r>
              <a:rPr lang="en-US" sz="2400" dirty="0"/>
              <a:t>Grover iterations</a:t>
            </a:r>
          </a:p>
        </p:txBody>
      </p:sp>
    </p:spTree>
    <p:extLst>
      <p:ext uri="{BB962C8B-B14F-4D97-AF65-F5344CB8AC3E}">
        <p14:creationId xmlns:p14="http://schemas.microsoft.com/office/powerpoint/2010/main" val="41379845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031A511-B9E2-8346-922E-34B500D3F11E}"/>
              </a:ext>
            </a:extLst>
          </p:cNvPr>
          <p:cNvSpPr>
            <a:spLocks noGrp="1"/>
          </p:cNvSpPr>
          <p:nvPr>
            <p:ph type="sldNum" sz="quarter" idx="12"/>
          </p:nvPr>
        </p:nvSpPr>
        <p:spPr/>
        <p:txBody>
          <a:bodyPr/>
          <a:lstStyle/>
          <a:p>
            <a:fld id="{591A223C-FA10-BC46-A853-03BA373D023C}" type="slidenum">
              <a:rPr lang="en-US" smtClean="0"/>
              <a:t>27</a:t>
            </a:fld>
            <a:endParaRPr lang="en-US"/>
          </a:p>
        </p:txBody>
      </p:sp>
      <p:sp>
        <p:nvSpPr>
          <p:cNvPr id="6" name="Title 5">
            <a:extLst>
              <a:ext uri="{FF2B5EF4-FFF2-40B4-BE49-F238E27FC236}">
                <a16:creationId xmlns:a16="http://schemas.microsoft.com/office/drawing/2014/main" id="{A77366C3-DEE0-8A47-97FB-97A06A5B1096}"/>
              </a:ext>
            </a:extLst>
          </p:cNvPr>
          <p:cNvSpPr>
            <a:spLocks noGrp="1"/>
          </p:cNvSpPr>
          <p:nvPr>
            <p:ph type="title"/>
          </p:nvPr>
        </p:nvSpPr>
        <p:spPr/>
        <p:txBody>
          <a:bodyPr/>
          <a:lstStyle/>
          <a:p>
            <a:r>
              <a:rPr lang="en-ZA" dirty="0"/>
              <a:t>Grover’s Algorithm for SAT Problems</a:t>
            </a:r>
            <a:endParaRPr lang="en-US" dirty="0"/>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A1CC7155-6450-AF4D-B224-7F2C9DE884C4}"/>
                  </a:ext>
                </a:extLst>
              </p:cNvPr>
              <p:cNvGraphicFramePr>
                <a:graphicFrameLocks noGrp="1"/>
              </p:cNvGraphicFramePr>
              <p:nvPr>
                <p:extLst/>
              </p:nvPr>
            </p:nvGraphicFramePr>
            <p:xfrm>
              <a:off x="3605444" y="976087"/>
              <a:ext cx="4796503" cy="1866900"/>
            </p:xfrm>
            <a:graphic>
              <a:graphicData uri="http://schemas.openxmlformats.org/drawingml/2006/table">
                <a:tbl>
                  <a:tblPr firstRow="1" firstCol="1" bandRow="1">
                    <a:tableStyleId>{5C22544A-7EE6-4342-B048-85BDC9FD1C3A}</a:tableStyleId>
                  </a:tblPr>
                  <a:tblGrid>
                    <a:gridCol w="1112268">
                      <a:extLst>
                        <a:ext uri="{9D8B030D-6E8A-4147-A177-3AD203B41FA5}">
                          <a16:colId xmlns:a16="http://schemas.microsoft.com/office/drawing/2014/main" val="1423986472"/>
                        </a:ext>
                      </a:extLst>
                    </a:gridCol>
                    <a:gridCol w="1145809">
                      <a:extLst>
                        <a:ext uri="{9D8B030D-6E8A-4147-A177-3AD203B41FA5}">
                          <a16:colId xmlns:a16="http://schemas.microsoft.com/office/drawing/2014/main" val="1878583858"/>
                        </a:ext>
                      </a:extLst>
                    </a:gridCol>
                    <a:gridCol w="2538426">
                      <a:extLst>
                        <a:ext uri="{9D8B030D-6E8A-4147-A177-3AD203B41FA5}">
                          <a16:colId xmlns:a16="http://schemas.microsoft.com/office/drawing/2014/main" val="2039416510"/>
                        </a:ext>
                      </a:extLst>
                    </a:gridCol>
                  </a:tblGrid>
                  <a:tr h="0">
                    <a:tc>
                      <a:txBody>
                        <a:bodyPr/>
                        <a:lstStyle/>
                        <a:p>
                          <a:pPr algn="ctr">
                            <a:spcBef>
                              <a:spcPts val="300"/>
                            </a:spcBef>
                            <a:spcAft>
                              <a:spcPts val="300"/>
                            </a:spcAft>
                          </a:pPr>
                          <a14:m>
                            <m:oMathPara xmlns:m="http://schemas.openxmlformats.org/officeDocument/2006/math">
                              <m:oMathParaPr>
                                <m:jc m:val="centerGroup"/>
                              </m:oMathParaPr>
                              <m:oMath xmlns:m="http://schemas.openxmlformats.org/officeDocument/2006/math">
                                <m:sSub>
                                  <m:sSubPr>
                                    <m:ctrlPr>
                                      <a:rPr lang="sr-Latn-RS" sz="2400" b="0" i="1" smtClean="0">
                                        <a:latin typeface="Cambria Math" panose="02040503050406030204" pitchFamily="18" charset="0"/>
                                      </a:rPr>
                                    </m:ctrlPr>
                                  </m:sSubPr>
                                  <m:e>
                                    <m:r>
                                      <a:rPr lang="sr-Latn-RS" sz="2400" b="0" i="1" smtClean="0">
                                        <a:latin typeface="Cambria Math" panose="02040503050406030204" pitchFamily="18" charset="0"/>
                                      </a:rPr>
                                      <m:t>𝑥</m:t>
                                    </m:r>
                                  </m:e>
                                  <m:sub>
                                    <m:r>
                                      <a:rPr lang="sr-Latn-RS" sz="2400" b="0" i="1" smtClean="0">
                                        <a:latin typeface="Cambria Math" panose="02040503050406030204" pitchFamily="18" charset="0"/>
                                      </a:rPr>
                                      <m:t>1</m:t>
                                    </m:r>
                                  </m:sub>
                                </m:sSub>
                              </m:oMath>
                            </m:oMathPara>
                          </a14:m>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300"/>
                            </a:spcBef>
                            <a:spcAft>
                              <a:spcPts val="300"/>
                            </a:spcAft>
                          </a:pPr>
                          <a14:m>
                            <m:oMathPara xmlns:m="http://schemas.openxmlformats.org/officeDocument/2006/math">
                              <m:oMathParaPr>
                                <m:jc m:val="centerGroup"/>
                              </m:oMathParaPr>
                              <m:oMath xmlns:m="http://schemas.openxmlformats.org/officeDocument/2006/math">
                                <m:sSub>
                                  <m:sSubPr>
                                    <m:ctrlPr>
                                      <a:rPr lang="sr-Latn-RS" sz="2400" b="0" i="1" smtClean="0">
                                        <a:latin typeface="Cambria Math" panose="02040503050406030204" pitchFamily="18" charset="0"/>
                                      </a:rPr>
                                    </m:ctrlPr>
                                  </m:sSubPr>
                                  <m:e>
                                    <m:r>
                                      <a:rPr lang="sr-Latn-RS" sz="2400" b="0" i="1" smtClean="0">
                                        <a:latin typeface="Cambria Math" panose="02040503050406030204" pitchFamily="18" charset="0"/>
                                      </a:rPr>
                                      <m:t>𝑥</m:t>
                                    </m:r>
                                  </m:e>
                                  <m:sub>
                                    <m:r>
                                      <a:rPr lang="sr-Latn-RS" sz="2400" b="0" i="1" smtClean="0">
                                        <a:latin typeface="Cambria Math" panose="02040503050406030204" pitchFamily="18" charset="0"/>
                                      </a:rPr>
                                      <m:t>1</m:t>
                                    </m:r>
                                  </m:sub>
                                </m:sSub>
                              </m:oMath>
                            </m:oMathPara>
                          </a14:m>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sr-Latn-RS" sz="2400" b="0" i="1" smtClean="0">
                                    <a:latin typeface="Cambria Math" panose="02040503050406030204" pitchFamily="18" charset="0"/>
                                  </a:rPr>
                                  <m:t>=</m:t>
                                </m:r>
                                <m:sSub>
                                  <m:sSubPr>
                                    <m:ctrlPr>
                                      <a:rPr lang="sr-Latn-RS" sz="2400" b="0" i="1" smtClean="0">
                                        <a:latin typeface="Cambria Math" panose="02040503050406030204" pitchFamily="18" charset="0"/>
                                      </a:rPr>
                                    </m:ctrlPr>
                                  </m:sSubPr>
                                  <m:e>
                                    <m:r>
                                      <a:rPr lang="sr-Latn-RS" sz="2400" b="0" i="1" smtClean="0">
                                        <a:latin typeface="Cambria Math" panose="02040503050406030204" pitchFamily="18" charset="0"/>
                                      </a:rPr>
                                      <m:t>𝑥</m:t>
                                    </m:r>
                                  </m:e>
                                  <m:sub>
                                    <m:r>
                                      <a:rPr lang="sr-Latn-RS" sz="2400" b="0" i="1" smtClean="0">
                                        <a:latin typeface="Cambria Math" panose="02040503050406030204" pitchFamily="18" charset="0"/>
                                      </a:rPr>
                                      <m:t>1</m:t>
                                    </m:r>
                                  </m:sub>
                                </m:sSub>
                                <m:sSub>
                                  <m:sSubPr>
                                    <m:ctrlPr>
                                      <a:rPr lang="sr-Latn-RS" sz="2400" i="1">
                                        <a:latin typeface="Cambria Math" panose="02040503050406030204" pitchFamily="18" charset="0"/>
                                      </a:rPr>
                                    </m:ctrlPr>
                                  </m:sSubPr>
                                  <m:e>
                                    <m:r>
                                      <a:rPr lang="sr-Latn-RS" sz="2400" i="1" smtClean="0">
                                        <a:latin typeface="Cambria Math" panose="02040503050406030204" pitchFamily="18" charset="0"/>
                                        <a:ea typeface="Cambria Math" panose="02040503050406030204" pitchFamily="18" charset="0"/>
                                      </a:rPr>
                                      <m:t>⋀</m:t>
                                    </m:r>
                                    <m:r>
                                      <a:rPr lang="sr-Latn-RS" sz="2400" i="1">
                                        <a:latin typeface="Cambria Math" panose="02040503050406030204" pitchFamily="18" charset="0"/>
                                      </a:rPr>
                                      <m:t>𝑥</m:t>
                                    </m:r>
                                  </m:e>
                                  <m:sub>
                                    <m:r>
                                      <a:rPr lang="sr-Latn-RS" sz="2400" b="0" i="1" smtClean="0">
                                        <a:latin typeface="Cambria Math" panose="02040503050406030204" pitchFamily="18" charset="0"/>
                                      </a:rPr>
                                      <m:t>2</m:t>
                                    </m:r>
                                  </m:sub>
                                </m:sSub>
                              </m:oMath>
                            </m:oMathPara>
                          </a14:m>
                          <a:endParaRPr lang="en-US" sz="2400" dirty="0"/>
                        </a:p>
                      </a:txBody>
                      <a:tcPr marL="68580" marR="68580" marT="0" marB="0"/>
                    </a:tc>
                    <a:extLst>
                      <a:ext uri="{0D108BD9-81ED-4DB2-BD59-A6C34878D82A}">
                        <a16:rowId xmlns:a16="http://schemas.microsoft.com/office/drawing/2014/main" val="808942815"/>
                      </a:ext>
                    </a:extLst>
                  </a:tr>
                  <a:tr h="0">
                    <a:tc>
                      <a:txBody>
                        <a:bodyPr/>
                        <a:lstStyle/>
                        <a:p>
                          <a:pPr algn="ctr">
                            <a:spcBef>
                              <a:spcPts val="200"/>
                            </a:spcBef>
                            <a:spcAft>
                              <a:spcPts val="200"/>
                            </a:spcAft>
                            <a:tabLst>
                              <a:tab pos="398145" algn="l"/>
                            </a:tabLst>
                          </a:pPr>
                          <a:r>
                            <a:rPr lang="sr-Latn-RS" sz="2400" dirty="0">
                              <a:effectLst/>
                            </a:rPr>
                            <a:t>0</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solidFill>
                                <a:schemeClr val="bg1"/>
                              </a:solidFill>
                              <a:effectLst/>
                            </a:rPr>
                            <a:t>0</a:t>
                          </a:r>
                          <a:endParaRPr lang="en-ZA" sz="24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Aft>
                              <a:spcPts val="0"/>
                            </a:spcAft>
                          </a:pPr>
                          <a:r>
                            <a:rPr lang="sr-Latn-RS" sz="2400">
                              <a:effectLst/>
                            </a:rPr>
                            <a:t>0</a:t>
                          </a:r>
                          <a:endParaRPr lang="en-ZA"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19113289"/>
                      </a:ext>
                    </a:extLst>
                  </a:tr>
                  <a:tr h="0">
                    <a:tc>
                      <a:txBody>
                        <a:bodyPr/>
                        <a:lstStyle/>
                        <a:p>
                          <a:pPr algn="ctr">
                            <a:spcBef>
                              <a:spcPts val="200"/>
                            </a:spcBef>
                            <a:spcAft>
                              <a:spcPts val="200"/>
                            </a:spcAft>
                            <a:tabLst>
                              <a:tab pos="398145" algn="l"/>
                            </a:tabLst>
                          </a:pPr>
                          <a:r>
                            <a:rPr lang="sr-Latn-RS" sz="2400" dirty="0">
                              <a:effectLst/>
                            </a:rPr>
                            <a:t>0</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solidFill>
                                <a:schemeClr val="bg1"/>
                              </a:solidFill>
                              <a:effectLst/>
                            </a:rPr>
                            <a:t>1</a:t>
                          </a:r>
                          <a:endParaRPr lang="en-ZA" sz="24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effectLst/>
                            </a:rPr>
                            <a:t>0</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79737442"/>
                      </a:ext>
                    </a:extLst>
                  </a:tr>
                  <a:tr h="135890">
                    <a:tc>
                      <a:txBody>
                        <a:bodyPr/>
                        <a:lstStyle/>
                        <a:p>
                          <a:pPr algn="ctr">
                            <a:spcBef>
                              <a:spcPts val="200"/>
                            </a:spcBef>
                            <a:spcAft>
                              <a:spcPts val="200"/>
                            </a:spcAft>
                            <a:tabLst>
                              <a:tab pos="398145" algn="l"/>
                            </a:tabLst>
                          </a:pPr>
                          <a:r>
                            <a:rPr lang="sr-Latn-RS" sz="2400" dirty="0">
                              <a:effectLst/>
                            </a:rPr>
                            <a:t>1</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solidFill>
                                <a:schemeClr val="bg1"/>
                              </a:solidFill>
                              <a:effectLst/>
                            </a:rPr>
                            <a:t>0</a:t>
                          </a:r>
                          <a:endParaRPr lang="en-ZA" sz="24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a:effectLst/>
                            </a:rPr>
                            <a:t>0</a:t>
                          </a:r>
                          <a:endParaRPr lang="en-ZA"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83115458"/>
                      </a:ext>
                    </a:extLst>
                  </a:tr>
                  <a:tr h="135890">
                    <a:tc>
                      <a:txBody>
                        <a:bodyPr/>
                        <a:lstStyle/>
                        <a:p>
                          <a:pPr algn="ctr">
                            <a:spcBef>
                              <a:spcPts val="200"/>
                            </a:spcBef>
                            <a:spcAft>
                              <a:spcPts val="200"/>
                            </a:spcAft>
                            <a:tabLst>
                              <a:tab pos="398145" algn="l"/>
                            </a:tabLst>
                          </a:pPr>
                          <a:r>
                            <a:rPr lang="sr-Latn-RS" sz="2400" dirty="0">
                              <a:effectLst/>
                            </a:rPr>
                            <a:t>1</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solidFill>
                                <a:schemeClr val="bg1"/>
                              </a:solidFill>
                              <a:effectLst/>
                            </a:rPr>
                            <a:t>1</a:t>
                          </a:r>
                          <a:endParaRPr lang="en-ZA" sz="24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effectLst/>
                            </a:rPr>
                            <a:t>1</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60069591"/>
                      </a:ext>
                    </a:extLst>
                  </a:tr>
                </a:tbl>
              </a:graphicData>
            </a:graphic>
          </p:graphicFrame>
        </mc:Choice>
        <mc:Fallback xmlns="">
          <p:graphicFrame>
            <p:nvGraphicFramePr>
              <p:cNvPr id="15" name="Table 14">
                <a:extLst>
                  <a:ext uri="{FF2B5EF4-FFF2-40B4-BE49-F238E27FC236}">
                    <a16:creationId xmlns:a16="http://schemas.microsoft.com/office/drawing/2014/main" id="{A1CC7155-6450-AF4D-B224-7F2C9DE884C4}"/>
                  </a:ext>
                </a:extLst>
              </p:cNvPr>
              <p:cNvGraphicFramePr>
                <a:graphicFrameLocks noGrp="1"/>
              </p:cNvGraphicFramePr>
              <p:nvPr>
                <p:extLst>
                  <p:ext uri="{D42A27DB-BD31-4B8C-83A1-F6EECF244321}">
                    <p14:modId xmlns:p14="http://schemas.microsoft.com/office/powerpoint/2010/main" val="109101647"/>
                  </p:ext>
                </p:extLst>
              </p:nvPr>
            </p:nvGraphicFramePr>
            <p:xfrm>
              <a:off x="3605444" y="976087"/>
              <a:ext cx="4796503" cy="1866900"/>
            </p:xfrm>
            <a:graphic>
              <a:graphicData uri="http://schemas.openxmlformats.org/drawingml/2006/table">
                <a:tbl>
                  <a:tblPr firstRow="1" firstCol="1" bandRow="1">
                    <a:tableStyleId>{5C22544A-7EE6-4342-B048-85BDC9FD1C3A}</a:tableStyleId>
                  </a:tblPr>
                  <a:tblGrid>
                    <a:gridCol w="1112268">
                      <a:extLst>
                        <a:ext uri="{9D8B030D-6E8A-4147-A177-3AD203B41FA5}">
                          <a16:colId xmlns:a16="http://schemas.microsoft.com/office/drawing/2014/main" val="1423986472"/>
                        </a:ext>
                      </a:extLst>
                    </a:gridCol>
                    <a:gridCol w="1145809">
                      <a:extLst>
                        <a:ext uri="{9D8B030D-6E8A-4147-A177-3AD203B41FA5}">
                          <a16:colId xmlns:a16="http://schemas.microsoft.com/office/drawing/2014/main" val="1878583858"/>
                        </a:ext>
                      </a:extLst>
                    </a:gridCol>
                    <a:gridCol w="2538426">
                      <a:extLst>
                        <a:ext uri="{9D8B030D-6E8A-4147-A177-3AD203B41FA5}">
                          <a16:colId xmlns:a16="http://schemas.microsoft.com/office/drawing/2014/main" val="2039416510"/>
                        </a:ext>
                      </a:extLst>
                    </a:gridCol>
                  </a:tblGrid>
                  <a:tr h="403860">
                    <a:tc>
                      <a:txBody>
                        <a:bodyPr/>
                        <a:lstStyle/>
                        <a:p>
                          <a:endParaRPr lang="en-US"/>
                        </a:p>
                      </a:txBody>
                      <a:tcPr marL="68580" marR="68580" marT="0" marB="0">
                        <a:blipFill>
                          <a:blip r:embed="rId3"/>
                          <a:stretch>
                            <a:fillRect r="-331818" b="-403125"/>
                          </a:stretch>
                        </a:blipFill>
                      </a:tcPr>
                    </a:tc>
                    <a:tc>
                      <a:txBody>
                        <a:bodyPr/>
                        <a:lstStyle/>
                        <a:p>
                          <a:endParaRPr lang="en-US"/>
                        </a:p>
                      </a:txBody>
                      <a:tcPr marL="68580" marR="68580" marT="0" marB="0">
                        <a:blipFill>
                          <a:blip r:embed="rId3"/>
                          <a:stretch>
                            <a:fillRect l="-97778" r="-224444" b="-403125"/>
                          </a:stretch>
                        </a:blipFill>
                      </a:tcPr>
                    </a:tc>
                    <a:tc>
                      <a:txBody>
                        <a:bodyPr/>
                        <a:lstStyle/>
                        <a:p>
                          <a:endParaRPr lang="en-US"/>
                        </a:p>
                      </a:txBody>
                      <a:tcPr marL="68580" marR="68580" marT="0" marB="0">
                        <a:blipFill>
                          <a:blip r:embed="rId3"/>
                          <a:stretch>
                            <a:fillRect l="-88557" r="-498" b="-403125"/>
                          </a:stretch>
                        </a:blipFill>
                      </a:tcPr>
                    </a:tc>
                    <a:extLst>
                      <a:ext uri="{0D108BD9-81ED-4DB2-BD59-A6C34878D82A}">
                        <a16:rowId xmlns:a16="http://schemas.microsoft.com/office/drawing/2014/main" val="808942815"/>
                      </a:ext>
                    </a:extLst>
                  </a:tr>
                  <a:tr h="365760">
                    <a:tc>
                      <a:txBody>
                        <a:bodyPr/>
                        <a:lstStyle/>
                        <a:p>
                          <a:pPr algn="ctr">
                            <a:spcBef>
                              <a:spcPts val="200"/>
                            </a:spcBef>
                            <a:spcAft>
                              <a:spcPts val="200"/>
                            </a:spcAft>
                            <a:tabLst>
                              <a:tab pos="398145" algn="l"/>
                            </a:tabLst>
                          </a:pPr>
                          <a:r>
                            <a:rPr lang="sr-Latn-RS" sz="2400" dirty="0">
                              <a:effectLst/>
                            </a:rPr>
                            <a:t>0</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solidFill>
                                <a:schemeClr val="bg1"/>
                              </a:solidFill>
                              <a:effectLst/>
                            </a:rPr>
                            <a:t>0</a:t>
                          </a:r>
                          <a:endParaRPr lang="en-ZA" sz="24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Aft>
                              <a:spcPts val="0"/>
                            </a:spcAft>
                          </a:pPr>
                          <a:r>
                            <a:rPr lang="sr-Latn-RS" sz="2400">
                              <a:effectLst/>
                            </a:rPr>
                            <a:t>0</a:t>
                          </a:r>
                          <a:endParaRPr lang="en-ZA"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19113289"/>
                      </a:ext>
                    </a:extLst>
                  </a:tr>
                  <a:tr h="365760">
                    <a:tc>
                      <a:txBody>
                        <a:bodyPr/>
                        <a:lstStyle/>
                        <a:p>
                          <a:pPr algn="ctr">
                            <a:spcBef>
                              <a:spcPts val="200"/>
                            </a:spcBef>
                            <a:spcAft>
                              <a:spcPts val="200"/>
                            </a:spcAft>
                            <a:tabLst>
                              <a:tab pos="398145" algn="l"/>
                            </a:tabLst>
                          </a:pPr>
                          <a:r>
                            <a:rPr lang="sr-Latn-RS" sz="2400" dirty="0">
                              <a:effectLst/>
                            </a:rPr>
                            <a:t>0</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solidFill>
                                <a:schemeClr val="bg1"/>
                              </a:solidFill>
                              <a:effectLst/>
                            </a:rPr>
                            <a:t>1</a:t>
                          </a:r>
                          <a:endParaRPr lang="en-ZA" sz="24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effectLst/>
                            </a:rPr>
                            <a:t>0</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79737442"/>
                      </a:ext>
                    </a:extLst>
                  </a:tr>
                  <a:tr h="365760">
                    <a:tc>
                      <a:txBody>
                        <a:bodyPr/>
                        <a:lstStyle/>
                        <a:p>
                          <a:pPr algn="ctr">
                            <a:spcBef>
                              <a:spcPts val="200"/>
                            </a:spcBef>
                            <a:spcAft>
                              <a:spcPts val="200"/>
                            </a:spcAft>
                            <a:tabLst>
                              <a:tab pos="398145" algn="l"/>
                            </a:tabLst>
                          </a:pPr>
                          <a:r>
                            <a:rPr lang="sr-Latn-RS" sz="2400" dirty="0">
                              <a:effectLst/>
                            </a:rPr>
                            <a:t>1</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solidFill>
                                <a:schemeClr val="bg1"/>
                              </a:solidFill>
                              <a:effectLst/>
                            </a:rPr>
                            <a:t>0</a:t>
                          </a:r>
                          <a:endParaRPr lang="en-ZA" sz="24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a:effectLst/>
                            </a:rPr>
                            <a:t>0</a:t>
                          </a:r>
                          <a:endParaRPr lang="en-ZA"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83115458"/>
                      </a:ext>
                    </a:extLst>
                  </a:tr>
                  <a:tr h="365760">
                    <a:tc>
                      <a:txBody>
                        <a:bodyPr/>
                        <a:lstStyle/>
                        <a:p>
                          <a:pPr algn="ctr">
                            <a:spcBef>
                              <a:spcPts val="200"/>
                            </a:spcBef>
                            <a:spcAft>
                              <a:spcPts val="200"/>
                            </a:spcAft>
                            <a:tabLst>
                              <a:tab pos="398145" algn="l"/>
                            </a:tabLst>
                          </a:pPr>
                          <a:r>
                            <a:rPr lang="sr-Latn-RS" sz="2400" dirty="0">
                              <a:effectLst/>
                            </a:rPr>
                            <a:t>1</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solidFill>
                                <a:schemeClr val="bg1"/>
                              </a:solidFill>
                              <a:effectLst/>
                            </a:rPr>
                            <a:t>1</a:t>
                          </a:r>
                          <a:endParaRPr lang="en-ZA" sz="24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2400" dirty="0">
                              <a:effectLst/>
                            </a:rPr>
                            <a:t>1</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60069591"/>
                      </a:ext>
                    </a:extLst>
                  </a:tr>
                </a:tbl>
              </a:graphicData>
            </a:graphic>
          </p:graphicFrame>
        </mc:Fallback>
      </mc:AlternateContent>
      <p:cxnSp>
        <p:nvCxnSpPr>
          <p:cNvPr id="16" name="Straight Connector 15">
            <a:extLst>
              <a:ext uri="{FF2B5EF4-FFF2-40B4-BE49-F238E27FC236}">
                <a16:creationId xmlns:a16="http://schemas.microsoft.com/office/drawing/2014/main" id="{458DAE3F-D437-D840-9BB8-306FA07C6FE3}"/>
              </a:ext>
            </a:extLst>
          </p:cNvPr>
          <p:cNvCxnSpPr>
            <a:cxnSpLocks/>
          </p:cNvCxnSpPr>
          <p:nvPr/>
        </p:nvCxnSpPr>
        <p:spPr>
          <a:xfrm>
            <a:off x="2753401" y="5351936"/>
            <a:ext cx="2732999" cy="0"/>
          </a:xfrm>
          <a:prstGeom prst="line">
            <a:avLst/>
          </a:prstGeom>
          <a:ln w="2540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D8272FB-6E7C-0941-AB3B-B7962A346522}"/>
              </a:ext>
            </a:extLst>
          </p:cNvPr>
          <p:cNvCxnSpPr>
            <a:cxnSpLocks/>
          </p:cNvCxnSpPr>
          <p:nvPr/>
        </p:nvCxnSpPr>
        <p:spPr>
          <a:xfrm>
            <a:off x="1836960" y="4322212"/>
            <a:ext cx="7770866" cy="0"/>
          </a:xfrm>
          <a:prstGeom prst="line">
            <a:avLst/>
          </a:prstGeom>
          <a:ln w="2540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91CA4F04-97A6-8340-BF8E-CDF08F09D2A1}"/>
              </a:ext>
            </a:extLst>
          </p:cNvPr>
          <p:cNvSpPr/>
          <p:nvPr/>
        </p:nvSpPr>
        <p:spPr>
          <a:xfrm>
            <a:off x="3143092" y="5044752"/>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latin typeface="Times" pitchFamily="2" charset="0"/>
              </a:rPr>
              <a:t>H</a:t>
            </a:r>
          </a:p>
        </p:txBody>
      </p:sp>
      <p:sp>
        <p:nvSpPr>
          <p:cNvPr id="26" name="Rectangle 25">
            <a:extLst>
              <a:ext uri="{FF2B5EF4-FFF2-40B4-BE49-F238E27FC236}">
                <a16:creationId xmlns:a16="http://schemas.microsoft.com/office/drawing/2014/main" id="{A100038D-BD04-C94F-B888-5ED694F3A8C2}"/>
              </a:ext>
            </a:extLst>
          </p:cNvPr>
          <p:cNvSpPr/>
          <p:nvPr/>
        </p:nvSpPr>
        <p:spPr>
          <a:xfrm>
            <a:off x="3143092" y="4025972"/>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latin typeface="Times" pitchFamily="2" charset="0"/>
              </a:rPr>
              <a:t>H</a:t>
            </a:r>
          </a:p>
        </p:txBody>
      </p:sp>
      <p:cxnSp>
        <p:nvCxnSpPr>
          <p:cNvPr id="38" name="Straight Connector 37">
            <a:extLst>
              <a:ext uri="{FF2B5EF4-FFF2-40B4-BE49-F238E27FC236}">
                <a16:creationId xmlns:a16="http://schemas.microsoft.com/office/drawing/2014/main" id="{91753B59-D744-2049-A31C-845B09098871}"/>
              </a:ext>
            </a:extLst>
          </p:cNvPr>
          <p:cNvCxnSpPr>
            <a:cxnSpLocks/>
          </p:cNvCxnSpPr>
          <p:nvPr/>
        </p:nvCxnSpPr>
        <p:spPr>
          <a:xfrm>
            <a:off x="1836960" y="3303816"/>
            <a:ext cx="7770866" cy="0"/>
          </a:xfrm>
          <a:prstGeom prst="line">
            <a:avLst/>
          </a:prstGeom>
          <a:ln w="2540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81300D13-7FDE-834E-B45D-99ABD04E82CB}"/>
              </a:ext>
            </a:extLst>
          </p:cNvPr>
          <p:cNvSpPr/>
          <p:nvPr/>
        </p:nvSpPr>
        <p:spPr>
          <a:xfrm>
            <a:off x="3143092" y="3007576"/>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latin typeface="Times" pitchFamily="2" charset="0"/>
              </a:rPr>
              <a:t>H</a:t>
            </a:r>
          </a:p>
        </p:txBody>
      </p:sp>
      <p:sp>
        <p:nvSpPr>
          <p:cNvPr id="44" name="Oval 43">
            <a:extLst>
              <a:ext uri="{FF2B5EF4-FFF2-40B4-BE49-F238E27FC236}">
                <a16:creationId xmlns:a16="http://schemas.microsoft.com/office/drawing/2014/main" id="{442C16AA-8A2D-354F-86AE-7064964DC644}"/>
              </a:ext>
            </a:extLst>
          </p:cNvPr>
          <p:cNvSpPr>
            <a:spLocks noChangeAspect="1"/>
          </p:cNvSpPr>
          <p:nvPr/>
        </p:nvSpPr>
        <p:spPr>
          <a:xfrm>
            <a:off x="2231304" y="5044196"/>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grpSp>
        <p:nvGrpSpPr>
          <p:cNvPr id="10" name="Group 9">
            <a:extLst>
              <a:ext uri="{FF2B5EF4-FFF2-40B4-BE49-F238E27FC236}">
                <a16:creationId xmlns:a16="http://schemas.microsoft.com/office/drawing/2014/main" id="{993F5EBD-D04E-0043-8CB5-D4B442937D22}"/>
              </a:ext>
            </a:extLst>
          </p:cNvPr>
          <p:cNvGrpSpPr/>
          <p:nvPr/>
        </p:nvGrpSpPr>
        <p:grpSpPr>
          <a:xfrm>
            <a:off x="4443677" y="3184574"/>
            <a:ext cx="540000" cy="2436669"/>
            <a:chOff x="1804425" y="3602689"/>
            <a:chExt cx="540000" cy="2436669"/>
          </a:xfrm>
        </p:grpSpPr>
        <p:sp>
          <p:nvSpPr>
            <p:cNvPr id="37" name="Oval 36">
              <a:extLst>
                <a:ext uri="{FF2B5EF4-FFF2-40B4-BE49-F238E27FC236}">
                  <a16:creationId xmlns:a16="http://schemas.microsoft.com/office/drawing/2014/main" id="{D7771706-6A00-6140-9C93-7C7C4CD39D0A}"/>
                </a:ext>
              </a:extLst>
            </p:cNvPr>
            <p:cNvSpPr>
              <a:spLocks noChangeAspect="1"/>
            </p:cNvSpPr>
            <p:nvPr/>
          </p:nvSpPr>
          <p:spPr>
            <a:xfrm>
              <a:off x="1804425" y="549935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latin typeface="Times" pitchFamily="2" charset="0"/>
                </a:rPr>
                <a:t>+</a:t>
              </a:r>
            </a:p>
          </p:txBody>
        </p:sp>
        <p:sp>
          <p:nvSpPr>
            <p:cNvPr id="47" name="Oval 46">
              <a:extLst>
                <a:ext uri="{FF2B5EF4-FFF2-40B4-BE49-F238E27FC236}">
                  <a16:creationId xmlns:a16="http://schemas.microsoft.com/office/drawing/2014/main" id="{F63207DC-5352-5749-A656-838555F49B86}"/>
                </a:ext>
              </a:extLst>
            </p:cNvPr>
            <p:cNvSpPr/>
            <p:nvPr/>
          </p:nvSpPr>
          <p:spPr>
            <a:xfrm>
              <a:off x="1957086" y="3602689"/>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8" name="Straight Connector 47">
              <a:extLst>
                <a:ext uri="{FF2B5EF4-FFF2-40B4-BE49-F238E27FC236}">
                  <a16:creationId xmlns:a16="http://schemas.microsoft.com/office/drawing/2014/main" id="{39A91AD4-B965-3140-B1D8-57FFC7B73EA2}"/>
                </a:ext>
              </a:extLst>
            </p:cNvPr>
            <p:cNvCxnSpPr>
              <a:cxnSpLocks/>
              <a:stCxn id="37" idx="0"/>
              <a:endCxn id="47" idx="4"/>
            </p:cNvCxnSpPr>
            <p:nvPr/>
          </p:nvCxnSpPr>
          <p:spPr>
            <a:xfrm flipV="1">
              <a:off x="2074425" y="3854688"/>
              <a:ext cx="0" cy="16446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2F92A9B6-240D-BA4F-A071-201EF770D281}"/>
                </a:ext>
              </a:extLst>
            </p:cNvPr>
            <p:cNvSpPr/>
            <p:nvPr/>
          </p:nvSpPr>
          <p:spPr>
            <a:xfrm>
              <a:off x="1957086" y="4637024"/>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8903E57D-C0FE-C146-A695-00C968A48333}"/>
              </a:ext>
            </a:extLst>
          </p:cNvPr>
          <p:cNvSpPr/>
          <p:nvPr/>
        </p:nvSpPr>
        <p:spPr>
          <a:xfrm>
            <a:off x="5852458" y="3156618"/>
            <a:ext cx="2819400" cy="142494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a:p>
            <a:pPr algn="ctr"/>
            <a:r>
              <a:rPr lang="en-US" dirty="0">
                <a:solidFill>
                  <a:schemeClr val="tx1"/>
                </a:solidFill>
              </a:rPr>
              <a:t>(amplification)</a:t>
            </a:r>
          </a:p>
        </p:txBody>
      </p:sp>
      <p:pic>
        <p:nvPicPr>
          <p:cNvPr id="65" name="Picture 64">
            <a:extLst>
              <a:ext uri="{FF2B5EF4-FFF2-40B4-BE49-F238E27FC236}">
                <a16:creationId xmlns:a16="http://schemas.microsoft.com/office/drawing/2014/main" id="{F5C0C6D3-D23F-3446-9069-5F0AF1BDC57F}"/>
              </a:ext>
            </a:extLst>
          </p:cNvPr>
          <p:cNvPicPr>
            <a:picLocks noChangeAspect="1"/>
          </p:cNvPicPr>
          <p:nvPr/>
        </p:nvPicPr>
        <p:blipFill>
          <a:blip r:embed="rId4"/>
          <a:stretch>
            <a:fillRect/>
          </a:stretch>
        </p:blipFill>
        <p:spPr>
          <a:xfrm>
            <a:off x="9426977" y="2968424"/>
            <a:ext cx="672990" cy="678946"/>
          </a:xfrm>
          <a:prstGeom prst="rect">
            <a:avLst/>
          </a:prstGeom>
        </p:spPr>
      </p:pic>
      <p:pic>
        <p:nvPicPr>
          <p:cNvPr id="66" name="Picture 65">
            <a:extLst>
              <a:ext uri="{FF2B5EF4-FFF2-40B4-BE49-F238E27FC236}">
                <a16:creationId xmlns:a16="http://schemas.microsoft.com/office/drawing/2014/main" id="{92452FFB-BACD-4A42-94A9-ADA03148AD35}"/>
              </a:ext>
            </a:extLst>
          </p:cNvPr>
          <p:cNvPicPr>
            <a:picLocks noChangeAspect="1"/>
          </p:cNvPicPr>
          <p:nvPr/>
        </p:nvPicPr>
        <p:blipFill>
          <a:blip r:embed="rId4"/>
          <a:stretch>
            <a:fillRect/>
          </a:stretch>
        </p:blipFill>
        <p:spPr>
          <a:xfrm>
            <a:off x="9426977" y="4013963"/>
            <a:ext cx="672990" cy="678946"/>
          </a:xfrm>
          <a:prstGeom prst="rect">
            <a:avLst/>
          </a:prstGeom>
        </p:spPr>
      </p:pic>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DD1F6DE7-98BD-734A-A56C-C12B600A5470}"/>
                  </a:ext>
                </a:extLst>
              </p:cNvPr>
              <p:cNvSpPr/>
              <p:nvPr/>
            </p:nvSpPr>
            <p:spPr>
              <a:xfrm>
                <a:off x="1671979" y="5945978"/>
                <a:ext cx="4844981" cy="613886"/>
              </a:xfrm>
              <a:prstGeom prst="rect">
                <a:avLst/>
              </a:prstGeom>
            </p:spPr>
            <p:txBody>
              <a:bodyPr wrap="none">
                <a:spAutoFit/>
              </a:bodyPr>
              <a:lstStyle/>
              <a:p>
                <a14:m>
                  <m:oMath xmlns:m="http://schemas.openxmlformats.org/officeDocument/2006/math">
                    <m:f>
                      <m:fPr>
                        <m:ctrlPr>
                          <a:rPr lang="en-US" sz="2400" i="1" smtClean="0">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2</m:t>
                        </m:r>
                      </m:den>
                    </m:f>
                    <m:d>
                      <m:dPr>
                        <m:ctrlPr>
                          <a:rPr lang="en-US" sz="2400" b="0" i="1" smtClean="0">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r>
                              <a:rPr lang="en-US" sz="2400" b="0" i="1" smtClean="0">
                                <a:latin typeface="Cambria Math" panose="02040503050406030204" pitchFamily="18" charset="0"/>
                              </a:rPr>
                              <m:t>1</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r>
                              <a:rPr lang="en-US" sz="2400" i="1">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11</m:t>
                            </m:r>
                          </m:e>
                        </m:d>
                      </m:e>
                    </m:d>
                  </m:oMath>
                </a14:m>
                <a:r>
                  <a:rPr lang="en-ZA" sz="2400" dirty="0"/>
                  <a:t> ⊗</a:t>
                </a:r>
                <a:r>
                  <a:rPr lang="en-US" sz="2400" dirty="0"/>
                  <a:t> </a:t>
                </a:r>
                <a14:m>
                  <m:oMath xmlns:m="http://schemas.openxmlformats.org/officeDocument/2006/math">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m:t>
                        </m:r>
                      </m:e>
                    </m:d>
                  </m:oMath>
                </a14:m>
                <a:endParaRPr lang="en-US" sz="2400" dirty="0"/>
              </a:p>
            </p:txBody>
          </p:sp>
        </mc:Choice>
        <mc:Fallback xmlns="">
          <p:sp>
            <p:nvSpPr>
              <p:cNvPr id="67" name="Rectangle 66">
                <a:extLst>
                  <a:ext uri="{FF2B5EF4-FFF2-40B4-BE49-F238E27FC236}">
                    <a16:creationId xmlns:a16="http://schemas.microsoft.com/office/drawing/2014/main" id="{DD1F6DE7-98BD-734A-A56C-C12B600A5470}"/>
                  </a:ext>
                </a:extLst>
              </p:cNvPr>
              <p:cNvSpPr>
                <a:spLocks noRot="1" noChangeAspect="1" noMove="1" noResize="1" noEditPoints="1" noAdjustHandles="1" noChangeArrowheads="1" noChangeShapeType="1" noTextEdit="1"/>
              </p:cNvSpPr>
              <p:nvPr/>
            </p:nvSpPr>
            <p:spPr>
              <a:xfrm>
                <a:off x="1671979" y="5945978"/>
                <a:ext cx="4844981" cy="613886"/>
              </a:xfrm>
              <a:prstGeom prst="rect">
                <a:avLst/>
              </a:prstGeom>
              <a:blipFill>
                <a:blip r:embed="rId5"/>
                <a:stretch>
                  <a:fillRect b="-81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0911CCB1-7D83-9E49-B8C4-F7BEEE137AE8}"/>
                  </a:ext>
                </a:extLst>
              </p:cNvPr>
              <p:cNvSpPr/>
              <p:nvPr/>
            </p:nvSpPr>
            <p:spPr>
              <a:xfrm>
                <a:off x="6296224" y="4803551"/>
                <a:ext cx="4019818" cy="783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2</m:t>
                          </m:r>
                        </m:den>
                      </m:f>
                      <m:d>
                        <m:dPr>
                          <m:ctrlPr>
                            <a:rPr lang="en-US" sz="2400" b="0" i="1" smtClean="0">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r>
                                <a:rPr lang="en-US" sz="2400" b="0" i="1" smtClean="0">
                                  <a:latin typeface="Cambria Math" panose="02040503050406030204" pitchFamily="18" charset="0"/>
                                </a:rPr>
                                <m:t>1</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r>
                                <a:rPr lang="en-US" sz="2400" i="1">
                                  <a:latin typeface="Cambria Math" panose="02040503050406030204" pitchFamily="18" charset="0"/>
                                </a:rPr>
                                <m:t>0</m:t>
                              </m:r>
                            </m:e>
                          </m:d>
                          <m:r>
                            <a:rPr lang="sr-Latn-RS" sz="2400" b="0" i="1" smtClean="0">
                              <a:solidFill>
                                <a:srgbClr val="C00000"/>
                              </a:solidFill>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11</m:t>
                              </m:r>
                            </m:e>
                          </m:d>
                        </m:e>
                      </m:d>
                    </m:oMath>
                  </m:oMathPara>
                </a14:m>
                <a:endParaRPr lang="en-US" sz="2400" dirty="0"/>
              </a:p>
            </p:txBody>
          </p:sp>
        </mc:Choice>
        <mc:Fallback xmlns="">
          <p:sp>
            <p:nvSpPr>
              <p:cNvPr id="68" name="Rectangle 67">
                <a:extLst>
                  <a:ext uri="{FF2B5EF4-FFF2-40B4-BE49-F238E27FC236}">
                    <a16:creationId xmlns:a16="http://schemas.microsoft.com/office/drawing/2014/main" id="{0911CCB1-7D83-9E49-B8C4-F7BEEE137AE8}"/>
                  </a:ext>
                </a:extLst>
              </p:cNvPr>
              <p:cNvSpPr>
                <a:spLocks noRot="1" noChangeAspect="1" noMove="1" noResize="1" noEditPoints="1" noAdjustHandles="1" noChangeArrowheads="1" noChangeShapeType="1" noTextEdit="1"/>
              </p:cNvSpPr>
              <p:nvPr/>
            </p:nvSpPr>
            <p:spPr>
              <a:xfrm>
                <a:off x="6296224" y="4803551"/>
                <a:ext cx="4019818" cy="783804"/>
              </a:xfrm>
              <a:prstGeom prst="rect">
                <a:avLst/>
              </a:prstGeom>
              <a:blipFill>
                <a:blip r:embed="rId6"/>
                <a:stretch>
                  <a:fillRect b="-6349"/>
                </a:stretch>
              </a:blipFill>
            </p:spPr>
            <p:txBody>
              <a:bodyPr/>
              <a:lstStyle/>
              <a:p>
                <a:r>
                  <a:rPr lang="en-US">
                    <a:noFill/>
                  </a:rPr>
                  <a:t> </a:t>
                </a:r>
              </a:p>
            </p:txBody>
          </p:sp>
        </mc:Fallback>
      </mc:AlternateContent>
      <p:cxnSp>
        <p:nvCxnSpPr>
          <p:cNvPr id="70" name="Straight Connector 69">
            <a:extLst>
              <a:ext uri="{FF2B5EF4-FFF2-40B4-BE49-F238E27FC236}">
                <a16:creationId xmlns:a16="http://schemas.microsoft.com/office/drawing/2014/main" id="{AC47C799-55B0-0947-A9B5-C04BEC3CB20C}"/>
              </a:ext>
            </a:extLst>
          </p:cNvPr>
          <p:cNvCxnSpPr>
            <a:cxnSpLocks/>
          </p:cNvCxnSpPr>
          <p:nvPr/>
        </p:nvCxnSpPr>
        <p:spPr>
          <a:xfrm>
            <a:off x="4094469" y="2869723"/>
            <a:ext cx="0" cy="3202369"/>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15D8597-510E-2D4E-8E80-51B7F2154903}"/>
              </a:ext>
            </a:extLst>
          </p:cNvPr>
          <p:cNvCxnSpPr>
            <a:cxnSpLocks/>
          </p:cNvCxnSpPr>
          <p:nvPr/>
        </p:nvCxnSpPr>
        <p:spPr>
          <a:xfrm>
            <a:off x="5544297" y="3075052"/>
            <a:ext cx="20763" cy="1969144"/>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6297D7D-0FB1-6E42-AE08-891D49E52040}"/>
              </a:ext>
            </a:extLst>
          </p:cNvPr>
          <p:cNvCxnSpPr>
            <a:cxnSpLocks/>
          </p:cNvCxnSpPr>
          <p:nvPr/>
        </p:nvCxnSpPr>
        <p:spPr>
          <a:xfrm>
            <a:off x="5544297" y="5067121"/>
            <a:ext cx="444575" cy="64287"/>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A3076F97-33FA-E34A-A850-8EDEDB704F87}"/>
                  </a:ext>
                </a:extLst>
              </p:cNvPr>
              <p:cNvSpPr/>
              <p:nvPr/>
            </p:nvSpPr>
            <p:spPr>
              <a:xfrm>
                <a:off x="1537571" y="2890386"/>
                <a:ext cx="521810" cy="369332"/>
              </a:xfrm>
              <a:prstGeom prst="rect">
                <a:avLst/>
              </a:prstGeom>
            </p:spPr>
            <p:txBody>
              <a:bodyPr wrap="none">
                <a:spAutoFit/>
              </a:bodyPr>
              <a:lstStyle/>
              <a:p>
                <a:r>
                  <a:rPr lang="en-US" dirty="0"/>
                  <a:t> </a:t>
                </a:r>
                <a14:m>
                  <m:oMath xmlns:m="http://schemas.openxmlformats.org/officeDocument/2006/math">
                    <m:d>
                      <m:dPr>
                        <m:begChr m:val="|"/>
                        <m:endChr m:val="⟩"/>
                        <m:ctrlPr>
                          <a:rPr lang="en-US" i="1">
                            <a:latin typeface="Cambria Math" panose="02040503050406030204" pitchFamily="18" charset="0"/>
                          </a:rPr>
                        </m:ctrlPr>
                      </m:dPr>
                      <m:e>
                        <m:r>
                          <a:rPr lang="sr-Latn-RS" b="0" i="1" smtClean="0">
                            <a:latin typeface="Cambria Math" panose="02040503050406030204" pitchFamily="18" charset="0"/>
                          </a:rPr>
                          <m:t>0</m:t>
                        </m:r>
                      </m:e>
                    </m:d>
                  </m:oMath>
                </a14:m>
                <a:endParaRPr lang="en-US" dirty="0"/>
              </a:p>
            </p:txBody>
          </p:sp>
        </mc:Choice>
        <mc:Fallback xmlns="">
          <p:sp>
            <p:nvSpPr>
              <p:cNvPr id="76" name="Rectangle 75">
                <a:extLst>
                  <a:ext uri="{FF2B5EF4-FFF2-40B4-BE49-F238E27FC236}">
                    <a16:creationId xmlns:a16="http://schemas.microsoft.com/office/drawing/2014/main" id="{A3076F97-33FA-E34A-A850-8EDEDB704F87}"/>
                  </a:ext>
                </a:extLst>
              </p:cNvPr>
              <p:cNvSpPr>
                <a:spLocks noRot="1" noChangeAspect="1" noMove="1" noResize="1" noEditPoints="1" noAdjustHandles="1" noChangeArrowheads="1" noChangeShapeType="1" noTextEdit="1"/>
              </p:cNvSpPr>
              <p:nvPr/>
            </p:nvSpPr>
            <p:spPr>
              <a:xfrm>
                <a:off x="1537571" y="2890386"/>
                <a:ext cx="52181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1D50A84C-3157-0143-BD87-C57E1FFBBA90}"/>
                  </a:ext>
                </a:extLst>
              </p:cNvPr>
              <p:cNvSpPr/>
              <p:nvPr/>
            </p:nvSpPr>
            <p:spPr>
              <a:xfrm>
                <a:off x="1549963" y="3908781"/>
                <a:ext cx="521810" cy="369332"/>
              </a:xfrm>
              <a:prstGeom prst="rect">
                <a:avLst/>
              </a:prstGeom>
            </p:spPr>
            <p:txBody>
              <a:bodyPr wrap="none">
                <a:spAutoFit/>
              </a:bodyPr>
              <a:lstStyle/>
              <a:p>
                <a:r>
                  <a:rPr lang="en-US" dirty="0"/>
                  <a:t> </a:t>
                </a:r>
                <a14:m>
                  <m:oMath xmlns:m="http://schemas.openxmlformats.org/officeDocument/2006/math">
                    <m:d>
                      <m:dPr>
                        <m:begChr m:val="|"/>
                        <m:endChr m:val="⟩"/>
                        <m:ctrlPr>
                          <a:rPr lang="en-US" i="1">
                            <a:latin typeface="Cambria Math" panose="02040503050406030204" pitchFamily="18" charset="0"/>
                          </a:rPr>
                        </m:ctrlPr>
                      </m:dPr>
                      <m:e>
                        <m:r>
                          <a:rPr lang="sr-Latn-RS" b="0" i="1" smtClean="0">
                            <a:latin typeface="Cambria Math" panose="02040503050406030204" pitchFamily="18" charset="0"/>
                          </a:rPr>
                          <m:t>0</m:t>
                        </m:r>
                      </m:e>
                    </m:d>
                  </m:oMath>
                </a14:m>
                <a:endParaRPr lang="en-US" dirty="0"/>
              </a:p>
            </p:txBody>
          </p:sp>
        </mc:Choice>
        <mc:Fallback xmlns="">
          <p:sp>
            <p:nvSpPr>
              <p:cNvPr id="77" name="Rectangle 76">
                <a:extLst>
                  <a:ext uri="{FF2B5EF4-FFF2-40B4-BE49-F238E27FC236}">
                    <a16:creationId xmlns:a16="http://schemas.microsoft.com/office/drawing/2014/main" id="{1D50A84C-3157-0143-BD87-C57E1FFBBA90}"/>
                  </a:ext>
                </a:extLst>
              </p:cNvPr>
              <p:cNvSpPr>
                <a:spLocks noRot="1" noChangeAspect="1" noMove="1" noResize="1" noEditPoints="1" noAdjustHandles="1" noChangeArrowheads="1" noChangeShapeType="1" noTextEdit="1"/>
              </p:cNvSpPr>
              <p:nvPr/>
            </p:nvSpPr>
            <p:spPr>
              <a:xfrm>
                <a:off x="1549963" y="3908781"/>
                <a:ext cx="52181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802C2FDC-557D-8942-A78C-34E99125E2CD}"/>
                  </a:ext>
                </a:extLst>
              </p:cNvPr>
              <p:cNvSpPr/>
              <p:nvPr/>
            </p:nvSpPr>
            <p:spPr>
              <a:xfrm>
                <a:off x="1562355" y="4927176"/>
                <a:ext cx="521810" cy="369332"/>
              </a:xfrm>
              <a:prstGeom prst="rect">
                <a:avLst/>
              </a:prstGeom>
            </p:spPr>
            <p:txBody>
              <a:bodyPr wrap="none">
                <a:spAutoFit/>
              </a:bodyPr>
              <a:lstStyle/>
              <a:p>
                <a:r>
                  <a:rPr lang="en-US" dirty="0"/>
                  <a:t> </a:t>
                </a:r>
                <a14:m>
                  <m:oMath xmlns:m="http://schemas.openxmlformats.org/officeDocument/2006/math">
                    <m:d>
                      <m:dPr>
                        <m:begChr m:val="|"/>
                        <m:endChr m:val="⟩"/>
                        <m:ctrlPr>
                          <a:rPr lang="en-US" i="1">
                            <a:latin typeface="Cambria Math" panose="02040503050406030204" pitchFamily="18" charset="0"/>
                          </a:rPr>
                        </m:ctrlPr>
                      </m:dPr>
                      <m:e>
                        <m:r>
                          <a:rPr lang="sr-Latn-RS" b="0" i="1" smtClean="0">
                            <a:latin typeface="Cambria Math" panose="02040503050406030204" pitchFamily="18" charset="0"/>
                          </a:rPr>
                          <m:t>0</m:t>
                        </m:r>
                      </m:e>
                    </m:d>
                  </m:oMath>
                </a14:m>
                <a:endParaRPr lang="en-US" dirty="0"/>
              </a:p>
            </p:txBody>
          </p:sp>
        </mc:Choice>
        <mc:Fallback xmlns="">
          <p:sp>
            <p:nvSpPr>
              <p:cNvPr id="78" name="Rectangle 77">
                <a:extLst>
                  <a:ext uri="{FF2B5EF4-FFF2-40B4-BE49-F238E27FC236}">
                    <a16:creationId xmlns:a16="http://schemas.microsoft.com/office/drawing/2014/main" id="{802C2FDC-557D-8942-A78C-34E99125E2CD}"/>
                  </a:ext>
                </a:extLst>
              </p:cNvPr>
              <p:cNvSpPr>
                <a:spLocks noRot="1" noChangeAspect="1" noMove="1" noResize="1" noEditPoints="1" noAdjustHandles="1" noChangeArrowheads="1" noChangeShapeType="1" noTextEdit="1"/>
              </p:cNvSpPr>
              <p:nvPr/>
            </p:nvSpPr>
            <p:spPr>
              <a:xfrm>
                <a:off x="1562355" y="4927176"/>
                <a:ext cx="521810" cy="36933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900494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031A511-B9E2-8346-922E-34B500D3F11E}"/>
              </a:ext>
            </a:extLst>
          </p:cNvPr>
          <p:cNvSpPr>
            <a:spLocks noGrp="1"/>
          </p:cNvSpPr>
          <p:nvPr>
            <p:ph type="sldNum" sz="quarter" idx="12"/>
          </p:nvPr>
        </p:nvSpPr>
        <p:spPr/>
        <p:txBody>
          <a:bodyPr/>
          <a:lstStyle/>
          <a:p>
            <a:fld id="{591A223C-FA10-BC46-A853-03BA373D023C}" type="slidenum">
              <a:rPr lang="en-US" smtClean="0"/>
              <a:t>28</a:t>
            </a:fld>
            <a:endParaRPr lang="en-US"/>
          </a:p>
        </p:txBody>
      </p:sp>
      <p:sp>
        <p:nvSpPr>
          <p:cNvPr id="6" name="Title 5">
            <a:extLst>
              <a:ext uri="{FF2B5EF4-FFF2-40B4-BE49-F238E27FC236}">
                <a16:creationId xmlns:a16="http://schemas.microsoft.com/office/drawing/2014/main" id="{A77366C3-DEE0-8A47-97FB-97A06A5B1096}"/>
              </a:ext>
            </a:extLst>
          </p:cNvPr>
          <p:cNvSpPr>
            <a:spLocks noGrp="1"/>
          </p:cNvSpPr>
          <p:nvPr>
            <p:ph type="title"/>
          </p:nvPr>
        </p:nvSpPr>
        <p:spPr/>
        <p:txBody>
          <a:bodyPr/>
          <a:lstStyle/>
          <a:p>
            <a:r>
              <a:rPr lang="en-ZA" dirty="0"/>
              <a:t>Constraint Solving with Grover’s Algorithm</a:t>
            </a:r>
            <a:endParaRPr lang="en-US" dirty="0"/>
          </a:p>
        </p:txBody>
      </p:sp>
      <p:sp>
        <p:nvSpPr>
          <p:cNvPr id="7" name="Rectangle 6">
            <a:extLst>
              <a:ext uri="{FF2B5EF4-FFF2-40B4-BE49-F238E27FC236}">
                <a16:creationId xmlns:a16="http://schemas.microsoft.com/office/drawing/2014/main" id="{2868A10F-C6E5-3D4E-B306-8343DBB9EA21}"/>
              </a:ext>
            </a:extLst>
          </p:cNvPr>
          <p:cNvSpPr/>
          <p:nvPr/>
        </p:nvSpPr>
        <p:spPr>
          <a:xfrm>
            <a:off x="3217984" y="1456829"/>
            <a:ext cx="8836075" cy="1892826"/>
          </a:xfrm>
          <a:prstGeom prst="rect">
            <a:avLst/>
          </a:prstGeom>
        </p:spPr>
        <p:txBody>
          <a:bodyPr wrap="square">
            <a:spAutoFit/>
          </a:bodyPr>
          <a:lstStyle/>
          <a:p>
            <a:pPr algn="ctr"/>
            <a:r>
              <a:rPr lang="en-US" sz="2800" dirty="0"/>
              <a:t>Problem: </a:t>
            </a:r>
            <a:r>
              <a:rPr lang="en-ZA" sz="2800" dirty="0"/>
              <a:t>Alice is organizing Bob’s birthday party and wants to invite Chris, Daniel, and Emma. </a:t>
            </a:r>
          </a:p>
          <a:p>
            <a:pPr algn="ctr"/>
            <a:endParaRPr lang="en-ZA" sz="500" dirty="0"/>
          </a:p>
          <a:p>
            <a:pPr algn="ctr"/>
            <a:r>
              <a:rPr lang="en-ZA" sz="2800" dirty="0"/>
              <a:t>However, Chris will attend the party only if Daniel comes without Emma.</a:t>
            </a:r>
            <a:endParaRPr lang="en-US" sz="2800" dirty="0"/>
          </a:p>
        </p:txBody>
      </p:sp>
      <p:pic>
        <p:nvPicPr>
          <p:cNvPr id="18" name="Picture 17">
            <a:extLst>
              <a:ext uri="{FF2B5EF4-FFF2-40B4-BE49-F238E27FC236}">
                <a16:creationId xmlns:a16="http://schemas.microsoft.com/office/drawing/2014/main" id="{53525223-1FD8-1F49-A37C-066244176E4C}"/>
              </a:ext>
            </a:extLst>
          </p:cNvPr>
          <p:cNvPicPr>
            <a:picLocks noChangeAspect="1"/>
          </p:cNvPicPr>
          <p:nvPr/>
        </p:nvPicPr>
        <p:blipFill>
          <a:blip r:embed="rId3"/>
          <a:stretch>
            <a:fillRect/>
          </a:stretch>
        </p:blipFill>
        <p:spPr>
          <a:xfrm>
            <a:off x="557839" y="1234437"/>
            <a:ext cx="2293778" cy="2033936"/>
          </a:xfrm>
          <a:prstGeom prst="rect">
            <a:avLst/>
          </a:prstGeom>
        </p:spPr>
      </p:pic>
      <p:sp>
        <p:nvSpPr>
          <p:cNvPr id="2" name="Rectangle 1">
            <a:extLst>
              <a:ext uri="{FF2B5EF4-FFF2-40B4-BE49-F238E27FC236}">
                <a16:creationId xmlns:a16="http://schemas.microsoft.com/office/drawing/2014/main" id="{EE655AE6-A9A8-264E-A69D-19C9E4935EC8}"/>
              </a:ext>
            </a:extLst>
          </p:cNvPr>
          <p:cNvSpPr/>
          <p:nvPr/>
        </p:nvSpPr>
        <p:spPr>
          <a:xfrm>
            <a:off x="5486400" y="4617376"/>
            <a:ext cx="457200" cy="14067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F241552-CAA3-584D-9362-1E808BD121B1}"/>
              </a:ext>
            </a:extLst>
          </p:cNvPr>
          <p:cNvSpPr txBox="1"/>
          <p:nvPr/>
        </p:nvSpPr>
        <p:spPr>
          <a:xfrm>
            <a:off x="5409348" y="6031210"/>
            <a:ext cx="5501827" cy="461665"/>
          </a:xfrm>
          <a:prstGeom prst="rect">
            <a:avLst/>
          </a:prstGeom>
          <a:noFill/>
        </p:spPr>
        <p:txBody>
          <a:bodyPr wrap="none" rtlCol="0">
            <a:spAutoFit/>
          </a:bodyPr>
          <a:lstStyle/>
          <a:p>
            <a:r>
              <a:rPr lang="en-US" sz="2400" dirty="0"/>
              <a:t>000   001   010    011   100    101   110   111</a:t>
            </a:r>
          </a:p>
        </p:txBody>
      </p:sp>
      <p:sp>
        <p:nvSpPr>
          <p:cNvPr id="11" name="Rectangle 10">
            <a:extLst>
              <a:ext uri="{FF2B5EF4-FFF2-40B4-BE49-F238E27FC236}">
                <a16:creationId xmlns:a16="http://schemas.microsoft.com/office/drawing/2014/main" id="{34693255-5134-0B49-90CE-90C7DFEE85D9}"/>
              </a:ext>
            </a:extLst>
          </p:cNvPr>
          <p:cNvSpPr/>
          <p:nvPr/>
        </p:nvSpPr>
        <p:spPr>
          <a:xfrm>
            <a:off x="6183923" y="4617376"/>
            <a:ext cx="457200" cy="14067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91B7D98-4B33-E84F-B88C-7BF065EA9C76}"/>
              </a:ext>
            </a:extLst>
          </p:cNvPr>
          <p:cNvSpPr/>
          <p:nvPr/>
        </p:nvSpPr>
        <p:spPr>
          <a:xfrm>
            <a:off x="6881446" y="4617376"/>
            <a:ext cx="457200" cy="14067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BDA2EAC-6842-6247-B7B6-557A91B39903}"/>
              </a:ext>
            </a:extLst>
          </p:cNvPr>
          <p:cNvSpPr/>
          <p:nvPr/>
        </p:nvSpPr>
        <p:spPr>
          <a:xfrm>
            <a:off x="7578969" y="4617376"/>
            <a:ext cx="457200" cy="14067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EE26DF1-A216-F741-B5A4-D306EEF5C416}"/>
              </a:ext>
            </a:extLst>
          </p:cNvPr>
          <p:cNvSpPr/>
          <p:nvPr/>
        </p:nvSpPr>
        <p:spPr>
          <a:xfrm>
            <a:off x="9642323" y="4617376"/>
            <a:ext cx="457200" cy="14067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1F2E9529-DF58-4849-9679-3AECD74BF7CA}"/>
              </a:ext>
            </a:extLst>
          </p:cNvPr>
          <p:cNvSpPr/>
          <p:nvPr/>
        </p:nvSpPr>
        <p:spPr>
          <a:xfrm>
            <a:off x="4382679" y="5094001"/>
            <a:ext cx="648392" cy="488369"/>
          </a:xfrm>
          <a:prstGeom prst="rightArrow">
            <a:avLst/>
          </a:prstGeom>
          <a:solidFill>
            <a:schemeClr val="bg1">
              <a:lumMod val="8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CA7B3A7-8676-344B-B509-80EE596BEBBC}"/>
              </a:ext>
            </a:extLst>
          </p:cNvPr>
          <p:cNvSpPr txBox="1"/>
          <p:nvPr/>
        </p:nvSpPr>
        <p:spPr>
          <a:xfrm>
            <a:off x="429416" y="5094001"/>
            <a:ext cx="3833101" cy="523220"/>
          </a:xfrm>
          <a:prstGeom prst="rect">
            <a:avLst/>
          </a:prstGeom>
          <a:noFill/>
        </p:spPr>
        <p:txBody>
          <a:bodyPr wrap="none" rtlCol="0">
            <a:spAutoFit/>
          </a:bodyPr>
          <a:lstStyle/>
          <a:p>
            <a:r>
              <a:rPr lang="en-ZA" sz="2800" i="1" dirty="0"/>
              <a:t>f</a:t>
            </a:r>
            <a:r>
              <a:rPr lang="en-ZA" sz="2800" dirty="0"/>
              <a:t>(C,D,E)=(¬C∨D)∧(¬C∨¬E)</a:t>
            </a:r>
            <a:endParaRPr lang="en-US" sz="2800" dirty="0"/>
          </a:p>
        </p:txBody>
      </p:sp>
      <p:cxnSp>
        <p:nvCxnSpPr>
          <p:cNvPr id="10" name="Straight Connector 9">
            <a:extLst>
              <a:ext uri="{FF2B5EF4-FFF2-40B4-BE49-F238E27FC236}">
                <a16:creationId xmlns:a16="http://schemas.microsoft.com/office/drawing/2014/main" id="{9E71FDB3-2794-A949-AC47-11F0DFC09F27}"/>
              </a:ext>
            </a:extLst>
          </p:cNvPr>
          <p:cNvCxnSpPr>
            <a:cxnSpLocks/>
          </p:cNvCxnSpPr>
          <p:nvPr/>
        </p:nvCxnSpPr>
        <p:spPr>
          <a:xfrm>
            <a:off x="5243898" y="6031210"/>
            <a:ext cx="58616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6291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F424A99-BD76-6D4C-824C-27858440746C}"/>
              </a:ext>
            </a:extLst>
          </p:cNvPr>
          <p:cNvSpPr>
            <a:spLocks noGrp="1"/>
          </p:cNvSpPr>
          <p:nvPr>
            <p:ph type="sldNum" sz="quarter" idx="12"/>
          </p:nvPr>
        </p:nvSpPr>
        <p:spPr/>
        <p:txBody>
          <a:bodyPr/>
          <a:lstStyle/>
          <a:p>
            <a:fld id="{591A223C-FA10-BC46-A853-03BA373D023C}" type="slidenum">
              <a:rPr lang="en-US" smtClean="0"/>
              <a:t>29</a:t>
            </a:fld>
            <a:endParaRPr lang="en-US"/>
          </a:p>
        </p:txBody>
      </p:sp>
      <p:sp>
        <p:nvSpPr>
          <p:cNvPr id="6" name="Title 5">
            <a:extLst>
              <a:ext uri="{FF2B5EF4-FFF2-40B4-BE49-F238E27FC236}">
                <a16:creationId xmlns:a16="http://schemas.microsoft.com/office/drawing/2014/main" id="{AE238E2B-ACCC-4549-9E78-7D5B6B19B5B5}"/>
              </a:ext>
            </a:extLst>
          </p:cNvPr>
          <p:cNvSpPr>
            <a:spLocks noGrp="1"/>
          </p:cNvSpPr>
          <p:nvPr>
            <p:ph type="title"/>
          </p:nvPr>
        </p:nvSpPr>
        <p:spPr/>
        <p:txBody>
          <a:bodyPr/>
          <a:lstStyle/>
          <a:p>
            <a:r>
              <a:rPr lang="en-ZA" dirty="0"/>
              <a:t>The efficiency of Grover’s algorithm</a:t>
            </a:r>
            <a:endParaRPr lang="en-US" dirty="0"/>
          </a:p>
        </p:txBody>
      </p:sp>
      <p:pic>
        <p:nvPicPr>
          <p:cNvPr id="7" name="Picture 6">
            <a:extLst>
              <a:ext uri="{FF2B5EF4-FFF2-40B4-BE49-F238E27FC236}">
                <a16:creationId xmlns:a16="http://schemas.microsoft.com/office/drawing/2014/main" id="{DD63E6EE-6DF2-2144-870B-ED2B30A29333}"/>
              </a:ext>
            </a:extLst>
          </p:cNvPr>
          <p:cNvPicPr>
            <a:picLocks noChangeAspect="1"/>
          </p:cNvPicPr>
          <p:nvPr/>
        </p:nvPicPr>
        <p:blipFill>
          <a:blip r:embed="rId3"/>
          <a:stretch>
            <a:fillRect/>
          </a:stretch>
        </p:blipFill>
        <p:spPr>
          <a:xfrm>
            <a:off x="2156165" y="1401094"/>
            <a:ext cx="7879670" cy="4969565"/>
          </a:xfrm>
          <a:prstGeom prst="rect">
            <a:avLst/>
          </a:prstGeom>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00D8F035-5D0D-7A40-940B-DBDE722E373C}"/>
                  </a:ext>
                </a:extLst>
              </p:cNvPr>
              <p:cNvSpPr/>
              <p:nvPr/>
            </p:nvSpPr>
            <p:spPr>
              <a:xfrm>
                <a:off x="7843301" y="1763091"/>
                <a:ext cx="95949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𝑂</m:t>
                      </m:r>
                      <m:r>
                        <a:rPr lang="en-US" sz="2400" b="0" i="1" smtClean="0">
                          <a:latin typeface="Cambria Math" panose="02040503050406030204" pitchFamily="18" charset="0"/>
                        </a:rPr>
                        <m:t>(</m:t>
                      </m:r>
                      <m:r>
                        <a:rPr lang="en-US" sz="2400" b="0" i="1" smtClean="0">
                          <a:latin typeface="Cambria Math" panose="02040503050406030204" pitchFamily="18" charset="0"/>
                        </a:rPr>
                        <m:t>𝑁</m:t>
                      </m:r>
                      <m:r>
                        <a:rPr lang="en-US" sz="2400" b="0" i="1" smtClean="0">
                          <a:latin typeface="Cambria Math" panose="02040503050406030204" pitchFamily="18" charset="0"/>
                        </a:rPr>
                        <m:t>)</m:t>
                      </m:r>
                    </m:oMath>
                  </m:oMathPara>
                </a14:m>
                <a:endParaRPr lang="en-US" sz="2400" dirty="0"/>
              </a:p>
            </p:txBody>
          </p:sp>
        </mc:Choice>
        <mc:Fallback xmlns="">
          <p:sp>
            <p:nvSpPr>
              <p:cNvPr id="8" name="Rectangle 7">
                <a:extLst>
                  <a:ext uri="{FF2B5EF4-FFF2-40B4-BE49-F238E27FC236}">
                    <a16:creationId xmlns:a16="http://schemas.microsoft.com/office/drawing/2014/main" id="{00D8F035-5D0D-7A40-940B-DBDE722E373C}"/>
                  </a:ext>
                </a:extLst>
              </p:cNvPr>
              <p:cNvSpPr>
                <a:spLocks noRot="1" noChangeAspect="1" noMove="1" noResize="1" noEditPoints="1" noAdjustHandles="1" noChangeArrowheads="1" noChangeShapeType="1" noTextEdit="1"/>
              </p:cNvSpPr>
              <p:nvPr/>
            </p:nvSpPr>
            <p:spPr>
              <a:xfrm>
                <a:off x="7843301" y="1763091"/>
                <a:ext cx="959493" cy="461665"/>
              </a:xfrm>
              <a:prstGeom prst="rect">
                <a:avLst/>
              </a:prstGeom>
              <a:blipFill>
                <a:blip r:embed="rId4"/>
                <a:stretch>
                  <a:fillRect r="-1316"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4D751BDD-4BCF-F743-B4EB-A14A7519F357}"/>
                  </a:ext>
                </a:extLst>
              </p:cNvPr>
              <p:cNvSpPr/>
              <p:nvPr/>
            </p:nvSpPr>
            <p:spPr>
              <a:xfrm>
                <a:off x="7843301" y="2801499"/>
                <a:ext cx="1161600" cy="5027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𝑂</m:t>
                      </m:r>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𝑁</m:t>
                          </m:r>
                        </m:e>
                      </m:rad>
                      <m:r>
                        <a:rPr lang="en-US" sz="2400" b="0" i="1" smtClean="0">
                          <a:latin typeface="Cambria Math" panose="02040503050406030204" pitchFamily="18" charset="0"/>
                        </a:rPr>
                        <m:t>)</m:t>
                      </m:r>
                    </m:oMath>
                  </m:oMathPara>
                </a14:m>
                <a:endParaRPr lang="en-US" sz="2400" dirty="0"/>
              </a:p>
            </p:txBody>
          </p:sp>
        </mc:Choice>
        <mc:Fallback xmlns="">
          <p:sp>
            <p:nvSpPr>
              <p:cNvPr id="9" name="Rectangle 8">
                <a:extLst>
                  <a:ext uri="{FF2B5EF4-FFF2-40B4-BE49-F238E27FC236}">
                    <a16:creationId xmlns:a16="http://schemas.microsoft.com/office/drawing/2014/main" id="{4D751BDD-4BCF-F743-B4EB-A14A7519F357}"/>
                  </a:ext>
                </a:extLst>
              </p:cNvPr>
              <p:cNvSpPr>
                <a:spLocks noRot="1" noChangeAspect="1" noMove="1" noResize="1" noEditPoints="1" noAdjustHandles="1" noChangeArrowheads="1" noChangeShapeType="1" noTextEdit="1"/>
              </p:cNvSpPr>
              <p:nvPr/>
            </p:nvSpPr>
            <p:spPr>
              <a:xfrm>
                <a:off x="7843301" y="2801499"/>
                <a:ext cx="1161600" cy="502766"/>
              </a:xfrm>
              <a:prstGeom prst="rect">
                <a:avLst/>
              </a:prstGeom>
              <a:blipFill>
                <a:blip r:embed="rId5"/>
                <a:stretch>
                  <a:fillRect b="-15000"/>
                </a:stretch>
              </a:blipFill>
            </p:spPr>
            <p:txBody>
              <a:bodyPr/>
              <a:lstStyle/>
              <a:p>
                <a:r>
                  <a:rPr lang="en-US">
                    <a:noFill/>
                  </a:rPr>
                  <a:t> </a:t>
                </a:r>
              </a:p>
            </p:txBody>
          </p:sp>
        </mc:Fallback>
      </mc:AlternateContent>
    </p:spTree>
    <p:extLst>
      <p:ext uri="{BB962C8B-B14F-4D97-AF65-F5344CB8AC3E}">
        <p14:creationId xmlns:p14="http://schemas.microsoft.com/office/powerpoint/2010/main" val="1324871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695A0-8474-2D4A-9D80-2005D79BCCEA}"/>
              </a:ext>
            </a:extLst>
          </p:cNvPr>
          <p:cNvSpPr>
            <a:spLocks noGrp="1"/>
          </p:cNvSpPr>
          <p:nvPr>
            <p:ph type="title"/>
          </p:nvPr>
        </p:nvSpPr>
        <p:spPr>
          <a:xfrm>
            <a:off x="0" y="0"/>
            <a:ext cx="12192000" cy="928688"/>
          </a:xfrm>
        </p:spPr>
        <p:txBody>
          <a:bodyPr/>
          <a:lstStyle/>
          <a:p>
            <a:r>
              <a:rPr lang="en-ZA" sz="3600" dirty="0"/>
              <a:t>Shor’s Algorithm (1994)</a:t>
            </a:r>
            <a:endParaRPr lang="en-US" dirty="0"/>
          </a:p>
        </p:txBody>
      </p:sp>
      <p:sp>
        <p:nvSpPr>
          <p:cNvPr id="3" name="Slide Number Placeholder 2">
            <a:extLst>
              <a:ext uri="{FF2B5EF4-FFF2-40B4-BE49-F238E27FC236}">
                <a16:creationId xmlns:a16="http://schemas.microsoft.com/office/drawing/2014/main" id="{62C2D02F-B87A-4949-8B87-6C745A2D4C54}"/>
              </a:ext>
            </a:extLst>
          </p:cNvPr>
          <p:cNvSpPr>
            <a:spLocks noGrp="1"/>
          </p:cNvSpPr>
          <p:nvPr>
            <p:ph type="sldNum" sz="quarter" idx="12"/>
          </p:nvPr>
        </p:nvSpPr>
        <p:spPr/>
        <p:txBody>
          <a:bodyPr/>
          <a:lstStyle/>
          <a:p>
            <a:fld id="{591A223C-FA10-BC46-A853-03BA373D023C}" type="slidenum">
              <a:rPr lang="en-US" smtClean="0"/>
              <a:t>30</a:t>
            </a:fld>
            <a:endParaRPr lang="en-US"/>
          </a:p>
        </p:txBody>
      </p:sp>
      <p:sp>
        <p:nvSpPr>
          <p:cNvPr id="4" name="Rectangle 3">
            <a:extLst>
              <a:ext uri="{FF2B5EF4-FFF2-40B4-BE49-F238E27FC236}">
                <a16:creationId xmlns:a16="http://schemas.microsoft.com/office/drawing/2014/main" id="{57C092DD-E315-4B44-8904-4F6A2F759699}"/>
              </a:ext>
            </a:extLst>
          </p:cNvPr>
          <p:cNvSpPr/>
          <p:nvPr/>
        </p:nvSpPr>
        <p:spPr>
          <a:xfrm>
            <a:off x="348343" y="1895089"/>
            <a:ext cx="6096000" cy="2308324"/>
          </a:xfrm>
          <a:prstGeom prst="rect">
            <a:avLst/>
          </a:prstGeom>
          <a:solidFill>
            <a:schemeClr val="accent4">
              <a:lumMod val="20000"/>
              <a:lumOff val="80000"/>
            </a:schemeClr>
          </a:solidFill>
        </p:spPr>
        <p:txBody>
          <a:bodyPr>
            <a:spAutoFit/>
          </a:bodyPr>
          <a:lstStyle/>
          <a:p>
            <a:pPr algn="just"/>
            <a:r>
              <a:rPr lang="en-ZA" sz="2400" dirty="0"/>
              <a:t>Peter Shor developed a quantum algorithm for finding the prime factors of composite integers. </a:t>
            </a:r>
          </a:p>
          <a:p>
            <a:pPr algn="just"/>
            <a:endParaRPr lang="en-ZA" sz="2400" dirty="0"/>
          </a:p>
          <a:p>
            <a:pPr algn="just"/>
            <a:r>
              <a:rPr lang="en-ZA" sz="2400" dirty="0"/>
              <a:t>Shor’s algorithm provides an exponential speedup over the best-known classical factoring algorithms.</a:t>
            </a:r>
            <a:endParaRPr lang="en-US" sz="2400" dirty="0">
              <a:latin typeface="+mj-lt"/>
            </a:endParaRPr>
          </a:p>
        </p:txBody>
      </p:sp>
      <p:sp>
        <p:nvSpPr>
          <p:cNvPr id="7" name="TextBox 6">
            <a:extLst>
              <a:ext uri="{FF2B5EF4-FFF2-40B4-BE49-F238E27FC236}">
                <a16:creationId xmlns:a16="http://schemas.microsoft.com/office/drawing/2014/main" id="{EC0D8E66-2294-3547-A334-7FA73274CB52}"/>
              </a:ext>
            </a:extLst>
          </p:cNvPr>
          <p:cNvSpPr txBox="1"/>
          <p:nvPr/>
        </p:nvSpPr>
        <p:spPr>
          <a:xfrm>
            <a:off x="168481" y="4753125"/>
            <a:ext cx="6475663" cy="1015663"/>
          </a:xfrm>
          <a:prstGeom prst="rect">
            <a:avLst/>
          </a:prstGeom>
          <a:noFill/>
        </p:spPr>
        <p:txBody>
          <a:bodyPr wrap="square" rtlCol="0">
            <a:spAutoFit/>
          </a:bodyPr>
          <a:lstStyle/>
          <a:p>
            <a:r>
              <a:rPr lang="en-US" sz="2000" dirty="0"/>
              <a:t>Shor P.W. Polynomial-time algorithms for prime factorization and discrete logarithms on a quantum computer, SIAM J. </a:t>
            </a:r>
            <a:r>
              <a:rPr lang="en-US" sz="2000" dirty="0" err="1"/>
              <a:t>Comput</a:t>
            </a:r>
            <a:r>
              <a:rPr lang="en-US" sz="2000" dirty="0"/>
              <a:t>., 26 (5) (1997), pp. 1484-1509, </a:t>
            </a:r>
          </a:p>
        </p:txBody>
      </p:sp>
      <p:sp>
        <p:nvSpPr>
          <p:cNvPr id="5" name="TextBox 4">
            <a:extLst>
              <a:ext uri="{FF2B5EF4-FFF2-40B4-BE49-F238E27FC236}">
                <a16:creationId xmlns:a16="http://schemas.microsoft.com/office/drawing/2014/main" id="{241FCACF-7D76-624A-B6D2-4B48644A9B39}"/>
              </a:ext>
            </a:extLst>
          </p:cNvPr>
          <p:cNvSpPr txBox="1"/>
          <p:nvPr/>
        </p:nvSpPr>
        <p:spPr>
          <a:xfrm>
            <a:off x="8145940" y="5537955"/>
            <a:ext cx="3030060" cy="461665"/>
          </a:xfrm>
          <a:prstGeom prst="rect">
            <a:avLst/>
          </a:prstGeom>
          <a:noFill/>
        </p:spPr>
        <p:txBody>
          <a:bodyPr wrap="none" rtlCol="0">
            <a:spAutoFit/>
          </a:bodyPr>
          <a:lstStyle/>
          <a:p>
            <a:r>
              <a:rPr lang="en-ZA" sz="2400" dirty="0"/>
              <a:t>Peter Shor</a:t>
            </a:r>
            <a:r>
              <a:rPr lang="en-US" sz="2400" dirty="0"/>
              <a:t> (born 1959)</a:t>
            </a:r>
          </a:p>
        </p:txBody>
      </p:sp>
      <p:pic>
        <p:nvPicPr>
          <p:cNvPr id="6" name="Picture 5">
            <a:extLst>
              <a:ext uri="{FF2B5EF4-FFF2-40B4-BE49-F238E27FC236}">
                <a16:creationId xmlns:a16="http://schemas.microsoft.com/office/drawing/2014/main" id="{B173DB36-02B7-5143-AB5E-06DD94240C2C}"/>
              </a:ext>
            </a:extLst>
          </p:cNvPr>
          <p:cNvPicPr>
            <a:picLocks noChangeAspect="1"/>
          </p:cNvPicPr>
          <p:nvPr/>
        </p:nvPicPr>
        <p:blipFill>
          <a:blip r:embed="rId3"/>
          <a:stretch>
            <a:fillRect/>
          </a:stretch>
        </p:blipFill>
        <p:spPr>
          <a:xfrm>
            <a:off x="8145940" y="1286156"/>
            <a:ext cx="2926387" cy="3892323"/>
          </a:xfrm>
          <a:prstGeom prst="rect">
            <a:avLst/>
          </a:prstGeom>
        </p:spPr>
      </p:pic>
    </p:spTree>
    <p:extLst>
      <p:ext uri="{BB962C8B-B14F-4D97-AF65-F5344CB8AC3E}">
        <p14:creationId xmlns:p14="http://schemas.microsoft.com/office/powerpoint/2010/main" val="889999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C09AE-601B-F144-A44F-2978B175245C}"/>
              </a:ext>
            </a:extLst>
          </p:cNvPr>
          <p:cNvSpPr>
            <a:spLocks noGrp="1"/>
          </p:cNvSpPr>
          <p:nvPr>
            <p:ph type="title"/>
          </p:nvPr>
        </p:nvSpPr>
        <p:spPr>
          <a:xfrm>
            <a:off x="0" y="0"/>
            <a:ext cx="12192000" cy="928688"/>
          </a:xfrm>
        </p:spPr>
        <p:txBody>
          <a:bodyPr/>
          <a:lstStyle/>
          <a:p>
            <a:r>
              <a:rPr lang="en-ZA" b="1" dirty="0"/>
              <a:t>The Challenge of Prime Factorization</a:t>
            </a:r>
            <a:r>
              <a:rPr lang="en-ZA" dirty="0"/>
              <a:t>.</a:t>
            </a:r>
            <a:endParaRPr lang="en-US" dirty="0"/>
          </a:p>
        </p:txBody>
      </p:sp>
      <p:sp>
        <p:nvSpPr>
          <p:cNvPr id="3" name="Slide Number Placeholder 2">
            <a:extLst>
              <a:ext uri="{FF2B5EF4-FFF2-40B4-BE49-F238E27FC236}">
                <a16:creationId xmlns:a16="http://schemas.microsoft.com/office/drawing/2014/main" id="{D298752C-2F66-CA45-A560-73E650847BA3}"/>
              </a:ext>
            </a:extLst>
          </p:cNvPr>
          <p:cNvSpPr>
            <a:spLocks noGrp="1"/>
          </p:cNvSpPr>
          <p:nvPr>
            <p:ph type="sldNum" sz="quarter" idx="12"/>
          </p:nvPr>
        </p:nvSpPr>
        <p:spPr/>
        <p:txBody>
          <a:bodyPr/>
          <a:lstStyle/>
          <a:p>
            <a:fld id="{591A223C-FA10-BC46-A853-03BA373D023C}" type="slidenum">
              <a:rPr lang="en-US" smtClean="0"/>
              <a:t>31</a:t>
            </a:fld>
            <a:endParaRPr lang="en-US"/>
          </a:p>
        </p:txBody>
      </p:sp>
      <p:pic>
        <p:nvPicPr>
          <p:cNvPr id="20" name="Picture 19">
            <a:extLst>
              <a:ext uri="{FF2B5EF4-FFF2-40B4-BE49-F238E27FC236}">
                <a16:creationId xmlns:a16="http://schemas.microsoft.com/office/drawing/2014/main" id="{7115347F-AA27-F647-B1C0-3162007E01A8}"/>
              </a:ext>
            </a:extLst>
          </p:cNvPr>
          <p:cNvPicPr>
            <a:picLocks noChangeAspect="1"/>
          </p:cNvPicPr>
          <p:nvPr/>
        </p:nvPicPr>
        <p:blipFill>
          <a:blip r:embed="rId3">
            <a:duotone>
              <a:prstClr val="black"/>
              <a:schemeClr val="accent6">
                <a:tint val="45000"/>
                <a:satMod val="400000"/>
              </a:schemeClr>
            </a:duotone>
          </a:blip>
          <a:stretch>
            <a:fillRect/>
          </a:stretch>
        </p:blipFill>
        <p:spPr>
          <a:xfrm>
            <a:off x="1897209" y="3663686"/>
            <a:ext cx="2891448" cy="2719110"/>
          </a:xfrm>
          <a:prstGeom prst="rect">
            <a:avLst/>
          </a:prstGeom>
        </p:spPr>
      </p:pic>
      <p:sp>
        <p:nvSpPr>
          <p:cNvPr id="22" name="Oval Callout 21">
            <a:extLst>
              <a:ext uri="{FF2B5EF4-FFF2-40B4-BE49-F238E27FC236}">
                <a16:creationId xmlns:a16="http://schemas.microsoft.com/office/drawing/2014/main" id="{4AB1CF05-AA62-1A4E-86D4-69A45D54B9A5}"/>
              </a:ext>
            </a:extLst>
          </p:cNvPr>
          <p:cNvSpPr/>
          <p:nvPr/>
        </p:nvSpPr>
        <p:spPr>
          <a:xfrm>
            <a:off x="1017332" y="2817578"/>
            <a:ext cx="2298648" cy="893203"/>
          </a:xfrm>
          <a:prstGeom prst="wedgeEllipseCallout">
            <a:avLst>
              <a:gd name="adj1" fmla="val 28011"/>
              <a:gd name="adj2" fmla="val 107398"/>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9B07AB6-2F5F-EB40-9EB2-C62726284D04}"/>
              </a:ext>
            </a:extLst>
          </p:cNvPr>
          <p:cNvSpPr txBox="1"/>
          <p:nvPr/>
        </p:nvSpPr>
        <p:spPr>
          <a:xfrm>
            <a:off x="1317705" y="2987180"/>
            <a:ext cx="1678665" cy="553998"/>
          </a:xfrm>
          <a:prstGeom prst="rect">
            <a:avLst/>
          </a:prstGeom>
          <a:noFill/>
        </p:spPr>
        <p:txBody>
          <a:bodyPr wrap="none" rtlCol="0">
            <a:spAutoFit/>
          </a:bodyPr>
          <a:lstStyle/>
          <a:p>
            <a:r>
              <a:rPr lang="en-US" sz="3000" dirty="0"/>
              <a:t>3    5 = 15</a:t>
            </a:r>
          </a:p>
        </p:txBody>
      </p:sp>
      <p:sp>
        <p:nvSpPr>
          <p:cNvPr id="23" name="Oval Callout 22">
            <a:extLst>
              <a:ext uri="{FF2B5EF4-FFF2-40B4-BE49-F238E27FC236}">
                <a16:creationId xmlns:a16="http://schemas.microsoft.com/office/drawing/2014/main" id="{A14FE659-7052-0442-85B4-B9016BCF74C2}"/>
              </a:ext>
            </a:extLst>
          </p:cNvPr>
          <p:cNvSpPr/>
          <p:nvPr/>
        </p:nvSpPr>
        <p:spPr>
          <a:xfrm>
            <a:off x="7191623" y="1356400"/>
            <a:ext cx="2298648" cy="893203"/>
          </a:xfrm>
          <a:prstGeom prst="wedgeEllipseCallout">
            <a:avLst>
              <a:gd name="adj1" fmla="val 50827"/>
              <a:gd name="adj2" fmla="val 74419"/>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EEB11D90-CECC-C742-8E7A-8C47CB62C380}"/>
              </a:ext>
            </a:extLst>
          </p:cNvPr>
          <p:cNvPicPr>
            <a:picLocks noChangeAspect="1"/>
          </p:cNvPicPr>
          <p:nvPr/>
        </p:nvPicPr>
        <p:blipFill>
          <a:blip r:embed="rId4">
            <a:duotone>
              <a:prstClr val="black"/>
              <a:schemeClr val="accent2">
                <a:tint val="45000"/>
                <a:satMod val="400000"/>
              </a:schemeClr>
            </a:duotone>
          </a:blip>
          <a:stretch>
            <a:fillRect/>
          </a:stretch>
        </p:blipFill>
        <p:spPr>
          <a:xfrm flipH="1">
            <a:off x="8069667" y="1510615"/>
            <a:ext cx="2943839" cy="2982830"/>
          </a:xfrm>
          <a:prstGeom prst="rect">
            <a:avLst/>
          </a:prstGeom>
        </p:spPr>
      </p:pic>
      <p:sp>
        <p:nvSpPr>
          <p:cNvPr id="14" name="TextBox 13">
            <a:extLst>
              <a:ext uri="{FF2B5EF4-FFF2-40B4-BE49-F238E27FC236}">
                <a16:creationId xmlns:a16="http://schemas.microsoft.com/office/drawing/2014/main" id="{4F0854D1-BB7A-274B-B6E8-1B03327B6CD5}"/>
              </a:ext>
            </a:extLst>
          </p:cNvPr>
          <p:cNvSpPr txBox="1"/>
          <p:nvPr/>
        </p:nvSpPr>
        <p:spPr>
          <a:xfrm>
            <a:off x="7480799" y="1530070"/>
            <a:ext cx="1745991" cy="584775"/>
          </a:xfrm>
          <a:prstGeom prst="rect">
            <a:avLst/>
          </a:prstGeom>
          <a:noFill/>
        </p:spPr>
        <p:txBody>
          <a:bodyPr wrap="none" rtlCol="0">
            <a:spAutoFit/>
          </a:bodyPr>
          <a:lstStyle/>
          <a:p>
            <a:r>
              <a:rPr lang="en-US" sz="3200" dirty="0"/>
              <a:t>15 = ?    ?</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F8CD6102-7DA7-A14C-A9C6-45448031A958}"/>
                  </a:ext>
                </a:extLst>
              </p:cNvPr>
              <p:cNvSpPr/>
              <p:nvPr/>
            </p:nvSpPr>
            <p:spPr>
              <a:xfrm flipV="1">
                <a:off x="8732577" y="1569149"/>
                <a:ext cx="257815"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11" name="Rectangle 10">
                <a:extLst>
                  <a:ext uri="{FF2B5EF4-FFF2-40B4-BE49-F238E27FC236}">
                    <a16:creationId xmlns:a16="http://schemas.microsoft.com/office/drawing/2014/main" id="{F8CD6102-7DA7-A14C-A9C6-45448031A958}"/>
                  </a:ext>
                </a:extLst>
              </p:cNvPr>
              <p:cNvSpPr>
                <a:spLocks noRot="1" noChangeAspect="1" noMove="1" noResize="1" noEditPoints="1" noAdjustHandles="1" noChangeArrowheads="1" noChangeShapeType="1" noTextEdit="1"/>
              </p:cNvSpPr>
              <p:nvPr/>
            </p:nvSpPr>
            <p:spPr>
              <a:xfrm flipV="1">
                <a:off x="8732577" y="1569149"/>
                <a:ext cx="257815" cy="584775"/>
              </a:xfrm>
              <a:prstGeom prst="rect">
                <a:avLst/>
              </a:prstGeom>
              <a:blipFill>
                <a:blip r:embed="rId5"/>
                <a:stretch>
                  <a:fillRect l="-90476" r="-47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9AD7D16A-84B5-A74D-97BE-D75BBDECCA0A}"/>
                  </a:ext>
                </a:extLst>
              </p:cNvPr>
              <p:cNvSpPr/>
              <p:nvPr/>
            </p:nvSpPr>
            <p:spPr>
              <a:xfrm flipV="1">
                <a:off x="1768301" y="2987180"/>
                <a:ext cx="257815"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18" name="Rectangle 17">
                <a:extLst>
                  <a:ext uri="{FF2B5EF4-FFF2-40B4-BE49-F238E27FC236}">
                    <a16:creationId xmlns:a16="http://schemas.microsoft.com/office/drawing/2014/main" id="{9AD7D16A-84B5-A74D-97BE-D75BBDECCA0A}"/>
                  </a:ext>
                </a:extLst>
              </p:cNvPr>
              <p:cNvSpPr>
                <a:spLocks noRot="1" noChangeAspect="1" noMove="1" noResize="1" noEditPoints="1" noAdjustHandles="1" noChangeArrowheads="1" noChangeShapeType="1" noTextEdit="1"/>
              </p:cNvSpPr>
              <p:nvPr/>
            </p:nvSpPr>
            <p:spPr>
              <a:xfrm flipV="1">
                <a:off x="1768301" y="2987180"/>
                <a:ext cx="257815" cy="584775"/>
              </a:xfrm>
              <a:prstGeom prst="rect">
                <a:avLst/>
              </a:prstGeom>
              <a:blipFill>
                <a:blip r:embed="rId6"/>
                <a:stretch>
                  <a:fillRect l="-81818" r="-4545"/>
                </a:stretch>
              </a:blipFill>
            </p:spPr>
            <p:txBody>
              <a:bodyPr/>
              <a:lstStyle/>
              <a:p>
                <a:r>
                  <a:rPr lang="en-US">
                    <a:noFill/>
                  </a:rPr>
                  <a:t> </a:t>
                </a:r>
              </a:p>
            </p:txBody>
          </p:sp>
        </mc:Fallback>
      </mc:AlternateContent>
      <p:sp>
        <p:nvSpPr>
          <p:cNvPr id="13" name="Freeform 12">
            <a:extLst>
              <a:ext uri="{FF2B5EF4-FFF2-40B4-BE49-F238E27FC236}">
                <a16:creationId xmlns:a16="http://schemas.microsoft.com/office/drawing/2014/main" id="{7CB0A5E7-5B15-F644-8B4B-FF78D850CA4C}"/>
              </a:ext>
            </a:extLst>
          </p:cNvPr>
          <p:cNvSpPr/>
          <p:nvPr/>
        </p:nvSpPr>
        <p:spPr>
          <a:xfrm rot="18477390">
            <a:off x="5276232" y="3899958"/>
            <a:ext cx="3280929" cy="2639307"/>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Box 3">
            <a:extLst>
              <a:ext uri="{FF2B5EF4-FFF2-40B4-BE49-F238E27FC236}">
                <a16:creationId xmlns:a16="http://schemas.microsoft.com/office/drawing/2014/main" id="{B552438F-B1D6-5549-BF5F-C685C8949F52}"/>
              </a:ext>
            </a:extLst>
          </p:cNvPr>
          <p:cNvSpPr txBox="1"/>
          <p:nvPr/>
        </p:nvSpPr>
        <p:spPr>
          <a:xfrm>
            <a:off x="563028" y="1873836"/>
            <a:ext cx="4121193" cy="646331"/>
          </a:xfrm>
          <a:prstGeom prst="rect">
            <a:avLst/>
          </a:prstGeom>
          <a:noFill/>
        </p:spPr>
        <p:txBody>
          <a:bodyPr wrap="none" rtlCol="0">
            <a:spAutoFit/>
          </a:bodyPr>
          <a:lstStyle/>
          <a:p>
            <a:r>
              <a:rPr lang="en-ZA" sz="3600" dirty="0"/>
              <a:t>Multiplication is easy</a:t>
            </a:r>
            <a:endParaRPr lang="en-US" sz="3600" dirty="0"/>
          </a:p>
        </p:txBody>
      </p:sp>
      <p:sp>
        <p:nvSpPr>
          <p:cNvPr id="15" name="TextBox 14">
            <a:extLst>
              <a:ext uri="{FF2B5EF4-FFF2-40B4-BE49-F238E27FC236}">
                <a16:creationId xmlns:a16="http://schemas.microsoft.com/office/drawing/2014/main" id="{BD563CBB-17DC-DE41-A9DD-011CA78DC9FF}"/>
              </a:ext>
            </a:extLst>
          </p:cNvPr>
          <p:cNvSpPr txBox="1"/>
          <p:nvPr/>
        </p:nvSpPr>
        <p:spPr>
          <a:xfrm>
            <a:off x="7771937" y="292752"/>
            <a:ext cx="3843809" cy="646331"/>
          </a:xfrm>
          <a:prstGeom prst="rect">
            <a:avLst/>
          </a:prstGeom>
          <a:noFill/>
        </p:spPr>
        <p:txBody>
          <a:bodyPr wrap="none" rtlCol="0">
            <a:spAutoFit/>
          </a:bodyPr>
          <a:lstStyle/>
          <a:p>
            <a:r>
              <a:rPr lang="en-ZA" sz="3600" dirty="0"/>
              <a:t>Factoring is difficult</a:t>
            </a:r>
            <a:endParaRPr lang="en-US" sz="3600" dirty="0"/>
          </a:p>
        </p:txBody>
      </p:sp>
    </p:spTree>
    <p:extLst>
      <p:ext uri="{BB962C8B-B14F-4D97-AF65-F5344CB8AC3E}">
        <p14:creationId xmlns:p14="http://schemas.microsoft.com/office/powerpoint/2010/main" val="35597273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57602-8F4D-A741-8985-E0DBABB80D28}"/>
              </a:ext>
            </a:extLst>
          </p:cNvPr>
          <p:cNvSpPr>
            <a:spLocks noGrp="1"/>
          </p:cNvSpPr>
          <p:nvPr>
            <p:ph type="title"/>
          </p:nvPr>
        </p:nvSpPr>
        <p:spPr/>
        <p:txBody>
          <a:bodyPr/>
          <a:lstStyle/>
          <a:p>
            <a:r>
              <a:rPr lang="en-ZA" dirty="0" err="1"/>
              <a:t>MathBox</a:t>
            </a:r>
            <a:r>
              <a:rPr lang="en-ZA" dirty="0"/>
              <a:t>: Mathematical Foundations of Shor’s Algorithm</a:t>
            </a:r>
            <a:endParaRPr lang="en-US" dirty="0"/>
          </a:p>
        </p:txBody>
      </p:sp>
      <p:sp>
        <p:nvSpPr>
          <p:cNvPr id="3" name="Slide Number Placeholder 2">
            <a:extLst>
              <a:ext uri="{FF2B5EF4-FFF2-40B4-BE49-F238E27FC236}">
                <a16:creationId xmlns:a16="http://schemas.microsoft.com/office/drawing/2014/main" id="{9C03A2A0-5564-F54C-8CC0-7F78A17EF9CB}"/>
              </a:ext>
            </a:extLst>
          </p:cNvPr>
          <p:cNvSpPr>
            <a:spLocks noGrp="1"/>
          </p:cNvSpPr>
          <p:nvPr>
            <p:ph type="sldNum" sz="quarter" idx="12"/>
          </p:nvPr>
        </p:nvSpPr>
        <p:spPr/>
        <p:txBody>
          <a:bodyPr/>
          <a:lstStyle/>
          <a:p>
            <a:fld id="{591A223C-FA10-BC46-A853-03BA373D023C}" type="slidenum">
              <a:rPr lang="en-US" smtClean="0"/>
              <a:t>32</a:t>
            </a:fld>
            <a:endParaRPr lang="en-US"/>
          </a:p>
        </p:txBody>
      </p:sp>
      <p:graphicFrame>
        <p:nvGraphicFramePr>
          <p:cNvPr id="4" name="Diagram 3">
            <a:extLst>
              <a:ext uri="{FF2B5EF4-FFF2-40B4-BE49-F238E27FC236}">
                <a16:creationId xmlns:a16="http://schemas.microsoft.com/office/drawing/2014/main" id="{4E50BA65-C7FE-8E4C-9D24-7199600A1DB4}"/>
              </a:ext>
            </a:extLst>
          </p:cNvPr>
          <p:cNvGraphicFramePr/>
          <p:nvPr>
            <p:extLst>
              <p:ext uri="{D42A27DB-BD31-4B8C-83A1-F6EECF244321}">
                <p14:modId xmlns:p14="http://schemas.microsoft.com/office/powerpoint/2010/main" val="3232005708"/>
              </p:ext>
            </p:extLst>
          </p:nvPr>
        </p:nvGraphicFramePr>
        <p:xfrm>
          <a:off x="2032000" y="1001448"/>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12397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0C7D73-1938-1E46-BE01-44690EB231D0}"/>
              </a:ext>
            </a:extLst>
          </p:cNvPr>
          <p:cNvSpPr>
            <a:spLocks noGrp="1"/>
          </p:cNvSpPr>
          <p:nvPr>
            <p:ph type="title"/>
          </p:nvPr>
        </p:nvSpPr>
        <p:spPr/>
        <p:txBody>
          <a:bodyPr/>
          <a:lstStyle/>
          <a:p>
            <a:r>
              <a:rPr lang="en-ZA" dirty="0" err="1"/>
              <a:t>MathBox</a:t>
            </a:r>
            <a:r>
              <a:rPr lang="en-ZA" dirty="0"/>
              <a:t>: Modular Arithmetic</a:t>
            </a:r>
            <a:endParaRPr lang="en-US" dirty="0"/>
          </a:p>
        </p:txBody>
      </p:sp>
      <p:sp>
        <p:nvSpPr>
          <p:cNvPr id="3" name="Slide Number Placeholder 2">
            <a:extLst>
              <a:ext uri="{FF2B5EF4-FFF2-40B4-BE49-F238E27FC236}">
                <a16:creationId xmlns:a16="http://schemas.microsoft.com/office/drawing/2014/main" id="{B3313DED-9497-F24F-8BFF-F075A5AB1B1F}"/>
              </a:ext>
            </a:extLst>
          </p:cNvPr>
          <p:cNvSpPr>
            <a:spLocks noGrp="1"/>
          </p:cNvSpPr>
          <p:nvPr>
            <p:ph type="sldNum" sz="quarter" idx="12"/>
          </p:nvPr>
        </p:nvSpPr>
        <p:spPr/>
        <p:txBody>
          <a:bodyPr/>
          <a:lstStyle/>
          <a:p>
            <a:fld id="{591A223C-FA10-BC46-A853-03BA373D023C}" type="slidenum">
              <a:rPr lang="en-US" smtClean="0"/>
              <a:t>33</a:t>
            </a:fld>
            <a:endParaRPr lang="en-US"/>
          </a:p>
        </p:txBody>
      </p:sp>
      <p:pic>
        <p:nvPicPr>
          <p:cNvPr id="6" name="Picture 5">
            <a:extLst>
              <a:ext uri="{FF2B5EF4-FFF2-40B4-BE49-F238E27FC236}">
                <a16:creationId xmlns:a16="http://schemas.microsoft.com/office/drawing/2014/main" id="{05B69DD8-4D2D-5047-896D-679BE5F07D95}"/>
              </a:ext>
            </a:extLst>
          </p:cNvPr>
          <p:cNvPicPr>
            <a:picLocks noChangeAspect="1"/>
          </p:cNvPicPr>
          <p:nvPr/>
        </p:nvPicPr>
        <p:blipFill>
          <a:blip r:embed="rId3"/>
          <a:stretch>
            <a:fillRect/>
          </a:stretch>
        </p:blipFill>
        <p:spPr>
          <a:xfrm>
            <a:off x="2934219" y="1439075"/>
            <a:ext cx="6140175" cy="3199810"/>
          </a:xfrm>
          <a:prstGeom prst="rect">
            <a:avLst/>
          </a:prstGeom>
        </p:spPr>
      </p:pic>
      <p:grpSp>
        <p:nvGrpSpPr>
          <p:cNvPr id="9" name="Group 8">
            <a:extLst>
              <a:ext uri="{FF2B5EF4-FFF2-40B4-BE49-F238E27FC236}">
                <a16:creationId xmlns:a16="http://schemas.microsoft.com/office/drawing/2014/main" id="{8E964B4D-7635-8F43-8D29-0BFBF90F28D3}"/>
              </a:ext>
            </a:extLst>
          </p:cNvPr>
          <p:cNvGrpSpPr/>
          <p:nvPr/>
        </p:nvGrpSpPr>
        <p:grpSpPr>
          <a:xfrm>
            <a:off x="3416559" y="4957008"/>
            <a:ext cx="5841792" cy="1224513"/>
            <a:chOff x="3204406" y="5047634"/>
            <a:chExt cx="5841792" cy="1224513"/>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CC2391A-DD7D-DD4C-BA03-E4E8C99FD42C}"/>
                    </a:ext>
                  </a:extLst>
                </p:cNvPr>
                <p:cNvSpPr/>
                <p:nvPr/>
              </p:nvSpPr>
              <p:spPr>
                <a:xfrm>
                  <a:off x="3204406" y="5625816"/>
                  <a:ext cx="5841792"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US" sz="3600" i="1" smtClean="0">
                                <a:latin typeface="Cambria Math" panose="02040503050406030204" pitchFamily="18" charset="0"/>
                              </a:rPr>
                            </m:ctrlPr>
                          </m:dPr>
                          <m:e>
                            <m:r>
                              <a:rPr lang="en-US" sz="3600" i="1">
                                <a:latin typeface="Cambria Math" panose="02040503050406030204" pitchFamily="18" charset="0"/>
                              </a:rPr>
                              <m:t>𝑎</m:t>
                            </m:r>
                            <m:r>
                              <a:rPr lang="en-US" sz="3600" i="0">
                                <a:latin typeface="Cambria Math" panose="02040503050406030204" pitchFamily="18" charset="0"/>
                              </a:rPr>
                              <m:t>≡</m:t>
                            </m:r>
                            <m:r>
                              <a:rPr lang="en-US" sz="3600" i="1">
                                <a:latin typeface="Cambria Math" panose="02040503050406030204" pitchFamily="18" charset="0"/>
                              </a:rPr>
                              <m:t>𝑏</m:t>
                            </m:r>
                            <m:r>
                              <a:rPr lang="en-US" sz="3600" i="0">
                                <a:latin typeface="Cambria Math" panose="02040503050406030204" pitchFamily="18" charset="0"/>
                              </a:rPr>
                              <m:t> (</m:t>
                            </m:r>
                            <m:r>
                              <m:rPr>
                                <m:sty m:val="p"/>
                              </m:rPr>
                              <a:rPr lang="en-US" sz="3600" i="0">
                                <a:latin typeface="Cambria Math" panose="02040503050406030204" pitchFamily="18" charset="0"/>
                              </a:rPr>
                              <m:t>mod</m:t>
                            </m:r>
                            <m:r>
                              <a:rPr lang="en-US" sz="3600" i="0">
                                <a:latin typeface="Cambria Math" panose="02040503050406030204" pitchFamily="18" charset="0"/>
                              </a:rPr>
                              <m:t> </m:t>
                            </m:r>
                            <m:r>
                              <a:rPr lang="en-US" sz="3600" i="1">
                                <a:latin typeface="Cambria Math" panose="02040503050406030204" pitchFamily="18" charset="0"/>
                              </a:rPr>
                              <m:t>𝑛</m:t>
                            </m:r>
                          </m:e>
                        </m:d>
                        <m:r>
                          <a:rPr lang="en-US" sz="360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𝑛</m:t>
                        </m:r>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𝑎</m:t>
                        </m:r>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𝑏</m:t>
                        </m:r>
                        <m:r>
                          <a:rPr lang="en-US" sz="3600" b="0" i="1" smtClean="0">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7" name="Rectangle 6">
                  <a:extLst>
                    <a:ext uri="{FF2B5EF4-FFF2-40B4-BE49-F238E27FC236}">
                      <a16:creationId xmlns:a16="http://schemas.microsoft.com/office/drawing/2014/main" id="{3CC2391A-DD7D-DD4C-BA03-E4E8C99FD42C}"/>
                    </a:ext>
                  </a:extLst>
                </p:cNvPr>
                <p:cNvSpPr>
                  <a:spLocks noRot="1" noChangeAspect="1" noMove="1" noResize="1" noEditPoints="1" noAdjustHandles="1" noChangeArrowheads="1" noChangeShapeType="1" noTextEdit="1"/>
                </p:cNvSpPr>
                <p:nvPr/>
              </p:nvSpPr>
              <p:spPr>
                <a:xfrm>
                  <a:off x="3204406" y="5625816"/>
                  <a:ext cx="5841792" cy="646331"/>
                </a:xfrm>
                <a:prstGeom prst="rect">
                  <a:avLst/>
                </a:prstGeom>
                <a:blipFill>
                  <a:blip r:embed="rId4"/>
                  <a:stretch>
                    <a:fillRect t="-136538" r="-651" b="-20961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541BAA3-9387-984D-8649-C48734EE0CE9}"/>
                </a:ext>
              </a:extLst>
            </p:cNvPr>
            <p:cNvSpPr txBox="1"/>
            <p:nvPr/>
          </p:nvSpPr>
          <p:spPr>
            <a:xfrm>
              <a:off x="4502455" y="5047634"/>
              <a:ext cx="3161956" cy="523220"/>
            </a:xfrm>
            <a:prstGeom prst="rect">
              <a:avLst/>
            </a:prstGeom>
            <a:solidFill>
              <a:schemeClr val="accent4">
                <a:lumMod val="20000"/>
                <a:lumOff val="80000"/>
              </a:schemeClr>
            </a:solidFill>
          </p:spPr>
          <p:txBody>
            <a:bodyPr wrap="none" rtlCol="0">
              <a:spAutoFit/>
            </a:bodyPr>
            <a:lstStyle/>
            <a:p>
              <a:r>
                <a:rPr lang="en-ZA" sz="2800" dirty="0"/>
                <a:t>congruence relation</a:t>
              </a:r>
              <a:endParaRPr lang="en-US" sz="2800" dirty="0"/>
            </a:p>
          </p:txBody>
        </p:sp>
      </p:grpSp>
      <p:sp>
        <p:nvSpPr>
          <p:cNvPr id="2" name="TextBox 1">
            <a:extLst>
              <a:ext uri="{FF2B5EF4-FFF2-40B4-BE49-F238E27FC236}">
                <a16:creationId xmlns:a16="http://schemas.microsoft.com/office/drawing/2014/main" id="{7259093A-819F-CC43-92A2-FA5DC841359D}"/>
              </a:ext>
            </a:extLst>
          </p:cNvPr>
          <p:cNvSpPr txBox="1"/>
          <p:nvPr/>
        </p:nvSpPr>
        <p:spPr>
          <a:xfrm>
            <a:off x="3620080" y="1009524"/>
            <a:ext cx="1140056" cy="369332"/>
          </a:xfrm>
          <a:prstGeom prst="rect">
            <a:avLst/>
          </a:prstGeom>
          <a:noFill/>
        </p:spPr>
        <p:txBody>
          <a:bodyPr wrap="none" rtlCol="0">
            <a:spAutoFit/>
          </a:bodyPr>
          <a:lstStyle/>
          <a:p>
            <a:r>
              <a:rPr lang="en-ZA" dirty="0"/>
              <a:t>(modulus)</a:t>
            </a:r>
            <a:endParaRPr lang="en-US" dirty="0"/>
          </a:p>
        </p:txBody>
      </p:sp>
      <p:sp>
        <p:nvSpPr>
          <p:cNvPr id="10" name="TextBox 9">
            <a:extLst>
              <a:ext uri="{FF2B5EF4-FFF2-40B4-BE49-F238E27FC236}">
                <a16:creationId xmlns:a16="http://schemas.microsoft.com/office/drawing/2014/main" id="{9C4DAECF-A235-6C49-9184-954F7077F900}"/>
              </a:ext>
            </a:extLst>
          </p:cNvPr>
          <p:cNvSpPr txBox="1"/>
          <p:nvPr/>
        </p:nvSpPr>
        <p:spPr>
          <a:xfrm>
            <a:off x="7370856" y="999215"/>
            <a:ext cx="1140056" cy="369332"/>
          </a:xfrm>
          <a:prstGeom prst="rect">
            <a:avLst/>
          </a:prstGeom>
          <a:noFill/>
        </p:spPr>
        <p:txBody>
          <a:bodyPr wrap="none" rtlCol="0">
            <a:spAutoFit/>
          </a:bodyPr>
          <a:lstStyle/>
          <a:p>
            <a:r>
              <a:rPr lang="en-ZA" dirty="0"/>
              <a:t>(modulus)</a:t>
            </a:r>
            <a:endParaRPr lang="en-US" dirty="0"/>
          </a:p>
        </p:txBody>
      </p:sp>
    </p:spTree>
    <p:extLst>
      <p:ext uri="{BB962C8B-B14F-4D97-AF65-F5344CB8AC3E}">
        <p14:creationId xmlns:p14="http://schemas.microsoft.com/office/powerpoint/2010/main" val="206348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7415-AF4C-1F4F-A6C2-40A96C9DCCF4}"/>
              </a:ext>
            </a:extLst>
          </p:cNvPr>
          <p:cNvSpPr>
            <a:spLocks noGrp="1"/>
          </p:cNvSpPr>
          <p:nvPr>
            <p:ph type="title"/>
          </p:nvPr>
        </p:nvSpPr>
        <p:spPr/>
        <p:txBody>
          <a:bodyPr/>
          <a:lstStyle/>
          <a:p>
            <a:r>
              <a:rPr lang="en-ZA" dirty="0" err="1"/>
              <a:t>MathBox</a:t>
            </a:r>
            <a:r>
              <a:rPr lang="en-ZA" dirty="0"/>
              <a:t> Prime, Semiprime, and Composite Numbers</a:t>
            </a:r>
            <a:endParaRPr lang="en-US" dirty="0"/>
          </a:p>
        </p:txBody>
      </p:sp>
      <p:sp>
        <p:nvSpPr>
          <p:cNvPr id="3" name="Slide Number Placeholder 2">
            <a:extLst>
              <a:ext uri="{FF2B5EF4-FFF2-40B4-BE49-F238E27FC236}">
                <a16:creationId xmlns:a16="http://schemas.microsoft.com/office/drawing/2014/main" id="{F82AC452-8EB2-8E40-8A0F-4B3A9CF87494}"/>
              </a:ext>
            </a:extLst>
          </p:cNvPr>
          <p:cNvSpPr>
            <a:spLocks noGrp="1"/>
          </p:cNvSpPr>
          <p:nvPr>
            <p:ph type="sldNum" sz="quarter" idx="12"/>
          </p:nvPr>
        </p:nvSpPr>
        <p:spPr/>
        <p:txBody>
          <a:bodyPr/>
          <a:lstStyle/>
          <a:p>
            <a:fld id="{591A223C-FA10-BC46-A853-03BA373D023C}" type="slidenum">
              <a:rPr lang="en-US" smtClean="0"/>
              <a:t>34</a:t>
            </a:fld>
            <a:endParaRPr lang="en-US"/>
          </a:p>
        </p:txBody>
      </p:sp>
      <p:sp>
        <p:nvSpPr>
          <p:cNvPr id="8" name="TextBox 7">
            <a:extLst>
              <a:ext uri="{FF2B5EF4-FFF2-40B4-BE49-F238E27FC236}">
                <a16:creationId xmlns:a16="http://schemas.microsoft.com/office/drawing/2014/main" id="{7AA3BF21-2C2A-2845-B77F-18C2C241F8D4}"/>
              </a:ext>
            </a:extLst>
          </p:cNvPr>
          <p:cNvSpPr txBox="1"/>
          <p:nvPr/>
        </p:nvSpPr>
        <p:spPr>
          <a:xfrm>
            <a:off x="2318658" y="3369243"/>
            <a:ext cx="809837" cy="830997"/>
          </a:xfrm>
          <a:prstGeom prst="rect">
            <a:avLst/>
          </a:prstGeom>
          <a:noFill/>
        </p:spPr>
        <p:txBody>
          <a:bodyPr wrap="none" rtlCol="0">
            <a:spAutoFit/>
          </a:bodyPr>
          <a:lstStyle/>
          <a:p>
            <a:r>
              <a:rPr lang="en-US" sz="4800" dirty="0"/>
              <a:t>13</a:t>
            </a:r>
          </a:p>
        </p:txBody>
      </p:sp>
      <p:sp>
        <p:nvSpPr>
          <p:cNvPr id="9" name="TextBox 8">
            <a:extLst>
              <a:ext uri="{FF2B5EF4-FFF2-40B4-BE49-F238E27FC236}">
                <a16:creationId xmlns:a16="http://schemas.microsoft.com/office/drawing/2014/main" id="{80DE2124-D2F6-8A45-980C-1239543A7A33}"/>
              </a:ext>
            </a:extLst>
          </p:cNvPr>
          <p:cNvSpPr txBox="1"/>
          <p:nvPr/>
        </p:nvSpPr>
        <p:spPr>
          <a:xfrm>
            <a:off x="1171588" y="4575134"/>
            <a:ext cx="497252" cy="830997"/>
          </a:xfrm>
          <a:prstGeom prst="rect">
            <a:avLst/>
          </a:prstGeom>
          <a:noFill/>
        </p:spPr>
        <p:txBody>
          <a:bodyPr wrap="none" rtlCol="0">
            <a:spAutoFit/>
          </a:bodyPr>
          <a:lstStyle/>
          <a:p>
            <a:r>
              <a:rPr lang="en-US" sz="4800" dirty="0"/>
              <a:t>1</a:t>
            </a:r>
          </a:p>
        </p:txBody>
      </p:sp>
      <p:sp>
        <p:nvSpPr>
          <p:cNvPr id="10" name="TextBox 9">
            <a:extLst>
              <a:ext uri="{FF2B5EF4-FFF2-40B4-BE49-F238E27FC236}">
                <a16:creationId xmlns:a16="http://schemas.microsoft.com/office/drawing/2014/main" id="{ED4393E9-6D51-9745-B566-6121C75940E7}"/>
              </a:ext>
            </a:extLst>
          </p:cNvPr>
          <p:cNvSpPr txBox="1"/>
          <p:nvPr/>
        </p:nvSpPr>
        <p:spPr>
          <a:xfrm>
            <a:off x="3415917" y="4575133"/>
            <a:ext cx="809837" cy="830997"/>
          </a:xfrm>
          <a:prstGeom prst="rect">
            <a:avLst/>
          </a:prstGeom>
          <a:noFill/>
        </p:spPr>
        <p:txBody>
          <a:bodyPr wrap="none" rtlCol="0">
            <a:spAutoFit/>
          </a:bodyPr>
          <a:lstStyle/>
          <a:p>
            <a:r>
              <a:rPr lang="en-US" sz="4800" dirty="0"/>
              <a:t>13</a:t>
            </a:r>
          </a:p>
        </p:txBody>
      </p:sp>
      <p:sp>
        <p:nvSpPr>
          <p:cNvPr id="15" name="Rounded Rectangle 14">
            <a:extLst>
              <a:ext uri="{FF2B5EF4-FFF2-40B4-BE49-F238E27FC236}">
                <a16:creationId xmlns:a16="http://schemas.microsoft.com/office/drawing/2014/main" id="{5B2210FF-61C3-A74C-8C02-3FF3BE449A6E}"/>
              </a:ext>
            </a:extLst>
          </p:cNvPr>
          <p:cNvSpPr/>
          <p:nvPr/>
        </p:nvSpPr>
        <p:spPr>
          <a:xfrm>
            <a:off x="252175" y="1334992"/>
            <a:ext cx="5400000" cy="1800000"/>
          </a:xfrm>
          <a:prstGeom prst="roundRect">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400" dirty="0">
                <a:solidFill>
                  <a:schemeClr val="tx1"/>
                </a:solidFill>
                <a:latin typeface="+mj-lt"/>
              </a:rPr>
              <a:t>A prime number is a natural number greater than 1 that is divisible only by 1 and itself</a:t>
            </a:r>
            <a:endParaRPr lang="en-US" sz="2400" dirty="0">
              <a:solidFill>
                <a:schemeClr val="tx1"/>
              </a:solidFill>
              <a:latin typeface="+mj-lt"/>
            </a:endParaRPr>
          </a:p>
        </p:txBody>
      </p:sp>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A44DB4EF-8A6A-D24F-9197-CB21C84D2E04}"/>
                  </a:ext>
                </a:extLst>
              </p:cNvPr>
              <p:cNvSpPr/>
              <p:nvPr/>
            </p:nvSpPr>
            <p:spPr>
              <a:xfrm>
                <a:off x="6509292" y="1600551"/>
                <a:ext cx="5400000" cy="1768691"/>
              </a:xfrm>
              <a:prstGeom prst="round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400" dirty="0">
                    <a:solidFill>
                      <a:schemeClr val="tx1"/>
                    </a:solidFill>
                    <a:latin typeface="+mj-lt"/>
                  </a:rPr>
                  <a:t>A semiprime (or bi-prime) is a natural number that is the product of two prime numbers.</a:t>
                </a:r>
              </a:p>
              <a:p>
                <a:pPr algn="ctr"/>
                <a:endParaRPr lang="en-ZA" sz="1200" dirty="0">
                  <a:solidFill>
                    <a:schemeClr val="tx1"/>
                  </a:solidFill>
                  <a:latin typeface="+mj-lt"/>
                </a:endParaRPr>
              </a:p>
              <a:p>
                <a:pPr algn="ctr"/>
                <a:r>
                  <a:rPr lang="en-ZA" sz="2400" dirty="0">
                    <a:solidFill>
                      <a:schemeClr val="tx1"/>
                    </a:solidFill>
                    <a:latin typeface="+mj-lt"/>
                  </a:rPr>
                  <a:t>Example: </a:t>
                </a:r>
                <a14:m>
                  <m:oMath xmlns:m="http://schemas.openxmlformats.org/officeDocument/2006/math">
                    <m:r>
                      <a:rPr lang="en-US" sz="2400" b="0" i="1" smtClean="0">
                        <a:solidFill>
                          <a:schemeClr val="tx1"/>
                        </a:solidFill>
                        <a:latin typeface="Cambria Math" panose="02040503050406030204" pitchFamily="18" charset="0"/>
                      </a:rPr>
                      <m:t>21 (3</m:t>
                    </m:r>
                    <m:r>
                      <a:rPr lang="en-US" sz="2400" b="0" i="1" smtClean="0">
                        <a:solidFill>
                          <a:schemeClr val="tx1"/>
                        </a:solidFill>
                        <a:latin typeface="Cambria Math" panose="02040503050406030204" pitchFamily="18" charset="0"/>
                        <a:ea typeface="Cambria Math" panose="02040503050406030204" pitchFamily="18" charset="0"/>
                      </a:rPr>
                      <m:t>×7</m:t>
                    </m:r>
                    <m:r>
                      <a:rPr lang="en-US" sz="2400" b="0" i="1" smtClean="0">
                        <a:solidFill>
                          <a:schemeClr val="tx1"/>
                        </a:solidFill>
                        <a:latin typeface="Cambria Math" panose="02040503050406030204" pitchFamily="18" charset="0"/>
                      </a:rPr>
                      <m:t>)</m:t>
                    </m:r>
                  </m:oMath>
                </a14:m>
                <a:endParaRPr lang="en-US" sz="2400" dirty="0">
                  <a:solidFill>
                    <a:schemeClr val="tx1"/>
                  </a:solidFill>
                  <a:latin typeface="+mj-lt"/>
                </a:endParaRPr>
              </a:p>
            </p:txBody>
          </p:sp>
        </mc:Choice>
        <mc:Fallback xmlns="">
          <p:sp>
            <p:nvSpPr>
              <p:cNvPr id="16" name="Rounded Rectangle 15">
                <a:extLst>
                  <a:ext uri="{FF2B5EF4-FFF2-40B4-BE49-F238E27FC236}">
                    <a16:creationId xmlns:a16="http://schemas.microsoft.com/office/drawing/2014/main" id="{A44DB4EF-8A6A-D24F-9197-CB21C84D2E04}"/>
                  </a:ext>
                </a:extLst>
              </p:cNvPr>
              <p:cNvSpPr>
                <a:spLocks noRot="1" noChangeAspect="1" noMove="1" noResize="1" noEditPoints="1" noAdjustHandles="1" noChangeArrowheads="1" noChangeShapeType="1" noTextEdit="1"/>
              </p:cNvSpPr>
              <p:nvPr/>
            </p:nvSpPr>
            <p:spPr>
              <a:xfrm>
                <a:off x="6509292" y="1600551"/>
                <a:ext cx="5400000" cy="1768691"/>
              </a:xfrm>
              <a:prstGeom prst="roundRect">
                <a:avLst/>
              </a:prstGeom>
              <a:blipFill>
                <a:blip r:embed="rId3"/>
                <a:stretch>
                  <a:fillRect t="-1418" b="-5674"/>
                </a:stretch>
              </a:blipFill>
              <a:ln>
                <a:solidFill>
                  <a:schemeClr val="bg1">
                    <a:lumMod val="50000"/>
                  </a:schemeClr>
                </a:solidFill>
              </a:ln>
            </p:spPr>
            <p:txBody>
              <a:bodyPr/>
              <a:lstStyle/>
              <a:p>
                <a:r>
                  <a:rPr lang="en-US">
                    <a:noFill/>
                  </a:rPr>
                  <a:t> </a:t>
                </a:r>
              </a:p>
            </p:txBody>
          </p:sp>
        </mc:Fallback>
      </mc:AlternateContent>
      <p:pic>
        <p:nvPicPr>
          <p:cNvPr id="19" name="Picture 18">
            <a:extLst>
              <a:ext uri="{FF2B5EF4-FFF2-40B4-BE49-F238E27FC236}">
                <a16:creationId xmlns:a16="http://schemas.microsoft.com/office/drawing/2014/main" id="{F5B86B11-4B92-AF4A-A2AF-C67C2B1CC98D}"/>
              </a:ext>
            </a:extLst>
          </p:cNvPr>
          <p:cNvPicPr>
            <a:picLocks noChangeAspect="1"/>
          </p:cNvPicPr>
          <p:nvPr/>
        </p:nvPicPr>
        <p:blipFill>
          <a:blip r:embed="rId4"/>
          <a:stretch>
            <a:fillRect/>
          </a:stretch>
        </p:blipFill>
        <p:spPr>
          <a:xfrm rot="4851331">
            <a:off x="3073662" y="3987056"/>
            <a:ext cx="851239" cy="664666"/>
          </a:xfrm>
          <a:prstGeom prst="rect">
            <a:avLst/>
          </a:prstGeom>
        </p:spPr>
      </p:pic>
      <p:pic>
        <p:nvPicPr>
          <p:cNvPr id="20" name="Picture 19">
            <a:extLst>
              <a:ext uri="{FF2B5EF4-FFF2-40B4-BE49-F238E27FC236}">
                <a16:creationId xmlns:a16="http://schemas.microsoft.com/office/drawing/2014/main" id="{BF0A59F9-1B2A-D845-97EF-CDEEA583AB8B}"/>
              </a:ext>
            </a:extLst>
          </p:cNvPr>
          <p:cNvPicPr>
            <a:picLocks noChangeAspect="1"/>
          </p:cNvPicPr>
          <p:nvPr/>
        </p:nvPicPr>
        <p:blipFill>
          <a:blip r:embed="rId4"/>
          <a:stretch>
            <a:fillRect/>
          </a:stretch>
        </p:blipFill>
        <p:spPr>
          <a:xfrm rot="16748669" flipH="1">
            <a:off x="1390346" y="3997302"/>
            <a:ext cx="851239" cy="664666"/>
          </a:xfrm>
          <a:prstGeom prst="rect">
            <a:avLst/>
          </a:prstGeom>
        </p:spPr>
      </p:pic>
      <p:sp>
        <p:nvSpPr>
          <p:cNvPr id="24" name="TextBox 23">
            <a:extLst>
              <a:ext uri="{FF2B5EF4-FFF2-40B4-BE49-F238E27FC236}">
                <a16:creationId xmlns:a16="http://schemas.microsoft.com/office/drawing/2014/main" id="{C3907905-1399-B442-804B-F851182051F7}"/>
              </a:ext>
            </a:extLst>
          </p:cNvPr>
          <p:cNvSpPr txBox="1"/>
          <p:nvPr/>
        </p:nvSpPr>
        <p:spPr>
          <a:xfrm>
            <a:off x="711647" y="5981193"/>
            <a:ext cx="4023858" cy="523220"/>
          </a:xfrm>
          <a:prstGeom prst="rect">
            <a:avLst/>
          </a:prstGeom>
          <a:solidFill>
            <a:schemeClr val="bg1">
              <a:lumMod val="95000"/>
            </a:schemeClr>
          </a:solidFill>
        </p:spPr>
        <p:txBody>
          <a:bodyPr wrap="none" rtlCol="0">
            <a:spAutoFit/>
          </a:bodyPr>
          <a:lstStyle/>
          <a:p>
            <a:r>
              <a:rPr lang="en-US" sz="2800" dirty="0"/>
              <a:t>2, 3, 5, 7, 11, 13, 17, 19, …</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51BEE986-3097-7544-9EE0-BC5EA58826E5}"/>
                  </a:ext>
                </a:extLst>
              </p:cNvPr>
              <p:cNvSpPr/>
              <p:nvPr/>
            </p:nvSpPr>
            <p:spPr>
              <a:xfrm>
                <a:off x="6509292" y="3730630"/>
                <a:ext cx="5400000" cy="1496689"/>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400" dirty="0">
                    <a:solidFill>
                      <a:schemeClr val="tx1"/>
                    </a:solidFill>
                    <a:latin typeface="+mj-lt"/>
                  </a:rPr>
                  <a:t>A composite number is a natural number greater than 1 that is not prime.</a:t>
                </a:r>
              </a:p>
              <a:p>
                <a:pPr algn="ctr"/>
                <a:endParaRPr lang="en-ZA" sz="1200" dirty="0">
                  <a:solidFill>
                    <a:schemeClr val="tx1"/>
                  </a:solidFill>
                  <a:latin typeface="+mj-lt"/>
                </a:endParaRPr>
              </a:p>
              <a:p>
                <a:pPr algn="ctr"/>
                <a:r>
                  <a:rPr lang="en-ZA" sz="2400" dirty="0">
                    <a:solidFill>
                      <a:schemeClr val="tx1"/>
                    </a:solidFill>
                    <a:latin typeface="+mj-lt"/>
                  </a:rPr>
                  <a:t>Example: </a:t>
                </a:r>
                <a14:m>
                  <m:oMath xmlns:m="http://schemas.openxmlformats.org/officeDocument/2006/math">
                    <m:r>
                      <a:rPr lang="en-US" sz="2400" i="1" dirty="0">
                        <a:solidFill>
                          <a:schemeClr val="tx1"/>
                        </a:solidFill>
                        <a:latin typeface="Cambria Math" panose="02040503050406030204" pitchFamily="18" charset="0"/>
                      </a:rPr>
                      <m:t>2</m:t>
                    </m:r>
                    <m:r>
                      <a:rPr lang="en-US" sz="2400" b="0" i="1" dirty="0" smtClean="0">
                        <a:solidFill>
                          <a:schemeClr val="tx1"/>
                        </a:solidFill>
                        <a:latin typeface="Cambria Math" panose="02040503050406030204" pitchFamily="18" charset="0"/>
                      </a:rPr>
                      <m:t>0</m:t>
                    </m:r>
                    <m:r>
                      <a:rPr lang="en-US" sz="2400" i="1">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2</m:t>
                    </m:r>
                    <m:r>
                      <a:rPr lang="en-US" sz="2400" i="1">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10</m:t>
                    </m:r>
                    <m:r>
                      <a:rPr lang="en-US" sz="2400" i="1">
                        <a:solidFill>
                          <a:schemeClr val="tx1"/>
                        </a:solidFill>
                        <a:latin typeface="Cambria Math" panose="02040503050406030204" pitchFamily="18" charset="0"/>
                      </a:rPr>
                      <m:t>)</m:t>
                    </m:r>
                  </m:oMath>
                </a14:m>
                <a:endParaRPr lang="en-US" sz="2400" dirty="0">
                  <a:solidFill>
                    <a:schemeClr val="tx1"/>
                  </a:solidFill>
                  <a:latin typeface="+mj-lt"/>
                </a:endParaRPr>
              </a:p>
            </p:txBody>
          </p:sp>
        </mc:Choice>
        <mc:Fallback xmlns="">
          <p:sp>
            <p:nvSpPr>
              <p:cNvPr id="30" name="Rounded Rectangle 29">
                <a:extLst>
                  <a:ext uri="{FF2B5EF4-FFF2-40B4-BE49-F238E27FC236}">
                    <a16:creationId xmlns:a16="http://schemas.microsoft.com/office/drawing/2014/main" id="{51BEE986-3097-7544-9EE0-BC5EA58826E5}"/>
                  </a:ext>
                </a:extLst>
              </p:cNvPr>
              <p:cNvSpPr>
                <a:spLocks noRot="1" noChangeAspect="1" noMove="1" noResize="1" noEditPoints="1" noAdjustHandles="1" noChangeArrowheads="1" noChangeShapeType="1" noTextEdit="1"/>
              </p:cNvSpPr>
              <p:nvPr/>
            </p:nvSpPr>
            <p:spPr>
              <a:xfrm>
                <a:off x="6509292" y="3730630"/>
                <a:ext cx="5400000" cy="1496689"/>
              </a:xfrm>
              <a:prstGeom prst="roundRect">
                <a:avLst/>
              </a:prstGeom>
              <a:blipFill>
                <a:blip r:embed="rId5"/>
                <a:stretch>
                  <a:fillRect r="-468" b="-4167"/>
                </a:stretch>
              </a:blipFill>
              <a:ln>
                <a:solidFill>
                  <a:schemeClr val="bg1">
                    <a:lumMod val="50000"/>
                  </a:schemeClr>
                </a:solidFill>
              </a:ln>
            </p:spPr>
            <p:txBody>
              <a:bodyPr/>
              <a:lstStyle/>
              <a:p>
                <a:r>
                  <a:rPr lang="en-US">
                    <a:noFill/>
                  </a:rPr>
                  <a:t> </a:t>
                </a:r>
              </a:p>
            </p:txBody>
          </p:sp>
        </mc:Fallback>
      </mc:AlternateContent>
    </p:spTree>
    <p:extLst>
      <p:ext uri="{BB962C8B-B14F-4D97-AF65-F5344CB8AC3E}">
        <p14:creationId xmlns:p14="http://schemas.microsoft.com/office/powerpoint/2010/main" val="42130900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7C741DAB-B2C1-234A-96C6-BAA3F8B37DE7}"/>
              </a:ext>
            </a:extLst>
          </p:cNvPr>
          <p:cNvSpPr/>
          <p:nvPr/>
        </p:nvSpPr>
        <p:spPr>
          <a:xfrm>
            <a:off x="961386" y="3121537"/>
            <a:ext cx="3960000" cy="2880000"/>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E2EA9-D9E1-4D4A-B61B-14BF35F01EDE}"/>
              </a:ext>
            </a:extLst>
          </p:cNvPr>
          <p:cNvSpPr>
            <a:spLocks noGrp="1"/>
          </p:cNvSpPr>
          <p:nvPr>
            <p:ph type="title"/>
          </p:nvPr>
        </p:nvSpPr>
        <p:spPr/>
        <p:txBody>
          <a:bodyPr/>
          <a:lstStyle/>
          <a:p>
            <a:r>
              <a:rPr lang="en-ZA" dirty="0"/>
              <a:t>The </a:t>
            </a:r>
            <a:r>
              <a:rPr lang="en-ZA" b="1" dirty="0"/>
              <a:t>Greatest Common Divisor (GCD)</a:t>
            </a:r>
            <a:endParaRPr lang="en-US" dirty="0"/>
          </a:p>
        </p:txBody>
      </p:sp>
      <p:sp>
        <p:nvSpPr>
          <p:cNvPr id="3" name="Slide Number Placeholder 2">
            <a:extLst>
              <a:ext uri="{FF2B5EF4-FFF2-40B4-BE49-F238E27FC236}">
                <a16:creationId xmlns:a16="http://schemas.microsoft.com/office/drawing/2014/main" id="{E257A34E-1DA9-3A4C-9845-811F14C68EE9}"/>
              </a:ext>
            </a:extLst>
          </p:cNvPr>
          <p:cNvSpPr>
            <a:spLocks noGrp="1"/>
          </p:cNvSpPr>
          <p:nvPr>
            <p:ph type="sldNum" sz="quarter" idx="12"/>
          </p:nvPr>
        </p:nvSpPr>
        <p:spPr/>
        <p:txBody>
          <a:bodyPr/>
          <a:lstStyle/>
          <a:p>
            <a:fld id="{591A223C-FA10-BC46-A853-03BA373D023C}" type="slidenum">
              <a:rPr lang="en-US" smtClean="0"/>
              <a:t>35</a:t>
            </a:fld>
            <a:endParaRPr lang="en-US"/>
          </a:p>
        </p:txBody>
      </p:sp>
      <p:sp>
        <p:nvSpPr>
          <p:cNvPr id="4" name="Rounded Rectangle 3">
            <a:extLst>
              <a:ext uri="{FF2B5EF4-FFF2-40B4-BE49-F238E27FC236}">
                <a16:creationId xmlns:a16="http://schemas.microsoft.com/office/drawing/2014/main" id="{C031C1DE-B5F9-9D45-A0FE-79D40BC0A97B}"/>
              </a:ext>
            </a:extLst>
          </p:cNvPr>
          <p:cNvSpPr/>
          <p:nvPr/>
        </p:nvSpPr>
        <p:spPr>
          <a:xfrm>
            <a:off x="519053" y="951782"/>
            <a:ext cx="5676221" cy="1880599"/>
          </a:xfrm>
          <a:prstGeom prst="round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ZA" sz="2800" dirty="0">
                <a:solidFill>
                  <a:schemeClr val="tx1"/>
                </a:solidFill>
                <a:latin typeface="+mj-lt"/>
              </a:rPr>
              <a:t>The greatest common divisor (GCD) of two nonzero integers is the largest positive integer that divides both numbers without a remainder</a:t>
            </a:r>
            <a:endParaRPr lang="en-US" sz="2800" dirty="0">
              <a:solidFill>
                <a:schemeClr val="tx1"/>
              </a:solidFill>
              <a:latin typeface="+mj-lt"/>
            </a:endParaRPr>
          </a:p>
        </p:txBody>
      </p:sp>
      <p:sp>
        <p:nvSpPr>
          <p:cNvPr id="11" name="Oval 10">
            <a:extLst>
              <a:ext uri="{FF2B5EF4-FFF2-40B4-BE49-F238E27FC236}">
                <a16:creationId xmlns:a16="http://schemas.microsoft.com/office/drawing/2014/main" id="{36C81C38-2C8C-E04F-991C-4E867004127B}"/>
              </a:ext>
            </a:extLst>
          </p:cNvPr>
          <p:cNvSpPr/>
          <p:nvPr/>
        </p:nvSpPr>
        <p:spPr>
          <a:xfrm>
            <a:off x="3355085" y="3121537"/>
            <a:ext cx="3489368" cy="2880000"/>
          </a:xfrm>
          <a:prstGeom prst="ellipse">
            <a:avLst/>
          </a:prstGeom>
          <a:solidFill>
            <a:schemeClr val="accent5">
              <a:lumMod val="40000"/>
              <a:lumOff val="60000"/>
              <a:alpha val="55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FD9A169-84F2-D845-8ACE-A86B932CDB56}"/>
              </a:ext>
            </a:extLst>
          </p:cNvPr>
          <p:cNvSpPr txBox="1"/>
          <p:nvPr/>
        </p:nvSpPr>
        <p:spPr>
          <a:xfrm>
            <a:off x="519053" y="3537839"/>
            <a:ext cx="755335" cy="769441"/>
          </a:xfrm>
          <a:prstGeom prst="rect">
            <a:avLst/>
          </a:prstGeom>
          <a:solidFill>
            <a:schemeClr val="accent2"/>
          </a:solidFill>
        </p:spPr>
        <p:txBody>
          <a:bodyPr wrap="none" rtlCol="0">
            <a:spAutoFit/>
          </a:bodyPr>
          <a:lstStyle/>
          <a:p>
            <a:r>
              <a:rPr lang="en-US" sz="4400" dirty="0">
                <a:solidFill>
                  <a:schemeClr val="bg1"/>
                </a:solidFill>
              </a:rPr>
              <a:t>10</a:t>
            </a:r>
          </a:p>
        </p:txBody>
      </p:sp>
      <p:sp>
        <p:nvSpPr>
          <p:cNvPr id="21" name="TextBox 20">
            <a:extLst>
              <a:ext uri="{FF2B5EF4-FFF2-40B4-BE49-F238E27FC236}">
                <a16:creationId xmlns:a16="http://schemas.microsoft.com/office/drawing/2014/main" id="{D043DBDC-0C23-E14B-89B2-F6DE49F01DB2}"/>
              </a:ext>
            </a:extLst>
          </p:cNvPr>
          <p:cNvSpPr txBox="1"/>
          <p:nvPr/>
        </p:nvSpPr>
        <p:spPr>
          <a:xfrm>
            <a:off x="6152694" y="2832381"/>
            <a:ext cx="755335" cy="769441"/>
          </a:xfrm>
          <a:prstGeom prst="rect">
            <a:avLst/>
          </a:prstGeom>
          <a:solidFill>
            <a:schemeClr val="accent2"/>
          </a:solidFill>
        </p:spPr>
        <p:txBody>
          <a:bodyPr wrap="none" rtlCol="0">
            <a:spAutoFit/>
          </a:bodyPr>
          <a:lstStyle/>
          <a:p>
            <a:r>
              <a:rPr lang="en-US" sz="4400" dirty="0">
                <a:solidFill>
                  <a:schemeClr val="bg1"/>
                </a:solidFill>
              </a:rPr>
              <a:t>15</a:t>
            </a:r>
          </a:p>
        </p:txBody>
      </p:sp>
      <p:sp>
        <p:nvSpPr>
          <p:cNvPr id="25" name="Oval 24">
            <a:extLst>
              <a:ext uri="{FF2B5EF4-FFF2-40B4-BE49-F238E27FC236}">
                <a16:creationId xmlns:a16="http://schemas.microsoft.com/office/drawing/2014/main" id="{2E6B902A-B695-0546-83DA-5CF508071818}"/>
              </a:ext>
            </a:extLst>
          </p:cNvPr>
          <p:cNvSpPr/>
          <p:nvPr/>
        </p:nvSpPr>
        <p:spPr>
          <a:xfrm>
            <a:off x="2080820" y="3601822"/>
            <a:ext cx="720000" cy="72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2</a:t>
            </a:r>
          </a:p>
        </p:txBody>
      </p:sp>
      <p:sp>
        <p:nvSpPr>
          <p:cNvPr id="28" name="Oval 27">
            <a:extLst>
              <a:ext uri="{FF2B5EF4-FFF2-40B4-BE49-F238E27FC236}">
                <a16:creationId xmlns:a16="http://schemas.microsoft.com/office/drawing/2014/main" id="{25913076-308A-6048-A5CA-808CDC106E07}"/>
              </a:ext>
            </a:extLst>
          </p:cNvPr>
          <p:cNvSpPr/>
          <p:nvPr/>
        </p:nvSpPr>
        <p:spPr>
          <a:xfrm>
            <a:off x="5116130" y="3537839"/>
            <a:ext cx="720000" cy="72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000" dirty="0">
                <a:solidFill>
                  <a:schemeClr val="tx1"/>
                </a:solidFill>
              </a:rPr>
              <a:t>3</a:t>
            </a:r>
          </a:p>
        </p:txBody>
      </p:sp>
      <p:sp>
        <p:nvSpPr>
          <p:cNvPr id="29" name="Oval 28">
            <a:extLst>
              <a:ext uri="{FF2B5EF4-FFF2-40B4-BE49-F238E27FC236}">
                <a16:creationId xmlns:a16="http://schemas.microsoft.com/office/drawing/2014/main" id="{EBDF540D-07DB-7042-8FDE-40D727E485B6}"/>
              </a:ext>
            </a:extLst>
          </p:cNvPr>
          <p:cNvSpPr/>
          <p:nvPr/>
        </p:nvSpPr>
        <p:spPr>
          <a:xfrm>
            <a:off x="4986051" y="4748225"/>
            <a:ext cx="936000" cy="936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3600" dirty="0">
                <a:solidFill>
                  <a:schemeClr val="tx1"/>
                </a:solidFill>
              </a:rPr>
              <a:t>15</a:t>
            </a:r>
          </a:p>
        </p:txBody>
      </p:sp>
      <p:sp>
        <p:nvSpPr>
          <p:cNvPr id="30" name="Oval 29">
            <a:extLst>
              <a:ext uri="{FF2B5EF4-FFF2-40B4-BE49-F238E27FC236}">
                <a16:creationId xmlns:a16="http://schemas.microsoft.com/office/drawing/2014/main" id="{85326957-0A08-3F47-91CA-FEEC9B1BBA89}"/>
              </a:ext>
            </a:extLst>
          </p:cNvPr>
          <p:cNvSpPr/>
          <p:nvPr/>
        </p:nvSpPr>
        <p:spPr>
          <a:xfrm>
            <a:off x="3776072" y="3739891"/>
            <a:ext cx="720000" cy="72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1</a:t>
            </a:r>
          </a:p>
        </p:txBody>
      </p:sp>
      <p:sp>
        <p:nvSpPr>
          <p:cNvPr id="31" name="Oval 30">
            <a:extLst>
              <a:ext uri="{FF2B5EF4-FFF2-40B4-BE49-F238E27FC236}">
                <a16:creationId xmlns:a16="http://schemas.microsoft.com/office/drawing/2014/main" id="{2B79D09C-CE58-2748-9EB3-679B71744AAA}"/>
              </a:ext>
            </a:extLst>
          </p:cNvPr>
          <p:cNvSpPr/>
          <p:nvPr/>
        </p:nvSpPr>
        <p:spPr>
          <a:xfrm>
            <a:off x="3809699" y="4641623"/>
            <a:ext cx="720000" cy="72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rPr>
              <a:t>5</a:t>
            </a: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367F0384-C45C-9447-A1CE-422C70333B2D}"/>
                  </a:ext>
                </a:extLst>
              </p:cNvPr>
              <p:cNvSpPr/>
              <p:nvPr/>
            </p:nvSpPr>
            <p:spPr>
              <a:xfrm>
                <a:off x="2188469" y="6116685"/>
                <a:ext cx="341824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3600" i="0">
                          <a:latin typeface="Cambria Math" panose="02040503050406030204" pitchFamily="18" charset="0"/>
                        </a:rPr>
                        <m:t>gcd</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10,15</m:t>
                          </m:r>
                        </m:e>
                      </m:d>
                      <m:r>
                        <a:rPr lang="en-US" sz="3600" b="0" i="1" smtClean="0">
                          <a:latin typeface="Cambria Math" panose="02040503050406030204" pitchFamily="18" charset="0"/>
                        </a:rPr>
                        <m:t>=5</m:t>
                      </m:r>
                    </m:oMath>
                  </m:oMathPara>
                </a14:m>
                <a:endParaRPr lang="en-US" sz="3600" dirty="0"/>
              </a:p>
            </p:txBody>
          </p:sp>
        </mc:Choice>
        <mc:Fallback xmlns="">
          <p:sp>
            <p:nvSpPr>
              <p:cNvPr id="34" name="Rectangle 33">
                <a:extLst>
                  <a:ext uri="{FF2B5EF4-FFF2-40B4-BE49-F238E27FC236}">
                    <a16:creationId xmlns:a16="http://schemas.microsoft.com/office/drawing/2014/main" id="{367F0384-C45C-9447-A1CE-422C70333B2D}"/>
                  </a:ext>
                </a:extLst>
              </p:cNvPr>
              <p:cNvSpPr>
                <a:spLocks noRot="1" noChangeAspect="1" noMove="1" noResize="1" noEditPoints="1" noAdjustHandles="1" noChangeArrowheads="1" noChangeShapeType="1" noTextEdit="1"/>
              </p:cNvSpPr>
              <p:nvPr/>
            </p:nvSpPr>
            <p:spPr>
              <a:xfrm>
                <a:off x="2188469" y="6116685"/>
                <a:ext cx="3418243" cy="646331"/>
              </a:xfrm>
              <a:prstGeom prst="rect">
                <a:avLst/>
              </a:prstGeom>
              <a:blipFill>
                <a:blip r:embed="rId3"/>
                <a:stretch>
                  <a:fillRect b="-19231"/>
                </a:stretch>
              </a:blipFill>
            </p:spPr>
            <p:txBody>
              <a:bodyPr/>
              <a:lstStyle/>
              <a:p>
                <a:r>
                  <a:rPr lang="en-US">
                    <a:noFill/>
                  </a:rPr>
                  <a:t> </a:t>
                </a:r>
              </a:p>
            </p:txBody>
          </p:sp>
        </mc:Fallback>
      </mc:AlternateContent>
      <p:sp>
        <p:nvSpPr>
          <p:cNvPr id="35" name="Oval 34">
            <a:extLst>
              <a:ext uri="{FF2B5EF4-FFF2-40B4-BE49-F238E27FC236}">
                <a16:creationId xmlns:a16="http://schemas.microsoft.com/office/drawing/2014/main" id="{5B19CC30-5260-3E4D-BC7C-B84FC23FC817}"/>
              </a:ext>
            </a:extLst>
          </p:cNvPr>
          <p:cNvSpPr/>
          <p:nvPr/>
        </p:nvSpPr>
        <p:spPr>
          <a:xfrm>
            <a:off x="2049360" y="4690299"/>
            <a:ext cx="936000" cy="936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3600" dirty="0">
                <a:solidFill>
                  <a:schemeClr val="tx1"/>
                </a:solidFill>
              </a:rPr>
              <a:t>10</a:t>
            </a:r>
          </a:p>
        </p:txBody>
      </p:sp>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5CD73A3D-9601-A446-8BF8-CFC8B54D0A01}"/>
                  </a:ext>
                </a:extLst>
              </p:cNvPr>
              <p:cNvSpPr/>
              <p:nvPr/>
            </p:nvSpPr>
            <p:spPr>
              <a:xfrm>
                <a:off x="7830431" y="4748225"/>
                <a:ext cx="3799860" cy="1947809"/>
              </a:xfrm>
              <a:prstGeom prst="roundRect">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400" dirty="0">
                    <a:solidFill>
                      <a:schemeClr val="tx1"/>
                    </a:solidFill>
                    <a:latin typeface="+mj-lt"/>
                  </a:rPr>
                  <a:t>For a semiprime number</a:t>
                </a:r>
                <a14:m>
                  <m:oMath xmlns:m="http://schemas.openxmlformats.org/officeDocument/2006/math">
                    <m:r>
                      <a:rPr lang="en-US" sz="2400" b="0" i="0" smtClean="0">
                        <a:solidFill>
                          <a:schemeClr val="tx1"/>
                        </a:solidFill>
                        <a:latin typeface="Cambria Math" panose="02040503050406030204" pitchFamily="18" charset="0"/>
                      </a:rPr>
                      <m:t> </m:t>
                    </m:r>
                    <m:r>
                      <a:rPr lang="en-US" sz="2400" b="0" i="1">
                        <a:solidFill>
                          <a:schemeClr val="tx1"/>
                        </a:solidFill>
                        <a:latin typeface="Cambria Math" panose="02040503050406030204" pitchFamily="18" charset="0"/>
                      </a:rPr>
                      <m:t>𝑁</m:t>
                    </m:r>
                    <m:r>
                      <a:rPr lang="en-US" sz="2400" b="0" i="1">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𝑝𝑞</m:t>
                    </m:r>
                  </m:oMath>
                </a14:m>
                <a:endParaRPr lang="en-US" sz="2400" dirty="0">
                  <a:solidFill>
                    <a:schemeClr val="tx1"/>
                  </a:solidFill>
                  <a:latin typeface="+mj-lt"/>
                </a:endParaRPr>
              </a:p>
              <a:p>
                <a:pPr algn="ctr"/>
                <a:endParaRPr lang="en-US" sz="1200" dirty="0">
                  <a:solidFill>
                    <a:schemeClr val="tx1"/>
                  </a:solidFill>
                  <a:latin typeface="+mj-lt"/>
                </a:endParaRPr>
              </a:p>
              <a:p>
                <a:pPr algn="ctr"/>
                <a14:m>
                  <m:oMathPara xmlns:m="http://schemas.openxmlformats.org/officeDocument/2006/math">
                    <m:oMathParaPr>
                      <m:jc m:val="centerGroup"/>
                    </m:oMathParaPr>
                    <m:oMath xmlns:m="http://schemas.openxmlformats.org/officeDocument/2006/math">
                      <m:r>
                        <m:rPr>
                          <m:sty m:val="p"/>
                        </m:rPr>
                        <a:rPr lang="en-US" sz="2400" b="0" i="0">
                          <a:solidFill>
                            <a:schemeClr val="tx1"/>
                          </a:solidFill>
                          <a:latin typeface="Cambria Math" panose="02040503050406030204" pitchFamily="18" charset="0"/>
                        </a:rPr>
                        <m:t>gcd</m:t>
                      </m:r>
                      <m:d>
                        <m:dPr>
                          <m:ctrlPr>
                            <a:rPr lang="en-US" sz="2400" i="1">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𝑧</m:t>
                          </m:r>
                          <m:r>
                            <a:rPr lang="en-US" sz="2400" b="0" i="1">
                              <a:solidFill>
                                <a:schemeClr val="tx1"/>
                              </a:solidFill>
                              <a:latin typeface="Cambria Math" panose="02040503050406030204" pitchFamily="18" charset="0"/>
                            </a:rPr>
                            <m:t>, </m:t>
                          </m:r>
                          <m:r>
                            <a:rPr lang="en-US" sz="2400" b="0" i="1">
                              <a:solidFill>
                                <a:schemeClr val="tx1"/>
                              </a:solidFill>
                              <a:latin typeface="Cambria Math" panose="02040503050406030204" pitchFamily="18" charset="0"/>
                            </a:rPr>
                            <m:t>𝑁</m:t>
                          </m:r>
                        </m:e>
                      </m:d>
                      <m:r>
                        <a:rPr lang="en-US" sz="2400" b="0" i="1">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𝑝</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𝑞</m:t>
                      </m:r>
                      <m:r>
                        <a:rPr lang="en-US" sz="2400" b="0" i="1" smtClean="0">
                          <a:solidFill>
                            <a:schemeClr val="tx1"/>
                          </a:solidFill>
                          <a:latin typeface="Cambria Math" panose="02040503050406030204" pitchFamily="18" charset="0"/>
                          <a:ea typeface="Cambria Math" panose="02040503050406030204" pitchFamily="18" charset="0"/>
                        </a:rPr>
                        <m:t>=</m:t>
                      </m:r>
                      <m:f>
                        <m:fPr>
                          <m:ctrlPr>
                            <a:rPr lang="en-US" sz="2400" b="0" i="1" smtClean="0">
                              <a:solidFill>
                                <a:schemeClr val="tx1"/>
                              </a:solidFill>
                              <a:latin typeface="Cambria Math" panose="02040503050406030204" pitchFamily="18" charset="0"/>
                              <a:ea typeface="Cambria Math" panose="02040503050406030204" pitchFamily="18" charset="0"/>
                            </a:rPr>
                          </m:ctrlPr>
                        </m:fPr>
                        <m:num>
                          <m:r>
                            <a:rPr lang="en-US" sz="2400" b="0" i="1" smtClean="0">
                              <a:solidFill>
                                <a:schemeClr val="tx1"/>
                              </a:solidFill>
                              <a:latin typeface="Cambria Math" panose="02040503050406030204" pitchFamily="18" charset="0"/>
                              <a:ea typeface="Cambria Math" panose="02040503050406030204" pitchFamily="18" charset="0"/>
                            </a:rPr>
                            <m:t>𝑁</m:t>
                          </m:r>
                        </m:num>
                        <m:den>
                          <m:r>
                            <a:rPr lang="en-US" sz="2400" b="0" i="1" smtClean="0">
                              <a:solidFill>
                                <a:schemeClr val="tx1"/>
                              </a:solidFill>
                              <a:latin typeface="Cambria Math" panose="02040503050406030204" pitchFamily="18" charset="0"/>
                              <a:ea typeface="Cambria Math" panose="02040503050406030204" pitchFamily="18" charset="0"/>
                            </a:rPr>
                            <m:t>𝑃</m:t>
                          </m:r>
                        </m:den>
                      </m:f>
                    </m:oMath>
                  </m:oMathPara>
                </a14:m>
                <a:endParaRPr lang="en-US" sz="2400" dirty="0">
                  <a:solidFill>
                    <a:schemeClr val="tx1"/>
                  </a:solidFill>
                  <a:latin typeface="+mj-lt"/>
                </a:endParaRPr>
              </a:p>
            </p:txBody>
          </p:sp>
        </mc:Choice>
        <mc:Fallback xmlns="">
          <p:sp>
            <p:nvSpPr>
              <p:cNvPr id="22" name="Rounded Rectangle 21">
                <a:extLst>
                  <a:ext uri="{FF2B5EF4-FFF2-40B4-BE49-F238E27FC236}">
                    <a16:creationId xmlns:a16="http://schemas.microsoft.com/office/drawing/2014/main" id="{5CD73A3D-9601-A446-8BF8-CFC8B54D0A01}"/>
                  </a:ext>
                </a:extLst>
              </p:cNvPr>
              <p:cNvSpPr>
                <a:spLocks noRot="1" noChangeAspect="1" noMove="1" noResize="1" noEditPoints="1" noAdjustHandles="1" noChangeArrowheads="1" noChangeShapeType="1" noTextEdit="1"/>
              </p:cNvSpPr>
              <p:nvPr/>
            </p:nvSpPr>
            <p:spPr>
              <a:xfrm>
                <a:off x="7830431" y="4748225"/>
                <a:ext cx="3799860" cy="1947809"/>
              </a:xfrm>
              <a:prstGeom prst="roundRect">
                <a:avLst/>
              </a:prstGeom>
              <a:blipFill>
                <a:blip r:embed="rId4"/>
                <a:stretch>
                  <a:fillRect/>
                </a:stretch>
              </a:blipFill>
              <a:ln>
                <a:solidFill>
                  <a:srgbClr val="C00000"/>
                </a:solidFill>
              </a:ln>
            </p:spPr>
            <p:txBody>
              <a:bodyPr/>
              <a:lstStyle/>
              <a:p>
                <a:r>
                  <a:rPr lang="en-US">
                    <a:noFill/>
                  </a:rPr>
                  <a:t> </a:t>
                </a:r>
              </a:p>
            </p:txBody>
          </p:sp>
        </mc:Fallback>
      </mc:AlternateContent>
      <p:sp>
        <p:nvSpPr>
          <p:cNvPr id="19" name="Rounded Rectangle 18">
            <a:extLst>
              <a:ext uri="{FF2B5EF4-FFF2-40B4-BE49-F238E27FC236}">
                <a16:creationId xmlns:a16="http://schemas.microsoft.com/office/drawing/2014/main" id="{D5D5E821-83A9-EC43-9FEB-79DEBD87FCED}"/>
              </a:ext>
            </a:extLst>
          </p:cNvPr>
          <p:cNvSpPr/>
          <p:nvPr/>
        </p:nvSpPr>
        <p:spPr>
          <a:xfrm>
            <a:off x="7805708" y="2310030"/>
            <a:ext cx="3799860" cy="2149861"/>
          </a:xfrm>
          <a:prstGeom prst="round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endParaRPr>
          </a:p>
          <a:p>
            <a:pPr algn="ctr"/>
            <a:endParaRPr lang="en-US" sz="1200" b="1" dirty="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88E5A1F-2E32-2742-B69E-DCB5DE39D056}"/>
                  </a:ext>
                </a:extLst>
              </p:cNvPr>
              <p:cNvSpPr txBox="1"/>
              <p:nvPr/>
            </p:nvSpPr>
            <p:spPr>
              <a:xfrm>
                <a:off x="7946551" y="2558456"/>
                <a:ext cx="3518174" cy="1938992"/>
              </a:xfrm>
              <a:prstGeom prst="rect">
                <a:avLst/>
              </a:prstGeom>
              <a:noFill/>
            </p:spPr>
            <p:txBody>
              <a:bodyPr wrap="square" rtlCol="0">
                <a:spAutoFit/>
              </a:bodyPr>
              <a:lstStyle/>
              <a:p>
                <a:pPr algn="ctr"/>
                <a:r>
                  <a:rPr lang="en-ZA" sz="2400" dirty="0">
                    <a:latin typeface="+mj-lt"/>
                  </a:rPr>
                  <a:t>For coprime integers </a:t>
                </a:r>
                <a14:m>
                  <m:oMath xmlns:m="http://schemas.openxmlformats.org/officeDocument/2006/math">
                    <m:r>
                      <a:rPr lang="en-US" sz="2400" b="0" i="1">
                        <a:latin typeface="Cambria Math" panose="02040503050406030204" pitchFamily="18" charset="0"/>
                      </a:rPr>
                      <m:t>𝑎</m:t>
                    </m:r>
                  </m:oMath>
                </a14:m>
                <a:r>
                  <a:rPr lang="en-ZA" sz="2400" dirty="0">
                    <a:latin typeface="+mj-lt"/>
                  </a:rPr>
                  <a:t> and </a:t>
                </a:r>
                <a14:m>
                  <m:oMath xmlns:m="http://schemas.openxmlformats.org/officeDocument/2006/math">
                    <m:r>
                      <a:rPr lang="en-US" sz="2400" b="0" i="1">
                        <a:latin typeface="Cambria Math" panose="02040503050406030204" pitchFamily="18" charset="0"/>
                      </a:rPr>
                      <m:t>𝑁</m:t>
                    </m:r>
                    <m:r>
                      <a:rPr lang="en-US" sz="2400" b="0" i="1">
                        <a:latin typeface="Cambria Math" panose="02040503050406030204" pitchFamily="18" charset="0"/>
                      </a:rPr>
                      <m:t>&gt;1</m:t>
                    </m:r>
                  </m:oMath>
                </a14:m>
                <a:r>
                  <a:rPr lang="en-ZA" sz="2400" dirty="0">
                    <a:latin typeface="+mj-lt"/>
                  </a:rPr>
                  <a:t>, the order of </a:t>
                </a:r>
                <a14:m>
                  <m:oMath xmlns:m="http://schemas.openxmlformats.org/officeDocument/2006/math">
                    <m:r>
                      <a:rPr lang="en-US" sz="2400" i="1">
                        <a:latin typeface="Cambria Math" panose="02040503050406030204" pitchFamily="18" charset="0"/>
                      </a:rPr>
                      <m:t>𝑎</m:t>
                    </m:r>
                  </m:oMath>
                </a14:m>
                <a:r>
                  <a:rPr lang="en-ZA" sz="2400" dirty="0">
                    <a:latin typeface="+mj-lt"/>
                  </a:rPr>
                  <a:t> modulo </a:t>
                </a:r>
                <a14:m>
                  <m:oMath xmlns:m="http://schemas.openxmlformats.org/officeDocument/2006/math">
                    <m:r>
                      <a:rPr lang="en-US" sz="2400" i="1">
                        <a:latin typeface="Cambria Math" panose="02040503050406030204" pitchFamily="18" charset="0"/>
                      </a:rPr>
                      <m:t>𝑁</m:t>
                    </m:r>
                  </m:oMath>
                </a14:m>
                <a:r>
                  <a:rPr lang="en-ZA" sz="2400" dirty="0">
                    <a:latin typeface="+mj-lt"/>
                  </a:rPr>
                  <a:t> is the smallest </a:t>
                </a:r>
                <a14:m>
                  <m:oMath xmlns:m="http://schemas.openxmlformats.org/officeDocument/2006/math">
                    <m:r>
                      <a:rPr lang="en-US" sz="2400" b="0" i="1">
                        <a:latin typeface="Cambria Math" panose="02040503050406030204" pitchFamily="18" charset="0"/>
                      </a:rPr>
                      <m:t>𝑟</m:t>
                    </m:r>
                  </m:oMath>
                </a14:m>
                <a:r>
                  <a:rPr lang="en-ZA" sz="2400" dirty="0">
                    <a:latin typeface="+mj-lt"/>
                  </a:rPr>
                  <a:t> such that</a:t>
                </a:r>
              </a:p>
              <a:p>
                <a:pPr algn="ctr"/>
                <a14:m>
                  <m:oMathPara xmlns:m="http://schemas.openxmlformats.org/officeDocument/2006/math">
                    <m:oMathParaPr>
                      <m:jc m:val="centerGroup"/>
                    </m:oMathParaPr>
                    <m:oMath xmlns:m="http://schemas.openxmlformats.org/officeDocument/2006/math">
                      <m:d>
                        <m:dPr>
                          <m:beg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b="0" i="1">
                                  <a:latin typeface="Cambria Math" panose="02040503050406030204" pitchFamily="18" charset="0"/>
                                </a:rPr>
                                <m:t>𝑎</m:t>
                              </m:r>
                            </m:e>
                            <m:sup>
                              <m:r>
                                <a:rPr lang="en-US" sz="2400" b="0" i="1">
                                  <a:latin typeface="Cambria Math" panose="02040503050406030204" pitchFamily="18" charset="0"/>
                                </a:rPr>
                                <m:t>𝑟</m:t>
                              </m:r>
                            </m:sup>
                          </m:sSup>
                          <m:r>
                            <a:rPr lang="en-US" sz="2400" b="0">
                              <a:latin typeface="Cambria Math" panose="02040503050406030204" pitchFamily="18" charset="0"/>
                            </a:rPr>
                            <m:t> ≡</m:t>
                          </m:r>
                          <m:r>
                            <a:rPr lang="en-US" sz="2400" b="0" i="1">
                              <a:latin typeface="Cambria Math" panose="02040503050406030204" pitchFamily="18" charset="0"/>
                            </a:rPr>
                            <m:t>1</m:t>
                          </m:r>
                          <m:r>
                            <a:rPr lang="en-US" sz="2400" b="0">
                              <a:latin typeface="Cambria Math" panose="02040503050406030204" pitchFamily="18" charset="0"/>
                            </a:rPr>
                            <m:t> (</m:t>
                          </m:r>
                          <m:r>
                            <a:rPr lang="en-US" sz="2400" b="0" i="1">
                              <a:latin typeface="Cambria Math" panose="02040503050406030204" pitchFamily="18" charset="0"/>
                            </a:rPr>
                            <m:t>𝑚𝑜𝑑</m:t>
                          </m:r>
                          <m:r>
                            <a:rPr lang="en-US" sz="2400" b="0">
                              <a:latin typeface="Cambria Math" panose="02040503050406030204" pitchFamily="18" charset="0"/>
                            </a:rPr>
                            <m:t> </m:t>
                          </m:r>
                          <m:r>
                            <a:rPr lang="en-US" sz="2400" b="0" i="1">
                              <a:latin typeface="Cambria Math" panose="02040503050406030204" pitchFamily="18" charset="0"/>
                            </a:rPr>
                            <m:t>𝑁</m:t>
                          </m:r>
                        </m:e>
                      </m:d>
                    </m:oMath>
                  </m:oMathPara>
                </a14:m>
                <a:endParaRPr lang="en-US" sz="2400" dirty="0">
                  <a:latin typeface="+mj-lt"/>
                </a:endParaRPr>
              </a:p>
            </p:txBody>
          </p:sp>
        </mc:Choice>
        <mc:Fallback xmlns="">
          <p:sp>
            <p:nvSpPr>
              <p:cNvPr id="6" name="TextBox 5">
                <a:extLst>
                  <a:ext uri="{FF2B5EF4-FFF2-40B4-BE49-F238E27FC236}">
                    <a16:creationId xmlns:a16="http://schemas.microsoft.com/office/drawing/2014/main" id="{F88E5A1F-2E32-2742-B69E-DCB5DE39D056}"/>
                  </a:ext>
                </a:extLst>
              </p:cNvPr>
              <p:cNvSpPr txBox="1">
                <a:spLocks noRot="1" noChangeAspect="1" noMove="1" noResize="1" noEditPoints="1" noAdjustHandles="1" noChangeArrowheads="1" noChangeShapeType="1" noTextEdit="1"/>
              </p:cNvSpPr>
              <p:nvPr/>
            </p:nvSpPr>
            <p:spPr>
              <a:xfrm>
                <a:off x="7946551" y="2558456"/>
                <a:ext cx="3518174" cy="1938992"/>
              </a:xfrm>
              <a:prstGeom prst="rect">
                <a:avLst/>
              </a:prstGeom>
              <a:blipFill>
                <a:blip r:embed="rId5"/>
                <a:stretch>
                  <a:fillRect l="-2158" t="-1299" r="-3597" b="-45455"/>
                </a:stretch>
              </a:blipFill>
            </p:spPr>
            <p:txBody>
              <a:bodyPr/>
              <a:lstStyle/>
              <a:p>
                <a:r>
                  <a:rPr lang="en-US">
                    <a:noFill/>
                  </a:rPr>
                  <a:t> </a:t>
                </a:r>
              </a:p>
            </p:txBody>
          </p:sp>
        </mc:Fallback>
      </mc:AlternateContent>
      <p:sp>
        <p:nvSpPr>
          <p:cNvPr id="7" name="Down Arrow 6">
            <a:extLst>
              <a:ext uri="{FF2B5EF4-FFF2-40B4-BE49-F238E27FC236}">
                <a16:creationId xmlns:a16="http://schemas.microsoft.com/office/drawing/2014/main" id="{829716FF-1B11-F74C-9EB0-54095148EE91}"/>
              </a:ext>
            </a:extLst>
          </p:cNvPr>
          <p:cNvSpPr/>
          <p:nvPr/>
        </p:nvSpPr>
        <p:spPr>
          <a:xfrm>
            <a:off x="9238152" y="2020640"/>
            <a:ext cx="950877" cy="554145"/>
          </a:xfrm>
          <a:prstGeom prst="down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Rounded Rectangle 38">
                <a:extLst>
                  <a:ext uri="{FF2B5EF4-FFF2-40B4-BE49-F238E27FC236}">
                    <a16:creationId xmlns:a16="http://schemas.microsoft.com/office/drawing/2014/main" id="{E735A331-E900-704C-BF56-263867931977}"/>
                  </a:ext>
                </a:extLst>
              </p:cNvPr>
              <p:cNvSpPr/>
              <p:nvPr/>
            </p:nvSpPr>
            <p:spPr>
              <a:xfrm>
                <a:off x="7830431" y="167832"/>
                <a:ext cx="3799860" cy="1947809"/>
              </a:xfrm>
              <a:prstGeom prst="round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i="1" dirty="0">
                    <a:solidFill>
                      <a:schemeClr val="tx1"/>
                    </a:solidFill>
                    <a:latin typeface="+mj-lt"/>
                  </a:rPr>
                  <a:t>a </a:t>
                </a:r>
                <a:r>
                  <a:rPr lang="en-US" sz="2800" dirty="0">
                    <a:solidFill>
                      <a:schemeClr val="tx1"/>
                    </a:solidFill>
                    <a:latin typeface="+mj-lt"/>
                  </a:rPr>
                  <a:t>and</a:t>
                </a:r>
                <a:r>
                  <a:rPr lang="en-US" sz="2800" i="1" dirty="0">
                    <a:solidFill>
                      <a:schemeClr val="tx1"/>
                    </a:solidFill>
                    <a:latin typeface="+mj-lt"/>
                  </a:rPr>
                  <a:t> N</a:t>
                </a:r>
                <a:r>
                  <a:rPr lang="en-US" sz="2800" dirty="0">
                    <a:solidFill>
                      <a:schemeClr val="tx1"/>
                    </a:solidFill>
                    <a:latin typeface="+mj-lt"/>
                  </a:rPr>
                  <a:t> are</a:t>
                </a:r>
                <a:r>
                  <a:rPr lang="en-ZA" sz="2800" dirty="0">
                    <a:solidFill>
                      <a:schemeClr val="tx1"/>
                    </a:solidFill>
                    <a:latin typeface="+mj-lt"/>
                  </a:rPr>
                  <a:t> coprime </a:t>
                </a:r>
                <a:r>
                  <a:rPr lang="en-US" sz="2800" dirty="0">
                    <a:solidFill>
                      <a:schemeClr val="tx1"/>
                    </a:solidFill>
                    <a:latin typeface="+mj-lt"/>
                  </a:rPr>
                  <a:t>if</a:t>
                </a:r>
              </a:p>
              <a:p>
                <a:pPr algn="ctr"/>
                <a:endParaRPr lang="en-US" sz="1200" dirty="0">
                  <a:solidFill>
                    <a:schemeClr val="tx1"/>
                  </a:solidFill>
                  <a:latin typeface="+mj-lt"/>
                </a:endParaRPr>
              </a:p>
              <a:p>
                <a:pPr algn="ctr"/>
                <a14:m>
                  <m:oMathPara xmlns:m="http://schemas.openxmlformats.org/officeDocument/2006/math">
                    <m:oMathParaPr>
                      <m:jc m:val="centerGroup"/>
                    </m:oMathParaPr>
                    <m:oMath xmlns:m="http://schemas.openxmlformats.org/officeDocument/2006/math">
                      <m:r>
                        <m:rPr>
                          <m:sty m:val="p"/>
                        </m:rPr>
                        <a:rPr lang="en-US" sz="2800" b="0" i="0" smtClean="0">
                          <a:solidFill>
                            <a:schemeClr val="tx1"/>
                          </a:solidFill>
                          <a:latin typeface="Cambria Math" panose="02040503050406030204" pitchFamily="18" charset="0"/>
                        </a:rPr>
                        <m:t>gcd</m:t>
                      </m:r>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𝑎</m:t>
                          </m:r>
                          <m:r>
                            <a:rPr lang="en-US" sz="2800" i="1">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𝑁</m:t>
                          </m:r>
                        </m:e>
                      </m:d>
                      <m:r>
                        <a:rPr lang="en-US" sz="2800" i="1">
                          <a:solidFill>
                            <a:schemeClr val="tx1"/>
                          </a:solidFill>
                          <a:latin typeface="Cambria Math" panose="02040503050406030204" pitchFamily="18" charset="0"/>
                        </a:rPr>
                        <m:t>=1</m:t>
                      </m:r>
                    </m:oMath>
                  </m:oMathPara>
                </a14:m>
                <a:endParaRPr lang="en-US" sz="2800" dirty="0">
                  <a:solidFill>
                    <a:schemeClr val="tx1"/>
                  </a:solidFill>
                  <a:latin typeface="+mj-lt"/>
                </a:endParaRPr>
              </a:p>
            </p:txBody>
          </p:sp>
        </mc:Choice>
        <mc:Fallback xmlns="">
          <p:sp>
            <p:nvSpPr>
              <p:cNvPr id="39" name="Rounded Rectangle 38">
                <a:extLst>
                  <a:ext uri="{FF2B5EF4-FFF2-40B4-BE49-F238E27FC236}">
                    <a16:creationId xmlns:a16="http://schemas.microsoft.com/office/drawing/2014/main" id="{E735A331-E900-704C-BF56-263867931977}"/>
                  </a:ext>
                </a:extLst>
              </p:cNvPr>
              <p:cNvSpPr>
                <a:spLocks noRot="1" noChangeAspect="1" noMove="1" noResize="1" noEditPoints="1" noAdjustHandles="1" noChangeArrowheads="1" noChangeShapeType="1" noTextEdit="1"/>
              </p:cNvSpPr>
              <p:nvPr/>
            </p:nvSpPr>
            <p:spPr>
              <a:xfrm>
                <a:off x="7830431" y="167832"/>
                <a:ext cx="3799860" cy="1947809"/>
              </a:xfrm>
              <a:prstGeom prst="roundRect">
                <a:avLst/>
              </a:prstGeom>
              <a:blipFill>
                <a:blip r:embed="rId6"/>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2249683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332EA-0B8D-054D-BA2E-B33797320495}"/>
              </a:ext>
            </a:extLst>
          </p:cNvPr>
          <p:cNvSpPr>
            <a:spLocks noGrp="1"/>
          </p:cNvSpPr>
          <p:nvPr>
            <p:ph type="title"/>
          </p:nvPr>
        </p:nvSpPr>
        <p:spPr/>
        <p:txBody>
          <a:bodyPr/>
          <a:lstStyle/>
          <a:p>
            <a:r>
              <a:rPr lang="en-ZA" dirty="0" err="1"/>
              <a:t>MathBox</a:t>
            </a:r>
            <a:r>
              <a:rPr lang="en-ZA" dirty="0"/>
              <a:t>  Euclidean Algorithm</a:t>
            </a:r>
            <a:endParaRPr lang="en-US" dirty="0"/>
          </a:p>
        </p:txBody>
      </p:sp>
      <p:sp>
        <p:nvSpPr>
          <p:cNvPr id="3" name="Slide Number Placeholder 2">
            <a:extLst>
              <a:ext uri="{FF2B5EF4-FFF2-40B4-BE49-F238E27FC236}">
                <a16:creationId xmlns:a16="http://schemas.microsoft.com/office/drawing/2014/main" id="{C56AF9B3-E46E-FD41-9B37-A6A66FCFEE7C}"/>
              </a:ext>
            </a:extLst>
          </p:cNvPr>
          <p:cNvSpPr>
            <a:spLocks noGrp="1"/>
          </p:cNvSpPr>
          <p:nvPr>
            <p:ph type="sldNum" sz="quarter" idx="12"/>
          </p:nvPr>
        </p:nvSpPr>
        <p:spPr/>
        <p:txBody>
          <a:bodyPr/>
          <a:lstStyle/>
          <a:p>
            <a:fld id="{591A223C-FA10-BC46-A853-03BA373D023C}" type="slidenum">
              <a:rPr lang="en-US" smtClean="0"/>
              <a:t>36</a:t>
            </a:fld>
            <a:endParaRPr lang="en-US"/>
          </a:p>
        </p:txBody>
      </p:sp>
      <p:graphicFrame>
        <p:nvGraphicFramePr>
          <p:cNvPr id="9" name="Diagram 8">
            <a:extLst>
              <a:ext uri="{FF2B5EF4-FFF2-40B4-BE49-F238E27FC236}">
                <a16:creationId xmlns:a16="http://schemas.microsoft.com/office/drawing/2014/main" id="{F5AF444B-F1F7-4843-86F6-8CB69ED3A040}"/>
              </a:ext>
            </a:extLst>
          </p:cNvPr>
          <p:cNvGraphicFramePr/>
          <p:nvPr>
            <p:extLst>
              <p:ext uri="{D42A27DB-BD31-4B8C-83A1-F6EECF244321}">
                <p14:modId xmlns:p14="http://schemas.microsoft.com/office/powerpoint/2010/main" val="1594132185"/>
              </p:ext>
            </p:extLst>
          </p:nvPr>
        </p:nvGraphicFramePr>
        <p:xfrm>
          <a:off x="545545" y="1037169"/>
          <a:ext cx="10851444" cy="11165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4" name="Group 3">
            <a:extLst>
              <a:ext uri="{FF2B5EF4-FFF2-40B4-BE49-F238E27FC236}">
                <a16:creationId xmlns:a16="http://schemas.microsoft.com/office/drawing/2014/main" id="{56CED184-38FC-5846-AA71-F999AB19F3F6}"/>
              </a:ext>
            </a:extLst>
          </p:cNvPr>
          <p:cNvGrpSpPr/>
          <p:nvPr/>
        </p:nvGrpSpPr>
        <p:grpSpPr>
          <a:xfrm>
            <a:off x="270933" y="2332320"/>
            <a:ext cx="11214526" cy="3673083"/>
            <a:chOff x="270933" y="2332320"/>
            <a:chExt cx="11214526" cy="3673083"/>
          </a:xfrm>
        </p:grpSpPr>
        <p:sp>
          <p:nvSpPr>
            <p:cNvPr id="15" name="Rectangle 14">
              <a:extLst>
                <a:ext uri="{FF2B5EF4-FFF2-40B4-BE49-F238E27FC236}">
                  <a16:creationId xmlns:a16="http://schemas.microsoft.com/office/drawing/2014/main" id="{DFFBFB24-70A3-684F-BF89-3F1005961B36}"/>
                </a:ext>
              </a:extLst>
            </p:cNvPr>
            <p:cNvSpPr/>
            <p:nvPr/>
          </p:nvSpPr>
          <p:spPr>
            <a:xfrm>
              <a:off x="270933" y="2332320"/>
              <a:ext cx="11214526" cy="1107996"/>
            </a:xfrm>
            <a:prstGeom prst="rect">
              <a:avLst/>
            </a:prstGeom>
            <a:solidFill>
              <a:schemeClr val="bg1">
                <a:lumMod val="95000"/>
              </a:schemeClr>
            </a:solidFill>
          </p:spPr>
          <p:txBody>
            <a:bodyPr wrap="square">
              <a:spAutoFit/>
            </a:bodyPr>
            <a:lstStyle/>
            <a:p>
              <a:r>
                <a:rPr lang="en-ZA" sz="2200" dirty="0">
                  <a:latin typeface="+mj-lt"/>
                </a:rPr>
                <a:t>Algorithm: </a:t>
              </a:r>
            </a:p>
            <a:p>
              <a:pPr marL="457200" indent="-457200">
                <a:buFont typeface="+mj-lt"/>
                <a:buAutoNum type="arabicPeriod"/>
              </a:pPr>
              <a:r>
                <a:rPr lang="en-ZA" sz="2200" dirty="0">
                  <a:latin typeface="+mj-lt"/>
                </a:rPr>
                <a:t>Repeatedly divide the previous divisor by the remainder until the remainder becomes zero. </a:t>
              </a:r>
            </a:p>
            <a:p>
              <a:pPr marL="457200" indent="-457200">
                <a:buFont typeface="+mj-lt"/>
                <a:buAutoNum type="arabicPeriod"/>
              </a:pPr>
              <a:r>
                <a:rPr lang="en-ZA" sz="2200" dirty="0">
                  <a:latin typeface="+mj-lt"/>
                </a:rPr>
                <a:t>The greatest common divisor is the last non-zero remainder.</a:t>
              </a:r>
              <a:endParaRPr lang="en-US" sz="2200" dirty="0">
                <a:latin typeface="+mj-lt"/>
              </a:endParaRPr>
            </a:p>
          </p:txBody>
        </p:sp>
        <p:grpSp>
          <p:nvGrpSpPr>
            <p:cNvPr id="63" name="Group 62">
              <a:extLst>
                <a:ext uri="{FF2B5EF4-FFF2-40B4-BE49-F238E27FC236}">
                  <a16:creationId xmlns:a16="http://schemas.microsoft.com/office/drawing/2014/main" id="{059327C5-7B67-DE46-8DD2-BF7CA4BE032D}"/>
                </a:ext>
              </a:extLst>
            </p:cNvPr>
            <p:cNvGrpSpPr/>
            <p:nvPr/>
          </p:nvGrpSpPr>
          <p:grpSpPr>
            <a:xfrm>
              <a:off x="703195" y="3694522"/>
              <a:ext cx="3036102" cy="2310881"/>
              <a:chOff x="270933" y="3797893"/>
              <a:chExt cx="3036102" cy="2310881"/>
            </a:xfrm>
          </p:grpSpPr>
          <p:sp>
            <p:nvSpPr>
              <p:cNvPr id="57" name="Oval 56">
                <a:extLst>
                  <a:ext uri="{FF2B5EF4-FFF2-40B4-BE49-F238E27FC236}">
                    <a16:creationId xmlns:a16="http://schemas.microsoft.com/office/drawing/2014/main" id="{90D9CAE6-784C-814D-A39B-09CA03C02D11}"/>
                  </a:ext>
                </a:extLst>
              </p:cNvPr>
              <p:cNvSpPr/>
              <p:nvPr/>
            </p:nvSpPr>
            <p:spPr>
              <a:xfrm>
                <a:off x="2187431" y="5667164"/>
                <a:ext cx="360000" cy="360000"/>
              </a:xfrm>
              <a:prstGeom prst="ellipse">
                <a:avLst/>
              </a:prstGeom>
              <a:solidFill>
                <a:srgbClr val="CA25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78F15744-3EFD-164C-BC5C-7F7990DE20F7}"/>
                      </a:ext>
                    </a:extLst>
                  </p:cNvPr>
                  <p:cNvSpPr/>
                  <p:nvPr/>
                </p:nvSpPr>
                <p:spPr>
                  <a:xfrm>
                    <a:off x="1066550" y="5585554"/>
                    <a:ext cx="219880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6</m:t>
                          </m:r>
                          <m:r>
                            <a:rPr lang="en-US" sz="2800" b="0" i="1" smtClean="0">
                              <a:latin typeface="Cambria Math" panose="02040503050406030204" pitchFamily="18" charset="0"/>
                            </a:rPr>
                            <m:t>   %    </m:t>
                          </m:r>
                          <m:r>
                            <a:rPr lang="en-US" sz="2800" b="0" i="1" smtClean="0">
                              <a:solidFill>
                                <a:schemeClr val="bg1"/>
                              </a:solidFill>
                              <a:latin typeface="Cambria Math" panose="02040503050406030204" pitchFamily="18" charset="0"/>
                            </a:rPr>
                            <m:t>2</m:t>
                          </m:r>
                          <m:r>
                            <a:rPr lang="en-US" sz="2800" b="0" i="1" smtClean="0">
                              <a:latin typeface="Cambria Math" panose="02040503050406030204" pitchFamily="18" charset="0"/>
                            </a:rPr>
                            <m:t>=0</m:t>
                          </m:r>
                        </m:oMath>
                      </m:oMathPara>
                    </a14:m>
                    <a:endParaRPr lang="en-US" sz="2800" b="0" dirty="0"/>
                  </a:p>
                </p:txBody>
              </p:sp>
            </mc:Choice>
            <mc:Fallback xmlns="">
              <p:sp>
                <p:nvSpPr>
                  <p:cNvPr id="20" name="Rectangle 19">
                    <a:extLst>
                      <a:ext uri="{FF2B5EF4-FFF2-40B4-BE49-F238E27FC236}">
                        <a16:creationId xmlns:a16="http://schemas.microsoft.com/office/drawing/2014/main" id="{78F15744-3EFD-164C-BC5C-7F7990DE20F7}"/>
                      </a:ext>
                    </a:extLst>
                  </p:cNvPr>
                  <p:cNvSpPr>
                    <a:spLocks noRot="1" noChangeAspect="1" noMove="1" noResize="1" noEditPoints="1" noAdjustHandles="1" noChangeArrowheads="1" noChangeShapeType="1" noTextEdit="1"/>
                  </p:cNvSpPr>
                  <p:nvPr/>
                </p:nvSpPr>
                <p:spPr>
                  <a:xfrm>
                    <a:off x="1066550" y="5585554"/>
                    <a:ext cx="2198807" cy="523220"/>
                  </a:xfrm>
                  <a:prstGeom prst="rect">
                    <a:avLst/>
                  </a:prstGeom>
                  <a:blipFill>
                    <a:blip r:embed="rId8"/>
                    <a:stretch>
                      <a:fillRect b="-195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23950298-F5A7-E343-9AD1-9BA4B33556A9}"/>
                      </a:ext>
                    </a:extLst>
                  </p:cNvPr>
                  <p:cNvSpPr/>
                  <p:nvPr/>
                </p:nvSpPr>
                <p:spPr>
                  <a:xfrm>
                    <a:off x="1066550" y="4955509"/>
                    <a:ext cx="219880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8</m:t>
                          </m:r>
                          <m:r>
                            <a:rPr lang="en-US" sz="2800" b="0" i="1" smtClean="0">
                              <a:latin typeface="Cambria Math" panose="02040503050406030204" pitchFamily="18" charset="0"/>
                            </a:rPr>
                            <m:t>   %    6=2</m:t>
                          </m:r>
                        </m:oMath>
                      </m:oMathPara>
                    </a14:m>
                    <a:endParaRPr lang="en-US" sz="2800" b="0" dirty="0"/>
                  </a:p>
                </p:txBody>
              </p:sp>
            </mc:Choice>
            <mc:Fallback xmlns="">
              <p:sp>
                <p:nvSpPr>
                  <p:cNvPr id="18" name="Rectangle 17">
                    <a:extLst>
                      <a:ext uri="{FF2B5EF4-FFF2-40B4-BE49-F238E27FC236}">
                        <a16:creationId xmlns:a16="http://schemas.microsoft.com/office/drawing/2014/main" id="{23950298-F5A7-E343-9AD1-9BA4B33556A9}"/>
                      </a:ext>
                    </a:extLst>
                  </p:cNvPr>
                  <p:cNvSpPr>
                    <a:spLocks noRot="1" noChangeAspect="1" noMove="1" noResize="1" noEditPoints="1" noAdjustHandles="1" noChangeArrowheads="1" noChangeShapeType="1" noTextEdit="1"/>
                  </p:cNvSpPr>
                  <p:nvPr/>
                </p:nvSpPr>
                <p:spPr>
                  <a:xfrm>
                    <a:off x="1066550" y="4955509"/>
                    <a:ext cx="2198807" cy="523220"/>
                  </a:xfrm>
                  <a:prstGeom prst="rect">
                    <a:avLst/>
                  </a:prstGeom>
                  <a:blipFill>
                    <a:blip r:embed="rId9"/>
                    <a:stretch>
                      <a:fillRect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60A8FF13-43E8-974E-AC2B-C73D21888626}"/>
                      </a:ext>
                    </a:extLst>
                  </p:cNvPr>
                  <p:cNvSpPr/>
                  <p:nvPr/>
                </p:nvSpPr>
                <p:spPr>
                  <a:xfrm>
                    <a:off x="1066550" y="4325464"/>
                    <a:ext cx="224048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3</m:t>
                          </m:r>
                          <m:r>
                            <a:rPr lang="en-US" sz="2800" b="0" i="1" smtClean="0">
                              <a:latin typeface="Cambria Math" panose="02040503050406030204" pitchFamily="18" charset="0"/>
                            </a:rPr>
                            <m:t>0  %   8=6</m:t>
                          </m:r>
                        </m:oMath>
                      </m:oMathPara>
                    </a14:m>
                    <a:endParaRPr lang="en-US" sz="2800" b="0" dirty="0"/>
                  </a:p>
                </p:txBody>
              </p:sp>
            </mc:Choice>
            <mc:Fallback xmlns="">
              <p:sp>
                <p:nvSpPr>
                  <p:cNvPr id="17" name="Rectangle 16">
                    <a:extLst>
                      <a:ext uri="{FF2B5EF4-FFF2-40B4-BE49-F238E27FC236}">
                        <a16:creationId xmlns:a16="http://schemas.microsoft.com/office/drawing/2014/main" id="{60A8FF13-43E8-974E-AC2B-C73D21888626}"/>
                      </a:ext>
                    </a:extLst>
                  </p:cNvPr>
                  <p:cNvSpPr>
                    <a:spLocks noRot="1" noChangeAspect="1" noMove="1" noResize="1" noEditPoints="1" noAdjustHandles="1" noChangeArrowheads="1" noChangeShapeType="1" noTextEdit="1"/>
                  </p:cNvSpPr>
                  <p:nvPr/>
                </p:nvSpPr>
                <p:spPr>
                  <a:xfrm>
                    <a:off x="1066550" y="4325464"/>
                    <a:ext cx="2240485" cy="523220"/>
                  </a:xfrm>
                  <a:prstGeom prst="rect">
                    <a:avLst/>
                  </a:prstGeom>
                  <a:blipFill>
                    <a:blip r:embed="rId10"/>
                    <a:stretch>
                      <a:fillRect b="-186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55D9AEB1-5D73-4F44-BE59-4D825128B1F2}"/>
                      </a:ext>
                    </a:extLst>
                  </p:cNvPr>
                  <p:cNvSpPr/>
                  <p:nvPr/>
                </p:nvSpPr>
                <p:spPr>
                  <a:xfrm>
                    <a:off x="270933" y="3797893"/>
                    <a:ext cx="1933606" cy="523220"/>
                  </a:xfrm>
                  <a:prstGeom prst="rect">
                    <a:avLst/>
                  </a:prstGeom>
                  <a:solidFill>
                    <a:srgbClr val="F7F7F7"/>
                  </a:solidFill>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gcd</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30,8</m:t>
                              </m:r>
                            </m:e>
                          </m:d>
                          <m:r>
                            <a:rPr lang="en-US" sz="2800" b="0" i="1" smtClean="0">
                              <a:latin typeface="Cambria Math" panose="02040503050406030204" pitchFamily="18" charset="0"/>
                            </a:rPr>
                            <m:t>:</m:t>
                          </m:r>
                        </m:oMath>
                      </m:oMathPara>
                    </a14:m>
                    <a:endParaRPr lang="en-US" sz="2800" dirty="0"/>
                  </a:p>
                </p:txBody>
              </p:sp>
            </mc:Choice>
            <mc:Fallback xmlns="">
              <p:sp>
                <p:nvSpPr>
                  <p:cNvPr id="13" name="Rectangle 12">
                    <a:extLst>
                      <a:ext uri="{FF2B5EF4-FFF2-40B4-BE49-F238E27FC236}">
                        <a16:creationId xmlns:a16="http://schemas.microsoft.com/office/drawing/2014/main" id="{55D9AEB1-5D73-4F44-BE59-4D825128B1F2}"/>
                      </a:ext>
                    </a:extLst>
                  </p:cNvPr>
                  <p:cNvSpPr>
                    <a:spLocks noRot="1" noChangeAspect="1" noMove="1" noResize="1" noEditPoints="1" noAdjustHandles="1" noChangeArrowheads="1" noChangeShapeType="1" noTextEdit="1"/>
                  </p:cNvSpPr>
                  <p:nvPr/>
                </p:nvSpPr>
                <p:spPr>
                  <a:xfrm>
                    <a:off x="270933" y="3797893"/>
                    <a:ext cx="1933606" cy="523220"/>
                  </a:xfrm>
                  <a:prstGeom prst="rect">
                    <a:avLst/>
                  </a:prstGeom>
                  <a:blipFill>
                    <a:blip r:embed="rId11"/>
                    <a:stretch>
                      <a:fillRect b="-16667"/>
                    </a:stretch>
                  </a:blipFill>
                </p:spPr>
                <p:txBody>
                  <a:bodyPr/>
                  <a:lstStyle/>
                  <a:p>
                    <a:r>
                      <a:rPr lang="en-US">
                        <a:noFill/>
                      </a:rPr>
                      <a:t> </a:t>
                    </a:r>
                  </a:p>
                </p:txBody>
              </p:sp>
            </mc:Fallback>
          </mc:AlternateContent>
          <p:grpSp>
            <p:nvGrpSpPr>
              <p:cNvPr id="42" name="Group 41">
                <a:extLst>
                  <a:ext uri="{FF2B5EF4-FFF2-40B4-BE49-F238E27FC236}">
                    <a16:creationId xmlns:a16="http://schemas.microsoft.com/office/drawing/2014/main" id="{7D17A0AA-3B56-8544-A999-51B6079FDF7C}"/>
                  </a:ext>
                </a:extLst>
              </p:cNvPr>
              <p:cNvGrpSpPr/>
              <p:nvPr/>
            </p:nvGrpSpPr>
            <p:grpSpPr>
              <a:xfrm>
                <a:off x="1386205" y="4760462"/>
                <a:ext cx="1758461" cy="949447"/>
                <a:chOff x="1359877" y="4728308"/>
                <a:chExt cx="1758461" cy="949447"/>
              </a:xfrm>
            </p:grpSpPr>
            <p:cxnSp>
              <p:nvCxnSpPr>
                <p:cNvPr id="23" name="Straight Arrow Connector 22">
                  <a:extLst>
                    <a:ext uri="{FF2B5EF4-FFF2-40B4-BE49-F238E27FC236}">
                      <a16:creationId xmlns:a16="http://schemas.microsoft.com/office/drawing/2014/main" id="{C274106E-046C-5D44-B0AF-0F0EDADECDDA}"/>
                    </a:ext>
                  </a:extLst>
                </p:cNvPr>
                <p:cNvCxnSpPr>
                  <a:cxnSpLocks/>
                </p:cNvCxnSpPr>
                <p:nvPr/>
              </p:nvCxnSpPr>
              <p:spPr>
                <a:xfrm flipH="1">
                  <a:off x="1359877" y="4728308"/>
                  <a:ext cx="1078523" cy="28916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B703F5C-3EFA-C547-84EB-C63138322F85}"/>
                    </a:ext>
                  </a:extLst>
                </p:cNvPr>
                <p:cNvCxnSpPr>
                  <a:cxnSpLocks/>
                </p:cNvCxnSpPr>
                <p:nvPr/>
              </p:nvCxnSpPr>
              <p:spPr>
                <a:xfrm flipH="1">
                  <a:off x="2362913" y="4728308"/>
                  <a:ext cx="755425" cy="25444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E4FDF7F-1E70-4146-9696-E9BB35D99F55}"/>
                    </a:ext>
                  </a:extLst>
                </p:cNvPr>
                <p:cNvCxnSpPr>
                  <a:cxnSpLocks/>
                </p:cNvCxnSpPr>
                <p:nvPr/>
              </p:nvCxnSpPr>
              <p:spPr>
                <a:xfrm flipH="1">
                  <a:off x="1359878" y="5372955"/>
                  <a:ext cx="999622" cy="3048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B6F6FCA-DE01-AF45-9B9D-380E608AD666}"/>
                    </a:ext>
                  </a:extLst>
                </p:cNvPr>
                <p:cNvCxnSpPr>
                  <a:cxnSpLocks/>
                </p:cNvCxnSpPr>
                <p:nvPr/>
              </p:nvCxnSpPr>
              <p:spPr>
                <a:xfrm flipH="1">
                  <a:off x="2502003" y="5397019"/>
                  <a:ext cx="531113" cy="24839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grpSp>
      <p:sp>
        <p:nvSpPr>
          <p:cNvPr id="59" name="TextBox 58">
            <a:extLst>
              <a:ext uri="{FF2B5EF4-FFF2-40B4-BE49-F238E27FC236}">
                <a16:creationId xmlns:a16="http://schemas.microsoft.com/office/drawing/2014/main" id="{71B4E3E9-88B4-7F4C-994F-F947C105C1D8}"/>
              </a:ext>
            </a:extLst>
          </p:cNvPr>
          <p:cNvSpPr txBox="1"/>
          <p:nvPr/>
        </p:nvSpPr>
        <p:spPr>
          <a:xfrm>
            <a:off x="6803136" y="4407408"/>
            <a:ext cx="184731" cy="369332"/>
          </a:xfrm>
          <a:prstGeom prst="rect">
            <a:avLst/>
          </a:prstGeom>
          <a:noFill/>
        </p:spPr>
        <p:txBody>
          <a:bodyPr wrap="none" rtlCol="0">
            <a:spAutoFit/>
          </a:bodyPr>
          <a:lstStyle/>
          <a:p>
            <a:endParaRPr lang="en-US" dirty="0"/>
          </a:p>
        </p:txBody>
      </p:sp>
      <p:sp>
        <p:nvSpPr>
          <p:cNvPr id="62" name="Rectangle 61">
            <a:extLst>
              <a:ext uri="{FF2B5EF4-FFF2-40B4-BE49-F238E27FC236}">
                <a16:creationId xmlns:a16="http://schemas.microsoft.com/office/drawing/2014/main" id="{F3B7EE23-C525-DA4C-870A-A6AF967EA49D}"/>
              </a:ext>
            </a:extLst>
          </p:cNvPr>
          <p:cNvSpPr/>
          <p:nvPr/>
        </p:nvSpPr>
        <p:spPr>
          <a:xfrm>
            <a:off x="6518605" y="3709561"/>
            <a:ext cx="4966854" cy="2308324"/>
          </a:xfrm>
          <a:prstGeom prst="rect">
            <a:avLst/>
          </a:prstGeom>
          <a:solidFill>
            <a:srgbClr val="F7F7F7"/>
          </a:solidFill>
        </p:spPr>
        <p:txBody>
          <a:bodyPr wrap="square">
            <a:spAutoFit/>
          </a:bodyPr>
          <a:lstStyle/>
          <a:p>
            <a:endParaRPr lang="en-US" sz="2400" b="1" dirty="0">
              <a:solidFill>
                <a:srgbClr val="008001"/>
              </a:solidFill>
              <a:latin typeface="Andale Mono" panose="020B0509000000000004" pitchFamily="49" charset="0"/>
            </a:endParaRPr>
          </a:p>
          <a:p>
            <a:r>
              <a:rPr lang="en-US" sz="2400" b="1" dirty="0">
                <a:solidFill>
                  <a:srgbClr val="008001"/>
                </a:solidFill>
                <a:latin typeface="Andale Mono" panose="020B0509000000000004" pitchFamily="49" charset="0"/>
              </a:rPr>
              <a:t>def</a:t>
            </a:r>
            <a:r>
              <a:rPr lang="en-US" sz="2400" dirty="0">
                <a:latin typeface="Andale Mono" panose="020B0509000000000004" pitchFamily="49" charset="0"/>
              </a:rPr>
              <a:t> </a:t>
            </a:r>
            <a:r>
              <a:rPr lang="en-US" sz="2400" dirty="0" err="1">
                <a:solidFill>
                  <a:srgbClr val="0000FF"/>
                </a:solidFill>
                <a:latin typeface="Andale Mono" panose="020B0509000000000004" pitchFamily="49" charset="0"/>
              </a:rPr>
              <a:t>gcd</a:t>
            </a:r>
            <a:r>
              <a:rPr lang="en-US" sz="2400" dirty="0">
                <a:latin typeface="Andale Mono" panose="020B0509000000000004" pitchFamily="49" charset="0"/>
              </a:rPr>
              <a:t>(</a:t>
            </a:r>
            <a:r>
              <a:rPr lang="en-US" sz="2400" dirty="0" err="1">
                <a:latin typeface="Andale Mono" panose="020B0509000000000004" pitchFamily="49" charset="0"/>
              </a:rPr>
              <a:t>a,b</a:t>
            </a:r>
            <a:r>
              <a:rPr lang="en-US" sz="2400" dirty="0">
                <a:latin typeface="Andale Mono" panose="020B0509000000000004" pitchFamily="49" charset="0"/>
              </a:rPr>
              <a:t>):</a:t>
            </a:r>
          </a:p>
          <a:p>
            <a:r>
              <a:rPr lang="en-US" sz="2400" dirty="0">
                <a:latin typeface="Andale Mono" panose="020B0509000000000004" pitchFamily="49" charset="0"/>
              </a:rPr>
              <a:t>    </a:t>
            </a:r>
          </a:p>
          <a:p>
            <a:r>
              <a:rPr lang="en-US" sz="2400" dirty="0">
                <a:latin typeface="Andale Mono" panose="020B0509000000000004" pitchFamily="49" charset="0"/>
              </a:rPr>
              <a:t>    </a:t>
            </a:r>
            <a:r>
              <a:rPr lang="en-US" sz="2400" b="1" dirty="0">
                <a:solidFill>
                  <a:srgbClr val="008001"/>
                </a:solidFill>
                <a:latin typeface="Andale Mono" panose="020B0509000000000004" pitchFamily="49" charset="0"/>
              </a:rPr>
              <a:t>if</a:t>
            </a:r>
            <a:r>
              <a:rPr lang="en-US" sz="2400" dirty="0">
                <a:latin typeface="Andale Mono" panose="020B0509000000000004" pitchFamily="49" charset="0"/>
              </a:rPr>
              <a:t> b </a:t>
            </a:r>
            <a:r>
              <a:rPr lang="en-US" sz="2400" dirty="0">
                <a:solidFill>
                  <a:srgbClr val="AA22FF"/>
                </a:solidFill>
                <a:latin typeface="Andale Mono" panose="020B0509000000000004" pitchFamily="49" charset="0"/>
              </a:rPr>
              <a:t>==</a:t>
            </a:r>
            <a:r>
              <a:rPr lang="en-US" sz="2400" dirty="0">
                <a:latin typeface="Andale Mono" panose="020B0509000000000004" pitchFamily="49" charset="0"/>
              </a:rPr>
              <a:t> 0 : </a:t>
            </a:r>
            <a:r>
              <a:rPr lang="en-US" sz="2400" b="1" dirty="0">
                <a:solidFill>
                  <a:srgbClr val="008001"/>
                </a:solidFill>
                <a:latin typeface="Andale Mono" panose="020B0509000000000004" pitchFamily="49" charset="0"/>
              </a:rPr>
              <a:t>return</a:t>
            </a:r>
            <a:r>
              <a:rPr lang="en-US" sz="2400" dirty="0">
                <a:latin typeface="Andale Mono" panose="020B0509000000000004" pitchFamily="49" charset="0"/>
              </a:rPr>
              <a:t> a</a:t>
            </a:r>
          </a:p>
          <a:p>
            <a:r>
              <a:rPr lang="en-US" sz="2400" dirty="0">
                <a:latin typeface="Andale Mono" panose="020B0509000000000004" pitchFamily="49" charset="0"/>
              </a:rPr>
              <a:t>    </a:t>
            </a:r>
            <a:r>
              <a:rPr lang="en-US" sz="2400" b="1" dirty="0">
                <a:solidFill>
                  <a:srgbClr val="008001"/>
                </a:solidFill>
                <a:latin typeface="Andale Mono" panose="020B0509000000000004" pitchFamily="49" charset="0"/>
              </a:rPr>
              <a:t>return</a:t>
            </a:r>
            <a:r>
              <a:rPr lang="en-US" sz="2400" dirty="0">
                <a:latin typeface="Andale Mono" panose="020B0509000000000004" pitchFamily="49" charset="0"/>
              </a:rPr>
              <a:t> </a:t>
            </a:r>
            <a:r>
              <a:rPr lang="en-US" sz="2400" dirty="0" err="1">
                <a:solidFill>
                  <a:srgbClr val="0000FF"/>
                </a:solidFill>
                <a:latin typeface="Andale Mono" panose="020B0509000000000004" pitchFamily="49" charset="0"/>
              </a:rPr>
              <a:t>gcd</a:t>
            </a:r>
            <a:r>
              <a:rPr lang="en-US" sz="2400" dirty="0">
                <a:latin typeface="Andale Mono" panose="020B0509000000000004" pitchFamily="49" charset="0"/>
              </a:rPr>
              <a:t>(b, a </a:t>
            </a:r>
            <a:r>
              <a:rPr lang="en-US" sz="2400" dirty="0">
                <a:solidFill>
                  <a:srgbClr val="AA22FF"/>
                </a:solidFill>
                <a:latin typeface="Andale Mono" panose="020B0509000000000004" pitchFamily="49" charset="0"/>
              </a:rPr>
              <a:t>%</a:t>
            </a:r>
            <a:r>
              <a:rPr lang="en-US" sz="2400" dirty="0">
                <a:latin typeface="Andale Mono" panose="020B0509000000000004" pitchFamily="49" charset="0"/>
              </a:rPr>
              <a:t> b)</a:t>
            </a:r>
          </a:p>
          <a:p>
            <a:endParaRPr lang="en-US" sz="2400" dirty="0">
              <a:latin typeface="Andale Mono" panose="020B0509000000000004" pitchFamily="49" charset="0"/>
            </a:endParaRPr>
          </a:p>
        </p:txBody>
      </p:sp>
    </p:spTree>
    <p:extLst>
      <p:ext uri="{BB962C8B-B14F-4D97-AF65-F5344CB8AC3E}">
        <p14:creationId xmlns:p14="http://schemas.microsoft.com/office/powerpoint/2010/main" val="3092523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CD6F5E-327D-E448-8D5F-3E9670684482}"/>
              </a:ext>
            </a:extLst>
          </p:cNvPr>
          <p:cNvSpPr>
            <a:spLocks noGrp="1"/>
          </p:cNvSpPr>
          <p:nvPr>
            <p:ph type="sldNum" sz="quarter" idx="12"/>
          </p:nvPr>
        </p:nvSpPr>
        <p:spPr/>
        <p:txBody>
          <a:bodyPr/>
          <a:lstStyle/>
          <a:p>
            <a:fld id="{591A223C-FA10-BC46-A853-03BA373D023C}" type="slidenum">
              <a:rPr lang="en-US" smtClean="0"/>
              <a:t>37</a:t>
            </a:fld>
            <a:endParaRPr lang="en-US"/>
          </a:p>
        </p:txBody>
      </p:sp>
      <p:sp>
        <p:nvSpPr>
          <p:cNvPr id="4" name="Title 3">
            <a:extLst>
              <a:ext uri="{FF2B5EF4-FFF2-40B4-BE49-F238E27FC236}">
                <a16:creationId xmlns:a16="http://schemas.microsoft.com/office/drawing/2014/main" id="{8E975E90-90E5-2A46-AD10-9E376CD18987}"/>
              </a:ext>
            </a:extLst>
          </p:cNvPr>
          <p:cNvSpPr>
            <a:spLocks noGrp="1"/>
          </p:cNvSpPr>
          <p:nvPr>
            <p:ph type="title"/>
          </p:nvPr>
        </p:nvSpPr>
        <p:spPr/>
        <p:txBody>
          <a:bodyPr/>
          <a:lstStyle/>
          <a:p>
            <a:r>
              <a:rPr lang="en-ZA" dirty="0"/>
              <a:t>Shor’s Algorithm in a Nutshell</a:t>
            </a:r>
            <a:endParaRPr lang="en-US" dirty="0"/>
          </a:p>
        </p:txBody>
      </p:sp>
      <mc:AlternateContent xmlns:mc="http://schemas.openxmlformats.org/markup-compatibility/2006" xmlns:a14="http://schemas.microsoft.com/office/drawing/2010/main">
        <mc:Choice Requires="a14">
          <p:graphicFrame>
            <p:nvGraphicFramePr>
              <p:cNvPr id="8" name="Diagram 7">
                <a:extLst>
                  <a:ext uri="{FF2B5EF4-FFF2-40B4-BE49-F238E27FC236}">
                    <a16:creationId xmlns:a16="http://schemas.microsoft.com/office/drawing/2014/main" id="{EBEDC466-88EE-C046-8EAC-DBFAB6177FCF}"/>
                  </a:ext>
                </a:extLst>
              </p:cNvPr>
              <p:cNvGraphicFramePr/>
              <p:nvPr>
                <p:extLst>
                  <p:ext uri="{D42A27DB-BD31-4B8C-83A1-F6EECF244321}">
                    <p14:modId xmlns:p14="http://schemas.microsoft.com/office/powerpoint/2010/main" val="3471902606"/>
                  </p:ext>
                </p:extLst>
              </p:nvPr>
            </p:nvGraphicFramePr>
            <p:xfrm>
              <a:off x="223934" y="928688"/>
              <a:ext cx="11968065" cy="59293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8" name="Diagram 7">
                <a:extLst>
                  <a:ext uri="{FF2B5EF4-FFF2-40B4-BE49-F238E27FC236}">
                    <a16:creationId xmlns:a16="http://schemas.microsoft.com/office/drawing/2014/main" id="{EBEDC466-88EE-C046-8EAC-DBFAB6177FCF}"/>
                  </a:ext>
                </a:extLst>
              </p:cNvPr>
              <p:cNvGraphicFramePr/>
              <p:nvPr>
                <p:extLst>
                  <p:ext uri="{D42A27DB-BD31-4B8C-83A1-F6EECF244321}">
                    <p14:modId xmlns:p14="http://schemas.microsoft.com/office/powerpoint/2010/main" val="3471902606"/>
                  </p:ext>
                </p:extLst>
              </p:nvPr>
            </p:nvGraphicFramePr>
            <p:xfrm>
              <a:off x="223934" y="928688"/>
              <a:ext cx="11968065" cy="59293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2621326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E9E10F-0935-2244-8FE6-CE4333D52810}"/>
              </a:ext>
            </a:extLst>
          </p:cNvPr>
          <p:cNvSpPr>
            <a:spLocks noGrp="1"/>
          </p:cNvSpPr>
          <p:nvPr>
            <p:ph type="sldNum" sz="quarter" idx="12"/>
          </p:nvPr>
        </p:nvSpPr>
        <p:spPr/>
        <p:txBody>
          <a:bodyPr/>
          <a:lstStyle/>
          <a:p>
            <a:fld id="{591A223C-FA10-BC46-A853-03BA373D023C}" type="slidenum">
              <a:rPr lang="en-US" smtClean="0"/>
              <a:t>38</a:t>
            </a:fld>
            <a:endParaRPr lang="en-US"/>
          </a:p>
        </p:txBody>
      </p:sp>
      <p:sp>
        <p:nvSpPr>
          <p:cNvPr id="3" name="Title 2">
            <a:extLst>
              <a:ext uri="{FF2B5EF4-FFF2-40B4-BE49-F238E27FC236}">
                <a16:creationId xmlns:a16="http://schemas.microsoft.com/office/drawing/2014/main" id="{F60A81ED-B1E9-1F4F-B3C9-04DC4FE0E14E}"/>
              </a:ext>
            </a:extLst>
          </p:cNvPr>
          <p:cNvSpPr>
            <a:spLocks noGrp="1"/>
          </p:cNvSpPr>
          <p:nvPr>
            <p:ph type="title"/>
          </p:nvPr>
        </p:nvSpPr>
        <p:spPr>
          <a:xfrm>
            <a:off x="0" y="0"/>
            <a:ext cx="12192000" cy="928688"/>
          </a:xfrm>
        </p:spPr>
        <p:txBody>
          <a:bodyPr/>
          <a:lstStyle/>
          <a:p>
            <a:r>
              <a:rPr lang="en-ZA" dirty="0"/>
              <a:t>From Period Finding to Factorization</a:t>
            </a:r>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751D7D6-2BBA-A14A-ADC3-F23A28F7BE61}"/>
                  </a:ext>
                </a:extLst>
              </p:cNvPr>
              <p:cNvSpPr/>
              <p:nvPr/>
            </p:nvSpPr>
            <p:spPr>
              <a:xfrm>
                <a:off x="2805927" y="1399206"/>
                <a:ext cx="61812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i="1">
                              <a:latin typeface="Cambria Math" panose="02040503050406030204" pitchFamily="18" charset="0"/>
                            </a:rPr>
                            <m:t>𝑎</m:t>
                          </m:r>
                        </m:e>
                        <m:sup>
                          <m:r>
                            <a:rPr lang="en-US" sz="2400" i="0">
                              <a:latin typeface="Cambria Math" panose="02040503050406030204" pitchFamily="18" charset="0"/>
                            </a:rPr>
                            <m:t>0</m:t>
                          </m:r>
                        </m:sup>
                      </m:sSup>
                      <m:r>
                        <m:rPr>
                          <m:sty m:val="p"/>
                        </m:rPr>
                        <a:rPr lang="en-US" sz="2400" b="0" i="0" smtClean="0">
                          <a:latin typeface="Cambria Math" panose="02040503050406030204" pitchFamily="18" charset="0"/>
                        </a:rPr>
                        <m:t>mod</m:t>
                      </m:r>
                      <m:r>
                        <a:rPr lang="en-US" sz="2400" b="0" i="1" smtClean="0">
                          <a:latin typeface="Cambria Math" panose="02040503050406030204" pitchFamily="18" charset="0"/>
                        </a:rPr>
                        <m:t> </m:t>
                      </m:r>
                      <m:r>
                        <a:rPr lang="en-US" sz="2400" b="0" i="1" smtClean="0">
                          <a:latin typeface="Cambria Math" panose="02040503050406030204" pitchFamily="18" charset="0"/>
                        </a:rPr>
                        <m:t>𝑁</m:t>
                      </m:r>
                      <m:r>
                        <a:rPr lang="en-US" sz="2400" i="0">
                          <a:latin typeface="Cambria Math" panose="02040503050406030204" pitchFamily="18" charset="0"/>
                        </a:rPr>
                        <m:t>,  </m:t>
                      </m:r>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r>
                            <a:rPr lang="en-US" sz="2400" i="0">
                              <a:latin typeface="Cambria Math" panose="02040503050406030204" pitchFamily="18" charset="0"/>
                            </a:rPr>
                            <m:t>1</m:t>
                          </m:r>
                        </m:sup>
                      </m:sSup>
                      <m:r>
                        <m:rPr>
                          <m:sty m:val="p"/>
                        </m:rPr>
                        <a:rPr lang="en-US" sz="2400">
                          <a:latin typeface="Cambria Math" panose="02040503050406030204" pitchFamily="18" charset="0"/>
                        </a:rPr>
                        <m:t>mod</m:t>
                      </m:r>
                      <m:r>
                        <a:rPr lang="en-US" sz="2400" i="1">
                          <a:latin typeface="Cambria Math" panose="02040503050406030204" pitchFamily="18" charset="0"/>
                        </a:rPr>
                        <m:t> </m:t>
                      </m:r>
                      <m:r>
                        <a:rPr lang="en-US" sz="2400" i="1">
                          <a:latin typeface="Cambria Math" panose="02040503050406030204" pitchFamily="18" charset="0"/>
                        </a:rPr>
                        <m:t>𝑁</m:t>
                      </m:r>
                      <m:r>
                        <a:rPr lang="en-US" sz="2400" i="0">
                          <a:latin typeface="Cambria Math" panose="02040503050406030204" pitchFamily="18" charset="0"/>
                        </a:rPr>
                        <m:t>,  </m:t>
                      </m:r>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r>
                            <a:rPr lang="en-US" sz="2400" i="0">
                              <a:latin typeface="Cambria Math" panose="02040503050406030204" pitchFamily="18" charset="0"/>
                            </a:rPr>
                            <m:t>2</m:t>
                          </m:r>
                        </m:sup>
                      </m:sSup>
                      <m:r>
                        <m:rPr>
                          <m:sty m:val="p"/>
                        </m:rPr>
                        <a:rPr lang="en-US" sz="2400">
                          <a:latin typeface="Cambria Math" panose="02040503050406030204" pitchFamily="18" charset="0"/>
                        </a:rPr>
                        <m:t>mod</m:t>
                      </m:r>
                      <m:r>
                        <a:rPr lang="en-US" sz="2400" i="1">
                          <a:latin typeface="Cambria Math" panose="02040503050406030204" pitchFamily="18" charset="0"/>
                        </a:rPr>
                        <m:t> </m:t>
                      </m:r>
                      <m:r>
                        <a:rPr lang="en-US" sz="2400" i="1">
                          <a:latin typeface="Cambria Math" panose="02040503050406030204" pitchFamily="18" charset="0"/>
                        </a:rPr>
                        <m:t>𝑁</m:t>
                      </m:r>
                      <m:r>
                        <a:rPr lang="en-US" sz="2400" i="0">
                          <a:latin typeface="Cambria Math" panose="02040503050406030204" pitchFamily="18" charset="0"/>
                        </a:rPr>
                        <m:t>,  ⋯</m:t>
                      </m:r>
                    </m:oMath>
                  </m:oMathPara>
                </a14:m>
                <a:endParaRPr lang="en-US" sz="2400" dirty="0"/>
              </a:p>
            </p:txBody>
          </p:sp>
        </mc:Choice>
        <mc:Fallback xmlns="">
          <p:sp>
            <p:nvSpPr>
              <p:cNvPr id="4" name="Rectangle 3">
                <a:extLst>
                  <a:ext uri="{FF2B5EF4-FFF2-40B4-BE49-F238E27FC236}">
                    <a16:creationId xmlns:a16="http://schemas.microsoft.com/office/drawing/2014/main" id="{4751D7D6-2BBA-A14A-ADC3-F23A28F7BE61}"/>
                  </a:ext>
                </a:extLst>
              </p:cNvPr>
              <p:cNvSpPr>
                <a:spLocks noRot="1" noChangeAspect="1" noMove="1" noResize="1" noEditPoints="1" noAdjustHandles="1" noChangeArrowheads="1" noChangeShapeType="1" noTextEdit="1"/>
              </p:cNvSpPr>
              <p:nvPr/>
            </p:nvSpPr>
            <p:spPr>
              <a:xfrm>
                <a:off x="2805927" y="1399206"/>
                <a:ext cx="6181244" cy="461665"/>
              </a:xfrm>
              <a:prstGeom prst="rect">
                <a:avLst/>
              </a:prstGeom>
              <a:blipFill>
                <a:blip r:embed="rId3"/>
                <a:stretch>
                  <a:fillRect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19EA3E8-26D4-7646-B610-EEE4E930ECD9}"/>
                  </a:ext>
                </a:extLst>
              </p:cNvPr>
              <p:cNvSpPr/>
              <p:nvPr/>
            </p:nvSpPr>
            <p:spPr>
              <a:xfrm>
                <a:off x="2510726" y="5791461"/>
                <a:ext cx="7840672" cy="695640"/>
              </a:xfrm>
              <a:prstGeom prst="rect">
                <a:avLst/>
              </a:prstGeom>
              <a:solidFill>
                <a:schemeClr val="accent2">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If</m:t>
                      </m:r>
                      <m:r>
                        <a:rPr lang="sr-Latn-RS" sz="2400" b="0" i="0" smtClean="0">
                          <a:latin typeface="Cambria Math" panose="02040503050406030204" pitchFamily="18" charset="0"/>
                        </a:rPr>
                        <m:t> </m:t>
                      </m:r>
                      <m:r>
                        <a:rPr lang="sr-Latn-RS" sz="2400" b="0" i="1" smtClean="0">
                          <a:latin typeface="Cambria Math" panose="02040503050406030204" pitchFamily="18" charset="0"/>
                        </a:rPr>
                        <m:t>𝑁</m:t>
                      </m:r>
                      <m:r>
                        <a:rPr lang="sr-Latn-RS" sz="2400" b="0" i="1" smtClean="0">
                          <a:latin typeface="Cambria Math" panose="02040503050406030204" pitchFamily="18" charset="0"/>
                        </a:rPr>
                        <m:t>=</m:t>
                      </m:r>
                      <m:r>
                        <a:rPr lang="sr-Latn-RS" sz="2400" b="0" i="1" smtClean="0">
                          <a:latin typeface="Cambria Math" panose="02040503050406030204" pitchFamily="18" charset="0"/>
                        </a:rPr>
                        <m:t>𝑝𝑞</m:t>
                      </m:r>
                      <m:r>
                        <a:rPr lang="sr-Latn-RS" sz="2400" b="0" i="1" smtClean="0">
                          <a:latin typeface="Cambria Math" panose="02040503050406030204" pitchFamily="18" charset="0"/>
                        </a:rPr>
                        <m:t> ⟶</m:t>
                      </m:r>
                      <m:m>
                        <m:mPr>
                          <m:plcHide m:val="on"/>
                          <m:mcs>
                            <m:mc>
                              <m:mcPr>
                                <m:count m:val="2"/>
                                <m:mcJc m:val="center"/>
                              </m:mcPr>
                            </m:mc>
                          </m:mcs>
                          <m:ctrlPr>
                            <a:rPr lang="en-US" sz="2400" i="1">
                              <a:latin typeface="Cambria Math" panose="02040503050406030204" pitchFamily="18" charset="0"/>
                            </a:rPr>
                          </m:ctrlPr>
                        </m:mPr>
                        <m:mr>
                          <m:e>
                            <m:r>
                              <a:rPr lang="en-US" sz="2400" b="1" i="1">
                                <a:latin typeface="Cambria Math" panose="02040503050406030204" pitchFamily="18" charset="0"/>
                              </a:rPr>
                              <m:t>𝒑</m:t>
                            </m:r>
                            <m:r>
                              <a:rPr lang="en-US" sz="2400" i="0">
                                <a:latin typeface="Cambria Math" panose="02040503050406030204" pitchFamily="18" charset="0"/>
                              </a:rPr>
                              <m:t>=</m:t>
                            </m:r>
                            <m:r>
                              <m:rPr>
                                <m:sty m:val="p"/>
                              </m:rPr>
                              <a:rPr lang="en-US" sz="2400" b="0" i="0" smtClean="0">
                                <a:latin typeface="Cambria Math" panose="02040503050406030204" pitchFamily="18" charset="0"/>
                              </a:rPr>
                              <m:t>gcd</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f>
                                      <m:fPr>
                                        <m:ctrlPr>
                                          <a:rPr lang="en-US" sz="2400" i="1">
                                            <a:latin typeface="Cambria Math" panose="02040503050406030204" pitchFamily="18" charset="0"/>
                                          </a:rPr>
                                        </m:ctrlPr>
                                      </m:fPr>
                                      <m:num>
                                        <m:r>
                                          <a:rPr lang="en-US" sz="2400" i="1">
                                            <a:latin typeface="Cambria Math" panose="02040503050406030204" pitchFamily="18" charset="0"/>
                                          </a:rPr>
                                          <m:t>𝑟</m:t>
                                        </m:r>
                                      </m:num>
                                      <m:den>
                                        <m:r>
                                          <a:rPr lang="en-US" sz="2400" i="0">
                                            <a:latin typeface="Cambria Math" panose="02040503050406030204" pitchFamily="18" charset="0"/>
                                          </a:rPr>
                                          <m:t>2</m:t>
                                        </m:r>
                                      </m:den>
                                    </m:f>
                                  </m:sup>
                                </m:sSup>
                                <m:r>
                                  <a:rPr lang="en-US" sz="2400" i="0">
                                    <a:latin typeface="Cambria Math" panose="02040503050406030204" pitchFamily="18" charset="0"/>
                                  </a:rPr>
                                  <m:t>+1,</m:t>
                                </m:r>
                                <m:r>
                                  <a:rPr lang="en-US" sz="2400" i="1">
                                    <a:latin typeface="Cambria Math" panose="02040503050406030204" pitchFamily="18" charset="0"/>
                                  </a:rPr>
                                  <m:t>𝑁</m:t>
                                </m:r>
                              </m:e>
                            </m:d>
                            <m:r>
                              <a:rPr lang="en-US" sz="2400" i="0">
                                <a:latin typeface="Cambria Math" panose="02040503050406030204" pitchFamily="18" charset="0"/>
                              </a:rPr>
                              <m:t>,</m:t>
                            </m:r>
                          </m:e>
                          <m:e>
                            <m:r>
                              <a:rPr lang="en-US" sz="2400" b="1" i="1">
                                <a:latin typeface="Cambria Math" panose="02040503050406030204" pitchFamily="18" charset="0"/>
                              </a:rPr>
                              <m:t>𝒒</m:t>
                            </m:r>
                            <m:r>
                              <a:rPr lang="en-US" sz="2400" i="0">
                                <a:latin typeface="Cambria Math" panose="02040503050406030204" pitchFamily="18" charset="0"/>
                              </a:rPr>
                              <m:t>=</m:t>
                            </m:r>
                            <m:r>
                              <m:rPr>
                                <m:sty m:val="p"/>
                              </m:rPr>
                              <a:rPr lang="en-US" sz="2400" b="0" i="0" smtClean="0">
                                <a:latin typeface="Cambria Math" panose="02040503050406030204" pitchFamily="18" charset="0"/>
                              </a:rPr>
                              <m:t>gcd</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f>
                                      <m:fPr>
                                        <m:ctrlPr>
                                          <a:rPr lang="en-US" sz="2400" i="1">
                                            <a:latin typeface="Cambria Math" panose="02040503050406030204" pitchFamily="18" charset="0"/>
                                          </a:rPr>
                                        </m:ctrlPr>
                                      </m:fPr>
                                      <m:num>
                                        <m:r>
                                          <a:rPr lang="en-US" sz="2400" i="1">
                                            <a:latin typeface="Cambria Math" panose="02040503050406030204" pitchFamily="18" charset="0"/>
                                          </a:rPr>
                                          <m:t>𝑟</m:t>
                                        </m:r>
                                      </m:num>
                                      <m:den>
                                        <m:r>
                                          <a:rPr lang="en-US" sz="2400" i="0">
                                            <a:latin typeface="Cambria Math" panose="02040503050406030204" pitchFamily="18" charset="0"/>
                                          </a:rPr>
                                          <m:t>2</m:t>
                                        </m:r>
                                      </m:den>
                                    </m:f>
                                  </m:sup>
                                </m:sSup>
                                <m:r>
                                  <a:rPr lang="en-US" sz="2400" i="0">
                                    <a:latin typeface="Cambria Math" panose="02040503050406030204" pitchFamily="18" charset="0"/>
                                  </a:rPr>
                                  <m:t>−1,</m:t>
                                </m:r>
                                <m:r>
                                  <a:rPr lang="en-US" sz="2400" i="1">
                                    <a:latin typeface="Cambria Math" panose="02040503050406030204" pitchFamily="18" charset="0"/>
                                  </a:rPr>
                                  <m:t>𝑁</m:t>
                                </m:r>
                              </m:e>
                            </m:d>
                          </m:e>
                        </m:mr>
                      </m:m>
                    </m:oMath>
                  </m:oMathPara>
                </a14:m>
                <a:endParaRPr lang="en-US" sz="2400" dirty="0"/>
              </a:p>
            </p:txBody>
          </p:sp>
        </mc:Choice>
        <mc:Fallback xmlns="">
          <p:sp>
            <p:nvSpPr>
              <p:cNvPr id="7" name="Rectangle 6">
                <a:extLst>
                  <a:ext uri="{FF2B5EF4-FFF2-40B4-BE49-F238E27FC236}">
                    <a16:creationId xmlns:a16="http://schemas.microsoft.com/office/drawing/2014/main" id="{319EA3E8-26D4-7646-B610-EEE4E930ECD9}"/>
                  </a:ext>
                </a:extLst>
              </p:cNvPr>
              <p:cNvSpPr>
                <a:spLocks noRot="1" noChangeAspect="1" noMove="1" noResize="1" noEditPoints="1" noAdjustHandles="1" noChangeArrowheads="1" noChangeShapeType="1" noTextEdit="1"/>
              </p:cNvSpPr>
              <p:nvPr/>
            </p:nvSpPr>
            <p:spPr>
              <a:xfrm>
                <a:off x="2510726" y="5791461"/>
                <a:ext cx="7840672" cy="695640"/>
              </a:xfrm>
              <a:prstGeom prst="rect">
                <a:avLst/>
              </a:prstGeom>
              <a:blipFill>
                <a:blip r:embed="rId5"/>
                <a:stretch>
                  <a:fillRect/>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897650FE-9513-F64A-81C3-DD0E287EE0F2}"/>
              </a:ext>
            </a:extLst>
          </p:cNvPr>
          <p:cNvGrpSpPr/>
          <p:nvPr/>
        </p:nvGrpSpPr>
        <p:grpSpPr>
          <a:xfrm>
            <a:off x="1286616" y="3031231"/>
            <a:ext cx="7649163" cy="1966876"/>
            <a:chOff x="1286616" y="3031231"/>
            <a:chExt cx="7649163" cy="1966876"/>
          </a:xfrm>
        </p:grpSpPr>
        <p:grpSp>
          <p:nvGrpSpPr>
            <p:cNvPr id="9" name="Group 8">
              <a:extLst>
                <a:ext uri="{FF2B5EF4-FFF2-40B4-BE49-F238E27FC236}">
                  <a16:creationId xmlns:a16="http://schemas.microsoft.com/office/drawing/2014/main" id="{6CD3C1FB-3C3B-1A40-B0F5-927FEB58BBCE}"/>
                </a:ext>
              </a:extLst>
            </p:cNvPr>
            <p:cNvGrpSpPr/>
            <p:nvPr/>
          </p:nvGrpSpPr>
          <p:grpSpPr>
            <a:xfrm>
              <a:off x="1286616" y="3031231"/>
              <a:ext cx="6980019" cy="1966876"/>
              <a:chOff x="1286616" y="3031231"/>
              <a:chExt cx="6980019" cy="1966876"/>
            </a:xfrm>
          </p:grpSpPr>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915F4E7-BFE2-914E-8579-EDA2329C29E3}"/>
                      </a:ext>
                    </a:extLst>
                  </p:cNvPr>
                  <p:cNvSpPr/>
                  <p:nvPr/>
                </p:nvSpPr>
                <p:spPr>
                  <a:xfrm>
                    <a:off x="3462756" y="3360094"/>
                    <a:ext cx="4803879" cy="16380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3"/>
                                    <m:mcJc m:val="center"/>
                                  </m:mcPr>
                                </m:mc>
                              </m:mcs>
                              <m:ctrlPr>
                                <a:rPr lang="en-US" sz="2400" i="1" smtClean="0">
                                  <a:latin typeface="Cambria Math" panose="02040503050406030204" pitchFamily="18" charset="0"/>
                                </a:rPr>
                              </m:ctrlPr>
                            </m:mPr>
                            <m:mr>
                              <m:e>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𝑟</m:t>
                                    </m:r>
                                  </m:sup>
                                </m:sSup>
                              </m:e>
                              <m:e>
                                <m:r>
                                  <a:rPr lang="en-US" sz="2400" i="0">
                                    <a:latin typeface="Cambria Math" panose="02040503050406030204" pitchFamily="18" charset="0"/>
                                  </a:rPr>
                                  <m:t>≡</m:t>
                                </m:r>
                              </m:e>
                              <m:e>
                                <m:r>
                                  <a:rPr lang="en-US" sz="2400" i="0">
                                    <a:latin typeface="Cambria Math" panose="02040503050406030204" pitchFamily="18" charset="0"/>
                                  </a:rPr>
                                  <m:t>1</m:t>
                                </m:r>
                                <m:d>
                                  <m:dPr>
                                    <m:ctrlPr>
                                      <a:rPr lang="en-US" sz="2400" i="1">
                                        <a:latin typeface="Cambria Math" panose="02040503050406030204" pitchFamily="18" charset="0"/>
                                      </a:rPr>
                                    </m:ctrlPr>
                                  </m:dPr>
                                  <m:e>
                                    <m:r>
                                      <m:rPr>
                                        <m:sty m:val="p"/>
                                      </m:rPr>
                                      <a:rPr lang="en-US" sz="2400" i="0">
                                        <a:latin typeface="Cambria Math" panose="02040503050406030204" pitchFamily="18" charset="0"/>
                                      </a:rPr>
                                      <m:t>mod</m:t>
                                    </m:r>
                                    <m:r>
                                      <a:rPr lang="en-US" sz="2400" i="0">
                                        <a:latin typeface="Cambria Math" panose="02040503050406030204" pitchFamily="18" charset="0"/>
                                      </a:rPr>
                                      <m:t> </m:t>
                                    </m:r>
                                    <m:r>
                                      <a:rPr lang="en-US" sz="2400" i="1">
                                        <a:latin typeface="Cambria Math" panose="02040503050406030204" pitchFamily="18" charset="0"/>
                                      </a:rPr>
                                      <m:t>𝑁</m:t>
                                    </m:r>
                                  </m:e>
                                </m:d>
                              </m:e>
                            </m:mr>
                            <m:mr>
                              <m:e>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𝑟</m:t>
                                    </m:r>
                                  </m:sup>
                                </m:sSup>
                                <m:r>
                                  <a:rPr lang="en-US" sz="2400" i="0">
                                    <a:latin typeface="Cambria Math" panose="02040503050406030204" pitchFamily="18" charset="0"/>
                                  </a:rPr>
                                  <m:t>−1</m:t>
                                </m:r>
                              </m:e>
                              <m:e>
                                <m:r>
                                  <a:rPr lang="en-US" sz="2400" b="0" i="0" smtClean="0">
                                    <a:latin typeface="Cambria Math" panose="02040503050406030204" pitchFamily="18" charset="0"/>
                                  </a:rPr>
                                  <m:t>=</m:t>
                                </m:r>
                              </m:e>
                              <m:e>
                                <m:r>
                                  <a:rPr lang="en-US" sz="2400" b="0" i="1" smtClean="0">
                                    <a:latin typeface="Cambria Math" panose="02040503050406030204" pitchFamily="18" charset="0"/>
                                  </a:rPr>
                                  <m:t>𝑘𝑁</m:t>
                                </m:r>
                                <m:r>
                                  <a:rPr lang="en-US" sz="2400" b="0" i="1" smtClean="0">
                                    <a:latin typeface="Cambria Math" panose="02040503050406030204" pitchFamily="18" charset="0"/>
                                  </a:rPr>
                                  <m:t>,</m:t>
                                </m:r>
                              </m:e>
                            </m:mr>
                            <m:m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f>
                                          <m:fPr>
                                            <m:ctrlPr>
                                              <a:rPr lang="en-US" sz="2400" i="1">
                                                <a:latin typeface="Cambria Math" panose="02040503050406030204" pitchFamily="18" charset="0"/>
                                              </a:rPr>
                                            </m:ctrlPr>
                                          </m:fPr>
                                          <m:num>
                                            <m:r>
                                              <a:rPr lang="en-US" sz="2400" i="1">
                                                <a:latin typeface="Cambria Math" panose="02040503050406030204" pitchFamily="18" charset="0"/>
                                              </a:rPr>
                                              <m:t>𝑟</m:t>
                                            </m:r>
                                          </m:num>
                                          <m:den>
                                            <m:r>
                                              <a:rPr lang="en-US" sz="2400" i="0">
                                                <a:latin typeface="Cambria Math" panose="02040503050406030204" pitchFamily="18" charset="0"/>
                                              </a:rPr>
                                              <m:t>2</m:t>
                                            </m:r>
                                          </m:den>
                                        </m:f>
                                      </m:sup>
                                    </m:sSup>
                                    <m:r>
                                      <a:rPr lang="en-US" sz="2400" i="0">
                                        <a:latin typeface="Cambria Math" panose="02040503050406030204" pitchFamily="18" charset="0"/>
                                      </a:rPr>
                                      <m:t>+1</m:t>
                                    </m:r>
                                  </m:e>
                                </m:d>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f>
                                          <m:fPr>
                                            <m:ctrlPr>
                                              <a:rPr lang="en-US" sz="2400" i="1">
                                                <a:latin typeface="Cambria Math" panose="02040503050406030204" pitchFamily="18" charset="0"/>
                                              </a:rPr>
                                            </m:ctrlPr>
                                          </m:fPr>
                                          <m:num>
                                            <m:r>
                                              <a:rPr lang="en-US" sz="2400" i="1">
                                                <a:latin typeface="Cambria Math" panose="02040503050406030204" pitchFamily="18" charset="0"/>
                                              </a:rPr>
                                              <m:t>𝑟</m:t>
                                            </m:r>
                                          </m:num>
                                          <m:den>
                                            <m:r>
                                              <a:rPr lang="en-US" sz="2400" i="0">
                                                <a:latin typeface="Cambria Math" panose="02040503050406030204" pitchFamily="18" charset="0"/>
                                              </a:rPr>
                                              <m:t>2</m:t>
                                            </m:r>
                                          </m:den>
                                        </m:f>
                                      </m:sup>
                                    </m:sSup>
                                    <m:r>
                                      <a:rPr lang="en-US" sz="2400" i="0">
                                        <a:latin typeface="Cambria Math" panose="02040503050406030204" pitchFamily="18" charset="0"/>
                                      </a:rPr>
                                      <m:t>−1</m:t>
                                    </m:r>
                                  </m:e>
                                </m:d>
                              </m:e>
                              <m:e>
                                <m:r>
                                  <a:rPr lang="en-US" sz="2400" b="0" i="0" smtClean="0">
                                    <a:latin typeface="Cambria Math" panose="02040503050406030204" pitchFamily="18" charset="0"/>
                                  </a:rPr>
                                  <m:t>=</m:t>
                                </m:r>
                              </m:e>
                              <m:e>
                                <m:r>
                                  <a:rPr lang="en-US" sz="2400" b="0" i="1" smtClean="0">
                                    <a:latin typeface="Cambria Math" panose="02040503050406030204" pitchFamily="18" charset="0"/>
                                  </a:rPr>
                                  <m:t>𝑘𝑁</m:t>
                                </m:r>
                                <m:r>
                                  <a:rPr lang="en-US" sz="2400" i="0">
                                    <a:latin typeface="Cambria Math" panose="02040503050406030204" pitchFamily="18" charset="0"/>
                                  </a:rPr>
                                  <m:t> </m:t>
                                </m:r>
                              </m:e>
                            </m:mr>
                            <m:mr>
                              <m:e/>
                              <m:e/>
                              <m:e>
                                <m:r>
                                  <a:rPr lang="en-US" sz="2400" i="1" smtClean="0">
                                    <a:latin typeface="Cambria Math" panose="02040503050406030204" pitchFamily="18" charset="0"/>
                                  </a:rPr>
                                  <m:t> </m:t>
                                </m:r>
                              </m:e>
                            </m:mr>
                          </m:m>
                        </m:oMath>
                      </m:oMathPara>
                    </a14:m>
                    <a:endParaRPr lang="en-US" sz="2400" dirty="0"/>
                  </a:p>
                </p:txBody>
              </p:sp>
            </mc:Choice>
            <mc:Fallback xmlns="">
              <p:sp>
                <p:nvSpPr>
                  <p:cNvPr id="6" name="Rectangle 5">
                    <a:extLst>
                      <a:ext uri="{FF2B5EF4-FFF2-40B4-BE49-F238E27FC236}">
                        <a16:creationId xmlns:a16="http://schemas.microsoft.com/office/drawing/2014/main" id="{5915F4E7-BFE2-914E-8579-EDA2329C29E3}"/>
                      </a:ext>
                    </a:extLst>
                  </p:cNvPr>
                  <p:cNvSpPr>
                    <a:spLocks noRot="1" noChangeAspect="1" noMove="1" noResize="1" noEditPoints="1" noAdjustHandles="1" noChangeArrowheads="1" noChangeShapeType="1" noTextEdit="1"/>
                  </p:cNvSpPr>
                  <p:nvPr/>
                </p:nvSpPr>
                <p:spPr>
                  <a:xfrm>
                    <a:off x="3462756" y="3360094"/>
                    <a:ext cx="4803879" cy="1638013"/>
                  </a:xfrm>
                  <a:prstGeom prst="rect">
                    <a:avLst/>
                  </a:prstGeom>
                  <a:blipFill>
                    <a:blip r:embed="rId6"/>
                    <a:stretch>
                      <a:fillRect b="-9231"/>
                    </a:stretch>
                  </a:blipFill>
                </p:spPr>
                <p:txBody>
                  <a:bodyPr/>
                  <a:lstStyle/>
                  <a:p>
                    <a:r>
                      <a:rPr lang="en-US">
                        <a:noFill/>
                      </a:rPr>
                      <a:t> </a:t>
                    </a:r>
                  </a:p>
                </p:txBody>
              </p:sp>
            </mc:Fallback>
          </mc:AlternateContent>
          <p:sp>
            <p:nvSpPr>
              <p:cNvPr id="8" name="Right Brace 7">
                <a:extLst>
                  <a:ext uri="{FF2B5EF4-FFF2-40B4-BE49-F238E27FC236}">
                    <a16:creationId xmlns:a16="http://schemas.microsoft.com/office/drawing/2014/main" id="{944C7B62-0C90-A447-BAC9-061FF3911E8D}"/>
                  </a:ext>
                </a:extLst>
              </p:cNvPr>
              <p:cNvSpPr/>
              <p:nvPr/>
            </p:nvSpPr>
            <p:spPr>
              <a:xfrm rot="5400000">
                <a:off x="3948138" y="369709"/>
                <a:ext cx="396050" cy="5719094"/>
              </a:xfrm>
              <a:prstGeom prst="rightBrace">
                <a:avLst>
                  <a:gd name="adj1" fmla="val 49074"/>
                  <a:gd name="adj2" fmla="val 4016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7710A64B-1123-4A45-B217-736D474FC912}"/>
                    </a:ext>
                  </a:extLst>
                </p:cNvPr>
                <p:cNvSpPr/>
                <p:nvPr/>
              </p:nvSpPr>
              <p:spPr>
                <a:xfrm>
                  <a:off x="7918706" y="3720425"/>
                  <a:ext cx="101707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𝑘</m:t>
                        </m:r>
                        <m:r>
                          <a:rPr lang="en-US" sz="2400">
                            <a:latin typeface="Cambria Math" panose="02040503050406030204" pitchFamily="18" charset="0"/>
                          </a:rPr>
                          <m:t>∈</m:t>
                        </m:r>
                        <m:r>
                          <a:rPr lang="en-US" sz="2400">
                            <a:latin typeface="Cambria Math" panose="02040503050406030204" pitchFamily="18" charset="0"/>
                          </a:rPr>
                          <m:t>ℕ</m:t>
                        </m:r>
                      </m:oMath>
                    </m:oMathPara>
                  </a14:m>
                  <a:endParaRPr lang="en-US" sz="2400" dirty="0"/>
                </a:p>
              </p:txBody>
            </p:sp>
          </mc:Choice>
          <mc:Fallback xmlns="">
            <p:sp>
              <p:nvSpPr>
                <p:cNvPr id="10" name="Rectangle 9">
                  <a:extLst>
                    <a:ext uri="{FF2B5EF4-FFF2-40B4-BE49-F238E27FC236}">
                      <a16:creationId xmlns:a16="http://schemas.microsoft.com/office/drawing/2014/main" id="{7710A64B-1123-4A45-B217-736D474FC912}"/>
                    </a:ext>
                  </a:extLst>
                </p:cNvPr>
                <p:cNvSpPr>
                  <a:spLocks noRot="1" noChangeAspect="1" noMove="1" noResize="1" noEditPoints="1" noAdjustHandles="1" noChangeArrowheads="1" noChangeShapeType="1" noTextEdit="1"/>
                </p:cNvSpPr>
                <p:nvPr/>
              </p:nvSpPr>
              <p:spPr>
                <a:xfrm>
                  <a:off x="7918706" y="3720425"/>
                  <a:ext cx="1017073" cy="461665"/>
                </a:xfrm>
                <a:prstGeom prst="rect">
                  <a:avLst/>
                </a:prstGeom>
                <a:blipFill>
                  <a:blip r:embed="rId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DDCDEC2F-BB66-2B47-8BFB-EF20CBAA11DF}"/>
                  </a:ext>
                </a:extLst>
              </p:cNvPr>
              <p:cNvGraphicFramePr>
                <a:graphicFrameLocks noGrp="1"/>
              </p:cNvGraphicFramePr>
              <p:nvPr>
                <p:extLst>
                  <p:ext uri="{D42A27DB-BD31-4B8C-83A1-F6EECF244321}">
                    <p14:modId xmlns:p14="http://schemas.microsoft.com/office/powerpoint/2010/main" val="4195511539"/>
                  </p:ext>
                </p:extLst>
              </p:nvPr>
            </p:nvGraphicFramePr>
            <p:xfrm>
              <a:off x="309489" y="2045476"/>
              <a:ext cx="11619912" cy="918528"/>
            </p:xfrm>
            <a:graphic>
              <a:graphicData uri="http://schemas.openxmlformats.org/drawingml/2006/table">
                <a:tbl>
                  <a:tblPr firstRow="1" bandRow="1">
                    <a:tableStyleId>{D27102A9-8310-4765-A935-A1911B00CA55}</a:tableStyleId>
                  </a:tblPr>
                  <a:tblGrid>
                    <a:gridCol w="1936652">
                      <a:extLst>
                        <a:ext uri="{9D8B030D-6E8A-4147-A177-3AD203B41FA5}">
                          <a16:colId xmlns:a16="http://schemas.microsoft.com/office/drawing/2014/main" val="249392229"/>
                        </a:ext>
                      </a:extLst>
                    </a:gridCol>
                    <a:gridCol w="1936652">
                      <a:extLst>
                        <a:ext uri="{9D8B030D-6E8A-4147-A177-3AD203B41FA5}">
                          <a16:colId xmlns:a16="http://schemas.microsoft.com/office/drawing/2014/main" val="3648293235"/>
                        </a:ext>
                      </a:extLst>
                    </a:gridCol>
                    <a:gridCol w="1936652">
                      <a:extLst>
                        <a:ext uri="{9D8B030D-6E8A-4147-A177-3AD203B41FA5}">
                          <a16:colId xmlns:a16="http://schemas.microsoft.com/office/drawing/2014/main" val="2535071941"/>
                        </a:ext>
                      </a:extLst>
                    </a:gridCol>
                    <a:gridCol w="1936652">
                      <a:extLst>
                        <a:ext uri="{9D8B030D-6E8A-4147-A177-3AD203B41FA5}">
                          <a16:colId xmlns:a16="http://schemas.microsoft.com/office/drawing/2014/main" val="190601922"/>
                        </a:ext>
                      </a:extLst>
                    </a:gridCol>
                    <a:gridCol w="1936652">
                      <a:extLst>
                        <a:ext uri="{9D8B030D-6E8A-4147-A177-3AD203B41FA5}">
                          <a16:colId xmlns:a16="http://schemas.microsoft.com/office/drawing/2014/main" val="2172190644"/>
                        </a:ext>
                      </a:extLst>
                    </a:gridCol>
                    <a:gridCol w="1936652">
                      <a:extLst>
                        <a:ext uri="{9D8B030D-6E8A-4147-A177-3AD203B41FA5}">
                          <a16:colId xmlns:a16="http://schemas.microsoft.com/office/drawing/2014/main" val="629154471"/>
                        </a:ext>
                      </a:extLst>
                    </a:gridCol>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ZA" sz="2400" b="0" i="1" kern="1200" smtClean="0">
                                        <a:effectLst/>
                                        <a:latin typeface="Cambria Math" panose="02040503050406030204" pitchFamily="18" charset="0"/>
                                      </a:rPr>
                                    </m:ctrlPr>
                                  </m:sSupPr>
                                  <m:e>
                                    <m:r>
                                      <a:rPr lang="sr-Latn-RS" sz="2400" b="0" i="1" kern="1200" smtClean="0">
                                        <a:effectLst/>
                                        <a:latin typeface="Cambria Math" panose="02040503050406030204" pitchFamily="18" charset="0"/>
                                      </a:rPr>
                                      <m:t>7</m:t>
                                    </m:r>
                                  </m:e>
                                  <m:sup>
                                    <m:r>
                                      <a:rPr lang="sr-Latn-RS" sz="2400" b="0" i="1" kern="1200" smtClean="0">
                                        <a:effectLst/>
                                        <a:latin typeface="Cambria Math" panose="02040503050406030204" pitchFamily="18" charset="0"/>
                                      </a:rPr>
                                      <m:t>0</m:t>
                                    </m:r>
                                  </m:sup>
                                </m:sSup>
                                <m:r>
                                  <m:rPr>
                                    <m:sty m:val="p"/>
                                  </m:rPr>
                                  <a:rPr lang="en-US" sz="2400" b="0" i="0" smtClean="0">
                                    <a:latin typeface="Cambria Math" panose="02040503050406030204" pitchFamily="18" charset="0"/>
                                  </a:rPr>
                                  <m:t>mod</m:t>
                                </m:r>
                                <m:r>
                                  <a:rPr lang="en-US" sz="2400" b="0" i="1" smtClean="0">
                                    <a:latin typeface="Cambria Math" panose="02040503050406030204" pitchFamily="18" charset="0"/>
                                  </a:rPr>
                                  <m:t> 15</m:t>
                                </m:r>
                              </m:oMath>
                            </m:oMathPara>
                          </a14:m>
                          <a:endParaRPr lang="en-US" sz="2400" b="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ZA" sz="2400" b="0" i="1" kern="1200" smtClean="0">
                                        <a:effectLst/>
                                        <a:latin typeface="Cambria Math" panose="02040503050406030204" pitchFamily="18" charset="0"/>
                                      </a:rPr>
                                    </m:ctrlPr>
                                  </m:sSupPr>
                                  <m:e>
                                    <m:r>
                                      <a:rPr lang="sr-Latn-RS" sz="2400" b="0" i="1" kern="1200" smtClean="0">
                                        <a:effectLst/>
                                        <a:latin typeface="Cambria Math" panose="02040503050406030204" pitchFamily="18" charset="0"/>
                                      </a:rPr>
                                      <m:t>7</m:t>
                                    </m:r>
                                  </m:e>
                                  <m:sup>
                                    <m:r>
                                      <a:rPr lang="sr-Latn-RS" sz="2400" b="0" i="1" kern="1200" smtClean="0">
                                        <a:effectLst/>
                                        <a:latin typeface="Cambria Math" panose="02040503050406030204" pitchFamily="18" charset="0"/>
                                      </a:rPr>
                                      <m:t>1</m:t>
                                    </m:r>
                                  </m:sup>
                                </m:sSup>
                                <m:r>
                                  <m:rPr>
                                    <m:sty m:val="p"/>
                                  </m:rPr>
                                  <a:rPr lang="en-US" sz="2400" b="0" i="0" smtClean="0">
                                    <a:latin typeface="Cambria Math" panose="02040503050406030204" pitchFamily="18" charset="0"/>
                                  </a:rPr>
                                  <m:t>mod</m:t>
                                </m:r>
                                <m:r>
                                  <a:rPr lang="en-US" sz="2400" b="0" i="1" smtClean="0">
                                    <a:latin typeface="Cambria Math" panose="02040503050406030204" pitchFamily="18" charset="0"/>
                                  </a:rPr>
                                  <m:t> 15</m:t>
                                </m:r>
                              </m:oMath>
                            </m:oMathPara>
                          </a14:m>
                          <a:endParaRPr lang="en-US" sz="2400" b="0" dirty="0"/>
                        </a:p>
                      </a:txBody>
                      <a:tcPr/>
                    </a:tc>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sSup>
                                  <m:sSupPr>
                                    <m:ctrlPr>
                                      <a:rPr lang="en-ZA" sz="2400" b="0" i="1" smtClean="0">
                                        <a:effectLst/>
                                        <a:latin typeface="Cambria Math" panose="02040503050406030204" pitchFamily="18" charset="0"/>
                                      </a:rPr>
                                    </m:ctrlPr>
                                  </m:sSupPr>
                                  <m:e>
                                    <m:r>
                                      <a:rPr lang="sr-Latn-RS" sz="2400" b="0" i="1" smtClean="0">
                                        <a:effectLst/>
                                        <a:latin typeface="Cambria Math" panose="02040503050406030204" pitchFamily="18" charset="0"/>
                                      </a:rPr>
                                      <m:t>7</m:t>
                                    </m:r>
                                  </m:e>
                                  <m:sup>
                                    <m:r>
                                      <a:rPr lang="sr-Latn-RS" sz="2400" b="0" i="1" smtClean="0">
                                        <a:effectLst/>
                                        <a:latin typeface="Cambria Math" panose="02040503050406030204" pitchFamily="18" charset="0"/>
                                      </a:rPr>
                                      <m:t>2</m:t>
                                    </m:r>
                                  </m:sup>
                                </m:sSup>
                                <m:r>
                                  <m:rPr>
                                    <m:sty m:val="p"/>
                                  </m:rPr>
                                  <a:rPr lang="en-US" sz="2400" b="0" i="0" smtClean="0">
                                    <a:latin typeface="Cambria Math" panose="02040503050406030204" pitchFamily="18" charset="0"/>
                                  </a:rPr>
                                  <m:t>mod</m:t>
                                </m:r>
                                <m:r>
                                  <a:rPr lang="en-US" sz="2400" b="0" i="1" smtClean="0">
                                    <a:latin typeface="Cambria Math" panose="02040503050406030204" pitchFamily="18" charset="0"/>
                                  </a:rPr>
                                  <m:t> 15</m:t>
                                </m:r>
                              </m:oMath>
                            </m:oMathPara>
                          </a14:m>
                          <a:endParaRPr lang="en-ZA" sz="24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sSup>
                                  <m:sSupPr>
                                    <m:ctrlPr>
                                      <a:rPr lang="en-ZA" sz="2400" b="0" i="1" smtClean="0">
                                        <a:effectLst/>
                                        <a:latin typeface="Cambria Math" panose="02040503050406030204" pitchFamily="18" charset="0"/>
                                      </a:rPr>
                                    </m:ctrlPr>
                                  </m:sSupPr>
                                  <m:e>
                                    <m:r>
                                      <a:rPr lang="sr-Latn-RS" sz="2400" b="0" i="1" smtClean="0">
                                        <a:effectLst/>
                                        <a:latin typeface="Cambria Math" panose="02040503050406030204" pitchFamily="18" charset="0"/>
                                      </a:rPr>
                                      <m:t>7</m:t>
                                    </m:r>
                                  </m:e>
                                  <m:sup>
                                    <m:r>
                                      <a:rPr lang="sr-Latn-RS" sz="2400" b="0" i="1" smtClean="0">
                                        <a:effectLst/>
                                        <a:latin typeface="Cambria Math" panose="02040503050406030204" pitchFamily="18" charset="0"/>
                                      </a:rPr>
                                      <m:t>3</m:t>
                                    </m:r>
                                  </m:sup>
                                </m:sSup>
                                <m:r>
                                  <m:rPr>
                                    <m:sty m:val="p"/>
                                  </m:rPr>
                                  <a:rPr lang="en-US" sz="2400" b="0" i="0" smtClean="0">
                                    <a:latin typeface="Cambria Math" panose="02040503050406030204" pitchFamily="18" charset="0"/>
                                  </a:rPr>
                                  <m:t>mod</m:t>
                                </m:r>
                                <m:r>
                                  <a:rPr lang="en-US" sz="2400" b="0" i="1" smtClean="0">
                                    <a:latin typeface="Cambria Math" panose="02040503050406030204" pitchFamily="18" charset="0"/>
                                  </a:rPr>
                                  <m:t> 15</m:t>
                                </m:r>
                              </m:oMath>
                            </m:oMathPara>
                          </a14:m>
                          <a:endParaRPr lang="en-ZA" sz="24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sSup>
                                  <m:sSupPr>
                                    <m:ctrlPr>
                                      <a:rPr lang="en-ZA" sz="2400" b="0" i="1" kern="1200" smtClean="0">
                                        <a:effectLst/>
                                        <a:latin typeface="Cambria Math" panose="02040503050406030204" pitchFamily="18" charset="0"/>
                                      </a:rPr>
                                    </m:ctrlPr>
                                  </m:sSupPr>
                                  <m:e>
                                    <m:r>
                                      <a:rPr lang="sr-Latn-RS" sz="2400" b="0" i="1" kern="1200" smtClean="0">
                                        <a:effectLst/>
                                        <a:latin typeface="Cambria Math" panose="02040503050406030204" pitchFamily="18" charset="0"/>
                                      </a:rPr>
                                      <m:t>7</m:t>
                                    </m:r>
                                  </m:e>
                                  <m:sup>
                                    <m:r>
                                      <a:rPr lang="sr-Latn-RS" sz="2400" b="0" i="1" kern="1200" smtClean="0">
                                        <a:effectLst/>
                                        <a:latin typeface="Cambria Math" panose="02040503050406030204" pitchFamily="18" charset="0"/>
                                      </a:rPr>
                                      <m:t>4</m:t>
                                    </m:r>
                                  </m:sup>
                                </m:sSup>
                                <m:r>
                                  <m:rPr>
                                    <m:sty m:val="p"/>
                                  </m:rPr>
                                  <a:rPr lang="en-US" sz="2400" b="0" i="0" smtClean="0">
                                    <a:latin typeface="Cambria Math" panose="02040503050406030204" pitchFamily="18" charset="0"/>
                                  </a:rPr>
                                  <m:t>mod</m:t>
                                </m:r>
                                <m:r>
                                  <a:rPr lang="en-US" sz="2400" b="0" i="1" smtClean="0">
                                    <a:latin typeface="Cambria Math" panose="02040503050406030204" pitchFamily="18" charset="0"/>
                                  </a:rPr>
                                  <m:t> 15</m:t>
                                </m:r>
                              </m:oMath>
                            </m:oMathPara>
                          </a14:m>
                          <a:endParaRPr lang="en-ZA" sz="24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p>
                                  <m:sSupPr>
                                    <m:ctrlPr>
                                      <a:rPr lang="en-ZA" sz="2400" b="0" i="1" kern="1200" smtClean="0">
                                        <a:effectLst/>
                                        <a:latin typeface="Cambria Math" panose="02040503050406030204" pitchFamily="18" charset="0"/>
                                      </a:rPr>
                                    </m:ctrlPr>
                                  </m:sSupPr>
                                  <m:e>
                                    <m:r>
                                      <a:rPr lang="sr-Latn-RS" sz="2400" b="0" i="1" kern="1200" smtClean="0">
                                        <a:effectLst/>
                                        <a:latin typeface="Cambria Math" panose="02040503050406030204" pitchFamily="18" charset="0"/>
                                      </a:rPr>
                                      <m:t>7</m:t>
                                    </m:r>
                                  </m:e>
                                  <m:sup>
                                    <m:r>
                                      <a:rPr lang="sr-Latn-RS" sz="2400" b="0" i="1" kern="1200" smtClean="0">
                                        <a:effectLst/>
                                        <a:latin typeface="Cambria Math" panose="02040503050406030204" pitchFamily="18" charset="0"/>
                                      </a:rPr>
                                      <m:t>5</m:t>
                                    </m:r>
                                  </m:sup>
                                </m:sSup>
                                <m:r>
                                  <m:rPr>
                                    <m:sty m:val="p"/>
                                  </m:rPr>
                                  <a:rPr lang="en-US" sz="2400" b="0" i="0" smtClean="0">
                                    <a:latin typeface="Cambria Math" panose="02040503050406030204" pitchFamily="18" charset="0"/>
                                  </a:rPr>
                                  <m:t>mod</m:t>
                                </m:r>
                                <m:r>
                                  <a:rPr lang="en-US" sz="2400" b="0" i="1" smtClean="0">
                                    <a:latin typeface="Cambria Math" panose="02040503050406030204" pitchFamily="18" charset="0"/>
                                  </a:rPr>
                                  <m:t> 15</m:t>
                                </m:r>
                              </m:oMath>
                            </m:oMathPara>
                          </a14:m>
                          <a:endParaRPr lang="en-US" sz="2400" b="0" dirty="0"/>
                        </a:p>
                      </a:txBody>
                      <a:tcPr/>
                    </a:tc>
                    <a:extLst>
                      <a:ext uri="{0D108BD9-81ED-4DB2-BD59-A6C34878D82A}">
                        <a16:rowId xmlns:a16="http://schemas.microsoft.com/office/drawing/2014/main" val="2974454753"/>
                      </a:ext>
                    </a:extLst>
                  </a:tr>
                  <a:tr h="370840">
                    <a:tc>
                      <a:txBody>
                        <a:bodyPr/>
                        <a:lstStyle/>
                        <a:p>
                          <a:pPr algn="ctr"/>
                          <a:r>
                            <a:rPr lang="en-US" sz="2400" b="1" dirty="0"/>
                            <a:t>1</a:t>
                          </a:r>
                        </a:p>
                      </a:txBody>
                      <a:tcPr/>
                    </a:tc>
                    <a:tc>
                      <a:txBody>
                        <a:bodyPr/>
                        <a:lstStyle/>
                        <a:p>
                          <a:pPr algn="ctr"/>
                          <a:r>
                            <a:rPr lang="en-US" sz="2400" b="0" dirty="0"/>
                            <a:t>7</a:t>
                          </a:r>
                        </a:p>
                      </a:txBody>
                      <a:tcPr/>
                    </a:tc>
                    <a:tc>
                      <a:txBody>
                        <a:bodyPr/>
                        <a:lstStyle/>
                        <a:p>
                          <a:pPr algn="ctr"/>
                          <a:r>
                            <a:rPr lang="en-US" sz="2400" b="0" dirty="0"/>
                            <a:t>4</a:t>
                          </a:r>
                        </a:p>
                      </a:txBody>
                      <a:tcPr/>
                    </a:tc>
                    <a:tc>
                      <a:txBody>
                        <a:bodyPr/>
                        <a:lstStyle/>
                        <a:p>
                          <a:pPr algn="ctr"/>
                          <a:r>
                            <a:rPr lang="en-US" sz="2400" b="0" dirty="0"/>
                            <a:t>13</a:t>
                          </a:r>
                        </a:p>
                      </a:txBody>
                      <a:tcPr/>
                    </a:tc>
                    <a:tc>
                      <a:txBody>
                        <a:bodyPr/>
                        <a:lstStyle/>
                        <a:p>
                          <a:pPr algn="ctr"/>
                          <a:r>
                            <a:rPr lang="en-US" sz="2400" b="1" dirty="0"/>
                            <a:t>1</a:t>
                          </a:r>
                        </a:p>
                      </a:txBody>
                      <a:tcPr/>
                    </a:tc>
                    <a:tc>
                      <a:txBody>
                        <a:bodyPr/>
                        <a:lstStyle/>
                        <a:p>
                          <a:pPr algn="ctr"/>
                          <a:r>
                            <a:rPr lang="en-US" sz="2400" b="0" dirty="0"/>
                            <a:t>7</a:t>
                          </a:r>
                        </a:p>
                      </a:txBody>
                      <a:tcPr/>
                    </a:tc>
                    <a:extLst>
                      <a:ext uri="{0D108BD9-81ED-4DB2-BD59-A6C34878D82A}">
                        <a16:rowId xmlns:a16="http://schemas.microsoft.com/office/drawing/2014/main" val="308027581"/>
                      </a:ext>
                    </a:extLst>
                  </a:tr>
                </a:tbl>
              </a:graphicData>
            </a:graphic>
          </p:graphicFrame>
        </mc:Choice>
        <mc:Fallback xmlns="">
          <p:graphicFrame>
            <p:nvGraphicFramePr>
              <p:cNvPr id="12" name="Table 11">
                <a:extLst>
                  <a:ext uri="{FF2B5EF4-FFF2-40B4-BE49-F238E27FC236}">
                    <a16:creationId xmlns:a16="http://schemas.microsoft.com/office/drawing/2014/main" id="{DDCDEC2F-BB66-2B47-8BFB-EF20CBAA11DF}"/>
                  </a:ext>
                </a:extLst>
              </p:cNvPr>
              <p:cNvGraphicFramePr>
                <a:graphicFrameLocks noGrp="1"/>
              </p:cNvGraphicFramePr>
              <p:nvPr>
                <p:extLst>
                  <p:ext uri="{D42A27DB-BD31-4B8C-83A1-F6EECF244321}">
                    <p14:modId xmlns:p14="http://schemas.microsoft.com/office/powerpoint/2010/main" val="4195511539"/>
                  </p:ext>
                </p:extLst>
              </p:nvPr>
            </p:nvGraphicFramePr>
            <p:xfrm>
              <a:off x="309489" y="2045476"/>
              <a:ext cx="11619912" cy="918528"/>
            </p:xfrm>
            <a:graphic>
              <a:graphicData uri="http://schemas.openxmlformats.org/drawingml/2006/table">
                <a:tbl>
                  <a:tblPr firstRow="1" bandRow="1">
                    <a:tableStyleId>{D27102A9-8310-4765-A935-A1911B00CA55}</a:tableStyleId>
                  </a:tblPr>
                  <a:tblGrid>
                    <a:gridCol w="1936652">
                      <a:extLst>
                        <a:ext uri="{9D8B030D-6E8A-4147-A177-3AD203B41FA5}">
                          <a16:colId xmlns:a16="http://schemas.microsoft.com/office/drawing/2014/main" val="249392229"/>
                        </a:ext>
                      </a:extLst>
                    </a:gridCol>
                    <a:gridCol w="1936652">
                      <a:extLst>
                        <a:ext uri="{9D8B030D-6E8A-4147-A177-3AD203B41FA5}">
                          <a16:colId xmlns:a16="http://schemas.microsoft.com/office/drawing/2014/main" val="3648293235"/>
                        </a:ext>
                      </a:extLst>
                    </a:gridCol>
                    <a:gridCol w="1936652">
                      <a:extLst>
                        <a:ext uri="{9D8B030D-6E8A-4147-A177-3AD203B41FA5}">
                          <a16:colId xmlns:a16="http://schemas.microsoft.com/office/drawing/2014/main" val="2535071941"/>
                        </a:ext>
                      </a:extLst>
                    </a:gridCol>
                    <a:gridCol w="1936652">
                      <a:extLst>
                        <a:ext uri="{9D8B030D-6E8A-4147-A177-3AD203B41FA5}">
                          <a16:colId xmlns:a16="http://schemas.microsoft.com/office/drawing/2014/main" val="190601922"/>
                        </a:ext>
                      </a:extLst>
                    </a:gridCol>
                    <a:gridCol w="1936652">
                      <a:extLst>
                        <a:ext uri="{9D8B030D-6E8A-4147-A177-3AD203B41FA5}">
                          <a16:colId xmlns:a16="http://schemas.microsoft.com/office/drawing/2014/main" val="2172190644"/>
                        </a:ext>
                      </a:extLst>
                    </a:gridCol>
                    <a:gridCol w="1936652">
                      <a:extLst>
                        <a:ext uri="{9D8B030D-6E8A-4147-A177-3AD203B41FA5}">
                          <a16:colId xmlns:a16="http://schemas.microsoft.com/office/drawing/2014/main" val="629154471"/>
                        </a:ext>
                      </a:extLst>
                    </a:gridCol>
                  </a:tblGrid>
                  <a:tr h="461328">
                    <a:tc>
                      <a:txBody>
                        <a:bodyPr/>
                        <a:lstStyle/>
                        <a:p>
                          <a:endParaRPr lang="en-US"/>
                        </a:p>
                      </a:txBody>
                      <a:tcPr>
                        <a:blipFill>
                          <a:blip r:embed="rId8"/>
                          <a:stretch>
                            <a:fillRect t="-5405" r="-498039" b="-121622"/>
                          </a:stretch>
                        </a:blipFill>
                      </a:tcPr>
                    </a:tc>
                    <a:tc>
                      <a:txBody>
                        <a:bodyPr/>
                        <a:lstStyle/>
                        <a:p>
                          <a:endParaRPr lang="en-US"/>
                        </a:p>
                      </a:txBody>
                      <a:tcPr>
                        <a:blipFill>
                          <a:blip r:embed="rId8"/>
                          <a:stretch>
                            <a:fillRect l="-100658" t="-5405" r="-401316" b="-121622"/>
                          </a:stretch>
                        </a:blipFill>
                      </a:tcPr>
                    </a:tc>
                    <a:tc>
                      <a:txBody>
                        <a:bodyPr/>
                        <a:lstStyle/>
                        <a:p>
                          <a:endParaRPr lang="en-US"/>
                        </a:p>
                      </a:txBody>
                      <a:tcPr marL="68580" marR="68580" marT="0" marB="0">
                        <a:blipFill>
                          <a:blip r:embed="rId8"/>
                          <a:stretch>
                            <a:fillRect l="-199346" t="-5405" r="-298693" b="-121622"/>
                          </a:stretch>
                        </a:blipFill>
                      </a:tcPr>
                    </a:tc>
                    <a:tc>
                      <a:txBody>
                        <a:bodyPr/>
                        <a:lstStyle/>
                        <a:p>
                          <a:endParaRPr lang="en-US"/>
                        </a:p>
                      </a:txBody>
                      <a:tcPr marL="68580" marR="68580" marT="0" marB="0">
                        <a:blipFill>
                          <a:blip r:embed="rId8"/>
                          <a:stretch>
                            <a:fillRect l="-299346" t="-5405" r="-198693" b="-121622"/>
                          </a:stretch>
                        </a:blipFill>
                      </a:tcPr>
                    </a:tc>
                    <a:tc>
                      <a:txBody>
                        <a:bodyPr/>
                        <a:lstStyle/>
                        <a:p>
                          <a:endParaRPr lang="en-US"/>
                        </a:p>
                      </a:txBody>
                      <a:tcPr marL="68580" marR="68580" marT="0" marB="0">
                        <a:blipFill>
                          <a:blip r:embed="rId8"/>
                          <a:stretch>
                            <a:fillRect l="-401974" t="-5405" r="-100000" b="-121622"/>
                          </a:stretch>
                        </a:blipFill>
                      </a:tcPr>
                    </a:tc>
                    <a:tc>
                      <a:txBody>
                        <a:bodyPr/>
                        <a:lstStyle/>
                        <a:p>
                          <a:endParaRPr lang="en-US"/>
                        </a:p>
                      </a:txBody>
                      <a:tcPr>
                        <a:blipFill>
                          <a:blip r:embed="rId8"/>
                          <a:stretch>
                            <a:fillRect l="-498693" t="-5405" r="654" b="-121622"/>
                          </a:stretch>
                        </a:blipFill>
                      </a:tcPr>
                    </a:tc>
                    <a:extLst>
                      <a:ext uri="{0D108BD9-81ED-4DB2-BD59-A6C34878D82A}">
                        <a16:rowId xmlns:a16="http://schemas.microsoft.com/office/drawing/2014/main" val="2974454753"/>
                      </a:ext>
                    </a:extLst>
                  </a:tr>
                  <a:tr h="457200">
                    <a:tc>
                      <a:txBody>
                        <a:bodyPr/>
                        <a:lstStyle/>
                        <a:p>
                          <a:pPr algn="ctr"/>
                          <a:r>
                            <a:rPr lang="en-US" sz="2400" b="1" dirty="0"/>
                            <a:t>1</a:t>
                          </a:r>
                        </a:p>
                      </a:txBody>
                      <a:tcPr/>
                    </a:tc>
                    <a:tc>
                      <a:txBody>
                        <a:bodyPr/>
                        <a:lstStyle/>
                        <a:p>
                          <a:pPr algn="ctr"/>
                          <a:r>
                            <a:rPr lang="en-US" sz="2400" b="0" dirty="0"/>
                            <a:t>7</a:t>
                          </a:r>
                        </a:p>
                      </a:txBody>
                      <a:tcPr/>
                    </a:tc>
                    <a:tc>
                      <a:txBody>
                        <a:bodyPr/>
                        <a:lstStyle/>
                        <a:p>
                          <a:pPr algn="ctr"/>
                          <a:r>
                            <a:rPr lang="en-US" sz="2400" b="0" dirty="0"/>
                            <a:t>4</a:t>
                          </a:r>
                        </a:p>
                      </a:txBody>
                      <a:tcPr/>
                    </a:tc>
                    <a:tc>
                      <a:txBody>
                        <a:bodyPr/>
                        <a:lstStyle/>
                        <a:p>
                          <a:pPr algn="ctr"/>
                          <a:r>
                            <a:rPr lang="en-US" sz="2400" b="0" dirty="0"/>
                            <a:t>13</a:t>
                          </a:r>
                        </a:p>
                      </a:txBody>
                      <a:tcPr/>
                    </a:tc>
                    <a:tc>
                      <a:txBody>
                        <a:bodyPr/>
                        <a:lstStyle/>
                        <a:p>
                          <a:pPr algn="ctr"/>
                          <a:r>
                            <a:rPr lang="en-US" sz="2400" b="1" dirty="0"/>
                            <a:t>1</a:t>
                          </a:r>
                        </a:p>
                      </a:txBody>
                      <a:tcPr/>
                    </a:tc>
                    <a:tc>
                      <a:txBody>
                        <a:bodyPr/>
                        <a:lstStyle/>
                        <a:p>
                          <a:pPr algn="ctr"/>
                          <a:r>
                            <a:rPr lang="en-US" sz="2400" b="0" dirty="0"/>
                            <a:t>7</a:t>
                          </a:r>
                        </a:p>
                      </a:txBody>
                      <a:tcPr/>
                    </a:tc>
                    <a:extLst>
                      <a:ext uri="{0D108BD9-81ED-4DB2-BD59-A6C34878D82A}">
                        <a16:rowId xmlns:a16="http://schemas.microsoft.com/office/drawing/2014/main" val="308027581"/>
                      </a:ext>
                    </a:extLst>
                  </a:tr>
                </a:tbl>
              </a:graphicData>
            </a:graphic>
          </p:graphicFrame>
        </mc:Fallback>
      </mc:AlternateContent>
    </p:spTree>
    <p:extLst>
      <p:ext uri="{BB962C8B-B14F-4D97-AF65-F5344CB8AC3E}">
        <p14:creationId xmlns:p14="http://schemas.microsoft.com/office/powerpoint/2010/main" val="1505894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24D825F-F1F1-D64C-9F62-E1821BD7A9A6}"/>
                  </a:ext>
                </a:extLst>
              </p:cNvPr>
              <p:cNvSpPr>
                <a:spLocks noGrp="1"/>
              </p:cNvSpPr>
              <p:nvPr>
                <p:ph type="title"/>
              </p:nvPr>
            </p:nvSpPr>
            <p:spPr>
              <a:xfrm>
                <a:off x="0" y="0"/>
                <a:ext cx="12192000" cy="928688"/>
              </a:xfrm>
            </p:spPr>
            <p:txBody>
              <a:bodyPr>
                <a:normAutofit/>
              </a:bodyPr>
              <a:lstStyle/>
              <a:p>
                <a:r>
                  <a:rPr lang="en-ZA" dirty="0"/>
                  <a:t>Classical Period Finding:</a:t>
                </a:r>
                <a:r>
                  <a:rPr lang="en-US" sz="3600" dirty="0"/>
                  <a:t> </a:t>
                </a:r>
                <a14:m>
                  <m:oMath xmlns:m="http://schemas.openxmlformats.org/officeDocument/2006/math">
                    <m:r>
                      <a:rPr lang="en-US" sz="3200" i="1" smtClean="0">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𝑥</m:t>
                        </m:r>
                      </m:e>
                    </m:d>
                    <m:r>
                      <a:rPr lang="en-US" sz="3200" i="1">
                        <a:latin typeface="Cambria Math" panose="02040503050406030204" pitchFamily="18" charset="0"/>
                      </a:rPr>
                      <m:t>= </m:t>
                    </m:r>
                    <m:sSup>
                      <m:sSupPr>
                        <m:ctrlPr>
                          <a:rPr lang="en-US" sz="3200" i="1">
                            <a:latin typeface="Cambria Math" panose="02040503050406030204" pitchFamily="18" charset="0"/>
                          </a:rPr>
                        </m:ctrlPr>
                      </m:sSupPr>
                      <m:e>
                        <m:r>
                          <a:rPr lang="en-US" sz="3200" i="1">
                            <a:latin typeface="Cambria Math" panose="02040503050406030204" pitchFamily="18" charset="0"/>
                          </a:rPr>
                          <m:t>𝑎</m:t>
                        </m:r>
                      </m:e>
                      <m:sup>
                        <m:r>
                          <a:rPr lang="en-US" sz="3200" i="1">
                            <a:latin typeface="Cambria Math" panose="02040503050406030204" pitchFamily="18" charset="0"/>
                          </a:rPr>
                          <m:t>𝑥</m:t>
                        </m:r>
                      </m:sup>
                    </m:sSup>
                    <m:r>
                      <a:rPr lang="en-US" sz="3200" i="1">
                        <a:latin typeface="Cambria Math" panose="02040503050406030204" pitchFamily="18" charset="0"/>
                      </a:rPr>
                      <m:t>𝑚𝑜𝑑</m:t>
                    </m:r>
                    <m:r>
                      <a:rPr lang="en-US" sz="3200" i="1">
                        <a:latin typeface="Cambria Math" panose="02040503050406030204" pitchFamily="18" charset="0"/>
                      </a:rPr>
                      <m:t> </m:t>
                    </m:r>
                    <m:r>
                      <a:rPr lang="en-US" sz="3200" i="1">
                        <a:latin typeface="Cambria Math" panose="02040503050406030204" pitchFamily="18" charset="0"/>
                      </a:rPr>
                      <m:t>𝑁</m:t>
                    </m:r>
                  </m:oMath>
                </a14:m>
                <a:r>
                  <a:rPr lang="en-US" sz="3200" dirty="0"/>
                  <a:t> </a:t>
                </a:r>
              </a:p>
            </p:txBody>
          </p:sp>
        </mc:Choice>
        <mc:Fallback xmlns="">
          <p:sp>
            <p:nvSpPr>
              <p:cNvPr id="2" name="Title 1">
                <a:extLst>
                  <a:ext uri="{FF2B5EF4-FFF2-40B4-BE49-F238E27FC236}">
                    <a16:creationId xmlns:a16="http://schemas.microsoft.com/office/drawing/2014/main" id="{C24D825F-F1F1-D64C-9F62-E1821BD7A9A6}"/>
                  </a:ext>
                </a:extLst>
              </p:cNvPr>
              <p:cNvSpPr>
                <a:spLocks noGrp="1" noRot="1" noChangeAspect="1" noMove="1" noResize="1" noEditPoints="1" noAdjustHandles="1" noChangeArrowheads="1" noChangeShapeType="1" noTextEdit="1"/>
              </p:cNvSpPr>
              <p:nvPr>
                <p:ph type="title"/>
              </p:nvPr>
            </p:nvSpPr>
            <p:spPr>
              <a:xfrm>
                <a:off x="0" y="0"/>
                <a:ext cx="12192000" cy="928688"/>
              </a:xfrm>
              <a:blipFill>
                <a:blip r:embed="rId3"/>
                <a:stretch>
                  <a:fillRect l="-1250"/>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85C5D125-CF8D-C842-9F5B-1516468565DC}"/>
              </a:ext>
            </a:extLst>
          </p:cNvPr>
          <p:cNvSpPr>
            <a:spLocks noGrp="1"/>
          </p:cNvSpPr>
          <p:nvPr>
            <p:ph type="sldNum" sz="quarter" idx="12"/>
          </p:nvPr>
        </p:nvSpPr>
        <p:spPr/>
        <p:txBody>
          <a:bodyPr/>
          <a:lstStyle/>
          <a:p>
            <a:fld id="{591A223C-FA10-BC46-A853-03BA373D023C}" type="slidenum">
              <a:rPr lang="en-US" smtClean="0"/>
              <a:t>39</a:t>
            </a:fld>
            <a:endParaRPr lang="en-US"/>
          </a:p>
        </p:txBody>
      </p:sp>
      <mc:AlternateContent xmlns:mc="http://schemas.openxmlformats.org/markup-compatibility/2006" xmlns:a14="http://schemas.microsoft.com/office/drawing/2010/main">
        <mc:Choice Requires="a14">
          <p:graphicFrame>
            <p:nvGraphicFramePr>
              <p:cNvPr id="7" name="Diagram 6">
                <a:extLst>
                  <a:ext uri="{FF2B5EF4-FFF2-40B4-BE49-F238E27FC236}">
                    <a16:creationId xmlns:a16="http://schemas.microsoft.com/office/drawing/2014/main" id="{7CF3A467-7D59-F34F-B6E5-401CE344E856}"/>
                  </a:ext>
                </a:extLst>
              </p:cNvPr>
              <p:cNvGraphicFramePr/>
              <p:nvPr>
                <p:extLst>
                  <p:ext uri="{D42A27DB-BD31-4B8C-83A1-F6EECF244321}">
                    <p14:modId xmlns:p14="http://schemas.microsoft.com/office/powerpoint/2010/main" val="3414497501"/>
                  </p:ext>
                </p:extLst>
              </p:nvPr>
            </p:nvGraphicFramePr>
            <p:xfrm>
              <a:off x="315884" y="1058469"/>
              <a:ext cx="11421687" cy="12596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Choice>
        <mc:Fallback xmlns="">
          <p:graphicFrame>
            <p:nvGraphicFramePr>
              <p:cNvPr id="7" name="Diagram 6">
                <a:extLst>
                  <a:ext uri="{FF2B5EF4-FFF2-40B4-BE49-F238E27FC236}">
                    <a16:creationId xmlns:a16="http://schemas.microsoft.com/office/drawing/2014/main" id="{7CF3A467-7D59-F34F-B6E5-401CE344E856}"/>
                  </a:ext>
                </a:extLst>
              </p:cNvPr>
              <p:cNvGraphicFramePr/>
              <p:nvPr>
                <p:extLst>
                  <p:ext uri="{D42A27DB-BD31-4B8C-83A1-F6EECF244321}">
                    <p14:modId xmlns:p14="http://schemas.microsoft.com/office/powerpoint/2010/main" val="3414497501"/>
                  </p:ext>
                </p:extLst>
              </p:nvPr>
            </p:nvGraphicFramePr>
            <p:xfrm>
              <a:off x="315884" y="1058469"/>
              <a:ext cx="11421687" cy="125969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Fallback>
      </mc:AlternateContent>
      <p:pic>
        <p:nvPicPr>
          <p:cNvPr id="8" name="Picture 7">
            <a:extLst>
              <a:ext uri="{FF2B5EF4-FFF2-40B4-BE49-F238E27FC236}">
                <a16:creationId xmlns:a16="http://schemas.microsoft.com/office/drawing/2014/main" id="{5516BDCD-5618-AB43-89DB-F3FEBB8F6B40}"/>
              </a:ext>
            </a:extLst>
          </p:cNvPr>
          <p:cNvPicPr>
            <a:picLocks noChangeAspect="1"/>
          </p:cNvPicPr>
          <p:nvPr/>
        </p:nvPicPr>
        <p:blipFill>
          <a:blip r:embed="rId13"/>
          <a:stretch>
            <a:fillRect/>
          </a:stretch>
        </p:blipFill>
        <p:spPr>
          <a:xfrm>
            <a:off x="5950155" y="2563300"/>
            <a:ext cx="5787416" cy="3943074"/>
          </a:xfrm>
          <a:prstGeom prst="rect">
            <a:avLst/>
          </a:prstGeom>
        </p:spPr>
      </p:pic>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D4F94B18-320F-2444-ACEB-76E72A896ADA}"/>
                  </a:ext>
                </a:extLst>
              </p:cNvPr>
              <p:cNvGraphicFramePr>
                <a:graphicFrameLocks noGrp="1"/>
              </p:cNvGraphicFramePr>
              <p:nvPr>
                <p:extLst/>
              </p:nvPr>
            </p:nvGraphicFramePr>
            <p:xfrm>
              <a:off x="315884" y="3226909"/>
              <a:ext cx="3125585" cy="3200400"/>
            </p:xfrm>
            <a:graphic>
              <a:graphicData uri="http://schemas.openxmlformats.org/drawingml/2006/table">
                <a:tbl>
                  <a:tblPr firstRow="1" bandRow="1">
                    <a:tableStyleId>{00A15C55-8517-42AA-B614-E9B94910E393}</a:tableStyleId>
                  </a:tblPr>
                  <a:tblGrid>
                    <a:gridCol w="859946">
                      <a:extLst>
                        <a:ext uri="{9D8B030D-6E8A-4147-A177-3AD203B41FA5}">
                          <a16:colId xmlns:a16="http://schemas.microsoft.com/office/drawing/2014/main" val="206757364"/>
                        </a:ext>
                      </a:extLst>
                    </a:gridCol>
                    <a:gridCol w="2265639">
                      <a:extLst>
                        <a:ext uri="{9D8B030D-6E8A-4147-A177-3AD203B41FA5}">
                          <a16:colId xmlns:a16="http://schemas.microsoft.com/office/drawing/2014/main" val="1132820706"/>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400" smtClean="0">
                                    <a:solidFill>
                                      <a:schemeClr val="tx1"/>
                                    </a:solidFill>
                                    <a:latin typeface="Cambria Math" panose="02040503050406030204" pitchFamily="18" charset="0"/>
                                  </a:rPr>
                                  <m:t>𝑥</m:t>
                                </m:r>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smtClean="0">
                                        <a:solidFill>
                                          <a:schemeClr val="tx1"/>
                                        </a:solidFill>
                                        <a:latin typeface="Cambria Math" panose="02040503050406030204" pitchFamily="18" charset="0"/>
                                      </a:rPr>
                                      <m:t>7</m:t>
                                    </m:r>
                                  </m:e>
                                  <m:sup>
                                    <m:r>
                                      <a:rPr lang="en-US" sz="2400">
                                        <a:solidFill>
                                          <a:schemeClr val="tx1"/>
                                        </a:solidFill>
                                        <a:latin typeface="Cambria Math" panose="02040503050406030204" pitchFamily="18" charset="0"/>
                                      </a:rPr>
                                      <m:t>𝑥</m:t>
                                    </m:r>
                                  </m:sup>
                                </m:sSup>
                                <m:r>
                                  <a:rPr lang="en-US" sz="2400">
                                    <a:solidFill>
                                      <a:schemeClr val="tx1"/>
                                    </a:solidFill>
                                    <a:latin typeface="Cambria Math" panose="02040503050406030204" pitchFamily="18" charset="0"/>
                                  </a:rPr>
                                  <m:t>𝑚𝑜𝑑</m:t>
                                </m:r>
                                <m:r>
                                  <a:rPr lang="en-US" sz="2400">
                                    <a:solidFill>
                                      <a:schemeClr val="tx1"/>
                                    </a:solidFill>
                                    <a:latin typeface="Cambria Math" panose="02040503050406030204" pitchFamily="18" charset="0"/>
                                  </a:rPr>
                                  <m:t> 15</m:t>
                                </m:r>
                              </m:oMath>
                            </m:oMathPara>
                          </a14:m>
                          <a:endParaRPr lang="en-US" sz="2400" dirty="0">
                            <a:solidFill>
                              <a:schemeClr val="tx1"/>
                            </a:solidFill>
                          </a:endParaRPr>
                        </a:p>
                      </a:txBody>
                      <a:tcPr/>
                    </a:tc>
                    <a:extLst>
                      <a:ext uri="{0D108BD9-81ED-4DB2-BD59-A6C34878D82A}">
                        <a16:rowId xmlns:a16="http://schemas.microsoft.com/office/drawing/2014/main" val="1955473743"/>
                      </a:ext>
                    </a:extLst>
                  </a:tr>
                  <a:tr h="370840">
                    <a:tc>
                      <a:txBody>
                        <a:bodyPr/>
                        <a:lstStyle/>
                        <a:p>
                          <a:pPr algn="ctr"/>
                          <a:r>
                            <a:rPr lang="en-US" sz="2400" dirty="0"/>
                            <a:t>0</a:t>
                          </a:r>
                        </a:p>
                      </a:txBody>
                      <a:tcPr/>
                    </a:tc>
                    <a:tc>
                      <a:txBody>
                        <a:bodyPr/>
                        <a:lstStyle/>
                        <a:p>
                          <a:pPr algn="ctr"/>
                          <a:r>
                            <a:rPr lang="en-US" sz="2400" dirty="0">
                              <a:solidFill>
                                <a:srgbClr val="0000FF"/>
                              </a:solidFill>
                            </a:rPr>
                            <a:t>1</a:t>
                          </a:r>
                        </a:p>
                      </a:txBody>
                      <a:tcPr/>
                    </a:tc>
                    <a:extLst>
                      <a:ext uri="{0D108BD9-81ED-4DB2-BD59-A6C34878D82A}">
                        <a16:rowId xmlns:a16="http://schemas.microsoft.com/office/drawing/2014/main" val="3419208819"/>
                      </a:ext>
                    </a:extLst>
                  </a:tr>
                  <a:tr h="370840">
                    <a:tc>
                      <a:txBody>
                        <a:bodyPr/>
                        <a:lstStyle/>
                        <a:p>
                          <a:pPr algn="ctr"/>
                          <a:r>
                            <a:rPr lang="en-US" sz="2400" dirty="0"/>
                            <a:t>1</a:t>
                          </a:r>
                        </a:p>
                      </a:txBody>
                      <a:tcPr/>
                    </a:tc>
                    <a:tc>
                      <a:txBody>
                        <a:bodyPr/>
                        <a:lstStyle/>
                        <a:p>
                          <a:pPr algn="ctr"/>
                          <a:r>
                            <a:rPr lang="en-US" sz="2400" dirty="0">
                              <a:solidFill>
                                <a:srgbClr val="0000FF"/>
                              </a:solidFill>
                            </a:rPr>
                            <a:t>7</a:t>
                          </a:r>
                        </a:p>
                      </a:txBody>
                      <a:tcPr/>
                    </a:tc>
                    <a:extLst>
                      <a:ext uri="{0D108BD9-81ED-4DB2-BD59-A6C34878D82A}">
                        <a16:rowId xmlns:a16="http://schemas.microsoft.com/office/drawing/2014/main" val="2452133419"/>
                      </a:ext>
                    </a:extLst>
                  </a:tr>
                  <a:tr h="370840">
                    <a:tc>
                      <a:txBody>
                        <a:bodyPr/>
                        <a:lstStyle/>
                        <a:p>
                          <a:pPr algn="ctr"/>
                          <a:r>
                            <a:rPr lang="en-US" sz="2400" dirty="0"/>
                            <a:t>2</a:t>
                          </a:r>
                        </a:p>
                      </a:txBody>
                      <a:tcPr/>
                    </a:tc>
                    <a:tc>
                      <a:txBody>
                        <a:bodyPr/>
                        <a:lstStyle/>
                        <a:p>
                          <a:pPr algn="ctr"/>
                          <a:r>
                            <a:rPr lang="en-US" sz="2400" dirty="0">
                              <a:solidFill>
                                <a:srgbClr val="0000FF"/>
                              </a:solidFill>
                            </a:rPr>
                            <a:t>4</a:t>
                          </a:r>
                        </a:p>
                      </a:txBody>
                      <a:tcPr/>
                    </a:tc>
                    <a:extLst>
                      <a:ext uri="{0D108BD9-81ED-4DB2-BD59-A6C34878D82A}">
                        <a16:rowId xmlns:a16="http://schemas.microsoft.com/office/drawing/2014/main" val="1376658329"/>
                      </a:ext>
                    </a:extLst>
                  </a:tr>
                  <a:tr h="370840">
                    <a:tc>
                      <a:txBody>
                        <a:bodyPr/>
                        <a:lstStyle/>
                        <a:p>
                          <a:pPr algn="ctr"/>
                          <a:r>
                            <a:rPr lang="en-US" sz="2400" dirty="0"/>
                            <a:t>3</a:t>
                          </a:r>
                        </a:p>
                      </a:txBody>
                      <a:tcPr/>
                    </a:tc>
                    <a:tc>
                      <a:txBody>
                        <a:bodyPr/>
                        <a:lstStyle/>
                        <a:p>
                          <a:pPr algn="ctr"/>
                          <a:r>
                            <a:rPr lang="en-US" sz="2400" dirty="0">
                              <a:solidFill>
                                <a:srgbClr val="0000FF"/>
                              </a:solidFill>
                            </a:rPr>
                            <a:t>13</a:t>
                          </a:r>
                        </a:p>
                      </a:txBody>
                      <a:tcPr/>
                    </a:tc>
                    <a:extLst>
                      <a:ext uri="{0D108BD9-81ED-4DB2-BD59-A6C34878D82A}">
                        <a16:rowId xmlns:a16="http://schemas.microsoft.com/office/drawing/2014/main" val="2085404646"/>
                      </a:ext>
                    </a:extLst>
                  </a:tr>
                  <a:tr h="370840">
                    <a:tc>
                      <a:txBody>
                        <a:bodyPr/>
                        <a:lstStyle/>
                        <a:p>
                          <a:pPr algn="ctr"/>
                          <a:r>
                            <a:rPr lang="en-US" sz="2400" dirty="0"/>
                            <a:t>4</a:t>
                          </a:r>
                        </a:p>
                      </a:txBody>
                      <a:tcPr/>
                    </a:tc>
                    <a:tc>
                      <a:txBody>
                        <a:bodyPr/>
                        <a:lstStyle/>
                        <a:p>
                          <a:pPr algn="ctr"/>
                          <a:r>
                            <a:rPr lang="en-US" sz="2400" dirty="0">
                              <a:solidFill>
                                <a:schemeClr val="accent6">
                                  <a:lumMod val="75000"/>
                                </a:schemeClr>
                              </a:solidFill>
                            </a:rPr>
                            <a:t>1</a:t>
                          </a:r>
                        </a:p>
                      </a:txBody>
                      <a:tcPr/>
                    </a:tc>
                    <a:extLst>
                      <a:ext uri="{0D108BD9-81ED-4DB2-BD59-A6C34878D82A}">
                        <a16:rowId xmlns:a16="http://schemas.microsoft.com/office/drawing/2014/main" val="2477180254"/>
                      </a:ext>
                    </a:extLst>
                  </a:tr>
                  <a:tr h="370840">
                    <a:tc>
                      <a:txBody>
                        <a:bodyPr/>
                        <a:lstStyle/>
                        <a:p>
                          <a:pPr algn="ctr"/>
                          <a:r>
                            <a:rPr lang="en-US" sz="2400" dirty="0"/>
                            <a:t>5</a:t>
                          </a:r>
                        </a:p>
                      </a:txBody>
                      <a:tcPr/>
                    </a:tc>
                    <a:tc>
                      <a:txBody>
                        <a:bodyPr/>
                        <a:lstStyle/>
                        <a:p>
                          <a:pPr algn="ctr"/>
                          <a:r>
                            <a:rPr lang="en-US" sz="2400" dirty="0">
                              <a:solidFill>
                                <a:schemeClr val="accent6">
                                  <a:lumMod val="75000"/>
                                </a:schemeClr>
                              </a:solidFill>
                            </a:rPr>
                            <a:t>7</a:t>
                          </a:r>
                        </a:p>
                      </a:txBody>
                      <a:tcPr/>
                    </a:tc>
                    <a:extLst>
                      <a:ext uri="{0D108BD9-81ED-4DB2-BD59-A6C34878D82A}">
                        <a16:rowId xmlns:a16="http://schemas.microsoft.com/office/drawing/2014/main" val="2280071381"/>
                      </a:ext>
                    </a:extLst>
                  </a:tr>
                </a:tbl>
              </a:graphicData>
            </a:graphic>
          </p:graphicFrame>
        </mc:Choice>
        <mc:Fallback xmlns="">
          <p:graphicFrame>
            <p:nvGraphicFramePr>
              <p:cNvPr id="11" name="Table 10">
                <a:extLst>
                  <a:ext uri="{FF2B5EF4-FFF2-40B4-BE49-F238E27FC236}">
                    <a16:creationId xmlns:a16="http://schemas.microsoft.com/office/drawing/2014/main" id="{D4F94B18-320F-2444-ACEB-76E72A896ADA}"/>
                  </a:ext>
                </a:extLst>
              </p:cNvPr>
              <p:cNvGraphicFramePr>
                <a:graphicFrameLocks noGrp="1"/>
              </p:cNvGraphicFramePr>
              <p:nvPr>
                <p:extLst>
                  <p:ext uri="{D42A27DB-BD31-4B8C-83A1-F6EECF244321}">
                    <p14:modId xmlns:p14="http://schemas.microsoft.com/office/powerpoint/2010/main" val="2344200088"/>
                  </p:ext>
                </p:extLst>
              </p:nvPr>
            </p:nvGraphicFramePr>
            <p:xfrm>
              <a:off x="315884" y="3226909"/>
              <a:ext cx="3125585" cy="3200400"/>
            </p:xfrm>
            <a:graphic>
              <a:graphicData uri="http://schemas.openxmlformats.org/drawingml/2006/table">
                <a:tbl>
                  <a:tblPr firstRow="1" bandRow="1">
                    <a:tableStyleId>{00A15C55-8517-42AA-B614-E9B94910E393}</a:tableStyleId>
                  </a:tblPr>
                  <a:tblGrid>
                    <a:gridCol w="859946">
                      <a:extLst>
                        <a:ext uri="{9D8B030D-6E8A-4147-A177-3AD203B41FA5}">
                          <a16:colId xmlns:a16="http://schemas.microsoft.com/office/drawing/2014/main" val="206757364"/>
                        </a:ext>
                      </a:extLst>
                    </a:gridCol>
                    <a:gridCol w="2265639">
                      <a:extLst>
                        <a:ext uri="{9D8B030D-6E8A-4147-A177-3AD203B41FA5}">
                          <a16:colId xmlns:a16="http://schemas.microsoft.com/office/drawing/2014/main" val="1132820706"/>
                        </a:ext>
                      </a:extLst>
                    </a:gridCol>
                  </a:tblGrid>
                  <a:tr h="457200">
                    <a:tc>
                      <a:txBody>
                        <a:bodyPr/>
                        <a:lstStyle/>
                        <a:p>
                          <a:endParaRPr lang="en-US"/>
                        </a:p>
                      </a:txBody>
                      <a:tcPr>
                        <a:blipFill>
                          <a:blip r:embed="rId15"/>
                          <a:stretch>
                            <a:fillRect t="-2778" r="-266176" b="-627778"/>
                          </a:stretch>
                        </a:blipFill>
                      </a:tcPr>
                    </a:tc>
                    <a:tc>
                      <a:txBody>
                        <a:bodyPr/>
                        <a:lstStyle/>
                        <a:p>
                          <a:endParaRPr lang="en-US"/>
                        </a:p>
                      </a:txBody>
                      <a:tcPr>
                        <a:blipFill>
                          <a:blip r:embed="rId15"/>
                          <a:stretch>
                            <a:fillRect l="-37989" t="-2778" r="-1117" b="-627778"/>
                          </a:stretch>
                        </a:blipFill>
                      </a:tcPr>
                    </a:tc>
                    <a:extLst>
                      <a:ext uri="{0D108BD9-81ED-4DB2-BD59-A6C34878D82A}">
                        <a16:rowId xmlns:a16="http://schemas.microsoft.com/office/drawing/2014/main" val="1955473743"/>
                      </a:ext>
                    </a:extLst>
                  </a:tr>
                  <a:tr h="457200">
                    <a:tc>
                      <a:txBody>
                        <a:bodyPr/>
                        <a:lstStyle/>
                        <a:p>
                          <a:pPr algn="ctr"/>
                          <a:r>
                            <a:rPr lang="en-US" sz="2400" dirty="0"/>
                            <a:t>0</a:t>
                          </a:r>
                        </a:p>
                      </a:txBody>
                      <a:tcPr/>
                    </a:tc>
                    <a:tc>
                      <a:txBody>
                        <a:bodyPr/>
                        <a:lstStyle/>
                        <a:p>
                          <a:pPr algn="ctr"/>
                          <a:r>
                            <a:rPr lang="en-US" sz="2400" dirty="0">
                              <a:solidFill>
                                <a:srgbClr val="0000FF"/>
                              </a:solidFill>
                            </a:rPr>
                            <a:t>1</a:t>
                          </a:r>
                        </a:p>
                      </a:txBody>
                      <a:tcPr/>
                    </a:tc>
                    <a:extLst>
                      <a:ext uri="{0D108BD9-81ED-4DB2-BD59-A6C34878D82A}">
                        <a16:rowId xmlns:a16="http://schemas.microsoft.com/office/drawing/2014/main" val="3419208819"/>
                      </a:ext>
                    </a:extLst>
                  </a:tr>
                  <a:tr h="457200">
                    <a:tc>
                      <a:txBody>
                        <a:bodyPr/>
                        <a:lstStyle/>
                        <a:p>
                          <a:pPr algn="ctr"/>
                          <a:r>
                            <a:rPr lang="en-US" sz="2400" dirty="0"/>
                            <a:t>1</a:t>
                          </a:r>
                        </a:p>
                      </a:txBody>
                      <a:tcPr/>
                    </a:tc>
                    <a:tc>
                      <a:txBody>
                        <a:bodyPr/>
                        <a:lstStyle/>
                        <a:p>
                          <a:pPr algn="ctr"/>
                          <a:r>
                            <a:rPr lang="en-US" sz="2400" dirty="0">
                              <a:solidFill>
                                <a:srgbClr val="0000FF"/>
                              </a:solidFill>
                            </a:rPr>
                            <a:t>7</a:t>
                          </a:r>
                        </a:p>
                      </a:txBody>
                      <a:tcPr/>
                    </a:tc>
                    <a:extLst>
                      <a:ext uri="{0D108BD9-81ED-4DB2-BD59-A6C34878D82A}">
                        <a16:rowId xmlns:a16="http://schemas.microsoft.com/office/drawing/2014/main" val="2452133419"/>
                      </a:ext>
                    </a:extLst>
                  </a:tr>
                  <a:tr h="457200">
                    <a:tc>
                      <a:txBody>
                        <a:bodyPr/>
                        <a:lstStyle/>
                        <a:p>
                          <a:pPr algn="ctr"/>
                          <a:r>
                            <a:rPr lang="en-US" sz="2400" dirty="0"/>
                            <a:t>2</a:t>
                          </a:r>
                        </a:p>
                      </a:txBody>
                      <a:tcPr/>
                    </a:tc>
                    <a:tc>
                      <a:txBody>
                        <a:bodyPr/>
                        <a:lstStyle/>
                        <a:p>
                          <a:pPr algn="ctr"/>
                          <a:r>
                            <a:rPr lang="en-US" sz="2400" dirty="0">
                              <a:solidFill>
                                <a:srgbClr val="0000FF"/>
                              </a:solidFill>
                            </a:rPr>
                            <a:t>4</a:t>
                          </a:r>
                        </a:p>
                      </a:txBody>
                      <a:tcPr/>
                    </a:tc>
                    <a:extLst>
                      <a:ext uri="{0D108BD9-81ED-4DB2-BD59-A6C34878D82A}">
                        <a16:rowId xmlns:a16="http://schemas.microsoft.com/office/drawing/2014/main" val="1376658329"/>
                      </a:ext>
                    </a:extLst>
                  </a:tr>
                  <a:tr h="457200">
                    <a:tc>
                      <a:txBody>
                        <a:bodyPr/>
                        <a:lstStyle/>
                        <a:p>
                          <a:pPr algn="ctr"/>
                          <a:r>
                            <a:rPr lang="en-US" sz="2400" dirty="0"/>
                            <a:t>3</a:t>
                          </a:r>
                        </a:p>
                      </a:txBody>
                      <a:tcPr/>
                    </a:tc>
                    <a:tc>
                      <a:txBody>
                        <a:bodyPr/>
                        <a:lstStyle/>
                        <a:p>
                          <a:pPr algn="ctr"/>
                          <a:r>
                            <a:rPr lang="en-US" sz="2400" dirty="0">
                              <a:solidFill>
                                <a:srgbClr val="0000FF"/>
                              </a:solidFill>
                            </a:rPr>
                            <a:t>13</a:t>
                          </a:r>
                        </a:p>
                      </a:txBody>
                      <a:tcPr/>
                    </a:tc>
                    <a:extLst>
                      <a:ext uri="{0D108BD9-81ED-4DB2-BD59-A6C34878D82A}">
                        <a16:rowId xmlns:a16="http://schemas.microsoft.com/office/drawing/2014/main" val="2085404646"/>
                      </a:ext>
                    </a:extLst>
                  </a:tr>
                  <a:tr h="457200">
                    <a:tc>
                      <a:txBody>
                        <a:bodyPr/>
                        <a:lstStyle/>
                        <a:p>
                          <a:pPr algn="ctr"/>
                          <a:r>
                            <a:rPr lang="en-US" sz="2400" dirty="0"/>
                            <a:t>4</a:t>
                          </a:r>
                        </a:p>
                      </a:txBody>
                      <a:tcPr/>
                    </a:tc>
                    <a:tc>
                      <a:txBody>
                        <a:bodyPr/>
                        <a:lstStyle/>
                        <a:p>
                          <a:pPr algn="ctr"/>
                          <a:r>
                            <a:rPr lang="en-US" sz="2400" dirty="0">
                              <a:solidFill>
                                <a:schemeClr val="accent6">
                                  <a:lumMod val="75000"/>
                                </a:schemeClr>
                              </a:solidFill>
                            </a:rPr>
                            <a:t>1</a:t>
                          </a:r>
                        </a:p>
                      </a:txBody>
                      <a:tcPr/>
                    </a:tc>
                    <a:extLst>
                      <a:ext uri="{0D108BD9-81ED-4DB2-BD59-A6C34878D82A}">
                        <a16:rowId xmlns:a16="http://schemas.microsoft.com/office/drawing/2014/main" val="2477180254"/>
                      </a:ext>
                    </a:extLst>
                  </a:tr>
                  <a:tr h="457200">
                    <a:tc>
                      <a:txBody>
                        <a:bodyPr/>
                        <a:lstStyle/>
                        <a:p>
                          <a:pPr algn="ctr"/>
                          <a:r>
                            <a:rPr lang="en-US" sz="2400" dirty="0"/>
                            <a:t>5</a:t>
                          </a:r>
                        </a:p>
                      </a:txBody>
                      <a:tcPr/>
                    </a:tc>
                    <a:tc>
                      <a:txBody>
                        <a:bodyPr/>
                        <a:lstStyle/>
                        <a:p>
                          <a:pPr algn="ctr"/>
                          <a:r>
                            <a:rPr lang="en-US" sz="2400" dirty="0">
                              <a:solidFill>
                                <a:schemeClr val="accent6">
                                  <a:lumMod val="75000"/>
                                </a:schemeClr>
                              </a:solidFill>
                            </a:rPr>
                            <a:t>7</a:t>
                          </a:r>
                        </a:p>
                      </a:txBody>
                      <a:tcPr/>
                    </a:tc>
                    <a:extLst>
                      <a:ext uri="{0D108BD9-81ED-4DB2-BD59-A6C34878D82A}">
                        <a16:rowId xmlns:a16="http://schemas.microsoft.com/office/drawing/2014/main" val="2280071381"/>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E165CF4-4069-C449-A4C3-D98DA336CE25}"/>
                  </a:ext>
                </a:extLst>
              </p:cNvPr>
              <p:cNvSpPr txBox="1"/>
              <p:nvPr/>
            </p:nvSpPr>
            <p:spPr>
              <a:xfrm>
                <a:off x="6921068" y="3240408"/>
                <a:ext cx="1555747" cy="461665"/>
              </a:xfrm>
              <a:prstGeom prst="rect">
                <a:avLst/>
              </a:prstGeom>
              <a:noFill/>
            </p:spPr>
            <p:txBody>
              <a:bodyPr wrap="none" rtlCol="0">
                <a:spAutoFit/>
              </a:bodyPr>
              <a:lstStyle/>
              <a:p>
                <a:r>
                  <a:rPr lang="en-US" sz="2400" dirty="0"/>
                  <a:t>period </a:t>
                </a:r>
                <a14:m>
                  <m:oMath xmlns:m="http://schemas.openxmlformats.org/officeDocument/2006/math">
                    <m:r>
                      <a:rPr lang="en-US" sz="2400" b="0" i="1" smtClean="0">
                        <a:latin typeface="Cambria Math" panose="02040503050406030204" pitchFamily="18" charset="0"/>
                      </a:rPr>
                      <m:t>=4</m:t>
                    </m:r>
                  </m:oMath>
                </a14:m>
                <a:endParaRPr lang="en-US" sz="2400" dirty="0"/>
              </a:p>
            </p:txBody>
          </p:sp>
        </mc:Choice>
        <mc:Fallback xmlns="">
          <p:sp>
            <p:nvSpPr>
              <p:cNvPr id="12" name="TextBox 11">
                <a:extLst>
                  <a:ext uri="{FF2B5EF4-FFF2-40B4-BE49-F238E27FC236}">
                    <a16:creationId xmlns:a16="http://schemas.microsoft.com/office/drawing/2014/main" id="{AE165CF4-4069-C449-A4C3-D98DA336CE25}"/>
                  </a:ext>
                </a:extLst>
              </p:cNvPr>
              <p:cNvSpPr txBox="1">
                <a:spLocks noRot="1" noChangeAspect="1" noMove="1" noResize="1" noEditPoints="1" noAdjustHandles="1" noChangeArrowheads="1" noChangeShapeType="1" noTextEdit="1"/>
              </p:cNvSpPr>
              <p:nvPr/>
            </p:nvSpPr>
            <p:spPr>
              <a:xfrm>
                <a:off x="6921068" y="3240408"/>
                <a:ext cx="1555747" cy="461665"/>
              </a:xfrm>
              <a:prstGeom prst="rect">
                <a:avLst/>
              </a:prstGeom>
              <a:blipFill>
                <a:blip r:embed="rId16"/>
                <a:stretch>
                  <a:fillRect l="-5691" t="-5263" b="-26316"/>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1B776EC0-7389-4E44-8639-BD5C81CE968B}"/>
              </a:ext>
            </a:extLst>
          </p:cNvPr>
          <p:cNvCxnSpPr>
            <a:cxnSpLocks/>
          </p:cNvCxnSpPr>
          <p:nvPr/>
        </p:nvCxnSpPr>
        <p:spPr>
          <a:xfrm>
            <a:off x="6921068" y="3794405"/>
            <a:ext cx="2421596" cy="0"/>
          </a:xfrm>
          <a:prstGeom prst="straightConnector1">
            <a:avLst/>
          </a:prstGeom>
          <a:ln w="2540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6BC39446-CBB6-4645-83A7-D0135319A0CB}"/>
                  </a:ext>
                </a:extLst>
              </p:cNvPr>
              <p:cNvSpPr/>
              <p:nvPr/>
            </p:nvSpPr>
            <p:spPr>
              <a:xfrm>
                <a:off x="0" y="2410501"/>
                <a:ext cx="5819798" cy="6771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𝑓</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𝑥</m:t>
                          </m:r>
                        </m:e>
                      </m:d>
                      <m:r>
                        <a:rPr lang="en-US" sz="2800" b="0" i="1" smtClean="0">
                          <a:latin typeface="Cambria Math" panose="02040503050406030204" pitchFamily="18" charset="0"/>
                        </a:rPr>
                        <m:t>=</m:t>
                      </m:r>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𝑎</m:t>
                          </m:r>
                        </m:e>
                        <m:sup>
                          <m:r>
                            <a:rPr lang="en-US" sz="2800" b="0" i="1" smtClean="0">
                              <a:latin typeface="Cambria Math" panose="02040503050406030204" pitchFamily="18" charset="0"/>
                            </a:rPr>
                            <m:t>𝑥</m:t>
                          </m:r>
                        </m:sup>
                      </m:sSup>
                      <m:r>
                        <a:rPr lang="en-US" sz="2800" b="0" i="0" smtClean="0">
                          <a:latin typeface="Cambria Math" panose="02040503050406030204" pitchFamily="18" charset="0"/>
                        </a:rPr>
                        <m:t> </m:t>
                      </m:r>
                      <m:r>
                        <m:rPr>
                          <m:sty m:val="p"/>
                        </m:rPr>
                        <a:rPr lang="en-US" sz="2800" b="0" i="0" smtClean="0">
                          <a:latin typeface="Cambria Math" panose="02040503050406030204" pitchFamily="18" charset="0"/>
                        </a:rPr>
                        <m:t>mod</m:t>
                      </m:r>
                      <m:r>
                        <a:rPr lang="en-US" sz="2800" b="0" i="1" smtClean="0">
                          <a:latin typeface="Cambria Math" panose="02040503050406030204" pitchFamily="18" charset="0"/>
                        </a:rPr>
                        <m:t> </m:t>
                      </m:r>
                      <m:r>
                        <a:rPr lang="en-US" sz="2800" b="0" i="1" smtClean="0">
                          <a:latin typeface="Cambria Math" panose="02040503050406030204" pitchFamily="18" charset="0"/>
                        </a:rPr>
                        <m:t>𝑁</m:t>
                      </m:r>
                      <m:groupChr>
                        <m:groupChrPr>
                          <m:chr m:val="→"/>
                          <m:vertJc m:val="bot"/>
                          <m:ctrlPr>
                            <a:rPr lang="en-US" sz="2800" b="0" i="1" smtClean="0">
                              <a:latin typeface="Cambria Math" panose="02040503050406030204" pitchFamily="18" charset="0"/>
                            </a:rPr>
                          </m:ctrlPr>
                        </m:groupChrPr>
                        <m:e>
                          <m:r>
                            <m:rPr>
                              <m:brk m:alnAt="2"/>
                            </m:rPr>
                            <a:rPr lang="en-US" sz="2800" b="0" i="1" smtClean="0">
                              <a:latin typeface="Cambria Math" panose="02040503050406030204" pitchFamily="18" charset="0"/>
                            </a:rPr>
                            <m:t>𝑎</m:t>
                          </m:r>
                          <m:r>
                            <a:rPr lang="en-US" sz="2800" b="0" i="1" smtClean="0">
                              <a:latin typeface="Cambria Math" panose="02040503050406030204" pitchFamily="18" charset="0"/>
                            </a:rPr>
                            <m:t>=7, </m:t>
                          </m:r>
                          <m:r>
                            <a:rPr lang="en-US" sz="2800" b="0" i="1" smtClean="0">
                              <a:latin typeface="Cambria Math" panose="02040503050406030204" pitchFamily="18" charset="0"/>
                            </a:rPr>
                            <m:t>𝑁</m:t>
                          </m:r>
                          <m:r>
                            <a:rPr lang="en-US" sz="2800" b="0" i="1" smtClean="0">
                              <a:latin typeface="Cambria Math" panose="02040503050406030204" pitchFamily="18" charset="0"/>
                            </a:rPr>
                            <m:t>=15 </m:t>
                          </m:r>
                        </m:e>
                      </m:groupChr>
                      <m:sSup>
                        <m:sSupPr>
                          <m:ctrlPr>
                            <a:rPr lang="en-US" sz="2800" i="1">
                              <a:latin typeface="Cambria Math" panose="02040503050406030204" pitchFamily="18" charset="0"/>
                            </a:rPr>
                          </m:ctrlPr>
                        </m:sSupPr>
                        <m:e>
                          <m:r>
                            <a:rPr lang="en-US" sz="2800" b="0" i="1" smtClean="0">
                              <a:latin typeface="Cambria Math" panose="02040503050406030204" pitchFamily="18" charset="0"/>
                            </a:rPr>
                            <m:t>7</m:t>
                          </m:r>
                        </m:e>
                        <m:sup>
                          <m:r>
                            <a:rPr lang="en-US" sz="2800" i="1">
                              <a:latin typeface="Cambria Math" panose="02040503050406030204" pitchFamily="18" charset="0"/>
                            </a:rPr>
                            <m:t>𝑥</m:t>
                          </m:r>
                        </m:sup>
                      </m:sSup>
                      <m:r>
                        <m:rPr>
                          <m:sty m:val="p"/>
                        </m:rPr>
                        <a:rPr lang="en-US" sz="2800">
                          <a:latin typeface="Cambria Math" panose="02040503050406030204" pitchFamily="18" charset="0"/>
                        </a:rPr>
                        <m:t>mod</m:t>
                      </m:r>
                      <m:r>
                        <a:rPr lang="en-US" sz="2800" i="1">
                          <a:latin typeface="Cambria Math" panose="02040503050406030204" pitchFamily="18" charset="0"/>
                        </a:rPr>
                        <m:t> </m:t>
                      </m:r>
                      <m:r>
                        <a:rPr lang="en-US" sz="2800" i="1">
                          <a:latin typeface="Cambria Math" panose="02040503050406030204" pitchFamily="18" charset="0"/>
                        </a:rPr>
                        <m:t>𝑁</m:t>
                      </m:r>
                    </m:oMath>
                  </m:oMathPara>
                </a14:m>
                <a:endParaRPr lang="en-US" sz="2800" dirty="0"/>
              </a:p>
            </p:txBody>
          </p:sp>
        </mc:Choice>
        <mc:Fallback xmlns="">
          <p:sp>
            <p:nvSpPr>
              <p:cNvPr id="14" name="Rectangle 13">
                <a:extLst>
                  <a:ext uri="{FF2B5EF4-FFF2-40B4-BE49-F238E27FC236}">
                    <a16:creationId xmlns:a16="http://schemas.microsoft.com/office/drawing/2014/main" id="{6BC39446-CBB6-4645-83A7-D0135319A0CB}"/>
                  </a:ext>
                </a:extLst>
              </p:cNvPr>
              <p:cNvSpPr>
                <a:spLocks noRot="1" noChangeAspect="1" noMove="1" noResize="1" noEditPoints="1" noAdjustHandles="1" noChangeArrowheads="1" noChangeShapeType="1" noTextEdit="1"/>
              </p:cNvSpPr>
              <p:nvPr/>
            </p:nvSpPr>
            <p:spPr>
              <a:xfrm>
                <a:off x="0" y="2410501"/>
                <a:ext cx="5819798" cy="677108"/>
              </a:xfrm>
              <a:prstGeom prst="rect">
                <a:avLst/>
              </a:prstGeom>
              <a:blipFill>
                <a:blip r:embed="rId17"/>
                <a:stretch>
                  <a:fillRect t="-1852" b="-16667"/>
                </a:stretch>
              </a:blipFill>
            </p:spPr>
            <p:txBody>
              <a:bodyPr/>
              <a:lstStyle/>
              <a:p>
                <a:r>
                  <a:rPr lang="en-US">
                    <a:noFill/>
                  </a:rPr>
                  <a:t> </a:t>
                </a:r>
              </a:p>
            </p:txBody>
          </p:sp>
        </mc:Fallback>
      </mc:AlternateContent>
    </p:spTree>
    <p:extLst>
      <p:ext uri="{BB962C8B-B14F-4D97-AF65-F5344CB8AC3E}">
        <p14:creationId xmlns:p14="http://schemas.microsoft.com/office/powerpoint/2010/main" val="7251550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14703-EDD1-A849-9552-69AF2CE312B4}"/>
              </a:ext>
            </a:extLst>
          </p:cNvPr>
          <p:cNvSpPr>
            <a:spLocks noGrp="1"/>
          </p:cNvSpPr>
          <p:nvPr>
            <p:ph type="title"/>
          </p:nvPr>
        </p:nvSpPr>
        <p:spPr>
          <a:xfrm>
            <a:off x="0" y="0"/>
            <a:ext cx="12192000" cy="928688"/>
          </a:xfrm>
        </p:spPr>
        <p:txBody>
          <a:bodyPr/>
          <a:lstStyle/>
          <a:p>
            <a:r>
              <a:rPr lang="en-ZA" dirty="0"/>
              <a:t>Shor’s Factoring Algorithm: Step by Step</a:t>
            </a:r>
            <a:endParaRPr lang="en-US" dirty="0"/>
          </a:p>
        </p:txBody>
      </p:sp>
      <p:sp>
        <p:nvSpPr>
          <p:cNvPr id="3" name="Slide Number Placeholder 2">
            <a:extLst>
              <a:ext uri="{FF2B5EF4-FFF2-40B4-BE49-F238E27FC236}">
                <a16:creationId xmlns:a16="http://schemas.microsoft.com/office/drawing/2014/main" id="{9EA71309-A50C-BA44-A304-21F923DCFCBE}"/>
              </a:ext>
            </a:extLst>
          </p:cNvPr>
          <p:cNvSpPr>
            <a:spLocks noGrp="1"/>
          </p:cNvSpPr>
          <p:nvPr>
            <p:ph type="sldNum" sz="quarter" idx="12"/>
          </p:nvPr>
        </p:nvSpPr>
        <p:spPr/>
        <p:txBody>
          <a:bodyPr/>
          <a:lstStyle/>
          <a:p>
            <a:fld id="{591A223C-FA10-BC46-A853-03BA373D023C}" type="slidenum">
              <a:rPr lang="en-US" smtClean="0"/>
              <a:t>40</a:t>
            </a:fld>
            <a:endParaRPr lang="en-US"/>
          </a:p>
        </p:txBody>
      </p:sp>
      <mc:AlternateContent xmlns:mc="http://schemas.openxmlformats.org/markup-compatibility/2006" xmlns:a14="http://schemas.microsoft.com/office/drawing/2010/main">
        <mc:Choice Requires="a14">
          <p:sp>
            <p:nvSpPr>
              <p:cNvPr id="66" name="Rounded Rectangle 65">
                <a:extLst>
                  <a:ext uri="{FF2B5EF4-FFF2-40B4-BE49-F238E27FC236}">
                    <a16:creationId xmlns:a16="http://schemas.microsoft.com/office/drawing/2014/main" id="{1F6B9750-2B2E-2F42-8947-5FEFDBD3A33D}"/>
                  </a:ext>
                </a:extLst>
              </p:cNvPr>
              <p:cNvSpPr/>
              <p:nvPr/>
            </p:nvSpPr>
            <p:spPr>
              <a:xfrm>
                <a:off x="3358415" y="919411"/>
                <a:ext cx="4963885" cy="718457"/>
              </a:xfrm>
              <a:prstGeom prst="roundRect">
                <a:avLst/>
              </a:prstGeom>
              <a:solidFill>
                <a:schemeClr val="accent4">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400" dirty="0">
                    <a:solidFill>
                      <a:schemeClr val="tx1"/>
                    </a:solidFill>
                    <a:latin typeface="+mj-lt"/>
                  </a:rPr>
                  <a:t>random</a:t>
                </a:r>
                <a:r>
                  <a:rPr lang="en-ZA" sz="2400" dirty="0">
                    <a:solidFill>
                      <a:schemeClr val="tx1"/>
                    </a:solidFill>
                  </a:rPr>
                  <a:t> integer </a:t>
                </a:r>
                <a14:m>
                  <m:oMath xmlns:m="http://schemas.openxmlformats.org/officeDocument/2006/math">
                    <m:r>
                      <a:rPr lang="en-US" sz="2400" i="1">
                        <a:solidFill>
                          <a:schemeClr val="tx1"/>
                        </a:solidFill>
                        <a:latin typeface="Cambria Math" panose="02040503050406030204" pitchFamily="18" charset="0"/>
                        <a:ea typeface="Cambria Math" panose="02040503050406030204" pitchFamily="18" charset="0"/>
                      </a:rPr>
                      <m:t>𝑎</m:t>
                    </m:r>
                  </m:oMath>
                </a14:m>
                <a:endParaRPr lang="en-US" sz="2400" b="0" i="0" dirty="0">
                  <a:solidFill>
                    <a:schemeClr val="tx1"/>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2400" smtClean="0">
                          <a:solidFill>
                            <a:schemeClr val="tx1"/>
                          </a:solidFill>
                          <a:latin typeface="Cambria Math" panose="02040503050406030204" pitchFamily="18" charset="0"/>
                          <a:ea typeface="Cambria Math" panose="02040503050406030204" pitchFamily="18" charset="0"/>
                        </a:rPr>
                        <m:t>2</m:t>
                      </m:r>
                      <m:r>
                        <a:rPr lang="en-US" sz="2400" i="1">
                          <a:solidFill>
                            <a:schemeClr val="tx1"/>
                          </a:solidFill>
                          <a:latin typeface="Cambria Math" panose="02040503050406030204" pitchFamily="18" charset="0"/>
                          <a:ea typeface="Cambria Math" panose="02040503050406030204" pitchFamily="18" charset="0"/>
                        </a:rPr>
                        <m:t>&lt;</m:t>
                      </m:r>
                      <m:r>
                        <a:rPr lang="en-US" sz="2500" b="0" i="1" smtClean="0">
                          <a:solidFill>
                            <a:schemeClr val="tx1"/>
                          </a:solidFill>
                          <a:latin typeface="Cambria Math" panose="02040503050406030204" pitchFamily="18" charset="0"/>
                          <a:ea typeface="Cambria Math" panose="02040503050406030204" pitchFamily="18" charset="0"/>
                        </a:rPr>
                        <m:t>𝑎</m:t>
                      </m:r>
                      <m:r>
                        <a:rPr lang="en-US" sz="2500" i="1">
                          <a:solidFill>
                            <a:schemeClr val="tx1"/>
                          </a:solidFill>
                          <a:latin typeface="Cambria Math" panose="02040503050406030204" pitchFamily="18" charset="0"/>
                          <a:ea typeface="Cambria Math" panose="02040503050406030204" pitchFamily="18" charset="0"/>
                        </a:rPr>
                        <m:t>&lt;</m:t>
                      </m:r>
                      <m:r>
                        <a:rPr lang="en-US" sz="2500" i="1">
                          <a:solidFill>
                            <a:schemeClr val="tx1"/>
                          </a:solidFill>
                          <a:latin typeface="Cambria Math" panose="02040503050406030204" pitchFamily="18" charset="0"/>
                          <a:ea typeface="Cambria Math" panose="02040503050406030204" pitchFamily="18" charset="0"/>
                        </a:rPr>
                        <m:t>𝑁</m:t>
                      </m:r>
                    </m:oMath>
                  </m:oMathPara>
                </a14:m>
                <a:endParaRPr lang="en-US" sz="2500" i="1" dirty="0">
                  <a:solidFill>
                    <a:schemeClr val="tx1"/>
                  </a:solidFill>
                </a:endParaRPr>
              </a:p>
            </p:txBody>
          </p:sp>
        </mc:Choice>
        <mc:Fallback xmlns="">
          <p:sp>
            <p:nvSpPr>
              <p:cNvPr id="66" name="Rounded Rectangle 65">
                <a:extLst>
                  <a:ext uri="{FF2B5EF4-FFF2-40B4-BE49-F238E27FC236}">
                    <a16:creationId xmlns:a16="http://schemas.microsoft.com/office/drawing/2014/main" id="{1F6B9750-2B2E-2F42-8947-5FEFDBD3A33D}"/>
                  </a:ext>
                </a:extLst>
              </p:cNvPr>
              <p:cNvSpPr>
                <a:spLocks noRot="1" noChangeAspect="1" noMove="1" noResize="1" noEditPoints="1" noAdjustHandles="1" noChangeArrowheads="1" noChangeShapeType="1" noTextEdit="1"/>
              </p:cNvSpPr>
              <p:nvPr/>
            </p:nvSpPr>
            <p:spPr>
              <a:xfrm>
                <a:off x="3358415" y="919411"/>
                <a:ext cx="4963885" cy="718457"/>
              </a:xfrm>
              <a:prstGeom prst="roundRect">
                <a:avLst/>
              </a:prstGeom>
              <a:blipFill>
                <a:blip r:embed="rId3"/>
                <a:stretch>
                  <a:fillRect t="-15517" b="-3448"/>
                </a:stretch>
              </a:blipFill>
              <a:ln>
                <a:solidFill>
                  <a:schemeClr val="bg1">
                    <a:lumMod val="65000"/>
                  </a:schemeClr>
                </a:solidFill>
              </a:ln>
            </p:spPr>
            <p:txBody>
              <a:bodyPr/>
              <a:lstStyle/>
              <a:p>
                <a:r>
                  <a:rPr lang="en-US">
                    <a:noFill/>
                  </a:rPr>
                  <a:t> </a:t>
                </a:r>
              </a:p>
            </p:txBody>
          </p:sp>
        </mc:Fallback>
      </mc:AlternateContent>
      <p:cxnSp>
        <p:nvCxnSpPr>
          <p:cNvPr id="95" name="Straight Connector 94">
            <a:extLst>
              <a:ext uri="{FF2B5EF4-FFF2-40B4-BE49-F238E27FC236}">
                <a16:creationId xmlns:a16="http://schemas.microsoft.com/office/drawing/2014/main" id="{B01033DD-5807-6443-85EA-DF4EFE1D1AB6}"/>
              </a:ext>
            </a:extLst>
          </p:cNvPr>
          <p:cNvCxnSpPr>
            <a:cxnSpLocks/>
            <a:stCxn id="66" idx="2"/>
            <a:endCxn id="119" idx="0"/>
          </p:cNvCxnSpPr>
          <p:nvPr/>
        </p:nvCxnSpPr>
        <p:spPr>
          <a:xfrm>
            <a:off x="5840358" y="1637868"/>
            <a:ext cx="0" cy="43345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5" name="Group 134">
            <a:extLst>
              <a:ext uri="{FF2B5EF4-FFF2-40B4-BE49-F238E27FC236}">
                <a16:creationId xmlns:a16="http://schemas.microsoft.com/office/drawing/2014/main" id="{9970DC15-FB6B-9746-B6AF-A9201106A008}"/>
              </a:ext>
            </a:extLst>
          </p:cNvPr>
          <p:cNvGrpSpPr/>
          <p:nvPr/>
        </p:nvGrpSpPr>
        <p:grpSpPr>
          <a:xfrm>
            <a:off x="1876049" y="1374892"/>
            <a:ext cx="7199777" cy="4169476"/>
            <a:chOff x="1876049" y="1278640"/>
            <a:chExt cx="7199777" cy="4169476"/>
          </a:xfrm>
        </p:grpSpPr>
        <p:grpSp>
          <p:nvGrpSpPr>
            <p:cNvPr id="133" name="Group 132">
              <a:extLst>
                <a:ext uri="{FF2B5EF4-FFF2-40B4-BE49-F238E27FC236}">
                  <a16:creationId xmlns:a16="http://schemas.microsoft.com/office/drawing/2014/main" id="{E45EBA19-467D-D04D-9515-1668D8B8A055}"/>
                </a:ext>
              </a:extLst>
            </p:cNvPr>
            <p:cNvGrpSpPr/>
            <p:nvPr/>
          </p:nvGrpSpPr>
          <p:grpSpPr>
            <a:xfrm>
              <a:off x="1876049" y="1278640"/>
              <a:ext cx="1482366" cy="3460832"/>
              <a:chOff x="1876049" y="1278640"/>
              <a:chExt cx="1482366" cy="3460832"/>
            </a:xfrm>
          </p:grpSpPr>
          <p:cxnSp>
            <p:nvCxnSpPr>
              <p:cNvPr id="108" name="Straight Connector 107">
                <a:extLst>
                  <a:ext uri="{FF2B5EF4-FFF2-40B4-BE49-F238E27FC236}">
                    <a16:creationId xmlns:a16="http://schemas.microsoft.com/office/drawing/2014/main" id="{5AC547BD-DF0F-9244-B3F3-0C8F48C7847D}"/>
                  </a:ext>
                </a:extLst>
              </p:cNvPr>
              <p:cNvCxnSpPr>
                <a:cxnSpLocks/>
              </p:cNvCxnSpPr>
              <p:nvPr/>
            </p:nvCxnSpPr>
            <p:spPr>
              <a:xfrm flipH="1">
                <a:off x="1876049" y="4721541"/>
                <a:ext cx="1440000" cy="0"/>
              </a:xfrm>
              <a:prstGeom prst="line">
                <a:avLst/>
              </a:prstGeom>
              <a:ln w="254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085D46E-5187-D642-85DC-F5C4FF91BB26}"/>
                  </a:ext>
                </a:extLst>
              </p:cNvPr>
              <p:cNvCxnSpPr>
                <a:cxnSpLocks/>
              </p:cNvCxnSpPr>
              <p:nvPr/>
            </p:nvCxnSpPr>
            <p:spPr>
              <a:xfrm flipV="1">
                <a:off x="1876049" y="1278640"/>
                <a:ext cx="0" cy="346083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CE65D53-8CDD-C748-8B39-F1B23C24B82B}"/>
                  </a:ext>
                </a:extLst>
              </p:cNvPr>
              <p:cNvCxnSpPr>
                <a:cxnSpLocks/>
                <a:endCxn id="66" idx="1"/>
              </p:cNvCxnSpPr>
              <p:nvPr/>
            </p:nvCxnSpPr>
            <p:spPr>
              <a:xfrm>
                <a:off x="1876049" y="1278640"/>
                <a:ext cx="1482366" cy="0"/>
              </a:xfrm>
              <a:prstGeom prst="line">
                <a:avLst/>
              </a:prstGeom>
              <a:ln w="25400" cap="rnd">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DA2234FA-F11D-324E-A57A-46A993928151}"/>
                  </a:ext>
                </a:extLst>
              </p:cNvPr>
              <p:cNvSpPr txBox="1"/>
              <p:nvPr/>
            </p:nvSpPr>
            <p:spPr>
              <a:xfrm>
                <a:off x="2064807" y="4170007"/>
                <a:ext cx="391454" cy="477054"/>
              </a:xfrm>
              <a:prstGeom prst="rect">
                <a:avLst/>
              </a:prstGeom>
              <a:noFill/>
            </p:spPr>
            <p:txBody>
              <a:bodyPr wrap="none" rtlCol="0">
                <a:spAutoFit/>
              </a:bodyPr>
              <a:lstStyle/>
              <a:p>
                <a:r>
                  <a:rPr lang="en-US" sz="2500" dirty="0"/>
                  <a:t>N</a:t>
                </a:r>
              </a:p>
            </p:txBody>
          </p:sp>
        </p:grpSp>
        <p:grpSp>
          <p:nvGrpSpPr>
            <p:cNvPr id="100" name="Group 99">
              <a:extLst>
                <a:ext uri="{FF2B5EF4-FFF2-40B4-BE49-F238E27FC236}">
                  <a16:creationId xmlns:a16="http://schemas.microsoft.com/office/drawing/2014/main" id="{6B66DDA6-8CA4-C646-BFD4-C422BFE8327D}"/>
                </a:ext>
              </a:extLst>
            </p:cNvPr>
            <p:cNvGrpSpPr/>
            <p:nvPr/>
          </p:nvGrpSpPr>
          <p:grpSpPr>
            <a:xfrm>
              <a:off x="2648952" y="4017079"/>
              <a:ext cx="6426874" cy="1431037"/>
              <a:chOff x="5585202" y="423433"/>
              <a:chExt cx="6426874" cy="1434233"/>
            </a:xfrm>
          </p:grpSpPr>
          <p:grpSp>
            <p:nvGrpSpPr>
              <p:cNvPr id="101" name="Group 100">
                <a:extLst>
                  <a:ext uri="{FF2B5EF4-FFF2-40B4-BE49-F238E27FC236}">
                    <a16:creationId xmlns:a16="http://schemas.microsoft.com/office/drawing/2014/main" id="{D5C61BC4-C00F-D443-81D6-0C1CFB06AFA1}"/>
                  </a:ext>
                </a:extLst>
              </p:cNvPr>
              <p:cNvGrpSpPr/>
              <p:nvPr/>
            </p:nvGrpSpPr>
            <p:grpSpPr>
              <a:xfrm>
                <a:off x="5585202" y="423433"/>
                <a:ext cx="6426874" cy="1434233"/>
                <a:chOff x="5585202" y="423433"/>
                <a:chExt cx="6426874" cy="1434233"/>
              </a:xfrm>
            </p:grpSpPr>
            <mc:AlternateContent xmlns:mc="http://schemas.openxmlformats.org/markup-compatibility/2006" xmlns:a14="http://schemas.microsoft.com/office/drawing/2010/main">
              <mc:Choice Requires="a14">
                <p:sp>
                  <p:nvSpPr>
                    <p:cNvPr id="104" name="Rectangle 103">
                      <a:extLst>
                        <a:ext uri="{FF2B5EF4-FFF2-40B4-BE49-F238E27FC236}">
                          <a16:creationId xmlns:a16="http://schemas.microsoft.com/office/drawing/2014/main" id="{891F157B-8DDC-5B41-A7C3-4B7CF6E59539}"/>
                        </a:ext>
                      </a:extLst>
                    </p:cNvPr>
                    <p:cNvSpPr/>
                    <p:nvPr/>
                  </p:nvSpPr>
                  <p:spPr>
                    <a:xfrm>
                      <a:off x="6294665" y="432416"/>
                      <a:ext cx="5006248" cy="1425250"/>
                    </a:xfrm>
                    <a:prstGeom prst="rect">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d>
                            <m:dPr>
                              <m:ctrlPr>
                                <a:rPr lang="en-US" sz="2200" i="1" smtClean="0">
                                  <a:solidFill>
                                    <a:schemeClr val="tx1"/>
                                  </a:solidFill>
                                  <a:latin typeface="Cambria Math" panose="02040503050406030204" pitchFamily="18" charset="0"/>
                                  <a:ea typeface="Cambria Math" panose="02040503050406030204" pitchFamily="18" charset="0"/>
                                </a:rPr>
                              </m:ctrlPr>
                            </m:dPr>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𝑎</m:t>
                                  </m:r>
                                </m:e>
                                <m:sup>
                                  <m:r>
                                    <a:rPr lang="en-US" sz="2200" i="1">
                                      <a:solidFill>
                                        <a:schemeClr val="tx1"/>
                                      </a:solidFill>
                                      <a:latin typeface="Cambria Math" panose="02040503050406030204" pitchFamily="18" charset="0"/>
                                      <a:ea typeface="Cambria Math" panose="02040503050406030204" pitchFamily="18" charset="0"/>
                                    </a:rPr>
                                    <m:t>𝑟</m:t>
                                  </m:r>
                                  <m:r>
                                    <a:rPr lang="en-US" sz="2200" i="1">
                                      <a:solidFill>
                                        <a:schemeClr val="tx1"/>
                                      </a:solidFill>
                                      <a:latin typeface="Cambria Math" panose="02040503050406030204" pitchFamily="18" charset="0"/>
                                      <a:ea typeface="Cambria Math" panose="02040503050406030204" pitchFamily="18" charset="0"/>
                                    </a:rPr>
                                    <m:t>/2</m:t>
                                  </m:r>
                                </m:sup>
                              </m:sSup>
                              <m:r>
                                <a:rPr lang="en-US" sz="2200" i="1">
                                  <a:solidFill>
                                    <a:schemeClr val="tx1"/>
                                  </a:solidFill>
                                  <a:latin typeface="Cambria Math" panose="02040503050406030204" pitchFamily="18" charset="0"/>
                                  <a:ea typeface="Cambria Math" panose="02040503050406030204" pitchFamily="18" charset="0"/>
                                </a:rPr>
                                <m:t>+1</m:t>
                              </m:r>
                            </m:e>
                          </m:d>
                          <m:d>
                            <m:dPr>
                              <m:ctrlPr>
                                <a:rPr lang="en-US" sz="2200" i="1">
                                  <a:solidFill>
                                    <a:schemeClr val="tx1"/>
                                  </a:solidFill>
                                  <a:latin typeface="Cambria Math" panose="02040503050406030204" pitchFamily="18" charset="0"/>
                                  <a:ea typeface="Cambria Math" panose="02040503050406030204" pitchFamily="18" charset="0"/>
                                </a:rPr>
                              </m:ctrlPr>
                            </m:dPr>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𝑎</m:t>
                                  </m:r>
                                </m:e>
                                <m:sup>
                                  <m:r>
                                    <a:rPr lang="en-US" sz="2200" i="1">
                                      <a:solidFill>
                                        <a:schemeClr val="tx1"/>
                                      </a:solidFill>
                                      <a:latin typeface="Cambria Math" panose="02040503050406030204" pitchFamily="18" charset="0"/>
                                      <a:ea typeface="Cambria Math" panose="02040503050406030204" pitchFamily="18" charset="0"/>
                                    </a:rPr>
                                    <m:t>𝑟</m:t>
                                  </m:r>
                                  <m:r>
                                    <a:rPr lang="en-US" sz="2200" i="1">
                                      <a:solidFill>
                                        <a:schemeClr val="tx1"/>
                                      </a:solidFill>
                                      <a:latin typeface="Cambria Math" panose="02040503050406030204" pitchFamily="18" charset="0"/>
                                      <a:ea typeface="Cambria Math" panose="02040503050406030204" pitchFamily="18" charset="0"/>
                                    </a:rPr>
                                    <m:t>/2</m:t>
                                  </m:r>
                                </m:sup>
                              </m:sSup>
                              <m:r>
                                <a:rPr lang="en-US" sz="2200" i="1">
                                  <a:solidFill>
                                    <a:schemeClr val="tx1"/>
                                  </a:solidFill>
                                  <a:latin typeface="Cambria Math" panose="02040503050406030204" pitchFamily="18" charset="0"/>
                                  <a:ea typeface="Cambria Math" panose="02040503050406030204" pitchFamily="18" charset="0"/>
                                </a:rPr>
                                <m:t>−1</m:t>
                              </m:r>
                            </m:e>
                          </m:d>
                        </m:oMath>
                      </a14:m>
                      <a:r>
                        <a:rPr lang="en-US" sz="2200" dirty="0">
                          <a:solidFill>
                            <a:schemeClr val="tx1"/>
                          </a:solidFill>
                        </a:rPr>
                        <a:t> </a:t>
                      </a:r>
                      <a14:m>
                        <m:oMath xmlns:m="http://schemas.openxmlformats.org/officeDocument/2006/math">
                          <m:r>
                            <a:rPr lang="en-US" sz="2200" i="1">
                              <a:solidFill>
                                <a:schemeClr val="tx1"/>
                              </a:solidFill>
                              <a:latin typeface="Cambria Math" panose="02040503050406030204" pitchFamily="18" charset="0"/>
                              <a:ea typeface="Cambria Math" panose="02040503050406030204" pitchFamily="18" charset="0"/>
                            </a:rPr>
                            <m:t>≡</m:t>
                          </m:r>
                          <m:r>
                            <a:rPr lang="en-US" sz="2200">
                              <a:solidFill>
                                <a:schemeClr val="tx1"/>
                              </a:solidFill>
                              <a:latin typeface="Cambria Math" panose="02040503050406030204" pitchFamily="18" charset="0"/>
                            </a:rPr>
                            <m:t>0 (</m:t>
                          </m:r>
                          <m:r>
                            <a:rPr lang="en-US" sz="2200" i="1">
                              <a:solidFill>
                                <a:schemeClr val="tx1"/>
                              </a:solidFill>
                              <a:latin typeface="Cambria Math" panose="02040503050406030204" pitchFamily="18" charset="0"/>
                            </a:rPr>
                            <m:t>𝑚𝑜𝑑</m:t>
                          </m:r>
                          <m:r>
                            <a:rPr lang="en-US" sz="2200" i="1">
                              <a:solidFill>
                                <a:schemeClr val="tx1"/>
                              </a:solidFill>
                              <a:latin typeface="Cambria Math" panose="02040503050406030204" pitchFamily="18" charset="0"/>
                            </a:rPr>
                            <m:t> </m:t>
                          </m:r>
                          <m:r>
                            <a:rPr lang="en-US" sz="2200" i="1">
                              <a:solidFill>
                                <a:schemeClr val="tx1"/>
                              </a:solidFill>
                              <a:latin typeface="Cambria Math" panose="02040503050406030204" pitchFamily="18" charset="0"/>
                            </a:rPr>
                            <m:t>𝑁</m:t>
                          </m:r>
                          <m:r>
                            <a:rPr lang="en-US" sz="2200">
                              <a:solidFill>
                                <a:schemeClr val="tx1"/>
                              </a:solidFill>
                              <a:latin typeface="Cambria Math" panose="02040503050406030204" pitchFamily="18" charset="0"/>
                            </a:rPr>
                            <m:t>)</m:t>
                          </m:r>
                        </m:oMath>
                      </a14:m>
                      <a:endParaRPr lang="sr-Latn-RS" sz="2200" b="0" i="0" dirty="0">
                        <a:solidFill>
                          <a:schemeClr val="tx1"/>
                        </a:solidFill>
                        <a:latin typeface="Cambria Math" panose="02040503050406030204" pitchFamily="18" charset="0"/>
                        <a:ea typeface="Cambria Math" panose="02040503050406030204" pitchFamily="18" charset="0"/>
                      </a:endParaRPr>
                    </a:p>
                    <a:p>
                      <a:pPr algn="ctr"/>
                      <a:endParaRPr lang="sr-Latn-RS" sz="1200" b="0" i="0" dirty="0">
                        <a:solidFill>
                          <a:schemeClr val="tx1"/>
                        </a:solidFill>
                        <a:latin typeface="Cambria Math" panose="02040503050406030204" pitchFamily="18" charset="0"/>
                        <a:ea typeface="Cambria Math" panose="02040503050406030204" pitchFamily="18" charset="0"/>
                      </a:endParaRPr>
                    </a:p>
                    <a:p>
                      <a:pPr algn="ctr"/>
                      <a14:m>
                        <m:oMath xmlns:m="http://schemas.openxmlformats.org/officeDocument/2006/math">
                          <m:r>
                            <a:rPr lang="en-US" sz="2200" b="0" i="0" smtClean="0">
                              <a:solidFill>
                                <a:schemeClr val="tx1"/>
                              </a:solidFill>
                              <a:latin typeface="Cambria Math" panose="02040503050406030204" pitchFamily="18" charset="0"/>
                              <a:ea typeface="Cambria Math" panose="02040503050406030204" pitchFamily="18" charset="0"/>
                            </a:rPr>
                            <m:t>1)  </m:t>
                          </m:r>
                          <m:r>
                            <a:rPr lang="en-US" sz="2200" i="1" smtClean="0">
                              <a:solidFill>
                                <a:schemeClr val="tx1"/>
                              </a:solidFill>
                              <a:latin typeface="Cambria Math" panose="02040503050406030204" pitchFamily="18" charset="0"/>
                              <a:ea typeface="Cambria Math" panose="02040503050406030204" pitchFamily="18" charset="0"/>
                            </a:rPr>
                            <m:t>𝑟</m:t>
                          </m:r>
                          <m:r>
                            <a:rPr lang="en-US" sz="2200" b="0" i="0" smtClean="0">
                              <a:solidFill>
                                <a:schemeClr val="tx1"/>
                              </a:solidFill>
                              <a:latin typeface="Cambria Math" panose="02040503050406030204" pitchFamily="18" charset="0"/>
                              <a:ea typeface="Cambria Math" panose="02040503050406030204" pitchFamily="18" charset="0"/>
                            </a:rPr>
                            <m:t>  </m:t>
                          </m:r>
                        </m:oMath>
                      </a14:m>
                      <a:r>
                        <a:rPr lang="en-US" sz="2200" dirty="0">
                          <a:solidFill>
                            <a:schemeClr val="tx1"/>
                          </a:solidFill>
                        </a:rPr>
                        <a:t>is even.     </a:t>
                      </a:r>
                      <a:r>
                        <a:rPr lang="en-US" sz="2200" b="1" dirty="0">
                          <a:solidFill>
                            <a:schemeClr val="tx1"/>
                          </a:solidFill>
                        </a:rPr>
                        <a:t>      </a:t>
                      </a:r>
                      <a:r>
                        <a:rPr lang="en-US" sz="2200" dirty="0">
                          <a:solidFill>
                            <a:schemeClr val="tx1"/>
                          </a:solidFill>
                        </a:rPr>
                        <a:t>&amp;  </a:t>
                      </a:r>
                    </a:p>
                    <a:p>
                      <a:pPr algn="ctr"/>
                      <a:r>
                        <a:rPr lang="en-US" sz="2200" dirty="0">
                          <a:solidFill>
                            <a:schemeClr val="tx1"/>
                          </a:solidFill>
                          <a:ea typeface="Cambria Math" panose="02040503050406030204" pitchFamily="18" charset="0"/>
                        </a:rPr>
                        <a:t>2)</a:t>
                      </a:r>
                      <a14:m>
                        <m:oMath xmlns:m="http://schemas.openxmlformats.org/officeDocument/2006/math">
                          <m:sSup>
                            <m:sSupPr>
                              <m:ctrlPr>
                                <a:rPr lang="en-US" sz="2400" i="1">
                                  <a:solidFill>
                                    <a:schemeClr val="tx1"/>
                                  </a:solidFill>
                                  <a:latin typeface="Cambria Math" panose="02040503050406030204" pitchFamily="18" charset="0"/>
                                  <a:ea typeface="Cambria Math" panose="02040503050406030204" pitchFamily="18" charset="0"/>
                                </a:rPr>
                              </m:ctrlPr>
                            </m:sSupPr>
                            <m:e>
                              <m:r>
                                <a:rPr lang="en-US" sz="2400" b="0" i="1" smtClean="0">
                                  <a:solidFill>
                                    <a:schemeClr val="tx1"/>
                                  </a:solidFill>
                                  <a:latin typeface="Cambria Math" panose="02040503050406030204" pitchFamily="18" charset="0"/>
                                  <a:ea typeface="Cambria Math" panose="02040503050406030204" pitchFamily="18" charset="0"/>
                                </a:rPr>
                                <m:t>  </m:t>
                              </m:r>
                              <m:r>
                                <a:rPr lang="en-US" sz="2400" i="1">
                                  <a:solidFill>
                                    <a:schemeClr val="tx1"/>
                                  </a:solidFill>
                                  <a:latin typeface="Cambria Math" panose="02040503050406030204" pitchFamily="18" charset="0"/>
                                  <a:ea typeface="Cambria Math" panose="02040503050406030204" pitchFamily="18" charset="0"/>
                                </a:rPr>
                                <m:t>𝑎</m:t>
                              </m:r>
                            </m:e>
                            <m:sup>
                              <m:r>
                                <a:rPr lang="en-US" sz="2400" i="1">
                                  <a:solidFill>
                                    <a:schemeClr val="tx1"/>
                                  </a:solidFill>
                                  <a:latin typeface="Cambria Math" panose="02040503050406030204" pitchFamily="18" charset="0"/>
                                  <a:ea typeface="Cambria Math" panose="02040503050406030204" pitchFamily="18" charset="0"/>
                                </a:rPr>
                                <m:t>𝑟</m:t>
                              </m:r>
                              <m:r>
                                <a:rPr lang="en-US" sz="2400" i="1">
                                  <a:solidFill>
                                    <a:schemeClr val="tx1"/>
                                  </a:solidFill>
                                  <a:latin typeface="Cambria Math" panose="02040503050406030204" pitchFamily="18" charset="0"/>
                                  <a:ea typeface="Cambria Math" panose="02040503050406030204" pitchFamily="18" charset="0"/>
                                </a:rPr>
                                <m:t>/2</m:t>
                              </m:r>
                            </m:sup>
                          </m:sSup>
                          <m:r>
                            <a:rPr lang="en-US" sz="2000" i="1">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−1</m:t>
                          </m:r>
                          <m:r>
                            <a:rPr lang="en-US" sz="2400" i="1">
                              <a:solidFill>
                                <a:schemeClr val="tx1"/>
                              </a:solidFill>
                              <a:latin typeface="Cambria Math" panose="02040503050406030204" pitchFamily="18" charset="0"/>
                              <a:ea typeface="Cambria Math" panose="02040503050406030204" pitchFamily="18" charset="0"/>
                            </a:rPr>
                            <m:t> </m:t>
                          </m:r>
                          <m:d>
                            <m:dPr>
                              <m:ctrlPr>
                                <a:rPr lang="en-US" sz="2400" i="1">
                                  <a:solidFill>
                                    <a:schemeClr val="tx1"/>
                                  </a:solidFill>
                                  <a:latin typeface="Cambria Math" panose="02040503050406030204" pitchFamily="18" charset="0"/>
                                  <a:ea typeface="Cambria Math" panose="02040503050406030204" pitchFamily="18" charset="0"/>
                                </a:rPr>
                              </m:ctrlPr>
                            </m:dPr>
                            <m:e>
                              <m:r>
                                <m:rPr>
                                  <m:sty m:val="p"/>
                                </m:rPr>
                                <a:rPr lang="en-US" sz="2400" i="0">
                                  <a:solidFill>
                                    <a:schemeClr val="tx1"/>
                                  </a:solidFill>
                                  <a:latin typeface="Cambria Math" panose="02040503050406030204" pitchFamily="18" charset="0"/>
                                  <a:ea typeface="Cambria Math" panose="02040503050406030204" pitchFamily="18" charset="0"/>
                                </a:rPr>
                                <m:t>mod</m:t>
                              </m:r>
                              <m:r>
                                <a:rPr lang="en-US" sz="2400" i="1">
                                  <a:solidFill>
                                    <a:schemeClr val="tx1"/>
                                  </a:solidFill>
                                  <a:latin typeface="Cambria Math" panose="02040503050406030204" pitchFamily="18" charset="0"/>
                                  <a:ea typeface="Cambria Math" panose="02040503050406030204" pitchFamily="18" charset="0"/>
                                </a:rPr>
                                <m:t> </m:t>
                              </m:r>
                              <m:r>
                                <a:rPr lang="en-US" sz="2400" i="1">
                                  <a:solidFill>
                                    <a:schemeClr val="tx1"/>
                                  </a:solidFill>
                                  <a:latin typeface="Cambria Math" panose="02040503050406030204" pitchFamily="18" charset="0"/>
                                  <a:ea typeface="Cambria Math" panose="02040503050406030204" pitchFamily="18" charset="0"/>
                                </a:rPr>
                                <m:t>𝑁</m:t>
                              </m:r>
                            </m:e>
                          </m:d>
                        </m:oMath>
                      </a14:m>
                      <a:endParaRPr lang="sr-Latn-RS" sz="2000" dirty="0">
                        <a:solidFill>
                          <a:schemeClr val="tx1"/>
                        </a:solidFill>
                        <a:ea typeface="Cambria Math" panose="02040503050406030204" pitchFamily="18" charset="0"/>
                      </a:endParaRPr>
                    </a:p>
                  </p:txBody>
                </p:sp>
              </mc:Choice>
              <mc:Fallback xmlns="">
                <p:sp>
                  <p:nvSpPr>
                    <p:cNvPr id="104" name="Rectangle 103">
                      <a:extLst>
                        <a:ext uri="{FF2B5EF4-FFF2-40B4-BE49-F238E27FC236}">
                          <a16:creationId xmlns:a16="http://schemas.microsoft.com/office/drawing/2014/main" id="{891F157B-8DDC-5B41-A7C3-4B7CF6E59539}"/>
                        </a:ext>
                      </a:extLst>
                    </p:cNvPr>
                    <p:cNvSpPr>
                      <a:spLocks noRot="1" noChangeAspect="1" noMove="1" noResize="1" noEditPoints="1" noAdjustHandles="1" noChangeArrowheads="1" noChangeShapeType="1" noTextEdit="1"/>
                    </p:cNvSpPr>
                    <p:nvPr/>
                  </p:nvSpPr>
                  <p:spPr>
                    <a:xfrm>
                      <a:off x="6294665" y="432416"/>
                      <a:ext cx="5006248" cy="1425250"/>
                    </a:xfrm>
                    <a:prstGeom prst="rect">
                      <a:avLst/>
                    </a:prstGeom>
                    <a:blipFill>
                      <a:blip r:embed="rId4"/>
                      <a:stretch>
                        <a:fillRect b="-4386"/>
                      </a:stretch>
                    </a:blipFill>
                    <a:ln>
                      <a:solidFill>
                        <a:schemeClr val="bg1">
                          <a:lumMod val="75000"/>
                        </a:schemeClr>
                      </a:solidFill>
                    </a:ln>
                  </p:spPr>
                  <p:txBody>
                    <a:bodyPr/>
                    <a:lstStyle/>
                    <a:p>
                      <a:r>
                        <a:rPr lang="en-US">
                          <a:noFill/>
                        </a:rPr>
                        <a:t> </a:t>
                      </a:r>
                    </a:p>
                  </p:txBody>
                </p:sp>
              </mc:Fallback>
            </mc:AlternateContent>
            <p:sp>
              <p:nvSpPr>
                <p:cNvPr id="105" name="Triangle 104">
                  <a:extLst>
                    <a:ext uri="{FF2B5EF4-FFF2-40B4-BE49-F238E27FC236}">
                      <a16:creationId xmlns:a16="http://schemas.microsoft.com/office/drawing/2014/main" id="{08D03578-A4E5-894F-966A-921FAFE32D98}"/>
                    </a:ext>
                  </a:extLst>
                </p:cNvPr>
                <p:cNvSpPr/>
                <p:nvPr/>
              </p:nvSpPr>
              <p:spPr>
                <a:xfrm rot="5400000">
                  <a:off x="10940872" y="774637"/>
                  <a:ext cx="1422408" cy="720000"/>
                </a:xfrm>
                <a:prstGeom prst="triangle">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00" dirty="0"/>
                </a:p>
              </p:txBody>
            </p:sp>
            <p:sp>
              <p:nvSpPr>
                <p:cNvPr id="106" name="Triangle 105">
                  <a:extLst>
                    <a:ext uri="{FF2B5EF4-FFF2-40B4-BE49-F238E27FC236}">
                      <a16:creationId xmlns:a16="http://schemas.microsoft.com/office/drawing/2014/main" id="{BF70E29B-EE32-094C-A063-E5DFAEF150FE}"/>
                    </a:ext>
                  </a:extLst>
                </p:cNvPr>
                <p:cNvSpPr/>
                <p:nvPr/>
              </p:nvSpPr>
              <p:spPr>
                <a:xfrm rot="16200000" flipH="1">
                  <a:off x="5244844" y="763792"/>
                  <a:ext cx="1400715" cy="720000"/>
                </a:xfrm>
                <a:prstGeom prst="triangle">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00"/>
                </a:p>
              </p:txBody>
            </p:sp>
          </p:grpSp>
          <p:cxnSp>
            <p:nvCxnSpPr>
              <p:cNvPr id="102" name="Straight Connector 101">
                <a:extLst>
                  <a:ext uri="{FF2B5EF4-FFF2-40B4-BE49-F238E27FC236}">
                    <a16:creationId xmlns:a16="http://schemas.microsoft.com/office/drawing/2014/main" id="{899DF57F-D22A-5B4E-85F2-0D8300C14C15}"/>
                  </a:ext>
                </a:extLst>
              </p:cNvPr>
              <p:cNvCxnSpPr>
                <a:cxnSpLocks/>
              </p:cNvCxnSpPr>
              <p:nvPr/>
            </p:nvCxnSpPr>
            <p:spPr>
              <a:xfrm>
                <a:off x="10580914" y="1147438"/>
                <a:ext cx="0" cy="698400"/>
              </a:xfrm>
              <a:prstGeom prst="line">
                <a:avLst/>
              </a:prstGeom>
              <a:ln w="127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B5C5D535-4B8A-8C43-BEF8-557AC44E6A6F}"/>
                  </a:ext>
                </a:extLst>
              </p:cNvPr>
              <p:cNvCxnSpPr>
                <a:cxnSpLocks/>
              </p:cNvCxnSpPr>
              <p:nvPr/>
            </p:nvCxnSpPr>
            <p:spPr>
              <a:xfrm>
                <a:off x="6972300" y="1148466"/>
                <a:ext cx="0" cy="698400"/>
              </a:xfrm>
              <a:prstGeom prst="line">
                <a:avLst/>
              </a:prstGeom>
              <a:ln w="127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grpSp>
        <p:nvGrpSpPr>
          <p:cNvPr id="136" name="Group 135">
            <a:extLst>
              <a:ext uri="{FF2B5EF4-FFF2-40B4-BE49-F238E27FC236}">
                <a16:creationId xmlns:a16="http://schemas.microsoft.com/office/drawing/2014/main" id="{62BFB24D-F3CB-6D42-9747-3BB78F21EC28}"/>
              </a:ext>
            </a:extLst>
          </p:cNvPr>
          <p:cNvGrpSpPr/>
          <p:nvPr/>
        </p:nvGrpSpPr>
        <p:grpSpPr>
          <a:xfrm>
            <a:off x="3358415" y="5510924"/>
            <a:ext cx="4963885" cy="1179929"/>
            <a:chOff x="3358415" y="5414672"/>
            <a:chExt cx="4963885" cy="1179929"/>
          </a:xfrm>
        </p:grpSpPr>
        <mc:AlternateContent xmlns:mc="http://schemas.openxmlformats.org/markup-compatibility/2006" xmlns:a14="http://schemas.microsoft.com/office/drawing/2010/main">
          <mc:Choice Requires="a14">
            <p:sp>
              <p:nvSpPr>
                <p:cNvPr id="119" name="Rounded Rectangle 118">
                  <a:extLst>
                    <a:ext uri="{FF2B5EF4-FFF2-40B4-BE49-F238E27FC236}">
                      <a16:creationId xmlns:a16="http://schemas.microsoft.com/office/drawing/2014/main" id="{9A3A6D23-8A60-5043-963D-46BE7DB8CC1B}"/>
                    </a:ext>
                  </a:extLst>
                </p:cNvPr>
                <p:cNvSpPr/>
                <p:nvPr/>
              </p:nvSpPr>
              <p:spPr>
                <a:xfrm>
                  <a:off x="3358415" y="5876144"/>
                  <a:ext cx="4963885" cy="718457"/>
                </a:xfrm>
                <a:prstGeom prst="roundRect">
                  <a:avLst/>
                </a:prstGeom>
                <a:solidFill>
                  <a:schemeClr val="accent4">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500" b="0" i="1" smtClean="0">
                            <a:solidFill>
                              <a:srgbClr val="002060"/>
                            </a:solidFill>
                            <a:latin typeface="Cambria Math" panose="02040503050406030204" pitchFamily="18" charset="0"/>
                            <a:ea typeface="Cambria Math" panose="02040503050406030204" pitchFamily="18" charset="0"/>
                          </a:rPr>
                          <m:t>𝑝</m:t>
                        </m:r>
                        <m:r>
                          <a:rPr lang="en-US" sz="2500" b="0" i="1" smtClean="0">
                            <a:solidFill>
                              <a:srgbClr val="002060"/>
                            </a:solidFill>
                            <a:latin typeface="Cambria Math" panose="02040503050406030204" pitchFamily="18" charset="0"/>
                            <a:ea typeface="Cambria Math" panose="02040503050406030204" pitchFamily="18" charset="0"/>
                          </a:rPr>
                          <m:t>,</m:t>
                        </m:r>
                        <m:r>
                          <a:rPr lang="en-US" sz="2500" b="0" i="1" smtClean="0">
                            <a:solidFill>
                              <a:srgbClr val="002060"/>
                            </a:solidFill>
                            <a:latin typeface="Cambria Math" panose="02040503050406030204" pitchFamily="18" charset="0"/>
                            <a:ea typeface="Cambria Math" panose="02040503050406030204" pitchFamily="18" charset="0"/>
                          </a:rPr>
                          <m:t>𝑞</m:t>
                        </m:r>
                        <m:r>
                          <a:rPr lang="en-US" sz="2500" b="0" i="1" smtClean="0">
                            <a:solidFill>
                              <a:srgbClr val="002060"/>
                            </a:solidFill>
                            <a:latin typeface="Cambria Math" panose="02040503050406030204" pitchFamily="18" charset="0"/>
                            <a:ea typeface="Cambria Math" panose="02040503050406030204" pitchFamily="18" charset="0"/>
                          </a:rPr>
                          <m:t>=</m:t>
                        </m:r>
                        <m:r>
                          <m:rPr>
                            <m:sty m:val="p"/>
                          </m:rPr>
                          <a:rPr lang="en-US" sz="2500" b="0" i="0" smtClean="0">
                            <a:solidFill>
                              <a:srgbClr val="AA22FF"/>
                            </a:solidFill>
                            <a:latin typeface="Cambria Math" panose="02040503050406030204" pitchFamily="18" charset="0"/>
                            <a:ea typeface="Cambria Math" panose="02040503050406030204" pitchFamily="18" charset="0"/>
                          </a:rPr>
                          <m:t>gcd</m:t>
                        </m:r>
                        <m:r>
                          <a:rPr lang="en-US" sz="2500" b="0" i="1" smtClean="0">
                            <a:solidFill>
                              <a:srgbClr val="002060"/>
                            </a:solidFill>
                            <a:latin typeface="Cambria Math" panose="02040503050406030204" pitchFamily="18" charset="0"/>
                            <a:ea typeface="Cambria Math" panose="02040503050406030204" pitchFamily="18" charset="0"/>
                          </a:rPr>
                          <m:t>⁡(</m:t>
                        </m:r>
                        <m:sSup>
                          <m:sSupPr>
                            <m:ctrlPr>
                              <a:rPr lang="en-US" sz="2500" i="1">
                                <a:solidFill>
                                  <a:srgbClr val="002060"/>
                                </a:solidFill>
                                <a:latin typeface="Cambria Math" panose="02040503050406030204" pitchFamily="18" charset="0"/>
                                <a:ea typeface="Cambria Math" panose="02040503050406030204" pitchFamily="18" charset="0"/>
                              </a:rPr>
                            </m:ctrlPr>
                          </m:sSupPr>
                          <m:e>
                            <m:r>
                              <a:rPr lang="en-US" sz="2500" b="0" i="1" smtClean="0">
                                <a:solidFill>
                                  <a:srgbClr val="002060"/>
                                </a:solidFill>
                                <a:latin typeface="Cambria Math" panose="02040503050406030204" pitchFamily="18" charset="0"/>
                                <a:ea typeface="Cambria Math" panose="02040503050406030204" pitchFamily="18" charset="0"/>
                              </a:rPr>
                              <m:t>𝑎</m:t>
                            </m:r>
                          </m:e>
                          <m:sup>
                            <m:r>
                              <a:rPr lang="en-US" sz="2500" b="0" i="1" smtClean="0">
                                <a:solidFill>
                                  <a:srgbClr val="002060"/>
                                </a:solidFill>
                                <a:latin typeface="Cambria Math" panose="02040503050406030204" pitchFamily="18" charset="0"/>
                                <a:ea typeface="Cambria Math" panose="02040503050406030204" pitchFamily="18" charset="0"/>
                              </a:rPr>
                              <m:t>𝑟</m:t>
                            </m:r>
                            <m:r>
                              <a:rPr lang="en-US" sz="2500" b="0" i="1" smtClean="0">
                                <a:solidFill>
                                  <a:srgbClr val="002060"/>
                                </a:solidFill>
                                <a:latin typeface="Cambria Math" panose="02040503050406030204" pitchFamily="18" charset="0"/>
                                <a:ea typeface="Cambria Math" panose="02040503050406030204" pitchFamily="18" charset="0"/>
                              </a:rPr>
                              <m:t>/2</m:t>
                            </m:r>
                          </m:sup>
                        </m:sSup>
                        <m:r>
                          <a:rPr lang="en-US" sz="2500" i="1" smtClean="0">
                            <a:solidFill>
                              <a:srgbClr val="002060"/>
                            </a:solidFill>
                            <a:latin typeface="Cambria Math" panose="02040503050406030204" pitchFamily="18" charset="0"/>
                            <a:ea typeface="Cambria Math" panose="02040503050406030204" pitchFamily="18" charset="0"/>
                          </a:rPr>
                          <m:t>±</m:t>
                        </m:r>
                        <m:r>
                          <a:rPr lang="en-US" sz="2500" b="0" i="1" smtClean="0">
                            <a:solidFill>
                              <a:srgbClr val="002060"/>
                            </a:solidFill>
                            <a:latin typeface="Cambria Math" panose="02040503050406030204" pitchFamily="18" charset="0"/>
                            <a:ea typeface="Cambria Math" panose="02040503050406030204" pitchFamily="18" charset="0"/>
                          </a:rPr>
                          <m:t>1,</m:t>
                        </m:r>
                        <m:r>
                          <a:rPr lang="en-US" sz="2500" b="0" i="1" smtClean="0">
                            <a:solidFill>
                              <a:srgbClr val="002060"/>
                            </a:solidFill>
                            <a:latin typeface="Cambria Math" panose="02040503050406030204" pitchFamily="18" charset="0"/>
                            <a:ea typeface="Cambria Math" panose="02040503050406030204" pitchFamily="18" charset="0"/>
                          </a:rPr>
                          <m:t>𝑁</m:t>
                        </m:r>
                        <m:r>
                          <a:rPr lang="en-US" sz="2500" b="0" i="1" smtClean="0">
                            <a:solidFill>
                              <a:srgbClr val="002060"/>
                            </a:solidFill>
                            <a:latin typeface="Cambria Math" panose="02040503050406030204" pitchFamily="18" charset="0"/>
                            <a:ea typeface="Cambria Math" panose="02040503050406030204" pitchFamily="18" charset="0"/>
                          </a:rPr>
                          <m:t>)</m:t>
                        </m:r>
                      </m:oMath>
                    </m:oMathPara>
                  </a14:m>
                  <a:endParaRPr lang="en-US" sz="2500" i="1" dirty="0">
                    <a:solidFill>
                      <a:srgbClr val="002060"/>
                    </a:solidFill>
                  </a:endParaRPr>
                </a:p>
              </p:txBody>
            </p:sp>
          </mc:Choice>
          <mc:Fallback xmlns="">
            <p:sp>
              <p:nvSpPr>
                <p:cNvPr id="119" name="Rounded Rectangle 118">
                  <a:extLst>
                    <a:ext uri="{FF2B5EF4-FFF2-40B4-BE49-F238E27FC236}">
                      <a16:creationId xmlns:a16="http://schemas.microsoft.com/office/drawing/2014/main" id="{9A3A6D23-8A60-5043-963D-46BE7DB8CC1B}"/>
                    </a:ext>
                  </a:extLst>
                </p:cNvPr>
                <p:cNvSpPr>
                  <a:spLocks noRot="1" noChangeAspect="1" noMove="1" noResize="1" noEditPoints="1" noAdjustHandles="1" noChangeArrowheads="1" noChangeShapeType="1" noTextEdit="1"/>
                </p:cNvSpPr>
                <p:nvPr/>
              </p:nvSpPr>
              <p:spPr>
                <a:xfrm>
                  <a:off x="3358415" y="5876144"/>
                  <a:ext cx="4963885" cy="718457"/>
                </a:xfrm>
                <a:prstGeom prst="roundRect">
                  <a:avLst/>
                </a:prstGeom>
                <a:blipFill>
                  <a:blip r:embed="rId5"/>
                  <a:stretch>
                    <a:fillRect/>
                  </a:stretch>
                </a:blipFill>
                <a:ln>
                  <a:solidFill>
                    <a:schemeClr val="bg1">
                      <a:lumMod val="65000"/>
                    </a:schemeClr>
                  </a:solidFill>
                </a:ln>
              </p:spPr>
              <p:txBody>
                <a:bodyPr/>
                <a:lstStyle/>
                <a:p>
                  <a:r>
                    <a:rPr lang="en-US">
                      <a:noFill/>
                    </a:rPr>
                    <a:t> </a:t>
                  </a:r>
                </a:p>
              </p:txBody>
            </p:sp>
          </mc:Fallback>
        </mc:AlternateContent>
        <p:sp>
          <p:nvSpPr>
            <p:cNvPr id="125" name="TextBox 124">
              <a:extLst>
                <a:ext uri="{FF2B5EF4-FFF2-40B4-BE49-F238E27FC236}">
                  <a16:creationId xmlns:a16="http://schemas.microsoft.com/office/drawing/2014/main" id="{D74029DD-0582-134A-A0C2-DBD803547758}"/>
                </a:ext>
              </a:extLst>
            </p:cNvPr>
            <p:cNvSpPr txBox="1"/>
            <p:nvPr/>
          </p:nvSpPr>
          <p:spPr>
            <a:xfrm>
              <a:off x="5928632" y="5414672"/>
              <a:ext cx="340158" cy="477054"/>
            </a:xfrm>
            <a:prstGeom prst="rect">
              <a:avLst/>
            </a:prstGeom>
            <a:noFill/>
          </p:spPr>
          <p:txBody>
            <a:bodyPr wrap="none" rtlCol="0">
              <a:spAutoFit/>
            </a:bodyPr>
            <a:lstStyle/>
            <a:p>
              <a:r>
                <a:rPr lang="en-US" sz="2500" dirty="0"/>
                <a:t>Y</a:t>
              </a:r>
            </a:p>
          </p:txBody>
        </p:sp>
      </p:grpSp>
      <p:grpSp>
        <p:nvGrpSpPr>
          <p:cNvPr id="4" name="Group 3">
            <a:extLst>
              <a:ext uri="{FF2B5EF4-FFF2-40B4-BE49-F238E27FC236}">
                <a16:creationId xmlns:a16="http://schemas.microsoft.com/office/drawing/2014/main" id="{A5A4D54D-1290-6947-AA3E-E78537BBF10B}"/>
              </a:ext>
            </a:extLst>
          </p:cNvPr>
          <p:cNvGrpSpPr/>
          <p:nvPr/>
        </p:nvGrpSpPr>
        <p:grpSpPr>
          <a:xfrm>
            <a:off x="3316049" y="1646802"/>
            <a:ext cx="7985942" cy="1182325"/>
            <a:chOff x="3316049" y="1646802"/>
            <a:chExt cx="7985942" cy="1182325"/>
          </a:xfrm>
        </p:grpSpPr>
        <p:grpSp>
          <p:nvGrpSpPr>
            <p:cNvPr id="129" name="Group 128">
              <a:extLst>
                <a:ext uri="{FF2B5EF4-FFF2-40B4-BE49-F238E27FC236}">
                  <a16:creationId xmlns:a16="http://schemas.microsoft.com/office/drawing/2014/main" id="{B872D81A-F480-924A-AD66-4B8E5EFAC740}"/>
                </a:ext>
              </a:extLst>
            </p:cNvPr>
            <p:cNvGrpSpPr/>
            <p:nvPr/>
          </p:nvGrpSpPr>
          <p:grpSpPr>
            <a:xfrm>
              <a:off x="8364663" y="1646802"/>
              <a:ext cx="2937328" cy="1182325"/>
              <a:chOff x="8364664" y="2014775"/>
              <a:chExt cx="2937328" cy="1182325"/>
            </a:xfrm>
          </p:grpSpPr>
          <p:sp>
            <p:nvSpPr>
              <p:cNvPr id="87" name="TextBox 86">
                <a:extLst>
                  <a:ext uri="{FF2B5EF4-FFF2-40B4-BE49-F238E27FC236}">
                    <a16:creationId xmlns:a16="http://schemas.microsoft.com/office/drawing/2014/main" id="{D35BE480-A0F5-B148-A4E6-3D73D1245F80}"/>
                  </a:ext>
                </a:extLst>
              </p:cNvPr>
              <p:cNvSpPr txBox="1"/>
              <p:nvPr/>
            </p:nvSpPr>
            <p:spPr>
              <a:xfrm>
                <a:off x="8407029" y="2077656"/>
                <a:ext cx="340158" cy="477054"/>
              </a:xfrm>
              <a:prstGeom prst="rect">
                <a:avLst/>
              </a:prstGeom>
              <a:noFill/>
            </p:spPr>
            <p:txBody>
              <a:bodyPr wrap="none" rtlCol="0">
                <a:spAutoFit/>
              </a:bodyPr>
              <a:lstStyle/>
              <a:p>
                <a:r>
                  <a:rPr lang="en-US" sz="2500" dirty="0"/>
                  <a:t>Y</a:t>
                </a:r>
              </a:p>
            </p:txBody>
          </p:sp>
          <mc:AlternateContent xmlns:mc="http://schemas.openxmlformats.org/markup-compatibility/2006" xmlns:a14="http://schemas.microsoft.com/office/drawing/2010/main">
            <mc:Choice Requires="a14">
              <p:sp>
                <p:nvSpPr>
                  <p:cNvPr id="88" name="Rounded Rectangle 87">
                    <a:extLst>
                      <a:ext uri="{FF2B5EF4-FFF2-40B4-BE49-F238E27FC236}">
                        <a16:creationId xmlns:a16="http://schemas.microsoft.com/office/drawing/2014/main" id="{454F05D3-7DA0-5941-ABE0-04C573E77F19}"/>
                      </a:ext>
                    </a:extLst>
                  </p:cNvPr>
                  <p:cNvSpPr/>
                  <p:nvPr/>
                </p:nvSpPr>
                <p:spPr>
                  <a:xfrm>
                    <a:off x="9056361" y="2014775"/>
                    <a:ext cx="2245631" cy="1182325"/>
                  </a:xfrm>
                  <a:prstGeom prst="roundRect">
                    <a:avLst/>
                  </a:prstGeom>
                  <a:solidFill>
                    <a:schemeClr val="accent4">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2500" b="0" i="1" smtClean="0">
                                  <a:solidFill>
                                    <a:srgbClr val="002060"/>
                                  </a:solidFill>
                                  <a:latin typeface="Cambria Math" panose="02040503050406030204" pitchFamily="18" charset="0"/>
                                  <a:ea typeface="Cambria Math" panose="02040503050406030204" pitchFamily="18" charset="0"/>
                                </a:rPr>
                              </m:ctrlPr>
                            </m:dPr>
                            <m:e>
                              <m:eqArr>
                                <m:eqArrPr>
                                  <m:ctrlPr>
                                    <a:rPr lang="en-US" sz="2500" b="0" i="1" smtClean="0">
                                      <a:solidFill>
                                        <a:srgbClr val="002060"/>
                                      </a:solidFill>
                                      <a:latin typeface="Cambria Math" panose="02040503050406030204" pitchFamily="18" charset="0"/>
                                      <a:ea typeface="Cambria Math" panose="02040503050406030204" pitchFamily="18" charset="0"/>
                                    </a:rPr>
                                  </m:ctrlPr>
                                </m:eqArrPr>
                                <m:e>
                                  <m:r>
                                    <a:rPr lang="en-US" sz="2500" i="1">
                                      <a:solidFill>
                                        <a:srgbClr val="002060"/>
                                      </a:solidFill>
                                      <a:latin typeface="Cambria Math" panose="02040503050406030204" pitchFamily="18" charset="0"/>
                                      <a:ea typeface="Cambria Math" panose="02040503050406030204" pitchFamily="18" charset="0"/>
                                    </a:rPr>
                                    <m:t>𝑝</m:t>
                                  </m:r>
                                  <m:r>
                                    <a:rPr lang="en-US" sz="2500" i="1">
                                      <a:solidFill>
                                        <a:srgbClr val="002060"/>
                                      </a:solidFill>
                                      <a:latin typeface="Cambria Math" panose="02040503050406030204" pitchFamily="18" charset="0"/>
                                      <a:ea typeface="Cambria Math" panose="02040503050406030204" pitchFamily="18" charset="0"/>
                                    </a:rPr>
                                    <m:t>=</m:t>
                                  </m:r>
                                  <m:r>
                                    <a:rPr lang="en-US" sz="2500" b="0" i="1" smtClean="0">
                                      <a:solidFill>
                                        <a:srgbClr val="002060"/>
                                      </a:solidFill>
                                      <a:latin typeface="Cambria Math" panose="02040503050406030204" pitchFamily="18" charset="0"/>
                                      <a:ea typeface="Cambria Math" panose="02040503050406030204" pitchFamily="18" charset="0"/>
                                    </a:rPr>
                                    <m:t>𝑎</m:t>
                                  </m:r>
                                  <m:r>
                                    <a:rPr lang="en-US" sz="2500" b="0" i="1" smtClean="0">
                                      <a:solidFill>
                                        <a:srgbClr val="002060"/>
                                      </a:solidFill>
                                      <a:latin typeface="Cambria Math" panose="02040503050406030204" pitchFamily="18" charset="0"/>
                                      <a:ea typeface="Cambria Math" panose="02040503050406030204" pitchFamily="18" charset="0"/>
                                    </a:rPr>
                                    <m:t>     </m:t>
                                  </m:r>
                                </m:e>
                                <m:e>
                                  <m:r>
                                    <a:rPr lang="en-US" sz="2500" b="0" i="1" smtClean="0">
                                      <a:solidFill>
                                        <a:srgbClr val="002060"/>
                                      </a:solidFill>
                                      <a:latin typeface="Cambria Math" panose="02040503050406030204" pitchFamily="18" charset="0"/>
                                      <a:ea typeface="Cambria Math" panose="02040503050406030204" pitchFamily="18" charset="0"/>
                                    </a:rPr>
                                    <m:t>𝑞</m:t>
                                  </m:r>
                                  <m:r>
                                    <a:rPr lang="en-US" sz="2500" i="1">
                                      <a:solidFill>
                                        <a:srgbClr val="002060"/>
                                      </a:solidFill>
                                      <a:latin typeface="Cambria Math" panose="02040503050406030204" pitchFamily="18" charset="0"/>
                                      <a:ea typeface="Cambria Math" panose="02040503050406030204" pitchFamily="18" charset="0"/>
                                    </a:rPr>
                                    <m:t>=</m:t>
                                  </m:r>
                                  <m:r>
                                    <a:rPr lang="en-US" sz="2500" i="1">
                                      <a:solidFill>
                                        <a:srgbClr val="002060"/>
                                      </a:solidFill>
                                      <a:latin typeface="Cambria Math" panose="02040503050406030204" pitchFamily="18" charset="0"/>
                                      <a:ea typeface="Cambria Math" panose="02040503050406030204" pitchFamily="18" charset="0"/>
                                    </a:rPr>
                                    <m:t>𝑁</m:t>
                                  </m:r>
                                  <m:r>
                                    <a:rPr lang="en-US" sz="2500" i="1">
                                      <a:solidFill>
                                        <a:srgbClr val="002060"/>
                                      </a:solidFill>
                                      <a:latin typeface="Cambria Math" panose="02040503050406030204" pitchFamily="18" charset="0"/>
                                      <a:ea typeface="Cambria Math" panose="02040503050406030204" pitchFamily="18" charset="0"/>
                                    </a:rPr>
                                    <m:t>/</m:t>
                                  </m:r>
                                  <m:r>
                                    <a:rPr lang="en-US" sz="2500" b="0" i="1" smtClean="0">
                                      <a:solidFill>
                                        <a:srgbClr val="002060"/>
                                      </a:solidFill>
                                      <a:latin typeface="Cambria Math" panose="02040503050406030204" pitchFamily="18" charset="0"/>
                                      <a:ea typeface="Cambria Math" panose="02040503050406030204" pitchFamily="18" charset="0"/>
                                    </a:rPr>
                                    <m:t>𝑎</m:t>
                                  </m:r>
                                </m:e>
                              </m:eqArr>
                            </m:e>
                          </m:d>
                        </m:oMath>
                      </m:oMathPara>
                    </a14:m>
                    <a:endParaRPr lang="en-US" sz="2500" i="1" dirty="0">
                      <a:solidFill>
                        <a:srgbClr val="002060"/>
                      </a:solidFill>
                    </a:endParaRPr>
                  </a:p>
                </p:txBody>
              </p:sp>
            </mc:Choice>
            <mc:Fallback xmlns="">
              <p:sp>
                <p:nvSpPr>
                  <p:cNvPr id="88" name="Rounded Rectangle 87">
                    <a:extLst>
                      <a:ext uri="{FF2B5EF4-FFF2-40B4-BE49-F238E27FC236}">
                        <a16:creationId xmlns:a16="http://schemas.microsoft.com/office/drawing/2014/main" id="{454F05D3-7DA0-5941-ABE0-04C573E77F19}"/>
                      </a:ext>
                    </a:extLst>
                  </p:cNvPr>
                  <p:cNvSpPr>
                    <a:spLocks noRot="1" noChangeAspect="1" noMove="1" noResize="1" noEditPoints="1" noAdjustHandles="1" noChangeArrowheads="1" noChangeShapeType="1" noTextEdit="1"/>
                  </p:cNvSpPr>
                  <p:nvPr/>
                </p:nvSpPr>
                <p:spPr>
                  <a:xfrm>
                    <a:off x="9056361" y="2014775"/>
                    <a:ext cx="2245631" cy="1182325"/>
                  </a:xfrm>
                  <a:prstGeom prst="roundRect">
                    <a:avLst/>
                  </a:prstGeom>
                  <a:blipFill>
                    <a:blip r:embed="rId7"/>
                    <a:stretch>
                      <a:fillRect l="-51397" t="-148421" b="-215789"/>
                    </a:stretch>
                  </a:blipFill>
                  <a:ln>
                    <a:solidFill>
                      <a:schemeClr val="bg1">
                        <a:lumMod val="75000"/>
                      </a:schemeClr>
                    </a:solidFill>
                  </a:ln>
                </p:spPr>
                <p:txBody>
                  <a:bodyPr/>
                  <a:lstStyle/>
                  <a:p>
                    <a:r>
                      <a:rPr lang="en-US">
                        <a:noFill/>
                      </a:rPr>
                      <a:t> </a:t>
                    </a:r>
                  </a:p>
                </p:txBody>
              </p:sp>
            </mc:Fallback>
          </mc:AlternateContent>
          <p:cxnSp>
            <p:nvCxnSpPr>
              <p:cNvPr id="90" name="Straight Connector 89">
                <a:extLst>
                  <a:ext uri="{FF2B5EF4-FFF2-40B4-BE49-F238E27FC236}">
                    <a16:creationId xmlns:a16="http://schemas.microsoft.com/office/drawing/2014/main" id="{DF325B8F-556E-ED45-9811-F72C531FFB76}"/>
                  </a:ext>
                </a:extLst>
              </p:cNvPr>
              <p:cNvCxnSpPr>
                <a:cxnSpLocks/>
                <a:stCxn id="69" idx="0"/>
                <a:endCxn id="88" idx="1"/>
              </p:cNvCxnSpPr>
              <p:nvPr/>
            </p:nvCxnSpPr>
            <p:spPr>
              <a:xfrm>
                <a:off x="8364664" y="2604492"/>
                <a:ext cx="691697" cy="1446"/>
              </a:xfrm>
              <a:prstGeom prst="line">
                <a:avLst/>
              </a:prstGeom>
              <a:ln w="25400">
                <a:solidFill>
                  <a:schemeClr val="tx1"/>
                </a:solidFill>
                <a:headEnd type="none" w="sm" len="sm"/>
                <a:tailEnd type="none" w="lg" len="lg"/>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0C7FF292-2A18-3247-9E4E-C8C1C5F47B50}"/>
                </a:ext>
              </a:extLst>
            </p:cNvPr>
            <p:cNvGrpSpPr/>
            <p:nvPr/>
          </p:nvGrpSpPr>
          <p:grpSpPr>
            <a:xfrm>
              <a:off x="3316049" y="1876519"/>
              <a:ext cx="5048614" cy="720000"/>
              <a:chOff x="6252300" y="1136862"/>
              <a:chExt cx="5048614" cy="721608"/>
            </a:xfrm>
          </p:grpSpPr>
          <p:grpSp>
            <p:nvGrpSpPr>
              <p:cNvPr id="85" name="Group 84">
                <a:extLst>
                  <a:ext uri="{FF2B5EF4-FFF2-40B4-BE49-F238E27FC236}">
                    <a16:creationId xmlns:a16="http://schemas.microsoft.com/office/drawing/2014/main" id="{3DAB405C-2595-744A-8480-FF8541C53A9A}"/>
                  </a:ext>
                </a:extLst>
              </p:cNvPr>
              <p:cNvGrpSpPr/>
              <p:nvPr/>
            </p:nvGrpSpPr>
            <p:grpSpPr>
              <a:xfrm>
                <a:off x="6252300" y="1136862"/>
                <a:ext cx="5048614" cy="721608"/>
                <a:chOff x="6252300" y="1136862"/>
                <a:chExt cx="5048614" cy="721608"/>
              </a:xfrm>
            </p:grpSpPr>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2447F18B-565E-3146-B963-7129D84BD225}"/>
                        </a:ext>
                      </a:extLst>
                    </p:cNvPr>
                    <p:cNvSpPr/>
                    <p:nvPr/>
                  </p:nvSpPr>
                  <p:spPr>
                    <a:xfrm>
                      <a:off x="6972300" y="1137665"/>
                      <a:ext cx="3608614" cy="720000"/>
                    </a:xfrm>
                    <a:prstGeom prst="rect">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sz="2500" b="0" i="0" smtClean="0">
                                <a:solidFill>
                                  <a:srgbClr val="AA22FF"/>
                                </a:solidFill>
                                <a:latin typeface="Cambria Math" panose="02040503050406030204" pitchFamily="18" charset="0"/>
                                <a:ea typeface="Cambria Math" panose="02040503050406030204" pitchFamily="18" charset="0"/>
                              </a:rPr>
                              <m:t>gcd</m:t>
                            </m:r>
                            <m:d>
                              <m:dPr>
                                <m:ctrlPr>
                                  <a:rPr lang="en-US" sz="2500" i="1">
                                    <a:solidFill>
                                      <a:srgbClr val="002060"/>
                                    </a:solidFill>
                                    <a:latin typeface="Cambria Math" panose="02040503050406030204" pitchFamily="18" charset="0"/>
                                    <a:ea typeface="Cambria Math" panose="02040503050406030204" pitchFamily="18" charset="0"/>
                                  </a:rPr>
                                </m:ctrlPr>
                              </m:dPr>
                              <m:e>
                                <m:r>
                                  <a:rPr lang="en-US" sz="2500" b="0" i="1" smtClean="0">
                                    <a:solidFill>
                                      <a:srgbClr val="002060"/>
                                    </a:solidFill>
                                    <a:latin typeface="Cambria Math" panose="02040503050406030204" pitchFamily="18" charset="0"/>
                                    <a:ea typeface="Cambria Math" panose="02040503050406030204" pitchFamily="18" charset="0"/>
                                  </a:rPr>
                                  <m:t>𝑎</m:t>
                                </m:r>
                                <m:r>
                                  <a:rPr lang="en-US" sz="2500" i="1">
                                    <a:solidFill>
                                      <a:srgbClr val="002060"/>
                                    </a:solidFill>
                                    <a:latin typeface="Cambria Math" panose="02040503050406030204" pitchFamily="18" charset="0"/>
                                    <a:ea typeface="Cambria Math" panose="02040503050406030204" pitchFamily="18" charset="0"/>
                                  </a:rPr>
                                  <m:t>,</m:t>
                                </m:r>
                                <m:r>
                                  <a:rPr lang="en-US" sz="2500" i="1">
                                    <a:solidFill>
                                      <a:srgbClr val="002060"/>
                                    </a:solidFill>
                                    <a:latin typeface="Cambria Math" panose="02040503050406030204" pitchFamily="18" charset="0"/>
                                    <a:ea typeface="Cambria Math" panose="02040503050406030204" pitchFamily="18" charset="0"/>
                                  </a:rPr>
                                  <m:t>𝑁</m:t>
                                </m:r>
                              </m:e>
                            </m:d>
                            <m:r>
                              <a:rPr lang="en-US" sz="2500" b="0" i="1" smtClean="0">
                                <a:solidFill>
                                  <a:srgbClr val="002060"/>
                                </a:solidFill>
                                <a:latin typeface="Cambria Math" panose="02040503050406030204" pitchFamily="18" charset="0"/>
                                <a:ea typeface="Cambria Math" panose="02040503050406030204" pitchFamily="18" charset="0"/>
                              </a:rPr>
                              <m:t>&gt;</m:t>
                            </m:r>
                            <m:r>
                              <a:rPr lang="en-US" sz="2500" i="1">
                                <a:solidFill>
                                  <a:srgbClr val="002060"/>
                                </a:solidFill>
                                <a:latin typeface="Cambria Math" panose="02040503050406030204" pitchFamily="18" charset="0"/>
                                <a:ea typeface="Cambria Math" panose="02040503050406030204" pitchFamily="18" charset="0"/>
                              </a:rPr>
                              <m:t>1</m:t>
                            </m:r>
                            <m:r>
                              <a:rPr lang="en-US" sz="2500" b="0" i="1" smtClean="0">
                                <a:solidFill>
                                  <a:srgbClr val="002060"/>
                                </a:solidFill>
                                <a:latin typeface="Cambria Math" panose="02040503050406030204" pitchFamily="18" charset="0"/>
                                <a:ea typeface="Cambria Math" panose="02040503050406030204" pitchFamily="18" charset="0"/>
                              </a:rPr>
                              <m:t>  ?</m:t>
                            </m:r>
                          </m:oMath>
                        </m:oMathPara>
                      </a14:m>
                      <a:endParaRPr lang="en-US" sz="2500" dirty="0"/>
                    </a:p>
                  </p:txBody>
                </p:sp>
              </mc:Choice>
              <mc:Fallback xmlns="">
                <p:sp>
                  <p:nvSpPr>
                    <p:cNvPr id="68" name="Rectangle 67">
                      <a:extLst>
                        <a:ext uri="{FF2B5EF4-FFF2-40B4-BE49-F238E27FC236}">
                          <a16:creationId xmlns:a16="http://schemas.microsoft.com/office/drawing/2014/main" id="{2447F18B-565E-3146-B963-7129D84BD225}"/>
                        </a:ext>
                      </a:extLst>
                    </p:cNvPr>
                    <p:cNvSpPr>
                      <a:spLocks noRot="1" noChangeAspect="1" noMove="1" noResize="1" noEditPoints="1" noAdjustHandles="1" noChangeArrowheads="1" noChangeShapeType="1" noTextEdit="1"/>
                    </p:cNvSpPr>
                    <p:nvPr/>
                  </p:nvSpPr>
                  <p:spPr>
                    <a:xfrm>
                      <a:off x="6972300" y="1137665"/>
                      <a:ext cx="3608614" cy="720000"/>
                    </a:xfrm>
                    <a:prstGeom prst="rect">
                      <a:avLst/>
                    </a:prstGeom>
                    <a:blipFill>
                      <a:blip r:embed="rId8"/>
                      <a:stretch>
                        <a:fillRect/>
                      </a:stretch>
                    </a:blipFill>
                    <a:ln>
                      <a:solidFill>
                        <a:schemeClr val="bg1">
                          <a:lumMod val="75000"/>
                        </a:schemeClr>
                      </a:solidFill>
                    </a:ln>
                  </p:spPr>
                  <p:txBody>
                    <a:bodyPr/>
                    <a:lstStyle/>
                    <a:p>
                      <a:r>
                        <a:rPr lang="en-US">
                          <a:noFill/>
                        </a:rPr>
                        <a:t> </a:t>
                      </a:r>
                    </a:p>
                  </p:txBody>
                </p:sp>
              </mc:Fallback>
            </mc:AlternateContent>
            <p:sp>
              <p:nvSpPr>
                <p:cNvPr id="69" name="Triangle 68">
                  <a:extLst>
                    <a:ext uri="{FF2B5EF4-FFF2-40B4-BE49-F238E27FC236}">
                      <a16:creationId xmlns:a16="http://schemas.microsoft.com/office/drawing/2014/main" id="{D82B28E0-6B89-F747-B430-F709A467E7D6}"/>
                    </a:ext>
                  </a:extLst>
                </p:cNvPr>
                <p:cNvSpPr/>
                <p:nvPr/>
              </p:nvSpPr>
              <p:spPr>
                <a:xfrm rot="5400000">
                  <a:off x="10580110" y="1137666"/>
                  <a:ext cx="721608" cy="720000"/>
                </a:xfrm>
                <a:prstGeom prst="triangle">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00" dirty="0"/>
                </a:p>
              </p:txBody>
            </p:sp>
            <p:sp>
              <p:nvSpPr>
                <p:cNvPr id="70" name="Triangle 69">
                  <a:extLst>
                    <a:ext uri="{FF2B5EF4-FFF2-40B4-BE49-F238E27FC236}">
                      <a16:creationId xmlns:a16="http://schemas.microsoft.com/office/drawing/2014/main" id="{965E0084-ADFB-DB4A-BA99-F86B8DBA9AF9}"/>
                    </a:ext>
                  </a:extLst>
                </p:cNvPr>
                <p:cNvSpPr/>
                <p:nvPr/>
              </p:nvSpPr>
              <p:spPr>
                <a:xfrm rot="16200000" flipH="1">
                  <a:off x="6251496" y="1137666"/>
                  <a:ext cx="721608" cy="720000"/>
                </a:xfrm>
                <a:prstGeom prst="triangle">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00"/>
                </a:p>
              </p:txBody>
            </p:sp>
          </p:grpSp>
          <p:cxnSp>
            <p:nvCxnSpPr>
              <p:cNvPr id="73" name="Straight Connector 72">
                <a:extLst>
                  <a:ext uri="{FF2B5EF4-FFF2-40B4-BE49-F238E27FC236}">
                    <a16:creationId xmlns:a16="http://schemas.microsoft.com/office/drawing/2014/main" id="{76EAC15F-2CD8-064B-88CA-E827C26FDB6B}"/>
                  </a:ext>
                </a:extLst>
              </p:cNvPr>
              <p:cNvCxnSpPr>
                <a:cxnSpLocks/>
              </p:cNvCxnSpPr>
              <p:nvPr/>
            </p:nvCxnSpPr>
            <p:spPr>
              <a:xfrm>
                <a:off x="10580914" y="1147438"/>
                <a:ext cx="0" cy="698400"/>
              </a:xfrm>
              <a:prstGeom prst="line">
                <a:avLst/>
              </a:prstGeom>
              <a:ln w="127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DD2C066-D2F9-6344-AA89-A6621EF22588}"/>
                  </a:ext>
                </a:extLst>
              </p:cNvPr>
              <p:cNvCxnSpPr>
                <a:cxnSpLocks/>
              </p:cNvCxnSpPr>
              <p:nvPr/>
            </p:nvCxnSpPr>
            <p:spPr>
              <a:xfrm>
                <a:off x="6972300" y="1148466"/>
                <a:ext cx="0" cy="698400"/>
              </a:xfrm>
              <a:prstGeom prst="line">
                <a:avLst/>
              </a:prstGeom>
              <a:ln w="127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grpSp>
        <p:nvGrpSpPr>
          <p:cNvPr id="130" name="Group 129">
            <a:extLst>
              <a:ext uri="{FF2B5EF4-FFF2-40B4-BE49-F238E27FC236}">
                <a16:creationId xmlns:a16="http://schemas.microsoft.com/office/drawing/2014/main" id="{9AA355B0-5DD1-9648-BBA9-ACC984EDE7ED}"/>
              </a:ext>
            </a:extLst>
          </p:cNvPr>
          <p:cNvGrpSpPr/>
          <p:nvPr/>
        </p:nvGrpSpPr>
        <p:grpSpPr>
          <a:xfrm>
            <a:off x="3358415" y="2504588"/>
            <a:ext cx="5273425" cy="1679751"/>
            <a:chOff x="3358415" y="2408336"/>
            <a:chExt cx="5273425" cy="1679751"/>
          </a:xfrm>
        </p:grpSpPr>
        <mc:AlternateContent xmlns:mc="http://schemas.openxmlformats.org/markup-compatibility/2006" xmlns:a14="http://schemas.microsoft.com/office/drawing/2010/main">
          <mc:Choice Requires="a14">
            <p:sp>
              <p:nvSpPr>
                <p:cNvPr id="99" name="Rounded Rectangle 98">
                  <a:extLst>
                    <a:ext uri="{FF2B5EF4-FFF2-40B4-BE49-F238E27FC236}">
                      <a16:creationId xmlns:a16="http://schemas.microsoft.com/office/drawing/2014/main" id="{16A81E10-B478-634C-A31A-F1D0D6C01D67}"/>
                    </a:ext>
                  </a:extLst>
                </p:cNvPr>
                <p:cNvSpPr/>
                <p:nvPr/>
              </p:nvSpPr>
              <p:spPr>
                <a:xfrm>
                  <a:off x="3358415" y="2860877"/>
                  <a:ext cx="4963885" cy="909978"/>
                </a:xfrm>
                <a:prstGeom prst="roundRect">
                  <a:avLst/>
                </a:prstGeom>
                <a:solidFill>
                  <a:schemeClr val="accent2">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dirty="0">
                      <a:solidFill>
                        <a:srgbClr val="002060"/>
                      </a:solidFill>
                      <a:latin typeface="+mj-lt"/>
                    </a:rPr>
                    <a:t>find the period</a:t>
                  </a:r>
                  <a:r>
                    <a:rPr lang="en-US" sz="2500" dirty="0">
                      <a:solidFill>
                        <a:srgbClr val="0000FF"/>
                      </a:solidFill>
                      <a:latin typeface="+mj-lt"/>
                    </a:rPr>
                    <a:t> </a:t>
                  </a:r>
                  <a14:m>
                    <m:oMath xmlns:m="http://schemas.openxmlformats.org/officeDocument/2006/math">
                      <m:r>
                        <a:rPr lang="en-US" sz="2500" b="1" i="1" smtClean="0">
                          <a:solidFill>
                            <a:srgbClr val="0000FF"/>
                          </a:solidFill>
                          <a:latin typeface="Cambria Math" panose="02040503050406030204" pitchFamily="18" charset="0"/>
                          <a:ea typeface="Cambria Math" panose="02040503050406030204" pitchFamily="18" charset="0"/>
                        </a:rPr>
                        <m:t>𝒓</m:t>
                      </m:r>
                    </m:oMath>
                  </a14:m>
                  <a:r>
                    <a:rPr lang="en-US" sz="2500" dirty="0">
                      <a:solidFill>
                        <a:srgbClr val="002060"/>
                      </a:solidFill>
                      <a:latin typeface="+mj-lt"/>
                    </a:rPr>
                    <a:t> of</a:t>
                  </a:r>
                  <a:endParaRPr lang="en-US" sz="2500" b="0" i="0" dirty="0">
                    <a:solidFill>
                      <a:srgbClr val="002060"/>
                    </a:solidFill>
                    <a:latin typeface="+mj-lt"/>
                  </a:endParaRPr>
                </a:p>
                <a:p>
                  <a:pPr algn="ctr"/>
                  <a14:m>
                    <m:oMathPara xmlns:m="http://schemas.openxmlformats.org/officeDocument/2006/math">
                      <m:oMathParaPr>
                        <m:jc m:val="centerGroup"/>
                      </m:oMathParaPr>
                      <m:oMath xmlns:m="http://schemas.openxmlformats.org/officeDocument/2006/math">
                        <m:sSup>
                          <m:sSupPr>
                            <m:ctrlPr>
                              <a:rPr lang="en-US" sz="2500" i="1">
                                <a:solidFill>
                                  <a:srgbClr val="002060"/>
                                </a:solidFill>
                                <a:latin typeface="Cambria Math" panose="02040503050406030204" pitchFamily="18" charset="0"/>
                              </a:rPr>
                            </m:ctrlPr>
                          </m:sSupPr>
                          <m:e>
                            <m:r>
                              <a:rPr lang="en-US" sz="2500" b="0" i="1" smtClean="0">
                                <a:solidFill>
                                  <a:srgbClr val="002060"/>
                                </a:solidFill>
                                <a:latin typeface="Cambria Math" panose="02040503050406030204" pitchFamily="18" charset="0"/>
                              </a:rPr>
                              <m:t>𝑎</m:t>
                            </m:r>
                          </m:e>
                          <m:sup>
                            <m:r>
                              <a:rPr lang="en-US" sz="2500" b="0" i="1" smtClean="0">
                                <a:solidFill>
                                  <a:srgbClr val="002060"/>
                                </a:solidFill>
                                <a:latin typeface="Cambria Math" panose="02040503050406030204" pitchFamily="18" charset="0"/>
                              </a:rPr>
                              <m:t>𝑥</m:t>
                            </m:r>
                          </m:sup>
                        </m:sSup>
                        <m:r>
                          <a:rPr lang="en-US" sz="2800" i="1" smtClean="0">
                            <a:solidFill>
                              <a:schemeClr val="tx1"/>
                            </a:solidFill>
                            <a:latin typeface="Cambria Math" panose="02040503050406030204" pitchFamily="18" charset="0"/>
                            <a:ea typeface="Cambria Math" panose="02040503050406030204" pitchFamily="18" charset="0"/>
                          </a:rPr>
                          <m:t> </m:t>
                        </m:r>
                        <m:r>
                          <m:rPr>
                            <m:sty m:val="p"/>
                          </m:rPr>
                          <a:rPr lang="en-US" sz="2500" i="0">
                            <a:solidFill>
                              <a:srgbClr val="002060"/>
                            </a:solidFill>
                            <a:latin typeface="Cambria Math" panose="02040503050406030204" pitchFamily="18" charset="0"/>
                          </a:rPr>
                          <m:t>mod</m:t>
                        </m:r>
                        <m:r>
                          <a:rPr lang="en-US" sz="2500" i="1">
                            <a:solidFill>
                              <a:srgbClr val="002060"/>
                            </a:solidFill>
                            <a:latin typeface="Cambria Math" panose="02040503050406030204" pitchFamily="18" charset="0"/>
                          </a:rPr>
                          <m:t> </m:t>
                        </m:r>
                        <m:r>
                          <a:rPr lang="en-US" sz="2500" i="1">
                            <a:solidFill>
                              <a:srgbClr val="002060"/>
                            </a:solidFill>
                            <a:latin typeface="Cambria Math" panose="02040503050406030204" pitchFamily="18" charset="0"/>
                          </a:rPr>
                          <m:t>𝑁</m:t>
                        </m:r>
                      </m:oMath>
                    </m:oMathPara>
                  </a14:m>
                  <a:endParaRPr lang="en-US" sz="2500" i="1" dirty="0">
                    <a:solidFill>
                      <a:srgbClr val="002060"/>
                    </a:solidFill>
                    <a:latin typeface="+mj-lt"/>
                  </a:endParaRPr>
                </a:p>
              </p:txBody>
            </p:sp>
          </mc:Choice>
          <mc:Fallback xmlns="">
            <p:sp>
              <p:nvSpPr>
                <p:cNvPr id="99" name="Rounded Rectangle 98">
                  <a:extLst>
                    <a:ext uri="{FF2B5EF4-FFF2-40B4-BE49-F238E27FC236}">
                      <a16:creationId xmlns:a16="http://schemas.microsoft.com/office/drawing/2014/main" id="{16A81E10-B478-634C-A31A-F1D0D6C01D67}"/>
                    </a:ext>
                  </a:extLst>
                </p:cNvPr>
                <p:cNvSpPr>
                  <a:spLocks noRot="1" noChangeAspect="1" noMove="1" noResize="1" noEditPoints="1" noAdjustHandles="1" noChangeArrowheads="1" noChangeShapeType="1" noTextEdit="1"/>
                </p:cNvSpPr>
                <p:nvPr/>
              </p:nvSpPr>
              <p:spPr>
                <a:xfrm>
                  <a:off x="3358415" y="2860877"/>
                  <a:ext cx="4963885" cy="909978"/>
                </a:xfrm>
                <a:prstGeom prst="roundRect">
                  <a:avLst/>
                </a:prstGeom>
                <a:blipFill>
                  <a:blip r:embed="rId9"/>
                  <a:stretch>
                    <a:fillRect t="-2740" b="-9589"/>
                  </a:stretch>
                </a:blipFill>
                <a:ln>
                  <a:solidFill>
                    <a:schemeClr val="bg1">
                      <a:lumMod val="65000"/>
                    </a:schemeClr>
                  </a:solidFill>
                </a:ln>
              </p:spPr>
              <p:txBody>
                <a:bodyPr/>
                <a:lstStyle/>
                <a:p>
                  <a:r>
                    <a:rPr lang="en-US">
                      <a:noFill/>
                    </a:rPr>
                    <a:t> </a:t>
                  </a:r>
                </a:p>
              </p:txBody>
            </p:sp>
          </mc:Fallback>
        </mc:AlternateContent>
        <p:sp>
          <p:nvSpPr>
            <p:cNvPr id="126" name="TextBox 125">
              <a:extLst>
                <a:ext uri="{FF2B5EF4-FFF2-40B4-BE49-F238E27FC236}">
                  <a16:creationId xmlns:a16="http://schemas.microsoft.com/office/drawing/2014/main" id="{5CDB79E7-5D40-8149-87EB-EEFD9A8361A0}"/>
                </a:ext>
              </a:extLst>
            </p:cNvPr>
            <p:cNvSpPr txBox="1"/>
            <p:nvPr/>
          </p:nvSpPr>
          <p:spPr>
            <a:xfrm>
              <a:off x="5886954" y="2408336"/>
              <a:ext cx="391454" cy="477054"/>
            </a:xfrm>
            <a:prstGeom prst="rect">
              <a:avLst/>
            </a:prstGeom>
            <a:noFill/>
          </p:spPr>
          <p:txBody>
            <a:bodyPr wrap="none" rtlCol="0">
              <a:spAutoFit/>
            </a:bodyPr>
            <a:lstStyle/>
            <a:p>
              <a:r>
                <a:rPr lang="en-US" sz="2500" dirty="0"/>
                <a:t>N</a:t>
              </a:r>
            </a:p>
          </p:txBody>
        </p:sp>
        <p:sp>
          <p:nvSpPr>
            <p:cNvPr id="127" name="TextBox 126">
              <a:extLst>
                <a:ext uri="{FF2B5EF4-FFF2-40B4-BE49-F238E27FC236}">
                  <a16:creationId xmlns:a16="http://schemas.microsoft.com/office/drawing/2014/main" id="{22358556-E7BA-B249-8247-B91129588005}"/>
                </a:ext>
              </a:extLst>
            </p:cNvPr>
            <p:cNvSpPr txBox="1"/>
            <p:nvPr/>
          </p:nvSpPr>
          <p:spPr>
            <a:xfrm>
              <a:off x="8012760" y="3380201"/>
              <a:ext cx="619080" cy="707886"/>
            </a:xfrm>
            <a:prstGeom prst="rect">
              <a:avLst/>
            </a:prstGeom>
            <a:noFill/>
          </p:spPr>
          <p:txBody>
            <a:bodyPr wrap="none" rtlCol="0">
              <a:spAutoFit/>
            </a:bodyPr>
            <a:lstStyle/>
            <a:p>
              <a:r>
                <a:rPr lang="en-US" sz="4000" dirty="0">
                  <a:solidFill>
                    <a:schemeClr val="bg1">
                      <a:lumMod val="50000"/>
                    </a:schemeClr>
                  </a:solidFill>
                  <a:latin typeface="Quantum Flat (BRK)" pitchFamily="2" charset="0"/>
                </a:rPr>
                <a:t>Q</a:t>
              </a:r>
            </a:p>
          </p:txBody>
        </p:sp>
      </p:grpSp>
    </p:spTree>
    <p:extLst>
      <p:ext uri="{BB962C8B-B14F-4D97-AF65-F5344CB8AC3E}">
        <p14:creationId xmlns:p14="http://schemas.microsoft.com/office/powerpoint/2010/main" val="87566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0"/>
                                        </p:tgtEl>
                                        <p:attrNameLst>
                                          <p:attrName>style.visibility</p:attrName>
                                        </p:attrNameLst>
                                      </p:cBhvr>
                                      <p:to>
                                        <p:strVal val="visible"/>
                                      </p:to>
                                    </p:set>
                                    <p:animEffect transition="in" filter="blinds(horizontal)">
                                      <p:cBhvr>
                                        <p:cTn id="12" dur="500"/>
                                        <p:tgtEl>
                                          <p:spTgt spid="13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5"/>
                                        </p:tgtEl>
                                        <p:attrNameLst>
                                          <p:attrName>style.visibility</p:attrName>
                                        </p:attrNameLst>
                                      </p:cBhvr>
                                      <p:to>
                                        <p:strVal val="visible"/>
                                      </p:to>
                                    </p:set>
                                    <p:animEffect transition="in" filter="blinds(horizontal)">
                                      <p:cBhvr>
                                        <p:cTn id="17" dur="500"/>
                                        <p:tgtEl>
                                          <p:spTgt spid="13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6"/>
                                        </p:tgtEl>
                                        <p:attrNameLst>
                                          <p:attrName>style.visibility</p:attrName>
                                        </p:attrNameLst>
                                      </p:cBhvr>
                                      <p:to>
                                        <p:strVal val="visible"/>
                                      </p:to>
                                    </p:set>
                                    <p:animEffect transition="in" filter="blinds(horizontal)">
                                      <p:cBhvr>
                                        <p:cTn id="22"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5CBF-9082-374A-88E7-0C226E7BA669}"/>
              </a:ext>
            </a:extLst>
          </p:cNvPr>
          <p:cNvSpPr>
            <a:spLocks noGrp="1"/>
          </p:cNvSpPr>
          <p:nvPr>
            <p:ph type="title"/>
          </p:nvPr>
        </p:nvSpPr>
        <p:spPr>
          <a:xfrm>
            <a:off x="0" y="0"/>
            <a:ext cx="12192000" cy="928688"/>
          </a:xfrm>
        </p:spPr>
        <p:txBody>
          <a:bodyPr/>
          <a:lstStyle/>
          <a:p>
            <a:r>
              <a:rPr lang="en-ZA" dirty="0"/>
              <a:t>Shor’s Algorithm: Factoring N = 15</a:t>
            </a:r>
            <a:endParaRPr lang="en-US" dirty="0"/>
          </a:p>
        </p:txBody>
      </p:sp>
      <p:sp>
        <p:nvSpPr>
          <p:cNvPr id="3" name="Slide Number Placeholder 2">
            <a:extLst>
              <a:ext uri="{FF2B5EF4-FFF2-40B4-BE49-F238E27FC236}">
                <a16:creationId xmlns:a16="http://schemas.microsoft.com/office/drawing/2014/main" id="{C7CE435C-71C6-194F-96D1-25A339026D0D}"/>
              </a:ext>
            </a:extLst>
          </p:cNvPr>
          <p:cNvSpPr>
            <a:spLocks noGrp="1"/>
          </p:cNvSpPr>
          <p:nvPr>
            <p:ph type="sldNum" sz="quarter" idx="12"/>
          </p:nvPr>
        </p:nvSpPr>
        <p:spPr/>
        <p:txBody>
          <a:bodyPr/>
          <a:lstStyle/>
          <a:p>
            <a:fld id="{591A223C-FA10-BC46-A853-03BA373D023C}" type="slidenum">
              <a:rPr lang="en-US" smtClean="0"/>
              <a:t>41</a:t>
            </a:fld>
            <a:endParaRPr lang="en-US"/>
          </a:p>
        </p:txBody>
      </p:sp>
      <p:cxnSp>
        <p:nvCxnSpPr>
          <p:cNvPr id="9" name="Straight Connector 8">
            <a:extLst>
              <a:ext uri="{FF2B5EF4-FFF2-40B4-BE49-F238E27FC236}">
                <a16:creationId xmlns:a16="http://schemas.microsoft.com/office/drawing/2014/main" id="{8300A2C5-A246-444A-9A4C-8A26B0F23803}"/>
              </a:ext>
            </a:extLst>
          </p:cNvPr>
          <p:cNvCxnSpPr>
            <a:cxnSpLocks/>
          </p:cNvCxnSpPr>
          <p:nvPr/>
        </p:nvCxnSpPr>
        <p:spPr>
          <a:xfrm>
            <a:off x="6198630" y="1785356"/>
            <a:ext cx="1" cy="36275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Rounded Rectangle 33">
                <a:extLst>
                  <a:ext uri="{FF2B5EF4-FFF2-40B4-BE49-F238E27FC236}">
                    <a16:creationId xmlns:a16="http://schemas.microsoft.com/office/drawing/2014/main" id="{3B36507F-DD21-D34E-8A0A-9D51222E4813}"/>
                  </a:ext>
                </a:extLst>
              </p:cNvPr>
              <p:cNvSpPr/>
              <p:nvPr/>
            </p:nvSpPr>
            <p:spPr>
              <a:xfrm>
                <a:off x="3504175" y="2216286"/>
                <a:ext cx="5400000" cy="1080000"/>
              </a:xfrm>
              <a:prstGeom prst="roundRect">
                <a:avLst/>
              </a:prstGeom>
              <a:solidFill>
                <a:schemeClr val="accent2">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2060"/>
                    </a:solidFill>
                  </a:rPr>
                  <a:t>the period of  </a:t>
                </a:r>
                <a14:m>
                  <m:oMath xmlns:m="http://schemas.openxmlformats.org/officeDocument/2006/math">
                    <m:sSup>
                      <m:sSupPr>
                        <m:ctrlPr>
                          <a:rPr lang="en-US" sz="2400" i="1">
                            <a:solidFill>
                              <a:srgbClr val="002060"/>
                            </a:solidFill>
                            <a:latin typeface="Cambria Math" panose="02040503050406030204" pitchFamily="18" charset="0"/>
                          </a:rPr>
                        </m:ctrlPr>
                      </m:sSupPr>
                      <m:e>
                        <m:r>
                          <a:rPr lang="en-US" sz="2400" b="0" i="1" smtClean="0">
                            <a:solidFill>
                              <a:srgbClr val="002060"/>
                            </a:solidFill>
                            <a:latin typeface="Cambria Math" panose="02040503050406030204" pitchFamily="18" charset="0"/>
                          </a:rPr>
                          <m:t>7</m:t>
                        </m:r>
                      </m:e>
                      <m:sup>
                        <m:r>
                          <a:rPr lang="en-US" sz="2400" b="0" i="1" smtClean="0">
                            <a:solidFill>
                              <a:srgbClr val="002060"/>
                            </a:solidFill>
                            <a:latin typeface="Cambria Math" panose="02040503050406030204" pitchFamily="18" charset="0"/>
                          </a:rPr>
                          <m:t>𝑥</m:t>
                        </m:r>
                      </m:sup>
                    </m:sSup>
                    <m:r>
                      <m:rPr>
                        <m:sty m:val="p"/>
                      </m:rPr>
                      <a:rPr lang="en-US" sz="2400">
                        <a:solidFill>
                          <a:srgbClr val="002060"/>
                        </a:solidFill>
                        <a:latin typeface="Cambria Math" panose="02040503050406030204" pitchFamily="18" charset="0"/>
                      </a:rPr>
                      <m:t>mod</m:t>
                    </m:r>
                    <m:r>
                      <a:rPr lang="en-US" sz="2400" i="1">
                        <a:solidFill>
                          <a:srgbClr val="002060"/>
                        </a:solidFill>
                        <a:latin typeface="Cambria Math" panose="02040503050406030204" pitchFamily="18" charset="0"/>
                      </a:rPr>
                      <m:t> 15</m:t>
                    </m:r>
                  </m:oMath>
                </a14:m>
                <a:r>
                  <a:rPr lang="en-US" sz="2400" dirty="0">
                    <a:solidFill>
                      <a:srgbClr val="002060"/>
                    </a:solidFill>
                  </a:rPr>
                  <a:t> is</a:t>
                </a:r>
                <a:r>
                  <a:rPr lang="en-US" sz="2400" i="1" dirty="0">
                    <a:solidFill>
                      <a:srgbClr val="002060"/>
                    </a:solidFill>
                  </a:rPr>
                  <a:t> </a:t>
                </a:r>
                <a:r>
                  <a:rPr lang="en-US" sz="2400" dirty="0">
                    <a:solidFill>
                      <a:srgbClr val="002060"/>
                    </a:solidFill>
                  </a:rPr>
                  <a:t> </a:t>
                </a:r>
                <a14:m>
                  <m:oMath xmlns:m="http://schemas.openxmlformats.org/officeDocument/2006/math">
                    <m:r>
                      <a:rPr lang="en-US" sz="2400" b="0" i="1" smtClean="0">
                        <a:solidFill>
                          <a:srgbClr val="0000FF"/>
                        </a:solidFill>
                        <a:latin typeface="Cambria Math" panose="02040503050406030204" pitchFamily="18" charset="0"/>
                        <a:ea typeface="Cambria Math" panose="02040503050406030204" pitchFamily="18" charset="0"/>
                      </a:rPr>
                      <m:t>𝑟</m:t>
                    </m:r>
                    <m:r>
                      <a:rPr lang="en-US" sz="2400" b="0" i="1" smtClean="0">
                        <a:solidFill>
                          <a:srgbClr val="0000FF"/>
                        </a:solidFill>
                        <a:latin typeface="Cambria Math" panose="02040503050406030204" pitchFamily="18" charset="0"/>
                        <a:ea typeface="Cambria Math" panose="02040503050406030204" pitchFamily="18" charset="0"/>
                      </a:rPr>
                      <m:t>=4</m:t>
                    </m:r>
                  </m:oMath>
                </a14:m>
                <a:endParaRPr lang="en-US" sz="2400" i="1" dirty="0">
                  <a:solidFill>
                    <a:srgbClr val="0000FF"/>
                  </a:solidFill>
                </a:endParaRPr>
              </a:p>
            </p:txBody>
          </p:sp>
        </mc:Choice>
        <mc:Fallback xmlns="">
          <p:sp>
            <p:nvSpPr>
              <p:cNvPr id="34" name="Rounded Rectangle 33">
                <a:extLst>
                  <a:ext uri="{FF2B5EF4-FFF2-40B4-BE49-F238E27FC236}">
                    <a16:creationId xmlns:a16="http://schemas.microsoft.com/office/drawing/2014/main" id="{3B36507F-DD21-D34E-8A0A-9D51222E4813}"/>
                  </a:ext>
                </a:extLst>
              </p:cNvPr>
              <p:cNvSpPr>
                <a:spLocks noRot="1" noChangeAspect="1" noMove="1" noResize="1" noEditPoints="1" noAdjustHandles="1" noChangeArrowheads="1" noChangeShapeType="1" noTextEdit="1"/>
              </p:cNvSpPr>
              <p:nvPr/>
            </p:nvSpPr>
            <p:spPr>
              <a:xfrm>
                <a:off x="3504175" y="2216286"/>
                <a:ext cx="5400000" cy="1080000"/>
              </a:xfrm>
              <a:prstGeom prst="roundRect">
                <a:avLst/>
              </a:prstGeom>
              <a:blipFill>
                <a:blip r:embed="rId3"/>
                <a:stretch>
                  <a:fillRect/>
                </a:stretch>
              </a:blipFill>
              <a:ln>
                <a:solidFill>
                  <a:schemeClr val="bg1">
                    <a:lumMod val="6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ounded Rectangle 42">
                <a:extLst>
                  <a:ext uri="{FF2B5EF4-FFF2-40B4-BE49-F238E27FC236}">
                    <a16:creationId xmlns:a16="http://schemas.microsoft.com/office/drawing/2014/main" id="{F456045E-3EBA-4D4F-AA93-48A8251FBB93}"/>
                  </a:ext>
                </a:extLst>
              </p:cNvPr>
              <p:cNvSpPr/>
              <p:nvPr/>
            </p:nvSpPr>
            <p:spPr>
              <a:xfrm>
                <a:off x="3504175" y="1116210"/>
                <a:ext cx="5400000" cy="720000"/>
              </a:xfrm>
              <a:prstGeom prst="roundRect">
                <a:avLst/>
              </a:prstGeom>
              <a:solidFill>
                <a:schemeClr val="accent4">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i="1" dirty="0">
                    <a:solidFill>
                      <a:srgbClr val="0000FF"/>
                    </a:solidFill>
                  </a:rPr>
                  <a:t>N=</a:t>
                </a:r>
                <a:r>
                  <a:rPr lang="en-US" sz="2400" dirty="0">
                    <a:solidFill>
                      <a:srgbClr val="0000FF"/>
                    </a:solidFill>
                    <a:ea typeface="Cambria Math" panose="02040503050406030204" pitchFamily="18" charset="0"/>
                  </a:rPr>
                  <a:t> </a:t>
                </a:r>
                <a14:m>
                  <m:oMath xmlns:m="http://schemas.openxmlformats.org/officeDocument/2006/math">
                    <m:r>
                      <a:rPr lang="en-US" sz="2400" i="1">
                        <a:solidFill>
                          <a:srgbClr val="0000FF"/>
                        </a:solidFill>
                        <a:latin typeface="Cambria Math" panose="02040503050406030204" pitchFamily="18" charset="0"/>
                        <a:ea typeface="Cambria Math" panose="02040503050406030204" pitchFamily="18" charset="0"/>
                      </a:rPr>
                      <m:t>𝑝𝑞</m:t>
                    </m:r>
                  </m:oMath>
                </a14:m>
                <a:r>
                  <a:rPr lang="en-US" sz="2400" i="1" dirty="0">
                    <a:solidFill>
                      <a:srgbClr val="0000FF"/>
                    </a:solidFill>
                  </a:rPr>
                  <a:t>=15</a:t>
                </a:r>
                <a14:m>
                  <m:oMath xmlns:m="http://schemas.openxmlformats.org/officeDocument/2006/math">
                    <m:r>
                      <a:rPr lang="en-US" sz="2400" i="1">
                        <a:solidFill>
                          <a:schemeClr val="tx1"/>
                        </a:solidFill>
                        <a:latin typeface="Cambria Math" panose="02040503050406030204" pitchFamily="18" charset="0"/>
                      </a:rPr>
                      <m:t>, </m:t>
                    </m:r>
                    <m:r>
                      <a:rPr lang="en-US" sz="2400" i="1" smtClean="0">
                        <a:solidFill>
                          <a:srgbClr val="0000FF"/>
                        </a:solidFill>
                        <a:latin typeface="Cambria Math" panose="02040503050406030204" pitchFamily="18" charset="0"/>
                      </a:rPr>
                      <m:t>𝑎</m:t>
                    </m:r>
                    <m:r>
                      <a:rPr lang="en-US" sz="2400" i="1">
                        <a:solidFill>
                          <a:srgbClr val="0000FF"/>
                        </a:solidFill>
                        <a:latin typeface="Cambria Math" panose="02040503050406030204" pitchFamily="18" charset="0"/>
                      </a:rPr>
                      <m:t>=7</m:t>
                    </m:r>
                  </m:oMath>
                </a14:m>
                <a:r>
                  <a:rPr lang="en-US" sz="2400" dirty="0">
                    <a:solidFill>
                      <a:schemeClr val="tx1"/>
                    </a:solidFill>
                  </a:rPr>
                  <a:t> </a:t>
                </a:r>
              </a:p>
            </p:txBody>
          </p:sp>
        </mc:Choice>
        <mc:Fallback xmlns="">
          <p:sp>
            <p:nvSpPr>
              <p:cNvPr id="43" name="Rounded Rectangle 42">
                <a:extLst>
                  <a:ext uri="{FF2B5EF4-FFF2-40B4-BE49-F238E27FC236}">
                    <a16:creationId xmlns:a16="http://schemas.microsoft.com/office/drawing/2014/main" id="{F456045E-3EBA-4D4F-AA93-48A8251FBB93}"/>
                  </a:ext>
                </a:extLst>
              </p:cNvPr>
              <p:cNvSpPr>
                <a:spLocks noRot="1" noChangeAspect="1" noMove="1" noResize="1" noEditPoints="1" noAdjustHandles="1" noChangeArrowheads="1" noChangeShapeType="1" noTextEdit="1"/>
              </p:cNvSpPr>
              <p:nvPr/>
            </p:nvSpPr>
            <p:spPr>
              <a:xfrm>
                <a:off x="3504175" y="1116210"/>
                <a:ext cx="5400000" cy="720000"/>
              </a:xfrm>
              <a:prstGeom prst="roundRect">
                <a:avLst/>
              </a:prstGeom>
              <a:blipFill>
                <a:blip r:embed="rId4"/>
                <a:stretch>
                  <a:fillRect/>
                </a:stretch>
              </a:blipFill>
              <a:ln>
                <a:solidFill>
                  <a:schemeClr val="bg1">
                    <a:lumMod val="65000"/>
                  </a:schemeClr>
                </a:solidFill>
              </a:ln>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18322AFD-FCB3-1B4F-9495-FC9C49BBFA88}"/>
              </a:ext>
            </a:extLst>
          </p:cNvPr>
          <p:cNvGrpSpPr/>
          <p:nvPr/>
        </p:nvGrpSpPr>
        <p:grpSpPr>
          <a:xfrm>
            <a:off x="3059193" y="3660699"/>
            <a:ext cx="6522592" cy="1356438"/>
            <a:chOff x="6252300" y="1136862"/>
            <a:chExt cx="5048614" cy="721608"/>
          </a:xfrm>
        </p:grpSpPr>
        <p:grpSp>
          <p:nvGrpSpPr>
            <p:cNvPr id="47" name="Group 46">
              <a:extLst>
                <a:ext uri="{FF2B5EF4-FFF2-40B4-BE49-F238E27FC236}">
                  <a16:creationId xmlns:a16="http://schemas.microsoft.com/office/drawing/2014/main" id="{DAF3B260-A794-B146-B3E4-86ED5A8EBC29}"/>
                </a:ext>
              </a:extLst>
            </p:cNvPr>
            <p:cNvGrpSpPr/>
            <p:nvPr/>
          </p:nvGrpSpPr>
          <p:grpSpPr>
            <a:xfrm>
              <a:off x="6252300" y="1136862"/>
              <a:ext cx="5048614" cy="721608"/>
              <a:chOff x="6252300" y="1136862"/>
              <a:chExt cx="5048614" cy="721608"/>
            </a:xfrm>
          </p:grpSpPr>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3B05DD7D-4C3A-A242-AFAA-059DAA594747}"/>
                      </a:ext>
                    </a:extLst>
                  </p:cNvPr>
                  <p:cNvSpPr/>
                  <p:nvPr/>
                </p:nvSpPr>
                <p:spPr>
                  <a:xfrm>
                    <a:off x="6972300" y="1137666"/>
                    <a:ext cx="3608614" cy="720000"/>
                  </a:xfrm>
                  <a:prstGeom prst="rect">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2060"/>
                        </a:solidFill>
                        <a:ea typeface="Cambria Math" panose="02040503050406030204" pitchFamily="18" charset="0"/>
                      </a:rPr>
                      <a:t>  </a:t>
                    </a:r>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𝑟</m:t>
                        </m:r>
                        <m:r>
                          <a:rPr lang="en-US" sz="2800" b="0" i="0" smtClean="0">
                            <a:solidFill>
                              <a:srgbClr val="002060"/>
                            </a:solidFill>
                            <a:latin typeface="Cambria Math" panose="02040503050406030204" pitchFamily="18" charset="0"/>
                            <a:ea typeface="Cambria Math" panose="02040503050406030204" pitchFamily="18" charset="0"/>
                          </a:rPr>
                          <m:t>=4</m:t>
                        </m:r>
                      </m:oMath>
                    </a14:m>
                    <a:r>
                      <a:rPr lang="en-US" sz="2800" dirty="0">
                        <a:solidFill>
                          <a:srgbClr val="002060"/>
                        </a:solidFill>
                      </a:rPr>
                      <a:t> is even &amp;</a:t>
                    </a:r>
                  </a:p>
                  <a:p>
                    <a:pPr algn="ctr"/>
                    <a14:m>
                      <m:oMathPara xmlns:m="http://schemas.openxmlformats.org/officeDocument/2006/math">
                        <m:oMathParaPr>
                          <m:jc m:val="centerGroup"/>
                        </m:oMathParaPr>
                        <m:oMath xmlns:m="http://schemas.openxmlformats.org/officeDocument/2006/math">
                          <m:sSup>
                            <m:sSupPr>
                              <m:ctrlPr>
                                <a:rPr lang="en-US" sz="2800" i="1">
                                  <a:solidFill>
                                    <a:srgbClr val="002060"/>
                                  </a:solidFill>
                                  <a:latin typeface="Cambria Math" panose="02040503050406030204" pitchFamily="18" charset="0"/>
                                  <a:ea typeface="Cambria Math" panose="02040503050406030204" pitchFamily="18" charset="0"/>
                                </a:rPr>
                              </m:ctrlPr>
                            </m:sSupPr>
                            <m:e>
                              <m:r>
                                <a:rPr lang="en-US" sz="2800" b="0" i="1" smtClean="0">
                                  <a:solidFill>
                                    <a:srgbClr val="002060"/>
                                  </a:solidFill>
                                  <a:latin typeface="Cambria Math" panose="02040503050406030204" pitchFamily="18" charset="0"/>
                                  <a:ea typeface="Cambria Math" panose="02040503050406030204" pitchFamily="18" charset="0"/>
                                </a:rPr>
                                <m:t>𝑎</m:t>
                              </m:r>
                            </m:e>
                            <m:sup>
                              <m:r>
                                <a:rPr lang="en-US" sz="2800" i="1">
                                  <a:solidFill>
                                    <a:srgbClr val="002060"/>
                                  </a:solidFill>
                                  <a:latin typeface="Cambria Math" panose="02040503050406030204" pitchFamily="18" charset="0"/>
                                  <a:ea typeface="Cambria Math" panose="02040503050406030204" pitchFamily="18" charset="0"/>
                                </a:rPr>
                                <m:t>𝑟</m:t>
                              </m:r>
                              <m:r>
                                <a:rPr lang="en-US" sz="2800" i="1">
                                  <a:solidFill>
                                    <a:srgbClr val="002060"/>
                                  </a:solidFill>
                                  <a:latin typeface="Cambria Math" panose="02040503050406030204" pitchFamily="18" charset="0"/>
                                  <a:ea typeface="Cambria Math" panose="02040503050406030204" pitchFamily="18" charset="0"/>
                                </a:rPr>
                                <m:t>/2</m:t>
                              </m:r>
                            </m:sup>
                          </m:sSup>
                          <m:r>
                            <a:rPr lang="en-US" sz="2800" b="0" i="1" smtClean="0">
                              <a:solidFill>
                                <a:srgbClr val="002060"/>
                              </a:solidFill>
                              <a:latin typeface="Cambria Math" panose="02040503050406030204" pitchFamily="18" charset="0"/>
                              <a:ea typeface="Cambria Math" panose="02040503050406030204" pitchFamily="18" charset="0"/>
                            </a:rPr>
                            <m:t>+1=50 ≢0 </m:t>
                          </m:r>
                          <m:d>
                            <m:dPr>
                              <m:ctrlPr>
                                <a:rPr lang="en-US" sz="2800" b="0" i="1" smtClean="0">
                                  <a:solidFill>
                                    <a:srgbClr val="002060"/>
                                  </a:solidFill>
                                  <a:latin typeface="Cambria Math" panose="02040503050406030204" pitchFamily="18" charset="0"/>
                                  <a:ea typeface="Cambria Math" panose="02040503050406030204" pitchFamily="18" charset="0"/>
                                </a:rPr>
                              </m:ctrlPr>
                            </m:dPr>
                            <m:e>
                              <m:r>
                                <a:rPr lang="en-US" sz="2800" b="0" i="1" smtClean="0">
                                  <a:solidFill>
                                    <a:srgbClr val="002060"/>
                                  </a:solidFill>
                                  <a:latin typeface="Cambria Math" panose="02040503050406030204" pitchFamily="18" charset="0"/>
                                  <a:ea typeface="Cambria Math" panose="02040503050406030204" pitchFamily="18" charset="0"/>
                                </a:rPr>
                                <m:t>𝑚𝑜𝑑</m:t>
                              </m:r>
                              <m:r>
                                <a:rPr lang="en-US" sz="2800" b="0" i="1" smtClean="0">
                                  <a:solidFill>
                                    <a:srgbClr val="002060"/>
                                  </a:solidFill>
                                  <a:latin typeface="Cambria Math" panose="02040503050406030204" pitchFamily="18" charset="0"/>
                                  <a:ea typeface="Cambria Math" panose="02040503050406030204" pitchFamily="18" charset="0"/>
                                </a:rPr>
                                <m:t> 15</m:t>
                              </m:r>
                            </m:e>
                          </m:d>
                        </m:oMath>
                      </m:oMathPara>
                    </a14:m>
                    <a:endParaRPr lang="en-US" sz="2800" b="0" dirty="0">
                      <a:solidFill>
                        <a:srgbClr val="002060"/>
                      </a:solidFill>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sz="2800" i="1">
                                  <a:solidFill>
                                    <a:srgbClr val="002060"/>
                                  </a:solidFill>
                                  <a:latin typeface="Cambria Math" panose="02040503050406030204" pitchFamily="18" charset="0"/>
                                  <a:ea typeface="Cambria Math" panose="02040503050406030204" pitchFamily="18" charset="0"/>
                                </a:rPr>
                              </m:ctrlPr>
                            </m:sSupPr>
                            <m:e>
                              <m:r>
                                <a:rPr lang="en-US" sz="2800" i="1">
                                  <a:solidFill>
                                    <a:srgbClr val="002060"/>
                                  </a:solidFill>
                                  <a:latin typeface="Cambria Math" panose="02040503050406030204" pitchFamily="18" charset="0"/>
                                  <a:ea typeface="Cambria Math" panose="02040503050406030204" pitchFamily="18" charset="0"/>
                                </a:rPr>
                                <m:t>𝑎</m:t>
                              </m:r>
                            </m:e>
                            <m:sup>
                              <m:r>
                                <a:rPr lang="en-US" sz="2800" i="1">
                                  <a:solidFill>
                                    <a:srgbClr val="002060"/>
                                  </a:solidFill>
                                  <a:latin typeface="Cambria Math" panose="02040503050406030204" pitchFamily="18" charset="0"/>
                                  <a:ea typeface="Cambria Math" panose="02040503050406030204" pitchFamily="18" charset="0"/>
                                </a:rPr>
                                <m:t>𝑟</m:t>
                              </m:r>
                              <m:r>
                                <a:rPr lang="en-US" sz="2800" i="1">
                                  <a:solidFill>
                                    <a:srgbClr val="002060"/>
                                  </a:solidFill>
                                  <a:latin typeface="Cambria Math" panose="02040503050406030204" pitchFamily="18" charset="0"/>
                                  <a:ea typeface="Cambria Math" panose="02040503050406030204" pitchFamily="18" charset="0"/>
                                </a:rPr>
                                <m:t>/2</m:t>
                              </m:r>
                            </m:sup>
                          </m:sSup>
                          <m:r>
                            <a:rPr lang="en-US" sz="2800" b="0" i="1" smtClean="0">
                              <a:solidFill>
                                <a:srgbClr val="002060"/>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1=</m:t>
                          </m:r>
                          <m:r>
                            <a:rPr lang="en-US" sz="2800" b="0" i="1" smtClean="0">
                              <a:solidFill>
                                <a:srgbClr val="002060"/>
                              </a:solidFill>
                              <a:latin typeface="Cambria Math" panose="02040503050406030204" pitchFamily="18" charset="0"/>
                              <a:ea typeface="Cambria Math" panose="02040503050406030204" pitchFamily="18" charset="0"/>
                            </a:rPr>
                            <m:t>48</m:t>
                          </m:r>
                          <m:r>
                            <a:rPr lang="en-US" sz="2800" i="1">
                              <a:solidFill>
                                <a:srgbClr val="002060"/>
                              </a:solidFill>
                              <a:latin typeface="Cambria Math" panose="02040503050406030204" pitchFamily="18" charset="0"/>
                              <a:ea typeface="Cambria Math" panose="02040503050406030204" pitchFamily="18" charset="0"/>
                            </a:rPr>
                            <m:t> ≢0 (</m:t>
                          </m:r>
                          <m:r>
                            <a:rPr lang="en-US" sz="2800" i="1">
                              <a:solidFill>
                                <a:srgbClr val="002060"/>
                              </a:solidFill>
                              <a:latin typeface="Cambria Math" panose="02040503050406030204" pitchFamily="18" charset="0"/>
                              <a:ea typeface="Cambria Math" panose="02040503050406030204" pitchFamily="18" charset="0"/>
                            </a:rPr>
                            <m:t>𝑚𝑜𝑑</m:t>
                          </m:r>
                          <m:r>
                            <a:rPr lang="en-US" sz="2800" i="1">
                              <a:solidFill>
                                <a:srgbClr val="002060"/>
                              </a:solidFill>
                              <a:latin typeface="Cambria Math" panose="02040503050406030204" pitchFamily="18" charset="0"/>
                              <a:ea typeface="Cambria Math" panose="02040503050406030204" pitchFamily="18" charset="0"/>
                            </a:rPr>
                            <m:t> 15)</m:t>
                          </m:r>
                        </m:oMath>
                      </m:oMathPara>
                    </a14:m>
                    <a:endParaRPr lang="en-US" sz="2800" dirty="0">
                      <a:solidFill>
                        <a:srgbClr val="002060"/>
                      </a:solidFill>
                    </a:endParaRPr>
                  </a:p>
                </p:txBody>
              </p:sp>
            </mc:Choice>
            <mc:Fallback xmlns="">
              <p:sp>
                <p:nvSpPr>
                  <p:cNvPr id="50" name="Rectangle 49">
                    <a:extLst>
                      <a:ext uri="{FF2B5EF4-FFF2-40B4-BE49-F238E27FC236}">
                        <a16:creationId xmlns:a16="http://schemas.microsoft.com/office/drawing/2014/main" id="{3B05DD7D-4C3A-A242-AFAA-059DAA594747}"/>
                      </a:ext>
                    </a:extLst>
                  </p:cNvPr>
                  <p:cNvSpPr>
                    <a:spLocks noRot="1" noChangeAspect="1" noMove="1" noResize="1" noEditPoints="1" noAdjustHandles="1" noChangeArrowheads="1" noChangeShapeType="1" noTextEdit="1"/>
                  </p:cNvSpPr>
                  <p:nvPr/>
                </p:nvSpPr>
                <p:spPr>
                  <a:xfrm>
                    <a:off x="6972300" y="1137666"/>
                    <a:ext cx="3608614" cy="720000"/>
                  </a:xfrm>
                  <a:prstGeom prst="rect">
                    <a:avLst/>
                  </a:prstGeom>
                  <a:blipFill>
                    <a:blip r:embed="rId5"/>
                    <a:stretch>
                      <a:fillRect t="-6481" r="-542" b="-9259"/>
                    </a:stretch>
                  </a:blipFill>
                  <a:ln>
                    <a:solidFill>
                      <a:schemeClr val="bg1">
                        <a:lumMod val="75000"/>
                      </a:schemeClr>
                    </a:solidFill>
                  </a:ln>
                </p:spPr>
                <p:txBody>
                  <a:bodyPr/>
                  <a:lstStyle/>
                  <a:p>
                    <a:r>
                      <a:rPr lang="en-US">
                        <a:noFill/>
                      </a:rPr>
                      <a:t> </a:t>
                    </a:r>
                  </a:p>
                </p:txBody>
              </p:sp>
            </mc:Fallback>
          </mc:AlternateContent>
          <p:sp>
            <p:nvSpPr>
              <p:cNvPr id="51" name="Triangle 50">
                <a:extLst>
                  <a:ext uri="{FF2B5EF4-FFF2-40B4-BE49-F238E27FC236}">
                    <a16:creationId xmlns:a16="http://schemas.microsoft.com/office/drawing/2014/main" id="{F6E51116-3CFC-484D-BB3A-BE8F507A998C}"/>
                  </a:ext>
                </a:extLst>
              </p:cNvPr>
              <p:cNvSpPr/>
              <p:nvPr/>
            </p:nvSpPr>
            <p:spPr>
              <a:xfrm rot="5400000">
                <a:off x="10580110" y="1137666"/>
                <a:ext cx="721608" cy="720000"/>
              </a:xfrm>
              <a:prstGeom prst="triangle">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2" name="Triangle 51">
                <a:extLst>
                  <a:ext uri="{FF2B5EF4-FFF2-40B4-BE49-F238E27FC236}">
                    <a16:creationId xmlns:a16="http://schemas.microsoft.com/office/drawing/2014/main" id="{E7C123AE-E45E-B043-8C69-E380D37052F2}"/>
                  </a:ext>
                </a:extLst>
              </p:cNvPr>
              <p:cNvSpPr/>
              <p:nvPr/>
            </p:nvSpPr>
            <p:spPr>
              <a:xfrm rot="16200000" flipH="1">
                <a:off x="6251496" y="1137666"/>
                <a:ext cx="721608" cy="720000"/>
              </a:xfrm>
              <a:prstGeom prst="triangle">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cxnSp>
          <p:nvCxnSpPr>
            <p:cNvPr id="48" name="Straight Connector 47">
              <a:extLst>
                <a:ext uri="{FF2B5EF4-FFF2-40B4-BE49-F238E27FC236}">
                  <a16:creationId xmlns:a16="http://schemas.microsoft.com/office/drawing/2014/main" id="{B0182B6A-D223-604D-8025-AD9DEC90B610}"/>
                </a:ext>
              </a:extLst>
            </p:cNvPr>
            <p:cNvCxnSpPr>
              <a:cxnSpLocks/>
            </p:cNvCxnSpPr>
            <p:nvPr/>
          </p:nvCxnSpPr>
          <p:spPr>
            <a:xfrm>
              <a:off x="10580914" y="1147438"/>
              <a:ext cx="0" cy="698400"/>
            </a:xfrm>
            <a:prstGeom prst="line">
              <a:avLst/>
            </a:prstGeom>
            <a:ln w="127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BBDDE7B-110F-1541-A060-3C1D23C068EF}"/>
                </a:ext>
              </a:extLst>
            </p:cNvPr>
            <p:cNvCxnSpPr>
              <a:cxnSpLocks/>
            </p:cNvCxnSpPr>
            <p:nvPr/>
          </p:nvCxnSpPr>
          <p:spPr>
            <a:xfrm>
              <a:off x="6972300" y="1148466"/>
              <a:ext cx="0" cy="698400"/>
            </a:xfrm>
            <a:prstGeom prst="line">
              <a:avLst/>
            </a:prstGeom>
            <a:ln w="127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B5347725-D6DD-1741-AB15-58AEE9C10AB6}"/>
              </a:ext>
            </a:extLst>
          </p:cNvPr>
          <p:cNvGrpSpPr/>
          <p:nvPr/>
        </p:nvGrpSpPr>
        <p:grpSpPr>
          <a:xfrm>
            <a:off x="3009975" y="4983555"/>
            <a:ext cx="6738935" cy="1509320"/>
            <a:chOff x="3009975" y="4983555"/>
            <a:chExt cx="6738935" cy="1509320"/>
          </a:xfrm>
        </p:grpSpPr>
        <mc:AlternateContent xmlns:mc="http://schemas.openxmlformats.org/markup-compatibility/2006" xmlns:a14="http://schemas.microsoft.com/office/drawing/2010/main">
          <mc:Choice Requires="a14">
            <p:sp>
              <p:nvSpPr>
                <p:cNvPr id="53" name="Rounded Rectangle 52">
                  <a:extLst>
                    <a:ext uri="{FF2B5EF4-FFF2-40B4-BE49-F238E27FC236}">
                      <a16:creationId xmlns:a16="http://schemas.microsoft.com/office/drawing/2014/main" id="{02FFE139-B4BC-B24C-AA94-7BAF8DD69EDF}"/>
                    </a:ext>
                  </a:extLst>
                </p:cNvPr>
                <p:cNvSpPr/>
                <p:nvPr/>
              </p:nvSpPr>
              <p:spPr>
                <a:xfrm>
                  <a:off x="3009975" y="5412875"/>
                  <a:ext cx="6738935" cy="1080000"/>
                </a:xfrm>
                <a:prstGeom prst="roundRect">
                  <a:avLst/>
                </a:prstGeom>
                <a:solidFill>
                  <a:schemeClr val="accent4">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unc>
                          <m:funcPr>
                            <m:ctrlPr>
                              <a:rPr lang="en-US" sz="2500" b="0" i="1" smtClean="0">
                                <a:solidFill>
                                  <a:srgbClr val="002060"/>
                                </a:solidFill>
                                <a:latin typeface="Cambria Math" panose="02040503050406030204" pitchFamily="18" charset="0"/>
                                <a:ea typeface="Cambria Math" panose="02040503050406030204" pitchFamily="18" charset="0"/>
                              </a:rPr>
                            </m:ctrlPr>
                          </m:funcPr>
                          <m:fName>
                            <m:func>
                              <m:funcPr>
                                <m:ctrlPr>
                                  <a:rPr lang="en-US" sz="2500" i="1">
                                    <a:solidFill>
                                      <a:srgbClr val="002060"/>
                                    </a:solidFill>
                                    <a:latin typeface="Cambria Math" panose="02040503050406030204" pitchFamily="18" charset="0"/>
                                    <a:ea typeface="Cambria Math" panose="02040503050406030204" pitchFamily="18" charset="0"/>
                                  </a:rPr>
                                </m:ctrlPr>
                              </m:funcPr>
                              <m:fName>
                                <m:r>
                                  <a:rPr lang="en-US" sz="2500" b="0" i="1" smtClean="0">
                                    <a:solidFill>
                                      <a:srgbClr val="002060"/>
                                    </a:solidFill>
                                    <a:latin typeface="Cambria Math" panose="02040503050406030204" pitchFamily="18" charset="0"/>
                                    <a:ea typeface="Cambria Math" panose="02040503050406030204" pitchFamily="18" charset="0"/>
                                  </a:rPr>
                                  <m:t>𝑝</m:t>
                                </m:r>
                                <m:r>
                                  <a:rPr lang="en-US" sz="2500" b="0" i="1" smtClean="0">
                                    <a:solidFill>
                                      <a:srgbClr val="002060"/>
                                    </a:solidFill>
                                    <a:latin typeface="Cambria Math" panose="02040503050406030204" pitchFamily="18" charset="0"/>
                                    <a:ea typeface="Cambria Math" panose="02040503050406030204" pitchFamily="18" charset="0"/>
                                  </a:rPr>
                                  <m:t>=</m:t>
                                </m:r>
                                <m:r>
                                  <m:rPr>
                                    <m:sty m:val="p"/>
                                  </m:rPr>
                                  <a:rPr lang="en-US" sz="2500" b="0" i="0" smtClean="0">
                                    <a:solidFill>
                                      <a:srgbClr val="AA22FF"/>
                                    </a:solidFill>
                                    <a:latin typeface="Cambria Math" panose="02040503050406030204" pitchFamily="18" charset="0"/>
                                    <a:ea typeface="Cambria Math" panose="02040503050406030204" pitchFamily="18" charset="0"/>
                                  </a:rPr>
                                  <m:t>gcd</m:t>
                                </m:r>
                              </m:fName>
                              <m:e>
                                <m:d>
                                  <m:dPr>
                                    <m:ctrlPr>
                                      <a:rPr lang="en-US" sz="2500" i="1">
                                        <a:solidFill>
                                          <a:srgbClr val="002060"/>
                                        </a:solidFill>
                                        <a:latin typeface="Cambria Math" panose="02040503050406030204" pitchFamily="18" charset="0"/>
                                        <a:ea typeface="Cambria Math" panose="02040503050406030204" pitchFamily="18" charset="0"/>
                                      </a:rPr>
                                    </m:ctrlPr>
                                  </m:dPr>
                                  <m:e>
                                    <m:sSup>
                                      <m:sSupPr>
                                        <m:ctrlPr>
                                          <a:rPr lang="en-US" sz="2500" i="1">
                                            <a:solidFill>
                                              <a:srgbClr val="002060"/>
                                            </a:solidFill>
                                            <a:latin typeface="Cambria Math" panose="02040503050406030204" pitchFamily="18" charset="0"/>
                                            <a:ea typeface="Cambria Math" panose="02040503050406030204" pitchFamily="18" charset="0"/>
                                          </a:rPr>
                                        </m:ctrlPr>
                                      </m:sSupPr>
                                      <m:e>
                                        <m:r>
                                          <a:rPr lang="en-US" sz="2500" i="1">
                                            <a:solidFill>
                                              <a:srgbClr val="002060"/>
                                            </a:solidFill>
                                            <a:latin typeface="Cambria Math" panose="02040503050406030204" pitchFamily="18" charset="0"/>
                                            <a:ea typeface="Cambria Math" panose="02040503050406030204" pitchFamily="18" charset="0"/>
                                          </a:rPr>
                                          <m:t>𝑎</m:t>
                                        </m:r>
                                      </m:e>
                                      <m:sup>
                                        <m:r>
                                          <a:rPr lang="en-US" sz="2500" b="0" i="1" smtClean="0">
                                            <a:solidFill>
                                              <a:srgbClr val="002060"/>
                                            </a:solidFill>
                                            <a:latin typeface="Cambria Math" panose="02040503050406030204" pitchFamily="18" charset="0"/>
                                            <a:ea typeface="Cambria Math" panose="02040503050406030204" pitchFamily="18" charset="0"/>
                                          </a:rPr>
                                          <m:t>𝑟</m:t>
                                        </m:r>
                                        <m:r>
                                          <a:rPr lang="en-US" sz="2500" b="0" i="1" smtClean="0">
                                            <a:solidFill>
                                              <a:srgbClr val="002060"/>
                                            </a:solidFill>
                                            <a:latin typeface="Cambria Math" panose="02040503050406030204" pitchFamily="18" charset="0"/>
                                            <a:ea typeface="Cambria Math" panose="02040503050406030204" pitchFamily="18" charset="0"/>
                                          </a:rPr>
                                          <m:t>/2</m:t>
                                        </m:r>
                                      </m:sup>
                                    </m:sSup>
                                    <m:r>
                                      <a:rPr lang="en-US" sz="2500" b="0" i="1" smtClean="0">
                                        <a:solidFill>
                                          <a:srgbClr val="002060"/>
                                        </a:solidFill>
                                        <a:latin typeface="Cambria Math" panose="02040503050406030204" pitchFamily="18" charset="0"/>
                                        <a:ea typeface="Cambria Math" panose="02040503050406030204" pitchFamily="18" charset="0"/>
                                      </a:rPr>
                                      <m:t>+</m:t>
                                    </m:r>
                                    <m:r>
                                      <a:rPr lang="en-US" sz="2500" i="1">
                                        <a:solidFill>
                                          <a:srgbClr val="002060"/>
                                        </a:solidFill>
                                        <a:latin typeface="Cambria Math" panose="02040503050406030204" pitchFamily="18" charset="0"/>
                                        <a:ea typeface="Cambria Math" panose="02040503050406030204" pitchFamily="18" charset="0"/>
                                      </a:rPr>
                                      <m:t>1,</m:t>
                                    </m:r>
                                    <m:r>
                                      <a:rPr lang="en-US" sz="2500" i="1">
                                        <a:solidFill>
                                          <a:srgbClr val="002060"/>
                                        </a:solidFill>
                                        <a:latin typeface="Cambria Math" panose="02040503050406030204" pitchFamily="18" charset="0"/>
                                        <a:ea typeface="Cambria Math" panose="02040503050406030204" pitchFamily="18" charset="0"/>
                                      </a:rPr>
                                      <m:t>𝑁</m:t>
                                    </m:r>
                                  </m:e>
                                </m:d>
                              </m:e>
                            </m:func>
                            <m:r>
                              <a:rPr lang="en-US" sz="2500" b="0" i="1" smtClean="0">
                                <a:solidFill>
                                  <a:srgbClr val="002060"/>
                                </a:solidFill>
                                <a:latin typeface="Cambria Math" panose="02040503050406030204" pitchFamily="18" charset="0"/>
                                <a:ea typeface="Cambria Math" panose="02040503050406030204" pitchFamily="18" charset="0"/>
                              </a:rPr>
                              <m:t>=</m:t>
                            </m:r>
                            <m:r>
                              <m:rPr>
                                <m:sty m:val="p"/>
                              </m:rPr>
                              <a:rPr lang="en-US" sz="2500" i="0">
                                <a:solidFill>
                                  <a:srgbClr val="AA22FF"/>
                                </a:solidFill>
                                <a:latin typeface="Cambria Math" panose="02040503050406030204" pitchFamily="18" charset="0"/>
                                <a:ea typeface="Cambria Math" panose="02040503050406030204" pitchFamily="18" charset="0"/>
                              </a:rPr>
                              <m:t>gcd</m:t>
                            </m:r>
                          </m:fName>
                          <m:e>
                            <m:d>
                              <m:dPr>
                                <m:ctrlPr>
                                  <a:rPr lang="en-US" sz="2500" b="0" i="1" smtClean="0">
                                    <a:solidFill>
                                      <a:srgbClr val="002060"/>
                                    </a:solidFill>
                                    <a:latin typeface="Cambria Math" panose="02040503050406030204" pitchFamily="18" charset="0"/>
                                    <a:ea typeface="Cambria Math" panose="02040503050406030204" pitchFamily="18" charset="0"/>
                                  </a:rPr>
                                </m:ctrlPr>
                              </m:dPr>
                              <m:e>
                                <m:sSup>
                                  <m:sSupPr>
                                    <m:ctrlPr>
                                      <a:rPr lang="en-US" sz="2500" i="1">
                                        <a:solidFill>
                                          <a:srgbClr val="002060"/>
                                        </a:solidFill>
                                        <a:latin typeface="Cambria Math" panose="02040503050406030204" pitchFamily="18" charset="0"/>
                                        <a:ea typeface="Cambria Math" panose="02040503050406030204" pitchFamily="18" charset="0"/>
                                      </a:rPr>
                                    </m:ctrlPr>
                                  </m:sSupPr>
                                  <m:e>
                                    <m:r>
                                      <a:rPr lang="en-US" sz="2500" b="0" i="1" smtClean="0">
                                        <a:solidFill>
                                          <a:srgbClr val="002060"/>
                                        </a:solidFill>
                                        <a:latin typeface="Cambria Math" panose="02040503050406030204" pitchFamily="18" charset="0"/>
                                        <a:ea typeface="Cambria Math" panose="02040503050406030204" pitchFamily="18" charset="0"/>
                                      </a:rPr>
                                      <m:t>7</m:t>
                                    </m:r>
                                  </m:e>
                                  <m:sup>
                                    <m:r>
                                      <a:rPr lang="en-US" sz="2500" b="0" i="1" smtClean="0">
                                        <a:solidFill>
                                          <a:srgbClr val="002060"/>
                                        </a:solidFill>
                                        <a:latin typeface="Cambria Math" panose="02040503050406030204" pitchFamily="18" charset="0"/>
                                        <a:ea typeface="Cambria Math" panose="02040503050406030204" pitchFamily="18" charset="0"/>
                                      </a:rPr>
                                      <m:t>2</m:t>
                                    </m:r>
                                  </m:sup>
                                </m:sSup>
                                <m:r>
                                  <a:rPr lang="en-US" sz="2500" b="0" i="1" smtClean="0">
                                    <a:solidFill>
                                      <a:srgbClr val="002060"/>
                                    </a:solidFill>
                                    <a:latin typeface="Cambria Math" panose="02040503050406030204" pitchFamily="18" charset="0"/>
                                    <a:ea typeface="Cambria Math" panose="02040503050406030204" pitchFamily="18" charset="0"/>
                                  </a:rPr>
                                  <m:t>+1,</m:t>
                                </m:r>
                                <m:r>
                                  <a:rPr lang="sr-Latn-RS" sz="2500" b="0" i="1" smtClean="0">
                                    <a:solidFill>
                                      <a:srgbClr val="002060"/>
                                    </a:solidFill>
                                    <a:latin typeface="Cambria Math" panose="02040503050406030204" pitchFamily="18" charset="0"/>
                                    <a:ea typeface="Cambria Math" panose="02040503050406030204" pitchFamily="18" charset="0"/>
                                  </a:rPr>
                                  <m:t> </m:t>
                                </m:r>
                                <m:r>
                                  <a:rPr lang="en-US" sz="2500" b="0" i="1" smtClean="0">
                                    <a:solidFill>
                                      <a:srgbClr val="002060"/>
                                    </a:solidFill>
                                    <a:latin typeface="Cambria Math" panose="02040503050406030204" pitchFamily="18" charset="0"/>
                                    <a:ea typeface="Cambria Math" panose="02040503050406030204" pitchFamily="18" charset="0"/>
                                  </a:rPr>
                                  <m:t>15</m:t>
                                </m:r>
                              </m:e>
                            </m:d>
                          </m:e>
                        </m:func>
                        <m:r>
                          <a:rPr lang="en-US" sz="2500" b="0" i="1" smtClean="0">
                            <a:solidFill>
                              <a:srgbClr val="002060"/>
                            </a:solidFill>
                            <a:latin typeface="Cambria Math" panose="02040503050406030204" pitchFamily="18" charset="0"/>
                            <a:ea typeface="Cambria Math" panose="02040503050406030204" pitchFamily="18" charset="0"/>
                          </a:rPr>
                          <m:t>=5</m:t>
                        </m:r>
                      </m:oMath>
                    </m:oMathPara>
                  </a14:m>
                  <a:endParaRPr lang="en-US" sz="2500" b="0" i="1" dirty="0">
                    <a:solidFill>
                      <a:srgbClr val="002060"/>
                    </a:solidFill>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func>
                          <m:funcPr>
                            <m:ctrlPr>
                              <a:rPr lang="en-US" sz="2500" i="1">
                                <a:solidFill>
                                  <a:srgbClr val="002060"/>
                                </a:solidFill>
                                <a:latin typeface="Cambria Math" panose="02040503050406030204" pitchFamily="18" charset="0"/>
                                <a:ea typeface="Cambria Math" panose="02040503050406030204" pitchFamily="18" charset="0"/>
                              </a:rPr>
                            </m:ctrlPr>
                          </m:funcPr>
                          <m:fName>
                            <m:func>
                              <m:funcPr>
                                <m:ctrlPr>
                                  <a:rPr lang="en-US" sz="2500" i="1">
                                    <a:solidFill>
                                      <a:srgbClr val="002060"/>
                                    </a:solidFill>
                                    <a:latin typeface="Cambria Math" panose="02040503050406030204" pitchFamily="18" charset="0"/>
                                    <a:ea typeface="Cambria Math" panose="02040503050406030204" pitchFamily="18" charset="0"/>
                                  </a:rPr>
                                </m:ctrlPr>
                              </m:funcPr>
                              <m:fName>
                                <m:r>
                                  <a:rPr lang="en-US" sz="2500" b="0" i="1" smtClean="0">
                                    <a:solidFill>
                                      <a:srgbClr val="002060"/>
                                    </a:solidFill>
                                    <a:latin typeface="Cambria Math" panose="02040503050406030204" pitchFamily="18" charset="0"/>
                                    <a:ea typeface="Cambria Math" panose="02040503050406030204" pitchFamily="18" charset="0"/>
                                  </a:rPr>
                                  <m:t>𝑞</m:t>
                                </m:r>
                                <m:r>
                                  <a:rPr lang="en-US" sz="2500" b="0" i="1" smtClean="0">
                                    <a:solidFill>
                                      <a:srgbClr val="002060"/>
                                    </a:solidFill>
                                    <a:latin typeface="Cambria Math" panose="02040503050406030204" pitchFamily="18" charset="0"/>
                                    <a:ea typeface="Cambria Math" panose="02040503050406030204" pitchFamily="18" charset="0"/>
                                  </a:rPr>
                                  <m:t>=</m:t>
                                </m:r>
                                <m:r>
                                  <m:rPr>
                                    <m:sty m:val="p"/>
                                  </m:rPr>
                                  <a:rPr lang="en-US" sz="2500" i="0">
                                    <a:solidFill>
                                      <a:srgbClr val="AA22FF"/>
                                    </a:solidFill>
                                    <a:latin typeface="Cambria Math" panose="02040503050406030204" pitchFamily="18" charset="0"/>
                                    <a:ea typeface="Cambria Math" panose="02040503050406030204" pitchFamily="18" charset="0"/>
                                  </a:rPr>
                                  <m:t>gcd</m:t>
                                </m:r>
                              </m:fName>
                              <m:e>
                                <m:d>
                                  <m:dPr>
                                    <m:ctrlPr>
                                      <a:rPr lang="en-US" sz="2500" i="1">
                                        <a:solidFill>
                                          <a:srgbClr val="002060"/>
                                        </a:solidFill>
                                        <a:latin typeface="Cambria Math" panose="02040503050406030204" pitchFamily="18" charset="0"/>
                                        <a:ea typeface="Cambria Math" panose="02040503050406030204" pitchFamily="18" charset="0"/>
                                      </a:rPr>
                                    </m:ctrlPr>
                                  </m:dPr>
                                  <m:e>
                                    <m:sSup>
                                      <m:sSupPr>
                                        <m:ctrlPr>
                                          <a:rPr lang="en-US" sz="2500" i="1">
                                            <a:solidFill>
                                              <a:srgbClr val="002060"/>
                                            </a:solidFill>
                                            <a:latin typeface="Cambria Math" panose="02040503050406030204" pitchFamily="18" charset="0"/>
                                            <a:ea typeface="Cambria Math" panose="02040503050406030204" pitchFamily="18" charset="0"/>
                                          </a:rPr>
                                        </m:ctrlPr>
                                      </m:sSupPr>
                                      <m:e>
                                        <m:r>
                                          <a:rPr lang="en-US" sz="2500" i="1">
                                            <a:solidFill>
                                              <a:srgbClr val="002060"/>
                                            </a:solidFill>
                                            <a:latin typeface="Cambria Math" panose="02040503050406030204" pitchFamily="18" charset="0"/>
                                            <a:ea typeface="Cambria Math" panose="02040503050406030204" pitchFamily="18" charset="0"/>
                                          </a:rPr>
                                          <m:t>𝑎</m:t>
                                        </m:r>
                                      </m:e>
                                      <m:sup>
                                        <m:r>
                                          <a:rPr lang="en-US" sz="2500" i="1">
                                            <a:solidFill>
                                              <a:srgbClr val="002060"/>
                                            </a:solidFill>
                                            <a:latin typeface="Cambria Math" panose="02040503050406030204" pitchFamily="18" charset="0"/>
                                            <a:ea typeface="Cambria Math" panose="02040503050406030204" pitchFamily="18" charset="0"/>
                                          </a:rPr>
                                          <m:t>𝑟</m:t>
                                        </m:r>
                                        <m:r>
                                          <a:rPr lang="en-US" sz="2500" i="1">
                                            <a:solidFill>
                                              <a:srgbClr val="002060"/>
                                            </a:solidFill>
                                            <a:latin typeface="Cambria Math" panose="02040503050406030204" pitchFamily="18" charset="0"/>
                                            <a:ea typeface="Cambria Math" panose="02040503050406030204" pitchFamily="18" charset="0"/>
                                          </a:rPr>
                                          <m:t>/2</m:t>
                                        </m:r>
                                      </m:sup>
                                    </m:sSup>
                                    <m:r>
                                      <a:rPr lang="en-US" sz="2500" b="0" i="1" smtClean="0">
                                        <a:solidFill>
                                          <a:srgbClr val="002060"/>
                                        </a:solidFill>
                                        <a:latin typeface="Cambria Math" panose="02040503050406030204" pitchFamily="18" charset="0"/>
                                        <a:ea typeface="Cambria Math" panose="02040503050406030204" pitchFamily="18" charset="0"/>
                                      </a:rPr>
                                      <m:t>−</m:t>
                                    </m:r>
                                    <m:r>
                                      <a:rPr lang="en-US" sz="2500" i="1">
                                        <a:solidFill>
                                          <a:srgbClr val="002060"/>
                                        </a:solidFill>
                                        <a:latin typeface="Cambria Math" panose="02040503050406030204" pitchFamily="18" charset="0"/>
                                        <a:ea typeface="Cambria Math" panose="02040503050406030204" pitchFamily="18" charset="0"/>
                                      </a:rPr>
                                      <m:t>1,</m:t>
                                    </m:r>
                                    <m:r>
                                      <a:rPr lang="en-US" sz="2500" i="1">
                                        <a:solidFill>
                                          <a:srgbClr val="002060"/>
                                        </a:solidFill>
                                        <a:latin typeface="Cambria Math" panose="02040503050406030204" pitchFamily="18" charset="0"/>
                                        <a:ea typeface="Cambria Math" panose="02040503050406030204" pitchFamily="18" charset="0"/>
                                      </a:rPr>
                                      <m:t>𝑁</m:t>
                                    </m:r>
                                  </m:e>
                                </m:d>
                              </m:e>
                            </m:func>
                            <m:r>
                              <a:rPr lang="en-US" sz="2500" b="0" i="1" smtClean="0">
                                <a:solidFill>
                                  <a:srgbClr val="002060"/>
                                </a:solidFill>
                                <a:latin typeface="Cambria Math" panose="02040503050406030204" pitchFamily="18" charset="0"/>
                                <a:ea typeface="Cambria Math" panose="02040503050406030204" pitchFamily="18" charset="0"/>
                              </a:rPr>
                              <m:t>=</m:t>
                            </m:r>
                            <m:r>
                              <m:rPr>
                                <m:sty m:val="p"/>
                              </m:rPr>
                              <a:rPr lang="en-US" sz="2500" i="0">
                                <a:solidFill>
                                  <a:srgbClr val="AA22FF"/>
                                </a:solidFill>
                                <a:latin typeface="Cambria Math" panose="02040503050406030204" pitchFamily="18" charset="0"/>
                                <a:ea typeface="Cambria Math" panose="02040503050406030204" pitchFamily="18" charset="0"/>
                              </a:rPr>
                              <m:t>gcd</m:t>
                            </m:r>
                          </m:fName>
                          <m:e>
                            <m:d>
                              <m:dPr>
                                <m:ctrlPr>
                                  <a:rPr lang="en-US" sz="2500" i="1">
                                    <a:solidFill>
                                      <a:srgbClr val="002060"/>
                                    </a:solidFill>
                                    <a:latin typeface="Cambria Math" panose="02040503050406030204" pitchFamily="18" charset="0"/>
                                    <a:ea typeface="Cambria Math" panose="02040503050406030204" pitchFamily="18" charset="0"/>
                                  </a:rPr>
                                </m:ctrlPr>
                              </m:dPr>
                              <m:e>
                                <m:sSup>
                                  <m:sSupPr>
                                    <m:ctrlPr>
                                      <a:rPr lang="en-US" sz="2500" i="1">
                                        <a:solidFill>
                                          <a:srgbClr val="002060"/>
                                        </a:solidFill>
                                        <a:latin typeface="Cambria Math" panose="02040503050406030204" pitchFamily="18" charset="0"/>
                                        <a:ea typeface="Cambria Math" panose="02040503050406030204" pitchFamily="18" charset="0"/>
                                      </a:rPr>
                                    </m:ctrlPr>
                                  </m:sSupPr>
                                  <m:e>
                                    <m:r>
                                      <a:rPr lang="en-US" sz="2500" i="1">
                                        <a:solidFill>
                                          <a:srgbClr val="002060"/>
                                        </a:solidFill>
                                        <a:latin typeface="Cambria Math" panose="02040503050406030204" pitchFamily="18" charset="0"/>
                                        <a:ea typeface="Cambria Math" panose="02040503050406030204" pitchFamily="18" charset="0"/>
                                      </a:rPr>
                                      <m:t>7</m:t>
                                    </m:r>
                                  </m:e>
                                  <m:sup>
                                    <m:r>
                                      <a:rPr lang="en-US" sz="2500" i="1">
                                        <a:solidFill>
                                          <a:srgbClr val="002060"/>
                                        </a:solidFill>
                                        <a:latin typeface="Cambria Math" panose="02040503050406030204" pitchFamily="18" charset="0"/>
                                        <a:ea typeface="Cambria Math" panose="02040503050406030204" pitchFamily="18" charset="0"/>
                                      </a:rPr>
                                      <m:t>2</m:t>
                                    </m:r>
                                  </m:sup>
                                </m:sSup>
                                <m:r>
                                  <a:rPr lang="en-US" sz="2500" b="0" i="1" smtClean="0">
                                    <a:solidFill>
                                      <a:srgbClr val="002060"/>
                                    </a:solidFill>
                                    <a:latin typeface="Cambria Math" panose="02040503050406030204" pitchFamily="18" charset="0"/>
                                    <a:ea typeface="Cambria Math" panose="02040503050406030204" pitchFamily="18" charset="0"/>
                                  </a:rPr>
                                  <m:t>−</m:t>
                                </m:r>
                                <m:r>
                                  <a:rPr lang="en-US" sz="2500" i="1">
                                    <a:solidFill>
                                      <a:srgbClr val="002060"/>
                                    </a:solidFill>
                                    <a:latin typeface="Cambria Math" panose="02040503050406030204" pitchFamily="18" charset="0"/>
                                    <a:ea typeface="Cambria Math" panose="02040503050406030204" pitchFamily="18" charset="0"/>
                                  </a:rPr>
                                  <m:t>1,</m:t>
                                </m:r>
                                <m:r>
                                  <a:rPr lang="sr-Latn-RS" sz="2500" b="0" i="1" smtClean="0">
                                    <a:solidFill>
                                      <a:srgbClr val="002060"/>
                                    </a:solidFill>
                                    <a:latin typeface="Cambria Math" panose="02040503050406030204" pitchFamily="18" charset="0"/>
                                    <a:ea typeface="Cambria Math" panose="02040503050406030204" pitchFamily="18" charset="0"/>
                                  </a:rPr>
                                  <m:t> </m:t>
                                </m:r>
                                <m:r>
                                  <a:rPr lang="en-US" sz="2500" i="1">
                                    <a:solidFill>
                                      <a:srgbClr val="002060"/>
                                    </a:solidFill>
                                    <a:latin typeface="Cambria Math" panose="02040503050406030204" pitchFamily="18" charset="0"/>
                                    <a:ea typeface="Cambria Math" panose="02040503050406030204" pitchFamily="18" charset="0"/>
                                  </a:rPr>
                                  <m:t>15</m:t>
                                </m:r>
                              </m:e>
                            </m:d>
                          </m:e>
                        </m:func>
                        <m:r>
                          <a:rPr lang="en-US" sz="2500" i="1">
                            <a:solidFill>
                              <a:srgbClr val="002060"/>
                            </a:solidFill>
                            <a:latin typeface="Cambria Math" panose="02040503050406030204" pitchFamily="18" charset="0"/>
                            <a:ea typeface="Cambria Math" panose="02040503050406030204" pitchFamily="18" charset="0"/>
                          </a:rPr>
                          <m:t>=</m:t>
                        </m:r>
                        <m:r>
                          <a:rPr lang="en-US" sz="2500" b="0" i="1" smtClean="0">
                            <a:solidFill>
                              <a:srgbClr val="002060"/>
                            </a:solidFill>
                            <a:latin typeface="Cambria Math" panose="02040503050406030204" pitchFamily="18" charset="0"/>
                            <a:ea typeface="Cambria Math" panose="02040503050406030204" pitchFamily="18" charset="0"/>
                          </a:rPr>
                          <m:t>3</m:t>
                        </m:r>
                      </m:oMath>
                    </m:oMathPara>
                  </a14:m>
                  <a:endParaRPr lang="en-US" sz="2500" i="1" dirty="0">
                    <a:solidFill>
                      <a:srgbClr val="002060"/>
                    </a:solidFill>
                  </a:endParaRPr>
                </a:p>
              </p:txBody>
            </p:sp>
          </mc:Choice>
          <mc:Fallback xmlns="">
            <p:sp>
              <p:nvSpPr>
                <p:cNvPr id="53" name="Rounded Rectangle 52">
                  <a:extLst>
                    <a:ext uri="{FF2B5EF4-FFF2-40B4-BE49-F238E27FC236}">
                      <a16:creationId xmlns:a16="http://schemas.microsoft.com/office/drawing/2014/main" id="{02FFE139-B4BC-B24C-AA94-7BAF8DD69EDF}"/>
                    </a:ext>
                  </a:extLst>
                </p:cNvPr>
                <p:cNvSpPr>
                  <a:spLocks noRot="1" noChangeAspect="1" noMove="1" noResize="1" noEditPoints="1" noAdjustHandles="1" noChangeArrowheads="1" noChangeShapeType="1" noTextEdit="1"/>
                </p:cNvSpPr>
                <p:nvPr/>
              </p:nvSpPr>
              <p:spPr>
                <a:xfrm>
                  <a:off x="3009975" y="5412875"/>
                  <a:ext cx="6738935" cy="1080000"/>
                </a:xfrm>
                <a:prstGeom prst="roundRect">
                  <a:avLst/>
                </a:prstGeom>
                <a:blipFill>
                  <a:blip r:embed="rId6"/>
                  <a:stretch>
                    <a:fillRect/>
                  </a:stretch>
                </a:blipFill>
                <a:ln>
                  <a:solidFill>
                    <a:schemeClr val="bg1">
                      <a:lumMod val="65000"/>
                    </a:schemeClr>
                  </a:solidFill>
                </a:ln>
              </p:spPr>
              <p:txBody>
                <a:bodyPr/>
                <a:lstStyle/>
                <a:p>
                  <a:r>
                    <a:rPr lang="en-US">
                      <a:noFill/>
                    </a:rPr>
                    <a:t> </a:t>
                  </a:r>
                </a:p>
              </p:txBody>
            </p:sp>
          </mc:Fallback>
        </mc:AlternateContent>
        <p:sp>
          <p:nvSpPr>
            <p:cNvPr id="74" name="TextBox 73">
              <a:extLst>
                <a:ext uri="{FF2B5EF4-FFF2-40B4-BE49-F238E27FC236}">
                  <a16:creationId xmlns:a16="http://schemas.microsoft.com/office/drawing/2014/main" id="{A1076340-CF25-9D43-BFE9-42B80388E1A4}"/>
                </a:ext>
              </a:extLst>
            </p:cNvPr>
            <p:cNvSpPr txBox="1"/>
            <p:nvPr/>
          </p:nvSpPr>
          <p:spPr>
            <a:xfrm>
              <a:off x="6413607" y="4983555"/>
              <a:ext cx="381836" cy="477054"/>
            </a:xfrm>
            <a:prstGeom prst="rect">
              <a:avLst/>
            </a:prstGeom>
            <a:noFill/>
          </p:spPr>
          <p:txBody>
            <a:bodyPr wrap="none" rtlCol="0">
              <a:spAutoFit/>
            </a:bodyPr>
            <a:lstStyle/>
            <a:p>
              <a:r>
                <a:rPr lang="en-US" sz="2500" dirty="0"/>
                <a:t>D</a:t>
              </a:r>
            </a:p>
          </p:txBody>
        </p:sp>
      </p:grpSp>
    </p:spTree>
    <p:extLst>
      <p:ext uri="{BB962C8B-B14F-4D97-AF65-F5344CB8AC3E}">
        <p14:creationId xmlns:p14="http://schemas.microsoft.com/office/powerpoint/2010/main" val="2805369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blinds(horizontal)">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blinds(horizontal)">
                                      <p:cBhvr>
                                        <p:cTn id="17"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DD4FA-F005-C142-BF80-0AB525659D22}"/>
              </a:ext>
            </a:extLst>
          </p:cNvPr>
          <p:cNvSpPr>
            <a:spLocks noGrp="1"/>
          </p:cNvSpPr>
          <p:nvPr>
            <p:ph type="title"/>
          </p:nvPr>
        </p:nvSpPr>
        <p:spPr>
          <a:xfrm>
            <a:off x="0" y="0"/>
            <a:ext cx="12192000" cy="928688"/>
          </a:xfrm>
        </p:spPr>
        <p:txBody>
          <a:bodyPr/>
          <a:lstStyle/>
          <a:p>
            <a:r>
              <a:rPr lang="en-ZA" dirty="0">
                <a:solidFill>
                  <a:schemeClr val="tx1"/>
                </a:solidFill>
              </a:rPr>
              <a:t>The Challenge of Classical Period Finding</a:t>
            </a:r>
            <a:endParaRPr lang="en-US" dirty="0">
              <a:solidFill>
                <a:schemeClr val="tx1"/>
              </a:solidFill>
            </a:endParaRPr>
          </a:p>
        </p:txBody>
      </p:sp>
      <p:sp>
        <p:nvSpPr>
          <p:cNvPr id="3" name="Slide Number Placeholder 2">
            <a:extLst>
              <a:ext uri="{FF2B5EF4-FFF2-40B4-BE49-F238E27FC236}">
                <a16:creationId xmlns:a16="http://schemas.microsoft.com/office/drawing/2014/main" id="{E014BF6B-DA9B-6741-A001-594279E72746}"/>
              </a:ext>
            </a:extLst>
          </p:cNvPr>
          <p:cNvSpPr>
            <a:spLocks noGrp="1"/>
          </p:cNvSpPr>
          <p:nvPr>
            <p:ph type="sldNum" sz="quarter" idx="12"/>
          </p:nvPr>
        </p:nvSpPr>
        <p:spPr/>
        <p:txBody>
          <a:bodyPr/>
          <a:lstStyle/>
          <a:p>
            <a:fld id="{591A223C-FA10-BC46-A853-03BA373D023C}" type="slidenum">
              <a:rPr lang="en-US" smtClean="0"/>
              <a:t>42</a:t>
            </a:fld>
            <a:endParaRPr lang="en-US" dirty="0"/>
          </a:p>
        </p:txBody>
      </p:sp>
      <p:cxnSp>
        <p:nvCxnSpPr>
          <p:cNvPr id="5" name="Straight Arrow Connector 4">
            <a:extLst>
              <a:ext uri="{FF2B5EF4-FFF2-40B4-BE49-F238E27FC236}">
                <a16:creationId xmlns:a16="http://schemas.microsoft.com/office/drawing/2014/main" id="{C7375CC5-B1DE-444A-A06D-AE88E3D764E8}"/>
              </a:ext>
            </a:extLst>
          </p:cNvPr>
          <p:cNvCxnSpPr>
            <a:cxnSpLocks/>
          </p:cNvCxnSpPr>
          <p:nvPr/>
        </p:nvCxnSpPr>
        <p:spPr>
          <a:xfrm flipH="1" flipV="1">
            <a:off x="3111141" y="1012080"/>
            <a:ext cx="2730" cy="2936474"/>
          </a:xfrm>
          <a:prstGeom prst="straightConnector1">
            <a:avLst/>
          </a:prstGeom>
          <a:ln w="12700">
            <a:solidFill>
              <a:schemeClr val="bg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7E08C69-4A91-DB42-A4B2-9839F82215D3}"/>
              </a:ext>
            </a:extLst>
          </p:cNvPr>
          <p:cNvCxnSpPr>
            <a:cxnSpLocks/>
          </p:cNvCxnSpPr>
          <p:nvPr/>
        </p:nvCxnSpPr>
        <p:spPr>
          <a:xfrm>
            <a:off x="2960646" y="3948772"/>
            <a:ext cx="5710559" cy="0"/>
          </a:xfrm>
          <a:prstGeom prst="straightConnector1">
            <a:avLst/>
          </a:prstGeom>
          <a:ln w="12700">
            <a:solidFill>
              <a:schemeClr val="bg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323F8F83-7111-6340-9B58-27C5DE78BB65}"/>
              </a:ext>
            </a:extLst>
          </p:cNvPr>
          <p:cNvGrpSpPr/>
          <p:nvPr/>
        </p:nvGrpSpPr>
        <p:grpSpPr>
          <a:xfrm>
            <a:off x="3004331" y="1695404"/>
            <a:ext cx="213619" cy="2253150"/>
            <a:chOff x="405903" y="2114112"/>
            <a:chExt cx="108000" cy="1139131"/>
          </a:xfrm>
        </p:grpSpPr>
        <p:cxnSp>
          <p:nvCxnSpPr>
            <p:cNvPr id="8" name="Straight Connector 7">
              <a:extLst>
                <a:ext uri="{FF2B5EF4-FFF2-40B4-BE49-F238E27FC236}">
                  <a16:creationId xmlns:a16="http://schemas.microsoft.com/office/drawing/2014/main" id="{4024445D-C60D-A847-9B72-2264AB5E0C86}"/>
                </a:ext>
              </a:extLst>
            </p:cNvPr>
            <p:cNvCxnSpPr>
              <a:cxnSpLocks/>
            </p:cNvCxnSpPr>
            <p:nvPr/>
          </p:nvCxnSpPr>
          <p:spPr>
            <a:xfrm>
              <a:off x="405903" y="3139329"/>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86C3BF7-E972-684F-B055-FC68DCF812A6}"/>
                </a:ext>
              </a:extLst>
            </p:cNvPr>
            <p:cNvCxnSpPr>
              <a:cxnSpLocks/>
            </p:cNvCxnSpPr>
            <p:nvPr/>
          </p:nvCxnSpPr>
          <p:spPr>
            <a:xfrm>
              <a:off x="405903" y="3025416"/>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F6586-3EFB-E842-A88D-8A6DAB434C9D}"/>
                </a:ext>
              </a:extLst>
            </p:cNvPr>
            <p:cNvCxnSpPr>
              <a:cxnSpLocks/>
            </p:cNvCxnSpPr>
            <p:nvPr/>
          </p:nvCxnSpPr>
          <p:spPr>
            <a:xfrm>
              <a:off x="405903" y="2911503"/>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B52B472-3203-AF41-9A13-6D1A46487918}"/>
                </a:ext>
              </a:extLst>
            </p:cNvPr>
            <p:cNvCxnSpPr>
              <a:cxnSpLocks/>
            </p:cNvCxnSpPr>
            <p:nvPr/>
          </p:nvCxnSpPr>
          <p:spPr>
            <a:xfrm>
              <a:off x="405903" y="2797590"/>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C5A352F-A546-F04E-ABB0-979BFE2D95E9}"/>
                </a:ext>
              </a:extLst>
            </p:cNvPr>
            <p:cNvCxnSpPr>
              <a:cxnSpLocks/>
            </p:cNvCxnSpPr>
            <p:nvPr/>
          </p:nvCxnSpPr>
          <p:spPr>
            <a:xfrm>
              <a:off x="405903" y="2683677"/>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0CAD829-3BF7-3240-8E2E-81A182B860EE}"/>
                </a:ext>
              </a:extLst>
            </p:cNvPr>
            <p:cNvCxnSpPr>
              <a:cxnSpLocks/>
            </p:cNvCxnSpPr>
            <p:nvPr/>
          </p:nvCxnSpPr>
          <p:spPr>
            <a:xfrm>
              <a:off x="405903" y="2569764"/>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B9B4DC4-A66B-B342-863B-9D5B7E8C084F}"/>
                </a:ext>
              </a:extLst>
            </p:cNvPr>
            <p:cNvCxnSpPr>
              <a:cxnSpLocks/>
            </p:cNvCxnSpPr>
            <p:nvPr/>
          </p:nvCxnSpPr>
          <p:spPr>
            <a:xfrm>
              <a:off x="405903" y="2455851"/>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6398661-52C2-C24A-AE51-D614B6C34D7F}"/>
                </a:ext>
              </a:extLst>
            </p:cNvPr>
            <p:cNvCxnSpPr>
              <a:cxnSpLocks/>
            </p:cNvCxnSpPr>
            <p:nvPr/>
          </p:nvCxnSpPr>
          <p:spPr>
            <a:xfrm>
              <a:off x="405903" y="2341938"/>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DF11107-1245-4445-80D4-0055F5A2C450}"/>
                </a:ext>
              </a:extLst>
            </p:cNvPr>
            <p:cNvCxnSpPr>
              <a:cxnSpLocks/>
            </p:cNvCxnSpPr>
            <p:nvPr/>
          </p:nvCxnSpPr>
          <p:spPr>
            <a:xfrm>
              <a:off x="405903" y="2228025"/>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F5AD923-617E-354E-89F9-467B9C5D654C}"/>
                </a:ext>
              </a:extLst>
            </p:cNvPr>
            <p:cNvCxnSpPr>
              <a:cxnSpLocks/>
            </p:cNvCxnSpPr>
            <p:nvPr/>
          </p:nvCxnSpPr>
          <p:spPr>
            <a:xfrm>
              <a:off x="405903" y="2114112"/>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AE54CA-C93E-E240-A977-9E377ACCEC01}"/>
                </a:ext>
              </a:extLst>
            </p:cNvPr>
            <p:cNvCxnSpPr>
              <a:cxnSpLocks/>
            </p:cNvCxnSpPr>
            <p:nvPr/>
          </p:nvCxnSpPr>
          <p:spPr>
            <a:xfrm>
              <a:off x="405903" y="3253243"/>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FBF73B45-A6C0-B749-8EE2-EF2BC0F5C8C2}"/>
              </a:ext>
            </a:extLst>
          </p:cNvPr>
          <p:cNvGrpSpPr/>
          <p:nvPr/>
        </p:nvGrpSpPr>
        <p:grpSpPr>
          <a:xfrm rot="5400000">
            <a:off x="4130907" y="2813820"/>
            <a:ext cx="213619" cy="2253153"/>
            <a:chOff x="405903" y="2114112"/>
            <a:chExt cx="108000" cy="1139131"/>
          </a:xfrm>
        </p:grpSpPr>
        <p:cxnSp>
          <p:nvCxnSpPr>
            <p:cNvPr id="23" name="Straight Connector 22">
              <a:extLst>
                <a:ext uri="{FF2B5EF4-FFF2-40B4-BE49-F238E27FC236}">
                  <a16:creationId xmlns:a16="http://schemas.microsoft.com/office/drawing/2014/main" id="{582C247E-FA91-9B48-9AEF-6BD0D4DB7FCF}"/>
                </a:ext>
              </a:extLst>
            </p:cNvPr>
            <p:cNvCxnSpPr>
              <a:cxnSpLocks/>
            </p:cNvCxnSpPr>
            <p:nvPr/>
          </p:nvCxnSpPr>
          <p:spPr>
            <a:xfrm>
              <a:off x="405903" y="3139329"/>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265CCE0-5F90-5641-9927-6006FC3B8308}"/>
                </a:ext>
              </a:extLst>
            </p:cNvPr>
            <p:cNvCxnSpPr>
              <a:cxnSpLocks/>
            </p:cNvCxnSpPr>
            <p:nvPr/>
          </p:nvCxnSpPr>
          <p:spPr>
            <a:xfrm>
              <a:off x="405903" y="3025416"/>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36E5757-5327-004A-AF4F-AF873D2E37B3}"/>
                </a:ext>
              </a:extLst>
            </p:cNvPr>
            <p:cNvCxnSpPr>
              <a:cxnSpLocks/>
            </p:cNvCxnSpPr>
            <p:nvPr/>
          </p:nvCxnSpPr>
          <p:spPr>
            <a:xfrm>
              <a:off x="405903" y="2911503"/>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F9BB5AF-7862-F04A-98F1-7F45CB435E25}"/>
                </a:ext>
              </a:extLst>
            </p:cNvPr>
            <p:cNvCxnSpPr>
              <a:cxnSpLocks/>
            </p:cNvCxnSpPr>
            <p:nvPr/>
          </p:nvCxnSpPr>
          <p:spPr>
            <a:xfrm>
              <a:off x="405903" y="2797590"/>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EFF0CD3-0DBF-C343-B47F-5D3620469634}"/>
                </a:ext>
              </a:extLst>
            </p:cNvPr>
            <p:cNvCxnSpPr>
              <a:cxnSpLocks/>
            </p:cNvCxnSpPr>
            <p:nvPr/>
          </p:nvCxnSpPr>
          <p:spPr>
            <a:xfrm>
              <a:off x="405903" y="2683677"/>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DAC064D-A5C2-2349-B664-78ACE525098C}"/>
                </a:ext>
              </a:extLst>
            </p:cNvPr>
            <p:cNvCxnSpPr>
              <a:cxnSpLocks/>
            </p:cNvCxnSpPr>
            <p:nvPr/>
          </p:nvCxnSpPr>
          <p:spPr>
            <a:xfrm>
              <a:off x="405903" y="2569764"/>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52D626E-691F-8B44-BC5B-12B39F819095}"/>
                </a:ext>
              </a:extLst>
            </p:cNvPr>
            <p:cNvCxnSpPr>
              <a:cxnSpLocks/>
            </p:cNvCxnSpPr>
            <p:nvPr/>
          </p:nvCxnSpPr>
          <p:spPr>
            <a:xfrm>
              <a:off x="405903" y="2455851"/>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8DA60CA-C331-6743-82D4-CE2995CEBEB6}"/>
                </a:ext>
              </a:extLst>
            </p:cNvPr>
            <p:cNvCxnSpPr>
              <a:cxnSpLocks/>
            </p:cNvCxnSpPr>
            <p:nvPr/>
          </p:nvCxnSpPr>
          <p:spPr>
            <a:xfrm>
              <a:off x="405903" y="2341938"/>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67511FA-7E8B-5E4E-B9C2-4FFB2D15A7E8}"/>
                </a:ext>
              </a:extLst>
            </p:cNvPr>
            <p:cNvCxnSpPr>
              <a:cxnSpLocks/>
            </p:cNvCxnSpPr>
            <p:nvPr/>
          </p:nvCxnSpPr>
          <p:spPr>
            <a:xfrm>
              <a:off x="405903" y="2228025"/>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D1763E2-2D2B-AF47-A65E-4CE1BCA9F416}"/>
                </a:ext>
              </a:extLst>
            </p:cNvPr>
            <p:cNvCxnSpPr>
              <a:cxnSpLocks/>
            </p:cNvCxnSpPr>
            <p:nvPr/>
          </p:nvCxnSpPr>
          <p:spPr>
            <a:xfrm>
              <a:off x="405903" y="2114112"/>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32DC0CB-2B46-1240-A959-8DA44BD6A409}"/>
                </a:ext>
              </a:extLst>
            </p:cNvPr>
            <p:cNvCxnSpPr>
              <a:cxnSpLocks/>
            </p:cNvCxnSpPr>
            <p:nvPr/>
          </p:nvCxnSpPr>
          <p:spPr>
            <a:xfrm>
              <a:off x="405903" y="3253243"/>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2A88EF7E-37A9-344E-A270-C588DAA83021}"/>
              </a:ext>
            </a:extLst>
          </p:cNvPr>
          <p:cNvCxnSpPr>
            <a:cxnSpLocks/>
          </p:cNvCxnSpPr>
          <p:nvPr/>
        </p:nvCxnSpPr>
        <p:spPr>
          <a:xfrm rot="5400000">
            <a:off x="5482803" y="3940399"/>
            <a:ext cx="21361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8A86CED-B8C0-6740-8D70-1E349C96555D}"/>
              </a:ext>
            </a:extLst>
          </p:cNvPr>
          <p:cNvCxnSpPr>
            <a:cxnSpLocks/>
          </p:cNvCxnSpPr>
          <p:nvPr/>
        </p:nvCxnSpPr>
        <p:spPr>
          <a:xfrm rot="5400000">
            <a:off x="5708118" y="3940399"/>
            <a:ext cx="21361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DF923DF-55AB-B24B-9C16-A1089F8058F4}"/>
              </a:ext>
            </a:extLst>
          </p:cNvPr>
          <p:cNvCxnSpPr>
            <a:cxnSpLocks/>
          </p:cNvCxnSpPr>
          <p:nvPr/>
        </p:nvCxnSpPr>
        <p:spPr>
          <a:xfrm rot="5400000">
            <a:off x="5933433" y="3940399"/>
            <a:ext cx="21361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D19E9C26-D9C6-9F48-B2EA-A21D066D051E}"/>
              </a:ext>
            </a:extLst>
          </p:cNvPr>
          <p:cNvGrpSpPr/>
          <p:nvPr/>
        </p:nvGrpSpPr>
        <p:grpSpPr>
          <a:xfrm>
            <a:off x="6743391" y="3833590"/>
            <a:ext cx="1351890" cy="213619"/>
            <a:chOff x="2346306" y="3195120"/>
            <a:chExt cx="683478" cy="108000"/>
          </a:xfrm>
        </p:grpSpPr>
        <p:cxnSp>
          <p:nvCxnSpPr>
            <p:cNvPr id="38" name="Straight Connector 37">
              <a:extLst>
                <a:ext uri="{FF2B5EF4-FFF2-40B4-BE49-F238E27FC236}">
                  <a16:creationId xmlns:a16="http://schemas.microsoft.com/office/drawing/2014/main" id="{52DF39F1-2081-764A-AA65-BE7EEAE330AF}"/>
                </a:ext>
              </a:extLst>
            </p:cNvPr>
            <p:cNvCxnSpPr>
              <a:cxnSpLocks/>
            </p:cNvCxnSpPr>
            <p:nvPr/>
          </p:nvCxnSpPr>
          <p:spPr>
            <a:xfrm rot="5400000">
              <a:off x="2292306" y="3249120"/>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8EDB7BA-47EB-4948-9328-E0B176FE2D6D}"/>
                </a:ext>
              </a:extLst>
            </p:cNvPr>
            <p:cNvCxnSpPr>
              <a:cxnSpLocks/>
            </p:cNvCxnSpPr>
            <p:nvPr/>
          </p:nvCxnSpPr>
          <p:spPr>
            <a:xfrm rot="5400000">
              <a:off x="2406219" y="3249120"/>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67A2811-4E08-FB43-9535-8AD808401963}"/>
                </a:ext>
              </a:extLst>
            </p:cNvPr>
            <p:cNvCxnSpPr>
              <a:cxnSpLocks/>
            </p:cNvCxnSpPr>
            <p:nvPr/>
          </p:nvCxnSpPr>
          <p:spPr>
            <a:xfrm rot="5400000">
              <a:off x="2520132" y="3249120"/>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879EAF2-2A2D-6B43-A807-8B26B8E056C3}"/>
                </a:ext>
              </a:extLst>
            </p:cNvPr>
            <p:cNvCxnSpPr>
              <a:cxnSpLocks/>
            </p:cNvCxnSpPr>
            <p:nvPr/>
          </p:nvCxnSpPr>
          <p:spPr>
            <a:xfrm rot="5400000">
              <a:off x="2634045" y="3249120"/>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C42B1E2-F9C2-5240-B0D8-BA7F6C6449F7}"/>
                </a:ext>
              </a:extLst>
            </p:cNvPr>
            <p:cNvCxnSpPr>
              <a:cxnSpLocks/>
            </p:cNvCxnSpPr>
            <p:nvPr/>
          </p:nvCxnSpPr>
          <p:spPr>
            <a:xfrm rot="5400000">
              <a:off x="2747958" y="3249120"/>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9983213-6CEA-1B45-99C2-E96F851EF960}"/>
                </a:ext>
              </a:extLst>
            </p:cNvPr>
            <p:cNvCxnSpPr>
              <a:cxnSpLocks/>
            </p:cNvCxnSpPr>
            <p:nvPr/>
          </p:nvCxnSpPr>
          <p:spPr>
            <a:xfrm rot="5400000">
              <a:off x="2861871" y="3249120"/>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19C1A04-0294-164F-9AC3-5A79D3742F2D}"/>
                </a:ext>
              </a:extLst>
            </p:cNvPr>
            <p:cNvCxnSpPr>
              <a:cxnSpLocks/>
            </p:cNvCxnSpPr>
            <p:nvPr/>
          </p:nvCxnSpPr>
          <p:spPr>
            <a:xfrm rot="5400000">
              <a:off x="2975784" y="3249120"/>
              <a:ext cx="108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45" name="Straight Connector 44">
            <a:extLst>
              <a:ext uri="{FF2B5EF4-FFF2-40B4-BE49-F238E27FC236}">
                <a16:creationId xmlns:a16="http://schemas.microsoft.com/office/drawing/2014/main" id="{2D59E982-4C35-974A-8BE2-C089A93A2489}"/>
              </a:ext>
            </a:extLst>
          </p:cNvPr>
          <p:cNvCxnSpPr>
            <a:cxnSpLocks/>
          </p:cNvCxnSpPr>
          <p:nvPr/>
        </p:nvCxnSpPr>
        <p:spPr>
          <a:xfrm rot="5400000">
            <a:off x="5257486" y="3940399"/>
            <a:ext cx="21361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2D55247-FF43-604E-BDBA-54B4833AE20B}"/>
              </a:ext>
            </a:extLst>
          </p:cNvPr>
          <p:cNvSpPr txBox="1"/>
          <p:nvPr/>
        </p:nvSpPr>
        <p:spPr>
          <a:xfrm>
            <a:off x="2778543" y="3809161"/>
            <a:ext cx="263213" cy="276999"/>
          </a:xfrm>
          <a:prstGeom prst="rect">
            <a:avLst/>
          </a:prstGeom>
          <a:noFill/>
        </p:spPr>
        <p:txBody>
          <a:bodyPr wrap="none" rtlCol="0">
            <a:spAutoFit/>
          </a:bodyPr>
          <a:lstStyle/>
          <a:p>
            <a:pPr algn="r"/>
            <a:r>
              <a:rPr lang="en-US" sz="1200" dirty="0">
                <a:latin typeface="+mj-lt"/>
              </a:rPr>
              <a:t>0</a:t>
            </a:r>
          </a:p>
        </p:txBody>
      </p:sp>
      <p:sp>
        <p:nvSpPr>
          <p:cNvPr id="48" name="TextBox 47">
            <a:extLst>
              <a:ext uri="{FF2B5EF4-FFF2-40B4-BE49-F238E27FC236}">
                <a16:creationId xmlns:a16="http://schemas.microsoft.com/office/drawing/2014/main" id="{E612EAC0-1333-7740-BFA0-158E086FEE5F}"/>
              </a:ext>
            </a:extLst>
          </p:cNvPr>
          <p:cNvSpPr txBox="1"/>
          <p:nvPr/>
        </p:nvSpPr>
        <p:spPr>
          <a:xfrm>
            <a:off x="2778543" y="3361797"/>
            <a:ext cx="263213" cy="276999"/>
          </a:xfrm>
          <a:prstGeom prst="rect">
            <a:avLst/>
          </a:prstGeom>
          <a:noFill/>
        </p:spPr>
        <p:txBody>
          <a:bodyPr wrap="none" rtlCol="0">
            <a:spAutoFit/>
          </a:bodyPr>
          <a:lstStyle/>
          <a:p>
            <a:pPr algn="r"/>
            <a:r>
              <a:rPr lang="en-US" sz="1200" dirty="0">
                <a:latin typeface="+mj-lt"/>
              </a:rPr>
              <a:t>2</a:t>
            </a:r>
          </a:p>
        </p:txBody>
      </p:sp>
      <p:sp>
        <p:nvSpPr>
          <p:cNvPr id="50" name="TextBox 49">
            <a:extLst>
              <a:ext uri="{FF2B5EF4-FFF2-40B4-BE49-F238E27FC236}">
                <a16:creationId xmlns:a16="http://schemas.microsoft.com/office/drawing/2014/main" id="{A3FE61FF-86A7-ED43-8DDF-202EC7CEADB1}"/>
              </a:ext>
            </a:extLst>
          </p:cNvPr>
          <p:cNvSpPr txBox="1"/>
          <p:nvPr/>
        </p:nvSpPr>
        <p:spPr>
          <a:xfrm>
            <a:off x="2778543" y="2904213"/>
            <a:ext cx="263213" cy="276999"/>
          </a:xfrm>
          <a:prstGeom prst="rect">
            <a:avLst/>
          </a:prstGeom>
          <a:noFill/>
        </p:spPr>
        <p:txBody>
          <a:bodyPr wrap="none" rtlCol="0">
            <a:spAutoFit/>
          </a:bodyPr>
          <a:lstStyle/>
          <a:p>
            <a:pPr algn="r"/>
            <a:r>
              <a:rPr lang="en-US" sz="1200" dirty="0">
                <a:latin typeface="+mj-lt"/>
              </a:rPr>
              <a:t>4</a:t>
            </a:r>
          </a:p>
        </p:txBody>
      </p:sp>
      <p:sp>
        <p:nvSpPr>
          <p:cNvPr id="51" name="TextBox 50">
            <a:extLst>
              <a:ext uri="{FF2B5EF4-FFF2-40B4-BE49-F238E27FC236}">
                <a16:creationId xmlns:a16="http://schemas.microsoft.com/office/drawing/2014/main" id="{AA294E81-F807-5D43-8536-D2C3A01B2D48}"/>
              </a:ext>
            </a:extLst>
          </p:cNvPr>
          <p:cNvSpPr txBox="1"/>
          <p:nvPr/>
        </p:nvSpPr>
        <p:spPr>
          <a:xfrm>
            <a:off x="2778543" y="2456846"/>
            <a:ext cx="263213" cy="276999"/>
          </a:xfrm>
          <a:prstGeom prst="rect">
            <a:avLst/>
          </a:prstGeom>
          <a:noFill/>
        </p:spPr>
        <p:txBody>
          <a:bodyPr wrap="none" rtlCol="0">
            <a:spAutoFit/>
          </a:bodyPr>
          <a:lstStyle/>
          <a:p>
            <a:pPr algn="r"/>
            <a:r>
              <a:rPr lang="en-US" sz="1200" dirty="0">
                <a:latin typeface="+mj-lt"/>
              </a:rPr>
              <a:t>6</a:t>
            </a:r>
          </a:p>
        </p:txBody>
      </p:sp>
      <p:sp>
        <p:nvSpPr>
          <p:cNvPr id="52" name="TextBox 51">
            <a:extLst>
              <a:ext uri="{FF2B5EF4-FFF2-40B4-BE49-F238E27FC236}">
                <a16:creationId xmlns:a16="http://schemas.microsoft.com/office/drawing/2014/main" id="{785DC5D4-BA99-DD44-9B5F-37254C3ED9C6}"/>
              </a:ext>
            </a:extLst>
          </p:cNvPr>
          <p:cNvSpPr txBox="1"/>
          <p:nvPr/>
        </p:nvSpPr>
        <p:spPr>
          <a:xfrm>
            <a:off x="2778543" y="2004370"/>
            <a:ext cx="263213" cy="276999"/>
          </a:xfrm>
          <a:prstGeom prst="rect">
            <a:avLst/>
          </a:prstGeom>
          <a:noFill/>
        </p:spPr>
        <p:txBody>
          <a:bodyPr wrap="none" rtlCol="0">
            <a:spAutoFit/>
          </a:bodyPr>
          <a:lstStyle/>
          <a:p>
            <a:pPr algn="r"/>
            <a:r>
              <a:rPr lang="en-US" sz="1200" dirty="0">
                <a:latin typeface="+mj-lt"/>
              </a:rPr>
              <a:t>8</a:t>
            </a:r>
          </a:p>
        </p:txBody>
      </p:sp>
      <p:sp>
        <p:nvSpPr>
          <p:cNvPr id="53" name="TextBox 52">
            <a:extLst>
              <a:ext uri="{FF2B5EF4-FFF2-40B4-BE49-F238E27FC236}">
                <a16:creationId xmlns:a16="http://schemas.microsoft.com/office/drawing/2014/main" id="{DF7B04BA-DC1E-3347-BE99-A835A4F8E397}"/>
              </a:ext>
            </a:extLst>
          </p:cNvPr>
          <p:cNvSpPr txBox="1"/>
          <p:nvPr/>
        </p:nvSpPr>
        <p:spPr>
          <a:xfrm>
            <a:off x="2699996" y="1557002"/>
            <a:ext cx="341760" cy="276999"/>
          </a:xfrm>
          <a:prstGeom prst="rect">
            <a:avLst/>
          </a:prstGeom>
          <a:noFill/>
        </p:spPr>
        <p:txBody>
          <a:bodyPr wrap="none" rtlCol="0">
            <a:spAutoFit/>
          </a:bodyPr>
          <a:lstStyle/>
          <a:p>
            <a:pPr algn="r"/>
            <a:r>
              <a:rPr lang="en-US" sz="1200" dirty="0">
                <a:latin typeface="+mj-lt"/>
              </a:rPr>
              <a:t>10</a:t>
            </a:r>
          </a:p>
        </p:txBody>
      </p:sp>
      <p:sp>
        <p:nvSpPr>
          <p:cNvPr id="55" name="TextBox 54">
            <a:extLst>
              <a:ext uri="{FF2B5EF4-FFF2-40B4-BE49-F238E27FC236}">
                <a16:creationId xmlns:a16="http://schemas.microsoft.com/office/drawing/2014/main" id="{9D52F09A-31B8-6640-A40C-3F4173C33071}"/>
              </a:ext>
            </a:extLst>
          </p:cNvPr>
          <p:cNvSpPr txBox="1"/>
          <p:nvPr/>
        </p:nvSpPr>
        <p:spPr>
          <a:xfrm>
            <a:off x="3886241" y="4011505"/>
            <a:ext cx="263213" cy="276999"/>
          </a:xfrm>
          <a:prstGeom prst="rect">
            <a:avLst/>
          </a:prstGeom>
          <a:noFill/>
        </p:spPr>
        <p:txBody>
          <a:bodyPr wrap="none" rtlCol="0">
            <a:spAutoFit/>
          </a:bodyPr>
          <a:lstStyle/>
          <a:p>
            <a:pPr algn="r"/>
            <a:r>
              <a:rPr lang="en-US" sz="1200" dirty="0">
                <a:latin typeface="+mj-lt"/>
              </a:rPr>
              <a:t>4</a:t>
            </a:r>
          </a:p>
        </p:txBody>
      </p:sp>
      <p:sp>
        <p:nvSpPr>
          <p:cNvPr id="56" name="TextBox 55">
            <a:extLst>
              <a:ext uri="{FF2B5EF4-FFF2-40B4-BE49-F238E27FC236}">
                <a16:creationId xmlns:a16="http://schemas.microsoft.com/office/drawing/2014/main" id="{5BB22325-CBF4-F24A-AD61-0A7AB03B627A}"/>
              </a:ext>
            </a:extLst>
          </p:cNvPr>
          <p:cNvSpPr txBox="1"/>
          <p:nvPr/>
        </p:nvSpPr>
        <p:spPr>
          <a:xfrm>
            <a:off x="4335416" y="4011505"/>
            <a:ext cx="263213" cy="276999"/>
          </a:xfrm>
          <a:prstGeom prst="rect">
            <a:avLst/>
          </a:prstGeom>
          <a:noFill/>
        </p:spPr>
        <p:txBody>
          <a:bodyPr wrap="none" rtlCol="0">
            <a:spAutoFit/>
          </a:bodyPr>
          <a:lstStyle/>
          <a:p>
            <a:pPr algn="r"/>
            <a:r>
              <a:rPr lang="en-US" sz="1200" dirty="0">
                <a:latin typeface="+mj-lt"/>
              </a:rPr>
              <a:t>6</a:t>
            </a:r>
          </a:p>
        </p:txBody>
      </p:sp>
      <p:sp>
        <p:nvSpPr>
          <p:cNvPr id="57" name="TextBox 56">
            <a:extLst>
              <a:ext uri="{FF2B5EF4-FFF2-40B4-BE49-F238E27FC236}">
                <a16:creationId xmlns:a16="http://schemas.microsoft.com/office/drawing/2014/main" id="{3E4B49E3-5628-BE4E-8D10-232F1FF857BF}"/>
              </a:ext>
            </a:extLst>
          </p:cNvPr>
          <p:cNvSpPr txBox="1"/>
          <p:nvPr/>
        </p:nvSpPr>
        <p:spPr>
          <a:xfrm>
            <a:off x="4799917" y="4011505"/>
            <a:ext cx="263213" cy="276999"/>
          </a:xfrm>
          <a:prstGeom prst="rect">
            <a:avLst/>
          </a:prstGeom>
          <a:noFill/>
        </p:spPr>
        <p:txBody>
          <a:bodyPr wrap="none" rtlCol="0">
            <a:spAutoFit/>
          </a:bodyPr>
          <a:lstStyle/>
          <a:p>
            <a:pPr algn="r"/>
            <a:r>
              <a:rPr lang="en-US" sz="1200" dirty="0">
                <a:latin typeface="+mj-lt"/>
              </a:rPr>
              <a:t>8</a:t>
            </a:r>
          </a:p>
        </p:txBody>
      </p:sp>
      <p:sp>
        <p:nvSpPr>
          <p:cNvPr id="58" name="TextBox 57">
            <a:extLst>
              <a:ext uri="{FF2B5EF4-FFF2-40B4-BE49-F238E27FC236}">
                <a16:creationId xmlns:a16="http://schemas.microsoft.com/office/drawing/2014/main" id="{A2B678BB-26FA-1E4C-8BC4-A01A3071C8C0}"/>
              </a:ext>
            </a:extLst>
          </p:cNvPr>
          <p:cNvSpPr txBox="1"/>
          <p:nvPr/>
        </p:nvSpPr>
        <p:spPr>
          <a:xfrm>
            <a:off x="5203799" y="4011505"/>
            <a:ext cx="341760" cy="276999"/>
          </a:xfrm>
          <a:prstGeom prst="rect">
            <a:avLst/>
          </a:prstGeom>
          <a:noFill/>
        </p:spPr>
        <p:txBody>
          <a:bodyPr wrap="none" rtlCol="0">
            <a:spAutoFit/>
          </a:bodyPr>
          <a:lstStyle/>
          <a:p>
            <a:pPr algn="r"/>
            <a:r>
              <a:rPr lang="en-US" sz="1200" dirty="0">
                <a:latin typeface="+mj-lt"/>
              </a:rPr>
              <a:t>10</a:t>
            </a:r>
          </a:p>
        </p:txBody>
      </p:sp>
      <p:sp>
        <p:nvSpPr>
          <p:cNvPr id="59" name="TextBox 58">
            <a:extLst>
              <a:ext uri="{FF2B5EF4-FFF2-40B4-BE49-F238E27FC236}">
                <a16:creationId xmlns:a16="http://schemas.microsoft.com/office/drawing/2014/main" id="{1412693F-B97F-4B46-AE0A-268DCBA8A602}"/>
              </a:ext>
            </a:extLst>
          </p:cNvPr>
          <p:cNvSpPr txBox="1"/>
          <p:nvPr/>
        </p:nvSpPr>
        <p:spPr>
          <a:xfrm>
            <a:off x="3438391" y="4011505"/>
            <a:ext cx="263213" cy="276999"/>
          </a:xfrm>
          <a:prstGeom prst="rect">
            <a:avLst/>
          </a:prstGeom>
          <a:noFill/>
        </p:spPr>
        <p:txBody>
          <a:bodyPr wrap="none" rtlCol="0">
            <a:spAutoFit/>
          </a:bodyPr>
          <a:lstStyle/>
          <a:p>
            <a:pPr algn="r"/>
            <a:r>
              <a:rPr lang="en-US" sz="1200" dirty="0">
                <a:latin typeface="+mj-lt"/>
              </a:rPr>
              <a:t>2</a:t>
            </a:r>
          </a:p>
        </p:txBody>
      </p:sp>
      <p:sp>
        <p:nvSpPr>
          <p:cNvPr id="60" name="Oval 59">
            <a:extLst>
              <a:ext uri="{FF2B5EF4-FFF2-40B4-BE49-F238E27FC236}">
                <a16:creationId xmlns:a16="http://schemas.microsoft.com/office/drawing/2014/main" id="{340B9A66-462F-4B46-8490-58730D617912}"/>
              </a:ext>
            </a:extLst>
          </p:cNvPr>
          <p:cNvSpPr/>
          <p:nvPr/>
        </p:nvSpPr>
        <p:spPr>
          <a:xfrm>
            <a:off x="3058894" y="3678314"/>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1E76C505-4C26-F849-8C1B-3478865A9510}"/>
              </a:ext>
            </a:extLst>
          </p:cNvPr>
          <p:cNvSpPr/>
          <p:nvPr/>
        </p:nvSpPr>
        <p:spPr>
          <a:xfrm>
            <a:off x="3291846" y="3884067"/>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7E2B3273-F85C-4547-BE7A-02603062F8F6}"/>
              </a:ext>
            </a:extLst>
          </p:cNvPr>
          <p:cNvSpPr/>
          <p:nvPr/>
        </p:nvSpPr>
        <p:spPr>
          <a:xfrm>
            <a:off x="3514501" y="2763235"/>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C7FCF872-BCF2-1041-9C59-6A6758D3CC94}"/>
              </a:ext>
            </a:extLst>
          </p:cNvPr>
          <p:cNvSpPr/>
          <p:nvPr/>
        </p:nvSpPr>
        <p:spPr>
          <a:xfrm>
            <a:off x="3737282" y="3663535"/>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5CBC4A94-1472-824D-887A-8C453F5554BC}"/>
              </a:ext>
            </a:extLst>
          </p:cNvPr>
          <p:cNvSpPr/>
          <p:nvPr/>
        </p:nvSpPr>
        <p:spPr>
          <a:xfrm>
            <a:off x="3957577" y="2154092"/>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36077D0E-76D9-B342-8595-5D605863AE1A}"/>
              </a:ext>
            </a:extLst>
          </p:cNvPr>
          <p:cNvSpPr/>
          <p:nvPr/>
        </p:nvSpPr>
        <p:spPr>
          <a:xfrm>
            <a:off x="7382143" y="3898846"/>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9BA5C00C-D3F9-E748-8CDD-63168BE9DD42}"/>
              </a:ext>
            </a:extLst>
          </p:cNvPr>
          <p:cNvSpPr/>
          <p:nvPr/>
        </p:nvSpPr>
        <p:spPr>
          <a:xfrm>
            <a:off x="7604798" y="2778014"/>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2C473F04-113E-6949-915B-4670B42FCAE4}"/>
              </a:ext>
            </a:extLst>
          </p:cNvPr>
          <p:cNvSpPr/>
          <p:nvPr/>
        </p:nvSpPr>
        <p:spPr>
          <a:xfrm>
            <a:off x="7827579" y="3678314"/>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5A7153B1-FA1E-8746-9669-AAD014DB0F15}"/>
              </a:ext>
            </a:extLst>
          </p:cNvPr>
          <p:cNvSpPr/>
          <p:nvPr/>
        </p:nvSpPr>
        <p:spPr>
          <a:xfrm>
            <a:off x="8047874" y="2168871"/>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9A528AF5-F3A1-9048-8D09-1F3422EB63CA}"/>
                  </a:ext>
                </a:extLst>
              </p:cNvPr>
              <p:cNvSpPr/>
              <p:nvPr/>
            </p:nvSpPr>
            <p:spPr>
              <a:xfrm>
                <a:off x="8360212" y="3989641"/>
                <a:ext cx="38638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oMath>
                  </m:oMathPara>
                </a14:m>
                <a:endParaRPr lang="en-US" sz="2000" dirty="0"/>
              </a:p>
            </p:txBody>
          </p:sp>
        </mc:Choice>
        <mc:Fallback xmlns="">
          <p:sp>
            <p:nvSpPr>
              <p:cNvPr id="85" name="Rectangle 84">
                <a:extLst>
                  <a:ext uri="{FF2B5EF4-FFF2-40B4-BE49-F238E27FC236}">
                    <a16:creationId xmlns:a16="http://schemas.microsoft.com/office/drawing/2014/main" id="{9A528AF5-F3A1-9048-8D09-1F3422EB63CA}"/>
                  </a:ext>
                </a:extLst>
              </p:cNvPr>
              <p:cNvSpPr>
                <a:spLocks noRot="1" noChangeAspect="1" noMove="1" noResize="1" noEditPoints="1" noAdjustHandles="1" noChangeArrowheads="1" noChangeShapeType="1" noTextEdit="1"/>
              </p:cNvSpPr>
              <p:nvPr/>
            </p:nvSpPr>
            <p:spPr>
              <a:xfrm>
                <a:off x="8360212" y="3989641"/>
                <a:ext cx="386388" cy="40011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BC891FF8-E991-D448-BBD8-B05F33D3FDAE}"/>
                  </a:ext>
                </a:extLst>
              </p:cNvPr>
              <p:cNvSpPr/>
              <p:nvPr/>
            </p:nvSpPr>
            <p:spPr>
              <a:xfrm>
                <a:off x="2420840" y="1112858"/>
                <a:ext cx="74655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𝑓</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oMath>
                  </m:oMathPara>
                </a14:m>
                <a:endParaRPr lang="en-US" sz="2000" dirty="0"/>
              </a:p>
            </p:txBody>
          </p:sp>
        </mc:Choice>
        <mc:Fallback xmlns="">
          <p:sp>
            <p:nvSpPr>
              <p:cNvPr id="86" name="Rectangle 85">
                <a:extLst>
                  <a:ext uri="{FF2B5EF4-FFF2-40B4-BE49-F238E27FC236}">
                    <a16:creationId xmlns:a16="http://schemas.microsoft.com/office/drawing/2014/main" id="{BC891FF8-E991-D448-BBD8-B05F33D3FDAE}"/>
                  </a:ext>
                </a:extLst>
              </p:cNvPr>
              <p:cNvSpPr>
                <a:spLocks noRot="1" noChangeAspect="1" noMove="1" noResize="1" noEditPoints="1" noAdjustHandles="1" noChangeArrowheads="1" noChangeShapeType="1" noTextEdit="1"/>
              </p:cNvSpPr>
              <p:nvPr/>
            </p:nvSpPr>
            <p:spPr>
              <a:xfrm>
                <a:off x="2420840" y="1112858"/>
                <a:ext cx="746551" cy="400110"/>
              </a:xfrm>
              <a:prstGeom prst="rect">
                <a:avLst/>
              </a:prstGeom>
              <a:blipFill>
                <a:blip r:embed="rId4"/>
                <a:stretch>
                  <a:fillRect b="-12500"/>
                </a:stretch>
              </a:blipFill>
            </p:spPr>
            <p:txBody>
              <a:bodyPr/>
              <a:lstStyle/>
              <a:p>
                <a:r>
                  <a:rPr lang="en-US">
                    <a:noFill/>
                  </a:rPr>
                  <a:t> </a:t>
                </a:r>
              </a:p>
            </p:txBody>
          </p:sp>
        </mc:Fallback>
      </mc:AlternateContent>
      <p:sp>
        <p:nvSpPr>
          <p:cNvPr id="87" name="TextBox 86">
            <a:extLst>
              <a:ext uri="{FF2B5EF4-FFF2-40B4-BE49-F238E27FC236}">
                <a16:creationId xmlns:a16="http://schemas.microsoft.com/office/drawing/2014/main" id="{BDAD4475-57D0-CE49-BE23-BB96AA86AA6F}"/>
              </a:ext>
            </a:extLst>
          </p:cNvPr>
          <p:cNvSpPr txBox="1"/>
          <p:nvPr/>
        </p:nvSpPr>
        <p:spPr>
          <a:xfrm>
            <a:off x="7874074" y="4011504"/>
            <a:ext cx="439544" cy="276999"/>
          </a:xfrm>
          <a:prstGeom prst="rect">
            <a:avLst/>
          </a:prstGeom>
          <a:noFill/>
        </p:spPr>
        <p:txBody>
          <a:bodyPr wrap="none" rtlCol="0">
            <a:spAutoFit/>
          </a:bodyPr>
          <a:lstStyle/>
          <a:p>
            <a:pPr algn="r"/>
            <a:r>
              <a:rPr lang="en-US" sz="1200" dirty="0">
                <a:latin typeface="+mj-lt"/>
              </a:rPr>
              <a:t>M-1</a:t>
            </a:r>
          </a:p>
        </p:txBody>
      </p:sp>
      <p:cxnSp>
        <p:nvCxnSpPr>
          <p:cNvPr id="98" name="Straight Connector 97">
            <a:extLst>
              <a:ext uri="{FF2B5EF4-FFF2-40B4-BE49-F238E27FC236}">
                <a16:creationId xmlns:a16="http://schemas.microsoft.com/office/drawing/2014/main" id="{A217A52A-F6E5-F14A-AC23-47728C4F4A4A}"/>
              </a:ext>
            </a:extLst>
          </p:cNvPr>
          <p:cNvCxnSpPr>
            <a:cxnSpLocks/>
          </p:cNvCxnSpPr>
          <p:nvPr/>
        </p:nvCxnSpPr>
        <p:spPr>
          <a:xfrm flipV="1">
            <a:off x="3333590" y="2874598"/>
            <a:ext cx="222655" cy="10128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2033B138-2E7A-1747-A244-3EFC41412B5D}"/>
              </a:ext>
            </a:extLst>
          </p:cNvPr>
          <p:cNvCxnSpPr>
            <a:cxnSpLocks/>
          </p:cNvCxnSpPr>
          <p:nvPr/>
        </p:nvCxnSpPr>
        <p:spPr>
          <a:xfrm>
            <a:off x="3559255" y="2873165"/>
            <a:ext cx="219771" cy="793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D271D29-82A6-3C47-AD3E-F5C70D37B858}"/>
              </a:ext>
            </a:extLst>
          </p:cNvPr>
          <p:cNvCxnSpPr>
            <a:cxnSpLocks/>
          </p:cNvCxnSpPr>
          <p:nvPr/>
        </p:nvCxnSpPr>
        <p:spPr>
          <a:xfrm flipV="1">
            <a:off x="3773953" y="2256361"/>
            <a:ext cx="220295" cy="1401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5653B3F-C010-004F-A646-57DFA2F211C3}"/>
              </a:ext>
            </a:extLst>
          </p:cNvPr>
          <p:cNvCxnSpPr>
            <a:cxnSpLocks/>
            <a:endCxn id="64" idx="4"/>
          </p:cNvCxnSpPr>
          <p:nvPr/>
        </p:nvCxnSpPr>
        <p:spPr>
          <a:xfrm flipH="1" flipV="1">
            <a:off x="4011577" y="2777345"/>
            <a:ext cx="137878" cy="919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A779A830-EBDF-8445-A6E7-1605D804DD45}"/>
              </a:ext>
            </a:extLst>
          </p:cNvPr>
          <p:cNvCxnSpPr>
            <a:cxnSpLocks/>
          </p:cNvCxnSpPr>
          <p:nvPr/>
        </p:nvCxnSpPr>
        <p:spPr>
          <a:xfrm flipV="1">
            <a:off x="7427552" y="2879020"/>
            <a:ext cx="222655" cy="10128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5D358146-C8BB-3A4B-904C-0EE7A696831E}"/>
              </a:ext>
            </a:extLst>
          </p:cNvPr>
          <p:cNvCxnSpPr>
            <a:cxnSpLocks/>
          </p:cNvCxnSpPr>
          <p:nvPr/>
        </p:nvCxnSpPr>
        <p:spPr>
          <a:xfrm>
            <a:off x="7653217" y="2877587"/>
            <a:ext cx="219771" cy="793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54ECA1B-5D31-C746-B419-B4AD4777A6E4}"/>
              </a:ext>
            </a:extLst>
          </p:cNvPr>
          <p:cNvCxnSpPr>
            <a:cxnSpLocks/>
          </p:cNvCxnSpPr>
          <p:nvPr/>
        </p:nvCxnSpPr>
        <p:spPr>
          <a:xfrm flipV="1">
            <a:off x="7872988" y="2269877"/>
            <a:ext cx="220295" cy="1401443"/>
          </a:xfrm>
          <a:prstGeom prst="line">
            <a:avLst/>
          </a:prstGeom>
        </p:spPr>
        <p:style>
          <a:lnRef idx="1">
            <a:schemeClr val="accent1"/>
          </a:lnRef>
          <a:fillRef idx="0">
            <a:schemeClr val="accent1"/>
          </a:fillRef>
          <a:effectRef idx="0">
            <a:schemeClr val="accent1"/>
          </a:effectRef>
          <a:fontRef idx="minor">
            <a:schemeClr val="tx1"/>
          </a:fontRef>
        </p:style>
      </p:cxnSp>
      <p:sp>
        <p:nvSpPr>
          <p:cNvPr id="124" name="Right Brace 123">
            <a:extLst>
              <a:ext uri="{FF2B5EF4-FFF2-40B4-BE49-F238E27FC236}">
                <a16:creationId xmlns:a16="http://schemas.microsoft.com/office/drawing/2014/main" id="{EDB5828C-69A2-E440-A7A9-4108CAE2B52B}"/>
              </a:ext>
            </a:extLst>
          </p:cNvPr>
          <p:cNvSpPr/>
          <p:nvPr/>
        </p:nvSpPr>
        <p:spPr>
          <a:xfrm rot="5400000">
            <a:off x="4895450" y="2376578"/>
            <a:ext cx="487050" cy="4021247"/>
          </a:xfrm>
          <a:prstGeom prst="rightBrace">
            <a:avLst>
              <a:gd name="adj1" fmla="val 4661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5" name="Rectangle 124">
                <a:extLst>
                  <a:ext uri="{FF2B5EF4-FFF2-40B4-BE49-F238E27FC236}">
                    <a16:creationId xmlns:a16="http://schemas.microsoft.com/office/drawing/2014/main" id="{68D53790-70F3-B642-878D-445D0C110340}"/>
                  </a:ext>
                </a:extLst>
              </p:cNvPr>
              <p:cNvSpPr/>
              <p:nvPr/>
            </p:nvSpPr>
            <p:spPr>
              <a:xfrm>
                <a:off x="4954052" y="4582281"/>
                <a:ext cx="36984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𝑟</m:t>
                      </m:r>
                    </m:oMath>
                  </m:oMathPara>
                </a14:m>
                <a:endParaRPr lang="en-US" sz="2000" dirty="0"/>
              </a:p>
            </p:txBody>
          </p:sp>
        </mc:Choice>
        <mc:Fallback xmlns="">
          <p:sp>
            <p:nvSpPr>
              <p:cNvPr id="125" name="Rectangle 124">
                <a:extLst>
                  <a:ext uri="{FF2B5EF4-FFF2-40B4-BE49-F238E27FC236}">
                    <a16:creationId xmlns:a16="http://schemas.microsoft.com/office/drawing/2014/main" id="{68D53790-70F3-B642-878D-445D0C110340}"/>
                  </a:ext>
                </a:extLst>
              </p:cNvPr>
              <p:cNvSpPr>
                <a:spLocks noRot="1" noChangeAspect="1" noMove="1" noResize="1" noEditPoints="1" noAdjustHandles="1" noChangeArrowheads="1" noChangeShapeType="1" noTextEdit="1"/>
              </p:cNvSpPr>
              <p:nvPr/>
            </p:nvSpPr>
            <p:spPr>
              <a:xfrm>
                <a:off x="4954052" y="4582281"/>
                <a:ext cx="369845"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Rectangle 129">
                <a:extLst>
                  <a:ext uri="{FF2B5EF4-FFF2-40B4-BE49-F238E27FC236}">
                    <a16:creationId xmlns:a16="http://schemas.microsoft.com/office/drawing/2014/main" id="{6438D31D-50FF-614B-8B64-48496ABCC0FB}"/>
                  </a:ext>
                </a:extLst>
              </p:cNvPr>
              <p:cNvSpPr/>
              <p:nvPr/>
            </p:nvSpPr>
            <p:spPr>
              <a:xfrm>
                <a:off x="2870876" y="5257793"/>
                <a:ext cx="6301597" cy="1235082"/>
              </a:xfrm>
              <a:prstGeom prst="rect">
                <a:avLst/>
              </a:prstGeom>
              <a:solidFill>
                <a:schemeClr val="bg1">
                  <a:lumMod val="95000"/>
                </a:schemeClr>
              </a:solidFill>
            </p:spPr>
            <p:txBody>
              <a:bodyPr wrap="none">
                <a:spAutoFit/>
              </a:bodyPr>
              <a:lstStyle/>
              <a:p>
                <a:r>
                  <a:rPr lang="en-ZA" sz="2400" dirty="0"/>
                  <a:t>With the birthday paradox:</a:t>
                </a:r>
                <a:endParaRPr lang="en-US" sz="2400" dirty="0"/>
              </a:p>
              <a:p>
                <a:endParaRPr lang="en-US" sz="2400" i="1" dirty="0">
                  <a:latin typeface="Cambria Math" panose="02040503050406030204" pitchFamily="18" charset="0"/>
                  <a:ea typeface="Cambria Math" panose="02040503050406030204" pitchFamily="18" charset="0"/>
                </a:endParaRPr>
              </a:p>
              <a:p>
                <a14:m>
                  <m:oMath xmlns:m="http://schemas.openxmlformats.org/officeDocument/2006/math">
                    <m:r>
                      <a:rPr lang="en-US" sz="2400" b="0" i="1" smtClean="0">
                        <a:latin typeface="Cambria Math" panose="02040503050406030204" pitchFamily="18" charset="0"/>
                        <a:ea typeface="Cambria Math" panose="02040503050406030204" pitchFamily="18" charset="0"/>
                      </a:rPr>
                      <m:t>𝐹𝑜𝑟</m:t>
                    </m:r>
                    <m:r>
                      <a:rPr lang="en-US" sz="2400" b="0" i="1" smtClean="0">
                        <a:latin typeface="Cambria Math" panose="02040503050406030204" pitchFamily="18" charset="0"/>
                        <a:ea typeface="Cambria Math" panose="02040503050406030204" pitchFamily="18" charset="0"/>
                      </a:rPr>
                      <m:t> </m:t>
                    </m:r>
                    <m:r>
                      <a:rPr lang="en-US" sz="2400" i="1" smtClean="0">
                        <a:latin typeface="Cambria Math" panose="02040503050406030204" pitchFamily="18" charset="0"/>
                        <a:ea typeface="Cambria Math" panose="02040503050406030204" pitchFamily="18" charset="0"/>
                      </a:rPr>
                      <m:t>𝑀</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ea typeface="Cambria Math" panose="02040503050406030204" pitchFamily="18" charset="0"/>
                          </a:rPr>
                          <m:t>100</m:t>
                        </m:r>
                      </m:sup>
                    </m:sSup>
                  </m:oMath>
                </a14:m>
                <a:r>
                  <a:rPr lang="en-US" sz="2400" dirty="0"/>
                  <a:t>: number of checks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𝑀</m:t>
                        </m:r>
                      </m:e>
                    </m:rad>
                    <m:r>
                      <a:rPr lang="en-US" sz="2400" b="0" i="1" smtClean="0">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ea typeface="Cambria Math" panose="02040503050406030204" pitchFamily="18" charset="0"/>
                          </a:rPr>
                          <m:t>50</m:t>
                        </m:r>
                      </m:sup>
                    </m:sSup>
                  </m:oMath>
                </a14:m>
                <a:endParaRPr lang="en-US" sz="2400" dirty="0"/>
              </a:p>
            </p:txBody>
          </p:sp>
        </mc:Choice>
        <mc:Fallback xmlns="">
          <p:sp>
            <p:nvSpPr>
              <p:cNvPr id="130" name="Rectangle 129">
                <a:extLst>
                  <a:ext uri="{FF2B5EF4-FFF2-40B4-BE49-F238E27FC236}">
                    <a16:creationId xmlns:a16="http://schemas.microsoft.com/office/drawing/2014/main" id="{6438D31D-50FF-614B-8B64-48496ABCC0FB}"/>
                  </a:ext>
                </a:extLst>
              </p:cNvPr>
              <p:cNvSpPr>
                <a:spLocks noRot="1" noChangeAspect="1" noMove="1" noResize="1" noEditPoints="1" noAdjustHandles="1" noChangeArrowheads="1" noChangeShapeType="1" noTextEdit="1"/>
              </p:cNvSpPr>
              <p:nvPr/>
            </p:nvSpPr>
            <p:spPr>
              <a:xfrm>
                <a:off x="2870876" y="5257793"/>
                <a:ext cx="6301597" cy="1235082"/>
              </a:xfrm>
              <a:prstGeom prst="rect">
                <a:avLst/>
              </a:prstGeom>
              <a:blipFill>
                <a:blip r:embed="rId6"/>
                <a:stretch>
                  <a:fillRect l="-1408" t="-4082" b="-10204"/>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ADD29B00-4059-4D48-B13F-5C0872AF48C1}"/>
              </a:ext>
            </a:extLst>
          </p:cNvPr>
          <p:cNvSpPr txBox="1"/>
          <p:nvPr/>
        </p:nvSpPr>
        <p:spPr>
          <a:xfrm>
            <a:off x="5588890" y="2594324"/>
            <a:ext cx="954107" cy="707886"/>
          </a:xfrm>
          <a:prstGeom prst="rect">
            <a:avLst/>
          </a:prstGeom>
          <a:noFill/>
        </p:spPr>
        <p:txBody>
          <a:bodyPr wrap="none" rtlCol="0">
            <a:spAutoFit/>
          </a:bodyPr>
          <a:lstStyle/>
          <a:p>
            <a:r>
              <a:rPr lang="en-US" sz="4000" dirty="0">
                <a:solidFill>
                  <a:schemeClr val="bg1">
                    <a:lumMod val="65000"/>
                  </a:schemeClr>
                </a:solidFill>
                <a:latin typeface="Times" pitchFamily="2" charset="0"/>
              </a:rPr>
              <a:t>. . . </a:t>
            </a:r>
          </a:p>
        </p:txBody>
      </p:sp>
      <p:sp>
        <p:nvSpPr>
          <p:cNvPr id="136" name="Oval 135">
            <a:extLst>
              <a:ext uri="{FF2B5EF4-FFF2-40B4-BE49-F238E27FC236}">
                <a16:creationId xmlns:a16="http://schemas.microsoft.com/office/drawing/2014/main" id="{C444B685-7A46-6F40-B129-27BA7D10194D}"/>
              </a:ext>
            </a:extLst>
          </p:cNvPr>
          <p:cNvSpPr/>
          <p:nvPr/>
        </p:nvSpPr>
        <p:spPr>
          <a:xfrm>
            <a:off x="7134638" y="3614962"/>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a:extLst>
              <a:ext uri="{FF2B5EF4-FFF2-40B4-BE49-F238E27FC236}">
                <a16:creationId xmlns:a16="http://schemas.microsoft.com/office/drawing/2014/main" id="{E3DAFDE8-8CB0-694F-8A9D-299DE71974AF}"/>
              </a:ext>
            </a:extLst>
          </p:cNvPr>
          <p:cNvSpPr/>
          <p:nvPr/>
        </p:nvSpPr>
        <p:spPr>
          <a:xfrm>
            <a:off x="4102910" y="3162031"/>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B65A8E-89B1-074A-B451-D209A4C9DC6C}"/>
                  </a:ext>
                </a:extLst>
              </p:cNvPr>
              <p:cNvSpPr txBox="1"/>
              <p:nvPr/>
            </p:nvSpPr>
            <p:spPr>
              <a:xfrm>
                <a:off x="7335041" y="4410669"/>
                <a:ext cx="1296188" cy="369332"/>
              </a:xfrm>
              <a:prstGeom prst="rect">
                <a:avLst/>
              </a:prstGeom>
              <a:solidFill>
                <a:schemeClr val="accent4">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𝑀</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100</m:t>
                          </m:r>
                        </m:sup>
                      </m:sSup>
                    </m:oMath>
                  </m:oMathPara>
                </a14:m>
                <a:endParaRPr lang="en-US" dirty="0"/>
              </a:p>
            </p:txBody>
          </p:sp>
        </mc:Choice>
        <mc:Fallback xmlns="">
          <p:sp>
            <p:nvSpPr>
              <p:cNvPr id="4" name="TextBox 3">
                <a:extLst>
                  <a:ext uri="{FF2B5EF4-FFF2-40B4-BE49-F238E27FC236}">
                    <a16:creationId xmlns:a16="http://schemas.microsoft.com/office/drawing/2014/main" id="{C9B65A8E-89B1-074A-B451-D209A4C9DC6C}"/>
                  </a:ext>
                </a:extLst>
              </p:cNvPr>
              <p:cNvSpPr txBox="1">
                <a:spLocks noRot="1" noChangeAspect="1" noMove="1" noResize="1" noEditPoints="1" noAdjustHandles="1" noChangeArrowheads="1" noChangeShapeType="1" noTextEdit="1"/>
              </p:cNvSpPr>
              <p:nvPr/>
            </p:nvSpPr>
            <p:spPr>
              <a:xfrm>
                <a:off x="7335041" y="4410669"/>
                <a:ext cx="1296188" cy="36933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562610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771D55-E667-C445-90A0-F3861097F93A}"/>
              </a:ext>
            </a:extLst>
          </p:cNvPr>
          <p:cNvSpPr>
            <a:spLocks noGrp="1"/>
          </p:cNvSpPr>
          <p:nvPr>
            <p:ph type="sldNum" sz="quarter" idx="12"/>
          </p:nvPr>
        </p:nvSpPr>
        <p:spPr/>
        <p:txBody>
          <a:bodyPr/>
          <a:lstStyle/>
          <a:p>
            <a:fld id="{591A223C-FA10-BC46-A853-03BA373D023C}" type="slidenum">
              <a:rPr lang="en-US" smtClean="0"/>
              <a:t>43</a:t>
            </a:fld>
            <a:endParaRPr lang="en-US" dirty="0"/>
          </a:p>
        </p:txBody>
      </p:sp>
      <p:sp>
        <p:nvSpPr>
          <p:cNvPr id="25" name="Title 24">
            <a:extLst>
              <a:ext uri="{FF2B5EF4-FFF2-40B4-BE49-F238E27FC236}">
                <a16:creationId xmlns:a16="http://schemas.microsoft.com/office/drawing/2014/main" id="{DBD46823-5CC6-9548-B25C-5FBD63E4292C}"/>
              </a:ext>
            </a:extLst>
          </p:cNvPr>
          <p:cNvSpPr>
            <a:spLocks noGrp="1"/>
          </p:cNvSpPr>
          <p:nvPr>
            <p:ph type="title"/>
          </p:nvPr>
        </p:nvSpPr>
        <p:spPr/>
        <p:txBody>
          <a:bodyPr>
            <a:normAutofit/>
          </a:bodyPr>
          <a:lstStyle/>
          <a:p>
            <a:r>
              <a:rPr lang="en-ZA" sz="3200" dirty="0"/>
              <a:t>Quantum Period Finding</a:t>
            </a:r>
            <a:endParaRPr lang="en-US" sz="3200"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F4029430-7EA0-644A-8C48-87D22EEBCE2B}"/>
                  </a:ext>
                </a:extLst>
              </p:cNvPr>
              <p:cNvGraphicFramePr>
                <a:graphicFrameLocks noGrp="1"/>
              </p:cNvGraphicFramePr>
              <p:nvPr>
                <p:extLst/>
              </p:nvPr>
            </p:nvGraphicFramePr>
            <p:xfrm>
              <a:off x="4376248" y="133965"/>
              <a:ext cx="549112" cy="6304280"/>
            </p:xfrm>
            <a:graphic>
              <a:graphicData uri="http://schemas.openxmlformats.org/drawingml/2006/table">
                <a:tbl>
                  <a:tblPr firstRow="1" bandRow="1">
                    <a:tableStyleId>{00A15C55-8517-42AA-B614-E9B94910E393}</a:tableStyleId>
                  </a:tblPr>
                  <a:tblGrid>
                    <a:gridCol w="549112">
                      <a:extLst>
                        <a:ext uri="{9D8B030D-6E8A-4147-A177-3AD203B41FA5}">
                          <a16:colId xmlns:a16="http://schemas.microsoft.com/office/drawing/2014/main" val="206757364"/>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800" smtClean="0">
                                    <a:solidFill>
                                      <a:schemeClr val="tx1"/>
                                    </a:solidFill>
                                    <a:latin typeface="Cambria Math" panose="02040503050406030204" pitchFamily="18" charset="0"/>
                                  </a:rPr>
                                  <m:t>𝑥</m:t>
                                </m:r>
                              </m:oMath>
                            </m:oMathPara>
                          </a14:m>
                          <a:endParaRPr lang="en-US" sz="1800" dirty="0">
                            <a:solidFill>
                              <a:schemeClr val="tx1"/>
                            </a:solidFill>
                          </a:endParaRPr>
                        </a:p>
                      </a:txBody>
                      <a:tcPr/>
                    </a:tc>
                    <a:extLst>
                      <a:ext uri="{0D108BD9-81ED-4DB2-BD59-A6C34878D82A}">
                        <a16:rowId xmlns:a16="http://schemas.microsoft.com/office/drawing/2014/main" val="1955473743"/>
                      </a:ext>
                    </a:extLst>
                  </a:tr>
                  <a:tr h="370840">
                    <a:tc>
                      <a:txBody>
                        <a:bodyPr/>
                        <a:lstStyle/>
                        <a:p>
                          <a:pPr algn="ctr"/>
                          <a:r>
                            <a:rPr lang="en-US" sz="1800" dirty="0">
                              <a:solidFill>
                                <a:schemeClr val="tx1"/>
                              </a:solidFill>
                            </a:rPr>
                            <a:t>0</a:t>
                          </a:r>
                        </a:p>
                      </a:txBody>
                      <a:tcPr/>
                    </a:tc>
                    <a:extLst>
                      <a:ext uri="{0D108BD9-81ED-4DB2-BD59-A6C34878D82A}">
                        <a16:rowId xmlns:a16="http://schemas.microsoft.com/office/drawing/2014/main" val="3419208819"/>
                      </a:ext>
                    </a:extLst>
                  </a:tr>
                  <a:tr h="370840">
                    <a:tc>
                      <a:txBody>
                        <a:bodyPr/>
                        <a:lstStyle/>
                        <a:p>
                          <a:pPr algn="ctr"/>
                          <a:r>
                            <a:rPr lang="en-US" sz="1800" dirty="0">
                              <a:solidFill>
                                <a:schemeClr val="tx1"/>
                              </a:solidFill>
                            </a:rPr>
                            <a:t>1</a:t>
                          </a:r>
                        </a:p>
                      </a:txBody>
                      <a:tcPr/>
                    </a:tc>
                    <a:extLst>
                      <a:ext uri="{0D108BD9-81ED-4DB2-BD59-A6C34878D82A}">
                        <a16:rowId xmlns:a16="http://schemas.microsoft.com/office/drawing/2014/main" val="2452133419"/>
                      </a:ext>
                    </a:extLst>
                  </a:tr>
                  <a:tr h="370840">
                    <a:tc>
                      <a:txBody>
                        <a:bodyPr/>
                        <a:lstStyle/>
                        <a:p>
                          <a:pPr algn="ctr"/>
                          <a:r>
                            <a:rPr lang="en-US" sz="1800" dirty="0">
                              <a:solidFill>
                                <a:schemeClr val="tx1"/>
                              </a:solidFill>
                            </a:rPr>
                            <a:t>2</a:t>
                          </a:r>
                        </a:p>
                      </a:txBody>
                      <a:tcPr/>
                    </a:tc>
                    <a:extLst>
                      <a:ext uri="{0D108BD9-81ED-4DB2-BD59-A6C34878D82A}">
                        <a16:rowId xmlns:a16="http://schemas.microsoft.com/office/drawing/2014/main" val="1376658329"/>
                      </a:ext>
                    </a:extLst>
                  </a:tr>
                  <a:tr h="370840">
                    <a:tc>
                      <a:txBody>
                        <a:bodyPr/>
                        <a:lstStyle/>
                        <a:p>
                          <a:pPr algn="ctr"/>
                          <a:r>
                            <a:rPr lang="en-US" sz="1800" dirty="0">
                              <a:solidFill>
                                <a:schemeClr val="tx1"/>
                              </a:solidFill>
                            </a:rPr>
                            <a:t>3</a:t>
                          </a:r>
                        </a:p>
                      </a:txBody>
                      <a:tcPr/>
                    </a:tc>
                    <a:extLst>
                      <a:ext uri="{0D108BD9-81ED-4DB2-BD59-A6C34878D82A}">
                        <a16:rowId xmlns:a16="http://schemas.microsoft.com/office/drawing/2014/main" val="2085404646"/>
                      </a:ext>
                    </a:extLst>
                  </a:tr>
                  <a:tr h="370840">
                    <a:tc>
                      <a:txBody>
                        <a:bodyPr/>
                        <a:lstStyle/>
                        <a:p>
                          <a:pPr algn="ctr"/>
                          <a:r>
                            <a:rPr lang="en-US" sz="1800" dirty="0">
                              <a:solidFill>
                                <a:schemeClr val="tx1"/>
                              </a:solidFill>
                            </a:rPr>
                            <a:t>4</a:t>
                          </a:r>
                        </a:p>
                      </a:txBody>
                      <a:tcPr/>
                    </a:tc>
                    <a:extLst>
                      <a:ext uri="{0D108BD9-81ED-4DB2-BD59-A6C34878D82A}">
                        <a16:rowId xmlns:a16="http://schemas.microsoft.com/office/drawing/2014/main" val="2477180254"/>
                      </a:ext>
                    </a:extLst>
                  </a:tr>
                  <a:tr h="370840">
                    <a:tc>
                      <a:txBody>
                        <a:bodyPr/>
                        <a:lstStyle/>
                        <a:p>
                          <a:pPr algn="ctr"/>
                          <a:r>
                            <a:rPr lang="en-US" sz="1800" dirty="0">
                              <a:solidFill>
                                <a:schemeClr val="tx1"/>
                              </a:solidFill>
                            </a:rPr>
                            <a:t>5</a:t>
                          </a:r>
                        </a:p>
                      </a:txBody>
                      <a:tcPr/>
                    </a:tc>
                    <a:extLst>
                      <a:ext uri="{0D108BD9-81ED-4DB2-BD59-A6C34878D82A}">
                        <a16:rowId xmlns:a16="http://schemas.microsoft.com/office/drawing/2014/main" val="2280071381"/>
                      </a:ext>
                    </a:extLst>
                  </a:tr>
                  <a:tr h="370840">
                    <a:tc>
                      <a:txBody>
                        <a:bodyPr/>
                        <a:lstStyle/>
                        <a:p>
                          <a:pPr algn="ctr"/>
                          <a:r>
                            <a:rPr lang="en-US" sz="1800" dirty="0">
                              <a:solidFill>
                                <a:schemeClr val="tx1"/>
                              </a:solidFill>
                            </a:rPr>
                            <a:t>6</a:t>
                          </a:r>
                        </a:p>
                      </a:txBody>
                      <a:tcPr/>
                    </a:tc>
                    <a:extLst>
                      <a:ext uri="{0D108BD9-81ED-4DB2-BD59-A6C34878D82A}">
                        <a16:rowId xmlns:a16="http://schemas.microsoft.com/office/drawing/2014/main" val="20106087"/>
                      </a:ext>
                    </a:extLst>
                  </a:tr>
                  <a:tr h="370840">
                    <a:tc>
                      <a:txBody>
                        <a:bodyPr/>
                        <a:lstStyle/>
                        <a:p>
                          <a:pPr algn="ctr"/>
                          <a:r>
                            <a:rPr lang="en-US" sz="1800" dirty="0">
                              <a:solidFill>
                                <a:schemeClr val="tx1"/>
                              </a:solidFill>
                            </a:rPr>
                            <a:t>7</a:t>
                          </a:r>
                        </a:p>
                      </a:txBody>
                      <a:tcPr/>
                    </a:tc>
                    <a:extLst>
                      <a:ext uri="{0D108BD9-81ED-4DB2-BD59-A6C34878D82A}">
                        <a16:rowId xmlns:a16="http://schemas.microsoft.com/office/drawing/2014/main" val="3259519652"/>
                      </a:ext>
                    </a:extLst>
                  </a:tr>
                  <a:tr h="370840">
                    <a:tc>
                      <a:txBody>
                        <a:bodyPr/>
                        <a:lstStyle/>
                        <a:p>
                          <a:pPr algn="ctr"/>
                          <a:r>
                            <a:rPr lang="en-US" sz="1800" dirty="0">
                              <a:solidFill>
                                <a:schemeClr val="tx1"/>
                              </a:solidFill>
                            </a:rPr>
                            <a:t>8</a:t>
                          </a:r>
                        </a:p>
                      </a:txBody>
                      <a:tcPr/>
                    </a:tc>
                    <a:extLst>
                      <a:ext uri="{0D108BD9-81ED-4DB2-BD59-A6C34878D82A}">
                        <a16:rowId xmlns:a16="http://schemas.microsoft.com/office/drawing/2014/main" val="2266238226"/>
                      </a:ext>
                    </a:extLst>
                  </a:tr>
                  <a:tr h="370840">
                    <a:tc>
                      <a:txBody>
                        <a:bodyPr/>
                        <a:lstStyle/>
                        <a:p>
                          <a:pPr algn="ctr"/>
                          <a:r>
                            <a:rPr lang="en-US" sz="1800" dirty="0">
                              <a:solidFill>
                                <a:schemeClr val="tx1"/>
                              </a:solidFill>
                            </a:rPr>
                            <a:t>9</a:t>
                          </a:r>
                        </a:p>
                      </a:txBody>
                      <a:tcPr/>
                    </a:tc>
                    <a:extLst>
                      <a:ext uri="{0D108BD9-81ED-4DB2-BD59-A6C34878D82A}">
                        <a16:rowId xmlns:a16="http://schemas.microsoft.com/office/drawing/2014/main" val="1386377524"/>
                      </a:ext>
                    </a:extLst>
                  </a:tr>
                  <a:tr h="370840">
                    <a:tc>
                      <a:txBody>
                        <a:bodyPr/>
                        <a:lstStyle/>
                        <a:p>
                          <a:pPr algn="ctr"/>
                          <a:r>
                            <a:rPr lang="en-US" sz="1800" dirty="0">
                              <a:solidFill>
                                <a:schemeClr val="tx1"/>
                              </a:solidFill>
                            </a:rPr>
                            <a:t>10</a:t>
                          </a:r>
                        </a:p>
                      </a:txBody>
                      <a:tcPr/>
                    </a:tc>
                    <a:extLst>
                      <a:ext uri="{0D108BD9-81ED-4DB2-BD59-A6C34878D82A}">
                        <a16:rowId xmlns:a16="http://schemas.microsoft.com/office/drawing/2014/main" val="1088031052"/>
                      </a:ext>
                    </a:extLst>
                  </a:tr>
                  <a:tr h="370840">
                    <a:tc>
                      <a:txBody>
                        <a:bodyPr/>
                        <a:lstStyle/>
                        <a:p>
                          <a:pPr algn="ctr"/>
                          <a:r>
                            <a:rPr lang="en-US" sz="1800" dirty="0">
                              <a:solidFill>
                                <a:schemeClr val="tx1"/>
                              </a:solidFill>
                            </a:rPr>
                            <a:t>11</a:t>
                          </a:r>
                        </a:p>
                      </a:txBody>
                      <a:tcPr/>
                    </a:tc>
                    <a:extLst>
                      <a:ext uri="{0D108BD9-81ED-4DB2-BD59-A6C34878D82A}">
                        <a16:rowId xmlns:a16="http://schemas.microsoft.com/office/drawing/2014/main" val="3541967209"/>
                      </a:ext>
                    </a:extLst>
                  </a:tr>
                  <a:tr h="370840">
                    <a:tc>
                      <a:txBody>
                        <a:bodyPr/>
                        <a:lstStyle/>
                        <a:p>
                          <a:pPr algn="ctr"/>
                          <a:r>
                            <a:rPr lang="en-US" sz="1800" dirty="0">
                              <a:solidFill>
                                <a:schemeClr val="tx1"/>
                              </a:solidFill>
                            </a:rPr>
                            <a:t>12</a:t>
                          </a:r>
                        </a:p>
                      </a:txBody>
                      <a:tcPr/>
                    </a:tc>
                    <a:extLst>
                      <a:ext uri="{0D108BD9-81ED-4DB2-BD59-A6C34878D82A}">
                        <a16:rowId xmlns:a16="http://schemas.microsoft.com/office/drawing/2014/main" val="1833830697"/>
                      </a:ext>
                    </a:extLst>
                  </a:tr>
                  <a:tr h="370840">
                    <a:tc>
                      <a:txBody>
                        <a:bodyPr/>
                        <a:lstStyle/>
                        <a:p>
                          <a:pPr algn="ctr"/>
                          <a:r>
                            <a:rPr lang="en-US" sz="1800" dirty="0">
                              <a:solidFill>
                                <a:schemeClr val="tx1"/>
                              </a:solidFill>
                            </a:rPr>
                            <a:t>13</a:t>
                          </a:r>
                        </a:p>
                      </a:txBody>
                      <a:tcPr/>
                    </a:tc>
                    <a:extLst>
                      <a:ext uri="{0D108BD9-81ED-4DB2-BD59-A6C34878D82A}">
                        <a16:rowId xmlns:a16="http://schemas.microsoft.com/office/drawing/2014/main" val="616293033"/>
                      </a:ext>
                    </a:extLst>
                  </a:tr>
                  <a:tr h="370840">
                    <a:tc>
                      <a:txBody>
                        <a:bodyPr/>
                        <a:lstStyle/>
                        <a:p>
                          <a:pPr algn="ctr"/>
                          <a:r>
                            <a:rPr lang="en-US" sz="1800" dirty="0">
                              <a:solidFill>
                                <a:schemeClr val="tx1"/>
                              </a:solidFill>
                            </a:rPr>
                            <a:t>14</a:t>
                          </a:r>
                        </a:p>
                      </a:txBody>
                      <a:tcPr/>
                    </a:tc>
                    <a:extLst>
                      <a:ext uri="{0D108BD9-81ED-4DB2-BD59-A6C34878D82A}">
                        <a16:rowId xmlns:a16="http://schemas.microsoft.com/office/drawing/2014/main" val="4146320581"/>
                      </a:ext>
                    </a:extLst>
                  </a:tr>
                  <a:tr h="370840">
                    <a:tc>
                      <a:txBody>
                        <a:bodyPr/>
                        <a:lstStyle/>
                        <a:p>
                          <a:pPr algn="ctr"/>
                          <a:r>
                            <a:rPr lang="en-US" sz="1800" dirty="0">
                              <a:solidFill>
                                <a:schemeClr val="tx1"/>
                              </a:solidFill>
                            </a:rPr>
                            <a:t>15</a:t>
                          </a:r>
                        </a:p>
                      </a:txBody>
                      <a:tcPr/>
                    </a:tc>
                    <a:extLst>
                      <a:ext uri="{0D108BD9-81ED-4DB2-BD59-A6C34878D82A}">
                        <a16:rowId xmlns:a16="http://schemas.microsoft.com/office/drawing/2014/main" val="464448070"/>
                      </a:ext>
                    </a:extLst>
                  </a:tr>
                </a:tbl>
              </a:graphicData>
            </a:graphic>
          </p:graphicFrame>
        </mc:Choice>
        <mc:Fallback xmlns="">
          <p:graphicFrame>
            <p:nvGraphicFramePr>
              <p:cNvPr id="4" name="Table 3">
                <a:extLst>
                  <a:ext uri="{FF2B5EF4-FFF2-40B4-BE49-F238E27FC236}">
                    <a16:creationId xmlns:a16="http://schemas.microsoft.com/office/drawing/2014/main" id="{F4029430-7EA0-644A-8C48-87D22EEBCE2B}"/>
                  </a:ext>
                </a:extLst>
              </p:cNvPr>
              <p:cNvGraphicFramePr>
                <a:graphicFrameLocks noGrp="1"/>
              </p:cNvGraphicFramePr>
              <p:nvPr>
                <p:extLst/>
              </p:nvPr>
            </p:nvGraphicFramePr>
            <p:xfrm>
              <a:off x="4376248" y="133965"/>
              <a:ext cx="549112" cy="6304280"/>
            </p:xfrm>
            <a:graphic>
              <a:graphicData uri="http://schemas.openxmlformats.org/drawingml/2006/table">
                <a:tbl>
                  <a:tblPr firstRow="1" bandRow="1">
                    <a:tableStyleId>{00A15C55-8517-42AA-B614-E9B94910E393}</a:tableStyleId>
                  </a:tblPr>
                  <a:tblGrid>
                    <a:gridCol w="549112">
                      <a:extLst>
                        <a:ext uri="{9D8B030D-6E8A-4147-A177-3AD203B41FA5}">
                          <a16:colId xmlns:a16="http://schemas.microsoft.com/office/drawing/2014/main" val="206757364"/>
                        </a:ext>
                      </a:extLst>
                    </a:gridCol>
                  </a:tblGrid>
                  <a:tr h="370840">
                    <a:tc>
                      <a:txBody>
                        <a:bodyPr/>
                        <a:lstStyle/>
                        <a:p>
                          <a:endParaRPr lang="en-US"/>
                        </a:p>
                      </a:txBody>
                      <a:tcPr>
                        <a:blipFill>
                          <a:blip r:embed="rId3"/>
                          <a:stretch>
                            <a:fillRect l="-2273" t="-3448" r="-4545" b="-1637931"/>
                          </a:stretch>
                        </a:blipFill>
                      </a:tcPr>
                    </a:tc>
                    <a:extLst>
                      <a:ext uri="{0D108BD9-81ED-4DB2-BD59-A6C34878D82A}">
                        <a16:rowId xmlns:a16="http://schemas.microsoft.com/office/drawing/2014/main" val="1955473743"/>
                      </a:ext>
                    </a:extLst>
                  </a:tr>
                  <a:tr h="370840">
                    <a:tc>
                      <a:txBody>
                        <a:bodyPr/>
                        <a:lstStyle/>
                        <a:p>
                          <a:pPr algn="ctr"/>
                          <a:r>
                            <a:rPr lang="en-US" sz="1800" dirty="0">
                              <a:solidFill>
                                <a:schemeClr val="tx1"/>
                              </a:solidFill>
                            </a:rPr>
                            <a:t>0</a:t>
                          </a:r>
                        </a:p>
                      </a:txBody>
                      <a:tcPr/>
                    </a:tc>
                    <a:extLst>
                      <a:ext uri="{0D108BD9-81ED-4DB2-BD59-A6C34878D82A}">
                        <a16:rowId xmlns:a16="http://schemas.microsoft.com/office/drawing/2014/main" val="3419208819"/>
                      </a:ext>
                    </a:extLst>
                  </a:tr>
                  <a:tr h="370840">
                    <a:tc>
                      <a:txBody>
                        <a:bodyPr/>
                        <a:lstStyle/>
                        <a:p>
                          <a:pPr algn="ctr"/>
                          <a:r>
                            <a:rPr lang="en-US" sz="1800" dirty="0">
                              <a:solidFill>
                                <a:schemeClr val="tx1"/>
                              </a:solidFill>
                            </a:rPr>
                            <a:t>1</a:t>
                          </a:r>
                        </a:p>
                      </a:txBody>
                      <a:tcPr/>
                    </a:tc>
                    <a:extLst>
                      <a:ext uri="{0D108BD9-81ED-4DB2-BD59-A6C34878D82A}">
                        <a16:rowId xmlns:a16="http://schemas.microsoft.com/office/drawing/2014/main" val="2452133419"/>
                      </a:ext>
                    </a:extLst>
                  </a:tr>
                  <a:tr h="370840">
                    <a:tc>
                      <a:txBody>
                        <a:bodyPr/>
                        <a:lstStyle/>
                        <a:p>
                          <a:pPr algn="ctr"/>
                          <a:r>
                            <a:rPr lang="en-US" sz="1800" dirty="0">
                              <a:solidFill>
                                <a:schemeClr val="tx1"/>
                              </a:solidFill>
                            </a:rPr>
                            <a:t>2</a:t>
                          </a:r>
                        </a:p>
                      </a:txBody>
                      <a:tcPr/>
                    </a:tc>
                    <a:extLst>
                      <a:ext uri="{0D108BD9-81ED-4DB2-BD59-A6C34878D82A}">
                        <a16:rowId xmlns:a16="http://schemas.microsoft.com/office/drawing/2014/main" val="1376658329"/>
                      </a:ext>
                    </a:extLst>
                  </a:tr>
                  <a:tr h="370840">
                    <a:tc>
                      <a:txBody>
                        <a:bodyPr/>
                        <a:lstStyle/>
                        <a:p>
                          <a:pPr algn="ctr"/>
                          <a:r>
                            <a:rPr lang="en-US" sz="1800" dirty="0">
                              <a:solidFill>
                                <a:schemeClr val="tx1"/>
                              </a:solidFill>
                            </a:rPr>
                            <a:t>3</a:t>
                          </a:r>
                        </a:p>
                      </a:txBody>
                      <a:tcPr/>
                    </a:tc>
                    <a:extLst>
                      <a:ext uri="{0D108BD9-81ED-4DB2-BD59-A6C34878D82A}">
                        <a16:rowId xmlns:a16="http://schemas.microsoft.com/office/drawing/2014/main" val="2085404646"/>
                      </a:ext>
                    </a:extLst>
                  </a:tr>
                  <a:tr h="370840">
                    <a:tc>
                      <a:txBody>
                        <a:bodyPr/>
                        <a:lstStyle/>
                        <a:p>
                          <a:pPr algn="ctr"/>
                          <a:r>
                            <a:rPr lang="en-US" sz="1800" dirty="0">
                              <a:solidFill>
                                <a:schemeClr val="tx1"/>
                              </a:solidFill>
                            </a:rPr>
                            <a:t>4</a:t>
                          </a:r>
                        </a:p>
                      </a:txBody>
                      <a:tcPr/>
                    </a:tc>
                    <a:extLst>
                      <a:ext uri="{0D108BD9-81ED-4DB2-BD59-A6C34878D82A}">
                        <a16:rowId xmlns:a16="http://schemas.microsoft.com/office/drawing/2014/main" val="2477180254"/>
                      </a:ext>
                    </a:extLst>
                  </a:tr>
                  <a:tr h="370840">
                    <a:tc>
                      <a:txBody>
                        <a:bodyPr/>
                        <a:lstStyle/>
                        <a:p>
                          <a:pPr algn="ctr"/>
                          <a:r>
                            <a:rPr lang="en-US" sz="1800" dirty="0">
                              <a:solidFill>
                                <a:schemeClr val="tx1"/>
                              </a:solidFill>
                            </a:rPr>
                            <a:t>5</a:t>
                          </a:r>
                        </a:p>
                      </a:txBody>
                      <a:tcPr/>
                    </a:tc>
                    <a:extLst>
                      <a:ext uri="{0D108BD9-81ED-4DB2-BD59-A6C34878D82A}">
                        <a16:rowId xmlns:a16="http://schemas.microsoft.com/office/drawing/2014/main" val="2280071381"/>
                      </a:ext>
                    </a:extLst>
                  </a:tr>
                  <a:tr h="370840">
                    <a:tc>
                      <a:txBody>
                        <a:bodyPr/>
                        <a:lstStyle/>
                        <a:p>
                          <a:pPr algn="ctr"/>
                          <a:r>
                            <a:rPr lang="en-US" sz="1800" dirty="0">
                              <a:solidFill>
                                <a:schemeClr val="tx1"/>
                              </a:solidFill>
                            </a:rPr>
                            <a:t>6</a:t>
                          </a:r>
                        </a:p>
                      </a:txBody>
                      <a:tcPr/>
                    </a:tc>
                    <a:extLst>
                      <a:ext uri="{0D108BD9-81ED-4DB2-BD59-A6C34878D82A}">
                        <a16:rowId xmlns:a16="http://schemas.microsoft.com/office/drawing/2014/main" val="20106087"/>
                      </a:ext>
                    </a:extLst>
                  </a:tr>
                  <a:tr h="370840">
                    <a:tc>
                      <a:txBody>
                        <a:bodyPr/>
                        <a:lstStyle/>
                        <a:p>
                          <a:pPr algn="ctr"/>
                          <a:r>
                            <a:rPr lang="en-US" sz="1800" dirty="0">
                              <a:solidFill>
                                <a:schemeClr val="tx1"/>
                              </a:solidFill>
                            </a:rPr>
                            <a:t>7</a:t>
                          </a:r>
                        </a:p>
                      </a:txBody>
                      <a:tcPr/>
                    </a:tc>
                    <a:extLst>
                      <a:ext uri="{0D108BD9-81ED-4DB2-BD59-A6C34878D82A}">
                        <a16:rowId xmlns:a16="http://schemas.microsoft.com/office/drawing/2014/main" val="3259519652"/>
                      </a:ext>
                    </a:extLst>
                  </a:tr>
                  <a:tr h="370840">
                    <a:tc>
                      <a:txBody>
                        <a:bodyPr/>
                        <a:lstStyle/>
                        <a:p>
                          <a:pPr algn="ctr"/>
                          <a:r>
                            <a:rPr lang="en-US" sz="1800" dirty="0">
                              <a:solidFill>
                                <a:schemeClr val="tx1"/>
                              </a:solidFill>
                            </a:rPr>
                            <a:t>8</a:t>
                          </a:r>
                        </a:p>
                      </a:txBody>
                      <a:tcPr/>
                    </a:tc>
                    <a:extLst>
                      <a:ext uri="{0D108BD9-81ED-4DB2-BD59-A6C34878D82A}">
                        <a16:rowId xmlns:a16="http://schemas.microsoft.com/office/drawing/2014/main" val="2266238226"/>
                      </a:ext>
                    </a:extLst>
                  </a:tr>
                  <a:tr h="370840">
                    <a:tc>
                      <a:txBody>
                        <a:bodyPr/>
                        <a:lstStyle/>
                        <a:p>
                          <a:pPr algn="ctr"/>
                          <a:r>
                            <a:rPr lang="en-US" sz="1800" dirty="0">
                              <a:solidFill>
                                <a:schemeClr val="tx1"/>
                              </a:solidFill>
                            </a:rPr>
                            <a:t>9</a:t>
                          </a:r>
                        </a:p>
                      </a:txBody>
                      <a:tcPr/>
                    </a:tc>
                    <a:extLst>
                      <a:ext uri="{0D108BD9-81ED-4DB2-BD59-A6C34878D82A}">
                        <a16:rowId xmlns:a16="http://schemas.microsoft.com/office/drawing/2014/main" val="1386377524"/>
                      </a:ext>
                    </a:extLst>
                  </a:tr>
                  <a:tr h="370840">
                    <a:tc>
                      <a:txBody>
                        <a:bodyPr/>
                        <a:lstStyle/>
                        <a:p>
                          <a:pPr algn="ctr"/>
                          <a:r>
                            <a:rPr lang="en-US" sz="1800" dirty="0">
                              <a:solidFill>
                                <a:schemeClr val="tx1"/>
                              </a:solidFill>
                            </a:rPr>
                            <a:t>10</a:t>
                          </a:r>
                        </a:p>
                      </a:txBody>
                      <a:tcPr/>
                    </a:tc>
                    <a:extLst>
                      <a:ext uri="{0D108BD9-81ED-4DB2-BD59-A6C34878D82A}">
                        <a16:rowId xmlns:a16="http://schemas.microsoft.com/office/drawing/2014/main" val="1088031052"/>
                      </a:ext>
                    </a:extLst>
                  </a:tr>
                  <a:tr h="370840">
                    <a:tc>
                      <a:txBody>
                        <a:bodyPr/>
                        <a:lstStyle/>
                        <a:p>
                          <a:pPr algn="ctr"/>
                          <a:r>
                            <a:rPr lang="en-US" sz="1800" dirty="0">
                              <a:solidFill>
                                <a:schemeClr val="tx1"/>
                              </a:solidFill>
                            </a:rPr>
                            <a:t>11</a:t>
                          </a:r>
                        </a:p>
                      </a:txBody>
                      <a:tcPr/>
                    </a:tc>
                    <a:extLst>
                      <a:ext uri="{0D108BD9-81ED-4DB2-BD59-A6C34878D82A}">
                        <a16:rowId xmlns:a16="http://schemas.microsoft.com/office/drawing/2014/main" val="3541967209"/>
                      </a:ext>
                    </a:extLst>
                  </a:tr>
                  <a:tr h="370840">
                    <a:tc>
                      <a:txBody>
                        <a:bodyPr/>
                        <a:lstStyle/>
                        <a:p>
                          <a:pPr algn="ctr"/>
                          <a:r>
                            <a:rPr lang="en-US" sz="1800" dirty="0">
                              <a:solidFill>
                                <a:schemeClr val="tx1"/>
                              </a:solidFill>
                            </a:rPr>
                            <a:t>12</a:t>
                          </a:r>
                        </a:p>
                      </a:txBody>
                      <a:tcPr/>
                    </a:tc>
                    <a:extLst>
                      <a:ext uri="{0D108BD9-81ED-4DB2-BD59-A6C34878D82A}">
                        <a16:rowId xmlns:a16="http://schemas.microsoft.com/office/drawing/2014/main" val="1833830697"/>
                      </a:ext>
                    </a:extLst>
                  </a:tr>
                  <a:tr h="370840">
                    <a:tc>
                      <a:txBody>
                        <a:bodyPr/>
                        <a:lstStyle/>
                        <a:p>
                          <a:pPr algn="ctr"/>
                          <a:r>
                            <a:rPr lang="en-US" sz="1800" dirty="0">
                              <a:solidFill>
                                <a:schemeClr val="tx1"/>
                              </a:solidFill>
                            </a:rPr>
                            <a:t>13</a:t>
                          </a:r>
                        </a:p>
                      </a:txBody>
                      <a:tcPr/>
                    </a:tc>
                    <a:extLst>
                      <a:ext uri="{0D108BD9-81ED-4DB2-BD59-A6C34878D82A}">
                        <a16:rowId xmlns:a16="http://schemas.microsoft.com/office/drawing/2014/main" val="616293033"/>
                      </a:ext>
                    </a:extLst>
                  </a:tr>
                  <a:tr h="370840">
                    <a:tc>
                      <a:txBody>
                        <a:bodyPr/>
                        <a:lstStyle/>
                        <a:p>
                          <a:pPr algn="ctr"/>
                          <a:r>
                            <a:rPr lang="en-US" sz="1800" dirty="0">
                              <a:solidFill>
                                <a:schemeClr val="tx1"/>
                              </a:solidFill>
                            </a:rPr>
                            <a:t>14</a:t>
                          </a:r>
                        </a:p>
                      </a:txBody>
                      <a:tcPr/>
                    </a:tc>
                    <a:extLst>
                      <a:ext uri="{0D108BD9-81ED-4DB2-BD59-A6C34878D82A}">
                        <a16:rowId xmlns:a16="http://schemas.microsoft.com/office/drawing/2014/main" val="4146320581"/>
                      </a:ext>
                    </a:extLst>
                  </a:tr>
                  <a:tr h="370840">
                    <a:tc>
                      <a:txBody>
                        <a:bodyPr/>
                        <a:lstStyle/>
                        <a:p>
                          <a:pPr algn="ctr"/>
                          <a:r>
                            <a:rPr lang="en-US" sz="1800" dirty="0">
                              <a:solidFill>
                                <a:schemeClr val="tx1"/>
                              </a:solidFill>
                            </a:rPr>
                            <a:t>15</a:t>
                          </a:r>
                        </a:p>
                      </a:txBody>
                      <a:tcPr/>
                    </a:tc>
                    <a:extLst>
                      <a:ext uri="{0D108BD9-81ED-4DB2-BD59-A6C34878D82A}">
                        <a16:rowId xmlns:a16="http://schemas.microsoft.com/office/drawing/2014/main" val="46444807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6AAF8ADC-2BB1-B84C-868A-E6716A8559B4}"/>
                  </a:ext>
                </a:extLst>
              </p:cNvPr>
              <p:cNvGraphicFramePr>
                <a:graphicFrameLocks noGrp="1"/>
              </p:cNvGraphicFramePr>
              <p:nvPr>
                <p:extLst/>
              </p:nvPr>
            </p:nvGraphicFramePr>
            <p:xfrm>
              <a:off x="7038588" y="114712"/>
              <a:ext cx="549112" cy="6304280"/>
            </p:xfrm>
            <a:graphic>
              <a:graphicData uri="http://schemas.openxmlformats.org/drawingml/2006/table">
                <a:tbl>
                  <a:tblPr firstRow="1" bandRow="1">
                    <a:tableStyleId>{00A15C55-8517-42AA-B614-E9B94910E393}</a:tableStyleId>
                  </a:tblPr>
                  <a:tblGrid>
                    <a:gridCol w="549112">
                      <a:extLst>
                        <a:ext uri="{9D8B030D-6E8A-4147-A177-3AD203B41FA5}">
                          <a16:colId xmlns:a16="http://schemas.microsoft.com/office/drawing/2014/main" val="206757364"/>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800" smtClean="0">
                                    <a:solidFill>
                                      <a:schemeClr val="tx1"/>
                                    </a:solidFill>
                                    <a:latin typeface="Cambria Math" panose="02040503050406030204" pitchFamily="18" charset="0"/>
                                  </a:rPr>
                                  <m:t>𝑥</m:t>
                                </m:r>
                              </m:oMath>
                            </m:oMathPara>
                          </a14:m>
                          <a:endParaRPr lang="en-US" sz="1800" dirty="0">
                            <a:solidFill>
                              <a:schemeClr val="tx1"/>
                            </a:solidFill>
                          </a:endParaRPr>
                        </a:p>
                      </a:txBody>
                      <a:tcPr/>
                    </a:tc>
                    <a:extLst>
                      <a:ext uri="{0D108BD9-81ED-4DB2-BD59-A6C34878D82A}">
                        <a16:rowId xmlns:a16="http://schemas.microsoft.com/office/drawing/2014/main" val="1955473743"/>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341920881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45213341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376658329"/>
                      </a:ext>
                    </a:extLst>
                  </a:tr>
                  <a:tr h="370840">
                    <a:tc>
                      <a:txBody>
                        <a:bodyPr/>
                        <a:lstStyle/>
                        <a:p>
                          <a:pPr algn="ctr"/>
                          <a:r>
                            <a:rPr lang="en-US" sz="1800" dirty="0">
                              <a:solidFill>
                                <a:schemeClr val="tx1"/>
                              </a:solidFill>
                            </a:rPr>
                            <a:t>3</a:t>
                          </a:r>
                        </a:p>
                      </a:txBody>
                      <a:tcPr/>
                    </a:tc>
                    <a:extLst>
                      <a:ext uri="{0D108BD9-81ED-4DB2-BD59-A6C34878D82A}">
                        <a16:rowId xmlns:a16="http://schemas.microsoft.com/office/drawing/2014/main" val="2085404646"/>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477180254"/>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280071381"/>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0106087"/>
                      </a:ext>
                    </a:extLst>
                  </a:tr>
                  <a:tr h="370840">
                    <a:tc>
                      <a:txBody>
                        <a:bodyPr/>
                        <a:lstStyle/>
                        <a:p>
                          <a:pPr algn="ctr"/>
                          <a:r>
                            <a:rPr lang="en-US" sz="1800" dirty="0">
                              <a:solidFill>
                                <a:schemeClr val="tx1"/>
                              </a:solidFill>
                            </a:rPr>
                            <a:t>7</a:t>
                          </a:r>
                        </a:p>
                      </a:txBody>
                      <a:tcPr/>
                    </a:tc>
                    <a:extLst>
                      <a:ext uri="{0D108BD9-81ED-4DB2-BD59-A6C34878D82A}">
                        <a16:rowId xmlns:a16="http://schemas.microsoft.com/office/drawing/2014/main" val="3259519652"/>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266238226"/>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386377524"/>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088031052"/>
                      </a:ext>
                    </a:extLst>
                  </a:tr>
                  <a:tr h="370840">
                    <a:tc>
                      <a:txBody>
                        <a:bodyPr/>
                        <a:lstStyle/>
                        <a:p>
                          <a:pPr algn="ctr"/>
                          <a:r>
                            <a:rPr lang="en-US" sz="1800" dirty="0">
                              <a:solidFill>
                                <a:schemeClr val="tx1"/>
                              </a:solidFill>
                            </a:rPr>
                            <a:t>11</a:t>
                          </a:r>
                        </a:p>
                      </a:txBody>
                      <a:tcPr/>
                    </a:tc>
                    <a:extLst>
                      <a:ext uri="{0D108BD9-81ED-4DB2-BD59-A6C34878D82A}">
                        <a16:rowId xmlns:a16="http://schemas.microsoft.com/office/drawing/2014/main" val="354196720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833830697"/>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616293033"/>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4146320581"/>
                      </a:ext>
                    </a:extLst>
                  </a:tr>
                  <a:tr h="370840">
                    <a:tc>
                      <a:txBody>
                        <a:bodyPr/>
                        <a:lstStyle/>
                        <a:p>
                          <a:pPr algn="ctr"/>
                          <a:r>
                            <a:rPr lang="en-US" sz="1800" dirty="0">
                              <a:solidFill>
                                <a:schemeClr val="tx1"/>
                              </a:solidFill>
                            </a:rPr>
                            <a:t>15</a:t>
                          </a:r>
                        </a:p>
                      </a:txBody>
                      <a:tcPr/>
                    </a:tc>
                    <a:extLst>
                      <a:ext uri="{0D108BD9-81ED-4DB2-BD59-A6C34878D82A}">
                        <a16:rowId xmlns:a16="http://schemas.microsoft.com/office/drawing/2014/main" val="464448070"/>
                      </a:ext>
                    </a:extLst>
                  </a:tr>
                </a:tbl>
              </a:graphicData>
            </a:graphic>
          </p:graphicFrame>
        </mc:Choice>
        <mc:Fallback xmlns="">
          <p:graphicFrame>
            <p:nvGraphicFramePr>
              <p:cNvPr id="6" name="Table 5">
                <a:extLst>
                  <a:ext uri="{FF2B5EF4-FFF2-40B4-BE49-F238E27FC236}">
                    <a16:creationId xmlns:a16="http://schemas.microsoft.com/office/drawing/2014/main" id="{6AAF8ADC-2BB1-B84C-868A-E6716A8559B4}"/>
                  </a:ext>
                </a:extLst>
              </p:cNvPr>
              <p:cNvGraphicFramePr>
                <a:graphicFrameLocks noGrp="1"/>
              </p:cNvGraphicFramePr>
              <p:nvPr>
                <p:extLst/>
              </p:nvPr>
            </p:nvGraphicFramePr>
            <p:xfrm>
              <a:off x="7038588" y="114712"/>
              <a:ext cx="549112" cy="6304280"/>
            </p:xfrm>
            <a:graphic>
              <a:graphicData uri="http://schemas.openxmlformats.org/drawingml/2006/table">
                <a:tbl>
                  <a:tblPr firstRow="1" bandRow="1">
                    <a:tableStyleId>{00A15C55-8517-42AA-B614-E9B94910E393}</a:tableStyleId>
                  </a:tblPr>
                  <a:tblGrid>
                    <a:gridCol w="549112">
                      <a:extLst>
                        <a:ext uri="{9D8B030D-6E8A-4147-A177-3AD203B41FA5}">
                          <a16:colId xmlns:a16="http://schemas.microsoft.com/office/drawing/2014/main" val="206757364"/>
                        </a:ext>
                      </a:extLst>
                    </a:gridCol>
                  </a:tblGrid>
                  <a:tr h="370840">
                    <a:tc>
                      <a:txBody>
                        <a:bodyPr/>
                        <a:lstStyle/>
                        <a:p>
                          <a:endParaRPr lang="en-US"/>
                        </a:p>
                      </a:txBody>
                      <a:tcPr>
                        <a:blipFill>
                          <a:blip r:embed="rId4"/>
                          <a:stretch>
                            <a:fillRect l="-2273" t="-3448" r="-2273" b="-1637931"/>
                          </a:stretch>
                        </a:blipFill>
                      </a:tcPr>
                    </a:tc>
                    <a:extLst>
                      <a:ext uri="{0D108BD9-81ED-4DB2-BD59-A6C34878D82A}">
                        <a16:rowId xmlns:a16="http://schemas.microsoft.com/office/drawing/2014/main" val="1955473743"/>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341920881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45213341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376658329"/>
                      </a:ext>
                    </a:extLst>
                  </a:tr>
                  <a:tr h="370840">
                    <a:tc>
                      <a:txBody>
                        <a:bodyPr/>
                        <a:lstStyle/>
                        <a:p>
                          <a:pPr algn="ctr"/>
                          <a:r>
                            <a:rPr lang="en-US" sz="1800" dirty="0">
                              <a:solidFill>
                                <a:schemeClr val="tx1"/>
                              </a:solidFill>
                            </a:rPr>
                            <a:t>3</a:t>
                          </a:r>
                        </a:p>
                      </a:txBody>
                      <a:tcPr/>
                    </a:tc>
                    <a:extLst>
                      <a:ext uri="{0D108BD9-81ED-4DB2-BD59-A6C34878D82A}">
                        <a16:rowId xmlns:a16="http://schemas.microsoft.com/office/drawing/2014/main" val="2085404646"/>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477180254"/>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280071381"/>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0106087"/>
                      </a:ext>
                    </a:extLst>
                  </a:tr>
                  <a:tr h="370840">
                    <a:tc>
                      <a:txBody>
                        <a:bodyPr/>
                        <a:lstStyle/>
                        <a:p>
                          <a:pPr algn="ctr"/>
                          <a:r>
                            <a:rPr lang="en-US" sz="1800" dirty="0">
                              <a:solidFill>
                                <a:schemeClr val="tx1"/>
                              </a:solidFill>
                            </a:rPr>
                            <a:t>7</a:t>
                          </a:r>
                        </a:p>
                      </a:txBody>
                      <a:tcPr/>
                    </a:tc>
                    <a:extLst>
                      <a:ext uri="{0D108BD9-81ED-4DB2-BD59-A6C34878D82A}">
                        <a16:rowId xmlns:a16="http://schemas.microsoft.com/office/drawing/2014/main" val="3259519652"/>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266238226"/>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386377524"/>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088031052"/>
                      </a:ext>
                    </a:extLst>
                  </a:tr>
                  <a:tr h="370840">
                    <a:tc>
                      <a:txBody>
                        <a:bodyPr/>
                        <a:lstStyle/>
                        <a:p>
                          <a:pPr algn="ctr"/>
                          <a:r>
                            <a:rPr lang="en-US" sz="1800" dirty="0">
                              <a:solidFill>
                                <a:schemeClr val="tx1"/>
                              </a:solidFill>
                            </a:rPr>
                            <a:t>11</a:t>
                          </a:r>
                        </a:p>
                      </a:txBody>
                      <a:tcPr/>
                    </a:tc>
                    <a:extLst>
                      <a:ext uri="{0D108BD9-81ED-4DB2-BD59-A6C34878D82A}">
                        <a16:rowId xmlns:a16="http://schemas.microsoft.com/office/drawing/2014/main" val="354196720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833830697"/>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616293033"/>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4146320581"/>
                      </a:ext>
                    </a:extLst>
                  </a:tr>
                  <a:tr h="370840">
                    <a:tc>
                      <a:txBody>
                        <a:bodyPr/>
                        <a:lstStyle/>
                        <a:p>
                          <a:pPr algn="ctr"/>
                          <a:r>
                            <a:rPr lang="en-US" sz="1800" dirty="0">
                              <a:solidFill>
                                <a:schemeClr val="tx1"/>
                              </a:solidFill>
                            </a:rPr>
                            <a:t>15</a:t>
                          </a:r>
                        </a:p>
                      </a:txBody>
                      <a:tcPr/>
                    </a:tc>
                    <a:extLst>
                      <a:ext uri="{0D108BD9-81ED-4DB2-BD59-A6C34878D82A}">
                        <a16:rowId xmlns:a16="http://schemas.microsoft.com/office/drawing/2014/main" val="464448070"/>
                      </a:ext>
                    </a:extLst>
                  </a:tr>
                </a:tbl>
              </a:graphicData>
            </a:graphic>
          </p:graphicFrame>
        </mc:Fallback>
      </mc:AlternateContent>
      <p:grpSp>
        <p:nvGrpSpPr>
          <p:cNvPr id="48" name="Group 47">
            <a:extLst>
              <a:ext uri="{FF2B5EF4-FFF2-40B4-BE49-F238E27FC236}">
                <a16:creationId xmlns:a16="http://schemas.microsoft.com/office/drawing/2014/main" id="{103234C4-A39A-D04F-A1B5-AFC8A13D8F0F}"/>
              </a:ext>
            </a:extLst>
          </p:cNvPr>
          <p:cNvGrpSpPr/>
          <p:nvPr/>
        </p:nvGrpSpPr>
        <p:grpSpPr>
          <a:xfrm>
            <a:off x="1509407" y="1178730"/>
            <a:ext cx="1440002" cy="1817303"/>
            <a:chOff x="1725676" y="1205105"/>
            <a:chExt cx="1440002" cy="1817303"/>
          </a:xfrm>
        </p:grpSpPr>
        <p:cxnSp>
          <p:nvCxnSpPr>
            <p:cNvPr id="7" name="Straight Connector 6">
              <a:extLst>
                <a:ext uri="{FF2B5EF4-FFF2-40B4-BE49-F238E27FC236}">
                  <a16:creationId xmlns:a16="http://schemas.microsoft.com/office/drawing/2014/main" id="{E6F1F782-5584-4644-99A7-B64C0A6F7C40}"/>
                </a:ext>
              </a:extLst>
            </p:cNvPr>
            <p:cNvCxnSpPr>
              <a:cxnSpLocks/>
            </p:cNvCxnSpPr>
            <p:nvPr/>
          </p:nvCxnSpPr>
          <p:spPr>
            <a:xfrm>
              <a:off x="1725678" y="1205105"/>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458FA58-2FE9-3C48-A392-6C854F672C00}"/>
                </a:ext>
              </a:extLst>
            </p:cNvPr>
            <p:cNvCxnSpPr>
              <a:cxnSpLocks/>
            </p:cNvCxnSpPr>
            <p:nvPr/>
          </p:nvCxnSpPr>
          <p:spPr>
            <a:xfrm>
              <a:off x="1725678" y="1810873"/>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40EE7B-4207-A34C-9AB2-3E245632AF33}"/>
                </a:ext>
              </a:extLst>
            </p:cNvPr>
            <p:cNvCxnSpPr>
              <a:cxnSpLocks/>
            </p:cNvCxnSpPr>
            <p:nvPr/>
          </p:nvCxnSpPr>
          <p:spPr>
            <a:xfrm>
              <a:off x="1725678" y="2416641"/>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B94D31E-CFD7-8D48-B880-58B73FE8365D}"/>
                </a:ext>
              </a:extLst>
            </p:cNvPr>
            <p:cNvCxnSpPr>
              <a:cxnSpLocks/>
            </p:cNvCxnSpPr>
            <p:nvPr/>
          </p:nvCxnSpPr>
          <p:spPr>
            <a:xfrm>
              <a:off x="1725676" y="302240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A6BE2671-9C5D-AB43-BB40-332957A7F2E8}"/>
              </a:ext>
            </a:extLst>
          </p:cNvPr>
          <p:cNvSpPr/>
          <p:nvPr/>
        </p:nvSpPr>
        <p:spPr>
          <a:xfrm>
            <a:off x="1863490" y="908730"/>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sp>
        <p:nvSpPr>
          <p:cNvPr id="12" name="Rectangle 11">
            <a:extLst>
              <a:ext uri="{FF2B5EF4-FFF2-40B4-BE49-F238E27FC236}">
                <a16:creationId xmlns:a16="http://schemas.microsoft.com/office/drawing/2014/main" id="{D5D1B2E8-E71B-954D-A97F-A3E4FE42670D}"/>
              </a:ext>
            </a:extLst>
          </p:cNvPr>
          <p:cNvSpPr/>
          <p:nvPr/>
        </p:nvSpPr>
        <p:spPr>
          <a:xfrm>
            <a:off x="1863490" y="1507947"/>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sp>
        <p:nvSpPr>
          <p:cNvPr id="13" name="Rectangle 12">
            <a:extLst>
              <a:ext uri="{FF2B5EF4-FFF2-40B4-BE49-F238E27FC236}">
                <a16:creationId xmlns:a16="http://schemas.microsoft.com/office/drawing/2014/main" id="{74F0D13D-D554-6043-8E6D-2A62551A6298}"/>
              </a:ext>
            </a:extLst>
          </p:cNvPr>
          <p:cNvSpPr/>
          <p:nvPr/>
        </p:nvSpPr>
        <p:spPr>
          <a:xfrm>
            <a:off x="1863490" y="2113838"/>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sp>
        <p:nvSpPr>
          <p:cNvPr id="14" name="Rectangle 13">
            <a:extLst>
              <a:ext uri="{FF2B5EF4-FFF2-40B4-BE49-F238E27FC236}">
                <a16:creationId xmlns:a16="http://schemas.microsoft.com/office/drawing/2014/main" id="{FD9D2114-ACF5-7B45-85F5-B2BED5E98C4B}"/>
              </a:ext>
            </a:extLst>
          </p:cNvPr>
          <p:cNvSpPr/>
          <p:nvPr/>
        </p:nvSpPr>
        <p:spPr>
          <a:xfrm>
            <a:off x="1863490" y="2719730"/>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1308F757-08A4-7346-B38E-119EA0BD140C}"/>
                  </a:ext>
                </a:extLst>
              </p:cNvPr>
              <p:cNvSpPr/>
              <p:nvPr/>
            </p:nvSpPr>
            <p:spPr>
              <a:xfrm>
                <a:off x="936106" y="926451"/>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5" name="Rectangle 14">
                <a:extLst>
                  <a:ext uri="{FF2B5EF4-FFF2-40B4-BE49-F238E27FC236}">
                    <a16:creationId xmlns:a16="http://schemas.microsoft.com/office/drawing/2014/main" id="{1308F757-08A4-7346-B38E-119EA0BD140C}"/>
                  </a:ext>
                </a:extLst>
              </p:cNvPr>
              <p:cNvSpPr>
                <a:spLocks noRot="1" noChangeAspect="1" noMove="1" noResize="1" noEditPoints="1" noAdjustHandles="1" noChangeArrowheads="1" noChangeShapeType="1" noTextEdit="1"/>
              </p:cNvSpPr>
              <p:nvPr/>
            </p:nvSpPr>
            <p:spPr>
              <a:xfrm>
                <a:off x="936106" y="926451"/>
                <a:ext cx="631904" cy="461665"/>
              </a:xfrm>
              <a:prstGeom prst="rect">
                <a:avLst/>
              </a:prstGeom>
              <a:blipFill>
                <a:blip r:embed="rId5"/>
                <a:stretch>
                  <a:fillRect l="-26000" t="-124324" r="-5000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594717C2-1BAF-DD46-8426-3421A184EA96}"/>
                  </a:ext>
                </a:extLst>
              </p:cNvPr>
              <p:cNvSpPr/>
              <p:nvPr/>
            </p:nvSpPr>
            <p:spPr>
              <a:xfrm>
                <a:off x="933512" y="1536994"/>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6" name="Rectangle 15">
                <a:extLst>
                  <a:ext uri="{FF2B5EF4-FFF2-40B4-BE49-F238E27FC236}">
                    <a16:creationId xmlns:a16="http://schemas.microsoft.com/office/drawing/2014/main" id="{594717C2-1BAF-DD46-8426-3421A184EA96}"/>
                  </a:ext>
                </a:extLst>
              </p:cNvPr>
              <p:cNvSpPr>
                <a:spLocks noRot="1" noChangeAspect="1" noMove="1" noResize="1" noEditPoints="1" noAdjustHandles="1" noChangeArrowheads="1" noChangeShapeType="1" noTextEdit="1"/>
              </p:cNvSpPr>
              <p:nvPr/>
            </p:nvSpPr>
            <p:spPr>
              <a:xfrm>
                <a:off x="933512" y="1536994"/>
                <a:ext cx="631904" cy="461665"/>
              </a:xfrm>
              <a:prstGeom prst="rect">
                <a:avLst/>
              </a:prstGeom>
              <a:blipFill>
                <a:blip r:embed="rId6"/>
                <a:stretch>
                  <a:fillRect l="-26000" t="-124324" r="-5000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807E305C-FD7B-9F48-AAAC-5D2E436B3F31}"/>
                  </a:ext>
                </a:extLst>
              </p:cNvPr>
              <p:cNvSpPr/>
              <p:nvPr/>
            </p:nvSpPr>
            <p:spPr>
              <a:xfrm>
                <a:off x="933512" y="2147537"/>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7" name="Rectangle 16">
                <a:extLst>
                  <a:ext uri="{FF2B5EF4-FFF2-40B4-BE49-F238E27FC236}">
                    <a16:creationId xmlns:a16="http://schemas.microsoft.com/office/drawing/2014/main" id="{807E305C-FD7B-9F48-AAAC-5D2E436B3F31}"/>
                  </a:ext>
                </a:extLst>
              </p:cNvPr>
              <p:cNvSpPr>
                <a:spLocks noRot="1" noChangeAspect="1" noMove="1" noResize="1" noEditPoints="1" noAdjustHandles="1" noChangeArrowheads="1" noChangeShapeType="1" noTextEdit="1"/>
              </p:cNvSpPr>
              <p:nvPr/>
            </p:nvSpPr>
            <p:spPr>
              <a:xfrm>
                <a:off x="933512" y="2147537"/>
                <a:ext cx="631904" cy="461665"/>
              </a:xfrm>
              <a:prstGeom prst="rect">
                <a:avLst/>
              </a:prstGeom>
              <a:blipFill>
                <a:blip r:embed="rId7"/>
                <a:stretch>
                  <a:fillRect l="-26000" t="-124324" r="-5000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B93E8427-184F-C74C-81B4-A138650059E7}"/>
                  </a:ext>
                </a:extLst>
              </p:cNvPr>
              <p:cNvSpPr/>
              <p:nvPr/>
            </p:nvSpPr>
            <p:spPr>
              <a:xfrm>
                <a:off x="946045" y="2758079"/>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8" name="Rectangle 17">
                <a:extLst>
                  <a:ext uri="{FF2B5EF4-FFF2-40B4-BE49-F238E27FC236}">
                    <a16:creationId xmlns:a16="http://schemas.microsoft.com/office/drawing/2014/main" id="{B93E8427-184F-C74C-81B4-A138650059E7}"/>
                  </a:ext>
                </a:extLst>
              </p:cNvPr>
              <p:cNvSpPr>
                <a:spLocks noRot="1" noChangeAspect="1" noMove="1" noResize="1" noEditPoints="1" noAdjustHandles="1" noChangeArrowheads="1" noChangeShapeType="1" noTextEdit="1"/>
              </p:cNvSpPr>
              <p:nvPr/>
            </p:nvSpPr>
            <p:spPr>
              <a:xfrm>
                <a:off x="946045" y="2758079"/>
                <a:ext cx="631904" cy="461665"/>
              </a:xfrm>
              <a:prstGeom prst="rect">
                <a:avLst/>
              </a:prstGeom>
              <a:blipFill>
                <a:blip r:embed="rId8"/>
                <a:stretch>
                  <a:fillRect l="-23529" t="-121053" r="-49020" b="-184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6744C1DC-A47D-A240-89E3-89E99BF280C3}"/>
                  </a:ext>
                </a:extLst>
              </p:cNvPr>
              <p:cNvSpPr/>
              <p:nvPr/>
            </p:nvSpPr>
            <p:spPr>
              <a:xfrm>
                <a:off x="55812" y="1816636"/>
                <a:ext cx="468077" cy="523220"/>
              </a:xfrm>
              <a:prstGeom prst="rect">
                <a:avLst/>
              </a:prstGeom>
              <a:solidFill>
                <a:schemeClr val="accent4">
                  <a:lumMod val="40000"/>
                  <a:lumOff val="6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𝑥</m:t>
                      </m:r>
                    </m:oMath>
                  </m:oMathPara>
                </a14:m>
                <a:endParaRPr lang="en-US" sz="2800" dirty="0"/>
              </a:p>
            </p:txBody>
          </p:sp>
        </mc:Choice>
        <mc:Fallback xmlns="">
          <p:sp>
            <p:nvSpPr>
              <p:cNvPr id="19" name="Rectangle 18">
                <a:extLst>
                  <a:ext uri="{FF2B5EF4-FFF2-40B4-BE49-F238E27FC236}">
                    <a16:creationId xmlns:a16="http://schemas.microsoft.com/office/drawing/2014/main" id="{6744C1DC-A47D-A240-89E3-89E99BF280C3}"/>
                  </a:ext>
                </a:extLst>
              </p:cNvPr>
              <p:cNvSpPr>
                <a:spLocks noRot="1" noChangeAspect="1" noMove="1" noResize="1" noEditPoints="1" noAdjustHandles="1" noChangeArrowheads="1" noChangeShapeType="1" noTextEdit="1"/>
              </p:cNvSpPr>
              <p:nvPr/>
            </p:nvSpPr>
            <p:spPr>
              <a:xfrm>
                <a:off x="55812" y="1816636"/>
                <a:ext cx="468077" cy="523220"/>
              </a:xfrm>
              <a:prstGeom prst="rect">
                <a:avLst/>
              </a:prstGeom>
              <a:blipFill>
                <a:blip r:embed="rId9"/>
                <a:stretch>
                  <a:fillRect/>
                </a:stretch>
              </a:blipFill>
            </p:spPr>
            <p:txBody>
              <a:bodyPr/>
              <a:lstStyle/>
              <a:p>
                <a:r>
                  <a:rPr lang="en-US">
                    <a:noFill/>
                  </a:rPr>
                  <a:t> </a:t>
                </a:r>
              </a:p>
            </p:txBody>
          </p:sp>
        </mc:Fallback>
      </mc:AlternateContent>
      <p:sp>
        <p:nvSpPr>
          <p:cNvPr id="20" name="Left Brace 19">
            <a:extLst>
              <a:ext uri="{FF2B5EF4-FFF2-40B4-BE49-F238E27FC236}">
                <a16:creationId xmlns:a16="http://schemas.microsoft.com/office/drawing/2014/main" id="{39B4AA3B-FC93-534B-BCED-B21457A623CD}"/>
              </a:ext>
            </a:extLst>
          </p:cNvPr>
          <p:cNvSpPr/>
          <p:nvPr/>
        </p:nvSpPr>
        <p:spPr>
          <a:xfrm>
            <a:off x="616404" y="1170009"/>
            <a:ext cx="340490" cy="1851457"/>
          </a:xfrm>
          <a:prstGeom prst="leftBrace">
            <a:avLst>
              <a:gd name="adj1" fmla="val 4276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D7FEC2E8-7962-D04B-953F-EC4AD8CAC163}"/>
              </a:ext>
            </a:extLst>
          </p:cNvPr>
          <p:cNvCxnSpPr>
            <a:cxnSpLocks/>
          </p:cNvCxnSpPr>
          <p:nvPr/>
        </p:nvCxnSpPr>
        <p:spPr>
          <a:xfrm>
            <a:off x="1583143" y="3857556"/>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2F52008-7184-5449-8305-9A9D1AEDB0DE}"/>
              </a:ext>
            </a:extLst>
          </p:cNvPr>
          <p:cNvCxnSpPr>
            <a:cxnSpLocks/>
          </p:cNvCxnSpPr>
          <p:nvPr/>
        </p:nvCxnSpPr>
        <p:spPr>
          <a:xfrm>
            <a:off x="1583143" y="4463324"/>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B159FD1-AADE-5943-BE66-C82E21A1EE06}"/>
              </a:ext>
            </a:extLst>
          </p:cNvPr>
          <p:cNvCxnSpPr>
            <a:cxnSpLocks/>
          </p:cNvCxnSpPr>
          <p:nvPr/>
        </p:nvCxnSpPr>
        <p:spPr>
          <a:xfrm>
            <a:off x="1583143" y="5069092"/>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8C6E6FB-87A9-6442-A60E-40017BF3DE10}"/>
              </a:ext>
            </a:extLst>
          </p:cNvPr>
          <p:cNvCxnSpPr>
            <a:cxnSpLocks/>
          </p:cNvCxnSpPr>
          <p:nvPr/>
        </p:nvCxnSpPr>
        <p:spPr>
          <a:xfrm>
            <a:off x="1583141" y="5674859"/>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7B9FD6D7-E59E-8146-8815-71A297734AB4}"/>
                  </a:ext>
                </a:extLst>
              </p:cNvPr>
              <p:cNvSpPr/>
              <p:nvPr/>
            </p:nvSpPr>
            <p:spPr>
              <a:xfrm>
                <a:off x="1009840" y="3605277"/>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29" name="Rectangle 28">
                <a:extLst>
                  <a:ext uri="{FF2B5EF4-FFF2-40B4-BE49-F238E27FC236}">
                    <a16:creationId xmlns:a16="http://schemas.microsoft.com/office/drawing/2014/main" id="{7B9FD6D7-E59E-8146-8815-71A297734AB4}"/>
                  </a:ext>
                </a:extLst>
              </p:cNvPr>
              <p:cNvSpPr>
                <a:spLocks noRot="1" noChangeAspect="1" noMove="1" noResize="1" noEditPoints="1" noAdjustHandles="1" noChangeArrowheads="1" noChangeShapeType="1" noTextEdit="1"/>
              </p:cNvSpPr>
              <p:nvPr/>
            </p:nvSpPr>
            <p:spPr>
              <a:xfrm>
                <a:off x="1009840" y="3605277"/>
                <a:ext cx="631904" cy="461665"/>
              </a:xfrm>
              <a:prstGeom prst="rect">
                <a:avLst/>
              </a:prstGeom>
              <a:blipFill>
                <a:blip r:embed="rId10"/>
                <a:stretch>
                  <a:fillRect l="-26000" t="-124324" r="-5200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D2A66450-6F46-5C40-821D-A6471A9CF25A}"/>
                  </a:ext>
                </a:extLst>
              </p:cNvPr>
              <p:cNvSpPr/>
              <p:nvPr/>
            </p:nvSpPr>
            <p:spPr>
              <a:xfrm>
                <a:off x="1007246" y="4215820"/>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30" name="Rectangle 29">
                <a:extLst>
                  <a:ext uri="{FF2B5EF4-FFF2-40B4-BE49-F238E27FC236}">
                    <a16:creationId xmlns:a16="http://schemas.microsoft.com/office/drawing/2014/main" id="{D2A66450-6F46-5C40-821D-A6471A9CF25A}"/>
                  </a:ext>
                </a:extLst>
              </p:cNvPr>
              <p:cNvSpPr>
                <a:spLocks noRot="1" noChangeAspect="1" noMove="1" noResize="1" noEditPoints="1" noAdjustHandles="1" noChangeArrowheads="1" noChangeShapeType="1" noTextEdit="1"/>
              </p:cNvSpPr>
              <p:nvPr/>
            </p:nvSpPr>
            <p:spPr>
              <a:xfrm>
                <a:off x="1007246" y="4215820"/>
                <a:ext cx="631904" cy="461665"/>
              </a:xfrm>
              <a:prstGeom prst="rect">
                <a:avLst/>
              </a:prstGeom>
              <a:blipFill>
                <a:blip r:embed="rId11"/>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E6DE6861-DC09-D04B-9665-E786A306B5C4}"/>
                  </a:ext>
                </a:extLst>
              </p:cNvPr>
              <p:cNvSpPr/>
              <p:nvPr/>
            </p:nvSpPr>
            <p:spPr>
              <a:xfrm>
                <a:off x="1007246" y="4826363"/>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31" name="Rectangle 30">
                <a:extLst>
                  <a:ext uri="{FF2B5EF4-FFF2-40B4-BE49-F238E27FC236}">
                    <a16:creationId xmlns:a16="http://schemas.microsoft.com/office/drawing/2014/main" id="{E6DE6861-DC09-D04B-9665-E786A306B5C4}"/>
                  </a:ext>
                </a:extLst>
              </p:cNvPr>
              <p:cNvSpPr>
                <a:spLocks noRot="1" noChangeAspect="1" noMove="1" noResize="1" noEditPoints="1" noAdjustHandles="1" noChangeArrowheads="1" noChangeShapeType="1" noTextEdit="1"/>
              </p:cNvSpPr>
              <p:nvPr/>
            </p:nvSpPr>
            <p:spPr>
              <a:xfrm>
                <a:off x="1007246" y="4826363"/>
                <a:ext cx="631904" cy="461665"/>
              </a:xfrm>
              <a:prstGeom prst="rect">
                <a:avLst/>
              </a:prstGeom>
              <a:blipFill>
                <a:blip r:embed="rId11"/>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D5D1B2E6-E836-4540-B735-2A9D7237F2A0}"/>
                  </a:ext>
                </a:extLst>
              </p:cNvPr>
              <p:cNvSpPr/>
              <p:nvPr/>
            </p:nvSpPr>
            <p:spPr>
              <a:xfrm>
                <a:off x="1019779" y="5436905"/>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32" name="Rectangle 31">
                <a:extLst>
                  <a:ext uri="{FF2B5EF4-FFF2-40B4-BE49-F238E27FC236}">
                    <a16:creationId xmlns:a16="http://schemas.microsoft.com/office/drawing/2014/main" id="{D5D1B2E6-E836-4540-B735-2A9D7237F2A0}"/>
                  </a:ext>
                </a:extLst>
              </p:cNvPr>
              <p:cNvSpPr>
                <a:spLocks noRot="1" noChangeAspect="1" noMove="1" noResize="1" noEditPoints="1" noAdjustHandles="1" noChangeArrowheads="1" noChangeShapeType="1" noTextEdit="1"/>
              </p:cNvSpPr>
              <p:nvPr/>
            </p:nvSpPr>
            <p:spPr>
              <a:xfrm>
                <a:off x="1019779" y="5436905"/>
                <a:ext cx="631904" cy="461665"/>
              </a:xfrm>
              <a:prstGeom prst="rect">
                <a:avLst/>
              </a:prstGeom>
              <a:blipFill>
                <a:blip r:embed="rId12"/>
                <a:stretch>
                  <a:fillRect l="-23529" t="-124324" r="-49020" b="-194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2FF251A8-7A70-544F-8746-5CDF1156A981}"/>
                  </a:ext>
                </a:extLst>
              </p:cNvPr>
              <p:cNvSpPr/>
              <p:nvPr/>
            </p:nvSpPr>
            <p:spPr>
              <a:xfrm>
                <a:off x="75758" y="4495462"/>
                <a:ext cx="472950" cy="523220"/>
              </a:xfrm>
              <a:prstGeom prst="rect">
                <a:avLst/>
              </a:prstGeom>
              <a:solidFill>
                <a:schemeClr val="accent5">
                  <a:lumMod val="75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Cambria Math" panose="02040503050406030204" pitchFamily="18" charset="0"/>
                        </a:rPr>
                        <m:t>𝑦</m:t>
                      </m:r>
                    </m:oMath>
                  </m:oMathPara>
                </a14:m>
                <a:endParaRPr lang="en-US" sz="2800" dirty="0">
                  <a:solidFill>
                    <a:schemeClr val="bg1"/>
                  </a:solidFill>
                </a:endParaRPr>
              </a:p>
            </p:txBody>
          </p:sp>
        </mc:Choice>
        <mc:Fallback xmlns="">
          <p:sp>
            <p:nvSpPr>
              <p:cNvPr id="33" name="Rectangle 32">
                <a:extLst>
                  <a:ext uri="{FF2B5EF4-FFF2-40B4-BE49-F238E27FC236}">
                    <a16:creationId xmlns:a16="http://schemas.microsoft.com/office/drawing/2014/main" id="{2FF251A8-7A70-544F-8746-5CDF1156A981}"/>
                  </a:ext>
                </a:extLst>
              </p:cNvPr>
              <p:cNvSpPr>
                <a:spLocks noRot="1" noChangeAspect="1" noMove="1" noResize="1" noEditPoints="1" noAdjustHandles="1" noChangeArrowheads="1" noChangeShapeType="1" noTextEdit="1"/>
              </p:cNvSpPr>
              <p:nvPr/>
            </p:nvSpPr>
            <p:spPr>
              <a:xfrm>
                <a:off x="75758" y="4495462"/>
                <a:ext cx="472950" cy="523220"/>
              </a:xfrm>
              <a:prstGeom prst="rect">
                <a:avLst/>
              </a:prstGeom>
              <a:blipFill>
                <a:blip r:embed="rId13"/>
                <a:stretch>
                  <a:fillRect b="-9524"/>
                </a:stretch>
              </a:blipFill>
            </p:spPr>
            <p:txBody>
              <a:bodyPr/>
              <a:lstStyle/>
              <a:p>
                <a:r>
                  <a:rPr lang="en-US">
                    <a:noFill/>
                  </a:rPr>
                  <a:t> </a:t>
                </a:r>
              </a:p>
            </p:txBody>
          </p:sp>
        </mc:Fallback>
      </mc:AlternateContent>
      <p:sp>
        <p:nvSpPr>
          <p:cNvPr id="34" name="Left Brace 33">
            <a:extLst>
              <a:ext uri="{FF2B5EF4-FFF2-40B4-BE49-F238E27FC236}">
                <a16:creationId xmlns:a16="http://schemas.microsoft.com/office/drawing/2014/main" id="{588857E9-531D-994C-9800-DFAE9BDB9C46}"/>
              </a:ext>
            </a:extLst>
          </p:cNvPr>
          <p:cNvSpPr/>
          <p:nvPr/>
        </p:nvSpPr>
        <p:spPr>
          <a:xfrm>
            <a:off x="690138" y="3848835"/>
            <a:ext cx="340490" cy="1851457"/>
          </a:xfrm>
          <a:prstGeom prst="leftBrace">
            <a:avLst>
              <a:gd name="adj1" fmla="val 4276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A2D49981-A275-C340-BEB0-CCC9937C838B}"/>
                  </a:ext>
                </a:extLst>
              </p:cNvPr>
              <p:cNvSpPr/>
              <p:nvPr/>
            </p:nvSpPr>
            <p:spPr>
              <a:xfrm>
                <a:off x="1863490" y="3688219"/>
                <a:ext cx="1870074" cy="2276287"/>
              </a:xfrm>
              <a:prstGeom prst="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ea typeface="Cambria Math" panose="02040503050406030204" pitchFamily="18" charset="0"/>
                            </a:rPr>
                          </m:ctrlPr>
                        </m:sSupPr>
                        <m:e>
                          <m:r>
                            <a:rPr lang="sr-Latn-RS" sz="2400" i="1">
                              <a:solidFill>
                                <a:schemeClr val="tx1"/>
                              </a:solidFill>
                              <a:latin typeface="Cambria Math" panose="02040503050406030204" pitchFamily="18" charset="0"/>
                              <a:ea typeface="Cambria Math" panose="02040503050406030204" pitchFamily="18" charset="0"/>
                            </a:rPr>
                            <m:t>7</m:t>
                          </m:r>
                        </m:e>
                        <m:sup>
                          <m:r>
                            <a:rPr lang="en-US" sz="2400" i="1">
                              <a:solidFill>
                                <a:schemeClr val="tx1"/>
                              </a:solidFill>
                              <a:latin typeface="Cambria Math" panose="02040503050406030204" pitchFamily="18" charset="0"/>
                              <a:ea typeface="Cambria Math" panose="02040503050406030204" pitchFamily="18" charset="0"/>
                            </a:rPr>
                            <m:t>𝑥</m:t>
                          </m:r>
                        </m:sup>
                      </m:sSup>
                      <m:r>
                        <a:rPr lang="en-US" sz="2400" i="1">
                          <a:solidFill>
                            <a:schemeClr val="tx1"/>
                          </a:solidFill>
                          <a:latin typeface="Cambria Math" panose="02040503050406030204" pitchFamily="18" charset="0"/>
                          <a:ea typeface="Cambria Math" panose="02040503050406030204" pitchFamily="18" charset="0"/>
                        </a:rPr>
                        <m:t>(</m:t>
                      </m:r>
                      <m:r>
                        <m:rPr>
                          <m:sty m:val="p"/>
                        </m:rPr>
                        <a:rPr lang="en-US" sz="2400">
                          <a:solidFill>
                            <a:schemeClr val="tx1"/>
                          </a:solidFill>
                          <a:latin typeface="Cambria Math" panose="02040503050406030204" pitchFamily="18" charset="0"/>
                          <a:ea typeface="Cambria Math" panose="02040503050406030204" pitchFamily="18" charset="0"/>
                        </a:rPr>
                        <m:t>mod</m:t>
                      </m:r>
                      <m:r>
                        <a:rPr lang="en-US" sz="2400" i="1">
                          <a:solidFill>
                            <a:schemeClr val="tx1"/>
                          </a:solidFill>
                          <a:latin typeface="Cambria Math" panose="02040503050406030204" pitchFamily="18" charset="0"/>
                          <a:ea typeface="Cambria Math" panose="02040503050406030204" pitchFamily="18" charset="0"/>
                        </a:rPr>
                        <m:t> 15)</m:t>
                      </m:r>
                    </m:oMath>
                  </m:oMathPara>
                </a14:m>
                <a:endParaRPr lang="en-US" sz="2400" i="1" dirty="0">
                  <a:solidFill>
                    <a:schemeClr val="tx1"/>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sz="2000" i="1" smtClean="0">
                              <a:solidFill>
                                <a:schemeClr val="tx1"/>
                              </a:solidFill>
                              <a:latin typeface="Cambria Math" panose="02040503050406030204" pitchFamily="18" charset="0"/>
                              <a:ea typeface="Cambria Math" panose="02040503050406030204" pitchFamily="18" charset="0"/>
                            </a:rPr>
                          </m:ctrlPr>
                        </m:sSupPr>
                        <m:e>
                          <m:r>
                            <a:rPr lang="en-US" sz="2000" b="0" i="1" smtClean="0">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𝑎</m:t>
                          </m:r>
                        </m:e>
                        <m:sup>
                          <m:r>
                            <a:rPr lang="en-US" sz="2000" i="1">
                              <a:solidFill>
                                <a:schemeClr val="tx1"/>
                              </a:solidFill>
                              <a:latin typeface="Cambria Math" panose="02040503050406030204" pitchFamily="18" charset="0"/>
                              <a:ea typeface="Cambria Math" panose="02040503050406030204" pitchFamily="18" charset="0"/>
                            </a:rPr>
                            <m:t>𝑥</m:t>
                          </m:r>
                        </m:sup>
                      </m:sSup>
                      <m:r>
                        <a:rPr lang="en-US" sz="2000" b="0" i="1" smtClean="0">
                          <a:solidFill>
                            <a:schemeClr val="tx1"/>
                          </a:solidFill>
                          <a:latin typeface="Cambria Math" panose="02040503050406030204" pitchFamily="18" charset="0"/>
                          <a:ea typeface="Cambria Math" panose="02040503050406030204" pitchFamily="18" charset="0"/>
                        </a:rPr>
                        <m:t> </m:t>
                      </m:r>
                      <m:r>
                        <m:rPr>
                          <m:sty m:val="p"/>
                        </m:rPr>
                        <a:rPr lang="en-US" sz="2000" i="0">
                          <a:solidFill>
                            <a:schemeClr val="tx1"/>
                          </a:solidFill>
                          <a:latin typeface="Cambria Math" panose="02040503050406030204" pitchFamily="18" charset="0"/>
                          <a:ea typeface="Cambria Math" panose="02040503050406030204" pitchFamily="18" charset="0"/>
                        </a:rPr>
                        <m:t>mod</m:t>
                      </m:r>
                      <m:r>
                        <a:rPr lang="en-US" sz="2000" i="1">
                          <a:solidFill>
                            <a:schemeClr val="tx1"/>
                          </a:solidFill>
                          <a:latin typeface="Cambria Math" panose="02040503050406030204" pitchFamily="18" charset="0"/>
                          <a:ea typeface="Cambria Math" panose="02040503050406030204" pitchFamily="18" charset="0"/>
                        </a:rPr>
                        <m:t> </m:t>
                      </m:r>
                      <m:r>
                        <a:rPr lang="en-US" sz="2000" i="1">
                          <a:solidFill>
                            <a:schemeClr val="tx1"/>
                          </a:solidFill>
                          <a:latin typeface="Cambria Math" panose="02040503050406030204" pitchFamily="18" charset="0"/>
                          <a:ea typeface="Cambria Math" panose="02040503050406030204" pitchFamily="18" charset="0"/>
                        </a:rPr>
                        <m:t>𝑁</m:t>
                      </m:r>
                      <m:r>
                        <a:rPr lang="en-US" sz="2000" b="0" i="1" smtClean="0">
                          <a:solidFill>
                            <a:schemeClr val="tx1"/>
                          </a:solidFill>
                          <a:latin typeface="Cambria Math" panose="02040503050406030204" pitchFamily="18" charset="0"/>
                          <a:ea typeface="Cambria Math" panose="02040503050406030204" pitchFamily="18" charset="0"/>
                        </a:rPr>
                        <m:t>)</m:t>
                      </m:r>
                    </m:oMath>
                  </m:oMathPara>
                </a14:m>
                <a:endParaRPr lang="en-US" sz="2000" i="1" baseline="-25000" dirty="0">
                  <a:solidFill>
                    <a:schemeClr val="tx1"/>
                  </a:solidFill>
                  <a:latin typeface="Times" pitchFamily="2" charset="0"/>
                </a:endParaRPr>
              </a:p>
            </p:txBody>
          </p:sp>
        </mc:Choice>
        <mc:Fallback xmlns="">
          <p:sp>
            <p:nvSpPr>
              <p:cNvPr id="35" name="Rectangle 34">
                <a:extLst>
                  <a:ext uri="{FF2B5EF4-FFF2-40B4-BE49-F238E27FC236}">
                    <a16:creationId xmlns:a16="http://schemas.microsoft.com/office/drawing/2014/main" id="{A2D49981-A275-C340-BEB0-CCC9937C838B}"/>
                  </a:ext>
                </a:extLst>
              </p:cNvPr>
              <p:cNvSpPr>
                <a:spLocks noRot="1" noChangeAspect="1" noMove="1" noResize="1" noEditPoints="1" noAdjustHandles="1" noChangeArrowheads="1" noChangeShapeType="1" noTextEdit="1"/>
              </p:cNvSpPr>
              <p:nvPr/>
            </p:nvSpPr>
            <p:spPr>
              <a:xfrm>
                <a:off x="1863490" y="3688219"/>
                <a:ext cx="1870074" cy="2276287"/>
              </a:xfrm>
              <a:prstGeom prst="rect">
                <a:avLst/>
              </a:prstGeom>
              <a:blipFill>
                <a:blip r:embed="rId14"/>
                <a:stretch>
                  <a:fillRect/>
                </a:stretch>
              </a:blipFill>
              <a:ln>
                <a:solidFill>
                  <a:schemeClr val="bg1">
                    <a:lumMod val="50000"/>
                  </a:schemeClr>
                </a:solidFill>
              </a:ln>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B58F9069-EE54-E248-B9E6-8BAD29B80F22}"/>
              </a:ext>
            </a:extLst>
          </p:cNvPr>
          <p:cNvGrpSpPr/>
          <p:nvPr/>
        </p:nvGrpSpPr>
        <p:grpSpPr>
          <a:xfrm>
            <a:off x="5900355" y="4173216"/>
            <a:ext cx="1005840" cy="923675"/>
            <a:chOff x="7160260" y="4120367"/>
            <a:chExt cx="1005840" cy="923675"/>
          </a:xfrm>
        </p:grpSpPr>
        <p:cxnSp>
          <p:nvCxnSpPr>
            <p:cNvPr id="39" name="Straight Connector 38">
              <a:extLst>
                <a:ext uri="{FF2B5EF4-FFF2-40B4-BE49-F238E27FC236}">
                  <a16:creationId xmlns:a16="http://schemas.microsoft.com/office/drawing/2014/main" id="{EEE0CD0B-9828-5240-8B7D-67F1F3E8F5C9}"/>
                </a:ext>
              </a:extLst>
            </p:cNvPr>
            <p:cNvCxnSpPr>
              <a:cxnSpLocks/>
            </p:cNvCxnSpPr>
            <p:nvPr/>
          </p:nvCxnSpPr>
          <p:spPr>
            <a:xfrm>
              <a:off x="7160260" y="4773514"/>
              <a:ext cx="10058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8922FF90-F0A2-A14B-A06D-17C1EC2B8FE7}"/>
                </a:ext>
              </a:extLst>
            </p:cNvPr>
            <p:cNvGrpSpPr/>
            <p:nvPr/>
          </p:nvGrpSpPr>
          <p:grpSpPr>
            <a:xfrm>
              <a:off x="7314478" y="4120367"/>
              <a:ext cx="731290" cy="923675"/>
              <a:chOff x="7314478" y="4120367"/>
              <a:chExt cx="731290" cy="923675"/>
            </a:xfrm>
          </p:grpSpPr>
          <p:pic>
            <p:nvPicPr>
              <p:cNvPr id="38" name="Picture 37">
                <a:extLst>
                  <a:ext uri="{FF2B5EF4-FFF2-40B4-BE49-F238E27FC236}">
                    <a16:creationId xmlns:a16="http://schemas.microsoft.com/office/drawing/2014/main" id="{37A52C2D-DD6B-D043-BDEF-47C3FCF82FE6}"/>
                  </a:ext>
                </a:extLst>
              </p:cNvPr>
              <p:cNvPicPr>
                <a:picLocks noChangeAspect="1"/>
              </p:cNvPicPr>
              <p:nvPr/>
            </p:nvPicPr>
            <p:blipFill>
              <a:blip r:embed="rId15"/>
              <a:stretch>
                <a:fillRect/>
              </a:stretch>
            </p:blipFill>
            <p:spPr>
              <a:xfrm>
                <a:off x="7417229" y="4504042"/>
                <a:ext cx="525789" cy="540000"/>
              </a:xfrm>
              <a:prstGeom prst="rect">
                <a:avLst/>
              </a:prstGeom>
            </p:spPr>
          </p:pic>
          <p:sp>
            <p:nvSpPr>
              <p:cNvPr id="41" name="TextBox 40">
                <a:extLst>
                  <a:ext uri="{FF2B5EF4-FFF2-40B4-BE49-F238E27FC236}">
                    <a16:creationId xmlns:a16="http://schemas.microsoft.com/office/drawing/2014/main" id="{FAFBD52F-CFB8-7148-9DCF-15A2273DCD59}"/>
                  </a:ext>
                </a:extLst>
              </p:cNvPr>
              <p:cNvSpPr txBox="1"/>
              <p:nvPr/>
            </p:nvSpPr>
            <p:spPr>
              <a:xfrm>
                <a:off x="7314478" y="4120367"/>
                <a:ext cx="731290" cy="369332"/>
              </a:xfrm>
              <a:prstGeom prst="rect">
                <a:avLst/>
              </a:prstGeom>
              <a:noFill/>
            </p:spPr>
            <p:txBody>
              <a:bodyPr wrap="none" rtlCol="0">
                <a:spAutoFit/>
              </a:bodyPr>
              <a:lstStyle/>
              <a:p>
                <a:r>
                  <a:rPr lang="en-US" dirty="0"/>
                  <a:t>M=13</a:t>
                </a:r>
              </a:p>
            </p:txBody>
          </p:sp>
        </p:grpSp>
      </p:grpSp>
      <mc:AlternateContent xmlns:mc="http://schemas.openxmlformats.org/markup-compatibility/2006" xmlns:a14="http://schemas.microsoft.com/office/drawing/2010/main">
        <mc:Choice Requires="a14">
          <p:graphicFrame>
            <p:nvGraphicFramePr>
              <p:cNvPr id="46" name="Table 45">
                <a:extLst>
                  <a:ext uri="{FF2B5EF4-FFF2-40B4-BE49-F238E27FC236}">
                    <a16:creationId xmlns:a16="http://schemas.microsoft.com/office/drawing/2014/main" id="{26D6AB30-84B5-514C-9CA2-71C1C2635BB4}"/>
                  </a:ext>
                </a:extLst>
              </p:cNvPr>
              <p:cNvGraphicFramePr>
                <a:graphicFrameLocks noGrp="1"/>
              </p:cNvGraphicFramePr>
              <p:nvPr>
                <p:extLst/>
              </p:nvPr>
            </p:nvGraphicFramePr>
            <p:xfrm>
              <a:off x="4925360" y="133965"/>
              <a:ext cx="842602" cy="6304280"/>
            </p:xfrm>
            <a:graphic>
              <a:graphicData uri="http://schemas.openxmlformats.org/drawingml/2006/table">
                <a:tbl>
                  <a:tblPr firstRow="1" bandRow="1">
                    <a:tableStyleId>{5C22544A-7EE6-4342-B048-85BDC9FD1C3A}</a:tableStyleId>
                  </a:tblPr>
                  <a:tblGrid>
                    <a:gridCol w="842602">
                      <a:extLst>
                        <a:ext uri="{9D8B030D-6E8A-4147-A177-3AD203B41FA5}">
                          <a16:colId xmlns:a16="http://schemas.microsoft.com/office/drawing/2014/main" val="1132820706"/>
                        </a:ext>
                      </a:extLst>
                    </a:gridCol>
                  </a:tblGrid>
                  <a:tr h="370840">
                    <a:tc>
                      <a:txBody>
                        <a:bodyPr/>
                        <a:lstStyle/>
                        <a:p>
                          <a:pPr/>
                          <a14:m>
                            <m:oMathPara xmlns:m="http://schemas.openxmlformats.org/officeDocument/2006/math">
                              <m:oMathParaPr>
                                <m:jc m:val="centerGroup"/>
                              </m:oMathParaPr>
                              <m:oMath xmlns:m="http://schemas.openxmlformats.org/officeDocument/2006/math">
                                <m:sSup>
                                  <m:sSupPr>
                                    <m:ctrlPr>
                                      <a:rPr lang="en-US" sz="1300" i="1" smtClean="0">
                                        <a:latin typeface="Cambria Math" panose="02040503050406030204" pitchFamily="18" charset="0"/>
                                      </a:rPr>
                                    </m:ctrlPr>
                                  </m:sSupPr>
                                  <m:e>
                                    <m:r>
                                      <a:rPr lang="en-US" sz="1300" smtClean="0">
                                        <a:latin typeface="Cambria Math" panose="02040503050406030204" pitchFamily="18" charset="0"/>
                                      </a:rPr>
                                      <m:t>7</m:t>
                                    </m:r>
                                  </m:e>
                                  <m:sup>
                                    <m:r>
                                      <a:rPr lang="en-US" sz="1300">
                                        <a:latin typeface="Cambria Math" panose="02040503050406030204" pitchFamily="18" charset="0"/>
                                      </a:rPr>
                                      <m:t>𝑥</m:t>
                                    </m:r>
                                  </m:sup>
                                </m:sSup>
                                <m:r>
                                  <a:rPr lang="en-US" sz="1300">
                                    <a:latin typeface="Cambria Math" panose="02040503050406030204" pitchFamily="18" charset="0"/>
                                  </a:rPr>
                                  <m:t>𝑚𝑜𝑑</m:t>
                                </m:r>
                                <m:r>
                                  <a:rPr lang="en-US" sz="1300">
                                    <a:latin typeface="Cambria Math" panose="02040503050406030204" pitchFamily="18" charset="0"/>
                                  </a:rPr>
                                  <m:t> 15</m:t>
                                </m:r>
                              </m:oMath>
                            </m:oMathPara>
                          </a14:m>
                          <a:endParaRPr lang="en-US" sz="1300" dirty="0">
                            <a:solidFill>
                              <a:schemeClr val="tx1"/>
                            </a:solidFill>
                          </a:endParaRPr>
                        </a:p>
                      </a:txBody>
                      <a:tcPr/>
                    </a:tc>
                    <a:extLst>
                      <a:ext uri="{0D108BD9-81ED-4DB2-BD59-A6C34878D82A}">
                        <a16:rowId xmlns:a16="http://schemas.microsoft.com/office/drawing/2014/main" val="1955473743"/>
                      </a:ext>
                    </a:extLst>
                  </a:tr>
                  <a:tr h="370840">
                    <a:tc>
                      <a:txBody>
                        <a:bodyPr/>
                        <a:lstStyle/>
                        <a:p>
                          <a:pPr algn="ctr"/>
                          <a:r>
                            <a:rPr lang="en-US" sz="1800" dirty="0"/>
                            <a:t>1</a:t>
                          </a:r>
                          <a:endParaRPr lang="en-US" sz="1800" dirty="0">
                            <a:solidFill>
                              <a:schemeClr val="tx1"/>
                            </a:solidFill>
                          </a:endParaRPr>
                        </a:p>
                      </a:txBody>
                      <a:tcPr/>
                    </a:tc>
                    <a:extLst>
                      <a:ext uri="{0D108BD9-81ED-4DB2-BD59-A6C34878D82A}">
                        <a16:rowId xmlns:a16="http://schemas.microsoft.com/office/drawing/2014/main" val="3419208819"/>
                      </a:ext>
                    </a:extLst>
                  </a:tr>
                  <a:tr h="370840">
                    <a:tc>
                      <a:txBody>
                        <a:bodyPr/>
                        <a:lstStyle/>
                        <a:p>
                          <a:pPr algn="ctr"/>
                          <a:r>
                            <a:rPr lang="en-US" sz="1800" dirty="0"/>
                            <a:t>7</a:t>
                          </a:r>
                          <a:endParaRPr lang="en-US" sz="1800" dirty="0">
                            <a:solidFill>
                              <a:schemeClr val="tx1"/>
                            </a:solidFill>
                          </a:endParaRPr>
                        </a:p>
                      </a:txBody>
                      <a:tcPr/>
                    </a:tc>
                    <a:extLst>
                      <a:ext uri="{0D108BD9-81ED-4DB2-BD59-A6C34878D82A}">
                        <a16:rowId xmlns:a16="http://schemas.microsoft.com/office/drawing/2014/main" val="2452133419"/>
                      </a:ext>
                    </a:extLst>
                  </a:tr>
                  <a:tr h="370840">
                    <a:tc>
                      <a:txBody>
                        <a:bodyPr/>
                        <a:lstStyle/>
                        <a:p>
                          <a:pPr algn="ctr"/>
                          <a:r>
                            <a:rPr lang="en-US" sz="1800" dirty="0"/>
                            <a:t>4</a:t>
                          </a:r>
                          <a:endParaRPr lang="en-US" sz="1800" dirty="0">
                            <a:solidFill>
                              <a:schemeClr val="tx1"/>
                            </a:solidFill>
                          </a:endParaRPr>
                        </a:p>
                      </a:txBody>
                      <a:tcPr/>
                    </a:tc>
                    <a:extLst>
                      <a:ext uri="{0D108BD9-81ED-4DB2-BD59-A6C34878D82A}">
                        <a16:rowId xmlns:a16="http://schemas.microsoft.com/office/drawing/2014/main" val="1376658329"/>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2085404646"/>
                      </a:ext>
                    </a:extLst>
                  </a:tr>
                  <a:tr h="370840">
                    <a:tc>
                      <a:txBody>
                        <a:bodyPr/>
                        <a:lstStyle/>
                        <a:p>
                          <a:pPr algn="ctr"/>
                          <a:r>
                            <a:rPr lang="en-US" sz="1800" dirty="0"/>
                            <a:t>1</a:t>
                          </a:r>
                          <a:endParaRPr lang="en-US" sz="1800" dirty="0">
                            <a:solidFill>
                              <a:schemeClr val="tx1"/>
                            </a:solidFill>
                          </a:endParaRPr>
                        </a:p>
                      </a:txBody>
                      <a:tcPr/>
                    </a:tc>
                    <a:extLst>
                      <a:ext uri="{0D108BD9-81ED-4DB2-BD59-A6C34878D82A}">
                        <a16:rowId xmlns:a16="http://schemas.microsoft.com/office/drawing/2014/main" val="2477180254"/>
                      </a:ext>
                    </a:extLst>
                  </a:tr>
                  <a:tr h="370840">
                    <a:tc>
                      <a:txBody>
                        <a:bodyPr/>
                        <a:lstStyle/>
                        <a:p>
                          <a:pPr algn="ctr"/>
                          <a:r>
                            <a:rPr lang="en-US" sz="1800" dirty="0"/>
                            <a:t>7</a:t>
                          </a:r>
                          <a:endParaRPr lang="en-US" sz="1800" dirty="0">
                            <a:solidFill>
                              <a:schemeClr val="tx1"/>
                            </a:solidFill>
                          </a:endParaRPr>
                        </a:p>
                      </a:txBody>
                      <a:tcPr/>
                    </a:tc>
                    <a:extLst>
                      <a:ext uri="{0D108BD9-81ED-4DB2-BD59-A6C34878D82A}">
                        <a16:rowId xmlns:a16="http://schemas.microsoft.com/office/drawing/2014/main" val="2280071381"/>
                      </a:ext>
                    </a:extLst>
                  </a:tr>
                  <a:tr h="370840">
                    <a:tc>
                      <a:txBody>
                        <a:bodyPr/>
                        <a:lstStyle/>
                        <a:p>
                          <a:pPr algn="ctr"/>
                          <a:r>
                            <a:rPr lang="en-US" sz="1800" dirty="0"/>
                            <a:t>4</a:t>
                          </a:r>
                          <a:endParaRPr lang="en-US" sz="1800" dirty="0">
                            <a:solidFill>
                              <a:schemeClr val="tx1"/>
                            </a:solidFill>
                          </a:endParaRPr>
                        </a:p>
                      </a:txBody>
                      <a:tcPr/>
                    </a:tc>
                    <a:extLst>
                      <a:ext uri="{0D108BD9-81ED-4DB2-BD59-A6C34878D82A}">
                        <a16:rowId xmlns:a16="http://schemas.microsoft.com/office/drawing/2014/main" val="20106087"/>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3259519652"/>
                      </a:ext>
                    </a:extLst>
                  </a:tr>
                  <a:tr h="370840">
                    <a:tc>
                      <a:txBody>
                        <a:bodyPr/>
                        <a:lstStyle/>
                        <a:p>
                          <a:pPr algn="ctr"/>
                          <a:r>
                            <a:rPr lang="en-US" sz="1800" dirty="0"/>
                            <a:t>1</a:t>
                          </a:r>
                          <a:endParaRPr lang="en-US" sz="1800" dirty="0">
                            <a:solidFill>
                              <a:schemeClr val="tx1"/>
                            </a:solidFill>
                          </a:endParaRPr>
                        </a:p>
                      </a:txBody>
                      <a:tcPr/>
                    </a:tc>
                    <a:extLst>
                      <a:ext uri="{0D108BD9-81ED-4DB2-BD59-A6C34878D82A}">
                        <a16:rowId xmlns:a16="http://schemas.microsoft.com/office/drawing/2014/main" val="2266238226"/>
                      </a:ext>
                    </a:extLst>
                  </a:tr>
                  <a:tr h="370840">
                    <a:tc>
                      <a:txBody>
                        <a:bodyPr/>
                        <a:lstStyle/>
                        <a:p>
                          <a:pPr algn="ctr"/>
                          <a:r>
                            <a:rPr lang="en-US" sz="1800" dirty="0"/>
                            <a:t>7</a:t>
                          </a:r>
                          <a:endParaRPr lang="en-US" sz="1800" dirty="0">
                            <a:solidFill>
                              <a:schemeClr val="tx1"/>
                            </a:solidFill>
                          </a:endParaRPr>
                        </a:p>
                      </a:txBody>
                      <a:tcPr/>
                    </a:tc>
                    <a:extLst>
                      <a:ext uri="{0D108BD9-81ED-4DB2-BD59-A6C34878D82A}">
                        <a16:rowId xmlns:a16="http://schemas.microsoft.com/office/drawing/2014/main" val="1386377524"/>
                      </a:ext>
                    </a:extLst>
                  </a:tr>
                  <a:tr h="370840">
                    <a:tc>
                      <a:txBody>
                        <a:bodyPr/>
                        <a:lstStyle/>
                        <a:p>
                          <a:pPr algn="ctr"/>
                          <a:r>
                            <a:rPr lang="en-US" sz="1800" dirty="0"/>
                            <a:t>4</a:t>
                          </a:r>
                          <a:endParaRPr lang="en-US" sz="1800" dirty="0">
                            <a:solidFill>
                              <a:schemeClr val="tx1"/>
                            </a:solidFill>
                          </a:endParaRPr>
                        </a:p>
                      </a:txBody>
                      <a:tcPr/>
                    </a:tc>
                    <a:extLst>
                      <a:ext uri="{0D108BD9-81ED-4DB2-BD59-A6C34878D82A}">
                        <a16:rowId xmlns:a16="http://schemas.microsoft.com/office/drawing/2014/main" val="1088031052"/>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3541967209"/>
                      </a:ext>
                    </a:extLst>
                  </a:tr>
                  <a:tr h="370840">
                    <a:tc>
                      <a:txBody>
                        <a:bodyPr/>
                        <a:lstStyle/>
                        <a:p>
                          <a:pPr algn="ctr"/>
                          <a:r>
                            <a:rPr lang="en-US" sz="1800" dirty="0"/>
                            <a:t>1</a:t>
                          </a:r>
                          <a:endParaRPr lang="en-US" sz="1800" dirty="0">
                            <a:solidFill>
                              <a:schemeClr val="tx1"/>
                            </a:solidFill>
                          </a:endParaRPr>
                        </a:p>
                      </a:txBody>
                      <a:tcPr/>
                    </a:tc>
                    <a:extLst>
                      <a:ext uri="{0D108BD9-81ED-4DB2-BD59-A6C34878D82A}">
                        <a16:rowId xmlns:a16="http://schemas.microsoft.com/office/drawing/2014/main" val="1833830697"/>
                      </a:ext>
                    </a:extLst>
                  </a:tr>
                  <a:tr h="370840">
                    <a:tc>
                      <a:txBody>
                        <a:bodyPr/>
                        <a:lstStyle/>
                        <a:p>
                          <a:pPr algn="ctr"/>
                          <a:r>
                            <a:rPr lang="en-US" sz="1800" dirty="0"/>
                            <a:t>7</a:t>
                          </a:r>
                          <a:endParaRPr lang="en-US" sz="1800" dirty="0">
                            <a:solidFill>
                              <a:schemeClr val="tx1"/>
                            </a:solidFill>
                          </a:endParaRPr>
                        </a:p>
                      </a:txBody>
                      <a:tcPr/>
                    </a:tc>
                    <a:extLst>
                      <a:ext uri="{0D108BD9-81ED-4DB2-BD59-A6C34878D82A}">
                        <a16:rowId xmlns:a16="http://schemas.microsoft.com/office/drawing/2014/main" val="616293033"/>
                      </a:ext>
                    </a:extLst>
                  </a:tr>
                  <a:tr h="370840">
                    <a:tc>
                      <a:txBody>
                        <a:bodyPr/>
                        <a:lstStyle/>
                        <a:p>
                          <a:pPr algn="ctr"/>
                          <a:r>
                            <a:rPr lang="en-US" sz="1800" dirty="0"/>
                            <a:t>4</a:t>
                          </a:r>
                          <a:endParaRPr lang="en-US" sz="1800" dirty="0">
                            <a:solidFill>
                              <a:schemeClr val="tx1"/>
                            </a:solidFill>
                          </a:endParaRPr>
                        </a:p>
                      </a:txBody>
                      <a:tcPr/>
                    </a:tc>
                    <a:extLst>
                      <a:ext uri="{0D108BD9-81ED-4DB2-BD59-A6C34878D82A}">
                        <a16:rowId xmlns:a16="http://schemas.microsoft.com/office/drawing/2014/main" val="4146320581"/>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464448070"/>
                      </a:ext>
                    </a:extLst>
                  </a:tr>
                </a:tbl>
              </a:graphicData>
            </a:graphic>
          </p:graphicFrame>
        </mc:Choice>
        <mc:Fallback xmlns="">
          <p:graphicFrame>
            <p:nvGraphicFramePr>
              <p:cNvPr id="46" name="Table 45">
                <a:extLst>
                  <a:ext uri="{FF2B5EF4-FFF2-40B4-BE49-F238E27FC236}">
                    <a16:creationId xmlns:a16="http://schemas.microsoft.com/office/drawing/2014/main" id="{26D6AB30-84B5-514C-9CA2-71C1C2635BB4}"/>
                  </a:ext>
                </a:extLst>
              </p:cNvPr>
              <p:cNvGraphicFramePr>
                <a:graphicFrameLocks noGrp="1"/>
              </p:cNvGraphicFramePr>
              <p:nvPr>
                <p:extLst/>
              </p:nvPr>
            </p:nvGraphicFramePr>
            <p:xfrm>
              <a:off x="4925360" y="133965"/>
              <a:ext cx="842602" cy="6304280"/>
            </p:xfrm>
            <a:graphic>
              <a:graphicData uri="http://schemas.openxmlformats.org/drawingml/2006/table">
                <a:tbl>
                  <a:tblPr firstRow="1" bandRow="1">
                    <a:tableStyleId>{5C22544A-7EE6-4342-B048-85BDC9FD1C3A}</a:tableStyleId>
                  </a:tblPr>
                  <a:tblGrid>
                    <a:gridCol w="842602">
                      <a:extLst>
                        <a:ext uri="{9D8B030D-6E8A-4147-A177-3AD203B41FA5}">
                          <a16:colId xmlns:a16="http://schemas.microsoft.com/office/drawing/2014/main" val="1132820706"/>
                        </a:ext>
                      </a:extLst>
                    </a:gridCol>
                  </a:tblGrid>
                  <a:tr h="370840">
                    <a:tc>
                      <a:txBody>
                        <a:bodyPr/>
                        <a:lstStyle/>
                        <a:p>
                          <a:endParaRPr lang="en-US"/>
                        </a:p>
                      </a:txBody>
                      <a:tcPr>
                        <a:blipFill>
                          <a:blip r:embed="rId17"/>
                          <a:stretch>
                            <a:fillRect l="-1471" t="-3448" r="-1471" b="-1637931"/>
                          </a:stretch>
                        </a:blipFill>
                      </a:tcPr>
                    </a:tc>
                    <a:extLst>
                      <a:ext uri="{0D108BD9-81ED-4DB2-BD59-A6C34878D82A}">
                        <a16:rowId xmlns:a16="http://schemas.microsoft.com/office/drawing/2014/main" val="1955473743"/>
                      </a:ext>
                    </a:extLst>
                  </a:tr>
                  <a:tr h="370840">
                    <a:tc>
                      <a:txBody>
                        <a:bodyPr/>
                        <a:lstStyle/>
                        <a:p>
                          <a:pPr algn="ctr"/>
                          <a:r>
                            <a:rPr lang="en-US" sz="1800" dirty="0"/>
                            <a:t>1</a:t>
                          </a:r>
                          <a:endParaRPr lang="en-US" sz="1800" dirty="0">
                            <a:solidFill>
                              <a:schemeClr val="tx1"/>
                            </a:solidFill>
                          </a:endParaRPr>
                        </a:p>
                      </a:txBody>
                      <a:tcPr/>
                    </a:tc>
                    <a:extLst>
                      <a:ext uri="{0D108BD9-81ED-4DB2-BD59-A6C34878D82A}">
                        <a16:rowId xmlns:a16="http://schemas.microsoft.com/office/drawing/2014/main" val="3419208819"/>
                      </a:ext>
                    </a:extLst>
                  </a:tr>
                  <a:tr h="370840">
                    <a:tc>
                      <a:txBody>
                        <a:bodyPr/>
                        <a:lstStyle/>
                        <a:p>
                          <a:pPr algn="ctr"/>
                          <a:r>
                            <a:rPr lang="en-US" sz="1800" dirty="0"/>
                            <a:t>7</a:t>
                          </a:r>
                          <a:endParaRPr lang="en-US" sz="1800" dirty="0">
                            <a:solidFill>
                              <a:schemeClr val="tx1"/>
                            </a:solidFill>
                          </a:endParaRPr>
                        </a:p>
                      </a:txBody>
                      <a:tcPr/>
                    </a:tc>
                    <a:extLst>
                      <a:ext uri="{0D108BD9-81ED-4DB2-BD59-A6C34878D82A}">
                        <a16:rowId xmlns:a16="http://schemas.microsoft.com/office/drawing/2014/main" val="2452133419"/>
                      </a:ext>
                    </a:extLst>
                  </a:tr>
                  <a:tr h="370840">
                    <a:tc>
                      <a:txBody>
                        <a:bodyPr/>
                        <a:lstStyle/>
                        <a:p>
                          <a:pPr algn="ctr"/>
                          <a:r>
                            <a:rPr lang="en-US" sz="1800" dirty="0"/>
                            <a:t>4</a:t>
                          </a:r>
                          <a:endParaRPr lang="en-US" sz="1800" dirty="0">
                            <a:solidFill>
                              <a:schemeClr val="tx1"/>
                            </a:solidFill>
                          </a:endParaRPr>
                        </a:p>
                      </a:txBody>
                      <a:tcPr/>
                    </a:tc>
                    <a:extLst>
                      <a:ext uri="{0D108BD9-81ED-4DB2-BD59-A6C34878D82A}">
                        <a16:rowId xmlns:a16="http://schemas.microsoft.com/office/drawing/2014/main" val="1376658329"/>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2085404646"/>
                      </a:ext>
                    </a:extLst>
                  </a:tr>
                  <a:tr h="370840">
                    <a:tc>
                      <a:txBody>
                        <a:bodyPr/>
                        <a:lstStyle/>
                        <a:p>
                          <a:pPr algn="ctr"/>
                          <a:r>
                            <a:rPr lang="en-US" sz="1800" dirty="0"/>
                            <a:t>1</a:t>
                          </a:r>
                          <a:endParaRPr lang="en-US" sz="1800" dirty="0">
                            <a:solidFill>
                              <a:schemeClr val="tx1"/>
                            </a:solidFill>
                          </a:endParaRPr>
                        </a:p>
                      </a:txBody>
                      <a:tcPr/>
                    </a:tc>
                    <a:extLst>
                      <a:ext uri="{0D108BD9-81ED-4DB2-BD59-A6C34878D82A}">
                        <a16:rowId xmlns:a16="http://schemas.microsoft.com/office/drawing/2014/main" val="2477180254"/>
                      </a:ext>
                    </a:extLst>
                  </a:tr>
                  <a:tr h="370840">
                    <a:tc>
                      <a:txBody>
                        <a:bodyPr/>
                        <a:lstStyle/>
                        <a:p>
                          <a:pPr algn="ctr"/>
                          <a:r>
                            <a:rPr lang="en-US" sz="1800" dirty="0"/>
                            <a:t>7</a:t>
                          </a:r>
                          <a:endParaRPr lang="en-US" sz="1800" dirty="0">
                            <a:solidFill>
                              <a:schemeClr val="tx1"/>
                            </a:solidFill>
                          </a:endParaRPr>
                        </a:p>
                      </a:txBody>
                      <a:tcPr/>
                    </a:tc>
                    <a:extLst>
                      <a:ext uri="{0D108BD9-81ED-4DB2-BD59-A6C34878D82A}">
                        <a16:rowId xmlns:a16="http://schemas.microsoft.com/office/drawing/2014/main" val="2280071381"/>
                      </a:ext>
                    </a:extLst>
                  </a:tr>
                  <a:tr h="370840">
                    <a:tc>
                      <a:txBody>
                        <a:bodyPr/>
                        <a:lstStyle/>
                        <a:p>
                          <a:pPr algn="ctr"/>
                          <a:r>
                            <a:rPr lang="en-US" sz="1800" dirty="0"/>
                            <a:t>4</a:t>
                          </a:r>
                          <a:endParaRPr lang="en-US" sz="1800" dirty="0">
                            <a:solidFill>
                              <a:schemeClr val="tx1"/>
                            </a:solidFill>
                          </a:endParaRPr>
                        </a:p>
                      </a:txBody>
                      <a:tcPr/>
                    </a:tc>
                    <a:extLst>
                      <a:ext uri="{0D108BD9-81ED-4DB2-BD59-A6C34878D82A}">
                        <a16:rowId xmlns:a16="http://schemas.microsoft.com/office/drawing/2014/main" val="20106087"/>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3259519652"/>
                      </a:ext>
                    </a:extLst>
                  </a:tr>
                  <a:tr h="370840">
                    <a:tc>
                      <a:txBody>
                        <a:bodyPr/>
                        <a:lstStyle/>
                        <a:p>
                          <a:pPr algn="ctr"/>
                          <a:r>
                            <a:rPr lang="en-US" sz="1800" dirty="0"/>
                            <a:t>1</a:t>
                          </a:r>
                          <a:endParaRPr lang="en-US" sz="1800" dirty="0">
                            <a:solidFill>
                              <a:schemeClr val="tx1"/>
                            </a:solidFill>
                          </a:endParaRPr>
                        </a:p>
                      </a:txBody>
                      <a:tcPr/>
                    </a:tc>
                    <a:extLst>
                      <a:ext uri="{0D108BD9-81ED-4DB2-BD59-A6C34878D82A}">
                        <a16:rowId xmlns:a16="http://schemas.microsoft.com/office/drawing/2014/main" val="2266238226"/>
                      </a:ext>
                    </a:extLst>
                  </a:tr>
                  <a:tr h="370840">
                    <a:tc>
                      <a:txBody>
                        <a:bodyPr/>
                        <a:lstStyle/>
                        <a:p>
                          <a:pPr algn="ctr"/>
                          <a:r>
                            <a:rPr lang="en-US" sz="1800" dirty="0"/>
                            <a:t>7</a:t>
                          </a:r>
                          <a:endParaRPr lang="en-US" sz="1800" dirty="0">
                            <a:solidFill>
                              <a:schemeClr val="tx1"/>
                            </a:solidFill>
                          </a:endParaRPr>
                        </a:p>
                      </a:txBody>
                      <a:tcPr/>
                    </a:tc>
                    <a:extLst>
                      <a:ext uri="{0D108BD9-81ED-4DB2-BD59-A6C34878D82A}">
                        <a16:rowId xmlns:a16="http://schemas.microsoft.com/office/drawing/2014/main" val="1386377524"/>
                      </a:ext>
                    </a:extLst>
                  </a:tr>
                  <a:tr h="370840">
                    <a:tc>
                      <a:txBody>
                        <a:bodyPr/>
                        <a:lstStyle/>
                        <a:p>
                          <a:pPr algn="ctr"/>
                          <a:r>
                            <a:rPr lang="en-US" sz="1800" dirty="0"/>
                            <a:t>4</a:t>
                          </a:r>
                          <a:endParaRPr lang="en-US" sz="1800" dirty="0">
                            <a:solidFill>
                              <a:schemeClr val="tx1"/>
                            </a:solidFill>
                          </a:endParaRPr>
                        </a:p>
                      </a:txBody>
                      <a:tcPr/>
                    </a:tc>
                    <a:extLst>
                      <a:ext uri="{0D108BD9-81ED-4DB2-BD59-A6C34878D82A}">
                        <a16:rowId xmlns:a16="http://schemas.microsoft.com/office/drawing/2014/main" val="1088031052"/>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3541967209"/>
                      </a:ext>
                    </a:extLst>
                  </a:tr>
                  <a:tr h="370840">
                    <a:tc>
                      <a:txBody>
                        <a:bodyPr/>
                        <a:lstStyle/>
                        <a:p>
                          <a:pPr algn="ctr"/>
                          <a:r>
                            <a:rPr lang="en-US" sz="1800" dirty="0"/>
                            <a:t>1</a:t>
                          </a:r>
                          <a:endParaRPr lang="en-US" sz="1800" dirty="0">
                            <a:solidFill>
                              <a:schemeClr val="tx1"/>
                            </a:solidFill>
                          </a:endParaRPr>
                        </a:p>
                      </a:txBody>
                      <a:tcPr/>
                    </a:tc>
                    <a:extLst>
                      <a:ext uri="{0D108BD9-81ED-4DB2-BD59-A6C34878D82A}">
                        <a16:rowId xmlns:a16="http://schemas.microsoft.com/office/drawing/2014/main" val="1833830697"/>
                      </a:ext>
                    </a:extLst>
                  </a:tr>
                  <a:tr h="370840">
                    <a:tc>
                      <a:txBody>
                        <a:bodyPr/>
                        <a:lstStyle/>
                        <a:p>
                          <a:pPr algn="ctr"/>
                          <a:r>
                            <a:rPr lang="en-US" sz="1800" dirty="0"/>
                            <a:t>7</a:t>
                          </a:r>
                          <a:endParaRPr lang="en-US" sz="1800" dirty="0">
                            <a:solidFill>
                              <a:schemeClr val="tx1"/>
                            </a:solidFill>
                          </a:endParaRPr>
                        </a:p>
                      </a:txBody>
                      <a:tcPr/>
                    </a:tc>
                    <a:extLst>
                      <a:ext uri="{0D108BD9-81ED-4DB2-BD59-A6C34878D82A}">
                        <a16:rowId xmlns:a16="http://schemas.microsoft.com/office/drawing/2014/main" val="616293033"/>
                      </a:ext>
                    </a:extLst>
                  </a:tr>
                  <a:tr h="370840">
                    <a:tc>
                      <a:txBody>
                        <a:bodyPr/>
                        <a:lstStyle/>
                        <a:p>
                          <a:pPr algn="ctr"/>
                          <a:r>
                            <a:rPr lang="en-US" sz="1800" dirty="0"/>
                            <a:t>4</a:t>
                          </a:r>
                          <a:endParaRPr lang="en-US" sz="1800" dirty="0">
                            <a:solidFill>
                              <a:schemeClr val="tx1"/>
                            </a:solidFill>
                          </a:endParaRPr>
                        </a:p>
                      </a:txBody>
                      <a:tcPr/>
                    </a:tc>
                    <a:extLst>
                      <a:ext uri="{0D108BD9-81ED-4DB2-BD59-A6C34878D82A}">
                        <a16:rowId xmlns:a16="http://schemas.microsoft.com/office/drawing/2014/main" val="4146320581"/>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46444807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7" name="Table 46">
                <a:extLst>
                  <a:ext uri="{FF2B5EF4-FFF2-40B4-BE49-F238E27FC236}">
                    <a16:creationId xmlns:a16="http://schemas.microsoft.com/office/drawing/2014/main" id="{2A28D024-11A5-1F40-9496-BC9099391884}"/>
                  </a:ext>
                </a:extLst>
              </p:cNvPr>
              <p:cNvGraphicFramePr>
                <a:graphicFrameLocks noGrp="1"/>
              </p:cNvGraphicFramePr>
              <p:nvPr>
                <p:extLst/>
              </p:nvPr>
            </p:nvGraphicFramePr>
            <p:xfrm>
              <a:off x="7580612" y="114712"/>
              <a:ext cx="842602" cy="6304280"/>
            </p:xfrm>
            <a:graphic>
              <a:graphicData uri="http://schemas.openxmlformats.org/drawingml/2006/table">
                <a:tbl>
                  <a:tblPr firstRow="1" bandRow="1">
                    <a:tableStyleId>{5C22544A-7EE6-4342-B048-85BDC9FD1C3A}</a:tableStyleId>
                  </a:tblPr>
                  <a:tblGrid>
                    <a:gridCol w="842602">
                      <a:extLst>
                        <a:ext uri="{9D8B030D-6E8A-4147-A177-3AD203B41FA5}">
                          <a16:colId xmlns:a16="http://schemas.microsoft.com/office/drawing/2014/main" val="1132820706"/>
                        </a:ext>
                      </a:extLst>
                    </a:gridCol>
                  </a:tblGrid>
                  <a:tr h="370840">
                    <a:tc>
                      <a:txBody>
                        <a:bodyPr/>
                        <a:lstStyle/>
                        <a:p>
                          <a:pPr/>
                          <a14:m>
                            <m:oMathPara xmlns:m="http://schemas.openxmlformats.org/officeDocument/2006/math">
                              <m:oMathParaPr>
                                <m:jc m:val="centerGroup"/>
                              </m:oMathParaPr>
                              <m:oMath xmlns:m="http://schemas.openxmlformats.org/officeDocument/2006/math">
                                <m:sSup>
                                  <m:sSupPr>
                                    <m:ctrlPr>
                                      <a:rPr lang="en-US" sz="1300" i="1" smtClean="0">
                                        <a:latin typeface="Cambria Math" panose="02040503050406030204" pitchFamily="18" charset="0"/>
                                      </a:rPr>
                                    </m:ctrlPr>
                                  </m:sSupPr>
                                  <m:e>
                                    <m:r>
                                      <a:rPr lang="en-US" sz="1300" smtClean="0">
                                        <a:latin typeface="Cambria Math" panose="02040503050406030204" pitchFamily="18" charset="0"/>
                                      </a:rPr>
                                      <m:t>7</m:t>
                                    </m:r>
                                  </m:e>
                                  <m:sup>
                                    <m:r>
                                      <a:rPr lang="en-US" sz="1300">
                                        <a:latin typeface="Cambria Math" panose="02040503050406030204" pitchFamily="18" charset="0"/>
                                      </a:rPr>
                                      <m:t>𝑥</m:t>
                                    </m:r>
                                  </m:sup>
                                </m:sSup>
                                <m:r>
                                  <a:rPr lang="en-US" sz="1300">
                                    <a:latin typeface="Cambria Math" panose="02040503050406030204" pitchFamily="18" charset="0"/>
                                  </a:rPr>
                                  <m:t>𝑚𝑜𝑑</m:t>
                                </m:r>
                                <m:r>
                                  <a:rPr lang="en-US" sz="1300">
                                    <a:latin typeface="Cambria Math" panose="02040503050406030204" pitchFamily="18" charset="0"/>
                                  </a:rPr>
                                  <m:t> 15</m:t>
                                </m:r>
                              </m:oMath>
                            </m:oMathPara>
                          </a14:m>
                          <a:endParaRPr lang="en-US" sz="1300" dirty="0">
                            <a:solidFill>
                              <a:schemeClr val="tx1"/>
                            </a:solidFill>
                          </a:endParaRPr>
                        </a:p>
                      </a:txBody>
                      <a:tcPr/>
                    </a:tc>
                    <a:extLst>
                      <a:ext uri="{0D108BD9-81ED-4DB2-BD59-A6C34878D82A}">
                        <a16:rowId xmlns:a16="http://schemas.microsoft.com/office/drawing/2014/main" val="1955473743"/>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341920881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45213341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376658329"/>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2085404646"/>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477180254"/>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280071381"/>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0106087"/>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3259519652"/>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266238226"/>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386377524"/>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088031052"/>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354196720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833830697"/>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616293033"/>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4146320581"/>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464448070"/>
                      </a:ext>
                    </a:extLst>
                  </a:tr>
                </a:tbl>
              </a:graphicData>
            </a:graphic>
          </p:graphicFrame>
        </mc:Choice>
        <mc:Fallback xmlns="">
          <p:graphicFrame>
            <p:nvGraphicFramePr>
              <p:cNvPr id="47" name="Table 46">
                <a:extLst>
                  <a:ext uri="{FF2B5EF4-FFF2-40B4-BE49-F238E27FC236}">
                    <a16:creationId xmlns:a16="http://schemas.microsoft.com/office/drawing/2014/main" id="{2A28D024-11A5-1F40-9496-BC9099391884}"/>
                  </a:ext>
                </a:extLst>
              </p:cNvPr>
              <p:cNvGraphicFramePr>
                <a:graphicFrameLocks noGrp="1"/>
              </p:cNvGraphicFramePr>
              <p:nvPr>
                <p:extLst/>
              </p:nvPr>
            </p:nvGraphicFramePr>
            <p:xfrm>
              <a:off x="7580612" y="114712"/>
              <a:ext cx="842602" cy="6304280"/>
            </p:xfrm>
            <a:graphic>
              <a:graphicData uri="http://schemas.openxmlformats.org/drawingml/2006/table">
                <a:tbl>
                  <a:tblPr firstRow="1" bandRow="1">
                    <a:tableStyleId>{5C22544A-7EE6-4342-B048-85BDC9FD1C3A}</a:tableStyleId>
                  </a:tblPr>
                  <a:tblGrid>
                    <a:gridCol w="842602">
                      <a:extLst>
                        <a:ext uri="{9D8B030D-6E8A-4147-A177-3AD203B41FA5}">
                          <a16:colId xmlns:a16="http://schemas.microsoft.com/office/drawing/2014/main" val="1132820706"/>
                        </a:ext>
                      </a:extLst>
                    </a:gridCol>
                  </a:tblGrid>
                  <a:tr h="370840">
                    <a:tc>
                      <a:txBody>
                        <a:bodyPr/>
                        <a:lstStyle/>
                        <a:p>
                          <a:endParaRPr lang="en-US"/>
                        </a:p>
                      </a:txBody>
                      <a:tcPr>
                        <a:blipFill>
                          <a:blip r:embed="rId18"/>
                          <a:stretch>
                            <a:fillRect t="-3448" r="-1471" b="-1637931"/>
                          </a:stretch>
                        </a:blipFill>
                      </a:tcPr>
                    </a:tc>
                    <a:extLst>
                      <a:ext uri="{0D108BD9-81ED-4DB2-BD59-A6C34878D82A}">
                        <a16:rowId xmlns:a16="http://schemas.microsoft.com/office/drawing/2014/main" val="1955473743"/>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341920881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45213341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376658329"/>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2085404646"/>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477180254"/>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280071381"/>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0106087"/>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3259519652"/>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2266238226"/>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386377524"/>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088031052"/>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3541967209"/>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1833830697"/>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616293033"/>
                      </a:ext>
                    </a:extLst>
                  </a:tr>
                  <a:tr h="370840">
                    <a:tc>
                      <a:txBody>
                        <a:bodyPr/>
                        <a:lstStyle/>
                        <a:p>
                          <a:pPr algn="ctr"/>
                          <a:endParaRPr lang="en-US" sz="1800" dirty="0">
                            <a:solidFill>
                              <a:schemeClr val="tx1"/>
                            </a:solidFill>
                          </a:endParaRPr>
                        </a:p>
                      </a:txBody>
                      <a:tcPr/>
                    </a:tc>
                    <a:extLst>
                      <a:ext uri="{0D108BD9-81ED-4DB2-BD59-A6C34878D82A}">
                        <a16:rowId xmlns:a16="http://schemas.microsoft.com/office/drawing/2014/main" val="4146320581"/>
                      </a:ext>
                    </a:extLst>
                  </a:tr>
                  <a:tr h="370840">
                    <a:tc>
                      <a:txBody>
                        <a:bodyPr/>
                        <a:lstStyle/>
                        <a:p>
                          <a:pPr algn="ctr"/>
                          <a:r>
                            <a:rPr lang="en-US" sz="1800" dirty="0"/>
                            <a:t>13</a:t>
                          </a:r>
                          <a:endParaRPr lang="en-US" sz="1800" dirty="0">
                            <a:solidFill>
                              <a:schemeClr val="tx1"/>
                            </a:solidFill>
                          </a:endParaRPr>
                        </a:p>
                      </a:txBody>
                      <a:tcPr/>
                    </a:tc>
                    <a:extLst>
                      <a:ext uri="{0D108BD9-81ED-4DB2-BD59-A6C34878D82A}">
                        <a16:rowId xmlns:a16="http://schemas.microsoft.com/office/drawing/2014/main" val="464448070"/>
                      </a:ext>
                    </a:extLst>
                  </a:tr>
                </a:tbl>
              </a:graphicData>
            </a:graphic>
          </p:graphicFrame>
        </mc:Fallback>
      </mc:AlternateContent>
      <p:grpSp>
        <p:nvGrpSpPr>
          <p:cNvPr id="3" name="Group 2">
            <a:extLst>
              <a:ext uri="{FF2B5EF4-FFF2-40B4-BE49-F238E27FC236}">
                <a16:creationId xmlns:a16="http://schemas.microsoft.com/office/drawing/2014/main" id="{0C5F4E80-1E3F-AB4C-8021-3953F04D2BAB}"/>
              </a:ext>
            </a:extLst>
          </p:cNvPr>
          <p:cNvGrpSpPr/>
          <p:nvPr/>
        </p:nvGrpSpPr>
        <p:grpSpPr>
          <a:xfrm>
            <a:off x="8508588" y="599396"/>
            <a:ext cx="3445847" cy="2480863"/>
            <a:chOff x="8508588" y="599396"/>
            <a:chExt cx="3445847" cy="2480863"/>
          </a:xfrm>
        </p:grpSpPr>
        <p:grpSp>
          <p:nvGrpSpPr>
            <p:cNvPr id="49" name="Group 48">
              <a:extLst>
                <a:ext uri="{FF2B5EF4-FFF2-40B4-BE49-F238E27FC236}">
                  <a16:creationId xmlns:a16="http://schemas.microsoft.com/office/drawing/2014/main" id="{03EFB144-BA70-5540-9854-DD76A2815799}"/>
                </a:ext>
              </a:extLst>
            </p:cNvPr>
            <p:cNvGrpSpPr/>
            <p:nvPr/>
          </p:nvGrpSpPr>
          <p:grpSpPr>
            <a:xfrm>
              <a:off x="8572196" y="1011928"/>
              <a:ext cx="2231906" cy="1817303"/>
              <a:chOff x="1725676" y="1205105"/>
              <a:chExt cx="1440002" cy="1817303"/>
            </a:xfrm>
          </p:grpSpPr>
          <p:cxnSp>
            <p:nvCxnSpPr>
              <p:cNvPr id="50" name="Straight Connector 49">
                <a:extLst>
                  <a:ext uri="{FF2B5EF4-FFF2-40B4-BE49-F238E27FC236}">
                    <a16:creationId xmlns:a16="http://schemas.microsoft.com/office/drawing/2014/main" id="{0655CEE2-7CB8-A44E-A230-46496286D185}"/>
                  </a:ext>
                </a:extLst>
              </p:cNvPr>
              <p:cNvCxnSpPr>
                <a:cxnSpLocks/>
              </p:cNvCxnSpPr>
              <p:nvPr/>
            </p:nvCxnSpPr>
            <p:spPr>
              <a:xfrm>
                <a:off x="1725678" y="1205105"/>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7412C8A-CEA6-4446-BC0A-7645F86B3307}"/>
                  </a:ext>
                </a:extLst>
              </p:cNvPr>
              <p:cNvCxnSpPr>
                <a:cxnSpLocks/>
              </p:cNvCxnSpPr>
              <p:nvPr/>
            </p:nvCxnSpPr>
            <p:spPr>
              <a:xfrm>
                <a:off x="1725678" y="1810873"/>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A0588AB-F277-1941-9E38-9AE1BC7C40D1}"/>
                  </a:ext>
                </a:extLst>
              </p:cNvPr>
              <p:cNvCxnSpPr>
                <a:cxnSpLocks/>
              </p:cNvCxnSpPr>
              <p:nvPr/>
            </p:nvCxnSpPr>
            <p:spPr>
              <a:xfrm>
                <a:off x="1725678" y="2416641"/>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97FD3C-6D8F-1142-9039-89412D5E0F11}"/>
                  </a:ext>
                </a:extLst>
              </p:cNvPr>
              <p:cNvCxnSpPr>
                <a:cxnSpLocks/>
              </p:cNvCxnSpPr>
              <p:nvPr/>
            </p:nvCxnSpPr>
            <p:spPr>
              <a:xfrm>
                <a:off x="1725676" y="302240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A40EA3DC-FD80-FB45-B82A-A45BD0658100}"/>
                    </a:ext>
                  </a:extLst>
                </p:cNvPr>
                <p:cNvSpPr/>
                <p:nvPr/>
              </p:nvSpPr>
              <p:spPr>
                <a:xfrm>
                  <a:off x="9060141" y="720187"/>
                  <a:ext cx="1280215" cy="2327654"/>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QFT</a:t>
                  </a:r>
                  <a14:m>
                    <m:oMath xmlns:m="http://schemas.openxmlformats.org/officeDocument/2006/math">
                      <m:r>
                        <a:rPr lang="en-US" sz="2800" b="0" i="1" baseline="30000" smtClean="0">
                          <a:solidFill>
                            <a:schemeClr val="tx1"/>
                          </a:solidFill>
                          <a:latin typeface="Cambria Math" panose="02040503050406030204" pitchFamily="18" charset="0"/>
                          <a:ea typeface="Cambria Math" panose="02040503050406030204" pitchFamily="18" charset="0"/>
                        </a:rPr>
                        <m:t>†</m:t>
                      </m:r>
                    </m:oMath>
                  </a14:m>
                  <a:endParaRPr lang="en-US" sz="2800" baseline="30000" dirty="0">
                    <a:solidFill>
                      <a:schemeClr val="tx1"/>
                    </a:solidFill>
                  </a:endParaRPr>
                </a:p>
              </p:txBody>
            </p:sp>
          </mc:Choice>
          <mc:Fallback xmlns="">
            <p:sp>
              <p:nvSpPr>
                <p:cNvPr id="43" name="Rectangle 42">
                  <a:extLst>
                    <a:ext uri="{FF2B5EF4-FFF2-40B4-BE49-F238E27FC236}">
                      <a16:creationId xmlns:a16="http://schemas.microsoft.com/office/drawing/2014/main" id="{A40EA3DC-FD80-FB45-B82A-A45BD0658100}"/>
                    </a:ext>
                  </a:extLst>
                </p:cNvPr>
                <p:cNvSpPr>
                  <a:spLocks noRot="1" noChangeAspect="1" noMove="1" noResize="1" noEditPoints="1" noAdjustHandles="1" noChangeArrowheads="1" noChangeShapeType="1" noTextEdit="1"/>
                </p:cNvSpPr>
                <p:nvPr/>
              </p:nvSpPr>
              <p:spPr>
                <a:xfrm>
                  <a:off x="9060141" y="720187"/>
                  <a:ext cx="1280215" cy="2327654"/>
                </a:xfrm>
                <a:prstGeom prst="rect">
                  <a:avLst/>
                </a:prstGeom>
                <a:blipFill>
                  <a:blip r:embed="rId19"/>
                  <a:stretch>
                    <a:fillRect/>
                  </a:stretch>
                </a:blipFill>
                <a:ln>
                  <a:solidFill>
                    <a:schemeClr val="bg1">
                      <a:lumMod val="50000"/>
                    </a:schemeClr>
                  </a:solidFill>
                </a:ln>
              </p:spPr>
              <p:txBody>
                <a:bodyPr/>
                <a:lstStyle/>
                <a:p>
                  <a:r>
                    <a:rPr lang="en-US">
                      <a:noFill/>
                    </a:rPr>
                    <a:t> </a:t>
                  </a:r>
                </a:p>
              </p:txBody>
            </p:sp>
          </mc:Fallback>
        </mc:AlternateContent>
        <p:sp>
          <p:nvSpPr>
            <p:cNvPr id="54" name="TextBox 53">
              <a:extLst>
                <a:ext uri="{FF2B5EF4-FFF2-40B4-BE49-F238E27FC236}">
                  <a16:creationId xmlns:a16="http://schemas.microsoft.com/office/drawing/2014/main" id="{8D942C22-EA3E-1048-BC94-4651A25E9D7B}"/>
                </a:ext>
              </a:extLst>
            </p:cNvPr>
            <p:cNvSpPr txBox="1"/>
            <p:nvPr/>
          </p:nvSpPr>
          <p:spPr>
            <a:xfrm>
              <a:off x="8638430" y="599396"/>
              <a:ext cx="314510" cy="400110"/>
            </a:xfrm>
            <a:prstGeom prst="rect">
              <a:avLst/>
            </a:prstGeom>
            <a:noFill/>
          </p:spPr>
          <p:txBody>
            <a:bodyPr wrap="none" rtlCol="0">
              <a:spAutoFit/>
            </a:bodyPr>
            <a:lstStyle/>
            <a:p>
              <a:r>
                <a:rPr lang="en-US" sz="2000" dirty="0"/>
                <a:t>3</a:t>
              </a:r>
            </a:p>
          </p:txBody>
        </p:sp>
        <p:sp>
          <p:nvSpPr>
            <p:cNvPr id="55" name="TextBox 54">
              <a:extLst>
                <a:ext uri="{FF2B5EF4-FFF2-40B4-BE49-F238E27FC236}">
                  <a16:creationId xmlns:a16="http://schemas.microsoft.com/office/drawing/2014/main" id="{2C17203F-F830-0741-93F5-AA58E4C73157}"/>
                </a:ext>
              </a:extLst>
            </p:cNvPr>
            <p:cNvSpPr txBox="1"/>
            <p:nvPr/>
          </p:nvSpPr>
          <p:spPr>
            <a:xfrm>
              <a:off x="8638430" y="1203491"/>
              <a:ext cx="314510" cy="400110"/>
            </a:xfrm>
            <a:prstGeom prst="rect">
              <a:avLst/>
            </a:prstGeom>
            <a:noFill/>
          </p:spPr>
          <p:txBody>
            <a:bodyPr wrap="none" rtlCol="0">
              <a:spAutoFit/>
            </a:bodyPr>
            <a:lstStyle/>
            <a:p>
              <a:r>
                <a:rPr lang="en-US" sz="2000" dirty="0"/>
                <a:t>7</a:t>
              </a:r>
            </a:p>
          </p:txBody>
        </p:sp>
        <p:sp>
          <p:nvSpPr>
            <p:cNvPr id="56" name="TextBox 55">
              <a:extLst>
                <a:ext uri="{FF2B5EF4-FFF2-40B4-BE49-F238E27FC236}">
                  <a16:creationId xmlns:a16="http://schemas.microsoft.com/office/drawing/2014/main" id="{396C2702-BBD1-7340-855A-B90AF09B2F25}"/>
                </a:ext>
              </a:extLst>
            </p:cNvPr>
            <p:cNvSpPr txBox="1"/>
            <p:nvPr/>
          </p:nvSpPr>
          <p:spPr>
            <a:xfrm>
              <a:off x="8508588" y="1834615"/>
              <a:ext cx="444352" cy="400110"/>
            </a:xfrm>
            <a:prstGeom prst="rect">
              <a:avLst/>
            </a:prstGeom>
            <a:noFill/>
          </p:spPr>
          <p:txBody>
            <a:bodyPr wrap="none" rtlCol="0">
              <a:spAutoFit/>
            </a:bodyPr>
            <a:lstStyle/>
            <a:p>
              <a:r>
                <a:rPr lang="en-US" sz="2000" dirty="0"/>
                <a:t>11</a:t>
              </a:r>
            </a:p>
          </p:txBody>
        </p:sp>
        <p:sp>
          <p:nvSpPr>
            <p:cNvPr id="57" name="TextBox 56">
              <a:extLst>
                <a:ext uri="{FF2B5EF4-FFF2-40B4-BE49-F238E27FC236}">
                  <a16:creationId xmlns:a16="http://schemas.microsoft.com/office/drawing/2014/main" id="{D1813B8D-DBB4-494A-AF2C-FD717317CEB9}"/>
                </a:ext>
              </a:extLst>
            </p:cNvPr>
            <p:cNvSpPr txBox="1"/>
            <p:nvPr/>
          </p:nvSpPr>
          <p:spPr>
            <a:xfrm>
              <a:off x="8508588" y="2427790"/>
              <a:ext cx="444352" cy="400110"/>
            </a:xfrm>
            <a:prstGeom prst="rect">
              <a:avLst/>
            </a:prstGeom>
            <a:noFill/>
          </p:spPr>
          <p:txBody>
            <a:bodyPr wrap="none" rtlCol="0">
              <a:spAutoFit/>
            </a:bodyPr>
            <a:lstStyle/>
            <a:p>
              <a:r>
                <a:rPr lang="en-US" sz="2000" dirty="0"/>
                <a:t>15</a:t>
              </a:r>
            </a:p>
          </p:txBody>
        </p:sp>
        <p:grpSp>
          <p:nvGrpSpPr>
            <p:cNvPr id="62" name="Group 61">
              <a:extLst>
                <a:ext uri="{FF2B5EF4-FFF2-40B4-BE49-F238E27FC236}">
                  <a16:creationId xmlns:a16="http://schemas.microsoft.com/office/drawing/2014/main" id="{B8323170-6E02-DC48-B97C-792D122E14DE}"/>
                </a:ext>
              </a:extLst>
            </p:cNvPr>
            <p:cNvGrpSpPr/>
            <p:nvPr/>
          </p:nvGrpSpPr>
          <p:grpSpPr>
            <a:xfrm>
              <a:off x="10690185" y="720187"/>
              <a:ext cx="525791" cy="2360072"/>
              <a:chOff x="9672305" y="937423"/>
              <a:chExt cx="525791" cy="2360072"/>
            </a:xfrm>
          </p:grpSpPr>
          <p:pic>
            <p:nvPicPr>
              <p:cNvPr id="58" name="Picture 57">
                <a:extLst>
                  <a:ext uri="{FF2B5EF4-FFF2-40B4-BE49-F238E27FC236}">
                    <a16:creationId xmlns:a16="http://schemas.microsoft.com/office/drawing/2014/main" id="{A66ABDBB-B6A5-A947-BD24-972CFFBAFFF9}"/>
                  </a:ext>
                </a:extLst>
              </p:cNvPr>
              <p:cNvPicPr>
                <a:picLocks noChangeAspect="1"/>
              </p:cNvPicPr>
              <p:nvPr/>
            </p:nvPicPr>
            <p:blipFill>
              <a:blip r:embed="rId15"/>
              <a:stretch>
                <a:fillRect/>
              </a:stretch>
            </p:blipFill>
            <p:spPr>
              <a:xfrm>
                <a:off x="9672305" y="937423"/>
                <a:ext cx="525789" cy="540000"/>
              </a:xfrm>
              <a:prstGeom prst="rect">
                <a:avLst/>
              </a:prstGeom>
            </p:spPr>
          </p:pic>
          <p:pic>
            <p:nvPicPr>
              <p:cNvPr id="59" name="Picture 58">
                <a:extLst>
                  <a:ext uri="{FF2B5EF4-FFF2-40B4-BE49-F238E27FC236}">
                    <a16:creationId xmlns:a16="http://schemas.microsoft.com/office/drawing/2014/main" id="{9B50C361-13A9-C744-ABF5-BA8280289A61}"/>
                  </a:ext>
                </a:extLst>
              </p:cNvPr>
              <p:cNvPicPr>
                <a:picLocks noChangeAspect="1"/>
              </p:cNvPicPr>
              <p:nvPr/>
            </p:nvPicPr>
            <p:blipFill>
              <a:blip r:embed="rId15"/>
              <a:stretch>
                <a:fillRect/>
              </a:stretch>
            </p:blipFill>
            <p:spPr>
              <a:xfrm>
                <a:off x="9672306" y="2757495"/>
                <a:ext cx="525789" cy="540000"/>
              </a:xfrm>
              <a:prstGeom prst="rect">
                <a:avLst/>
              </a:prstGeom>
            </p:spPr>
          </p:pic>
          <p:pic>
            <p:nvPicPr>
              <p:cNvPr id="60" name="Picture 59">
                <a:extLst>
                  <a:ext uri="{FF2B5EF4-FFF2-40B4-BE49-F238E27FC236}">
                    <a16:creationId xmlns:a16="http://schemas.microsoft.com/office/drawing/2014/main" id="{390FE74F-25D6-9548-99D3-DD736DD223F9}"/>
                  </a:ext>
                </a:extLst>
              </p:cNvPr>
              <p:cNvPicPr>
                <a:picLocks noChangeAspect="1"/>
              </p:cNvPicPr>
              <p:nvPr/>
            </p:nvPicPr>
            <p:blipFill>
              <a:blip r:embed="rId15"/>
              <a:stretch>
                <a:fillRect/>
              </a:stretch>
            </p:blipFill>
            <p:spPr>
              <a:xfrm>
                <a:off x="9672307" y="1544114"/>
                <a:ext cx="525789" cy="540000"/>
              </a:xfrm>
              <a:prstGeom prst="rect">
                <a:avLst/>
              </a:prstGeom>
            </p:spPr>
          </p:pic>
          <p:pic>
            <p:nvPicPr>
              <p:cNvPr id="61" name="Picture 60">
                <a:extLst>
                  <a:ext uri="{FF2B5EF4-FFF2-40B4-BE49-F238E27FC236}">
                    <a16:creationId xmlns:a16="http://schemas.microsoft.com/office/drawing/2014/main" id="{F2EB345B-E370-CA44-B136-6C49056895E5}"/>
                  </a:ext>
                </a:extLst>
              </p:cNvPr>
              <p:cNvPicPr>
                <a:picLocks noChangeAspect="1"/>
              </p:cNvPicPr>
              <p:nvPr/>
            </p:nvPicPr>
            <p:blipFill>
              <a:blip r:embed="rId15"/>
              <a:stretch>
                <a:fillRect/>
              </a:stretch>
            </p:blipFill>
            <p:spPr>
              <a:xfrm>
                <a:off x="9672307" y="2150805"/>
                <a:ext cx="525789" cy="540000"/>
              </a:xfrm>
              <a:prstGeom prst="rect">
                <a:avLst/>
              </a:prstGeom>
            </p:spPr>
          </p:pic>
        </p:grpSp>
        <p:sp>
          <p:nvSpPr>
            <p:cNvPr id="63" name="Right Arrow 62">
              <a:extLst>
                <a:ext uri="{FF2B5EF4-FFF2-40B4-BE49-F238E27FC236}">
                  <a16:creationId xmlns:a16="http://schemas.microsoft.com/office/drawing/2014/main" id="{C2AE4C70-58FF-0D43-9FB0-B56AD2EE2568}"/>
                </a:ext>
              </a:extLst>
            </p:cNvPr>
            <p:cNvSpPr/>
            <p:nvPr/>
          </p:nvSpPr>
          <p:spPr>
            <a:xfrm>
              <a:off x="11292044" y="1503506"/>
              <a:ext cx="662391" cy="689071"/>
            </a:xfrm>
            <a:prstGeom prs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k/r</a:t>
              </a:r>
            </a:p>
          </p:txBody>
        </p:sp>
      </p:grpSp>
    </p:spTree>
    <p:extLst>
      <p:ext uri="{BB962C8B-B14F-4D97-AF65-F5344CB8AC3E}">
        <p14:creationId xmlns:p14="http://schemas.microsoft.com/office/powerpoint/2010/main" val="706201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dissolve">
                                      <p:cBhvr>
                                        <p:cTn id="11" dur="500"/>
                                        <p:tgtEl>
                                          <p:spTgt spid="4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dissolve">
                                      <p:cBhvr>
                                        <p:cTn id="16" dur="500"/>
                                        <p:tgtEl>
                                          <p:spTgt spid="4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dissolve">
                                      <p:cBhvr>
                                        <p:cTn id="25" dur="500"/>
                                        <p:tgtEl>
                                          <p:spTgt spid="4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dissolv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a:extLst>
              <a:ext uri="{FF2B5EF4-FFF2-40B4-BE49-F238E27FC236}">
                <a16:creationId xmlns:a16="http://schemas.microsoft.com/office/drawing/2014/main" id="{B47CFC43-406E-4043-B671-EC664D97693A}"/>
              </a:ext>
            </a:extLst>
          </p:cNvPr>
          <p:cNvCxnSpPr>
            <a:cxnSpLocks/>
          </p:cNvCxnSpPr>
          <p:nvPr/>
        </p:nvCxnSpPr>
        <p:spPr>
          <a:xfrm>
            <a:off x="2702060" y="3928690"/>
            <a:ext cx="468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D54BD40-FA9E-6643-9B49-1B6595D140EC}"/>
              </a:ext>
            </a:extLst>
          </p:cNvPr>
          <p:cNvCxnSpPr>
            <a:cxnSpLocks/>
          </p:cNvCxnSpPr>
          <p:nvPr/>
        </p:nvCxnSpPr>
        <p:spPr>
          <a:xfrm>
            <a:off x="2702060" y="4534458"/>
            <a:ext cx="468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0D9EC59-9663-FC41-8E28-C9CBDF4B9B22}"/>
              </a:ext>
            </a:extLst>
          </p:cNvPr>
          <p:cNvCxnSpPr>
            <a:cxnSpLocks/>
          </p:cNvCxnSpPr>
          <p:nvPr/>
        </p:nvCxnSpPr>
        <p:spPr>
          <a:xfrm>
            <a:off x="2702060" y="5140226"/>
            <a:ext cx="468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8C51AF-0DA5-0A41-91CA-C289FD41CCCB}"/>
              </a:ext>
            </a:extLst>
          </p:cNvPr>
          <p:cNvCxnSpPr>
            <a:cxnSpLocks/>
          </p:cNvCxnSpPr>
          <p:nvPr/>
        </p:nvCxnSpPr>
        <p:spPr>
          <a:xfrm>
            <a:off x="2702058" y="5745993"/>
            <a:ext cx="468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CE08E27-BAE2-D14C-99FE-A14D4024FAD1}"/>
              </a:ext>
            </a:extLst>
          </p:cNvPr>
          <p:cNvSpPr>
            <a:spLocks noGrp="1"/>
          </p:cNvSpPr>
          <p:nvPr>
            <p:ph type="title"/>
          </p:nvPr>
        </p:nvSpPr>
        <p:spPr>
          <a:xfrm>
            <a:off x="0" y="0"/>
            <a:ext cx="12192000" cy="928688"/>
          </a:xfrm>
        </p:spPr>
        <p:txBody>
          <a:bodyPr/>
          <a:lstStyle/>
          <a:p>
            <a:r>
              <a:rPr lang="en-ZA" dirty="0"/>
              <a:t>Quantum Period-Finding Circuit</a:t>
            </a:r>
            <a:endParaRPr lang="en-US" dirty="0"/>
          </a:p>
        </p:txBody>
      </p:sp>
      <p:sp>
        <p:nvSpPr>
          <p:cNvPr id="3" name="Slide Number Placeholder 2">
            <a:extLst>
              <a:ext uri="{FF2B5EF4-FFF2-40B4-BE49-F238E27FC236}">
                <a16:creationId xmlns:a16="http://schemas.microsoft.com/office/drawing/2014/main" id="{38BC0731-271A-E64D-9463-D9697906CA6D}"/>
              </a:ext>
            </a:extLst>
          </p:cNvPr>
          <p:cNvSpPr>
            <a:spLocks noGrp="1"/>
          </p:cNvSpPr>
          <p:nvPr>
            <p:ph type="sldNum" sz="quarter" idx="12"/>
          </p:nvPr>
        </p:nvSpPr>
        <p:spPr/>
        <p:txBody>
          <a:bodyPr/>
          <a:lstStyle/>
          <a:p>
            <a:fld id="{591A223C-FA10-BC46-A853-03BA373D023C}" type="slidenum">
              <a:rPr lang="en-US" smtClean="0"/>
              <a:t>44</a:t>
            </a:fld>
            <a:endParaRPr lang="en-US"/>
          </a:p>
        </p:txBody>
      </p:sp>
      <p:cxnSp>
        <p:nvCxnSpPr>
          <p:cNvPr id="9" name="Straight Connector 8">
            <a:extLst>
              <a:ext uri="{FF2B5EF4-FFF2-40B4-BE49-F238E27FC236}">
                <a16:creationId xmlns:a16="http://schemas.microsoft.com/office/drawing/2014/main" id="{09A9C950-9425-9246-A0F7-93E6ECDA611E}"/>
              </a:ext>
            </a:extLst>
          </p:cNvPr>
          <p:cNvCxnSpPr>
            <a:cxnSpLocks/>
            <a:endCxn id="50" idx="1"/>
          </p:cNvCxnSpPr>
          <p:nvPr/>
        </p:nvCxnSpPr>
        <p:spPr>
          <a:xfrm>
            <a:off x="2646051" y="1197485"/>
            <a:ext cx="70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26F20B0-0E4D-D54E-BD39-4202AE406003}"/>
              </a:ext>
            </a:extLst>
          </p:cNvPr>
          <p:cNvCxnSpPr>
            <a:cxnSpLocks/>
          </p:cNvCxnSpPr>
          <p:nvPr/>
        </p:nvCxnSpPr>
        <p:spPr>
          <a:xfrm>
            <a:off x="2646051" y="1803253"/>
            <a:ext cx="70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9AB162A-07F3-6846-AE64-DCA76D3F4F4D}"/>
              </a:ext>
            </a:extLst>
          </p:cNvPr>
          <p:cNvCxnSpPr>
            <a:cxnSpLocks/>
          </p:cNvCxnSpPr>
          <p:nvPr/>
        </p:nvCxnSpPr>
        <p:spPr>
          <a:xfrm>
            <a:off x="2646051" y="2409021"/>
            <a:ext cx="70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6B3F205-F61E-1E49-AD87-9FE5E071E4F0}"/>
              </a:ext>
            </a:extLst>
          </p:cNvPr>
          <p:cNvCxnSpPr>
            <a:cxnSpLocks/>
          </p:cNvCxnSpPr>
          <p:nvPr/>
        </p:nvCxnSpPr>
        <p:spPr>
          <a:xfrm>
            <a:off x="2646049" y="3014788"/>
            <a:ext cx="70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03BEBE0-347F-464A-8D21-71B2B01F0B6B}"/>
              </a:ext>
            </a:extLst>
          </p:cNvPr>
          <p:cNvSpPr/>
          <p:nvPr/>
        </p:nvSpPr>
        <p:spPr>
          <a:xfrm>
            <a:off x="3122052" y="927485"/>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sp>
        <p:nvSpPr>
          <p:cNvPr id="5" name="Rectangle 4">
            <a:extLst>
              <a:ext uri="{FF2B5EF4-FFF2-40B4-BE49-F238E27FC236}">
                <a16:creationId xmlns:a16="http://schemas.microsoft.com/office/drawing/2014/main" id="{BC6C22AF-2766-1943-BD3B-CAC7E49ED964}"/>
              </a:ext>
            </a:extLst>
          </p:cNvPr>
          <p:cNvSpPr/>
          <p:nvPr/>
        </p:nvSpPr>
        <p:spPr>
          <a:xfrm>
            <a:off x="3122052" y="1526702"/>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sp>
        <p:nvSpPr>
          <p:cNvPr id="6" name="Rectangle 5">
            <a:extLst>
              <a:ext uri="{FF2B5EF4-FFF2-40B4-BE49-F238E27FC236}">
                <a16:creationId xmlns:a16="http://schemas.microsoft.com/office/drawing/2014/main" id="{34B788BC-25B7-0240-8F07-76937B03BB35}"/>
              </a:ext>
            </a:extLst>
          </p:cNvPr>
          <p:cNvSpPr/>
          <p:nvPr/>
        </p:nvSpPr>
        <p:spPr>
          <a:xfrm>
            <a:off x="3122052" y="2132593"/>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sp>
        <p:nvSpPr>
          <p:cNvPr id="7" name="Rectangle 6">
            <a:extLst>
              <a:ext uri="{FF2B5EF4-FFF2-40B4-BE49-F238E27FC236}">
                <a16:creationId xmlns:a16="http://schemas.microsoft.com/office/drawing/2014/main" id="{639FC3E1-4BC0-7941-8948-EF484ADA54D3}"/>
              </a:ext>
            </a:extLst>
          </p:cNvPr>
          <p:cNvSpPr/>
          <p:nvPr/>
        </p:nvSpPr>
        <p:spPr>
          <a:xfrm>
            <a:off x="3122052" y="2738485"/>
            <a:ext cx="540000" cy="54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7B5C77E-4301-5649-B2E0-734E3AA0DA63}"/>
                  </a:ext>
                </a:extLst>
              </p:cNvPr>
              <p:cNvSpPr/>
              <p:nvPr/>
            </p:nvSpPr>
            <p:spPr>
              <a:xfrm>
                <a:off x="4468761" y="927485"/>
                <a:ext cx="1870074" cy="5091277"/>
              </a:xfrm>
              <a:prstGeom prst="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i="1" dirty="0">
                    <a:solidFill>
                      <a:schemeClr val="tx1"/>
                    </a:solidFill>
                    <a:latin typeface="Cambria Math" panose="02040503050406030204" pitchFamily="18" charset="0"/>
                    <a:ea typeface="Cambria Math" panose="02040503050406030204" pitchFamily="18" charset="0"/>
                  </a:rPr>
                  <a:t>U</a:t>
                </a:r>
              </a:p>
              <a:p>
                <a:pPr algn="ctr"/>
                <a14:m>
                  <m:oMathPara xmlns:m="http://schemas.openxmlformats.org/officeDocument/2006/math">
                    <m:oMathParaPr>
                      <m:jc m:val="centerGroup"/>
                    </m:oMathParaPr>
                    <m:oMath xmlns:m="http://schemas.openxmlformats.org/officeDocument/2006/math">
                      <m:sSup>
                        <m:sSupPr>
                          <m:ctrlPr>
                            <a:rPr lang="en-US" sz="2800" i="1" smtClean="0">
                              <a:solidFill>
                                <a:schemeClr val="tx1"/>
                              </a:solidFill>
                              <a:latin typeface="Cambria Math" panose="02040503050406030204" pitchFamily="18" charset="0"/>
                              <a:ea typeface="Cambria Math" panose="02040503050406030204" pitchFamily="18" charset="0"/>
                            </a:rPr>
                          </m:ctrlPr>
                        </m:sSupPr>
                        <m:e>
                          <m:r>
                            <a:rPr lang="en-US" sz="2800" i="1">
                              <a:solidFill>
                                <a:schemeClr val="tx1"/>
                              </a:solidFill>
                              <a:latin typeface="Cambria Math" panose="02040503050406030204" pitchFamily="18" charset="0"/>
                              <a:ea typeface="Cambria Math" panose="02040503050406030204" pitchFamily="18" charset="0"/>
                            </a:rPr>
                            <m:t>𝑎</m:t>
                          </m:r>
                        </m:e>
                        <m:sup>
                          <m:r>
                            <a:rPr lang="en-US" sz="2800" i="1">
                              <a:solidFill>
                                <a:schemeClr val="tx1"/>
                              </a:solidFill>
                              <a:latin typeface="Cambria Math" panose="02040503050406030204" pitchFamily="18" charset="0"/>
                              <a:ea typeface="Cambria Math" panose="02040503050406030204" pitchFamily="18" charset="0"/>
                            </a:rPr>
                            <m:t>𝑥</m:t>
                          </m:r>
                        </m:sup>
                      </m:sSup>
                      <m:r>
                        <a:rPr lang="en-US" sz="2800" b="0" i="1" smtClean="0">
                          <a:solidFill>
                            <a:schemeClr val="tx1"/>
                          </a:solidFill>
                          <a:latin typeface="Cambria Math" panose="02040503050406030204" pitchFamily="18" charset="0"/>
                          <a:ea typeface="Cambria Math" panose="02040503050406030204" pitchFamily="18" charset="0"/>
                        </a:rPr>
                        <m:t> </m:t>
                      </m:r>
                      <m:r>
                        <a:rPr lang="en-US" sz="2800" i="1">
                          <a:solidFill>
                            <a:schemeClr val="tx1"/>
                          </a:solidFill>
                          <a:latin typeface="Cambria Math" panose="02040503050406030204" pitchFamily="18" charset="0"/>
                          <a:ea typeface="Cambria Math" panose="02040503050406030204" pitchFamily="18" charset="0"/>
                        </a:rPr>
                        <m:t>𝑚𝑜𝑑</m:t>
                      </m:r>
                      <m:r>
                        <a:rPr lang="en-US" sz="2800" i="1">
                          <a:solidFill>
                            <a:schemeClr val="tx1"/>
                          </a:solidFill>
                          <a:latin typeface="Cambria Math" panose="02040503050406030204" pitchFamily="18" charset="0"/>
                          <a:ea typeface="Cambria Math" panose="02040503050406030204" pitchFamily="18" charset="0"/>
                        </a:rPr>
                        <m:t> </m:t>
                      </m:r>
                      <m:r>
                        <a:rPr lang="en-US" sz="2800" i="1">
                          <a:solidFill>
                            <a:schemeClr val="tx1"/>
                          </a:solidFill>
                          <a:latin typeface="Cambria Math" panose="02040503050406030204" pitchFamily="18" charset="0"/>
                          <a:ea typeface="Cambria Math" panose="02040503050406030204" pitchFamily="18" charset="0"/>
                        </a:rPr>
                        <m:t>𝑁</m:t>
                      </m:r>
                    </m:oMath>
                  </m:oMathPara>
                </a14:m>
                <a:endParaRPr lang="en-US" sz="2800" i="1" baseline="-25000" dirty="0">
                  <a:solidFill>
                    <a:schemeClr val="tx1"/>
                  </a:solidFill>
                  <a:latin typeface="Times" pitchFamily="2" charset="0"/>
                </a:endParaRPr>
              </a:p>
            </p:txBody>
          </p:sp>
        </mc:Choice>
        <mc:Fallback xmlns="">
          <p:sp>
            <p:nvSpPr>
              <p:cNvPr id="14" name="Rectangle 13">
                <a:extLst>
                  <a:ext uri="{FF2B5EF4-FFF2-40B4-BE49-F238E27FC236}">
                    <a16:creationId xmlns:a16="http://schemas.microsoft.com/office/drawing/2014/main" id="{D7B5C77E-4301-5649-B2E0-734E3AA0DA63}"/>
                  </a:ext>
                </a:extLst>
              </p:cNvPr>
              <p:cNvSpPr>
                <a:spLocks noRot="1" noChangeAspect="1" noMove="1" noResize="1" noEditPoints="1" noAdjustHandles="1" noChangeArrowheads="1" noChangeShapeType="1" noTextEdit="1"/>
              </p:cNvSpPr>
              <p:nvPr/>
            </p:nvSpPr>
            <p:spPr>
              <a:xfrm>
                <a:off x="4468761" y="927485"/>
                <a:ext cx="1870074" cy="5091277"/>
              </a:xfrm>
              <a:prstGeom prst="rect">
                <a:avLst/>
              </a:prstGeom>
              <a:blipFill>
                <a:blip r:embed="rId3"/>
                <a:stretch>
                  <a:fillRect/>
                </a:stretch>
              </a:blipFill>
              <a:ln>
                <a:solidFill>
                  <a:schemeClr val="bg1">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1CE64D13-60AF-6549-9600-0FF4D2B81ADE}"/>
                  </a:ext>
                </a:extLst>
              </p:cNvPr>
              <p:cNvSpPr/>
              <p:nvPr/>
            </p:nvSpPr>
            <p:spPr>
              <a:xfrm>
                <a:off x="2072748" y="945206"/>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21" name="Rectangle 20">
                <a:extLst>
                  <a:ext uri="{FF2B5EF4-FFF2-40B4-BE49-F238E27FC236}">
                    <a16:creationId xmlns:a16="http://schemas.microsoft.com/office/drawing/2014/main" id="{1CE64D13-60AF-6549-9600-0FF4D2B81ADE}"/>
                  </a:ext>
                </a:extLst>
              </p:cNvPr>
              <p:cNvSpPr>
                <a:spLocks noRot="1" noChangeAspect="1" noMove="1" noResize="1" noEditPoints="1" noAdjustHandles="1" noChangeArrowheads="1" noChangeShapeType="1" noTextEdit="1"/>
              </p:cNvSpPr>
              <p:nvPr/>
            </p:nvSpPr>
            <p:spPr>
              <a:xfrm>
                <a:off x="2072748" y="945206"/>
                <a:ext cx="631904" cy="461665"/>
              </a:xfrm>
              <a:prstGeom prst="rect">
                <a:avLst/>
              </a:prstGeom>
              <a:blipFill>
                <a:blip r:embed="rId4"/>
                <a:stretch>
                  <a:fillRect l="-25490" t="-121053" r="-4902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56CC67DF-10AB-2540-AE58-B7E10597845D}"/>
                  </a:ext>
                </a:extLst>
              </p:cNvPr>
              <p:cNvSpPr/>
              <p:nvPr/>
            </p:nvSpPr>
            <p:spPr>
              <a:xfrm>
                <a:off x="2070154" y="1555749"/>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22" name="Rectangle 21">
                <a:extLst>
                  <a:ext uri="{FF2B5EF4-FFF2-40B4-BE49-F238E27FC236}">
                    <a16:creationId xmlns:a16="http://schemas.microsoft.com/office/drawing/2014/main" id="{56CC67DF-10AB-2540-AE58-B7E10597845D}"/>
                  </a:ext>
                </a:extLst>
              </p:cNvPr>
              <p:cNvSpPr>
                <a:spLocks noRot="1" noChangeAspect="1" noMove="1" noResize="1" noEditPoints="1" noAdjustHandles="1" noChangeArrowheads="1" noChangeShapeType="1" noTextEdit="1"/>
              </p:cNvSpPr>
              <p:nvPr/>
            </p:nvSpPr>
            <p:spPr>
              <a:xfrm>
                <a:off x="2070154" y="1555749"/>
                <a:ext cx="631904" cy="461665"/>
              </a:xfrm>
              <a:prstGeom prst="rect">
                <a:avLst/>
              </a:prstGeom>
              <a:blipFill>
                <a:blip r:embed="rId5"/>
                <a:stretch>
                  <a:fillRect l="-25490" t="-121053" r="-4902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90FA8C9C-C56B-4D49-81E9-E95D174E14E5}"/>
                  </a:ext>
                </a:extLst>
              </p:cNvPr>
              <p:cNvSpPr/>
              <p:nvPr/>
            </p:nvSpPr>
            <p:spPr>
              <a:xfrm>
                <a:off x="2070154" y="2166292"/>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23" name="Rectangle 22">
                <a:extLst>
                  <a:ext uri="{FF2B5EF4-FFF2-40B4-BE49-F238E27FC236}">
                    <a16:creationId xmlns:a16="http://schemas.microsoft.com/office/drawing/2014/main" id="{90FA8C9C-C56B-4D49-81E9-E95D174E14E5}"/>
                  </a:ext>
                </a:extLst>
              </p:cNvPr>
              <p:cNvSpPr>
                <a:spLocks noRot="1" noChangeAspect="1" noMove="1" noResize="1" noEditPoints="1" noAdjustHandles="1" noChangeArrowheads="1" noChangeShapeType="1" noTextEdit="1"/>
              </p:cNvSpPr>
              <p:nvPr/>
            </p:nvSpPr>
            <p:spPr>
              <a:xfrm>
                <a:off x="2070154" y="2166292"/>
                <a:ext cx="631904" cy="461665"/>
              </a:xfrm>
              <a:prstGeom prst="rect">
                <a:avLst/>
              </a:prstGeom>
              <a:blipFill>
                <a:blip r:embed="rId6"/>
                <a:stretch>
                  <a:fillRect l="-25490" t="-127027"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51659FDF-E028-E348-80EE-A0F1FEBE2FFE}"/>
                  </a:ext>
                </a:extLst>
              </p:cNvPr>
              <p:cNvSpPr/>
              <p:nvPr/>
            </p:nvSpPr>
            <p:spPr>
              <a:xfrm>
                <a:off x="2082687" y="2776834"/>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24" name="Rectangle 23">
                <a:extLst>
                  <a:ext uri="{FF2B5EF4-FFF2-40B4-BE49-F238E27FC236}">
                    <a16:creationId xmlns:a16="http://schemas.microsoft.com/office/drawing/2014/main" id="{51659FDF-E028-E348-80EE-A0F1FEBE2FFE}"/>
                  </a:ext>
                </a:extLst>
              </p:cNvPr>
              <p:cNvSpPr>
                <a:spLocks noRot="1" noChangeAspect="1" noMove="1" noResize="1" noEditPoints="1" noAdjustHandles="1" noChangeArrowheads="1" noChangeShapeType="1" noTextEdit="1"/>
              </p:cNvSpPr>
              <p:nvPr/>
            </p:nvSpPr>
            <p:spPr>
              <a:xfrm>
                <a:off x="2082687" y="2776834"/>
                <a:ext cx="631904" cy="461665"/>
              </a:xfrm>
              <a:prstGeom prst="rect">
                <a:avLst/>
              </a:prstGeom>
              <a:blipFill>
                <a:blip r:embed="rId7"/>
                <a:stretch>
                  <a:fillRect l="-25490" t="-127027"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88D7BC4E-7559-944C-BC9D-1ECD4D4825D7}"/>
                  </a:ext>
                </a:extLst>
              </p:cNvPr>
              <p:cNvSpPr/>
              <p:nvPr/>
            </p:nvSpPr>
            <p:spPr>
              <a:xfrm>
                <a:off x="2047682" y="3683532"/>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41" name="Rectangle 40">
                <a:extLst>
                  <a:ext uri="{FF2B5EF4-FFF2-40B4-BE49-F238E27FC236}">
                    <a16:creationId xmlns:a16="http://schemas.microsoft.com/office/drawing/2014/main" id="{88D7BC4E-7559-944C-BC9D-1ECD4D4825D7}"/>
                  </a:ext>
                </a:extLst>
              </p:cNvPr>
              <p:cNvSpPr>
                <a:spLocks noRot="1" noChangeAspect="1" noMove="1" noResize="1" noEditPoints="1" noAdjustHandles="1" noChangeArrowheads="1" noChangeShapeType="1" noTextEdit="1"/>
              </p:cNvSpPr>
              <p:nvPr/>
            </p:nvSpPr>
            <p:spPr>
              <a:xfrm>
                <a:off x="2047682" y="3683532"/>
                <a:ext cx="631904" cy="461665"/>
              </a:xfrm>
              <a:prstGeom prst="rect">
                <a:avLst/>
              </a:prstGeom>
              <a:blipFill>
                <a:blip r:embed="rId8"/>
                <a:stretch>
                  <a:fillRect l="-25490"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29AE39E6-EF74-7C40-BE9E-8D5D3C10910F}"/>
                  </a:ext>
                </a:extLst>
              </p:cNvPr>
              <p:cNvSpPr/>
              <p:nvPr/>
            </p:nvSpPr>
            <p:spPr>
              <a:xfrm>
                <a:off x="2045088" y="4294075"/>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42" name="Rectangle 41">
                <a:extLst>
                  <a:ext uri="{FF2B5EF4-FFF2-40B4-BE49-F238E27FC236}">
                    <a16:creationId xmlns:a16="http://schemas.microsoft.com/office/drawing/2014/main" id="{29AE39E6-EF74-7C40-BE9E-8D5D3C10910F}"/>
                  </a:ext>
                </a:extLst>
              </p:cNvPr>
              <p:cNvSpPr>
                <a:spLocks noRot="1" noChangeAspect="1" noMove="1" noResize="1" noEditPoints="1" noAdjustHandles="1" noChangeArrowheads="1" noChangeShapeType="1" noTextEdit="1"/>
              </p:cNvSpPr>
              <p:nvPr/>
            </p:nvSpPr>
            <p:spPr>
              <a:xfrm>
                <a:off x="2045088" y="4294075"/>
                <a:ext cx="631904" cy="461665"/>
              </a:xfrm>
              <a:prstGeom prst="rect">
                <a:avLst/>
              </a:prstGeom>
              <a:blipFill>
                <a:blip r:embed="rId9"/>
                <a:stretch>
                  <a:fillRect l="-25490"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CD8BB020-8357-D346-8366-D52DDD1EE595}"/>
                  </a:ext>
                </a:extLst>
              </p:cNvPr>
              <p:cNvSpPr/>
              <p:nvPr/>
            </p:nvSpPr>
            <p:spPr>
              <a:xfrm>
                <a:off x="2045088" y="4904618"/>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43" name="Rectangle 42">
                <a:extLst>
                  <a:ext uri="{FF2B5EF4-FFF2-40B4-BE49-F238E27FC236}">
                    <a16:creationId xmlns:a16="http://schemas.microsoft.com/office/drawing/2014/main" id="{CD8BB020-8357-D346-8366-D52DDD1EE595}"/>
                  </a:ext>
                </a:extLst>
              </p:cNvPr>
              <p:cNvSpPr>
                <a:spLocks noRot="1" noChangeAspect="1" noMove="1" noResize="1" noEditPoints="1" noAdjustHandles="1" noChangeArrowheads="1" noChangeShapeType="1" noTextEdit="1"/>
              </p:cNvSpPr>
              <p:nvPr/>
            </p:nvSpPr>
            <p:spPr>
              <a:xfrm>
                <a:off x="2045088" y="4904618"/>
                <a:ext cx="631904" cy="461665"/>
              </a:xfrm>
              <a:prstGeom prst="rect">
                <a:avLst/>
              </a:prstGeom>
              <a:blipFill>
                <a:blip r:embed="rId9"/>
                <a:stretch>
                  <a:fillRect l="-25490" t="-121053" r="-49020" b="-184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F60F187E-5D79-AE44-8F38-5A738CE2BC68}"/>
                  </a:ext>
                </a:extLst>
              </p:cNvPr>
              <p:cNvSpPr/>
              <p:nvPr/>
            </p:nvSpPr>
            <p:spPr>
              <a:xfrm>
                <a:off x="2057621" y="5515160"/>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44" name="Rectangle 43">
                <a:extLst>
                  <a:ext uri="{FF2B5EF4-FFF2-40B4-BE49-F238E27FC236}">
                    <a16:creationId xmlns:a16="http://schemas.microsoft.com/office/drawing/2014/main" id="{F60F187E-5D79-AE44-8F38-5A738CE2BC68}"/>
                  </a:ext>
                </a:extLst>
              </p:cNvPr>
              <p:cNvSpPr>
                <a:spLocks noRot="1" noChangeAspect="1" noMove="1" noResize="1" noEditPoints="1" noAdjustHandles="1" noChangeArrowheads="1" noChangeShapeType="1" noTextEdit="1"/>
              </p:cNvSpPr>
              <p:nvPr/>
            </p:nvSpPr>
            <p:spPr>
              <a:xfrm>
                <a:off x="2057621" y="5515160"/>
                <a:ext cx="631904" cy="461665"/>
              </a:xfrm>
              <a:prstGeom prst="rect">
                <a:avLst/>
              </a:prstGeom>
              <a:blipFill>
                <a:blip r:embed="rId9"/>
                <a:stretch>
                  <a:fillRect l="-25490" t="-121053" r="-49020" b="-184211"/>
                </a:stretch>
              </a:blipFill>
            </p:spPr>
            <p:txBody>
              <a:bodyPr/>
              <a:lstStyle/>
              <a:p>
                <a:r>
                  <a:rPr lang="en-US">
                    <a:noFill/>
                  </a:rPr>
                  <a:t> </a:t>
                </a:r>
              </a:p>
            </p:txBody>
          </p:sp>
        </mc:Fallback>
      </mc:AlternateContent>
      <p:grpSp>
        <p:nvGrpSpPr>
          <p:cNvPr id="48" name="Group 47">
            <a:extLst>
              <a:ext uri="{FF2B5EF4-FFF2-40B4-BE49-F238E27FC236}">
                <a16:creationId xmlns:a16="http://schemas.microsoft.com/office/drawing/2014/main" id="{39641202-3D12-D84B-8DF1-3A7FC1AD7130}"/>
              </a:ext>
            </a:extLst>
          </p:cNvPr>
          <p:cNvGrpSpPr/>
          <p:nvPr/>
        </p:nvGrpSpPr>
        <p:grpSpPr>
          <a:xfrm>
            <a:off x="7358165" y="3658690"/>
            <a:ext cx="525791" cy="2360072"/>
            <a:chOff x="5220564" y="4274052"/>
            <a:chExt cx="525791" cy="2360072"/>
          </a:xfrm>
        </p:grpSpPr>
        <p:pic>
          <p:nvPicPr>
            <p:cNvPr id="33" name="Picture 32">
              <a:extLst>
                <a:ext uri="{FF2B5EF4-FFF2-40B4-BE49-F238E27FC236}">
                  <a16:creationId xmlns:a16="http://schemas.microsoft.com/office/drawing/2014/main" id="{A81CE50B-DD46-2A43-822B-11DE9322CA6F}"/>
                </a:ext>
              </a:extLst>
            </p:cNvPr>
            <p:cNvPicPr>
              <a:picLocks noChangeAspect="1"/>
            </p:cNvPicPr>
            <p:nvPr/>
          </p:nvPicPr>
          <p:blipFill>
            <a:blip r:embed="rId10"/>
            <a:stretch>
              <a:fillRect/>
            </a:stretch>
          </p:blipFill>
          <p:spPr>
            <a:xfrm>
              <a:off x="5220564" y="4274052"/>
              <a:ext cx="525789" cy="540000"/>
            </a:xfrm>
            <a:prstGeom prst="rect">
              <a:avLst/>
            </a:prstGeom>
          </p:spPr>
        </p:pic>
        <p:pic>
          <p:nvPicPr>
            <p:cNvPr id="34" name="Picture 33">
              <a:extLst>
                <a:ext uri="{FF2B5EF4-FFF2-40B4-BE49-F238E27FC236}">
                  <a16:creationId xmlns:a16="http://schemas.microsoft.com/office/drawing/2014/main" id="{519D7DBF-BC2F-D54E-A051-16F0511D350C}"/>
                </a:ext>
              </a:extLst>
            </p:cNvPr>
            <p:cNvPicPr>
              <a:picLocks noChangeAspect="1"/>
            </p:cNvPicPr>
            <p:nvPr/>
          </p:nvPicPr>
          <p:blipFill>
            <a:blip r:embed="rId10"/>
            <a:stretch>
              <a:fillRect/>
            </a:stretch>
          </p:blipFill>
          <p:spPr>
            <a:xfrm>
              <a:off x="5220565" y="6094124"/>
              <a:ext cx="525789" cy="540000"/>
            </a:xfrm>
            <a:prstGeom prst="rect">
              <a:avLst/>
            </a:prstGeom>
          </p:spPr>
        </p:pic>
        <p:pic>
          <p:nvPicPr>
            <p:cNvPr id="45" name="Picture 44">
              <a:extLst>
                <a:ext uri="{FF2B5EF4-FFF2-40B4-BE49-F238E27FC236}">
                  <a16:creationId xmlns:a16="http://schemas.microsoft.com/office/drawing/2014/main" id="{31096C8E-3173-9049-A42A-1728A1387CC4}"/>
                </a:ext>
              </a:extLst>
            </p:cNvPr>
            <p:cNvPicPr>
              <a:picLocks noChangeAspect="1"/>
            </p:cNvPicPr>
            <p:nvPr/>
          </p:nvPicPr>
          <p:blipFill>
            <a:blip r:embed="rId10"/>
            <a:stretch>
              <a:fillRect/>
            </a:stretch>
          </p:blipFill>
          <p:spPr>
            <a:xfrm>
              <a:off x="5220566" y="4880743"/>
              <a:ext cx="525789" cy="540000"/>
            </a:xfrm>
            <a:prstGeom prst="rect">
              <a:avLst/>
            </a:prstGeom>
          </p:spPr>
        </p:pic>
        <p:pic>
          <p:nvPicPr>
            <p:cNvPr id="46" name="Picture 45">
              <a:extLst>
                <a:ext uri="{FF2B5EF4-FFF2-40B4-BE49-F238E27FC236}">
                  <a16:creationId xmlns:a16="http://schemas.microsoft.com/office/drawing/2014/main" id="{881FED23-A69B-6442-B1FC-DDD5A9EBDDF4}"/>
                </a:ext>
              </a:extLst>
            </p:cNvPr>
            <p:cNvPicPr>
              <a:picLocks noChangeAspect="1"/>
            </p:cNvPicPr>
            <p:nvPr/>
          </p:nvPicPr>
          <p:blipFill>
            <a:blip r:embed="rId10"/>
            <a:stretch>
              <a:fillRect/>
            </a:stretch>
          </p:blipFill>
          <p:spPr>
            <a:xfrm>
              <a:off x="5220566" y="5487434"/>
              <a:ext cx="525789" cy="540000"/>
            </a:xfrm>
            <a:prstGeom prst="rect">
              <a:avLst/>
            </a:prstGeom>
          </p:spPr>
        </p:pic>
      </p:gr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A0B12288-0E05-A548-8CD4-1DD4BE7FED12}"/>
                  </a:ext>
                </a:extLst>
              </p:cNvPr>
              <p:cNvSpPr/>
              <p:nvPr/>
            </p:nvSpPr>
            <p:spPr>
              <a:xfrm>
                <a:off x="7323895" y="931298"/>
                <a:ext cx="1280215" cy="2327654"/>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QFT</a:t>
                </a:r>
                <a14:m>
                  <m:oMath xmlns:m="http://schemas.openxmlformats.org/officeDocument/2006/math">
                    <m:r>
                      <a:rPr lang="en-US" sz="2800" b="0" i="1" baseline="30000" smtClean="0">
                        <a:solidFill>
                          <a:schemeClr val="tx1"/>
                        </a:solidFill>
                        <a:latin typeface="Cambria Math" panose="02040503050406030204" pitchFamily="18" charset="0"/>
                        <a:ea typeface="Cambria Math" panose="02040503050406030204" pitchFamily="18" charset="0"/>
                      </a:rPr>
                      <m:t>†</m:t>
                    </m:r>
                  </m:oMath>
                </a14:m>
                <a:endParaRPr lang="en-US" sz="2800" baseline="30000" dirty="0">
                  <a:solidFill>
                    <a:schemeClr val="tx1"/>
                  </a:solidFill>
                </a:endParaRPr>
              </a:p>
            </p:txBody>
          </p:sp>
        </mc:Choice>
        <mc:Fallback xmlns="">
          <p:sp>
            <p:nvSpPr>
              <p:cNvPr id="47" name="Rectangle 46">
                <a:extLst>
                  <a:ext uri="{FF2B5EF4-FFF2-40B4-BE49-F238E27FC236}">
                    <a16:creationId xmlns:a16="http://schemas.microsoft.com/office/drawing/2014/main" id="{A0B12288-0E05-A548-8CD4-1DD4BE7FED12}"/>
                  </a:ext>
                </a:extLst>
              </p:cNvPr>
              <p:cNvSpPr>
                <a:spLocks noRot="1" noChangeAspect="1" noMove="1" noResize="1" noEditPoints="1" noAdjustHandles="1" noChangeArrowheads="1" noChangeShapeType="1" noTextEdit="1"/>
              </p:cNvSpPr>
              <p:nvPr/>
            </p:nvSpPr>
            <p:spPr>
              <a:xfrm>
                <a:off x="7323895" y="931298"/>
                <a:ext cx="1280215" cy="2327654"/>
              </a:xfrm>
              <a:prstGeom prst="rect">
                <a:avLst/>
              </a:prstGeom>
              <a:blipFill>
                <a:blip r:embed="rId11"/>
                <a:stretch>
                  <a:fillRect/>
                </a:stretch>
              </a:blipFill>
              <a:ln>
                <a:solidFill>
                  <a:schemeClr val="bg1">
                    <a:lumMod val="50000"/>
                  </a:schemeClr>
                </a:solidFill>
              </a:ln>
            </p:spPr>
            <p:txBody>
              <a:bodyPr/>
              <a:lstStyle/>
              <a:p>
                <a:r>
                  <a:rPr lang="en-US">
                    <a:noFill/>
                  </a:rPr>
                  <a:t> </a:t>
                </a:r>
              </a:p>
            </p:txBody>
          </p:sp>
        </mc:Fallback>
      </mc:AlternateContent>
      <p:grpSp>
        <p:nvGrpSpPr>
          <p:cNvPr id="49" name="Group 48">
            <a:extLst>
              <a:ext uri="{FF2B5EF4-FFF2-40B4-BE49-F238E27FC236}">
                <a16:creationId xmlns:a16="http://schemas.microsoft.com/office/drawing/2014/main" id="{2205A924-175C-EB4B-AC13-01F0EB7C2F66}"/>
              </a:ext>
            </a:extLst>
          </p:cNvPr>
          <p:cNvGrpSpPr/>
          <p:nvPr/>
        </p:nvGrpSpPr>
        <p:grpSpPr>
          <a:xfrm>
            <a:off x="9672305" y="937423"/>
            <a:ext cx="525791" cy="2360072"/>
            <a:chOff x="5220564" y="4274052"/>
            <a:chExt cx="525791" cy="2360072"/>
          </a:xfrm>
        </p:grpSpPr>
        <p:pic>
          <p:nvPicPr>
            <p:cNvPr id="50" name="Picture 49">
              <a:extLst>
                <a:ext uri="{FF2B5EF4-FFF2-40B4-BE49-F238E27FC236}">
                  <a16:creationId xmlns:a16="http://schemas.microsoft.com/office/drawing/2014/main" id="{8FFCFC89-9139-7249-9680-7766BD1233B0}"/>
                </a:ext>
              </a:extLst>
            </p:cNvPr>
            <p:cNvPicPr>
              <a:picLocks noChangeAspect="1"/>
            </p:cNvPicPr>
            <p:nvPr/>
          </p:nvPicPr>
          <p:blipFill>
            <a:blip r:embed="rId10"/>
            <a:stretch>
              <a:fillRect/>
            </a:stretch>
          </p:blipFill>
          <p:spPr>
            <a:xfrm>
              <a:off x="5220564" y="4274052"/>
              <a:ext cx="525789" cy="540000"/>
            </a:xfrm>
            <a:prstGeom prst="rect">
              <a:avLst/>
            </a:prstGeom>
          </p:spPr>
        </p:pic>
        <p:pic>
          <p:nvPicPr>
            <p:cNvPr id="51" name="Picture 50">
              <a:extLst>
                <a:ext uri="{FF2B5EF4-FFF2-40B4-BE49-F238E27FC236}">
                  <a16:creationId xmlns:a16="http://schemas.microsoft.com/office/drawing/2014/main" id="{1E43E158-A14A-9942-86DE-0CAFF90BB080}"/>
                </a:ext>
              </a:extLst>
            </p:cNvPr>
            <p:cNvPicPr>
              <a:picLocks noChangeAspect="1"/>
            </p:cNvPicPr>
            <p:nvPr/>
          </p:nvPicPr>
          <p:blipFill>
            <a:blip r:embed="rId10"/>
            <a:stretch>
              <a:fillRect/>
            </a:stretch>
          </p:blipFill>
          <p:spPr>
            <a:xfrm>
              <a:off x="5220565" y="6094124"/>
              <a:ext cx="525789" cy="540000"/>
            </a:xfrm>
            <a:prstGeom prst="rect">
              <a:avLst/>
            </a:prstGeom>
          </p:spPr>
        </p:pic>
        <p:pic>
          <p:nvPicPr>
            <p:cNvPr id="52" name="Picture 51">
              <a:extLst>
                <a:ext uri="{FF2B5EF4-FFF2-40B4-BE49-F238E27FC236}">
                  <a16:creationId xmlns:a16="http://schemas.microsoft.com/office/drawing/2014/main" id="{50C7428F-F1EB-E84B-9046-6303CE282443}"/>
                </a:ext>
              </a:extLst>
            </p:cNvPr>
            <p:cNvPicPr>
              <a:picLocks noChangeAspect="1"/>
            </p:cNvPicPr>
            <p:nvPr/>
          </p:nvPicPr>
          <p:blipFill>
            <a:blip r:embed="rId10"/>
            <a:stretch>
              <a:fillRect/>
            </a:stretch>
          </p:blipFill>
          <p:spPr>
            <a:xfrm>
              <a:off x="5220566" y="4880743"/>
              <a:ext cx="525789" cy="540000"/>
            </a:xfrm>
            <a:prstGeom prst="rect">
              <a:avLst/>
            </a:prstGeom>
          </p:spPr>
        </p:pic>
        <p:pic>
          <p:nvPicPr>
            <p:cNvPr id="53" name="Picture 52">
              <a:extLst>
                <a:ext uri="{FF2B5EF4-FFF2-40B4-BE49-F238E27FC236}">
                  <a16:creationId xmlns:a16="http://schemas.microsoft.com/office/drawing/2014/main" id="{60CC4C8E-0402-F34C-B221-FC5463A6E30F}"/>
                </a:ext>
              </a:extLst>
            </p:cNvPr>
            <p:cNvPicPr>
              <a:picLocks noChangeAspect="1"/>
            </p:cNvPicPr>
            <p:nvPr/>
          </p:nvPicPr>
          <p:blipFill>
            <a:blip r:embed="rId10"/>
            <a:stretch>
              <a:fillRect/>
            </a:stretch>
          </p:blipFill>
          <p:spPr>
            <a:xfrm>
              <a:off x="5220566" y="5487434"/>
              <a:ext cx="525789" cy="540000"/>
            </a:xfrm>
            <a:prstGeom prst="rect">
              <a:avLst/>
            </a:prstGeom>
          </p:spPr>
        </p:pic>
      </p:grp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18BE193E-DE0B-7549-B9DD-39450C0C84A5}"/>
                  </a:ext>
                </a:extLst>
              </p:cNvPr>
              <p:cNvSpPr/>
              <p:nvPr/>
            </p:nvSpPr>
            <p:spPr>
              <a:xfrm>
                <a:off x="1067978" y="1833515"/>
                <a:ext cx="46807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𝑥</m:t>
                      </m:r>
                    </m:oMath>
                  </m:oMathPara>
                </a14:m>
                <a:endParaRPr lang="en-US" sz="2800" dirty="0"/>
              </a:p>
            </p:txBody>
          </p:sp>
        </mc:Choice>
        <mc:Fallback xmlns="">
          <p:sp>
            <p:nvSpPr>
              <p:cNvPr id="59" name="Rectangle 58">
                <a:extLst>
                  <a:ext uri="{FF2B5EF4-FFF2-40B4-BE49-F238E27FC236}">
                    <a16:creationId xmlns:a16="http://schemas.microsoft.com/office/drawing/2014/main" id="{18BE193E-DE0B-7549-B9DD-39450C0C84A5}"/>
                  </a:ext>
                </a:extLst>
              </p:cNvPr>
              <p:cNvSpPr>
                <a:spLocks noRot="1" noChangeAspect="1" noMove="1" noResize="1" noEditPoints="1" noAdjustHandles="1" noChangeArrowheads="1" noChangeShapeType="1" noTextEdit="1"/>
              </p:cNvSpPr>
              <p:nvPr/>
            </p:nvSpPr>
            <p:spPr>
              <a:xfrm>
                <a:off x="1067978" y="1833515"/>
                <a:ext cx="468077"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602F08D9-2B77-074F-B119-CCAACCF8FF8D}"/>
                  </a:ext>
                </a:extLst>
              </p:cNvPr>
              <p:cNvSpPr/>
              <p:nvPr/>
            </p:nvSpPr>
            <p:spPr>
              <a:xfrm>
                <a:off x="1060029" y="4534458"/>
                <a:ext cx="47295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𝑦</m:t>
                      </m:r>
                    </m:oMath>
                  </m:oMathPara>
                </a14:m>
                <a:endParaRPr lang="en-US" sz="2800" dirty="0"/>
              </a:p>
            </p:txBody>
          </p:sp>
        </mc:Choice>
        <mc:Fallback xmlns="">
          <p:sp>
            <p:nvSpPr>
              <p:cNvPr id="60" name="Rectangle 59">
                <a:extLst>
                  <a:ext uri="{FF2B5EF4-FFF2-40B4-BE49-F238E27FC236}">
                    <a16:creationId xmlns:a16="http://schemas.microsoft.com/office/drawing/2014/main" id="{602F08D9-2B77-074F-B119-CCAACCF8FF8D}"/>
                  </a:ext>
                </a:extLst>
              </p:cNvPr>
              <p:cNvSpPr>
                <a:spLocks noRot="1" noChangeAspect="1" noMove="1" noResize="1" noEditPoints="1" noAdjustHandles="1" noChangeArrowheads="1" noChangeShapeType="1" noTextEdit="1"/>
              </p:cNvSpPr>
              <p:nvPr/>
            </p:nvSpPr>
            <p:spPr>
              <a:xfrm>
                <a:off x="1060029" y="4534458"/>
                <a:ext cx="472950" cy="523220"/>
              </a:xfrm>
              <a:prstGeom prst="rect">
                <a:avLst/>
              </a:prstGeom>
              <a:blipFill>
                <a:blip r:embed="rId13"/>
                <a:stretch>
                  <a:fillRect b="-9524"/>
                </a:stretch>
              </a:blipFill>
            </p:spPr>
            <p:txBody>
              <a:bodyPr/>
              <a:lstStyle/>
              <a:p>
                <a:r>
                  <a:rPr lang="en-US">
                    <a:noFill/>
                  </a:rPr>
                  <a:t> </a:t>
                </a:r>
              </a:p>
            </p:txBody>
          </p:sp>
        </mc:Fallback>
      </mc:AlternateContent>
      <p:sp>
        <p:nvSpPr>
          <p:cNvPr id="61" name="Left Brace 60">
            <a:extLst>
              <a:ext uri="{FF2B5EF4-FFF2-40B4-BE49-F238E27FC236}">
                <a16:creationId xmlns:a16="http://schemas.microsoft.com/office/drawing/2014/main" id="{5CA1C5A1-BDA5-AC4C-A95E-ECB31FD61E1B}"/>
              </a:ext>
            </a:extLst>
          </p:cNvPr>
          <p:cNvSpPr/>
          <p:nvPr/>
        </p:nvSpPr>
        <p:spPr>
          <a:xfrm>
            <a:off x="1668911" y="1186888"/>
            <a:ext cx="340490" cy="1851457"/>
          </a:xfrm>
          <a:prstGeom prst="leftBrace">
            <a:avLst>
              <a:gd name="adj1" fmla="val 4276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2" name="Left Brace 61">
            <a:extLst>
              <a:ext uri="{FF2B5EF4-FFF2-40B4-BE49-F238E27FC236}">
                <a16:creationId xmlns:a16="http://schemas.microsoft.com/office/drawing/2014/main" id="{9E8A01B1-6861-0F47-932D-78462DB7238D}"/>
              </a:ext>
            </a:extLst>
          </p:cNvPr>
          <p:cNvSpPr/>
          <p:nvPr/>
        </p:nvSpPr>
        <p:spPr>
          <a:xfrm>
            <a:off x="1656378" y="3890673"/>
            <a:ext cx="340490" cy="1851457"/>
          </a:xfrm>
          <a:prstGeom prst="leftBrace">
            <a:avLst>
              <a:gd name="adj1" fmla="val 4276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1EA274B2-E9FB-3948-9E5E-9AB501D623DF}"/>
                  </a:ext>
                </a:extLst>
              </p:cNvPr>
              <p:cNvSpPr/>
              <p:nvPr/>
            </p:nvSpPr>
            <p:spPr>
              <a:xfrm>
                <a:off x="3549669" y="6234915"/>
                <a:ext cx="35191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e>
                      </m:d>
                      <m:d>
                        <m:dPr>
                          <m:begChr m:val=""/>
                          <m:endChr m:val="⟩"/>
                          <m:ctrlPr>
                            <a:rPr lang="en-US" sz="2400" i="1">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𝑦</m:t>
                          </m:r>
                        </m:e>
                      </m:d>
                      <m:r>
                        <a:rPr lang="en-US" sz="240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 </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𝑎</m:t>
                              </m:r>
                            </m:e>
                            <m:sup>
                              <m:r>
                                <a:rPr lang="en-US" sz="2400" i="1">
                                  <a:latin typeface="Cambria Math" panose="02040503050406030204" pitchFamily="18" charset="0"/>
                                  <a:ea typeface="Cambria Math" panose="02040503050406030204" pitchFamily="18" charset="0"/>
                                </a:rPr>
                                <m:t>𝑥</m:t>
                              </m:r>
                            </m:sup>
                          </m:sSup>
                          <m:r>
                            <a:rPr lang="en-US" sz="2400" b="0" i="1" smtClean="0">
                              <a:latin typeface="Cambria Math" panose="02040503050406030204" pitchFamily="18" charset="0"/>
                              <a:ea typeface="Cambria Math" panose="02040503050406030204" pitchFamily="18" charset="0"/>
                            </a:rPr>
                            <m:t> </m:t>
                          </m:r>
                          <m:r>
                            <m:rPr>
                              <m:sty m:val="p"/>
                            </m:rPr>
                            <a:rPr lang="en-US" sz="2400" i="0">
                              <a:latin typeface="Cambria Math" panose="02040503050406030204" pitchFamily="18" charset="0"/>
                              <a:ea typeface="Cambria Math" panose="02040503050406030204" pitchFamily="18" charset="0"/>
                            </a:rPr>
                            <m:t>mod</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𝑁</m:t>
                          </m:r>
                        </m:e>
                      </m:d>
                    </m:oMath>
                  </m:oMathPara>
                </a14:m>
                <a:endParaRPr lang="en-US" sz="2400" dirty="0"/>
              </a:p>
            </p:txBody>
          </p:sp>
        </mc:Choice>
        <mc:Fallback xmlns="">
          <p:sp>
            <p:nvSpPr>
              <p:cNvPr id="81" name="Rectangle 80">
                <a:extLst>
                  <a:ext uri="{FF2B5EF4-FFF2-40B4-BE49-F238E27FC236}">
                    <a16:creationId xmlns:a16="http://schemas.microsoft.com/office/drawing/2014/main" id="{1EA274B2-E9FB-3948-9E5E-9AB501D623DF}"/>
                  </a:ext>
                </a:extLst>
              </p:cNvPr>
              <p:cNvSpPr>
                <a:spLocks noRot="1" noChangeAspect="1" noMove="1" noResize="1" noEditPoints="1" noAdjustHandles="1" noChangeArrowheads="1" noChangeShapeType="1" noTextEdit="1"/>
              </p:cNvSpPr>
              <p:nvPr/>
            </p:nvSpPr>
            <p:spPr>
              <a:xfrm>
                <a:off x="3549669" y="6234915"/>
                <a:ext cx="3519105" cy="461665"/>
              </a:xfrm>
              <a:prstGeom prst="rect">
                <a:avLst/>
              </a:prstGeom>
              <a:blipFill>
                <a:blip r:embed="rId14"/>
                <a:stretch>
                  <a:fillRect l="-3957" t="-124324" r="-8273" b="-191892"/>
                </a:stretch>
              </a:blipFill>
            </p:spPr>
            <p:txBody>
              <a:bodyPr/>
              <a:lstStyle/>
              <a:p>
                <a:r>
                  <a:rPr lang="en-US">
                    <a:noFill/>
                  </a:rPr>
                  <a:t> </a:t>
                </a:r>
              </a:p>
            </p:txBody>
          </p:sp>
        </mc:Fallback>
      </mc:AlternateContent>
    </p:spTree>
    <p:extLst>
      <p:ext uri="{BB962C8B-B14F-4D97-AF65-F5344CB8AC3E}">
        <p14:creationId xmlns:p14="http://schemas.microsoft.com/office/powerpoint/2010/main" val="30408938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87066B3-3626-FA41-9AEE-3B3F2E4FD28B}"/>
              </a:ext>
            </a:extLst>
          </p:cNvPr>
          <p:cNvPicPr>
            <a:picLocks noChangeAspect="1"/>
          </p:cNvPicPr>
          <p:nvPr/>
        </p:nvPicPr>
        <p:blipFill>
          <a:blip r:embed="rId3"/>
          <a:stretch>
            <a:fillRect/>
          </a:stretch>
        </p:blipFill>
        <p:spPr>
          <a:xfrm>
            <a:off x="156634" y="137583"/>
            <a:ext cx="2817891" cy="1800000"/>
          </a:xfrm>
          <a:prstGeom prst="rect">
            <a:avLst/>
          </a:prstGeom>
        </p:spPr>
      </p:pic>
      <p:cxnSp>
        <p:nvCxnSpPr>
          <p:cNvPr id="11" name="Straight Connector 10">
            <a:extLst>
              <a:ext uri="{FF2B5EF4-FFF2-40B4-BE49-F238E27FC236}">
                <a16:creationId xmlns:a16="http://schemas.microsoft.com/office/drawing/2014/main" id="{1A22F0F6-73DD-0E4D-829F-8BFFE3AA5F61}"/>
              </a:ext>
            </a:extLst>
          </p:cNvPr>
          <p:cNvCxnSpPr>
            <a:cxnSpLocks/>
            <a:endCxn id="13" idx="0"/>
          </p:cNvCxnSpPr>
          <p:nvPr/>
        </p:nvCxnSpPr>
        <p:spPr>
          <a:xfrm>
            <a:off x="369277" y="137583"/>
            <a:ext cx="0" cy="1761555"/>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F06CEBD-7172-114A-BBE1-F240B09FA113}"/>
              </a:ext>
            </a:extLst>
          </p:cNvPr>
          <p:cNvSpPr txBox="1"/>
          <p:nvPr/>
        </p:nvSpPr>
        <p:spPr>
          <a:xfrm>
            <a:off x="218434" y="1899138"/>
            <a:ext cx="301686" cy="369332"/>
          </a:xfrm>
          <a:prstGeom prst="rect">
            <a:avLst/>
          </a:prstGeom>
          <a:noFill/>
        </p:spPr>
        <p:txBody>
          <a:bodyPr wrap="none" rtlCol="0">
            <a:spAutoFit/>
          </a:bodyPr>
          <a:lstStyle/>
          <a:p>
            <a:r>
              <a:rPr lang="en-US" dirty="0">
                <a:solidFill>
                  <a:srgbClr val="FF0000"/>
                </a:solidFill>
              </a:rPr>
              <a:t>0</a:t>
            </a:r>
          </a:p>
        </p:txBody>
      </p:sp>
      <p:sp>
        <p:nvSpPr>
          <p:cNvPr id="16" name="TextBox 15">
            <a:extLst>
              <a:ext uri="{FF2B5EF4-FFF2-40B4-BE49-F238E27FC236}">
                <a16:creationId xmlns:a16="http://schemas.microsoft.com/office/drawing/2014/main" id="{00D306EF-A951-6840-90DA-2FECEB6EDE49}"/>
              </a:ext>
            </a:extLst>
          </p:cNvPr>
          <p:cNvSpPr txBox="1"/>
          <p:nvPr/>
        </p:nvSpPr>
        <p:spPr>
          <a:xfrm>
            <a:off x="3363246" y="573775"/>
            <a:ext cx="2135841" cy="523220"/>
          </a:xfrm>
          <a:prstGeom prst="rect">
            <a:avLst/>
          </a:prstGeom>
          <a:solidFill>
            <a:schemeClr val="accent4">
              <a:lumMod val="20000"/>
              <a:lumOff val="80000"/>
            </a:schemeClr>
          </a:solidFill>
        </p:spPr>
        <p:txBody>
          <a:bodyPr wrap="none" rtlCol="0">
            <a:spAutoFit/>
          </a:bodyPr>
          <a:lstStyle/>
          <a:p>
            <a:r>
              <a:rPr lang="en-US" sz="2800" dirty="0">
                <a:solidFill>
                  <a:srgbClr val="0000FF"/>
                </a:solidFill>
              </a:rPr>
              <a:t>initialization</a:t>
            </a:r>
            <a:r>
              <a:rPr lang="en-US" sz="2800" dirty="0"/>
              <a:t>: </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BFAA07E0-CA79-364D-97DF-D813E1F70936}"/>
                  </a:ext>
                </a:extLst>
              </p:cNvPr>
              <p:cNvSpPr/>
              <p:nvPr/>
            </p:nvSpPr>
            <p:spPr>
              <a:xfrm>
                <a:off x="5362877" y="575166"/>
                <a:ext cx="3300519" cy="5314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𝑥</m:t>
                          </m:r>
                        </m:e>
                      </m:d>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e>
                      </m:d>
                      <m:r>
                        <a:rPr lang="en-US" sz="2800" b="0" i="1" smtClean="0">
                          <a:latin typeface="Cambria Math" panose="02040503050406030204" pitchFamily="18" charset="0"/>
                          <a:ea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0</m:t>
                              </m:r>
                            </m:e>
                          </m:d>
                        </m:e>
                        <m:sup>
                          <m:r>
                            <a:rPr lang="en-US" sz="2800" b="0" i="1" smtClean="0">
                              <a:latin typeface="Cambria Math" panose="02040503050406030204" pitchFamily="18" charset="0"/>
                              <a:ea typeface="Cambria Math" panose="02040503050406030204" pitchFamily="18" charset="0"/>
                            </a:rPr>
                            <m:t>⨂4</m:t>
                          </m:r>
                        </m:sup>
                      </m:sSup>
                      <m:sSup>
                        <m:sSupPr>
                          <m:ctrlPr>
                            <a:rPr lang="en-US" sz="2800" i="1">
                              <a:latin typeface="Cambria Math" panose="02040503050406030204" pitchFamily="18" charset="0"/>
                              <a:ea typeface="Cambria Math" panose="02040503050406030204" pitchFamily="18" charset="0"/>
                            </a:rPr>
                          </m:ctrlPr>
                        </m:sSupPr>
                        <m:e>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|0</m:t>
                              </m:r>
                            </m:e>
                          </m:d>
                        </m:e>
                        <m:sup>
                          <m:r>
                            <a:rPr lang="en-US" sz="2800" i="1">
                              <a:latin typeface="Cambria Math" panose="02040503050406030204" pitchFamily="18" charset="0"/>
                              <a:ea typeface="Cambria Math" panose="02040503050406030204" pitchFamily="18" charset="0"/>
                            </a:rPr>
                            <m:t>⨂4</m:t>
                          </m:r>
                        </m:sup>
                      </m:sSup>
                    </m:oMath>
                  </m:oMathPara>
                </a14:m>
                <a:endParaRPr lang="en-US" sz="2800" dirty="0"/>
              </a:p>
            </p:txBody>
          </p:sp>
        </mc:Choice>
        <mc:Fallback xmlns="">
          <p:sp>
            <p:nvSpPr>
              <p:cNvPr id="17" name="Rectangle 16">
                <a:extLst>
                  <a:ext uri="{FF2B5EF4-FFF2-40B4-BE49-F238E27FC236}">
                    <a16:creationId xmlns:a16="http://schemas.microsoft.com/office/drawing/2014/main" id="{BFAA07E0-CA79-364D-97DF-D813E1F70936}"/>
                  </a:ext>
                </a:extLst>
              </p:cNvPr>
              <p:cNvSpPr>
                <a:spLocks noRot="1" noChangeAspect="1" noMove="1" noResize="1" noEditPoints="1" noAdjustHandles="1" noChangeArrowheads="1" noChangeShapeType="1" noTextEdit="1"/>
              </p:cNvSpPr>
              <p:nvPr/>
            </p:nvSpPr>
            <p:spPr>
              <a:xfrm>
                <a:off x="5362877" y="575166"/>
                <a:ext cx="3300519" cy="531428"/>
              </a:xfrm>
              <a:prstGeom prst="rect">
                <a:avLst/>
              </a:prstGeom>
              <a:blipFill>
                <a:blip r:embed="rId4"/>
                <a:stretch>
                  <a:fillRect l="-5747" t="-125581" b="-195349"/>
                </a:stretch>
              </a:blipFill>
            </p:spPr>
            <p:txBody>
              <a:bodyPr/>
              <a:lstStyle/>
              <a:p>
                <a:r>
                  <a:rPr lang="en-US">
                    <a:noFill/>
                  </a:rPr>
                  <a:t> </a:t>
                </a:r>
              </a:p>
            </p:txBody>
          </p:sp>
        </mc:Fallback>
      </mc:AlternateContent>
      <p:grpSp>
        <p:nvGrpSpPr>
          <p:cNvPr id="24" name="Group 23">
            <a:extLst>
              <a:ext uri="{FF2B5EF4-FFF2-40B4-BE49-F238E27FC236}">
                <a16:creationId xmlns:a16="http://schemas.microsoft.com/office/drawing/2014/main" id="{EC6B0DCF-423E-DB47-B122-34754EA1E43D}"/>
              </a:ext>
            </a:extLst>
          </p:cNvPr>
          <p:cNvGrpSpPr/>
          <p:nvPr/>
        </p:nvGrpSpPr>
        <p:grpSpPr>
          <a:xfrm>
            <a:off x="651611" y="135161"/>
            <a:ext cx="11255136" cy="2130887"/>
            <a:chOff x="651611" y="135161"/>
            <a:chExt cx="11255136" cy="2130887"/>
          </a:xfrm>
        </p:grpSpPr>
        <p:sp>
          <p:nvSpPr>
            <p:cNvPr id="19" name="TextBox 18">
              <a:extLst>
                <a:ext uri="{FF2B5EF4-FFF2-40B4-BE49-F238E27FC236}">
                  <a16:creationId xmlns:a16="http://schemas.microsoft.com/office/drawing/2014/main" id="{86BDD0FD-3C25-1D42-8116-2562C3D0B858}"/>
                </a:ext>
              </a:extLst>
            </p:cNvPr>
            <p:cNvSpPr txBox="1"/>
            <p:nvPr/>
          </p:nvSpPr>
          <p:spPr>
            <a:xfrm>
              <a:off x="3339478" y="1481550"/>
              <a:ext cx="1180260" cy="523220"/>
            </a:xfrm>
            <a:prstGeom prst="rect">
              <a:avLst/>
            </a:prstGeom>
            <a:solidFill>
              <a:schemeClr val="accent4">
                <a:lumMod val="20000"/>
                <a:lumOff val="80000"/>
              </a:schemeClr>
            </a:solidFill>
          </p:spPr>
          <p:txBody>
            <a:bodyPr wrap="none" rtlCol="0">
              <a:spAutoFit/>
            </a:bodyPr>
            <a:lstStyle/>
            <a:p>
              <a:r>
                <a:rPr lang="en-US" sz="2800" dirty="0">
                  <a:solidFill>
                    <a:srgbClr val="0000FF"/>
                  </a:solidFill>
                </a:rPr>
                <a:t>step</a:t>
              </a:r>
              <a:r>
                <a:rPr lang="en-US" sz="2400" dirty="0">
                  <a:solidFill>
                    <a:srgbClr val="0000FF"/>
                  </a:solidFill>
                </a:rPr>
                <a:t> 1</a:t>
              </a:r>
              <a:r>
                <a:rPr lang="en-US" sz="2400" dirty="0"/>
                <a:t>: </a:t>
              </a:r>
            </a:p>
          </p:txBody>
        </p:sp>
        <p:cxnSp>
          <p:nvCxnSpPr>
            <p:cNvPr id="20" name="Straight Connector 19">
              <a:extLst>
                <a:ext uri="{FF2B5EF4-FFF2-40B4-BE49-F238E27FC236}">
                  <a16:creationId xmlns:a16="http://schemas.microsoft.com/office/drawing/2014/main" id="{F520BEEF-E08F-8C4E-A733-7A9F03802CE8}"/>
                </a:ext>
              </a:extLst>
            </p:cNvPr>
            <p:cNvCxnSpPr>
              <a:cxnSpLocks/>
              <a:endCxn id="21" idx="0"/>
            </p:cNvCxnSpPr>
            <p:nvPr/>
          </p:nvCxnSpPr>
          <p:spPr>
            <a:xfrm flipH="1">
              <a:off x="802454" y="135161"/>
              <a:ext cx="1" cy="1761555"/>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E8A8B87-CD09-D749-ADBF-82B7380FA64D}"/>
                </a:ext>
              </a:extLst>
            </p:cNvPr>
            <p:cNvSpPr txBox="1"/>
            <p:nvPr/>
          </p:nvSpPr>
          <p:spPr>
            <a:xfrm>
              <a:off x="651611" y="1896716"/>
              <a:ext cx="301686" cy="369332"/>
            </a:xfrm>
            <a:prstGeom prst="rect">
              <a:avLst/>
            </a:prstGeom>
            <a:noFill/>
          </p:spPr>
          <p:txBody>
            <a:bodyPr wrap="none" rtlCol="0">
              <a:spAutoFit/>
            </a:bodyPr>
            <a:lstStyle/>
            <a:p>
              <a:r>
                <a:rPr lang="en-US" dirty="0">
                  <a:solidFill>
                    <a:srgbClr val="FF0000"/>
                  </a:solidFill>
                </a:rPr>
                <a:t>1</a:t>
              </a:r>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FC062AFF-54DD-8C4E-A3C5-D0B0416348A5}"/>
                    </a:ext>
                  </a:extLst>
                </p:cNvPr>
                <p:cNvSpPr/>
                <p:nvPr/>
              </p:nvSpPr>
              <p:spPr>
                <a:xfrm>
                  <a:off x="4420595" y="1295053"/>
                  <a:ext cx="7486152"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800" i="1" smtClean="0">
                                <a:latin typeface="Cambria Math" panose="02040503050406030204" pitchFamily="18" charset="0"/>
                                <a:ea typeface="Cambria Math" panose="02040503050406030204" pitchFamily="18" charset="0"/>
                              </a:rPr>
                            </m:ctrlPr>
                          </m:dPr>
                          <m:e>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𝐻</m:t>
                                </m:r>
                              </m:e>
                              <m:sup>
                                <m:r>
                                  <a:rPr lang="en-US" sz="2800" i="1">
                                    <a:latin typeface="Cambria Math" panose="02040503050406030204" pitchFamily="18" charset="0"/>
                                    <a:ea typeface="Cambria Math" panose="02040503050406030204" pitchFamily="18" charset="0"/>
                                  </a:rPr>
                                  <m:t>⨂4</m:t>
                                </m:r>
                              </m:sup>
                            </m:sSup>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m:rPr>
                                    <m:nor/>
                                  </m:rPr>
                                  <a:rPr lang="en-US" sz="2800">
                                    <a:latin typeface="Cambria Math" panose="02040503050406030204" pitchFamily="18" charset="0"/>
                                    <a:ea typeface="Cambria Math" panose="02040503050406030204" pitchFamily="18" charset="0"/>
                                  </a:rPr>
                                  <m:t>0</m:t>
                                </m:r>
                              </m:e>
                            </m:d>
                          </m:e>
                        </m:d>
                        <m:r>
                          <a:rPr lang="en-US" sz="2800" b="0" i="1" dirty="0" smtClean="0">
                            <a:latin typeface="Cambria Math" panose="02040503050406030204" pitchFamily="18" charset="0"/>
                          </a:rPr>
                          <m:t> </m:t>
                        </m:r>
                        <m:sSup>
                          <m:sSupPr>
                            <m:ctrlPr>
                              <a:rPr lang="en-US" sz="2800" i="1">
                                <a:latin typeface="Cambria Math" panose="02040503050406030204" pitchFamily="18" charset="0"/>
                                <a:ea typeface="Cambria Math" panose="02040503050406030204" pitchFamily="18" charset="0"/>
                              </a:rPr>
                            </m:ctrlPr>
                          </m:sSupPr>
                          <m:e>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|0</m:t>
                                </m:r>
                              </m:e>
                            </m:d>
                          </m:e>
                          <m:sup>
                            <m:r>
                              <a:rPr lang="en-US" sz="2800" i="1">
                                <a:latin typeface="Cambria Math" panose="02040503050406030204" pitchFamily="18" charset="0"/>
                                <a:ea typeface="Cambria Math" panose="02040503050406030204" pitchFamily="18" charset="0"/>
                              </a:rPr>
                              <m:t>⨂4</m:t>
                            </m:r>
                          </m:sup>
                        </m:sSup>
                        <m:r>
                          <a:rPr lang="en-US" sz="2800" b="0" i="1" smtClean="0">
                            <a:latin typeface="Cambria Math" panose="02040503050406030204" pitchFamily="18" charset="0"/>
                            <a:ea typeface="Cambria Math" panose="02040503050406030204" pitchFamily="18" charset="0"/>
                          </a:rPr>
                          <m:t>=</m:t>
                        </m:r>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1</m:t>
                            </m:r>
                          </m:num>
                          <m:den>
                            <m:r>
                              <a:rPr lang="en-US" sz="2800" b="0" i="1" smtClean="0">
                                <a:latin typeface="Cambria Math" panose="02040503050406030204" pitchFamily="18" charset="0"/>
                                <a:ea typeface="Cambria Math" panose="02040503050406030204" pitchFamily="18" charset="0"/>
                              </a:rPr>
                              <m:t>4</m:t>
                            </m:r>
                          </m:den>
                        </m:f>
                        <m:d>
                          <m:dPr>
                            <m:ctrlPr>
                              <a:rPr lang="en-US" sz="2800" b="0" i="1" smtClean="0">
                                <a:latin typeface="Cambria Math" panose="02040503050406030204" pitchFamily="18" charset="0"/>
                                <a:ea typeface="Cambria Math" panose="02040503050406030204" pitchFamily="18" charset="0"/>
                              </a:rPr>
                            </m:ctrlPr>
                          </m:dPr>
                          <m:e>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m:rPr>
                                    <m:nor/>
                                  </m:rPr>
                                  <a:rPr lang="en-US" sz="2800">
                                    <a:latin typeface="Cambria Math" panose="02040503050406030204" pitchFamily="18" charset="0"/>
                                    <a:ea typeface="Cambria Math" panose="02040503050406030204" pitchFamily="18" charset="0"/>
                                  </a:rPr>
                                  <m:t>0</m:t>
                                </m:r>
                              </m:e>
                            </m:d>
                            <m:r>
                              <a:rPr lang="en-US" sz="2800" b="0" i="1" dirty="0" smtClean="0">
                                <a:latin typeface="Cambria Math" panose="02040503050406030204" pitchFamily="18" charset="0"/>
                              </a:rPr>
                              <m:t>+</m:t>
                            </m:r>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m:rPr>
                                    <m:nor/>
                                  </m:rPr>
                                  <a:rPr lang="en-US" sz="2800" b="0" i="0" smtClean="0">
                                    <a:latin typeface="Cambria Math" panose="02040503050406030204" pitchFamily="18" charset="0"/>
                                    <a:ea typeface="Cambria Math" panose="02040503050406030204" pitchFamily="18" charset="0"/>
                                  </a:rPr>
                                  <m:t>1</m:t>
                                </m:r>
                              </m:e>
                            </m:d>
                            <m:r>
                              <a:rPr lang="en-US" sz="2800" b="0" i="1" dirty="0" smtClean="0">
                                <a:latin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m:t>
                                </m:r>
                                <m:r>
                                  <m:rPr>
                                    <m:nor/>
                                  </m:rPr>
                                  <a:rPr lang="en-US" sz="2800" b="0" i="0" smtClean="0">
                                    <a:latin typeface="Cambria Math" panose="02040503050406030204" pitchFamily="18" charset="0"/>
                                    <a:ea typeface="Cambria Math" panose="02040503050406030204" pitchFamily="18" charset="0"/>
                                  </a:rPr>
                                  <m:t>15</m:t>
                                </m:r>
                              </m:e>
                            </m:d>
                          </m:e>
                        </m:d>
                        <m:sSup>
                          <m:sSupPr>
                            <m:ctrlPr>
                              <a:rPr lang="en-US" sz="2800" i="1">
                                <a:latin typeface="Cambria Math" panose="02040503050406030204" pitchFamily="18" charset="0"/>
                                <a:ea typeface="Cambria Math" panose="02040503050406030204" pitchFamily="18" charset="0"/>
                              </a:rPr>
                            </m:ctrlPr>
                          </m:sSupPr>
                          <m:e>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|0</m:t>
                                </m:r>
                              </m:e>
                            </m:d>
                          </m:e>
                          <m:sup>
                            <m:r>
                              <a:rPr lang="en-US" sz="2800" i="1">
                                <a:latin typeface="Cambria Math" panose="02040503050406030204" pitchFamily="18" charset="0"/>
                                <a:ea typeface="Cambria Math" panose="02040503050406030204" pitchFamily="18" charset="0"/>
                              </a:rPr>
                              <m:t>⨂4</m:t>
                            </m:r>
                          </m:sup>
                        </m:sSup>
                      </m:oMath>
                    </m:oMathPara>
                  </a14:m>
                  <a:endParaRPr lang="en-US" sz="2800" dirty="0"/>
                </a:p>
              </p:txBody>
            </p:sp>
          </mc:Choice>
          <mc:Fallback xmlns="">
            <p:sp>
              <p:nvSpPr>
                <p:cNvPr id="23" name="Rectangle 22">
                  <a:extLst>
                    <a:ext uri="{FF2B5EF4-FFF2-40B4-BE49-F238E27FC236}">
                      <a16:creationId xmlns:a16="http://schemas.microsoft.com/office/drawing/2014/main" id="{FC062AFF-54DD-8C4E-A3C5-D0B0416348A5}"/>
                    </a:ext>
                  </a:extLst>
                </p:cNvPr>
                <p:cNvSpPr>
                  <a:spLocks noRot="1" noChangeAspect="1" noMove="1" noResize="1" noEditPoints="1" noAdjustHandles="1" noChangeArrowheads="1" noChangeShapeType="1" noTextEdit="1"/>
                </p:cNvSpPr>
                <p:nvPr/>
              </p:nvSpPr>
              <p:spPr>
                <a:xfrm>
                  <a:off x="4420595" y="1295053"/>
                  <a:ext cx="7486152" cy="898964"/>
                </a:xfrm>
                <a:prstGeom prst="rect">
                  <a:avLst/>
                </a:prstGeom>
                <a:blipFill>
                  <a:blip r:embed="rId5"/>
                  <a:stretch>
                    <a:fillRect t="-52778" b="-100000"/>
                  </a:stretch>
                </a:blipFill>
              </p:spPr>
              <p:txBody>
                <a:bodyPr/>
                <a:lstStyle/>
                <a:p>
                  <a:r>
                    <a:rPr lang="en-US">
                      <a:noFill/>
                    </a:rPr>
                    <a:t> </a:t>
                  </a:r>
                </a:p>
              </p:txBody>
            </p:sp>
          </mc:Fallback>
        </mc:AlternateContent>
      </p:grpSp>
      <p:grpSp>
        <p:nvGrpSpPr>
          <p:cNvPr id="43" name="Group 42">
            <a:extLst>
              <a:ext uri="{FF2B5EF4-FFF2-40B4-BE49-F238E27FC236}">
                <a16:creationId xmlns:a16="http://schemas.microsoft.com/office/drawing/2014/main" id="{E4C89388-B878-B643-8514-ED2AA1C893CB}"/>
              </a:ext>
            </a:extLst>
          </p:cNvPr>
          <p:cNvGrpSpPr/>
          <p:nvPr/>
        </p:nvGrpSpPr>
        <p:grpSpPr>
          <a:xfrm>
            <a:off x="113964" y="133950"/>
            <a:ext cx="11008434" cy="5335041"/>
            <a:chOff x="113964" y="133950"/>
            <a:chExt cx="11008434" cy="5335041"/>
          </a:xfrm>
        </p:grpSpPr>
        <p:cxnSp>
          <p:nvCxnSpPr>
            <p:cNvPr id="25" name="Straight Connector 24">
              <a:extLst>
                <a:ext uri="{FF2B5EF4-FFF2-40B4-BE49-F238E27FC236}">
                  <a16:creationId xmlns:a16="http://schemas.microsoft.com/office/drawing/2014/main" id="{BCD3D8AC-A49E-D842-8C1B-6031EEE78D44}"/>
                </a:ext>
              </a:extLst>
            </p:cNvPr>
            <p:cNvCxnSpPr>
              <a:cxnSpLocks/>
            </p:cNvCxnSpPr>
            <p:nvPr/>
          </p:nvCxnSpPr>
          <p:spPr>
            <a:xfrm flipH="1">
              <a:off x="1660083" y="133950"/>
              <a:ext cx="3" cy="1761555"/>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4526259-7D84-C046-A708-AD19A42604F3}"/>
                </a:ext>
              </a:extLst>
            </p:cNvPr>
            <p:cNvSpPr txBox="1"/>
            <p:nvPr/>
          </p:nvSpPr>
          <p:spPr>
            <a:xfrm>
              <a:off x="1504798" y="1896716"/>
              <a:ext cx="301686" cy="369332"/>
            </a:xfrm>
            <a:prstGeom prst="rect">
              <a:avLst/>
            </a:prstGeom>
            <a:noFill/>
          </p:spPr>
          <p:txBody>
            <a:bodyPr wrap="none" rtlCol="0">
              <a:spAutoFit/>
            </a:bodyPr>
            <a:lstStyle/>
            <a:p>
              <a:r>
                <a:rPr lang="en-US" dirty="0">
                  <a:solidFill>
                    <a:srgbClr val="FF0000"/>
                  </a:solidFill>
                </a:rPr>
                <a:t>2</a:t>
              </a:r>
            </a:p>
          </p:txBody>
        </p:sp>
        <p:grpSp>
          <p:nvGrpSpPr>
            <p:cNvPr id="42" name="Group 41">
              <a:extLst>
                <a:ext uri="{FF2B5EF4-FFF2-40B4-BE49-F238E27FC236}">
                  <a16:creationId xmlns:a16="http://schemas.microsoft.com/office/drawing/2014/main" id="{5D1A8D15-D590-344B-AE08-6390F86ACC14}"/>
                </a:ext>
              </a:extLst>
            </p:cNvPr>
            <p:cNvGrpSpPr/>
            <p:nvPr/>
          </p:nvGrpSpPr>
          <p:grpSpPr>
            <a:xfrm>
              <a:off x="113964" y="2386270"/>
              <a:ext cx="11008434" cy="3082721"/>
              <a:chOff x="113964" y="2386270"/>
              <a:chExt cx="11008434" cy="3082721"/>
            </a:xfrm>
          </p:grpSpPr>
          <p:sp>
            <p:nvSpPr>
              <p:cNvPr id="30" name="TextBox 29">
                <a:extLst>
                  <a:ext uri="{FF2B5EF4-FFF2-40B4-BE49-F238E27FC236}">
                    <a16:creationId xmlns:a16="http://schemas.microsoft.com/office/drawing/2014/main" id="{DCE86876-DF36-4046-9072-D3BCBE557956}"/>
                  </a:ext>
                </a:extLst>
              </p:cNvPr>
              <p:cNvSpPr txBox="1"/>
              <p:nvPr/>
            </p:nvSpPr>
            <p:spPr>
              <a:xfrm>
                <a:off x="113964" y="2386270"/>
                <a:ext cx="1247586" cy="523220"/>
              </a:xfrm>
              <a:prstGeom prst="rect">
                <a:avLst/>
              </a:prstGeom>
              <a:solidFill>
                <a:schemeClr val="accent4">
                  <a:lumMod val="20000"/>
                  <a:lumOff val="80000"/>
                </a:schemeClr>
              </a:solidFill>
            </p:spPr>
            <p:txBody>
              <a:bodyPr wrap="none" rtlCol="0">
                <a:spAutoFit/>
              </a:bodyPr>
              <a:lstStyle/>
              <a:p>
                <a:r>
                  <a:rPr lang="en-US" sz="2800" dirty="0">
                    <a:solidFill>
                      <a:srgbClr val="0000FF"/>
                    </a:solidFill>
                  </a:rPr>
                  <a:t>step 2</a:t>
                </a:r>
                <a:r>
                  <a:rPr lang="en-US" sz="2800" dirty="0"/>
                  <a:t>: </a:t>
                </a:r>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1768E1B0-45A1-EA46-B226-0F2C26DA873E}"/>
                      </a:ext>
                    </a:extLst>
                  </p:cNvPr>
                  <p:cNvSpPr/>
                  <p:nvPr/>
                </p:nvSpPr>
                <p:spPr>
                  <a:xfrm>
                    <a:off x="1163870" y="2945006"/>
                    <a:ext cx="587167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e>
                          </m:d>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𝑦</m:t>
                              </m:r>
                            </m:e>
                          </m:d>
                          <m:r>
                            <a:rPr lang="en-US" sz="240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 </m:t>
                          </m:r>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𝑎</m:t>
                                  </m:r>
                                </m:e>
                                <m:sup>
                                  <m:r>
                                    <a:rPr lang="en-US" sz="2400" i="1">
                                      <a:solidFill>
                                        <a:srgbClr val="FF0000"/>
                                      </a:solidFill>
                                      <a:latin typeface="Cambria Math" panose="02040503050406030204" pitchFamily="18" charset="0"/>
                                      <a:ea typeface="Cambria Math" panose="02040503050406030204" pitchFamily="18" charset="0"/>
                                    </a:rPr>
                                    <m:t>𝑥</m:t>
                                  </m:r>
                                </m:sup>
                              </m:sSup>
                              <m:r>
                                <a:rPr lang="en-US" sz="2400" b="0" i="1" smtClean="0">
                                  <a:solidFill>
                                    <a:srgbClr val="FF0000"/>
                                  </a:solidFill>
                                  <a:latin typeface="Cambria Math" panose="02040503050406030204" pitchFamily="18" charset="0"/>
                                  <a:ea typeface="Cambria Math" panose="02040503050406030204" pitchFamily="18" charset="0"/>
                                </a:rPr>
                                <m:t> </m:t>
                              </m:r>
                              <m:r>
                                <m:rPr>
                                  <m:sty m:val="p"/>
                                </m:rPr>
                                <a:rPr lang="en-US" sz="2400" i="0">
                                  <a:solidFill>
                                    <a:srgbClr val="FF0000"/>
                                  </a:solidFill>
                                  <a:latin typeface="Cambria Math" panose="02040503050406030204" pitchFamily="18" charset="0"/>
                                  <a:ea typeface="Cambria Math" panose="02040503050406030204" pitchFamily="18" charset="0"/>
                                </a:rPr>
                                <m:t>mod</m:t>
                              </m:r>
                              <m:r>
                                <a:rPr lang="en-US" sz="2400" i="1">
                                  <a:solidFill>
                                    <a:srgbClr val="FF0000"/>
                                  </a:solidFill>
                                  <a:latin typeface="Cambria Math" panose="02040503050406030204" pitchFamily="18" charset="0"/>
                                  <a:ea typeface="Cambria Math" panose="02040503050406030204" pitchFamily="18" charset="0"/>
                                </a:rPr>
                                <m:t> </m:t>
                              </m:r>
                              <m:r>
                                <a:rPr lang="en-US" sz="2400" i="1">
                                  <a:solidFill>
                                    <a:srgbClr val="FF0000"/>
                                  </a:solidFill>
                                  <a:latin typeface="Cambria Math" panose="02040503050406030204" pitchFamily="18" charset="0"/>
                                  <a:ea typeface="Cambria Math" panose="02040503050406030204" pitchFamily="18" charset="0"/>
                                </a:rPr>
                                <m:t>𝑁</m:t>
                              </m:r>
                            </m:e>
                          </m:d>
                          <m:r>
                            <a:rPr lang="en-US" sz="24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𝑥</m:t>
                              </m:r>
                            </m:e>
                          </m:d>
                          <m:r>
                            <a:rPr lang="en-US" sz="2400" i="1">
                              <a:latin typeface="Cambria Math" panose="02040503050406030204" pitchFamily="18" charset="0"/>
                              <a:ea typeface="Cambria Math" panose="02040503050406030204" pitchFamily="18" charset="0"/>
                            </a:rPr>
                            <m:t> </m:t>
                          </m:r>
                          <m:d>
                            <m:dPr>
                              <m:begChr m:val=""/>
                              <m:endChr m:val="⟩"/>
                              <m:ctrlPr>
                                <a:rPr lang="en-US" sz="2400" i="1">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b="0" i="1" smtClean="0">
                                      <a:solidFill>
                                        <a:srgbClr val="FF0000"/>
                                      </a:solidFill>
                                      <a:latin typeface="Cambria Math" panose="02040503050406030204" pitchFamily="18" charset="0"/>
                                      <a:ea typeface="Cambria Math" panose="02040503050406030204" pitchFamily="18" charset="0"/>
                                    </a:rPr>
                                    <m:t>7</m:t>
                                  </m:r>
                                </m:e>
                                <m:sup>
                                  <m:r>
                                    <a:rPr lang="en-US" sz="2400" i="1">
                                      <a:solidFill>
                                        <a:srgbClr val="FF0000"/>
                                      </a:solidFill>
                                      <a:latin typeface="Cambria Math" panose="02040503050406030204" pitchFamily="18" charset="0"/>
                                      <a:ea typeface="Cambria Math" panose="02040503050406030204" pitchFamily="18" charset="0"/>
                                    </a:rPr>
                                    <m:t>𝑥</m:t>
                                  </m:r>
                                </m:sup>
                              </m:sSup>
                              <m:r>
                                <a:rPr lang="en-US" sz="2400" b="0" i="1" smtClean="0">
                                  <a:solidFill>
                                    <a:srgbClr val="FF0000"/>
                                  </a:solidFill>
                                  <a:latin typeface="Cambria Math" panose="02040503050406030204" pitchFamily="18" charset="0"/>
                                  <a:ea typeface="Cambria Math" panose="02040503050406030204" pitchFamily="18" charset="0"/>
                                </a:rPr>
                                <m:t> </m:t>
                              </m:r>
                              <m:r>
                                <m:rPr>
                                  <m:sty m:val="p"/>
                                </m:rPr>
                                <a:rPr lang="en-US" sz="2400" b="0" i="0" smtClean="0">
                                  <a:solidFill>
                                    <a:srgbClr val="FF0000"/>
                                  </a:solidFill>
                                  <a:latin typeface="Cambria Math" panose="02040503050406030204" pitchFamily="18" charset="0"/>
                                  <a:ea typeface="Cambria Math" panose="02040503050406030204" pitchFamily="18" charset="0"/>
                                </a:rPr>
                                <m:t>mod</m:t>
                              </m:r>
                              <m:r>
                                <a:rPr lang="en-US" sz="2400" b="0" i="1" smtClean="0">
                                  <a:solidFill>
                                    <a:srgbClr val="FF0000"/>
                                  </a:solidFill>
                                  <a:latin typeface="Cambria Math" panose="02040503050406030204" pitchFamily="18" charset="0"/>
                                  <a:ea typeface="Cambria Math" panose="02040503050406030204" pitchFamily="18" charset="0"/>
                                </a:rPr>
                                <m:t> 15</m:t>
                              </m:r>
                            </m:e>
                          </m:d>
                        </m:oMath>
                      </m:oMathPara>
                    </a14:m>
                    <a:endParaRPr lang="en-US" sz="2400" dirty="0"/>
                  </a:p>
                </p:txBody>
              </p:sp>
            </mc:Choice>
            <mc:Fallback xmlns="">
              <p:sp>
                <p:nvSpPr>
                  <p:cNvPr id="31" name="Rectangle 30">
                    <a:extLst>
                      <a:ext uri="{FF2B5EF4-FFF2-40B4-BE49-F238E27FC236}">
                        <a16:creationId xmlns:a16="http://schemas.microsoft.com/office/drawing/2014/main" id="{1768E1B0-45A1-EA46-B226-0F2C26DA873E}"/>
                      </a:ext>
                    </a:extLst>
                  </p:cNvPr>
                  <p:cNvSpPr>
                    <a:spLocks noRot="1" noChangeAspect="1" noMove="1" noResize="1" noEditPoints="1" noAdjustHandles="1" noChangeArrowheads="1" noChangeShapeType="1" noTextEdit="1"/>
                  </p:cNvSpPr>
                  <p:nvPr/>
                </p:nvSpPr>
                <p:spPr>
                  <a:xfrm>
                    <a:off x="1163870" y="2945006"/>
                    <a:ext cx="5871672" cy="461665"/>
                  </a:xfrm>
                  <a:prstGeom prst="rect">
                    <a:avLst/>
                  </a:prstGeom>
                  <a:blipFill>
                    <a:blip r:embed="rId6"/>
                    <a:stretch>
                      <a:fillRect l="-2160" t="-124324" r="-4752"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5A6B0C6D-1225-DD4D-93EF-603B5C0638F9}"/>
                      </a:ext>
                    </a:extLst>
                  </p:cNvPr>
                  <p:cNvSpPr/>
                  <p:nvPr/>
                </p:nvSpPr>
                <p:spPr>
                  <a:xfrm>
                    <a:off x="1186758" y="3547626"/>
                    <a:ext cx="8343694" cy="783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4</m:t>
                              </m:r>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m:rPr>
                                      <m:nor/>
                                    </m:rPr>
                                    <a:rPr lang="en-US" sz="2400">
                                      <a:latin typeface="Cambria Math" panose="02040503050406030204" pitchFamily="18" charset="0"/>
                                      <a:ea typeface="Cambria Math" panose="02040503050406030204" pitchFamily="18" charset="0"/>
                                    </a:rPr>
                                    <m:t>0</m:t>
                                  </m:r>
                                  <m:r>
                                    <m:rPr>
                                      <m:nor/>
                                    </m:rPr>
                                    <a:rPr lang="en-US" sz="2400" dirty="0"/>
                                    <m:t> </m:t>
                                  </m:r>
                                </m:e>
                              </m:d>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sSup>
                                    <m:sSupPr>
                                      <m:ctrlPr>
                                        <a:rPr lang="en-US" sz="2400" i="1" smtClean="0">
                                          <a:solidFill>
                                            <a:srgbClr val="FF0000"/>
                                          </a:solidFill>
                                          <a:latin typeface="Cambria Math" panose="02040503050406030204" pitchFamily="18" charset="0"/>
                                          <a:ea typeface="Cambria Math" panose="02040503050406030204" pitchFamily="18" charset="0"/>
                                        </a:rPr>
                                      </m:ctrlPr>
                                    </m:sSupPr>
                                    <m:e>
                                      <m:r>
                                        <a:rPr lang="en-US" sz="2400" b="0" i="1" smtClean="0">
                                          <a:solidFill>
                                            <a:srgbClr val="FF0000"/>
                                          </a:solidFill>
                                          <a:latin typeface="Cambria Math" panose="02040503050406030204" pitchFamily="18" charset="0"/>
                                          <a:ea typeface="Cambria Math" panose="02040503050406030204" pitchFamily="18" charset="0"/>
                                        </a:rPr>
                                        <m:t>7</m:t>
                                      </m:r>
                                    </m:e>
                                    <m:sup>
                                      <m:r>
                                        <a:rPr lang="en-US" sz="2400" b="0" i="1" smtClean="0">
                                          <a:solidFill>
                                            <a:srgbClr val="FF0000"/>
                                          </a:solidFill>
                                          <a:latin typeface="Cambria Math" panose="02040503050406030204" pitchFamily="18" charset="0"/>
                                          <a:ea typeface="Cambria Math" panose="02040503050406030204" pitchFamily="18" charset="0"/>
                                        </a:rPr>
                                        <m:t>0</m:t>
                                      </m:r>
                                    </m:sup>
                                  </m:sSup>
                                  <m:r>
                                    <a:rPr lang="en-US" sz="2400" b="0" i="0" smtClean="0">
                                      <a:solidFill>
                                        <a:srgbClr val="FF0000"/>
                                      </a:solidFill>
                                      <a:latin typeface="Cambria Math" panose="02040503050406030204" pitchFamily="18" charset="0"/>
                                      <a:ea typeface="Cambria Math" panose="02040503050406030204" pitchFamily="18" charset="0"/>
                                    </a:rPr>
                                    <m:t> </m:t>
                                  </m:r>
                                  <m:r>
                                    <m:rPr>
                                      <m:sty m:val="p"/>
                                    </m:rPr>
                                    <a:rPr lang="en-US" sz="2400">
                                      <a:solidFill>
                                        <a:srgbClr val="FF0000"/>
                                      </a:solidFill>
                                      <a:latin typeface="Cambria Math" panose="02040503050406030204" pitchFamily="18" charset="0"/>
                                      <a:ea typeface="Cambria Math" panose="02040503050406030204" pitchFamily="18" charset="0"/>
                                    </a:rPr>
                                    <m:t>mod</m:t>
                                  </m:r>
                                  <m:r>
                                    <a:rPr lang="en-US" sz="2400" i="1">
                                      <a:solidFill>
                                        <a:srgbClr val="FF0000"/>
                                      </a:solidFill>
                                      <a:latin typeface="Cambria Math" panose="02040503050406030204" pitchFamily="18" charset="0"/>
                                      <a:ea typeface="Cambria Math" panose="02040503050406030204" pitchFamily="18" charset="0"/>
                                    </a:rPr>
                                    <m:t> 15</m:t>
                                  </m:r>
                                </m:e>
                              </m:d>
                              <m:r>
                                <a:rPr lang="en-US" sz="2400" i="1" dirty="0">
                                  <a:latin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m:rPr>
                                      <m:nor/>
                                    </m:rPr>
                                    <a:rPr lang="en-US" sz="2400">
                                      <a:latin typeface="Cambria Math" panose="02040503050406030204" pitchFamily="18" charset="0"/>
                                      <a:ea typeface="Cambria Math" panose="02040503050406030204" pitchFamily="18" charset="0"/>
                                    </a:rPr>
                                    <m:t>1</m:t>
                                  </m:r>
                                  <m:r>
                                    <m:rPr>
                                      <m:nor/>
                                    </m:rPr>
                                    <a:rPr lang="en-US" sz="2400" dirty="0"/>
                                    <m:t> </m:t>
                                  </m:r>
                                </m:e>
                              </m:d>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sSup>
                                    <m:sSupPr>
                                      <m:ctrlPr>
                                        <a:rPr lang="en-US" sz="2400" i="1" smtClean="0">
                                          <a:solidFill>
                                            <a:srgbClr val="FF0000"/>
                                          </a:solidFill>
                                          <a:latin typeface="Cambria Math" panose="02040503050406030204" pitchFamily="18" charset="0"/>
                                          <a:ea typeface="Cambria Math" panose="02040503050406030204" pitchFamily="18" charset="0"/>
                                        </a:rPr>
                                      </m:ctrlPr>
                                    </m:sSupPr>
                                    <m:e>
                                      <m:r>
                                        <a:rPr lang="en-US" sz="2400" b="0" i="1" smtClean="0">
                                          <a:solidFill>
                                            <a:srgbClr val="FF0000"/>
                                          </a:solidFill>
                                          <a:latin typeface="Cambria Math" panose="02040503050406030204" pitchFamily="18" charset="0"/>
                                          <a:ea typeface="Cambria Math" panose="02040503050406030204" pitchFamily="18" charset="0"/>
                                        </a:rPr>
                                        <m:t>7</m:t>
                                      </m:r>
                                    </m:e>
                                    <m:sup>
                                      <m:r>
                                        <a:rPr lang="en-US" sz="2400" b="0" i="1" smtClean="0">
                                          <a:solidFill>
                                            <a:srgbClr val="FF0000"/>
                                          </a:solidFill>
                                          <a:latin typeface="Cambria Math" panose="02040503050406030204" pitchFamily="18" charset="0"/>
                                          <a:ea typeface="Cambria Math" panose="02040503050406030204" pitchFamily="18" charset="0"/>
                                        </a:rPr>
                                        <m:t>1</m:t>
                                      </m:r>
                                    </m:sup>
                                  </m:sSup>
                                  <m:r>
                                    <a:rPr lang="en-US" sz="2400" b="0" i="0" smtClean="0">
                                      <a:solidFill>
                                        <a:srgbClr val="FF0000"/>
                                      </a:solidFill>
                                      <a:latin typeface="Cambria Math" panose="02040503050406030204" pitchFamily="18" charset="0"/>
                                      <a:ea typeface="Cambria Math" panose="02040503050406030204" pitchFamily="18" charset="0"/>
                                    </a:rPr>
                                    <m:t> </m:t>
                                  </m:r>
                                  <m:r>
                                    <m:rPr>
                                      <m:sty m:val="p"/>
                                    </m:rPr>
                                    <a:rPr lang="en-US" sz="2400">
                                      <a:solidFill>
                                        <a:srgbClr val="FF0000"/>
                                      </a:solidFill>
                                      <a:latin typeface="Cambria Math" panose="02040503050406030204" pitchFamily="18" charset="0"/>
                                      <a:ea typeface="Cambria Math" panose="02040503050406030204" pitchFamily="18" charset="0"/>
                                    </a:rPr>
                                    <m:t>mod</m:t>
                                  </m:r>
                                  <m:r>
                                    <a:rPr lang="en-US" sz="2400" i="1">
                                      <a:solidFill>
                                        <a:srgbClr val="FF0000"/>
                                      </a:solidFill>
                                      <a:latin typeface="Cambria Math" panose="02040503050406030204" pitchFamily="18" charset="0"/>
                                      <a:ea typeface="Cambria Math" panose="02040503050406030204" pitchFamily="18" charset="0"/>
                                    </a:rPr>
                                    <m:t> 15</m:t>
                                  </m:r>
                                </m:e>
                              </m:d>
                              <m:r>
                                <a:rPr lang="en-US" sz="2400" i="1" dirty="0">
                                  <a:latin typeface="Cambria Math" panose="02040503050406030204" pitchFamily="18" charset="0"/>
                                </a:rPr>
                                <m:t>+</m:t>
                              </m:r>
                              <m:r>
                                <a:rPr lang="en-US" sz="2400" i="1" dirty="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m:rPr>
                                      <m:nor/>
                                    </m:rPr>
                                    <a:rPr lang="en-US" sz="2400">
                                      <a:latin typeface="Cambria Math" panose="02040503050406030204" pitchFamily="18" charset="0"/>
                                      <a:ea typeface="Cambria Math" panose="02040503050406030204" pitchFamily="18" charset="0"/>
                                    </a:rPr>
                                    <m:t>15</m:t>
                                  </m:r>
                                  <m:r>
                                    <m:rPr>
                                      <m:nor/>
                                    </m:rPr>
                                    <a:rPr lang="en-US" sz="2400" dirty="0"/>
                                    <m:t> </m:t>
                                  </m:r>
                                </m:e>
                              </m:d>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b="0" i="1" smtClean="0">
                                          <a:solidFill>
                                            <a:srgbClr val="FF0000"/>
                                          </a:solidFill>
                                          <a:latin typeface="Cambria Math" panose="02040503050406030204" pitchFamily="18" charset="0"/>
                                          <a:ea typeface="Cambria Math" panose="02040503050406030204" pitchFamily="18" charset="0"/>
                                        </a:rPr>
                                        <m:t>7</m:t>
                                      </m:r>
                                    </m:e>
                                    <m:sup>
                                      <m:r>
                                        <a:rPr lang="en-US" sz="2400" i="1">
                                          <a:solidFill>
                                            <a:srgbClr val="FF0000"/>
                                          </a:solidFill>
                                          <a:latin typeface="Cambria Math" panose="02040503050406030204" pitchFamily="18" charset="0"/>
                                          <a:ea typeface="Cambria Math" panose="02040503050406030204" pitchFamily="18" charset="0"/>
                                        </a:rPr>
                                        <m:t>1</m:t>
                                      </m:r>
                                      <m:r>
                                        <a:rPr lang="en-US" sz="2400" b="0" i="1" smtClean="0">
                                          <a:solidFill>
                                            <a:srgbClr val="FF0000"/>
                                          </a:solidFill>
                                          <a:latin typeface="Cambria Math" panose="02040503050406030204" pitchFamily="18" charset="0"/>
                                          <a:ea typeface="Cambria Math" panose="02040503050406030204" pitchFamily="18" charset="0"/>
                                        </a:rPr>
                                        <m:t>5</m:t>
                                      </m:r>
                                    </m:sup>
                                  </m:sSup>
                                  <m:r>
                                    <a:rPr lang="en-US" sz="2400" b="0" i="0" smtClean="0">
                                      <a:solidFill>
                                        <a:srgbClr val="FF0000"/>
                                      </a:solidFill>
                                      <a:latin typeface="Cambria Math" panose="02040503050406030204" pitchFamily="18" charset="0"/>
                                      <a:ea typeface="Cambria Math" panose="02040503050406030204" pitchFamily="18" charset="0"/>
                                    </a:rPr>
                                    <m:t> </m:t>
                                  </m:r>
                                  <m:r>
                                    <m:rPr>
                                      <m:sty m:val="p"/>
                                    </m:rPr>
                                    <a:rPr lang="en-US" sz="2400">
                                      <a:solidFill>
                                        <a:srgbClr val="FF0000"/>
                                      </a:solidFill>
                                      <a:latin typeface="Cambria Math" panose="02040503050406030204" pitchFamily="18" charset="0"/>
                                      <a:ea typeface="Cambria Math" panose="02040503050406030204" pitchFamily="18" charset="0"/>
                                    </a:rPr>
                                    <m:t>mod</m:t>
                                  </m:r>
                                  <m:r>
                                    <a:rPr lang="en-US" sz="2400" i="1">
                                      <a:solidFill>
                                        <a:srgbClr val="FF0000"/>
                                      </a:solidFill>
                                      <a:latin typeface="Cambria Math" panose="02040503050406030204" pitchFamily="18" charset="0"/>
                                      <a:ea typeface="Cambria Math" panose="02040503050406030204" pitchFamily="18" charset="0"/>
                                    </a:rPr>
                                    <m:t> 15</m:t>
                                  </m:r>
                                </m:e>
                              </m:d>
                            </m:e>
                          </m:d>
                        </m:oMath>
                      </m:oMathPara>
                    </a14:m>
                    <a:endParaRPr lang="en-US" sz="2400" dirty="0"/>
                  </a:p>
                </p:txBody>
              </p:sp>
            </mc:Choice>
            <mc:Fallback xmlns="">
              <p:sp>
                <p:nvSpPr>
                  <p:cNvPr id="32" name="Rectangle 31">
                    <a:extLst>
                      <a:ext uri="{FF2B5EF4-FFF2-40B4-BE49-F238E27FC236}">
                        <a16:creationId xmlns:a16="http://schemas.microsoft.com/office/drawing/2014/main" id="{5A6B0C6D-1225-DD4D-93EF-603B5C0638F9}"/>
                      </a:ext>
                    </a:extLst>
                  </p:cNvPr>
                  <p:cNvSpPr>
                    <a:spLocks noRot="1" noChangeAspect="1" noMove="1" noResize="1" noEditPoints="1" noAdjustHandles="1" noChangeArrowheads="1" noChangeShapeType="1" noTextEdit="1"/>
                  </p:cNvSpPr>
                  <p:nvPr/>
                </p:nvSpPr>
                <p:spPr>
                  <a:xfrm>
                    <a:off x="1186758" y="3547626"/>
                    <a:ext cx="8343694" cy="783804"/>
                  </a:xfrm>
                  <a:prstGeom prst="rect">
                    <a:avLst/>
                  </a:prstGeom>
                  <a:blipFill>
                    <a:blip r:embed="rId7"/>
                    <a:stretch>
                      <a:fillRect t="-80952" r="-4407" b="-14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4DE72E92-1AE3-C947-9631-174E2B4C6E66}"/>
                      </a:ext>
                    </a:extLst>
                  </p:cNvPr>
                  <p:cNvSpPr/>
                  <p:nvPr/>
                </p:nvSpPr>
                <p:spPr>
                  <a:xfrm>
                    <a:off x="1295349" y="4532788"/>
                    <a:ext cx="9827049" cy="783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4</m:t>
                              </m:r>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m:rPr>
                                      <m:nor/>
                                    </m:rPr>
                                    <a:rPr lang="en-US" sz="2400">
                                      <a:latin typeface="Cambria Math" panose="02040503050406030204" pitchFamily="18" charset="0"/>
                                      <a:ea typeface="Cambria Math" panose="02040503050406030204" pitchFamily="18" charset="0"/>
                                    </a:rPr>
                                    <m:t>0</m:t>
                                  </m:r>
                                  <m:r>
                                    <m:rPr>
                                      <m:nor/>
                                    </m:rPr>
                                    <a:rPr lang="en-US" sz="2400" dirty="0"/>
                                    <m:t> </m:t>
                                  </m:r>
                                </m:e>
                              </m:d>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r>
                                    <a:rPr lang="en-US" sz="2400" i="1" smtClean="0">
                                      <a:solidFill>
                                        <a:srgbClr val="FF0000"/>
                                      </a:solidFill>
                                      <a:latin typeface="Cambria Math" panose="02040503050406030204" pitchFamily="18" charset="0"/>
                                      <a:ea typeface="Cambria Math" panose="02040503050406030204" pitchFamily="18" charset="0"/>
                                    </a:rPr>
                                    <m:t>1</m:t>
                                  </m:r>
                                </m:e>
                              </m:d>
                              <m:r>
                                <a:rPr lang="en-US" sz="2400" i="1" dirty="0">
                                  <a:latin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m:rPr>
                                      <m:nor/>
                                    </m:rPr>
                                    <a:rPr lang="en-US" sz="2400">
                                      <a:latin typeface="Cambria Math" panose="02040503050406030204" pitchFamily="18" charset="0"/>
                                      <a:ea typeface="Cambria Math" panose="02040503050406030204" pitchFamily="18" charset="0"/>
                                    </a:rPr>
                                    <m:t>1</m:t>
                                  </m:r>
                                  <m:r>
                                    <m:rPr>
                                      <m:nor/>
                                    </m:rPr>
                                    <a:rPr lang="en-US" sz="2400" dirty="0"/>
                                    <m:t> </m:t>
                                  </m:r>
                                </m:e>
                              </m:d>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r>
                                    <a:rPr lang="en-US" sz="2400" i="1" smtClean="0">
                                      <a:solidFill>
                                        <a:srgbClr val="FF0000"/>
                                      </a:solidFill>
                                      <a:latin typeface="Cambria Math" panose="02040503050406030204" pitchFamily="18" charset="0"/>
                                      <a:ea typeface="Cambria Math" panose="02040503050406030204" pitchFamily="18" charset="0"/>
                                    </a:rPr>
                                    <m:t>7</m:t>
                                  </m:r>
                                </m:e>
                              </m:d>
                              <m:r>
                                <a:rPr lang="en-US" sz="2400" i="1" dirty="0">
                                  <a:latin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m:rPr>
                                      <m:nor/>
                                    </m:rPr>
                                    <a:rPr lang="en-US" sz="2400" b="0" i="0" smtClean="0">
                                      <a:latin typeface="Cambria Math" panose="02040503050406030204" pitchFamily="18" charset="0"/>
                                      <a:ea typeface="Cambria Math" panose="02040503050406030204" pitchFamily="18" charset="0"/>
                                    </a:rPr>
                                    <m:t>2</m:t>
                                  </m:r>
                                  <m:r>
                                    <m:rPr>
                                      <m:nor/>
                                    </m:rPr>
                                    <a:rPr lang="en-US" sz="2400" dirty="0"/>
                                    <m:t> </m:t>
                                  </m:r>
                                </m:e>
                              </m:d>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4</m:t>
                                  </m:r>
                                </m:e>
                              </m:d>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m:rPr>
                                      <m:nor/>
                                    </m:rPr>
                                    <a:rPr lang="en-US" sz="2400" b="0" i="0" smtClean="0">
                                      <a:latin typeface="Cambria Math" panose="02040503050406030204" pitchFamily="18" charset="0"/>
                                      <a:ea typeface="Cambria Math" panose="02040503050406030204" pitchFamily="18" charset="0"/>
                                    </a:rPr>
                                    <m:t>3</m:t>
                                  </m:r>
                                  <m:r>
                                    <m:rPr>
                                      <m:nor/>
                                    </m:rPr>
                                    <a:rPr lang="en-US" sz="2400" dirty="0"/>
                                    <m:t> </m:t>
                                  </m:r>
                                </m:e>
                              </m:d>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13</m:t>
                                  </m:r>
                                </m:e>
                              </m:d>
                              <m:r>
                                <a:rPr lang="en-US" sz="2400" b="0" i="1" smtClean="0">
                                  <a:latin typeface="Cambria Math" panose="02040503050406030204" pitchFamily="18" charset="0"/>
                                  <a:ea typeface="Cambria Math" panose="02040503050406030204" pitchFamily="18" charset="0"/>
                                </a:rPr>
                                <m:t>+</m:t>
                              </m:r>
                              <m:d>
                                <m:dPr>
                                  <m:begChr m:val=""/>
                                  <m:endChr m:val="⟩"/>
                                  <m:ctrlPr>
                                    <a:rPr lang="en-US" sz="2400" i="1" smtClean="0">
                                      <a:solidFill>
                                        <a:schemeClr val="tx1">
                                          <a:lumMod val="75000"/>
                                          <a:lumOff val="25000"/>
                                        </a:schemeClr>
                                      </a:solidFill>
                                      <a:latin typeface="Cambria Math" panose="02040503050406030204" pitchFamily="18" charset="0"/>
                                      <a:ea typeface="Cambria Math" panose="02040503050406030204" pitchFamily="18" charset="0"/>
                                    </a:rPr>
                                  </m:ctrlPr>
                                </m:dPr>
                                <m:e>
                                  <m:r>
                                    <a:rPr lang="en-US" sz="240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en-US" sz="2400" b="0" i="0" smtClean="0">
                                      <a:solidFill>
                                        <a:schemeClr val="tx1">
                                          <a:lumMod val="75000"/>
                                          <a:lumOff val="25000"/>
                                        </a:schemeClr>
                                      </a:solidFill>
                                      <a:latin typeface="Cambria Math" panose="02040503050406030204" pitchFamily="18" charset="0"/>
                                      <a:ea typeface="Cambria Math" panose="02040503050406030204" pitchFamily="18" charset="0"/>
                                    </a:rPr>
                                    <m:t>4</m:t>
                                  </m:r>
                                  <m:r>
                                    <m:rPr>
                                      <m:nor/>
                                    </m:rPr>
                                    <a:rPr lang="en-US" sz="2400" dirty="0">
                                      <a:solidFill>
                                        <a:schemeClr val="tx1">
                                          <a:lumMod val="75000"/>
                                          <a:lumOff val="25000"/>
                                        </a:schemeClr>
                                      </a:solidFill>
                                    </a:rPr>
                                    <m:t> </m:t>
                                  </m:r>
                                </m:e>
                              </m:d>
                              <m:d>
                                <m:dPr>
                                  <m:begChr m:val=""/>
                                  <m:endChr m:val="⟩"/>
                                  <m:ctrlPr>
                                    <a:rPr lang="en-US" sz="2400" i="1" smtClean="0">
                                      <a:solidFill>
                                        <a:schemeClr val="accent4">
                                          <a:lumMod val="75000"/>
                                        </a:schemeClr>
                                      </a:solidFill>
                                      <a:latin typeface="Cambria Math" panose="02040503050406030204" pitchFamily="18" charset="0"/>
                                      <a:ea typeface="Cambria Math" panose="02040503050406030204" pitchFamily="18" charset="0"/>
                                    </a:rPr>
                                  </m:ctrlPr>
                                </m:dPr>
                                <m:e>
                                  <m:r>
                                    <a:rPr lang="en-US" sz="2400" i="1">
                                      <a:solidFill>
                                        <a:schemeClr val="accent4">
                                          <a:lumMod val="75000"/>
                                        </a:schemeClr>
                                      </a:solidFill>
                                      <a:latin typeface="Cambria Math" panose="02040503050406030204" pitchFamily="18" charset="0"/>
                                      <a:ea typeface="Cambria Math" panose="02040503050406030204" pitchFamily="18" charset="0"/>
                                    </a:rPr>
                                    <m:t>|1</m:t>
                                  </m:r>
                                </m:e>
                              </m:d>
                              <m:r>
                                <a:rPr lang="en-US" sz="2400" b="0" i="1" smtClean="0">
                                  <a:solidFill>
                                    <a:srgbClr val="0000FF"/>
                                  </a:solidFill>
                                  <a:latin typeface="Cambria Math" panose="02040503050406030204" pitchFamily="18" charset="0"/>
                                  <a:ea typeface="Cambria Math" panose="02040503050406030204" pitchFamily="18" charset="0"/>
                                </a:rPr>
                                <m:t>+</m:t>
                              </m:r>
                              <m:d>
                                <m:dPr>
                                  <m:begChr m:val=""/>
                                  <m:endChr m:val="⟩"/>
                                  <m:ctrlPr>
                                    <a:rPr lang="en-US" sz="2400" i="1" smtClean="0">
                                      <a:solidFill>
                                        <a:schemeClr val="tx1">
                                          <a:lumMod val="75000"/>
                                          <a:lumOff val="25000"/>
                                        </a:schemeClr>
                                      </a:solidFill>
                                      <a:latin typeface="Cambria Math" panose="02040503050406030204" pitchFamily="18" charset="0"/>
                                      <a:ea typeface="Cambria Math" panose="02040503050406030204" pitchFamily="18" charset="0"/>
                                    </a:rPr>
                                  </m:ctrlPr>
                                </m:dPr>
                                <m:e>
                                  <m:r>
                                    <a:rPr lang="en-US" sz="2400" i="1">
                                      <a:solidFill>
                                        <a:schemeClr val="tx1">
                                          <a:lumMod val="75000"/>
                                          <a:lumOff val="25000"/>
                                        </a:schemeClr>
                                      </a:solidFill>
                                      <a:latin typeface="Cambria Math" panose="02040503050406030204" pitchFamily="18" charset="0"/>
                                      <a:ea typeface="Cambria Math" panose="02040503050406030204" pitchFamily="18" charset="0"/>
                                    </a:rPr>
                                    <m:t>|</m:t>
                                  </m:r>
                                  <m:r>
                                    <m:rPr>
                                      <m:nor/>
                                    </m:rPr>
                                    <a:rPr lang="en-US" sz="2400" b="0" i="0" smtClean="0">
                                      <a:solidFill>
                                        <a:schemeClr val="tx1">
                                          <a:lumMod val="75000"/>
                                          <a:lumOff val="25000"/>
                                        </a:schemeClr>
                                      </a:solidFill>
                                      <a:latin typeface="Cambria Math" panose="02040503050406030204" pitchFamily="18" charset="0"/>
                                      <a:ea typeface="Cambria Math" panose="02040503050406030204" pitchFamily="18" charset="0"/>
                                    </a:rPr>
                                    <m:t>5</m:t>
                                  </m:r>
                                  <m:r>
                                    <m:rPr>
                                      <m:nor/>
                                    </m:rPr>
                                    <a:rPr lang="en-US" sz="2400" dirty="0">
                                      <a:solidFill>
                                        <a:schemeClr val="tx1">
                                          <a:lumMod val="75000"/>
                                          <a:lumOff val="25000"/>
                                        </a:schemeClr>
                                      </a:solidFill>
                                    </a:rPr>
                                    <m:t> </m:t>
                                  </m:r>
                                </m:e>
                              </m:d>
                              <m:d>
                                <m:dPr>
                                  <m:begChr m:val=""/>
                                  <m:endChr m:val="⟩"/>
                                  <m:ctrlPr>
                                    <a:rPr lang="en-US" sz="2400" i="1">
                                      <a:solidFill>
                                        <a:srgbClr val="0000FF"/>
                                      </a:solidFill>
                                      <a:latin typeface="Cambria Math" panose="02040503050406030204" pitchFamily="18" charset="0"/>
                                      <a:ea typeface="Cambria Math" panose="02040503050406030204" pitchFamily="18" charset="0"/>
                                    </a:rPr>
                                  </m:ctrlPr>
                                </m:dPr>
                                <m:e>
                                  <m:r>
                                    <a:rPr lang="en-US" sz="2400" i="1" smtClean="0">
                                      <a:solidFill>
                                        <a:schemeClr val="accent4">
                                          <a:lumMod val="75000"/>
                                        </a:schemeClr>
                                      </a:solidFill>
                                      <a:latin typeface="Cambria Math" panose="02040503050406030204" pitchFamily="18" charset="0"/>
                                      <a:ea typeface="Cambria Math" panose="02040503050406030204" pitchFamily="18" charset="0"/>
                                    </a:rPr>
                                    <m:t>|</m:t>
                                  </m:r>
                                  <m:r>
                                    <a:rPr lang="en-US" sz="2400" b="0" i="1" smtClean="0">
                                      <a:solidFill>
                                        <a:schemeClr val="accent4">
                                          <a:lumMod val="75000"/>
                                        </a:schemeClr>
                                      </a:solidFill>
                                      <a:latin typeface="Cambria Math" panose="02040503050406030204" pitchFamily="18" charset="0"/>
                                      <a:ea typeface="Cambria Math" panose="02040503050406030204" pitchFamily="18" charset="0"/>
                                    </a:rPr>
                                    <m:t>7</m:t>
                                  </m:r>
                                </m:e>
                              </m:d>
                              <m:r>
                                <a:rPr lang="en-US" sz="2400" i="1" dirty="0">
                                  <a:solidFill>
                                    <a:srgbClr val="0000FF"/>
                                  </a:solidFill>
                                  <a:latin typeface="Cambria Math" panose="02040503050406030204" pitchFamily="18" charset="0"/>
                                </a:rPr>
                                <m:t>+</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m:t>
                              </m:r>
                              <m:d>
                                <m:dPr>
                                  <m:begChr m:val=""/>
                                  <m:endChr m:val="⟩"/>
                                  <m:ctrlPr>
                                    <a:rPr lang="en-US" sz="2400" i="1">
                                      <a:solidFill>
                                        <a:schemeClr val="tx1">
                                          <a:lumMod val="75000"/>
                                          <a:lumOff val="25000"/>
                                        </a:schemeClr>
                                      </a:solidFill>
                                      <a:latin typeface="Cambria Math" panose="02040503050406030204" pitchFamily="18" charset="0"/>
                                      <a:ea typeface="Cambria Math" panose="02040503050406030204" pitchFamily="18" charset="0"/>
                                    </a:rPr>
                                  </m:ctrlPr>
                                </m:dPr>
                                <m:e>
                                  <m:r>
                                    <a:rPr lang="en-US" sz="2400" i="1">
                                      <a:solidFill>
                                        <a:schemeClr val="tx1">
                                          <a:lumMod val="75000"/>
                                          <a:lumOff val="25000"/>
                                        </a:schemeClr>
                                      </a:solidFill>
                                      <a:latin typeface="Cambria Math" panose="02040503050406030204" pitchFamily="18" charset="0"/>
                                      <a:ea typeface="Cambria Math" panose="02040503050406030204" pitchFamily="18" charset="0"/>
                                    </a:rPr>
                                    <m:t>|</m:t>
                                  </m:r>
                                  <m:r>
                                    <m:rPr>
                                      <m:nor/>
                                    </m:rPr>
                                    <a:rPr lang="en-US" sz="2400" b="0" i="0" smtClean="0">
                                      <a:solidFill>
                                        <a:schemeClr val="tx1">
                                          <a:lumMod val="75000"/>
                                          <a:lumOff val="25000"/>
                                        </a:schemeClr>
                                      </a:solidFill>
                                      <a:latin typeface="Cambria Math" panose="02040503050406030204" pitchFamily="18" charset="0"/>
                                      <a:ea typeface="Cambria Math" panose="02040503050406030204" pitchFamily="18" charset="0"/>
                                    </a:rPr>
                                    <m:t>1</m:t>
                                  </m:r>
                                  <m:r>
                                    <m:rPr>
                                      <m:nor/>
                                    </m:rPr>
                                    <a:rPr lang="en-US" sz="2400">
                                      <a:solidFill>
                                        <a:schemeClr val="tx1">
                                          <a:lumMod val="75000"/>
                                          <a:lumOff val="25000"/>
                                        </a:schemeClr>
                                      </a:solidFill>
                                      <a:latin typeface="Cambria Math" panose="02040503050406030204" pitchFamily="18" charset="0"/>
                                      <a:ea typeface="Cambria Math" panose="02040503050406030204" pitchFamily="18" charset="0"/>
                                    </a:rPr>
                                    <m:t>5</m:t>
                                  </m:r>
                                  <m:r>
                                    <m:rPr>
                                      <m:nor/>
                                    </m:rPr>
                                    <a:rPr lang="en-US" sz="2400" dirty="0">
                                      <a:solidFill>
                                        <a:schemeClr val="tx1">
                                          <a:lumMod val="75000"/>
                                          <a:lumOff val="25000"/>
                                        </a:schemeClr>
                                      </a:solidFill>
                                    </a:rPr>
                                    <m:t> </m:t>
                                  </m:r>
                                </m:e>
                              </m:d>
                              <m:d>
                                <m:dPr>
                                  <m:begChr m:val=""/>
                                  <m:endChr m:val="⟩"/>
                                  <m:ctrlPr>
                                    <a:rPr lang="en-US" sz="2400" i="1">
                                      <a:solidFill>
                                        <a:srgbClr val="0000FF"/>
                                      </a:solidFill>
                                      <a:latin typeface="Cambria Math" panose="02040503050406030204" pitchFamily="18" charset="0"/>
                                      <a:ea typeface="Cambria Math" panose="02040503050406030204" pitchFamily="18" charset="0"/>
                                    </a:rPr>
                                  </m:ctrlPr>
                                </m:dPr>
                                <m:e>
                                  <m:r>
                                    <a:rPr lang="en-US" sz="2400" i="1">
                                      <a:solidFill>
                                        <a:schemeClr val="accent4">
                                          <a:lumMod val="75000"/>
                                        </a:schemeClr>
                                      </a:solidFill>
                                      <a:latin typeface="Cambria Math" panose="02040503050406030204" pitchFamily="18" charset="0"/>
                                      <a:ea typeface="Cambria Math" panose="02040503050406030204" pitchFamily="18" charset="0"/>
                                    </a:rPr>
                                    <m:t>|</m:t>
                                  </m:r>
                                  <m:r>
                                    <a:rPr lang="en-US" sz="2400" b="0" i="1" smtClean="0">
                                      <a:solidFill>
                                        <a:schemeClr val="accent4">
                                          <a:lumMod val="75000"/>
                                        </a:schemeClr>
                                      </a:solidFill>
                                      <a:latin typeface="Cambria Math" panose="02040503050406030204" pitchFamily="18" charset="0"/>
                                      <a:ea typeface="Cambria Math" panose="02040503050406030204" pitchFamily="18" charset="0"/>
                                    </a:rPr>
                                    <m:t>13</m:t>
                                  </m:r>
                                </m:e>
                              </m:d>
                            </m:e>
                          </m:d>
                        </m:oMath>
                      </m:oMathPara>
                    </a14:m>
                    <a:endParaRPr lang="en-US" sz="2400" dirty="0"/>
                  </a:p>
                </p:txBody>
              </p:sp>
            </mc:Choice>
            <mc:Fallback xmlns="">
              <p:sp>
                <p:nvSpPr>
                  <p:cNvPr id="36" name="Rectangle 35">
                    <a:extLst>
                      <a:ext uri="{FF2B5EF4-FFF2-40B4-BE49-F238E27FC236}">
                        <a16:creationId xmlns:a16="http://schemas.microsoft.com/office/drawing/2014/main" id="{4DE72E92-1AE3-C947-9631-174E2B4C6E66}"/>
                      </a:ext>
                    </a:extLst>
                  </p:cNvPr>
                  <p:cNvSpPr>
                    <a:spLocks noRot="1" noChangeAspect="1" noMove="1" noResize="1" noEditPoints="1" noAdjustHandles="1" noChangeArrowheads="1" noChangeShapeType="1" noTextEdit="1"/>
                  </p:cNvSpPr>
                  <p:nvPr/>
                </p:nvSpPr>
                <p:spPr>
                  <a:xfrm>
                    <a:off x="1295349" y="4532788"/>
                    <a:ext cx="9827049" cy="783804"/>
                  </a:xfrm>
                  <a:prstGeom prst="rect">
                    <a:avLst/>
                  </a:prstGeom>
                  <a:blipFill>
                    <a:blip r:embed="rId9"/>
                    <a:stretch>
                      <a:fillRect t="-49206" r="-1548" b="-96825"/>
                    </a:stretch>
                  </a:blipFill>
                </p:spPr>
                <p:txBody>
                  <a:bodyPr/>
                  <a:lstStyle/>
                  <a:p>
                    <a:r>
                      <a:rPr lang="en-US">
                        <a:noFill/>
                      </a:rPr>
                      <a:t> </a:t>
                    </a:r>
                  </a:p>
                </p:txBody>
              </p:sp>
            </mc:Fallback>
          </mc:AlternateContent>
          <p:sp>
            <p:nvSpPr>
              <p:cNvPr id="38" name="Left Brace 37">
                <a:extLst>
                  <a:ext uri="{FF2B5EF4-FFF2-40B4-BE49-F238E27FC236}">
                    <a16:creationId xmlns:a16="http://schemas.microsoft.com/office/drawing/2014/main" id="{F324F7D6-CDFE-EC4A-A9EC-999715FB87BF}"/>
                  </a:ext>
                </a:extLst>
              </p:cNvPr>
              <p:cNvSpPr/>
              <p:nvPr/>
            </p:nvSpPr>
            <p:spPr>
              <a:xfrm rot="16200000">
                <a:off x="3914655" y="3135243"/>
                <a:ext cx="304799" cy="4362697"/>
              </a:xfrm>
              <a:prstGeom prst="leftBrace">
                <a:avLst>
                  <a:gd name="adj1" fmla="val 48291"/>
                  <a:gd name="adj2" fmla="val 50000"/>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07BE307C-C722-0F48-AB94-3EAFB3CE5300}"/>
              </a:ext>
            </a:extLst>
          </p:cNvPr>
          <p:cNvGrpSpPr/>
          <p:nvPr/>
        </p:nvGrpSpPr>
        <p:grpSpPr>
          <a:xfrm>
            <a:off x="113964" y="1889689"/>
            <a:ext cx="7255812" cy="4384431"/>
            <a:chOff x="113964" y="1889689"/>
            <a:chExt cx="7255812" cy="4384431"/>
          </a:xfrm>
        </p:grpSpPr>
        <p:sp>
          <p:nvSpPr>
            <p:cNvPr id="39" name="TextBox 38">
              <a:extLst>
                <a:ext uri="{FF2B5EF4-FFF2-40B4-BE49-F238E27FC236}">
                  <a16:creationId xmlns:a16="http://schemas.microsoft.com/office/drawing/2014/main" id="{16BEDA70-7A55-9049-8FD7-1DEBF9015C07}"/>
                </a:ext>
              </a:extLst>
            </p:cNvPr>
            <p:cNvSpPr txBox="1"/>
            <p:nvPr/>
          </p:nvSpPr>
          <p:spPr>
            <a:xfrm>
              <a:off x="1908380" y="1889689"/>
              <a:ext cx="301686" cy="369332"/>
            </a:xfrm>
            <a:prstGeom prst="rect">
              <a:avLst/>
            </a:prstGeom>
            <a:noFill/>
          </p:spPr>
          <p:txBody>
            <a:bodyPr wrap="none" rtlCol="0">
              <a:spAutoFit/>
            </a:bodyPr>
            <a:lstStyle/>
            <a:p>
              <a:r>
                <a:rPr lang="en-US" dirty="0">
                  <a:solidFill>
                    <a:srgbClr val="FF0000"/>
                  </a:solidFill>
                </a:rPr>
                <a:t>3</a:t>
              </a:r>
            </a:p>
          </p:txBody>
        </p:sp>
        <p:sp>
          <p:nvSpPr>
            <p:cNvPr id="41" name="TextBox 40">
              <a:extLst>
                <a:ext uri="{FF2B5EF4-FFF2-40B4-BE49-F238E27FC236}">
                  <a16:creationId xmlns:a16="http://schemas.microsoft.com/office/drawing/2014/main" id="{F2195737-3B31-4741-97E5-64AB6B9439D5}"/>
                </a:ext>
              </a:extLst>
            </p:cNvPr>
            <p:cNvSpPr txBox="1"/>
            <p:nvPr/>
          </p:nvSpPr>
          <p:spPr>
            <a:xfrm>
              <a:off x="113964" y="5750900"/>
              <a:ext cx="1165832" cy="523220"/>
            </a:xfrm>
            <a:prstGeom prst="rect">
              <a:avLst/>
            </a:prstGeom>
            <a:solidFill>
              <a:schemeClr val="accent4">
                <a:lumMod val="20000"/>
                <a:lumOff val="80000"/>
              </a:schemeClr>
            </a:solidFill>
          </p:spPr>
          <p:txBody>
            <a:bodyPr wrap="none" rtlCol="0">
              <a:spAutoFit/>
            </a:bodyPr>
            <a:lstStyle/>
            <a:p>
              <a:r>
                <a:rPr lang="en-US" sz="2800" dirty="0">
                  <a:solidFill>
                    <a:srgbClr val="0000FF"/>
                  </a:solidFill>
                </a:rPr>
                <a:t>step 3:</a:t>
              </a:r>
              <a:endParaRPr lang="en-US" sz="2800"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BB27106-4210-D14B-A0F8-C7F490705988}"/>
                    </a:ext>
                  </a:extLst>
                </p:cNvPr>
                <p:cNvSpPr txBox="1"/>
                <p:nvPr/>
              </p:nvSpPr>
              <p:spPr>
                <a:xfrm>
                  <a:off x="1571714" y="5750900"/>
                  <a:ext cx="5798062" cy="523220"/>
                </a:xfrm>
                <a:prstGeom prst="rect">
                  <a:avLst/>
                </a:prstGeom>
                <a:noFill/>
              </p:spPr>
              <p:txBody>
                <a:bodyPr wrap="none" rtlCol="0">
                  <a:spAutoFit/>
                </a:bodyPr>
                <a:lstStyle/>
                <a:p>
                  <a:r>
                    <a:rPr lang="en-ZA" sz="2800" dirty="0"/>
                    <a:t>measurement of</a:t>
                  </a:r>
                  <a:r>
                    <a:rPr lang="en-US" sz="2800" dirty="0"/>
                    <a:t> </a:t>
                  </a:r>
                  <a14:m>
                    <m:oMath xmlns:m="http://schemas.openxmlformats.org/officeDocument/2006/math">
                      <m:r>
                        <a:rPr lang="en-US" sz="2800" b="0" i="1" smtClean="0">
                          <a:latin typeface="Cambria Math" panose="02040503050406030204" pitchFamily="18" charset="0"/>
                          <a:ea typeface="Cambria Math" panose="02040503050406030204" pitchFamily="18" charset="0"/>
                        </a:rPr>
                        <m:t>𝑦</m:t>
                      </m:r>
                    </m:oMath>
                  </a14:m>
                  <a:r>
                    <a:rPr lang="en-US" sz="2800" dirty="0"/>
                    <a:t> </a:t>
                  </a:r>
                  <a:r>
                    <a:rPr lang="en-ZA" sz="2800" dirty="0"/>
                    <a:t>yields </a:t>
                  </a:r>
                  <a:r>
                    <a:rPr lang="en-US" sz="2800" dirty="0"/>
                    <a:t>: 1, 7, 4 or 13</a:t>
                  </a:r>
                </a:p>
              </p:txBody>
            </p:sp>
          </mc:Choice>
          <mc:Fallback xmlns="">
            <p:sp>
              <p:nvSpPr>
                <p:cNvPr id="27" name="TextBox 26">
                  <a:extLst>
                    <a:ext uri="{FF2B5EF4-FFF2-40B4-BE49-F238E27FC236}">
                      <a16:creationId xmlns:a16="http://schemas.microsoft.com/office/drawing/2014/main" id="{DBB27106-4210-D14B-A0F8-C7F490705988}"/>
                    </a:ext>
                  </a:extLst>
                </p:cNvPr>
                <p:cNvSpPr txBox="1">
                  <a:spLocks noRot="1" noChangeAspect="1" noMove="1" noResize="1" noEditPoints="1" noAdjustHandles="1" noChangeArrowheads="1" noChangeShapeType="1" noTextEdit="1"/>
                </p:cNvSpPr>
                <p:nvPr/>
              </p:nvSpPr>
              <p:spPr>
                <a:xfrm>
                  <a:off x="1571714" y="5750900"/>
                  <a:ext cx="5798062" cy="523220"/>
                </a:xfrm>
                <a:prstGeom prst="rect">
                  <a:avLst/>
                </a:prstGeom>
                <a:blipFill>
                  <a:blip r:embed="rId10"/>
                  <a:stretch>
                    <a:fillRect l="-2188" t="-11905" r="-1313" b="-28571"/>
                  </a:stretch>
                </a:blipFill>
              </p:spPr>
              <p:txBody>
                <a:bodyPr/>
                <a:lstStyle/>
                <a:p>
                  <a:r>
                    <a:rPr lang="en-US">
                      <a:noFill/>
                    </a:rPr>
                    <a:t> </a:t>
                  </a:r>
                </a:p>
              </p:txBody>
            </p:sp>
          </mc:Fallback>
        </mc:AlternateContent>
      </p:grpSp>
      <p:sp>
        <p:nvSpPr>
          <p:cNvPr id="28" name="Slide Number Placeholder 2">
            <a:extLst>
              <a:ext uri="{FF2B5EF4-FFF2-40B4-BE49-F238E27FC236}">
                <a16:creationId xmlns:a16="http://schemas.microsoft.com/office/drawing/2014/main" id="{A6A19F2A-B169-234B-BB52-3E73BAF06DA6}"/>
              </a:ext>
            </a:extLst>
          </p:cNvPr>
          <p:cNvSpPr>
            <a:spLocks noGrp="1"/>
          </p:cNvSpPr>
          <p:nvPr>
            <p:ph type="sldNum" sz="quarter" idx="12"/>
          </p:nvPr>
        </p:nvSpPr>
        <p:spPr>
          <a:xfrm>
            <a:off x="0" y="6492875"/>
            <a:ext cx="851338" cy="365125"/>
          </a:xfrm>
        </p:spPr>
        <p:txBody>
          <a:bodyPr/>
          <a:lstStyle/>
          <a:p>
            <a:pPr algn="l"/>
            <a:fld id="{591A223C-FA10-BC46-A853-03BA373D023C}" type="slidenum">
              <a:rPr lang="en-US" smtClean="0"/>
              <a:pPr algn="l"/>
              <a:t>45</a:t>
            </a:fld>
            <a:endParaRPr lang="en-US"/>
          </a:p>
        </p:txBody>
      </p:sp>
    </p:spTree>
    <p:extLst>
      <p:ext uri="{BB962C8B-B14F-4D97-AF65-F5344CB8AC3E}">
        <p14:creationId xmlns:p14="http://schemas.microsoft.com/office/powerpoint/2010/main" val="4042187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linds(horizont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blinds(horizontal)">
                                      <p:cBhvr>
                                        <p:cTn id="1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497E8EF3-BA81-1747-96AF-679B542FB8AF}"/>
              </a:ext>
            </a:extLst>
          </p:cNvPr>
          <p:cNvSpPr/>
          <p:nvPr/>
        </p:nvSpPr>
        <p:spPr>
          <a:xfrm>
            <a:off x="8667135" y="490414"/>
            <a:ext cx="1563329" cy="2064774"/>
          </a:xfrm>
          <a:prstGeom prst="ellipse">
            <a:avLst/>
          </a:prstGeom>
          <a:noFill/>
          <a:ln w="254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87066B3-3626-FA41-9AEE-3B3F2E4FD28B}"/>
              </a:ext>
            </a:extLst>
          </p:cNvPr>
          <p:cNvPicPr>
            <a:picLocks noChangeAspect="1"/>
          </p:cNvPicPr>
          <p:nvPr/>
        </p:nvPicPr>
        <p:blipFill>
          <a:blip r:embed="rId3"/>
          <a:stretch>
            <a:fillRect/>
          </a:stretch>
        </p:blipFill>
        <p:spPr>
          <a:xfrm>
            <a:off x="156634" y="137583"/>
            <a:ext cx="2817891" cy="1800000"/>
          </a:xfrm>
          <a:prstGeom prst="rect">
            <a:avLst/>
          </a:prstGeom>
        </p:spPr>
      </p:pic>
      <p:sp>
        <p:nvSpPr>
          <p:cNvPr id="39" name="TextBox 38">
            <a:extLst>
              <a:ext uri="{FF2B5EF4-FFF2-40B4-BE49-F238E27FC236}">
                <a16:creationId xmlns:a16="http://schemas.microsoft.com/office/drawing/2014/main" id="{16BEDA70-7A55-9049-8FD7-1DEBF9015C07}"/>
              </a:ext>
            </a:extLst>
          </p:cNvPr>
          <p:cNvSpPr txBox="1"/>
          <p:nvPr/>
        </p:nvSpPr>
        <p:spPr>
          <a:xfrm>
            <a:off x="1908380" y="1889689"/>
            <a:ext cx="301686" cy="369332"/>
          </a:xfrm>
          <a:prstGeom prst="rect">
            <a:avLst/>
          </a:prstGeom>
          <a:noFill/>
        </p:spPr>
        <p:txBody>
          <a:bodyPr wrap="none" rtlCol="0">
            <a:spAutoFit/>
          </a:bodyPr>
          <a:lstStyle/>
          <a:p>
            <a:r>
              <a:rPr lang="en-US" dirty="0">
                <a:solidFill>
                  <a:srgbClr val="FF0000"/>
                </a:solidFill>
              </a:rPr>
              <a:t>3</a:t>
            </a:r>
          </a:p>
        </p:txBody>
      </p:sp>
      <p:sp>
        <p:nvSpPr>
          <p:cNvPr id="41" name="TextBox 40">
            <a:extLst>
              <a:ext uri="{FF2B5EF4-FFF2-40B4-BE49-F238E27FC236}">
                <a16:creationId xmlns:a16="http://schemas.microsoft.com/office/drawing/2014/main" id="{F2195737-3B31-4741-97E5-64AB6B9439D5}"/>
              </a:ext>
            </a:extLst>
          </p:cNvPr>
          <p:cNvSpPr txBox="1"/>
          <p:nvPr/>
        </p:nvSpPr>
        <p:spPr>
          <a:xfrm>
            <a:off x="3346878" y="137583"/>
            <a:ext cx="1077154" cy="523220"/>
          </a:xfrm>
          <a:prstGeom prst="rect">
            <a:avLst/>
          </a:prstGeom>
          <a:solidFill>
            <a:schemeClr val="accent4">
              <a:lumMod val="20000"/>
              <a:lumOff val="80000"/>
            </a:schemeClr>
          </a:solidFill>
        </p:spPr>
        <p:txBody>
          <a:bodyPr wrap="none" rtlCol="0">
            <a:spAutoFit/>
          </a:bodyPr>
          <a:lstStyle/>
          <a:p>
            <a:r>
              <a:rPr lang="en-US" sz="2400" dirty="0">
                <a:solidFill>
                  <a:srgbClr val="0000FF"/>
                </a:solidFill>
              </a:rPr>
              <a:t>step</a:t>
            </a:r>
            <a:r>
              <a:rPr lang="en-US" sz="2800" dirty="0">
                <a:solidFill>
                  <a:srgbClr val="0000FF"/>
                </a:solidFill>
              </a:rPr>
              <a:t> 3:</a:t>
            </a:r>
            <a:endParaRPr lang="en-US" sz="2800" dirty="0"/>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5AB8BE4D-1448-544B-8FBD-22866EE287AF}"/>
                  </a:ext>
                </a:extLst>
              </p:cNvPr>
              <p:cNvSpPr/>
              <p:nvPr/>
            </p:nvSpPr>
            <p:spPr>
              <a:xfrm>
                <a:off x="3346878" y="778591"/>
                <a:ext cx="7509107" cy="14884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1</m:t>
                          </m:r>
                        </m:num>
                        <m:den>
                          <m:r>
                            <a:rPr lang="en-US" sz="2200" b="0" i="1" smtClean="0">
                              <a:latin typeface="Cambria Math" panose="02040503050406030204" pitchFamily="18" charset="0"/>
                              <a:ea typeface="Cambria Math" panose="02040503050406030204" pitchFamily="18" charset="0"/>
                            </a:rPr>
                            <m:t>4</m:t>
                          </m:r>
                        </m:den>
                      </m:f>
                      <m:d>
                        <m:dPr>
                          <m:begChr m:val="{"/>
                          <m:endChr m:val="}"/>
                          <m:ctrlPr>
                            <a:rPr lang="en-US" sz="2200" i="1" smtClean="0">
                              <a:latin typeface="Cambria Math" panose="02040503050406030204" pitchFamily="18" charset="0"/>
                              <a:ea typeface="Cambria Math" panose="02040503050406030204" pitchFamily="18" charset="0"/>
                            </a:rPr>
                          </m:ctrlPr>
                        </m:dPr>
                        <m:e>
                          <m:m>
                            <m:mPr>
                              <m:mcs>
                                <m:mc>
                                  <m:mcPr>
                                    <m:count m:val="8"/>
                                    <m:mcJc m:val="center"/>
                                  </m:mcPr>
                                </m:mc>
                              </m:mcs>
                              <m:ctrlPr>
                                <a:rPr lang="en-US" sz="2200" i="1">
                                  <a:latin typeface="Cambria Math" panose="02040503050406030204" pitchFamily="18" charset="0"/>
                                  <a:ea typeface="Cambria Math" panose="02040503050406030204" pitchFamily="18" charset="0"/>
                                </a:rPr>
                              </m:ctrlPr>
                            </m:mPr>
                            <m:m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b="0" i="0" smtClean="0">
                                        <a:latin typeface="Cambria Math" panose="02040503050406030204" pitchFamily="18" charset="0"/>
                                        <a:ea typeface="Cambria Math" panose="02040503050406030204" pitchFamily="18" charset="0"/>
                                      </a:rPr>
                                      <m:t> </m:t>
                                    </m:r>
                                    <m:r>
                                      <m:rPr>
                                        <m:nor/>
                                      </m:rPr>
                                      <a:rPr lang="en-US" sz="2200">
                                        <a:latin typeface="Cambria Math" panose="02040503050406030204" pitchFamily="18" charset="0"/>
                                        <a:ea typeface="Cambria Math" panose="02040503050406030204" pitchFamily="18" charset="0"/>
                                      </a:rPr>
                                      <m:t>0</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b="0" i="0" smtClean="0">
                                        <a:latin typeface="Cambria Math" panose="02040503050406030204" pitchFamily="18" charset="0"/>
                                        <a:ea typeface="Cambria Math" panose="02040503050406030204" pitchFamily="18" charset="0"/>
                                      </a:rPr>
                                      <m:t> </m:t>
                                    </m:r>
                                    <m:r>
                                      <m:rPr>
                                        <m:nor/>
                                      </m:rPr>
                                      <a:rPr lang="en-US" sz="2200">
                                        <a:latin typeface="Cambria Math" panose="02040503050406030204" pitchFamily="18" charset="0"/>
                                        <a:ea typeface="Cambria Math" panose="02040503050406030204" pitchFamily="18" charset="0"/>
                                      </a:rPr>
                                      <m:t>1</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|7</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 </m:t>
                                    </m:r>
                                    <m:r>
                                      <m:rPr>
                                        <m:nor/>
                                      </m:rPr>
                                      <a:rPr lang="en-US" sz="2200">
                                        <a:latin typeface="Cambria Math" panose="02040503050406030204" pitchFamily="18" charset="0"/>
                                        <a:ea typeface="Cambria Math" panose="02040503050406030204" pitchFamily="18" charset="0"/>
                                      </a:rPr>
                                      <m:t>2</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|4</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b="0" i="0" smtClean="0">
                                        <a:latin typeface="Cambria Math" panose="02040503050406030204" pitchFamily="18" charset="0"/>
                                        <a:ea typeface="Cambria Math" panose="02040503050406030204" pitchFamily="18" charset="0"/>
                                      </a:rPr>
                                      <m:t> </m:t>
                                    </m:r>
                                    <m:r>
                                      <m:rPr>
                                        <m:nor/>
                                      </m:rPr>
                                      <a:rPr lang="en-US" sz="2200">
                                        <a:latin typeface="Cambria Math" panose="02040503050406030204" pitchFamily="18" charset="0"/>
                                        <a:ea typeface="Cambria Math" panose="02040503050406030204" pitchFamily="18" charset="0"/>
                                      </a:rPr>
                                      <m:t>3</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|13</m:t>
                                    </m:r>
                                  </m:e>
                                </m:d>
                              </m:e>
                              <m:e>
                                <m:r>
                                  <a:rPr lang="en-US" sz="2200" i="1">
                                    <a:latin typeface="Cambria Math" panose="02040503050406030204" pitchFamily="18" charset="0"/>
                                    <a:ea typeface="Cambria Math" panose="02040503050406030204" pitchFamily="18" charset="0"/>
                                  </a:rPr>
                                  <m:t>+</m:t>
                                </m:r>
                              </m:e>
                            </m:mr>
                            <m:m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 </m:t>
                                    </m:r>
                                    <m:r>
                                      <m:rPr>
                                        <m:nor/>
                                      </m:rPr>
                                      <a:rPr lang="en-US" sz="2200">
                                        <a:latin typeface="Cambria Math" panose="02040503050406030204" pitchFamily="18" charset="0"/>
                                        <a:ea typeface="Cambria Math" panose="02040503050406030204" pitchFamily="18" charset="0"/>
                                      </a:rPr>
                                      <m:t>4</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 </m:t>
                                    </m:r>
                                    <m:r>
                                      <m:rPr>
                                        <m:nor/>
                                      </m:rPr>
                                      <a:rPr lang="en-US" sz="2200">
                                        <a:latin typeface="Cambria Math" panose="02040503050406030204" pitchFamily="18" charset="0"/>
                                        <a:ea typeface="Cambria Math" panose="02040503050406030204" pitchFamily="18" charset="0"/>
                                      </a:rPr>
                                      <m:t>5</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|7</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 </m:t>
                                    </m:r>
                                    <m:r>
                                      <m:rPr>
                                        <m:nor/>
                                      </m:rPr>
                                      <a:rPr lang="en-US" sz="2200">
                                        <a:latin typeface="Cambria Math" panose="02040503050406030204" pitchFamily="18" charset="0"/>
                                        <a:ea typeface="Cambria Math" panose="02040503050406030204" pitchFamily="18" charset="0"/>
                                      </a:rPr>
                                      <m:t>6</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|4</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 </m:t>
                                    </m:r>
                                    <m:r>
                                      <m:rPr>
                                        <m:nor/>
                                      </m:rPr>
                                      <a:rPr lang="en-US" sz="2200">
                                        <a:latin typeface="Cambria Math" panose="02040503050406030204" pitchFamily="18" charset="0"/>
                                        <a:ea typeface="Cambria Math" panose="02040503050406030204" pitchFamily="18" charset="0"/>
                                      </a:rPr>
                                      <m:t>7</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|13</m:t>
                                    </m:r>
                                  </m:e>
                                </m:d>
                              </m:e>
                              <m:e>
                                <m:r>
                                  <a:rPr lang="en-US" sz="2200" i="1">
                                    <a:latin typeface="Cambria Math" panose="02040503050406030204" pitchFamily="18" charset="0"/>
                                    <a:ea typeface="Cambria Math" panose="02040503050406030204" pitchFamily="18" charset="0"/>
                                  </a:rPr>
                                  <m:t>+</m:t>
                                </m:r>
                              </m:e>
                            </m:mr>
                            <m:m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 </m:t>
                                    </m:r>
                                    <m:r>
                                      <m:rPr>
                                        <m:nor/>
                                      </m:rPr>
                                      <a:rPr lang="en-US" sz="2200">
                                        <a:latin typeface="Cambria Math" panose="02040503050406030204" pitchFamily="18" charset="0"/>
                                        <a:ea typeface="Cambria Math" panose="02040503050406030204" pitchFamily="18" charset="0"/>
                                      </a:rPr>
                                      <m:t>8</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 </m:t>
                                    </m:r>
                                    <m:r>
                                      <m:rPr>
                                        <m:nor/>
                                      </m:rPr>
                                      <a:rPr lang="en-US" sz="2200">
                                        <a:latin typeface="Cambria Math" panose="02040503050406030204" pitchFamily="18" charset="0"/>
                                        <a:ea typeface="Cambria Math" panose="02040503050406030204" pitchFamily="18" charset="0"/>
                                      </a:rPr>
                                      <m:t>9</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|7</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a:latin typeface="Cambria Math" panose="02040503050406030204" pitchFamily="18" charset="0"/>
                                        <a:ea typeface="Cambria Math" panose="02040503050406030204" pitchFamily="18" charset="0"/>
                                      </a:rPr>
                                      <m:t>10</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|4</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a:latin typeface="Cambria Math" panose="02040503050406030204" pitchFamily="18" charset="0"/>
                                        <a:ea typeface="Cambria Math" panose="02040503050406030204" pitchFamily="18" charset="0"/>
                                      </a:rPr>
                                      <m:t>11</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|13</m:t>
                                    </m:r>
                                  </m:e>
                                </m:d>
                              </m:e>
                              <m:e>
                                <m:r>
                                  <a:rPr lang="en-US" sz="2200" i="1">
                                    <a:latin typeface="Cambria Math" panose="02040503050406030204" pitchFamily="18" charset="0"/>
                                    <a:ea typeface="Cambria Math" panose="02040503050406030204" pitchFamily="18" charset="0"/>
                                  </a:rPr>
                                  <m:t>+</m:t>
                                </m:r>
                              </m:e>
                            </m:mr>
                            <m:m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a:latin typeface="Cambria Math" panose="02040503050406030204" pitchFamily="18" charset="0"/>
                                        <a:ea typeface="Cambria Math" panose="02040503050406030204" pitchFamily="18" charset="0"/>
                                      </a:rPr>
                                      <m:t>12</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a:latin typeface="Cambria Math" panose="02040503050406030204" pitchFamily="18" charset="0"/>
                                        <a:ea typeface="Cambria Math" panose="02040503050406030204" pitchFamily="18" charset="0"/>
                                      </a:rPr>
                                      <m:t>13</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|7</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a:latin typeface="Cambria Math" panose="02040503050406030204" pitchFamily="18" charset="0"/>
                                        <a:ea typeface="Cambria Math" panose="02040503050406030204" pitchFamily="18" charset="0"/>
                                      </a:rPr>
                                      <m:t>14</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|4</m:t>
                                    </m:r>
                                  </m:e>
                                </m:d>
                              </m:e>
                              <m:e>
                                <m:r>
                                  <a:rPr lang="en-US" sz="2200" i="1">
                                    <a:latin typeface="Cambria Math" panose="02040503050406030204" pitchFamily="18" charset="0"/>
                                    <a:ea typeface="Cambria Math" panose="02040503050406030204" pitchFamily="18" charset="0"/>
                                  </a:rPr>
                                  <m:t>+</m:t>
                                </m:r>
                              </m:e>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a:latin typeface="Cambria Math" panose="02040503050406030204" pitchFamily="18" charset="0"/>
                                        <a:ea typeface="Cambria Math" panose="02040503050406030204" pitchFamily="18" charset="0"/>
                                      </a:rPr>
                                      <m:t>15</m:t>
                                    </m:r>
                                    <m:r>
                                      <m:rPr>
                                        <m:nor/>
                                      </m:rPr>
                                      <a:rPr lang="en-US" sz="2200" dirty="0"/>
                                      <m:t> </m:t>
                                    </m:r>
                                  </m:e>
                                </m:d>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|13</m:t>
                                    </m:r>
                                  </m:e>
                                </m:d>
                              </m:e>
                              <m:e/>
                            </m:mr>
                          </m:m>
                        </m:e>
                      </m:d>
                    </m:oMath>
                  </m:oMathPara>
                </a14:m>
                <a:endParaRPr lang="en-US" sz="2200" dirty="0"/>
              </a:p>
            </p:txBody>
          </p:sp>
        </mc:Choice>
        <mc:Fallback xmlns="">
          <p:sp>
            <p:nvSpPr>
              <p:cNvPr id="2" name="Rectangle 1">
                <a:extLst>
                  <a:ext uri="{FF2B5EF4-FFF2-40B4-BE49-F238E27FC236}">
                    <a16:creationId xmlns:a16="http://schemas.microsoft.com/office/drawing/2014/main" id="{5AB8BE4D-1448-544B-8FBD-22866EE287AF}"/>
                  </a:ext>
                </a:extLst>
              </p:cNvPr>
              <p:cNvSpPr>
                <a:spLocks noRot="1" noChangeAspect="1" noMove="1" noResize="1" noEditPoints="1" noAdjustHandles="1" noChangeArrowheads="1" noChangeShapeType="1" noTextEdit="1"/>
              </p:cNvSpPr>
              <p:nvPr/>
            </p:nvSpPr>
            <p:spPr>
              <a:xfrm>
                <a:off x="3346878" y="778591"/>
                <a:ext cx="7509107" cy="1488421"/>
              </a:xfrm>
              <a:prstGeom prst="rect">
                <a:avLst/>
              </a:prstGeom>
              <a:blipFill>
                <a:blip r:embed="rId4"/>
                <a:stretch>
                  <a:fillRect t="-36134" b="-537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D52D6E1-C036-2F40-9097-A16D600AB315}"/>
                  </a:ext>
                </a:extLst>
              </p:cNvPr>
              <p:cNvSpPr/>
              <p:nvPr/>
            </p:nvSpPr>
            <p:spPr>
              <a:xfrm>
                <a:off x="3346878" y="2384800"/>
                <a:ext cx="6753195" cy="7261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chemeClr val="tx1"/>
                              </a:solidFill>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𝑦</m:t>
                          </m:r>
                          <m:r>
                            <m:rPr>
                              <m:nor/>
                            </m:rPr>
                            <a:rPr lang="en-US" sz="2200" dirty="0"/>
                            <m:t> =13</m:t>
                          </m:r>
                          <m:r>
                            <a:rPr lang="en-US" sz="2200" i="1" dirty="0" smtClean="0">
                              <a:latin typeface="Cambria Math" panose="02040503050406030204" pitchFamily="18" charset="0"/>
                              <a:ea typeface="Cambria Math" panose="02040503050406030204" pitchFamily="18" charset="0"/>
                            </a:rPr>
                            <m:t>→</m:t>
                          </m:r>
                          <m:r>
                            <a:rPr lang="en-US" sz="2200" i="1">
                              <a:solidFill>
                                <a:schemeClr val="tx1"/>
                              </a:solidFill>
                              <a:latin typeface="Cambria Math" panose="02040503050406030204" pitchFamily="18" charset="0"/>
                              <a:ea typeface="Cambria Math" panose="02040503050406030204" pitchFamily="18" charset="0"/>
                            </a:rPr>
                            <m:t>|</m:t>
                          </m:r>
                          <m:r>
                            <a:rPr lang="en-US" sz="2200" i="1">
                              <a:solidFill>
                                <a:schemeClr val="tx1"/>
                              </a:solidFill>
                              <a:latin typeface="Cambria Math" panose="02040503050406030204" pitchFamily="18" charset="0"/>
                              <a:ea typeface="Cambria Math" panose="02040503050406030204" pitchFamily="18" charset="0"/>
                            </a:rPr>
                            <m:t>𝑥</m:t>
                          </m:r>
                        </m:e>
                      </m:d>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m:t>
                          </m:r>
                          <m:r>
                            <a:rPr lang="en-US" sz="2200" b="0" i="1" smtClean="0">
                              <a:solidFill>
                                <a:schemeClr val="tx1"/>
                              </a:solidFill>
                              <a:latin typeface="Cambria Math" panose="02040503050406030204" pitchFamily="18" charset="0"/>
                              <a:ea typeface="Cambria Math" panose="02040503050406030204" pitchFamily="18" charset="0"/>
                            </a:rPr>
                            <m:t>𝑦</m:t>
                          </m:r>
                        </m:e>
                      </m:d>
                      <m:r>
                        <a:rPr lang="en-US" sz="2200" b="0" i="1" smtClean="0">
                          <a:solidFill>
                            <a:schemeClr val="tx1"/>
                          </a:solidFill>
                          <a:latin typeface="Cambria Math" panose="02040503050406030204" pitchFamily="18" charset="0"/>
                          <a:ea typeface="Cambria Math" panose="02040503050406030204" pitchFamily="18" charset="0"/>
                        </a:rPr>
                        <m:t>=</m:t>
                      </m:r>
                      <m:f>
                        <m:fPr>
                          <m:ctrlPr>
                            <a:rPr lang="en-US" sz="2200" b="0" i="1" smtClean="0">
                              <a:solidFill>
                                <a:schemeClr val="tx1"/>
                              </a:solidFill>
                              <a:latin typeface="Cambria Math" panose="02040503050406030204" pitchFamily="18" charset="0"/>
                              <a:ea typeface="Cambria Math" panose="02040503050406030204" pitchFamily="18" charset="0"/>
                            </a:rPr>
                          </m:ctrlPr>
                        </m:fPr>
                        <m:num>
                          <m:r>
                            <a:rPr lang="en-US" sz="2200" b="0" i="1" smtClean="0">
                              <a:solidFill>
                                <a:schemeClr val="tx1"/>
                              </a:solidFill>
                              <a:latin typeface="Cambria Math" panose="02040503050406030204" pitchFamily="18" charset="0"/>
                              <a:ea typeface="Cambria Math" panose="02040503050406030204" pitchFamily="18" charset="0"/>
                            </a:rPr>
                            <m:t>1</m:t>
                          </m:r>
                        </m:num>
                        <m:den>
                          <m:r>
                            <a:rPr lang="en-US" sz="2200" b="0" i="1" smtClean="0">
                              <a:solidFill>
                                <a:schemeClr val="tx1"/>
                              </a:solidFill>
                              <a:latin typeface="Cambria Math" panose="02040503050406030204" pitchFamily="18" charset="0"/>
                              <a:ea typeface="Cambria Math" panose="02040503050406030204" pitchFamily="18" charset="0"/>
                            </a:rPr>
                            <m:t>2</m:t>
                          </m:r>
                        </m:den>
                      </m:f>
                      <m:d>
                        <m:dPr>
                          <m:ctrlPr>
                            <a:rPr lang="en-US" sz="2200" b="0" i="1" smtClean="0">
                              <a:solidFill>
                                <a:schemeClr val="tx1"/>
                              </a:solidFill>
                              <a:latin typeface="Cambria Math" panose="02040503050406030204" pitchFamily="18" charset="0"/>
                              <a:ea typeface="Cambria Math" panose="02040503050406030204" pitchFamily="18" charset="0"/>
                            </a:rPr>
                          </m:ctrlPr>
                        </m:dP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a:latin typeface="Cambria Math" panose="02040503050406030204" pitchFamily="18" charset="0"/>
                                  <a:ea typeface="Cambria Math" panose="02040503050406030204" pitchFamily="18" charset="0"/>
                                </a:rPr>
                                <m:t> 3</m:t>
                              </m:r>
                              <m:r>
                                <m:rPr>
                                  <m:nor/>
                                </m:rPr>
                                <a:rPr lang="en-US" sz="2200" dirty="0"/>
                                <m:t> </m:t>
                              </m:r>
                            </m:e>
                          </m:d>
                          <m:r>
                            <a:rPr lang="en-US" sz="2200" b="0" i="1" dirty="0" smtClean="0">
                              <a:latin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a:latin typeface="Cambria Math" panose="02040503050406030204" pitchFamily="18" charset="0"/>
                                  <a:ea typeface="Cambria Math" panose="02040503050406030204" pitchFamily="18" charset="0"/>
                                </a:rPr>
                                <m:t> </m:t>
                              </m:r>
                              <m:r>
                                <m:rPr>
                                  <m:nor/>
                                </m:rPr>
                                <a:rPr lang="en-US" sz="2200" b="0" i="0" smtClean="0">
                                  <a:latin typeface="Cambria Math" panose="02040503050406030204" pitchFamily="18" charset="0"/>
                                  <a:ea typeface="Cambria Math" panose="02040503050406030204" pitchFamily="18" charset="0"/>
                                </a:rPr>
                                <m:t>7</m:t>
                              </m:r>
                              <m:r>
                                <m:rPr>
                                  <m:nor/>
                                </m:rPr>
                                <a:rPr lang="en-US" sz="2200" dirty="0"/>
                                <m:t> </m:t>
                              </m:r>
                            </m:e>
                          </m:d>
                          <m:r>
                            <a:rPr lang="en-US" sz="2200" b="0" i="1" dirty="0" smtClean="0">
                              <a:latin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a:latin typeface="Cambria Math" panose="02040503050406030204" pitchFamily="18" charset="0"/>
                                  <a:ea typeface="Cambria Math" panose="02040503050406030204" pitchFamily="18" charset="0"/>
                                </a:rPr>
                                <m:t> </m:t>
                              </m:r>
                              <m:r>
                                <m:rPr>
                                  <m:nor/>
                                </m:rPr>
                                <a:rPr lang="en-US" sz="2200" b="0" i="0" smtClean="0">
                                  <a:latin typeface="Cambria Math" panose="02040503050406030204" pitchFamily="18" charset="0"/>
                                  <a:ea typeface="Cambria Math" panose="02040503050406030204" pitchFamily="18" charset="0"/>
                                </a:rPr>
                                <m:t>11</m:t>
                              </m:r>
                              <m:r>
                                <m:rPr>
                                  <m:nor/>
                                </m:rPr>
                                <a:rPr lang="en-US" sz="2200" dirty="0"/>
                                <m:t> </m:t>
                              </m:r>
                            </m:e>
                          </m:d>
                          <m:r>
                            <a:rPr lang="en-US" sz="2200" b="0" i="1" dirty="0" smtClean="0">
                              <a:latin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m:rPr>
                                  <m:nor/>
                                </m:rPr>
                                <a:rPr lang="en-US" sz="2200">
                                  <a:latin typeface="Cambria Math" panose="02040503050406030204" pitchFamily="18" charset="0"/>
                                  <a:ea typeface="Cambria Math" panose="02040503050406030204" pitchFamily="18" charset="0"/>
                                </a:rPr>
                                <m:t> </m:t>
                              </m:r>
                              <m:r>
                                <m:rPr>
                                  <m:nor/>
                                </m:rPr>
                                <a:rPr lang="en-US" sz="2200" b="0" i="0" smtClean="0">
                                  <a:latin typeface="Cambria Math" panose="02040503050406030204" pitchFamily="18" charset="0"/>
                                  <a:ea typeface="Cambria Math" panose="02040503050406030204" pitchFamily="18" charset="0"/>
                                </a:rPr>
                                <m:t>15</m:t>
                              </m:r>
                              <m:r>
                                <m:rPr>
                                  <m:nor/>
                                </m:rPr>
                                <a:rPr lang="en-US" sz="2200" dirty="0"/>
                                <m:t> </m:t>
                              </m:r>
                            </m:e>
                          </m:d>
                        </m:e>
                      </m:d>
                      <m:r>
                        <a:rPr lang="en-US" sz="2200" i="1">
                          <a:latin typeface="Cambria Math" panose="02040503050406030204" pitchFamily="18" charset="0"/>
                          <a:ea typeface="Cambria Math" panose="02040503050406030204" pitchFamily="18" charset="0"/>
                        </a:rPr>
                        <m:t>⨂</m:t>
                      </m:r>
                      <m:d>
                        <m:dPr>
                          <m:begChr m:val=""/>
                          <m:endChr m:val="⟩"/>
                          <m:ctrlPr>
                            <a:rPr lang="en-US" sz="2200" i="1">
                              <a:solidFill>
                                <a:srgbClr val="FF000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|13</m:t>
                          </m:r>
                        </m:e>
                      </m:d>
                    </m:oMath>
                  </m:oMathPara>
                </a14:m>
                <a:endParaRPr lang="en-US" sz="2200" dirty="0">
                  <a:solidFill>
                    <a:schemeClr val="tx1"/>
                  </a:solidFill>
                </a:endParaRPr>
              </a:p>
            </p:txBody>
          </p:sp>
        </mc:Choice>
        <mc:Fallback xmlns="">
          <p:sp>
            <p:nvSpPr>
              <p:cNvPr id="4" name="Rectangle 3">
                <a:extLst>
                  <a:ext uri="{FF2B5EF4-FFF2-40B4-BE49-F238E27FC236}">
                    <a16:creationId xmlns:a16="http://schemas.microsoft.com/office/drawing/2014/main" id="{1D52D6E1-C036-2F40-9097-A16D600AB315}"/>
                  </a:ext>
                </a:extLst>
              </p:cNvPr>
              <p:cNvSpPr>
                <a:spLocks noRot="1" noChangeAspect="1" noMove="1" noResize="1" noEditPoints="1" noAdjustHandles="1" noChangeArrowheads="1" noChangeShapeType="1" noTextEdit="1"/>
              </p:cNvSpPr>
              <p:nvPr/>
            </p:nvSpPr>
            <p:spPr>
              <a:xfrm>
                <a:off x="3346878" y="2384800"/>
                <a:ext cx="6753195" cy="726161"/>
              </a:xfrm>
              <a:prstGeom prst="rect">
                <a:avLst/>
              </a:prstGeom>
              <a:blipFill>
                <a:blip r:embed="rId5"/>
                <a:stretch>
                  <a:fillRect t="-46552" r="-3766" b="-94828"/>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329EBF67-649F-6C43-B9D0-E0032A0FFB6F}"/>
              </a:ext>
            </a:extLst>
          </p:cNvPr>
          <p:cNvGrpSpPr/>
          <p:nvPr/>
        </p:nvGrpSpPr>
        <p:grpSpPr>
          <a:xfrm>
            <a:off x="2416612" y="126923"/>
            <a:ext cx="301686" cy="2132098"/>
            <a:chOff x="2416612" y="126923"/>
            <a:chExt cx="301686" cy="2132098"/>
          </a:xfrm>
        </p:grpSpPr>
        <p:cxnSp>
          <p:nvCxnSpPr>
            <p:cNvPr id="34" name="Straight Connector 33">
              <a:extLst>
                <a:ext uri="{FF2B5EF4-FFF2-40B4-BE49-F238E27FC236}">
                  <a16:creationId xmlns:a16="http://schemas.microsoft.com/office/drawing/2014/main" id="{673FBB18-ED5D-2E4F-B629-31D0DA4251A7}"/>
                </a:ext>
              </a:extLst>
            </p:cNvPr>
            <p:cNvCxnSpPr>
              <a:cxnSpLocks/>
            </p:cNvCxnSpPr>
            <p:nvPr/>
          </p:nvCxnSpPr>
          <p:spPr>
            <a:xfrm flipH="1">
              <a:off x="2571897" y="126923"/>
              <a:ext cx="3" cy="1761555"/>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E80A41D-7CEA-944B-8907-B4765114B175}"/>
                </a:ext>
              </a:extLst>
            </p:cNvPr>
            <p:cNvSpPr txBox="1"/>
            <p:nvPr/>
          </p:nvSpPr>
          <p:spPr>
            <a:xfrm>
              <a:off x="2416612" y="1889689"/>
              <a:ext cx="301686" cy="369332"/>
            </a:xfrm>
            <a:prstGeom prst="rect">
              <a:avLst/>
            </a:prstGeom>
            <a:noFill/>
          </p:spPr>
          <p:txBody>
            <a:bodyPr wrap="none" rtlCol="0">
              <a:spAutoFit/>
            </a:bodyPr>
            <a:lstStyle/>
            <a:p>
              <a:r>
                <a:rPr lang="en-US" dirty="0">
                  <a:solidFill>
                    <a:srgbClr val="FF0000"/>
                  </a:solidFill>
                </a:rPr>
                <a:t>4</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EAF19B8-D7CD-174A-B8EB-4ACD0A2C2B02}"/>
                  </a:ext>
                </a:extLst>
              </p:cNvPr>
              <p:cNvSpPr txBox="1"/>
              <p:nvPr/>
            </p:nvSpPr>
            <p:spPr>
              <a:xfrm>
                <a:off x="156634" y="3310778"/>
                <a:ext cx="1960408" cy="461665"/>
              </a:xfrm>
              <a:prstGeom prst="rect">
                <a:avLst/>
              </a:prstGeom>
              <a:solidFill>
                <a:schemeClr val="accent4">
                  <a:lumMod val="20000"/>
                  <a:lumOff val="80000"/>
                </a:schemeClr>
              </a:solidFill>
            </p:spPr>
            <p:txBody>
              <a:bodyPr wrap="none" rtlCol="0">
                <a:spAutoFit/>
              </a:bodyPr>
              <a:lstStyle/>
              <a:p>
                <a:r>
                  <a:rPr lang="en-US" sz="2400" dirty="0">
                    <a:solidFill>
                      <a:srgbClr val="0000FF"/>
                    </a:solidFill>
                  </a:rPr>
                  <a:t>step 4 </a:t>
                </a:r>
                <a:r>
                  <a:rPr lang="en-US" sz="2400" dirty="0"/>
                  <a:t>(</a:t>
                </a:r>
                <a14:m>
                  <m:oMath xmlns:m="http://schemas.openxmlformats.org/officeDocument/2006/math">
                    <m:r>
                      <m:rPr>
                        <m:sty m:val="p"/>
                      </m:rPr>
                      <a:rPr lang="en-US" sz="2400" b="0" i="0" smtClean="0">
                        <a:solidFill>
                          <a:srgbClr val="002060"/>
                        </a:solidFill>
                        <a:latin typeface="Cambria Math" panose="02040503050406030204" pitchFamily="18" charset="0"/>
                        <a:ea typeface="Cambria Math" panose="02040503050406030204" pitchFamily="18" charset="0"/>
                      </a:rPr>
                      <m:t>IQFT</m:t>
                    </m:r>
                    <m:r>
                      <a:rPr lang="en-US" sz="2400" b="0" i="1" smtClean="0">
                        <a:solidFill>
                          <a:srgbClr val="002060"/>
                        </a:solidFill>
                        <a:latin typeface="Cambria Math" panose="02040503050406030204" pitchFamily="18" charset="0"/>
                        <a:ea typeface="Cambria Math" panose="02040503050406030204" pitchFamily="18" charset="0"/>
                      </a:rPr>
                      <m:t>)</m:t>
                    </m:r>
                  </m:oMath>
                </a14:m>
                <a:r>
                  <a:rPr lang="en-US" sz="2400" dirty="0"/>
                  <a:t>:</a:t>
                </a:r>
              </a:p>
            </p:txBody>
          </p:sp>
        </mc:Choice>
        <mc:Fallback xmlns="">
          <p:sp>
            <p:nvSpPr>
              <p:cNvPr id="29" name="TextBox 28">
                <a:extLst>
                  <a:ext uri="{FF2B5EF4-FFF2-40B4-BE49-F238E27FC236}">
                    <a16:creationId xmlns:a16="http://schemas.microsoft.com/office/drawing/2014/main" id="{4EAF19B8-D7CD-174A-B8EB-4ACD0A2C2B02}"/>
                  </a:ext>
                </a:extLst>
              </p:cNvPr>
              <p:cNvSpPr txBox="1">
                <a:spLocks noRot="1" noChangeAspect="1" noMove="1" noResize="1" noEditPoints="1" noAdjustHandles="1" noChangeArrowheads="1" noChangeShapeType="1" noTextEdit="1"/>
              </p:cNvSpPr>
              <p:nvPr/>
            </p:nvSpPr>
            <p:spPr>
              <a:xfrm>
                <a:off x="156634" y="3310778"/>
                <a:ext cx="1960408" cy="461665"/>
              </a:xfrm>
              <a:prstGeom prst="rect">
                <a:avLst/>
              </a:prstGeom>
              <a:blipFill>
                <a:blip r:embed="rId6"/>
                <a:stretch>
                  <a:fillRect l="-5161" t="-8108" r="-3226"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71AF2091-F031-F84B-ACF6-DCC4B4811C93}"/>
                  </a:ext>
                </a:extLst>
              </p:cNvPr>
              <p:cNvSpPr/>
              <p:nvPr/>
            </p:nvSpPr>
            <p:spPr>
              <a:xfrm>
                <a:off x="2974525" y="3993163"/>
                <a:ext cx="8068171" cy="10465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200" i="1" smtClean="0">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𝑄𝐹𝑇</m:t>
                          </m:r>
                        </m:e>
                        <m:sup>
                          <m:r>
                            <a:rPr lang="en-US" sz="2200" i="1">
                              <a:solidFill>
                                <a:srgbClr val="002060"/>
                              </a:solidFill>
                              <a:latin typeface="Cambria Math" panose="02040503050406030204" pitchFamily="18" charset="0"/>
                              <a:ea typeface="Cambria Math" panose="02040503050406030204" pitchFamily="18" charset="0"/>
                            </a:rPr>
                            <m:t>†</m:t>
                          </m:r>
                        </m:sup>
                      </m:sSup>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sSub>
                            <m:sSubPr>
                              <m:ctrlPr>
                                <a:rPr lang="en-US" sz="2200" i="1">
                                  <a:solidFill>
                                    <a:srgbClr val="002060"/>
                                  </a:solidFill>
                                  <a:latin typeface="Cambria Math" panose="02040503050406030204" pitchFamily="18" charset="0"/>
                                  <a:ea typeface="Cambria Math" panose="02040503050406030204" pitchFamily="18" charset="0"/>
                                </a:rPr>
                              </m:ctrlPr>
                            </m:sSubPr>
                            <m:e>
                              <m:r>
                                <a:rPr lang="sr-Latn-RS" sz="2200" i="1">
                                  <a:solidFill>
                                    <a:srgbClr val="002060"/>
                                  </a:solidFill>
                                  <a:latin typeface="Cambria Math" panose="02040503050406030204" pitchFamily="18" charset="0"/>
                                  <a:ea typeface="Cambria Math" panose="02040503050406030204" pitchFamily="18" charset="0"/>
                                </a:rPr>
                                <m:t>𝑥</m:t>
                              </m:r>
                            </m:e>
                            <m:sub>
                              <m:r>
                                <a:rPr lang="sr-Latn-RS" sz="2200" i="1">
                                  <a:solidFill>
                                    <a:srgbClr val="002060"/>
                                  </a:solidFill>
                                  <a:latin typeface="Cambria Math" panose="02040503050406030204" pitchFamily="18" charset="0"/>
                                  <a:ea typeface="Cambria Math" panose="02040503050406030204" pitchFamily="18" charset="0"/>
                                </a:rPr>
                                <m:t>𝑖</m:t>
                              </m:r>
                            </m:sub>
                          </m:sSub>
                        </m:e>
                      </m:d>
                      <m:r>
                        <a:rPr lang="en-US" sz="2200" i="1">
                          <a:solidFill>
                            <a:srgbClr val="00206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solidFill>
                                <a:srgbClr val="002060"/>
                              </a:solidFill>
                              <a:latin typeface="Cambria Math" panose="02040503050406030204" pitchFamily="18" charset="0"/>
                              <a:ea typeface="Cambria Math" panose="02040503050406030204" pitchFamily="18" charset="0"/>
                            </a:rPr>
                            <m:t>1</m:t>
                          </m:r>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b="0" i="1" smtClean="0">
                                  <a:solidFill>
                                    <a:srgbClr val="002060"/>
                                  </a:solidFill>
                                  <a:latin typeface="Cambria Math" panose="02040503050406030204" pitchFamily="18" charset="0"/>
                                  <a:ea typeface="Cambria Math" panose="02040503050406030204" pitchFamily="18" charset="0"/>
                                </a:rPr>
                                <m:t>𝑄</m:t>
                              </m:r>
                            </m:e>
                          </m:rad>
                        </m:den>
                      </m:f>
                      <m:nary>
                        <m:naryPr>
                          <m:chr m:val="∑"/>
                          <m:ctrlPr>
                            <a:rPr lang="en-US" sz="2200" i="1">
                              <a:solidFill>
                                <a:srgbClr val="002060"/>
                              </a:solidFill>
                              <a:latin typeface="Cambria Math" panose="02040503050406030204" pitchFamily="18" charset="0"/>
                              <a:ea typeface="Cambria Math" panose="02040503050406030204" pitchFamily="18" charset="0"/>
                            </a:rPr>
                          </m:ctrlPr>
                        </m:naryPr>
                        <m:sub>
                          <m:r>
                            <a:rPr lang="en-US" sz="2200" b="0" i="1" smtClean="0">
                              <a:solidFill>
                                <a:srgbClr val="002060"/>
                              </a:solidFill>
                              <a:latin typeface="Cambria Math" panose="02040503050406030204" pitchFamily="18" charset="0"/>
                              <a:ea typeface="Cambria Math" panose="02040503050406030204" pitchFamily="18" charset="0"/>
                            </a:rPr>
                            <m:t>𝑘</m:t>
                          </m:r>
                          <m:r>
                            <a:rPr lang="en-US" sz="2200" i="1">
                              <a:solidFill>
                                <a:srgbClr val="002060"/>
                              </a:solidFill>
                              <a:latin typeface="Cambria Math" panose="02040503050406030204" pitchFamily="18" charset="0"/>
                              <a:ea typeface="Cambria Math" panose="02040503050406030204" pitchFamily="18" charset="0"/>
                            </a:rPr>
                            <m:t>=0</m:t>
                          </m:r>
                        </m:sub>
                        <m:sup>
                          <m:r>
                            <a:rPr lang="en-US" sz="2200" b="0" i="1" smtClean="0">
                              <a:solidFill>
                                <a:srgbClr val="002060"/>
                              </a:solidFill>
                              <a:latin typeface="Cambria Math" panose="02040503050406030204" pitchFamily="18" charset="0"/>
                              <a:ea typeface="Cambria Math" panose="02040503050406030204" pitchFamily="18" charset="0"/>
                            </a:rPr>
                            <m:t>𝑄</m:t>
                          </m:r>
                          <m:r>
                            <a:rPr lang="en-US" sz="2200" i="1">
                              <a:solidFill>
                                <a:srgbClr val="002060"/>
                              </a:solidFill>
                              <a:latin typeface="Cambria Math" panose="02040503050406030204" pitchFamily="18" charset="0"/>
                              <a:ea typeface="Cambria Math" panose="02040503050406030204" pitchFamily="18" charset="0"/>
                            </a:rPr>
                            <m:t>−1</m:t>
                          </m:r>
                        </m:sup>
                        <m:e>
                          <m:sSup>
                            <m:sSupPr>
                              <m:ctrlPr>
                                <a:rPr lang="en-US" sz="2200" i="1">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𝑒</m:t>
                              </m:r>
                            </m:e>
                            <m:sup>
                              <m:r>
                                <a:rPr lang="en-US" sz="2200" b="0" i="1" smtClean="0">
                                  <a:solidFill>
                                    <a:srgbClr val="FF000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solidFill>
                                        <a:srgbClr val="002060"/>
                                      </a:solidFill>
                                      <a:latin typeface="Cambria Math" panose="02040503050406030204" pitchFamily="18" charset="0"/>
                                      <a:ea typeface="Cambria Math" panose="02040503050406030204" pitchFamily="18" charset="0"/>
                                    </a:rPr>
                                    <m:t>2</m:t>
                                  </m:r>
                                  <m:r>
                                    <a:rPr lang="en-US" sz="2200" i="1">
                                      <a:solidFill>
                                        <a:srgbClr val="002060"/>
                                      </a:solidFill>
                                      <a:latin typeface="Cambria Math" panose="02040503050406030204" pitchFamily="18" charset="0"/>
                                      <a:ea typeface="Cambria Math" panose="02040503050406030204" pitchFamily="18" charset="0"/>
                                    </a:rPr>
                                    <m:t>𝜋</m:t>
                                  </m:r>
                                  <m:r>
                                    <a:rPr lang="en-US" sz="2200" i="1">
                                      <a:solidFill>
                                        <a:srgbClr val="002060"/>
                                      </a:solidFill>
                                      <a:latin typeface="Cambria Math" panose="02040503050406030204" pitchFamily="18" charset="0"/>
                                      <a:ea typeface="Cambria Math" panose="02040503050406030204" pitchFamily="18" charset="0"/>
                                    </a:rPr>
                                    <m:t>𝑖</m:t>
                                  </m:r>
                                </m:num>
                                <m:den>
                                  <m:r>
                                    <a:rPr lang="en-US" sz="2200" b="0" i="1" smtClean="0">
                                      <a:solidFill>
                                        <a:srgbClr val="002060"/>
                                      </a:solidFill>
                                      <a:latin typeface="Cambria Math" panose="02040503050406030204" pitchFamily="18" charset="0"/>
                                      <a:ea typeface="Cambria Math" panose="02040503050406030204" pitchFamily="18" charset="0"/>
                                    </a:rPr>
                                    <m:t>𝑄</m:t>
                                  </m:r>
                                </m:den>
                              </m:f>
                              <m:sSub>
                                <m:sSubPr>
                                  <m:ctrlPr>
                                    <a:rPr lang="en-US" sz="2200" i="1">
                                      <a:solidFill>
                                        <a:srgbClr val="002060"/>
                                      </a:solidFill>
                                      <a:latin typeface="Cambria Math" panose="02040503050406030204" pitchFamily="18" charset="0"/>
                                      <a:ea typeface="Cambria Math" panose="02040503050406030204" pitchFamily="18" charset="0"/>
                                    </a:rPr>
                                  </m:ctrlPr>
                                </m:sSubPr>
                                <m:e>
                                  <m:r>
                                    <a:rPr lang="sr-Latn-RS" sz="2200" i="1">
                                      <a:solidFill>
                                        <a:srgbClr val="002060"/>
                                      </a:solidFill>
                                      <a:latin typeface="Cambria Math" panose="02040503050406030204" pitchFamily="18" charset="0"/>
                                      <a:ea typeface="Cambria Math" panose="02040503050406030204" pitchFamily="18" charset="0"/>
                                    </a:rPr>
                                    <m:t>𝑥</m:t>
                                  </m:r>
                                </m:e>
                                <m:sub>
                                  <m:r>
                                    <a:rPr lang="sr-Latn-RS" sz="2200" i="1">
                                      <a:solidFill>
                                        <a:srgbClr val="002060"/>
                                      </a:solidFill>
                                      <a:latin typeface="Cambria Math" panose="02040503050406030204" pitchFamily="18" charset="0"/>
                                      <a:ea typeface="Cambria Math" panose="02040503050406030204" pitchFamily="18" charset="0"/>
                                    </a:rPr>
                                    <m:t>𝑖</m:t>
                                  </m:r>
                                </m:sub>
                              </m:sSub>
                              <m:r>
                                <a:rPr lang="en-US" sz="2200" b="0" i="1" smtClean="0">
                                  <a:solidFill>
                                    <a:srgbClr val="002060"/>
                                  </a:solidFill>
                                  <a:latin typeface="Cambria Math" panose="02040503050406030204" pitchFamily="18" charset="0"/>
                                  <a:ea typeface="Cambria Math" panose="02040503050406030204" pitchFamily="18" charset="0"/>
                                </a:rPr>
                                <m:t>𝑘</m:t>
                              </m:r>
                            </m:sup>
                          </m:sSup>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𝑘</m:t>
                              </m:r>
                            </m:e>
                          </m:d>
                        </m:e>
                      </m:nary>
                      <m:r>
                        <a:rPr lang="en-US" sz="2200" b="0" i="1" smtClean="0">
                          <a:solidFill>
                            <a:srgbClr val="002060"/>
                          </a:solidFill>
                          <a:latin typeface="Cambria Math" panose="02040503050406030204" pitchFamily="18" charset="0"/>
                          <a:ea typeface="Cambria Math" panose="02040503050406030204" pitchFamily="18" charset="0"/>
                        </a:rPr>
                        <m:t>,</m:t>
                      </m:r>
                      <m:r>
                        <a:rPr lang="sr-Latn-RS" sz="2200" b="0" i="1" smtClean="0">
                          <a:solidFill>
                            <a:srgbClr val="002060"/>
                          </a:solidFill>
                          <a:latin typeface="Cambria Math" panose="02040503050406030204" pitchFamily="18" charset="0"/>
                          <a:ea typeface="Cambria Math" panose="02040503050406030204" pitchFamily="18" charset="0"/>
                        </a:rPr>
                        <m:t>  </m:t>
                      </m:r>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rPr>
                            <m:t>𝑄</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2</m:t>
                              </m:r>
                            </m:e>
                            <m:sup>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𝑥</m:t>
                                  </m:r>
                                </m:sub>
                              </m:sSub>
                            </m:sup>
                          </m:sSup>
                          <m:r>
                            <a:rPr lang="en-US" sz="2400" b="0" i="1" smtClean="0">
                              <a:latin typeface="Cambria Math" panose="02040503050406030204" pitchFamily="18" charset="0"/>
                            </a:rPr>
                            <m:t>,  </m:t>
                          </m:r>
                          <m:r>
                            <a:rPr lang="sr-Latn-RS" sz="2200" i="1">
                              <a:solidFill>
                                <a:srgbClr val="002060"/>
                              </a:solidFill>
                              <a:latin typeface="Cambria Math" panose="02040503050406030204" pitchFamily="18" charset="0"/>
                              <a:ea typeface="Cambria Math" panose="02040503050406030204" pitchFamily="18" charset="0"/>
                            </a:rPr>
                            <m:t>𝑥</m:t>
                          </m:r>
                        </m:e>
                        <m:sub>
                          <m:r>
                            <a:rPr lang="sr-Latn-RS" sz="2200" i="1">
                              <a:solidFill>
                                <a:srgbClr val="002060"/>
                              </a:solidFill>
                              <a:latin typeface="Cambria Math" panose="02040503050406030204" pitchFamily="18" charset="0"/>
                              <a:ea typeface="Cambria Math" panose="02040503050406030204" pitchFamily="18" charset="0"/>
                            </a:rPr>
                            <m:t>𝑖</m:t>
                          </m:r>
                        </m:sub>
                      </m:sSub>
                      <m:r>
                        <a:rPr lang="en-US" sz="2200" b="0" i="1" smtClean="0">
                          <a:solidFill>
                            <a:srgbClr val="002060"/>
                          </a:solidFill>
                          <a:latin typeface="Cambria Math" panose="02040503050406030204" pitchFamily="18" charset="0"/>
                          <a:ea typeface="Cambria Math" panose="02040503050406030204" pitchFamily="18" charset="0"/>
                        </a:rPr>
                        <m:t>∈3,7,11,15</m:t>
                      </m:r>
                    </m:oMath>
                  </m:oMathPara>
                </a14:m>
                <a:endParaRPr lang="en-US" sz="2200" dirty="0"/>
              </a:p>
            </p:txBody>
          </p:sp>
        </mc:Choice>
        <mc:Fallback xmlns="">
          <p:sp>
            <p:nvSpPr>
              <p:cNvPr id="17" name="Rectangle 16">
                <a:extLst>
                  <a:ext uri="{FF2B5EF4-FFF2-40B4-BE49-F238E27FC236}">
                    <a16:creationId xmlns:a16="http://schemas.microsoft.com/office/drawing/2014/main" id="{71AF2091-F031-F84B-ACF6-DCC4B4811C93}"/>
                  </a:ext>
                </a:extLst>
              </p:cNvPr>
              <p:cNvSpPr>
                <a:spLocks noRot="1" noChangeAspect="1" noMove="1" noResize="1" noEditPoints="1" noAdjustHandles="1" noChangeArrowheads="1" noChangeShapeType="1" noTextEdit="1"/>
              </p:cNvSpPr>
              <p:nvPr/>
            </p:nvSpPr>
            <p:spPr>
              <a:xfrm>
                <a:off x="2974525" y="3993163"/>
                <a:ext cx="8068171" cy="1046505"/>
              </a:xfrm>
              <a:prstGeom prst="rect">
                <a:avLst/>
              </a:prstGeom>
              <a:blipFill>
                <a:blip r:embed="rId7"/>
                <a:stretch>
                  <a:fillRect t="-97619" b="-15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33A0EA95-8E74-EF4C-8170-5E88A8DAC0DF}"/>
                  </a:ext>
                </a:extLst>
              </p:cNvPr>
              <p:cNvSpPr/>
              <p:nvPr/>
            </p:nvSpPr>
            <p:spPr>
              <a:xfrm>
                <a:off x="2974525" y="5036167"/>
                <a:ext cx="5710025" cy="10702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200" i="1" smtClean="0">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𝑄𝐹𝑇</m:t>
                          </m:r>
                        </m:e>
                        <m:sup>
                          <m:r>
                            <a:rPr lang="en-US" sz="2200" i="1">
                              <a:solidFill>
                                <a:srgbClr val="002060"/>
                              </a:solidFill>
                              <a:latin typeface="Cambria Math" panose="02040503050406030204" pitchFamily="18" charset="0"/>
                              <a:ea typeface="Cambria Math" panose="02040503050406030204" pitchFamily="18" charset="0"/>
                            </a:rPr>
                            <m:t>†</m:t>
                          </m:r>
                        </m:sup>
                      </m:sSup>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𝑥</m:t>
                          </m:r>
                        </m:e>
                      </m:d>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2</m:t>
                          </m:r>
                        </m:den>
                      </m:f>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solidFill>
                                <a:srgbClr val="002060"/>
                              </a:solidFill>
                              <a:latin typeface="Cambria Math" panose="02040503050406030204" pitchFamily="18" charset="0"/>
                              <a:ea typeface="Cambria Math" panose="02040503050406030204" pitchFamily="18" charset="0"/>
                            </a:rPr>
                            <m:t>1</m:t>
                          </m:r>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b="0" i="1" smtClean="0">
                                  <a:solidFill>
                                    <a:srgbClr val="002060"/>
                                  </a:solidFill>
                                  <a:latin typeface="Cambria Math" panose="02040503050406030204" pitchFamily="18" charset="0"/>
                                  <a:ea typeface="Cambria Math" panose="02040503050406030204" pitchFamily="18" charset="0"/>
                                </a:rPr>
                                <m:t>𝑄</m:t>
                              </m:r>
                            </m:e>
                          </m:rad>
                        </m:den>
                      </m:f>
                      <m:nary>
                        <m:naryPr>
                          <m:chr m:val="∑"/>
                          <m:ctrlPr>
                            <a:rPr lang="en-US" sz="2200" b="0" i="1" smtClean="0">
                              <a:solidFill>
                                <a:srgbClr val="002060"/>
                              </a:solidFill>
                              <a:latin typeface="Cambria Math" panose="02040503050406030204" pitchFamily="18" charset="0"/>
                              <a:ea typeface="Cambria Math" panose="02040503050406030204" pitchFamily="18" charset="0"/>
                            </a:rPr>
                          </m:ctrlPr>
                        </m:naryPr>
                        <m:sub>
                          <m:r>
                            <m:rPr>
                              <m:brk m:alnAt="23"/>
                            </m:rPr>
                            <a:rPr lang="sr-Latn-RS" sz="2200" b="0" i="1" smtClean="0">
                              <a:solidFill>
                                <a:srgbClr val="002060"/>
                              </a:solidFill>
                              <a:latin typeface="Cambria Math" panose="02040503050406030204" pitchFamily="18" charset="0"/>
                              <a:ea typeface="Cambria Math" panose="02040503050406030204" pitchFamily="18" charset="0"/>
                            </a:rPr>
                            <m:t>𝑘</m:t>
                          </m:r>
                          <m:r>
                            <a:rPr lang="sr-Latn-RS" sz="2200" b="0" i="1" smtClean="0">
                              <a:solidFill>
                                <a:srgbClr val="002060"/>
                              </a:solidFill>
                              <a:latin typeface="Cambria Math" panose="02040503050406030204" pitchFamily="18" charset="0"/>
                              <a:ea typeface="Cambria Math" panose="02040503050406030204" pitchFamily="18" charset="0"/>
                            </a:rPr>
                            <m:t>=0</m:t>
                          </m:r>
                        </m:sub>
                        <m:sup>
                          <m:r>
                            <a:rPr lang="en-US" sz="2200" b="0" i="1" smtClean="0">
                              <a:solidFill>
                                <a:srgbClr val="002060"/>
                              </a:solidFill>
                              <a:latin typeface="Cambria Math" panose="02040503050406030204" pitchFamily="18" charset="0"/>
                              <a:ea typeface="Cambria Math" panose="02040503050406030204" pitchFamily="18" charset="0"/>
                            </a:rPr>
                            <m:t>𝑄</m:t>
                          </m:r>
                          <m:r>
                            <a:rPr lang="sr-Latn-RS" sz="2200" b="0" i="1" smtClean="0">
                              <a:solidFill>
                                <a:srgbClr val="002060"/>
                              </a:solidFill>
                              <a:latin typeface="Cambria Math" panose="02040503050406030204" pitchFamily="18" charset="0"/>
                              <a:ea typeface="Cambria Math" panose="02040503050406030204" pitchFamily="18" charset="0"/>
                            </a:rPr>
                            <m:t>−1</m:t>
                          </m:r>
                        </m:sup>
                        <m:e>
                          <m:d>
                            <m:dPr>
                              <m:ctrlPr>
                                <a:rPr lang="en-US" sz="2200" b="0" i="1" smtClean="0">
                                  <a:solidFill>
                                    <a:srgbClr val="002060"/>
                                  </a:solidFill>
                                  <a:latin typeface="Cambria Math" panose="02040503050406030204" pitchFamily="18" charset="0"/>
                                  <a:ea typeface="Cambria Math" panose="02040503050406030204" pitchFamily="18" charset="0"/>
                                </a:rPr>
                              </m:ctrlPr>
                            </m:dPr>
                            <m:e>
                              <m:nary>
                                <m:naryPr>
                                  <m:chr m:val="∑"/>
                                  <m:supHide m:val="on"/>
                                  <m:ctrlPr>
                                    <a:rPr lang="en-US" sz="2200" b="0" i="1" smtClean="0">
                                      <a:solidFill>
                                        <a:srgbClr val="002060"/>
                                      </a:solidFill>
                                      <a:latin typeface="Cambria Math" panose="02040503050406030204" pitchFamily="18" charset="0"/>
                                      <a:ea typeface="Cambria Math" panose="02040503050406030204" pitchFamily="18" charset="0"/>
                                    </a:rPr>
                                  </m:ctrlPr>
                                </m:naryPr>
                                <m:sub>
                                  <m:r>
                                    <a:rPr lang="en-US" sz="2200" i="1">
                                      <a:solidFill>
                                        <a:srgbClr val="002060"/>
                                      </a:solidFill>
                                      <a:latin typeface="Cambria Math" panose="02040503050406030204" pitchFamily="18" charset="0"/>
                                      <a:ea typeface="Cambria Math" panose="02040503050406030204" pitchFamily="18" charset="0"/>
                                    </a:rPr>
                                    <m:t>𝑥</m:t>
                                  </m:r>
                                  <m:r>
                                    <a:rPr lang="en-US" sz="2200" i="1">
                                      <a:solidFill>
                                        <a:srgbClr val="002060"/>
                                      </a:solidFill>
                                      <a:latin typeface="Cambria Math" panose="02040503050406030204" pitchFamily="18" charset="0"/>
                                      <a:ea typeface="Cambria Math" panose="02040503050406030204" pitchFamily="18" charset="0"/>
                                    </a:rPr>
                                    <m:t>∈3,7,11,15</m:t>
                                  </m:r>
                                </m:sub>
                                <m:sup/>
                                <m:e>
                                  <m:sSup>
                                    <m:sSupPr>
                                      <m:ctrlPr>
                                        <a:rPr lang="en-US" sz="2200" i="1">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𝑒</m:t>
                                      </m:r>
                                    </m:e>
                                    <m:sup>
                                      <m:r>
                                        <a:rPr lang="en-US" sz="2200" i="1">
                                          <a:solidFill>
                                            <a:srgbClr val="FF000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solidFill>
                                                <a:srgbClr val="002060"/>
                                              </a:solidFill>
                                              <a:latin typeface="Cambria Math" panose="02040503050406030204" pitchFamily="18" charset="0"/>
                                              <a:ea typeface="Cambria Math" panose="02040503050406030204" pitchFamily="18" charset="0"/>
                                            </a:rPr>
                                            <m:t>2</m:t>
                                          </m:r>
                                          <m:r>
                                            <a:rPr lang="en-US" sz="2200" i="1">
                                              <a:solidFill>
                                                <a:srgbClr val="002060"/>
                                              </a:solidFill>
                                              <a:latin typeface="Cambria Math" panose="02040503050406030204" pitchFamily="18" charset="0"/>
                                              <a:ea typeface="Cambria Math" panose="02040503050406030204" pitchFamily="18" charset="0"/>
                                            </a:rPr>
                                            <m:t>𝜋</m:t>
                                          </m:r>
                                          <m:r>
                                            <a:rPr lang="en-US" sz="2200" i="1">
                                              <a:solidFill>
                                                <a:srgbClr val="002060"/>
                                              </a:solidFill>
                                              <a:latin typeface="Cambria Math" panose="02040503050406030204" pitchFamily="18" charset="0"/>
                                              <a:ea typeface="Cambria Math" panose="02040503050406030204" pitchFamily="18" charset="0"/>
                                            </a:rPr>
                                            <m:t>𝑖</m:t>
                                          </m:r>
                                        </m:num>
                                        <m:den>
                                          <m:r>
                                            <a:rPr lang="en-US" sz="2200" b="0" i="1" smtClean="0">
                                              <a:solidFill>
                                                <a:srgbClr val="002060"/>
                                              </a:solidFill>
                                              <a:latin typeface="Cambria Math" panose="02040503050406030204" pitchFamily="18" charset="0"/>
                                              <a:ea typeface="Cambria Math" panose="02040503050406030204" pitchFamily="18" charset="0"/>
                                            </a:rPr>
                                            <m:t>𝑄</m:t>
                                          </m:r>
                                        </m:den>
                                      </m:f>
                                      <m:sSub>
                                        <m:sSubPr>
                                          <m:ctrlPr>
                                            <a:rPr lang="en-US" sz="2200" i="1">
                                              <a:solidFill>
                                                <a:srgbClr val="002060"/>
                                              </a:solidFill>
                                              <a:latin typeface="Cambria Math" panose="02040503050406030204" pitchFamily="18" charset="0"/>
                                              <a:ea typeface="Cambria Math" panose="02040503050406030204" pitchFamily="18" charset="0"/>
                                            </a:rPr>
                                          </m:ctrlPr>
                                        </m:sSubPr>
                                        <m:e>
                                          <m:r>
                                            <a:rPr lang="sr-Latn-RS" sz="2200" i="1">
                                              <a:solidFill>
                                                <a:srgbClr val="002060"/>
                                              </a:solidFill>
                                              <a:latin typeface="Cambria Math" panose="02040503050406030204" pitchFamily="18" charset="0"/>
                                              <a:ea typeface="Cambria Math" panose="02040503050406030204" pitchFamily="18" charset="0"/>
                                            </a:rPr>
                                            <m:t>𝑥</m:t>
                                          </m:r>
                                        </m:e>
                                        <m:sub>
                                          <m:r>
                                            <a:rPr lang="sr-Latn-RS" sz="2200" i="1">
                                              <a:solidFill>
                                                <a:srgbClr val="002060"/>
                                              </a:solidFill>
                                              <a:latin typeface="Cambria Math" panose="02040503050406030204" pitchFamily="18" charset="0"/>
                                              <a:ea typeface="Cambria Math" panose="02040503050406030204" pitchFamily="18" charset="0"/>
                                            </a:rPr>
                                            <m:t>𝑖</m:t>
                                          </m:r>
                                        </m:sub>
                                      </m:sSub>
                                      <m:r>
                                        <a:rPr lang="en-US" sz="2200" i="1">
                                          <a:solidFill>
                                            <a:srgbClr val="002060"/>
                                          </a:solidFill>
                                          <a:latin typeface="Cambria Math" panose="02040503050406030204" pitchFamily="18" charset="0"/>
                                          <a:ea typeface="Cambria Math" panose="02040503050406030204" pitchFamily="18" charset="0"/>
                                        </a:rPr>
                                        <m:t>𝑘</m:t>
                                      </m:r>
                                    </m:sup>
                                  </m:sSup>
                                </m:e>
                              </m:nary>
                            </m:e>
                          </m:d>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i="1">
                                  <a:solidFill>
                                    <a:srgbClr val="002060"/>
                                  </a:solidFill>
                                  <a:latin typeface="Cambria Math" panose="02040503050406030204" pitchFamily="18" charset="0"/>
                                  <a:ea typeface="Cambria Math" panose="02040503050406030204" pitchFamily="18" charset="0"/>
                                </a:rPr>
                                <m:t>𝑘</m:t>
                              </m:r>
                            </m:e>
                          </m:d>
                        </m:e>
                      </m:nary>
                    </m:oMath>
                  </m:oMathPara>
                </a14:m>
                <a:endParaRPr lang="en-US" sz="2200" dirty="0"/>
              </a:p>
            </p:txBody>
          </p:sp>
        </mc:Choice>
        <mc:Fallback xmlns="">
          <p:sp>
            <p:nvSpPr>
              <p:cNvPr id="18" name="Rectangle 17">
                <a:extLst>
                  <a:ext uri="{FF2B5EF4-FFF2-40B4-BE49-F238E27FC236}">
                    <a16:creationId xmlns:a16="http://schemas.microsoft.com/office/drawing/2014/main" id="{33A0EA95-8E74-EF4C-8170-5E88A8DAC0DF}"/>
                  </a:ext>
                </a:extLst>
              </p:cNvPr>
              <p:cNvSpPr>
                <a:spLocks noRot="1" noChangeAspect="1" noMove="1" noResize="1" noEditPoints="1" noAdjustHandles="1" noChangeArrowheads="1" noChangeShapeType="1" noTextEdit="1"/>
              </p:cNvSpPr>
              <p:nvPr/>
            </p:nvSpPr>
            <p:spPr>
              <a:xfrm>
                <a:off x="2974525" y="5036167"/>
                <a:ext cx="5710025" cy="1070229"/>
              </a:xfrm>
              <a:prstGeom prst="rect">
                <a:avLst/>
              </a:prstGeom>
              <a:blipFill>
                <a:blip r:embed="rId8"/>
                <a:stretch>
                  <a:fillRect t="-97647" r="-3769" b="-1494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E51B8700-E5BC-064F-BAB6-5755A275B97B}"/>
                  </a:ext>
                </a:extLst>
              </p:cNvPr>
              <p:cNvSpPr/>
              <p:nvPr/>
            </p:nvSpPr>
            <p:spPr>
              <a:xfrm>
                <a:off x="2974525" y="6104818"/>
                <a:ext cx="5790238" cy="7861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𝑄𝐹𝑇</m:t>
                          </m:r>
                        </m:e>
                        <m:sup>
                          <m:r>
                            <a:rPr lang="en-US" sz="2400" i="1">
                              <a:solidFill>
                                <a:srgbClr val="002060"/>
                              </a:solidFill>
                              <a:latin typeface="Cambria Math" panose="02040503050406030204" pitchFamily="18" charset="0"/>
                              <a:ea typeface="Cambria Math" panose="02040503050406030204" pitchFamily="18" charset="0"/>
                            </a:rPr>
                            <m:t>†</m:t>
                          </m:r>
                        </m:sup>
                      </m:sSup>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𝑥</m:t>
                          </m:r>
                        </m:e>
                      </m:d>
                      <m:r>
                        <a:rPr lang="en-US" sz="2400" i="1">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
                            <a:rPr lang="en-US" sz="2400" i="1">
                              <a:solidFill>
                                <a:srgbClr val="002060"/>
                              </a:solidFill>
                              <a:latin typeface="Cambria Math" panose="02040503050406030204" pitchFamily="18" charset="0"/>
                              <a:ea typeface="Cambria Math" panose="02040503050406030204" pitchFamily="18" charset="0"/>
                            </a:rPr>
                            <m:t>8</m:t>
                          </m:r>
                        </m:den>
                      </m:f>
                      <m:d>
                        <m:dPr>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4</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r>
                            <a:rPr lang="en-US" sz="2400" i="1">
                              <a:solidFill>
                                <a:srgbClr val="002060"/>
                              </a:solidFill>
                              <a:latin typeface="Cambria Math" panose="02040503050406030204" pitchFamily="18" charset="0"/>
                              <a:ea typeface="Cambria Math" panose="02040503050406030204" pitchFamily="18" charset="0"/>
                            </a:rPr>
                            <m:t>+4</m:t>
                          </m:r>
                          <m:r>
                            <a:rPr lang="en-US" sz="2400" i="1">
                              <a:solidFill>
                                <a:srgbClr val="002060"/>
                              </a:solidFill>
                              <a:latin typeface="Cambria Math" panose="02040503050406030204" pitchFamily="18" charset="0"/>
                              <a:ea typeface="Cambria Math" panose="02040503050406030204" pitchFamily="18" charset="0"/>
                            </a:rPr>
                            <m:t>𝑖</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|4</m:t>
                              </m:r>
                            </m:e>
                          </m:d>
                          <m:r>
                            <a:rPr lang="en-US" sz="2400" i="1">
                              <a:solidFill>
                                <a:srgbClr val="002060"/>
                              </a:solidFill>
                              <a:latin typeface="Cambria Math" panose="02040503050406030204" pitchFamily="18" charset="0"/>
                              <a:ea typeface="Cambria Math" panose="02040503050406030204" pitchFamily="18" charset="0"/>
                            </a:rPr>
                            <m:t>−4</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|8</m:t>
                              </m:r>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4</m:t>
                              </m:r>
                              <m:r>
                                <a:rPr lang="en-US" sz="2400" b="0" i="1" smtClean="0">
                                  <a:solidFill>
                                    <a:srgbClr val="002060"/>
                                  </a:solidFill>
                                  <a:latin typeface="Cambria Math" panose="02040503050406030204" pitchFamily="18" charset="0"/>
                                  <a:ea typeface="Cambria Math" panose="02040503050406030204" pitchFamily="18" charset="0"/>
                                </a:rPr>
                                <m:t>𝑖</m:t>
                              </m:r>
                              <m:r>
                                <a:rPr lang="en-US" sz="2400" i="1">
                                  <a:solidFill>
                                    <a:srgbClr val="002060"/>
                                  </a:solidFill>
                                  <a:latin typeface="Cambria Math" panose="02040503050406030204" pitchFamily="18" charset="0"/>
                                  <a:ea typeface="Cambria Math" panose="02040503050406030204" pitchFamily="18" charset="0"/>
                                </a:rPr>
                                <m:t>|12</m:t>
                              </m:r>
                            </m:e>
                          </m:d>
                        </m:e>
                      </m:d>
                    </m:oMath>
                  </m:oMathPara>
                </a14:m>
                <a:endParaRPr lang="en-US" sz="2400" dirty="0"/>
              </a:p>
            </p:txBody>
          </p:sp>
        </mc:Choice>
        <mc:Fallback xmlns="">
          <p:sp>
            <p:nvSpPr>
              <p:cNvPr id="19" name="Rectangle 18">
                <a:extLst>
                  <a:ext uri="{FF2B5EF4-FFF2-40B4-BE49-F238E27FC236}">
                    <a16:creationId xmlns:a16="http://schemas.microsoft.com/office/drawing/2014/main" id="{E51B8700-E5BC-064F-BAB6-5755A275B97B}"/>
                  </a:ext>
                </a:extLst>
              </p:cNvPr>
              <p:cNvSpPr>
                <a:spLocks noRot="1" noChangeAspect="1" noMove="1" noResize="1" noEditPoints="1" noAdjustHandles="1" noChangeArrowheads="1" noChangeShapeType="1" noTextEdit="1"/>
              </p:cNvSpPr>
              <p:nvPr/>
            </p:nvSpPr>
            <p:spPr>
              <a:xfrm>
                <a:off x="2974525" y="6104818"/>
                <a:ext cx="5790238" cy="786177"/>
              </a:xfrm>
              <a:prstGeom prst="rect">
                <a:avLst/>
              </a:prstGeom>
              <a:blipFill>
                <a:blip r:embed="rId9"/>
                <a:stretch>
                  <a:fillRect t="-49206" r="-2845" b="-952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B3D462D-A129-2343-A186-6848C9340F12}"/>
                  </a:ext>
                </a:extLst>
              </p:cNvPr>
              <p:cNvSpPr txBox="1"/>
              <p:nvPr/>
            </p:nvSpPr>
            <p:spPr>
              <a:xfrm>
                <a:off x="2974525" y="3141686"/>
                <a:ext cx="5832430" cy="8530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200" b="0" i="1" smtClean="0">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𝑄𝐹𝑇</m:t>
                          </m:r>
                        </m:e>
                        <m:sup>
                          <m:r>
                            <a:rPr lang="en-US" sz="2200" b="0" i="1" smtClean="0">
                              <a:solidFill>
                                <a:srgbClr val="002060"/>
                              </a:solidFill>
                              <a:latin typeface="Cambria Math" panose="02040503050406030204" pitchFamily="18" charset="0"/>
                              <a:ea typeface="Cambria Math" panose="02040503050406030204" pitchFamily="18" charset="0"/>
                            </a:rPr>
                            <m:t>†</m:t>
                          </m:r>
                        </m:sup>
                      </m:sSup>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𝑥</m:t>
                          </m:r>
                        </m:e>
                      </m:d>
                      <m:r>
                        <a:rPr lang="en-US" sz="2200" b="0" i="1" smtClean="0">
                          <a:solidFill>
                            <a:srgbClr val="002060"/>
                          </a:solidFill>
                          <a:latin typeface="Cambria Math" panose="02040503050406030204" pitchFamily="18" charset="0"/>
                          <a:ea typeface="Cambria Math" panose="02040503050406030204" pitchFamily="18" charset="0"/>
                        </a:rPr>
                        <m:t>=</m:t>
                      </m:r>
                      <m:sSup>
                        <m:sSupPr>
                          <m:ctrlPr>
                            <a:rPr lang="en-US" sz="2200" i="1">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𝑄𝐹𝑇</m:t>
                          </m:r>
                        </m:e>
                        <m:sup>
                          <m:r>
                            <a:rPr lang="en-US" sz="2200" i="1">
                              <a:solidFill>
                                <a:srgbClr val="002060"/>
                              </a:solidFill>
                              <a:latin typeface="Cambria Math" panose="02040503050406030204" pitchFamily="18" charset="0"/>
                              <a:ea typeface="Cambria Math" panose="02040503050406030204" pitchFamily="18" charset="0"/>
                            </a:rPr>
                            <m:t>†</m:t>
                          </m:r>
                        </m:sup>
                      </m:sSup>
                      <m:d>
                        <m:dPr>
                          <m:ctrlPr>
                            <a:rPr lang="en-US" sz="2200" i="1" smtClean="0">
                              <a:solidFill>
                                <a:srgbClr val="002060"/>
                              </a:solidFill>
                              <a:latin typeface="Cambria Math" panose="02040503050406030204" pitchFamily="18" charset="0"/>
                              <a:ea typeface="Cambria Math" panose="02040503050406030204" pitchFamily="18" charset="0"/>
                            </a:rPr>
                          </m:ctrlPr>
                        </m:dPr>
                        <m:e>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2</m:t>
                              </m:r>
                            </m:den>
                          </m:f>
                          <m:d>
                            <m:dPr>
                              <m:ctrlPr>
                                <a:rPr lang="en-US" sz="2200" i="1">
                                  <a:latin typeface="Cambria Math" panose="02040503050406030204" pitchFamily="18" charset="0"/>
                                  <a:ea typeface="Cambria Math" panose="02040503050406030204" pitchFamily="18" charset="0"/>
                                </a:rPr>
                              </m:ctrlPr>
                            </m:dPr>
                            <m:e>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|3</m:t>
                                  </m:r>
                                </m:e>
                              </m:d>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|7</m:t>
                                  </m:r>
                                </m:e>
                              </m:d>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|11</m:t>
                                  </m:r>
                                </m:e>
                              </m:d>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|15</m:t>
                                  </m:r>
                                </m:e>
                              </m:d>
                            </m:e>
                          </m:d>
                        </m:e>
                      </m:d>
                    </m:oMath>
                  </m:oMathPara>
                </a14:m>
                <a:endParaRPr lang="en-US" sz="2200" dirty="0"/>
              </a:p>
            </p:txBody>
          </p:sp>
        </mc:Choice>
        <mc:Fallback xmlns="">
          <p:sp>
            <p:nvSpPr>
              <p:cNvPr id="6" name="TextBox 5">
                <a:extLst>
                  <a:ext uri="{FF2B5EF4-FFF2-40B4-BE49-F238E27FC236}">
                    <a16:creationId xmlns:a16="http://schemas.microsoft.com/office/drawing/2014/main" id="{0B3D462D-A129-2343-A186-6848C9340F12}"/>
                  </a:ext>
                </a:extLst>
              </p:cNvPr>
              <p:cNvSpPr txBox="1">
                <a:spLocks noRot="1" noChangeAspect="1" noMove="1" noResize="1" noEditPoints="1" noAdjustHandles="1" noChangeArrowheads="1" noChangeShapeType="1" noTextEdit="1"/>
              </p:cNvSpPr>
              <p:nvPr/>
            </p:nvSpPr>
            <p:spPr>
              <a:xfrm>
                <a:off x="2974525" y="3141686"/>
                <a:ext cx="5832430" cy="853054"/>
              </a:xfrm>
              <a:prstGeom prst="rect">
                <a:avLst/>
              </a:prstGeom>
              <a:blipFill>
                <a:blip r:embed="rId10"/>
                <a:stretch>
                  <a:fillRect t="-34783" b="-695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3FA50BC-B74D-EA43-B8F0-E6BBC995CD3C}"/>
                  </a:ext>
                </a:extLst>
              </p:cNvPr>
              <p:cNvSpPr txBox="1"/>
              <p:nvPr/>
            </p:nvSpPr>
            <p:spPr>
              <a:xfrm>
                <a:off x="667330" y="6277431"/>
                <a:ext cx="1559017" cy="430887"/>
              </a:xfrm>
              <a:prstGeom prst="rect">
                <a:avLst/>
              </a:prstGeom>
              <a:noFill/>
            </p:spPr>
            <p:txBody>
              <a:bodyPr wrap="none" rtlCol="0">
                <a:spAutoFit/>
              </a:bodyPr>
              <a:lstStyle/>
              <a:p>
                <a:r>
                  <a:rPr lang="en-US" sz="2200" b="0" dirty="0">
                    <a:solidFill>
                      <a:srgbClr val="002060"/>
                    </a:solidFill>
                    <a:ea typeface="Cambria Math" panose="02040503050406030204" pitchFamily="18" charset="0"/>
                  </a:rPr>
                  <a:t>For </a:t>
                </a:r>
                <a14:m>
                  <m:oMath xmlns:m="http://schemas.openxmlformats.org/officeDocument/2006/math">
                    <m:r>
                      <m:rPr>
                        <m:sty m:val="p"/>
                      </m:rPr>
                      <a:rPr lang="en-US" sz="2200" b="0" i="0" smtClean="0">
                        <a:solidFill>
                          <a:srgbClr val="002060"/>
                        </a:solidFill>
                        <a:latin typeface="Cambria Math" panose="02040503050406030204" pitchFamily="18" charset="0"/>
                        <a:ea typeface="Cambria Math" panose="02040503050406030204" pitchFamily="18" charset="0"/>
                      </a:rPr>
                      <m:t>Q</m:t>
                    </m:r>
                    <m:r>
                      <a:rPr lang="en-US" sz="2200" b="0" i="1" smtClean="0">
                        <a:solidFill>
                          <a:srgbClr val="002060"/>
                        </a:solidFill>
                        <a:latin typeface="Cambria Math" panose="02040503050406030204" pitchFamily="18" charset="0"/>
                        <a:ea typeface="Cambria Math" panose="02040503050406030204" pitchFamily="18" charset="0"/>
                      </a:rPr>
                      <m:t>=16</m:t>
                    </m:r>
                  </m:oMath>
                </a14:m>
                <a:r>
                  <a:rPr lang="en-US" sz="2200" dirty="0"/>
                  <a:t>:</a:t>
                </a:r>
              </a:p>
            </p:txBody>
          </p:sp>
        </mc:Choice>
        <mc:Fallback xmlns="">
          <p:sp>
            <p:nvSpPr>
              <p:cNvPr id="7" name="TextBox 6">
                <a:extLst>
                  <a:ext uri="{FF2B5EF4-FFF2-40B4-BE49-F238E27FC236}">
                    <a16:creationId xmlns:a16="http://schemas.microsoft.com/office/drawing/2014/main" id="{D3FA50BC-B74D-EA43-B8F0-E6BBC995CD3C}"/>
                  </a:ext>
                </a:extLst>
              </p:cNvPr>
              <p:cNvSpPr txBox="1">
                <a:spLocks noRot="1" noChangeAspect="1" noMove="1" noResize="1" noEditPoints="1" noAdjustHandles="1" noChangeArrowheads="1" noChangeShapeType="1" noTextEdit="1"/>
              </p:cNvSpPr>
              <p:nvPr/>
            </p:nvSpPr>
            <p:spPr>
              <a:xfrm>
                <a:off x="667330" y="6277431"/>
                <a:ext cx="1559017" cy="430887"/>
              </a:xfrm>
              <a:prstGeom prst="rect">
                <a:avLst/>
              </a:prstGeom>
              <a:blipFill>
                <a:blip r:embed="rId11"/>
                <a:stretch>
                  <a:fillRect l="-4878" t="-5714" r="-4065" b="-28571"/>
                </a:stretch>
              </a:blipFill>
            </p:spPr>
            <p:txBody>
              <a:bodyPr/>
              <a:lstStyle/>
              <a:p>
                <a:r>
                  <a:rPr lang="en-US">
                    <a:noFill/>
                  </a:rPr>
                  <a:t> </a:t>
                </a:r>
              </a:p>
            </p:txBody>
          </p:sp>
        </mc:Fallback>
      </mc:AlternateContent>
      <p:sp>
        <p:nvSpPr>
          <p:cNvPr id="20" name="Slide Number Placeholder 2">
            <a:extLst>
              <a:ext uri="{FF2B5EF4-FFF2-40B4-BE49-F238E27FC236}">
                <a16:creationId xmlns:a16="http://schemas.microsoft.com/office/drawing/2014/main" id="{C3B4147E-CC02-C74A-82F5-D709D5D44921}"/>
              </a:ext>
            </a:extLst>
          </p:cNvPr>
          <p:cNvSpPr>
            <a:spLocks noGrp="1"/>
          </p:cNvSpPr>
          <p:nvPr>
            <p:ph type="sldNum" sz="quarter" idx="12"/>
          </p:nvPr>
        </p:nvSpPr>
        <p:spPr>
          <a:xfrm>
            <a:off x="0" y="6492875"/>
            <a:ext cx="851338" cy="365125"/>
          </a:xfrm>
        </p:spPr>
        <p:txBody>
          <a:bodyPr/>
          <a:lstStyle/>
          <a:p>
            <a:pPr algn="l"/>
            <a:fld id="{591A223C-FA10-BC46-A853-03BA373D023C}" type="slidenum">
              <a:rPr lang="en-US" smtClean="0"/>
              <a:pPr algn="l"/>
              <a:t>46</a:t>
            </a:fld>
            <a:endParaRPr lang="en-US"/>
          </a:p>
        </p:txBody>
      </p:sp>
    </p:spTree>
    <p:extLst>
      <p:ext uri="{BB962C8B-B14F-4D97-AF65-F5344CB8AC3E}">
        <p14:creationId xmlns:p14="http://schemas.microsoft.com/office/powerpoint/2010/main" val="28922634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87066B3-3626-FA41-9AEE-3B3F2E4FD28B}"/>
              </a:ext>
            </a:extLst>
          </p:cNvPr>
          <p:cNvPicPr>
            <a:picLocks noChangeAspect="1"/>
          </p:cNvPicPr>
          <p:nvPr/>
        </p:nvPicPr>
        <p:blipFill>
          <a:blip r:embed="rId3"/>
          <a:stretch>
            <a:fillRect/>
          </a:stretch>
        </p:blipFill>
        <p:spPr>
          <a:xfrm>
            <a:off x="156634" y="137583"/>
            <a:ext cx="2817891" cy="1800000"/>
          </a:xfrm>
          <a:prstGeom prst="rect">
            <a:avLst/>
          </a:prstGeom>
        </p:spPr>
      </p:pic>
      <p:sp>
        <p:nvSpPr>
          <p:cNvPr id="39" name="TextBox 38">
            <a:extLst>
              <a:ext uri="{FF2B5EF4-FFF2-40B4-BE49-F238E27FC236}">
                <a16:creationId xmlns:a16="http://schemas.microsoft.com/office/drawing/2014/main" id="{16BEDA70-7A55-9049-8FD7-1DEBF9015C07}"/>
              </a:ext>
            </a:extLst>
          </p:cNvPr>
          <p:cNvSpPr txBox="1"/>
          <p:nvPr/>
        </p:nvSpPr>
        <p:spPr>
          <a:xfrm>
            <a:off x="2730902" y="927788"/>
            <a:ext cx="301686" cy="369332"/>
          </a:xfrm>
          <a:prstGeom prst="rect">
            <a:avLst/>
          </a:prstGeom>
          <a:noFill/>
        </p:spPr>
        <p:txBody>
          <a:bodyPr wrap="none" rtlCol="0">
            <a:spAutoFit/>
          </a:bodyPr>
          <a:lstStyle/>
          <a:p>
            <a:r>
              <a:rPr lang="en-US" dirty="0">
                <a:solidFill>
                  <a:srgbClr val="FF0000"/>
                </a:solidFill>
              </a:rPr>
              <a:t>5</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2195737-3B31-4741-97E5-64AB6B9439D5}"/>
                  </a:ext>
                </a:extLst>
              </p:cNvPr>
              <p:cNvSpPr txBox="1"/>
              <p:nvPr/>
            </p:nvSpPr>
            <p:spPr>
              <a:xfrm>
                <a:off x="3346878" y="137583"/>
                <a:ext cx="5448992" cy="492443"/>
              </a:xfrm>
              <a:prstGeom prst="rect">
                <a:avLst/>
              </a:prstGeom>
              <a:solidFill>
                <a:schemeClr val="accent4">
                  <a:lumMod val="20000"/>
                  <a:lumOff val="80000"/>
                </a:schemeClr>
              </a:solidFill>
            </p:spPr>
            <p:txBody>
              <a:bodyPr wrap="none" rtlCol="0">
                <a:spAutoFit/>
              </a:bodyPr>
              <a:lstStyle/>
              <a:p>
                <a:r>
                  <a:rPr lang="en-US" sz="2600" dirty="0">
                    <a:solidFill>
                      <a:srgbClr val="0000FF"/>
                    </a:solidFill>
                  </a:rPr>
                  <a:t>step 5</a:t>
                </a:r>
                <a:r>
                  <a:rPr lang="en-US" sz="2600" dirty="0"/>
                  <a:t>: </a:t>
                </a:r>
                <a:r>
                  <a:rPr lang="en-ZA" sz="2600" dirty="0"/>
                  <a:t>measurement of the</a:t>
                </a:r>
                <a:r>
                  <a:rPr lang="en-US" sz="2600" dirty="0"/>
                  <a:t> </a:t>
                </a:r>
                <a14:m>
                  <m:oMath xmlns:m="http://schemas.openxmlformats.org/officeDocument/2006/math">
                    <m:r>
                      <a:rPr lang="en-US" sz="2600" b="0" i="1" smtClean="0">
                        <a:latin typeface="Cambria Math" panose="02040503050406030204" pitchFamily="18" charset="0"/>
                        <a:ea typeface="Cambria Math" panose="02040503050406030204" pitchFamily="18" charset="0"/>
                      </a:rPr>
                      <m:t>𝑥</m:t>
                    </m:r>
                  </m:oMath>
                </a14:m>
                <a:r>
                  <a:rPr lang="en-US" sz="2600" dirty="0"/>
                  <a:t>-register :</a:t>
                </a:r>
              </a:p>
            </p:txBody>
          </p:sp>
        </mc:Choice>
        <mc:Fallback xmlns="">
          <p:sp>
            <p:nvSpPr>
              <p:cNvPr id="41" name="TextBox 40">
                <a:extLst>
                  <a:ext uri="{FF2B5EF4-FFF2-40B4-BE49-F238E27FC236}">
                    <a16:creationId xmlns:a16="http://schemas.microsoft.com/office/drawing/2014/main" id="{F2195737-3B31-4741-97E5-64AB6B9439D5}"/>
                  </a:ext>
                </a:extLst>
              </p:cNvPr>
              <p:cNvSpPr txBox="1">
                <a:spLocks noRot="1" noChangeAspect="1" noMove="1" noResize="1" noEditPoints="1" noAdjustHandles="1" noChangeArrowheads="1" noChangeShapeType="1" noTextEdit="1"/>
              </p:cNvSpPr>
              <p:nvPr/>
            </p:nvSpPr>
            <p:spPr>
              <a:xfrm>
                <a:off x="3346878" y="137583"/>
                <a:ext cx="5448992" cy="492443"/>
              </a:xfrm>
              <a:prstGeom prst="rect">
                <a:avLst/>
              </a:prstGeom>
              <a:blipFill>
                <a:blip r:embed="rId4"/>
                <a:stretch>
                  <a:fillRect l="-2331" t="-10000" r="-1632"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929F40B7-8E7A-6A40-A636-56A30C5DB6D7}"/>
                  </a:ext>
                </a:extLst>
              </p:cNvPr>
              <p:cNvSpPr/>
              <p:nvPr/>
            </p:nvSpPr>
            <p:spPr>
              <a:xfrm>
                <a:off x="3346878" y="634676"/>
                <a:ext cx="7917552" cy="7861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𝑄𝐹𝑇</m:t>
                          </m:r>
                        </m:e>
                        <m:sup>
                          <m:r>
                            <a:rPr lang="en-US" sz="2400" i="1" baseline="30000">
                              <a:latin typeface="Cambria Math" panose="02040503050406030204" pitchFamily="18" charset="0"/>
                              <a:ea typeface="Cambria Math" panose="02040503050406030204" pitchFamily="18" charset="0"/>
                            </a:rPr>
                            <m:t>†</m:t>
                          </m:r>
                        </m:sup>
                      </m:sSup>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𝑥</m:t>
                          </m:r>
                        </m:e>
                      </m:d>
                      <m:r>
                        <a:rPr lang="en-US" sz="2400" i="1">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
                            <a:rPr lang="en-US" sz="2400" i="1">
                              <a:solidFill>
                                <a:srgbClr val="002060"/>
                              </a:solidFill>
                              <a:latin typeface="Cambria Math" panose="02040503050406030204" pitchFamily="18" charset="0"/>
                              <a:ea typeface="Cambria Math" panose="02040503050406030204" pitchFamily="18" charset="0"/>
                            </a:rPr>
                            <m:t>8</m:t>
                          </m:r>
                        </m:den>
                      </m:f>
                      <m:d>
                        <m:dPr>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4</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r>
                            <a:rPr lang="en-US" sz="2400" i="1">
                              <a:solidFill>
                                <a:srgbClr val="002060"/>
                              </a:solidFill>
                              <a:latin typeface="Cambria Math" panose="02040503050406030204" pitchFamily="18" charset="0"/>
                              <a:ea typeface="Cambria Math" panose="02040503050406030204" pitchFamily="18" charset="0"/>
                            </a:rPr>
                            <m:t>+4</m:t>
                          </m:r>
                          <m:r>
                            <a:rPr lang="en-US" sz="2400" i="1">
                              <a:solidFill>
                                <a:srgbClr val="002060"/>
                              </a:solidFill>
                              <a:latin typeface="Cambria Math" panose="02040503050406030204" pitchFamily="18" charset="0"/>
                              <a:ea typeface="Cambria Math" panose="02040503050406030204" pitchFamily="18" charset="0"/>
                            </a:rPr>
                            <m:t>𝑖</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|4</m:t>
                              </m:r>
                            </m:e>
                          </m:d>
                          <m:r>
                            <a:rPr lang="en-US" sz="2400" i="1">
                              <a:solidFill>
                                <a:srgbClr val="002060"/>
                              </a:solidFill>
                              <a:latin typeface="Cambria Math" panose="02040503050406030204" pitchFamily="18" charset="0"/>
                              <a:ea typeface="Cambria Math" panose="02040503050406030204" pitchFamily="18" charset="0"/>
                            </a:rPr>
                            <m:t>−4</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|8</m:t>
                              </m:r>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4</m:t>
                              </m:r>
                              <m:r>
                                <a:rPr lang="en-US" sz="2400" b="0" i="1" smtClean="0">
                                  <a:solidFill>
                                    <a:srgbClr val="002060"/>
                                  </a:solidFill>
                                  <a:latin typeface="Cambria Math" panose="02040503050406030204" pitchFamily="18" charset="0"/>
                                  <a:ea typeface="Cambria Math" panose="02040503050406030204" pitchFamily="18" charset="0"/>
                                </a:rPr>
                                <m:t>𝑖</m:t>
                              </m:r>
                              <m:r>
                                <a:rPr lang="en-US" sz="2400" i="1">
                                  <a:solidFill>
                                    <a:srgbClr val="002060"/>
                                  </a:solidFill>
                                  <a:latin typeface="Cambria Math" panose="02040503050406030204" pitchFamily="18" charset="0"/>
                                  <a:ea typeface="Cambria Math" panose="02040503050406030204" pitchFamily="18" charset="0"/>
                                </a:rPr>
                                <m:t>|12</m:t>
                              </m:r>
                            </m:e>
                          </m:d>
                        </m:e>
                      </m:d>
                      <m:r>
                        <a:rPr lang="en-US" sz="2400" i="1" smtClean="0">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𝑥</m:t>
                      </m:r>
                      <m:r>
                        <a:rPr lang="en-US" sz="2400" b="0" i="1" smtClean="0">
                          <a:solidFill>
                            <a:srgbClr val="002060"/>
                          </a:solidFill>
                          <a:latin typeface="Cambria Math" panose="02040503050406030204" pitchFamily="18" charset="0"/>
                          <a:ea typeface="Cambria Math" panose="02040503050406030204" pitchFamily="18" charset="0"/>
                        </a:rPr>
                        <m:t>=0, 4,8,12</m:t>
                      </m:r>
                    </m:oMath>
                  </m:oMathPara>
                </a14:m>
                <a:endParaRPr lang="en-US" sz="2400" dirty="0"/>
              </a:p>
            </p:txBody>
          </p:sp>
        </mc:Choice>
        <mc:Fallback xmlns="">
          <p:sp>
            <p:nvSpPr>
              <p:cNvPr id="10" name="Rectangle 9">
                <a:extLst>
                  <a:ext uri="{FF2B5EF4-FFF2-40B4-BE49-F238E27FC236}">
                    <a16:creationId xmlns:a16="http://schemas.microsoft.com/office/drawing/2014/main" id="{929F40B7-8E7A-6A40-A636-56A30C5DB6D7}"/>
                  </a:ext>
                </a:extLst>
              </p:cNvPr>
              <p:cNvSpPr>
                <a:spLocks noRot="1" noChangeAspect="1" noMove="1" noResize="1" noEditPoints="1" noAdjustHandles="1" noChangeArrowheads="1" noChangeShapeType="1" noTextEdit="1"/>
              </p:cNvSpPr>
              <p:nvPr/>
            </p:nvSpPr>
            <p:spPr>
              <a:xfrm>
                <a:off x="3346878" y="634676"/>
                <a:ext cx="7917552" cy="786177"/>
              </a:xfrm>
              <a:prstGeom prst="rect">
                <a:avLst/>
              </a:prstGeom>
              <a:blipFill>
                <a:blip r:embed="rId5"/>
                <a:stretch>
                  <a:fillRect t="-49206" b="-95238"/>
                </a:stretch>
              </a:blipFill>
            </p:spPr>
            <p:txBody>
              <a:bodyPr/>
              <a:lstStyle/>
              <a:p>
                <a:r>
                  <a:rPr lang="en-US">
                    <a:noFill/>
                  </a:rPr>
                  <a:t> </a:t>
                </a:r>
              </a:p>
            </p:txBody>
          </p:sp>
        </mc:Fallback>
      </mc:AlternateContent>
      <p:grpSp>
        <p:nvGrpSpPr>
          <p:cNvPr id="51" name="Group 50">
            <a:extLst>
              <a:ext uri="{FF2B5EF4-FFF2-40B4-BE49-F238E27FC236}">
                <a16:creationId xmlns:a16="http://schemas.microsoft.com/office/drawing/2014/main" id="{FB953FEF-E2A5-944F-9758-681A0DF792A9}"/>
              </a:ext>
            </a:extLst>
          </p:cNvPr>
          <p:cNvGrpSpPr/>
          <p:nvPr/>
        </p:nvGrpSpPr>
        <p:grpSpPr>
          <a:xfrm>
            <a:off x="172483" y="1489058"/>
            <a:ext cx="10741056" cy="1267167"/>
            <a:chOff x="172483" y="1489058"/>
            <a:chExt cx="10741056" cy="1267167"/>
          </a:xfrm>
        </p:grpSpPr>
        <p:sp>
          <p:nvSpPr>
            <p:cNvPr id="17" name="TextBox 16">
              <a:extLst>
                <a:ext uri="{FF2B5EF4-FFF2-40B4-BE49-F238E27FC236}">
                  <a16:creationId xmlns:a16="http://schemas.microsoft.com/office/drawing/2014/main" id="{B8D7E64C-6391-A044-9143-C2ACA62FFC28}"/>
                </a:ext>
              </a:extLst>
            </p:cNvPr>
            <p:cNvSpPr txBox="1"/>
            <p:nvPr/>
          </p:nvSpPr>
          <p:spPr>
            <a:xfrm>
              <a:off x="3346878" y="1489058"/>
              <a:ext cx="4542654" cy="492443"/>
            </a:xfrm>
            <a:prstGeom prst="rect">
              <a:avLst/>
            </a:prstGeom>
            <a:solidFill>
              <a:schemeClr val="accent4">
                <a:lumMod val="20000"/>
                <a:lumOff val="80000"/>
              </a:schemeClr>
            </a:solidFill>
          </p:spPr>
          <p:txBody>
            <a:bodyPr wrap="none" rtlCol="0">
              <a:spAutoFit/>
            </a:bodyPr>
            <a:lstStyle/>
            <a:p>
              <a:r>
                <a:rPr lang="en-US" sz="2600" dirty="0">
                  <a:solidFill>
                    <a:srgbClr val="0000FF"/>
                  </a:solidFill>
                </a:rPr>
                <a:t>step 6</a:t>
              </a:r>
              <a:r>
                <a:rPr lang="en-US" sz="2600" dirty="0"/>
                <a:t>: classical post-processing:</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08D6294-C227-AA4A-9E8C-71FDBF53A78A}"/>
                    </a:ext>
                  </a:extLst>
                </p:cNvPr>
                <p:cNvSpPr txBox="1"/>
                <p:nvPr/>
              </p:nvSpPr>
              <p:spPr>
                <a:xfrm>
                  <a:off x="172483" y="2120935"/>
                  <a:ext cx="4406078" cy="461665"/>
                </a:xfrm>
                <a:prstGeom prst="rect">
                  <a:avLst/>
                </a:prstGeom>
                <a:noFill/>
              </p:spPr>
              <p:txBody>
                <a:bodyPr wrap="none" rtlCol="0">
                  <a:spAutoFit/>
                </a:bodyPr>
                <a:lstStyle/>
                <a:p>
                  <a:r>
                    <a:rPr lang="en-US" sz="2400" dirty="0"/>
                    <a:t>the period </a:t>
                  </a:r>
                  <a14:m>
                    <m:oMath xmlns:m="http://schemas.openxmlformats.org/officeDocument/2006/math">
                      <m:r>
                        <a:rPr lang="en-US" sz="2400" i="1">
                          <a:solidFill>
                            <a:srgbClr val="002060"/>
                          </a:solidFill>
                          <a:latin typeface="Cambria Math" panose="02040503050406030204" pitchFamily="18" charset="0"/>
                          <a:ea typeface="Cambria Math" panose="02040503050406030204" pitchFamily="18" charset="0"/>
                        </a:rPr>
                        <m:t>𝑟</m:t>
                      </m:r>
                      <m:r>
                        <a:rPr lang="en-US" sz="2400" i="1">
                          <a:solidFill>
                            <a:srgbClr val="002060"/>
                          </a:solidFill>
                          <a:latin typeface="Cambria Math" panose="02040503050406030204" pitchFamily="18" charset="0"/>
                          <a:ea typeface="Cambria Math" panose="02040503050406030204" pitchFamily="18" charset="0"/>
                        </a:rPr>
                        <m:t> </m:t>
                      </m:r>
                    </m:oMath>
                  </a14:m>
                  <a:r>
                    <a:rPr lang="en-ZA" sz="2400" dirty="0"/>
                    <a:t>satisfies the relation</a:t>
                  </a:r>
                  <a:endParaRPr lang="en-US" sz="2400" dirty="0"/>
                </a:p>
              </p:txBody>
            </p:sp>
          </mc:Choice>
          <mc:Fallback xmlns="">
            <p:sp>
              <p:nvSpPr>
                <p:cNvPr id="18" name="TextBox 17">
                  <a:extLst>
                    <a:ext uri="{FF2B5EF4-FFF2-40B4-BE49-F238E27FC236}">
                      <a16:creationId xmlns:a16="http://schemas.microsoft.com/office/drawing/2014/main" id="{C08D6294-C227-AA4A-9E8C-71FDBF53A78A}"/>
                    </a:ext>
                  </a:extLst>
                </p:cNvPr>
                <p:cNvSpPr txBox="1">
                  <a:spLocks noRot="1" noChangeAspect="1" noMove="1" noResize="1" noEditPoints="1" noAdjustHandles="1" noChangeArrowheads="1" noChangeShapeType="1" noTextEdit="1"/>
                </p:cNvSpPr>
                <p:nvPr/>
              </p:nvSpPr>
              <p:spPr>
                <a:xfrm>
                  <a:off x="172483" y="2120935"/>
                  <a:ext cx="4406078" cy="461665"/>
                </a:xfrm>
                <a:prstGeom prst="rect">
                  <a:avLst/>
                </a:prstGeom>
                <a:blipFill>
                  <a:blip r:embed="rId6"/>
                  <a:stretch>
                    <a:fillRect l="-2011" t="-5405"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D0E1E1A-1E95-4B48-8213-39414B2CEC50}"/>
                    </a:ext>
                  </a:extLst>
                </p:cNvPr>
                <p:cNvSpPr/>
                <p:nvPr/>
              </p:nvSpPr>
              <p:spPr>
                <a:xfrm>
                  <a:off x="4440046" y="1920034"/>
                  <a:ext cx="1020599" cy="8361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𝑥</m:t>
                            </m:r>
                          </m:num>
                          <m:den>
                            <m:r>
                              <a:rPr lang="en-US" sz="2400" i="1">
                                <a:latin typeface="Cambria Math" panose="02040503050406030204" pitchFamily="18" charset="0"/>
                              </a:rPr>
                              <m:t>𝑄</m:t>
                            </m:r>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𝑗</m:t>
                            </m:r>
                          </m:num>
                          <m:den>
                            <m:r>
                              <a:rPr lang="en-US" sz="2400" i="1">
                                <a:latin typeface="Cambria Math" panose="02040503050406030204" pitchFamily="18" charset="0"/>
                              </a:rPr>
                              <m:t>𝑟</m:t>
                            </m:r>
                          </m:den>
                        </m:f>
                      </m:oMath>
                    </m:oMathPara>
                  </a14:m>
                  <a:endParaRPr lang="en-US" sz="2400" dirty="0"/>
                </a:p>
              </p:txBody>
            </p:sp>
          </mc:Choice>
          <mc:Fallback xmlns="">
            <p:sp>
              <p:nvSpPr>
                <p:cNvPr id="7" name="Rectangle 6">
                  <a:extLst>
                    <a:ext uri="{FF2B5EF4-FFF2-40B4-BE49-F238E27FC236}">
                      <a16:creationId xmlns:a16="http://schemas.microsoft.com/office/drawing/2014/main" id="{1D0E1E1A-1E95-4B48-8213-39414B2CEC50}"/>
                    </a:ext>
                  </a:extLst>
                </p:cNvPr>
                <p:cNvSpPr>
                  <a:spLocks noRot="1" noChangeAspect="1" noMove="1" noResize="1" noEditPoints="1" noAdjustHandles="1" noChangeArrowheads="1" noChangeShapeType="1" noTextEdit="1"/>
                </p:cNvSpPr>
                <p:nvPr/>
              </p:nvSpPr>
              <p:spPr>
                <a:xfrm>
                  <a:off x="4440046" y="1920034"/>
                  <a:ext cx="1020599" cy="836191"/>
                </a:xfrm>
                <a:prstGeom prst="rect">
                  <a:avLst/>
                </a:prstGeom>
                <a:blipFill>
                  <a:blip r:embed="rId7"/>
                  <a:stretch>
                    <a:fillRect b="-74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7D0C30F-C565-5C41-B9A8-5550EDD47496}"/>
                    </a:ext>
                  </a:extLst>
                </p:cNvPr>
                <p:cNvSpPr txBox="1"/>
                <p:nvPr/>
              </p:nvSpPr>
              <p:spPr>
                <a:xfrm>
                  <a:off x="5693071" y="2129986"/>
                  <a:ext cx="5220468" cy="461665"/>
                </a:xfrm>
                <a:prstGeom prst="rect">
                  <a:avLst/>
                </a:prstGeom>
                <a:noFill/>
              </p:spPr>
              <p:txBody>
                <a:bodyPr wrap="none" rtlCol="0">
                  <a:spAutoFit/>
                </a:bodyPr>
                <a:lstStyle/>
                <a:p>
                  <a14:m>
                    <m:oMath xmlns:m="http://schemas.openxmlformats.org/officeDocument/2006/math">
                      <m:r>
                        <a:rPr lang="en-US" sz="2400" i="1">
                          <a:latin typeface="Cambria Math" panose="02040503050406030204" pitchFamily="18" charset="0"/>
                        </a:rPr>
                        <m:t>𝑥</m:t>
                      </m:r>
                    </m:oMath>
                  </a14:m>
                  <a:r>
                    <a:rPr lang="en-US" sz="2400" dirty="0"/>
                    <a:t>=measurement result, </a:t>
                  </a:r>
                  <a14:m>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2</m:t>
                          </m:r>
                        </m:e>
                        <m:sup>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𝑥</m:t>
                              </m:r>
                            </m:sub>
                          </m:sSub>
                        </m:sup>
                      </m:sSup>
                    </m:oMath>
                  </a14:m>
                  <a:r>
                    <a:rPr lang="en-US" sz="2400" dirty="0"/>
                    <a:t>,  </a:t>
                  </a:r>
                  <a14:m>
                    <m:oMath xmlns:m="http://schemas.openxmlformats.org/officeDocument/2006/math">
                      <m:r>
                        <a:rPr lang="en-US" sz="2400" i="1">
                          <a:solidFill>
                            <a:srgbClr val="002060"/>
                          </a:solidFill>
                          <a:latin typeface="Cambria Math" panose="02040503050406030204" pitchFamily="18" charset="0"/>
                          <a:ea typeface="Cambria Math" panose="02040503050406030204" pitchFamily="18" charset="0"/>
                        </a:rPr>
                        <m:t>𝑗</m:t>
                      </m:r>
                    </m:oMath>
                  </a14:m>
                  <a:r>
                    <a:rPr lang="en-US" sz="2400" dirty="0"/>
                    <a:t>=</a:t>
                  </a:r>
                  <a:r>
                    <a:rPr lang="en-US" sz="2400" dirty="0" err="1"/>
                    <a:t>int</a:t>
                  </a:r>
                  <a:r>
                    <a:rPr lang="en-US" sz="2400" dirty="0"/>
                    <a:t>  </a:t>
                  </a:r>
                </a:p>
              </p:txBody>
            </p:sp>
          </mc:Choice>
          <mc:Fallback xmlns="">
            <p:sp>
              <p:nvSpPr>
                <p:cNvPr id="11" name="TextBox 10">
                  <a:extLst>
                    <a:ext uri="{FF2B5EF4-FFF2-40B4-BE49-F238E27FC236}">
                      <a16:creationId xmlns:a16="http://schemas.microsoft.com/office/drawing/2014/main" id="{47D0C30F-C565-5C41-B9A8-5550EDD47496}"/>
                    </a:ext>
                  </a:extLst>
                </p:cNvPr>
                <p:cNvSpPr txBox="1">
                  <a:spLocks noRot="1" noChangeAspect="1" noMove="1" noResize="1" noEditPoints="1" noAdjustHandles="1" noChangeArrowheads="1" noChangeShapeType="1" noTextEdit="1"/>
                </p:cNvSpPr>
                <p:nvPr/>
              </p:nvSpPr>
              <p:spPr>
                <a:xfrm>
                  <a:off x="5693071" y="2129986"/>
                  <a:ext cx="5220468" cy="461665"/>
                </a:xfrm>
                <a:prstGeom prst="rect">
                  <a:avLst/>
                </a:prstGeom>
                <a:blipFill>
                  <a:blip r:embed="rId8"/>
                  <a:stretch>
                    <a:fillRect t="-11111" b="-30556"/>
                  </a:stretch>
                </a:blipFill>
              </p:spPr>
              <p:txBody>
                <a:bodyPr/>
                <a:lstStyle/>
                <a:p>
                  <a:r>
                    <a:rPr lang="en-US">
                      <a:noFill/>
                    </a:rPr>
                    <a:t> </a:t>
                  </a:r>
                </a:p>
              </p:txBody>
            </p:sp>
          </mc:Fallback>
        </mc:AlternateContent>
      </p:grpSp>
      <p:grpSp>
        <p:nvGrpSpPr>
          <p:cNvPr id="55" name="Group 54">
            <a:extLst>
              <a:ext uri="{FF2B5EF4-FFF2-40B4-BE49-F238E27FC236}">
                <a16:creationId xmlns:a16="http://schemas.microsoft.com/office/drawing/2014/main" id="{33FA8421-5F1E-6448-BFF4-974F29110A7A}"/>
              </a:ext>
            </a:extLst>
          </p:cNvPr>
          <p:cNvGrpSpPr/>
          <p:nvPr/>
        </p:nvGrpSpPr>
        <p:grpSpPr>
          <a:xfrm>
            <a:off x="6134301" y="2774215"/>
            <a:ext cx="6025458" cy="3901221"/>
            <a:chOff x="6134301" y="2774215"/>
            <a:chExt cx="6025458" cy="3901221"/>
          </a:xfrm>
        </p:grpSpPr>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FB41011-10FA-F746-9ED5-089802C486D2}"/>
                    </a:ext>
                  </a:extLst>
                </p:cNvPr>
                <p:cNvSpPr txBox="1"/>
                <p:nvPr/>
              </p:nvSpPr>
              <p:spPr>
                <a:xfrm>
                  <a:off x="6712870" y="2774216"/>
                  <a:ext cx="4375108" cy="1242391"/>
                </a:xfrm>
                <a:prstGeom prst="rect">
                  <a:avLst/>
                </a:prstGeom>
                <a:noFill/>
              </p:spPr>
              <p:txBody>
                <a:bodyPr wrap="none" rtlCol="0">
                  <a:spAutoFit/>
                </a:bodyPr>
                <a:lstStyle/>
                <a:p>
                  <a:r>
                    <a:rPr lang="en-US" sz="2400" b="1" dirty="0"/>
                    <a:t>x</a:t>
                  </a:r>
                  <a14:m>
                    <m:oMath xmlns:m="http://schemas.openxmlformats.org/officeDocument/2006/math">
                      <m:r>
                        <a:rPr lang="en-US" sz="2400" b="1" i="1">
                          <a:solidFill>
                            <a:srgbClr val="002060"/>
                          </a:solidFill>
                          <a:latin typeface="Cambria Math" panose="02040503050406030204" pitchFamily="18" charset="0"/>
                          <a:ea typeface="Cambria Math" panose="02040503050406030204" pitchFamily="18" charset="0"/>
                        </a:rPr>
                        <m:t>=</m:t>
                      </m:r>
                      <m:r>
                        <a:rPr lang="en-US" sz="2400" b="1" i="1" smtClean="0">
                          <a:solidFill>
                            <a:srgbClr val="002060"/>
                          </a:solidFill>
                          <a:latin typeface="Cambria Math" panose="02040503050406030204" pitchFamily="18" charset="0"/>
                          <a:ea typeface="Cambria Math" panose="02040503050406030204" pitchFamily="18" charset="0"/>
                        </a:rPr>
                        <m:t>𝟖</m:t>
                      </m:r>
                    </m:oMath>
                  </a14:m>
                  <a:endParaRPr lang="en-US" sz="2400" b="1" dirty="0"/>
                </a:p>
                <a:p>
                  <a:pPr algn="ct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𝑥</m:t>
                            </m:r>
                          </m:num>
                          <m:den>
                            <m:r>
                              <a:rPr lang="en-US" sz="2400" i="1">
                                <a:latin typeface="Cambria Math" panose="02040503050406030204" pitchFamily="18" charset="0"/>
                              </a:rPr>
                              <m:t>𝑄</m:t>
                            </m:r>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𝑗</m:t>
                            </m:r>
                          </m:num>
                          <m:den>
                            <m:r>
                              <a:rPr lang="en-US" sz="2400" i="1">
                                <a:latin typeface="Cambria Math" panose="02040503050406030204" pitchFamily="18" charset="0"/>
                              </a:rPr>
                              <m:t>𝑟</m:t>
                            </m:r>
                          </m:den>
                        </m:f>
                        <m:r>
                          <a:rPr lang="en-US" sz="2400" i="1">
                            <a:latin typeface="Cambria Math" panose="02040503050406030204" pitchFamily="18" charset="0"/>
                          </a:rPr>
                          <m:t> </m:t>
                        </m:r>
                        <m:r>
                          <a:rPr lang="en-US" sz="2400" i="1">
                            <a:latin typeface="Cambria Math" panose="02040503050406030204" pitchFamily="18" charset="0"/>
                            <a:ea typeface="Cambria Math" panose="02040503050406030204" pitchFamily="18" charset="0"/>
                          </a:rPr>
                          <m:t>⟹ </m:t>
                        </m:r>
                        <m:f>
                          <m:fPr>
                            <m:ctrlPr>
                              <a:rPr lang="en-US" sz="2400" i="1">
                                <a:latin typeface="Cambria Math" panose="02040503050406030204" pitchFamily="18" charset="0"/>
                              </a:rPr>
                            </m:ctrlPr>
                          </m:fPr>
                          <m:num>
                            <m:r>
                              <a:rPr lang="en-US" sz="2400" b="0" i="1" smtClean="0">
                                <a:latin typeface="Cambria Math" panose="02040503050406030204" pitchFamily="18" charset="0"/>
                              </a:rPr>
                              <m:t>8</m:t>
                            </m:r>
                          </m:num>
                          <m:den>
                            <m:r>
                              <a:rPr lang="en-US" sz="2400" i="1">
                                <a:latin typeface="Cambria Math" panose="02040503050406030204" pitchFamily="18" charset="0"/>
                              </a:rPr>
                              <m:t>16</m:t>
                            </m:r>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𝑗</m:t>
                            </m:r>
                          </m:num>
                          <m:den>
                            <m:r>
                              <a:rPr lang="en-US" sz="2400" i="1">
                                <a:latin typeface="Cambria Math" panose="02040503050406030204" pitchFamily="18" charset="0"/>
                              </a:rPr>
                              <m:t>𝑟</m:t>
                            </m:r>
                          </m:den>
                        </m:f>
                        <m:groupChr>
                          <m:groupChrPr>
                            <m:chr m:val="→"/>
                            <m:vertJc m:val="bot"/>
                            <m:ctrlPr>
                              <a:rPr lang="en-US" sz="2400" i="1">
                                <a:latin typeface="Cambria Math" panose="02040503050406030204" pitchFamily="18" charset="0"/>
                              </a:rPr>
                            </m:ctrlPr>
                          </m:groupChrPr>
                          <m:e>
                            <m:r>
                              <m:rPr>
                                <m:brk m:alnAt="2"/>
                              </m:rPr>
                              <a:rPr lang="en-US" sz="2400" i="1">
                                <a:latin typeface="Cambria Math" panose="02040503050406030204" pitchFamily="18" charset="0"/>
                              </a:rPr>
                              <m:t>𝑗</m:t>
                            </m:r>
                            <m:r>
                              <a:rPr lang="en-US" sz="2400" i="1">
                                <a:latin typeface="Cambria Math" panose="02040503050406030204" pitchFamily="18" charset="0"/>
                              </a:rPr>
                              <m:t>=1</m:t>
                            </m:r>
                          </m:e>
                        </m:groupCh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𝑟</m:t>
                        </m:r>
                        <m:r>
                          <a:rPr lang="en-US" sz="2400" i="1">
                            <a:latin typeface="Cambria Math" panose="02040503050406030204" pitchFamily="18" charset="0"/>
                          </a:rPr>
                          <m:t>=</m:t>
                        </m:r>
                        <m:r>
                          <a:rPr lang="en-US" sz="2400" b="0" i="1" smtClean="0">
                            <a:latin typeface="Cambria Math" panose="02040503050406030204" pitchFamily="18" charset="0"/>
                          </a:rPr>
                          <m:t>2</m:t>
                        </m:r>
                      </m:oMath>
                    </m:oMathPara>
                  </a14:m>
                  <a:endParaRPr lang="en-US" sz="2400" b="0" dirty="0">
                    <a:solidFill>
                      <a:srgbClr val="002060"/>
                    </a:solidFill>
                    <a:ea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3FB41011-10FA-F746-9ED5-089802C486D2}"/>
                    </a:ext>
                  </a:extLst>
                </p:cNvPr>
                <p:cNvSpPr txBox="1">
                  <a:spLocks noRot="1" noChangeAspect="1" noMove="1" noResize="1" noEditPoints="1" noAdjustHandles="1" noChangeArrowheads="1" noChangeShapeType="1" noTextEdit="1"/>
                </p:cNvSpPr>
                <p:nvPr/>
              </p:nvSpPr>
              <p:spPr>
                <a:xfrm>
                  <a:off x="6712870" y="2774216"/>
                  <a:ext cx="4375108" cy="1242391"/>
                </a:xfrm>
                <a:prstGeom prst="rect">
                  <a:avLst/>
                </a:prstGeom>
                <a:blipFill>
                  <a:blip r:embed="rId9"/>
                  <a:stretch>
                    <a:fillRect l="-2319" t="-2020" b="-3030"/>
                  </a:stretch>
                </a:blipFill>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23CFFDFE-ABDB-F548-B2E0-6500A15814AF}"/>
                </a:ext>
              </a:extLst>
            </p:cNvPr>
            <p:cNvGrpSpPr/>
            <p:nvPr/>
          </p:nvGrpSpPr>
          <p:grpSpPr>
            <a:xfrm>
              <a:off x="6455881" y="4047245"/>
              <a:ext cx="5438421" cy="849523"/>
              <a:chOff x="6252300" y="1136862"/>
              <a:chExt cx="5048614" cy="721608"/>
            </a:xfrm>
          </p:grpSpPr>
          <p:grpSp>
            <p:nvGrpSpPr>
              <p:cNvPr id="40" name="Group 39">
                <a:extLst>
                  <a:ext uri="{FF2B5EF4-FFF2-40B4-BE49-F238E27FC236}">
                    <a16:creationId xmlns:a16="http://schemas.microsoft.com/office/drawing/2014/main" id="{8F2CC9D9-7C16-8E49-AC64-ABDE95326A7F}"/>
                  </a:ext>
                </a:extLst>
              </p:cNvPr>
              <p:cNvGrpSpPr/>
              <p:nvPr/>
            </p:nvGrpSpPr>
            <p:grpSpPr>
              <a:xfrm>
                <a:off x="6252300" y="1136862"/>
                <a:ext cx="5048614" cy="721608"/>
                <a:chOff x="6252300" y="1136862"/>
                <a:chExt cx="5048614" cy="721608"/>
              </a:xfrm>
            </p:grpSpPr>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BEAD1D01-BA66-8E43-B60B-412087702D69}"/>
                        </a:ext>
                      </a:extLst>
                    </p:cNvPr>
                    <p:cNvSpPr/>
                    <p:nvPr/>
                  </p:nvSpPr>
                  <p:spPr>
                    <a:xfrm>
                      <a:off x="6972300" y="1137666"/>
                      <a:ext cx="3608614" cy="720000"/>
                    </a:xfrm>
                    <a:prstGeom prst="rect">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0" dirty="0">
                          <a:solidFill>
                            <a:srgbClr val="002060"/>
                          </a:solidFill>
                          <a:ea typeface="Cambria Math" panose="02040503050406030204" pitchFamily="18" charset="0"/>
                        </a:rPr>
                        <a:t>  </a:t>
                      </a:r>
                      <a14:m>
                        <m:oMath xmlns:m="http://schemas.openxmlformats.org/officeDocument/2006/math">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𝑎</m:t>
                              </m:r>
                            </m:e>
                            <m:sup>
                              <m:r>
                                <a:rPr lang="en-US" sz="2000" i="1">
                                  <a:solidFill>
                                    <a:schemeClr val="tx1"/>
                                  </a:solidFill>
                                  <a:latin typeface="Cambria Math" panose="02040503050406030204" pitchFamily="18" charset="0"/>
                                </a:rPr>
                                <m:t>𝑟</m:t>
                              </m:r>
                            </m:sup>
                          </m:sSup>
                          <m:r>
                            <a:rPr lang="en-US" sz="2000" i="1">
                              <a:solidFill>
                                <a:schemeClr val="tx1"/>
                              </a:solidFill>
                              <a:latin typeface="Cambria Math" panose="02040503050406030204" pitchFamily="18" charset="0"/>
                              <a:ea typeface="Cambria Math" panose="02040503050406030204" pitchFamily="18" charset="0"/>
                            </a:rPr>
                            <m:t>≡1 </m:t>
                          </m:r>
                          <m:d>
                            <m:dPr>
                              <m:ctrlPr>
                                <a:rPr lang="en-US" sz="2000" i="1">
                                  <a:solidFill>
                                    <a:schemeClr val="tx1"/>
                                  </a:solidFill>
                                  <a:latin typeface="Cambria Math" panose="02040503050406030204" pitchFamily="18" charset="0"/>
                                  <a:ea typeface="Cambria Math" panose="02040503050406030204" pitchFamily="18" charset="0"/>
                                </a:rPr>
                              </m:ctrlPr>
                            </m:dPr>
                            <m:e>
                              <m:r>
                                <m:rPr>
                                  <m:sty m:val="p"/>
                                </m:rPr>
                                <a:rPr lang="en-US" sz="2000">
                                  <a:solidFill>
                                    <a:schemeClr val="tx1"/>
                                  </a:solidFill>
                                  <a:latin typeface="Cambria Math" panose="02040503050406030204" pitchFamily="18" charset="0"/>
                                  <a:ea typeface="Cambria Math" panose="02040503050406030204" pitchFamily="18" charset="0"/>
                                </a:rPr>
                                <m:t>mod</m:t>
                              </m:r>
                              <m:r>
                                <a:rPr lang="en-US" sz="2000">
                                  <a:solidFill>
                                    <a:schemeClr val="tx1"/>
                                  </a:solidFill>
                                  <a:latin typeface="Cambria Math" panose="02040503050406030204" pitchFamily="18" charset="0"/>
                                  <a:ea typeface="Cambria Math" panose="02040503050406030204" pitchFamily="18" charset="0"/>
                                </a:rPr>
                                <m:t> </m:t>
                              </m:r>
                              <m:r>
                                <a:rPr lang="en-US" sz="2000" i="1">
                                  <a:solidFill>
                                    <a:schemeClr val="tx1"/>
                                  </a:solidFill>
                                  <a:latin typeface="Cambria Math" panose="02040503050406030204" pitchFamily="18" charset="0"/>
                                  <a:ea typeface="Cambria Math" panose="02040503050406030204" pitchFamily="18" charset="0"/>
                                </a:rPr>
                                <m:t>𝑁</m:t>
                              </m:r>
                            </m:e>
                          </m:d>
                          <m:r>
                            <a:rPr lang="en-US" sz="2000" b="0" i="1" smtClean="0">
                              <a:solidFill>
                                <a:schemeClr val="tx1"/>
                              </a:solidFill>
                              <a:latin typeface="Cambria Math" panose="02040503050406030204" pitchFamily="18" charset="0"/>
                              <a:ea typeface="Cambria Math" panose="02040503050406030204" pitchFamily="18" charset="0"/>
                            </a:rPr>
                            <m:t> </m:t>
                          </m:r>
                          <m:r>
                            <a:rPr lang="en-US" sz="2000" b="1" i="1" smtClean="0">
                              <a:solidFill>
                                <a:srgbClr val="FF0000"/>
                              </a:solidFill>
                              <a:latin typeface="Cambria Math" panose="02040503050406030204" pitchFamily="18" charset="0"/>
                              <a:ea typeface="Cambria Math" panose="02040503050406030204" pitchFamily="18" charset="0"/>
                            </a:rPr>
                            <m:t>×</m:t>
                          </m:r>
                        </m:oMath>
                      </a14:m>
                      <a:endParaRPr lang="en-US" sz="2000" b="1" dirty="0">
                        <a:solidFill>
                          <a:srgbClr val="002060"/>
                        </a:solidFill>
                      </a:endParaRPr>
                    </a:p>
                    <a:p>
                      <a:pPr algn="ctr"/>
                      <a14:m>
                        <m:oMath xmlns:m="http://schemas.openxmlformats.org/officeDocument/2006/math">
                          <m:r>
                            <a:rPr lang="en-US" i="1">
                              <a:solidFill>
                                <a:schemeClr val="tx1"/>
                              </a:solidFill>
                              <a:latin typeface="Cambria Math" panose="02040503050406030204" pitchFamily="18" charset="0"/>
                              <a:ea typeface="Cambria Math" panose="02040503050406030204" pitchFamily="18" charset="0"/>
                            </a:rPr>
                            <m:t>𝑟</m:t>
                          </m:r>
                        </m:oMath>
                      </a14:m>
                      <a:r>
                        <a:rPr lang="en-US" sz="2000" dirty="0">
                          <a:solidFill>
                            <a:srgbClr val="002060"/>
                          </a:solidFill>
                        </a:rPr>
                        <a:t> is even, </a:t>
                      </a:r>
                      <a14:m>
                        <m:oMath xmlns:m="http://schemas.openxmlformats.org/officeDocument/2006/math">
                          <m:sSup>
                            <m:sSupPr>
                              <m:ctrlPr>
                                <a:rPr lang="en-US" sz="2000" i="1">
                                  <a:solidFill>
                                    <a:srgbClr val="002060"/>
                                  </a:solidFill>
                                  <a:latin typeface="Cambria Math" panose="02040503050406030204" pitchFamily="18" charset="0"/>
                                  <a:ea typeface="Cambria Math" panose="02040503050406030204" pitchFamily="18" charset="0"/>
                                </a:rPr>
                              </m:ctrlPr>
                            </m:sSupPr>
                            <m:e>
                              <m:r>
                                <a:rPr lang="en-US" sz="2000" i="1">
                                  <a:solidFill>
                                    <a:srgbClr val="002060"/>
                                  </a:solidFill>
                                  <a:latin typeface="Cambria Math" panose="02040503050406030204" pitchFamily="18" charset="0"/>
                                  <a:ea typeface="Cambria Math" panose="02040503050406030204" pitchFamily="18" charset="0"/>
                                </a:rPr>
                                <m:t>𝑎</m:t>
                              </m:r>
                            </m:e>
                            <m:sup>
                              <m:r>
                                <a:rPr lang="en-US" sz="2000" i="1">
                                  <a:solidFill>
                                    <a:srgbClr val="002060"/>
                                  </a:solidFill>
                                  <a:latin typeface="Cambria Math" panose="02040503050406030204" pitchFamily="18" charset="0"/>
                                  <a:ea typeface="Cambria Math" panose="02040503050406030204" pitchFamily="18" charset="0"/>
                                </a:rPr>
                                <m:t>𝑟</m:t>
                              </m:r>
                              <m:r>
                                <a:rPr lang="en-US" sz="2000" i="1">
                                  <a:solidFill>
                                    <a:srgbClr val="002060"/>
                                  </a:solidFill>
                                  <a:latin typeface="Cambria Math" panose="02040503050406030204" pitchFamily="18" charset="0"/>
                                  <a:ea typeface="Cambria Math" panose="02040503050406030204" pitchFamily="18" charset="0"/>
                                </a:rPr>
                                <m:t>/2</m:t>
                              </m:r>
                            </m:sup>
                          </m:sSup>
                          <m:r>
                            <a:rPr lang="en-US" sz="2000" i="1">
                              <a:solidFill>
                                <a:srgbClr val="002060"/>
                              </a:solidFill>
                              <a:latin typeface="Cambria Math" panose="02040503050406030204" pitchFamily="18" charset="0"/>
                              <a:ea typeface="Cambria Math" panose="02040503050406030204" pitchFamily="18" charset="0"/>
                            </a:rPr>
                            <m:t>≢</m:t>
                          </m:r>
                          <m:r>
                            <a:rPr lang="en-US" sz="2000" b="0" i="0" smtClean="0">
                              <a:solidFill>
                                <a:srgbClr val="002060"/>
                              </a:solidFill>
                              <a:latin typeface="Cambria Math" panose="02040503050406030204" pitchFamily="18" charset="0"/>
                              <a:ea typeface="Cambria Math" panose="02040503050406030204" pitchFamily="18" charset="0"/>
                            </a:rPr>
                            <m:t>−</m:t>
                          </m:r>
                          <m:r>
                            <a:rPr lang="en-US" sz="2000">
                              <a:solidFill>
                                <a:srgbClr val="002060"/>
                              </a:solidFill>
                              <a:latin typeface="Cambria Math" panose="02040503050406030204" pitchFamily="18" charset="0"/>
                              <a:ea typeface="Cambria Math" panose="02040503050406030204" pitchFamily="18" charset="0"/>
                            </a:rPr>
                            <m:t>1 (</m:t>
                          </m:r>
                          <m:r>
                            <m:rPr>
                              <m:sty m:val="p"/>
                            </m:rPr>
                            <a:rPr lang="en-US" sz="2000">
                              <a:solidFill>
                                <a:srgbClr val="002060"/>
                              </a:solidFill>
                              <a:latin typeface="Cambria Math" panose="02040503050406030204" pitchFamily="18" charset="0"/>
                              <a:ea typeface="Cambria Math" panose="02040503050406030204" pitchFamily="18" charset="0"/>
                            </a:rPr>
                            <m:t>mod</m:t>
                          </m:r>
                          <m:r>
                            <a:rPr lang="en-US" sz="2000">
                              <a:solidFill>
                                <a:srgbClr val="002060"/>
                              </a:solidFill>
                              <a:latin typeface="Cambria Math" panose="02040503050406030204" pitchFamily="18" charset="0"/>
                              <a:ea typeface="Cambria Math" panose="02040503050406030204" pitchFamily="18" charset="0"/>
                            </a:rPr>
                            <m:t> </m:t>
                          </m:r>
                          <m:r>
                            <m:rPr>
                              <m:sty m:val="p"/>
                            </m:rPr>
                            <a:rPr lang="en-US" sz="2000">
                              <a:solidFill>
                                <a:srgbClr val="002060"/>
                              </a:solidFill>
                              <a:latin typeface="Cambria Math" panose="02040503050406030204" pitchFamily="18" charset="0"/>
                              <a:ea typeface="Cambria Math" panose="02040503050406030204" pitchFamily="18" charset="0"/>
                            </a:rPr>
                            <m:t>N</m:t>
                          </m:r>
                          <m:r>
                            <a:rPr lang="en-US" sz="2000">
                              <a:solidFill>
                                <a:srgbClr val="002060"/>
                              </a:solidFill>
                              <a:latin typeface="Cambria Math" panose="02040503050406030204" pitchFamily="18" charset="0"/>
                              <a:ea typeface="Cambria Math" panose="02040503050406030204" pitchFamily="18" charset="0"/>
                            </a:rPr>
                            <m:t>)</m:t>
                          </m:r>
                          <m:r>
                            <a:rPr lang="en-US" sz="2300" b="0" i="1" smtClean="0">
                              <a:solidFill>
                                <a:srgbClr val="002060"/>
                              </a:solidFill>
                              <a:latin typeface="Cambria Math" panose="02040503050406030204" pitchFamily="18" charset="0"/>
                              <a:ea typeface="Cambria Math" panose="02040503050406030204" pitchFamily="18" charset="0"/>
                            </a:rPr>
                            <m:t>)</m:t>
                          </m:r>
                        </m:oMath>
                      </a14:m>
                      <a:endParaRPr lang="en-US" sz="2300" dirty="0">
                        <a:solidFill>
                          <a:srgbClr val="002060"/>
                        </a:solidFill>
                      </a:endParaRPr>
                    </a:p>
                  </p:txBody>
                </p:sp>
              </mc:Choice>
              <mc:Fallback xmlns="">
                <p:sp>
                  <p:nvSpPr>
                    <p:cNvPr id="44" name="Rectangle 43">
                      <a:extLst>
                        <a:ext uri="{FF2B5EF4-FFF2-40B4-BE49-F238E27FC236}">
                          <a16:creationId xmlns:a16="http://schemas.microsoft.com/office/drawing/2014/main" id="{BEAD1D01-BA66-8E43-B60B-412087702D69}"/>
                        </a:ext>
                      </a:extLst>
                    </p:cNvPr>
                    <p:cNvSpPr>
                      <a:spLocks noRot="1" noChangeAspect="1" noMove="1" noResize="1" noEditPoints="1" noAdjustHandles="1" noChangeArrowheads="1" noChangeShapeType="1" noTextEdit="1"/>
                    </p:cNvSpPr>
                    <p:nvPr/>
                  </p:nvSpPr>
                  <p:spPr>
                    <a:xfrm>
                      <a:off x="6972300" y="1137666"/>
                      <a:ext cx="3608614" cy="720000"/>
                    </a:xfrm>
                    <a:prstGeom prst="rect">
                      <a:avLst/>
                    </a:prstGeom>
                    <a:blipFill>
                      <a:blip r:embed="rId10"/>
                      <a:stretch>
                        <a:fillRect b="-5882"/>
                      </a:stretch>
                    </a:blipFill>
                    <a:ln>
                      <a:solidFill>
                        <a:schemeClr val="bg1">
                          <a:lumMod val="75000"/>
                        </a:schemeClr>
                      </a:solidFill>
                    </a:ln>
                  </p:spPr>
                  <p:txBody>
                    <a:bodyPr/>
                    <a:lstStyle/>
                    <a:p>
                      <a:r>
                        <a:rPr lang="en-US">
                          <a:noFill/>
                        </a:rPr>
                        <a:t> </a:t>
                      </a:r>
                    </a:p>
                  </p:txBody>
                </p:sp>
              </mc:Fallback>
            </mc:AlternateContent>
            <p:sp>
              <p:nvSpPr>
                <p:cNvPr id="45" name="Triangle 44">
                  <a:extLst>
                    <a:ext uri="{FF2B5EF4-FFF2-40B4-BE49-F238E27FC236}">
                      <a16:creationId xmlns:a16="http://schemas.microsoft.com/office/drawing/2014/main" id="{22E3B733-ADCB-6D40-8A52-821D3B3B4736}"/>
                    </a:ext>
                  </a:extLst>
                </p:cNvPr>
                <p:cNvSpPr/>
                <p:nvPr/>
              </p:nvSpPr>
              <p:spPr>
                <a:xfrm rot="5400000">
                  <a:off x="10580110" y="1137666"/>
                  <a:ext cx="721608" cy="720000"/>
                </a:xfrm>
                <a:prstGeom prst="triangle">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46" name="Triangle 45">
                  <a:extLst>
                    <a:ext uri="{FF2B5EF4-FFF2-40B4-BE49-F238E27FC236}">
                      <a16:creationId xmlns:a16="http://schemas.microsoft.com/office/drawing/2014/main" id="{D356584E-06A8-3A4B-BE91-C5CF98625A5F}"/>
                    </a:ext>
                  </a:extLst>
                </p:cNvPr>
                <p:cNvSpPr/>
                <p:nvPr/>
              </p:nvSpPr>
              <p:spPr>
                <a:xfrm rot="16200000" flipH="1">
                  <a:off x="6251496" y="1137666"/>
                  <a:ext cx="721608" cy="720000"/>
                </a:xfrm>
                <a:prstGeom prst="triangle">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cxnSp>
            <p:nvCxnSpPr>
              <p:cNvPr id="42" name="Straight Connector 41">
                <a:extLst>
                  <a:ext uri="{FF2B5EF4-FFF2-40B4-BE49-F238E27FC236}">
                    <a16:creationId xmlns:a16="http://schemas.microsoft.com/office/drawing/2014/main" id="{CCFB66C9-1A23-144B-A98C-36FE95570894}"/>
                  </a:ext>
                </a:extLst>
              </p:cNvPr>
              <p:cNvCxnSpPr>
                <a:cxnSpLocks/>
              </p:cNvCxnSpPr>
              <p:nvPr/>
            </p:nvCxnSpPr>
            <p:spPr>
              <a:xfrm>
                <a:off x="10580914" y="1147438"/>
                <a:ext cx="0" cy="698400"/>
              </a:xfrm>
              <a:prstGeom prst="line">
                <a:avLst/>
              </a:prstGeom>
              <a:ln w="127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3C8126B-765B-1249-B3E4-1682557C399D}"/>
                  </a:ext>
                </a:extLst>
              </p:cNvPr>
              <p:cNvCxnSpPr>
                <a:cxnSpLocks/>
              </p:cNvCxnSpPr>
              <p:nvPr/>
            </p:nvCxnSpPr>
            <p:spPr>
              <a:xfrm>
                <a:off x="6972300" y="1148466"/>
                <a:ext cx="0" cy="698400"/>
              </a:xfrm>
              <a:prstGeom prst="line">
                <a:avLst/>
              </a:prstGeom>
              <a:ln w="127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grpSp>
        <p:sp>
          <p:nvSpPr>
            <p:cNvPr id="54" name="Rounded Rectangle 53">
              <a:extLst>
                <a:ext uri="{FF2B5EF4-FFF2-40B4-BE49-F238E27FC236}">
                  <a16:creationId xmlns:a16="http://schemas.microsoft.com/office/drawing/2014/main" id="{69300BDF-1EB1-9B42-B21F-0C0FB537A181}"/>
                </a:ext>
              </a:extLst>
            </p:cNvPr>
            <p:cNvSpPr/>
            <p:nvPr/>
          </p:nvSpPr>
          <p:spPr>
            <a:xfrm>
              <a:off x="6134301" y="2774215"/>
              <a:ext cx="6025458" cy="3901221"/>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B827DC0E-9B17-D940-A2DC-DE5CE4ABC6BE}"/>
              </a:ext>
            </a:extLst>
          </p:cNvPr>
          <p:cNvGrpSpPr/>
          <p:nvPr/>
        </p:nvGrpSpPr>
        <p:grpSpPr>
          <a:xfrm>
            <a:off x="51144" y="2774216"/>
            <a:ext cx="6025458" cy="3901221"/>
            <a:chOff x="51144" y="2774216"/>
            <a:chExt cx="6025458" cy="3901221"/>
          </a:xfrm>
        </p:grpSpPr>
        <p:grpSp>
          <p:nvGrpSpPr>
            <p:cNvPr id="56" name="Group 55">
              <a:extLst>
                <a:ext uri="{FF2B5EF4-FFF2-40B4-BE49-F238E27FC236}">
                  <a16:creationId xmlns:a16="http://schemas.microsoft.com/office/drawing/2014/main" id="{E93A662E-D868-5341-BD24-310988E97C32}"/>
                </a:ext>
              </a:extLst>
            </p:cNvPr>
            <p:cNvGrpSpPr/>
            <p:nvPr/>
          </p:nvGrpSpPr>
          <p:grpSpPr>
            <a:xfrm>
              <a:off x="51144" y="2774216"/>
              <a:ext cx="6025458" cy="3901221"/>
              <a:chOff x="51144" y="2774216"/>
              <a:chExt cx="6025458" cy="3901221"/>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0BA2091-476B-B040-9F9A-AFC4DA78DF86}"/>
                      </a:ext>
                    </a:extLst>
                  </p:cNvPr>
                  <p:cNvSpPr txBox="1"/>
                  <p:nvPr/>
                </p:nvSpPr>
                <p:spPr>
                  <a:xfrm>
                    <a:off x="545853" y="2827937"/>
                    <a:ext cx="4329390" cy="1209177"/>
                  </a:xfrm>
                  <a:prstGeom prst="rect">
                    <a:avLst/>
                  </a:prstGeom>
                  <a:noFill/>
                </p:spPr>
                <p:txBody>
                  <a:bodyPr wrap="none" rtlCol="0">
                    <a:spAutoFit/>
                  </a:bodyPr>
                  <a:lstStyle/>
                  <a:p>
                    <a14:m>
                      <m:oMath xmlns:m="http://schemas.openxmlformats.org/officeDocument/2006/math">
                        <m:r>
                          <a:rPr lang="en-US" sz="2400" b="1" i="1" smtClean="0">
                            <a:solidFill>
                              <a:srgbClr val="002060"/>
                            </a:solidFill>
                            <a:latin typeface="Cambria Math" panose="02040503050406030204" pitchFamily="18" charset="0"/>
                            <a:ea typeface="Cambria Math" panose="02040503050406030204" pitchFamily="18" charset="0"/>
                          </a:rPr>
                          <m:t>𝒙</m:t>
                        </m:r>
                        <m:r>
                          <a:rPr lang="en-US" sz="2400" b="1" i="1">
                            <a:solidFill>
                              <a:srgbClr val="002060"/>
                            </a:solidFill>
                            <a:latin typeface="Cambria Math" panose="02040503050406030204" pitchFamily="18" charset="0"/>
                            <a:ea typeface="Cambria Math" panose="02040503050406030204" pitchFamily="18" charset="0"/>
                          </a:rPr>
                          <m:t>=</m:t>
                        </m:r>
                        <m:r>
                          <a:rPr lang="en-US" sz="2400" b="1" i="1">
                            <a:solidFill>
                              <a:srgbClr val="002060"/>
                            </a:solidFill>
                            <a:latin typeface="Cambria Math" panose="02040503050406030204" pitchFamily="18" charset="0"/>
                            <a:ea typeface="Cambria Math" panose="02040503050406030204" pitchFamily="18" charset="0"/>
                          </a:rPr>
                          <m:t>𝟒</m:t>
                        </m:r>
                      </m:oMath>
                    </a14:m>
                    <a:r>
                      <a:rPr lang="en-US" sz="2400" b="1" dirty="0"/>
                      <a:t> </a:t>
                    </a:r>
                  </a:p>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𝑥</m:t>
                              </m:r>
                            </m:num>
                            <m:den>
                              <m:r>
                                <a:rPr lang="en-US" sz="2400" i="1">
                                  <a:latin typeface="Cambria Math" panose="02040503050406030204" pitchFamily="18" charset="0"/>
                                </a:rPr>
                                <m:t>𝑄</m:t>
                              </m:r>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𝑗</m:t>
                              </m:r>
                            </m:num>
                            <m:den>
                              <m:r>
                                <a:rPr lang="en-US" sz="2400" i="1">
                                  <a:latin typeface="Cambria Math" panose="02040503050406030204" pitchFamily="18" charset="0"/>
                                </a:rPr>
                                <m:t>𝑟</m:t>
                              </m:r>
                            </m:den>
                          </m:f>
                          <m:r>
                            <a:rPr lang="en-US" sz="2400" i="1">
                              <a:latin typeface="Cambria Math" panose="02040503050406030204" pitchFamily="18" charset="0"/>
                            </a:rPr>
                            <m:t> </m:t>
                          </m:r>
                          <m:r>
                            <a:rPr lang="en-US" sz="2400" i="1">
                              <a:latin typeface="Cambria Math" panose="02040503050406030204" pitchFamily="18" charset="0"/>
                              <a:ea typeface="Cambria Math" panose="02040503050406030204" pitchFamily="18" charset="0"/>
                            </a:rPr>
                            <m:t>⟹ </m:t>
                          </m:r>
                          <m:f>
                            <m:fPr>
                              <m:ctrlPr>
                                <a:rPr lang="en-US" sz="2400" i="1">
                                  <a:latin typeface="Cambria Math" panose="02040503050406030204" pitchFamily="18" charset="0"/>
                                </a:rPr>
                              </m:ctrlPr>
                            </m:fPr>
                            <m:num>
                              <m:r>
                                <a:rPr lang="en-US" sz="2400" i="1">
                                  <a:latin typeface="Cambria Math" panose="02040503050406030204" pitchFamily="18" charset="0"/>
                                </a:rPr>
                                <m:t>4</m:t>
                              </m:r>
                            </m:num>
                            <m:den>
                              <m:r>
                                <a:rPr lang="en-US" sz="2400" i="1">
                                  <a:latin typeface="Cambria Math" panose="02040503050406030204" pitchFamily="18" charset="0"/>
                                </a:rPr>
                                <m:t>16</m:t>
                              </m:r>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𝑗</m:t>
                              </m:r>
                            </m:num>
                            <m:den>
                              <m:r>
                                <a:rPr lang="en-US" sz="2400" i="1">
                                  <a:latin typeface="Cambria Math" panose="02040503050406030204" pitchFamily="18" charset="0"/>
                                </a:rPr>
                                <m:t>𝑟</m:t>
                              </m:r>
                            </m:den>
                          </m:f>
                          <m:groupChr>
                            <m:groupChrPr>
                              <m:chr m:val="→"/>
                              <m:vertJc m:val="bot"/>
                              <m:ctrlPr>
                                <a:rPr lang="en-US" sz="2400" i="1" smtClean="0">
                                  <a:latin typeface="Cambria Math" panose="02040503050406030204" pitchFamily="18" charset="0"/>
                                </a:rPr>
                              </m:ctrlPr>
                            </m:groupChrPr>
                            <m:e>
                              <m:r>
                                <m:rPr>
                                  <m:brk m:alnAt="2"/>
                                </m:rPr>
                                <a:rPr lang="en-US" sz="2400" b="0" i="1" smtClean="0">
                                  <a:latin typeface="Cambria Math" panose="02040503050406030204" pitchFamily="18" charset="0"/>
                                </a:rPr>
                                <m:t>𝑗</m:t>
                              </m:r>
                              <m:r>
                                <a:rPr lang="en-US" sz="2400" b="0" i="1" smtClean="0">
                                  <a:latin typeface="Cambria Math" panose="02040503050406030204" pitchFamily="18" charset="0"/>
                                </a:rPr>
                                <m:t>=1</m:t>
                              </m:r>
                            </m:e>
                          </m:groupChr>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𝑟</m:t>
                          </m:r>
                          <m:r>
                            <a:rPr lang="en-US" sz="2400" b="0" i="1" smtClean="0">
                              <a:latin typeface="Cambria Math" panose="02040503050406030204" pitchFamily="18" charset="0"/>
                            </a:rPr>
                            <m:t>=4</m:t>
                          </m:r>
                        </m:oMath>
                      </m:oMathPara>
                    </a14:m>
                    <a:endParaRPr lang="en-US" sz="2400" b="0" dirty="0">
                      <a:solidFill>
                        <a:srgbClr val="002060"/>
                      </a:solidFill>
                      <a:ea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00BA2091-476B-B040-9F9A-AFC4DA78DF86}"/>
                      </a:ext>
                    </a:extLst>
                  </p:cNvPr>
                  <p:cNvSpPr txBox="1">
                    <a:spLocks noRot="1" noChangeAspect="1" noMove="1" noResize="1" noEditPoints="1" noAdjustHandles="1" noChangeArrowheads="1" noChangeShapeType="1" noTextEdit="1"/>
                  </p:cNvSpPr>
                  <p:nvPr/>
                </p:nvSpPr>
                <p:spPr>
                  <a:xfrm>
                    <a:off x="545853" y="2827937"/>
                    <a:ext cx="4329390" cy="1209177"/>
                  </a:xfrm>
                  <a:prstGeom prst="rect">
                    <a:avLst/>
                  </a:prstGeom>
                  <a:blipFill>
                    <a:blip r:embed="rId11"/>
                    <a:stretch>
                      <a:fillRect b="-5208"/>
                    </a:stretch>
                  </a:blipFill>
                </p:spPr>
                <p:txBody>
                  <a:bodyPr/>
                  <a:lstStyle/>
                  <a:p>
                    <a:r>
                      <a:rPr lang="en-US">
                        <a:noFill/>
                      </a:rPr>
                      <a:t> </a:t>
                    </a:r>
                  </a:p>
                </p:txBody>
              </p:sp>
            </mc:Fallback>
          </mc:AlternateContent>
          <p:grpSp>
            <p:nvGrpSpPr>
              <p:cNvPr id="24" name="Group 23">
                <a:extLst>
                  <a:ext uri="{FF2B5EF4-FFF2-40B4-BE49-F238E27FC236}">
                    <a16:creationId xmlns:a16="http://schemas.microsoft.com/office/drawing/2014/main" id="{4220B0C9-A7A5-4743-8580-876B011E8EB0}"/>
                  </a:ext>
                </a:extLst>
              </p:cNvPr>
              <p:cNvGrpSpPr/>
              <p:nvPr/>
            </p:nvGrpSpPr>
            <p:grpSpPr>
              <a:xfrm>
                <a:off x="287728" y="4071674"/>
                <a:ext cx="5423603" cy="849523"/>
                <a:chOff x="6282391" y="1147037"/>
                <a:chExt cx="5034858" cy="721608"/>
              </a:xfrm>
            </p:grpSpPr>
            <p:grpSp>
              <p:nvGrpSpPr>
                <p:cNvPr id="25" name="Group 24">
                  <a:extLst>
                    <a:ext uri="{FF2B5EF4-FFF2-40B4-BE49-F238E27FC236}">
                      <a16:creationId xmlns:a16="http://schemas.microsoft.com/office/drawing/2014/main" id="{796CA112-057E-5244-B672-AE096A0FFCD8}"/>
                    </a:ext>
                  </a:extLst>
                </p:cNvPr>
                <p:cNvGrpSpPr/>
                <p:nvPr/>
              </p:nvGrpSpPr>
              <p:grpSpPr>
                <a:xfrm>
                  <a:off x="6282391" y="1147037"/>
                  <a:ext cx="5034858" cy="721608"/>
                  <a:chOff x="6282391" y="1147037"/>
                  <a:chExt cx="5034858" cy="721608"/>
                </a:xfrm>
              </p:grpSpPr>
              <p:sp>
                <p:nvSpPr>
                  <p:cNvPr id="30" name="Triangle 29">
                    <a:extLst>
                      <a:ext uri="{FF2B5EF4-FFF2-40B4-BE49-F238E27FC236}">
                        <a16:creationId xmlns:a16="http://schemas.microsoft.com/office/drawing/2014/main" id="{DC039E18-65DD-574D-98EC-000387863D70}"/>
                      </a:ext>
                    </a:extLst>
                  </p:cNvPr>
                  <p:cNvSpPr/>
                  <p:nvPr/>
                </p:nvSpPr>
                <p:spPr>
                  <a:xfrm rot="5400000">
                    <a:off x="10596445" y="1147841"/>
                    <a:ext cx="721608" cy="720000"/>
                  </a:xfrm>
                  <a:prstGeom prst="triangle">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1" name="Triangle 30">
                    <a:extLst>
                      <a:ext uri="{FF2B5EF4-FFF2-40B4-BE49-F238E27FC236}">
                        <a16:creationId xmlns:a16="http://schemas.microsoft.com/office/drawing/2014/main" id="{823434F4-4820-774C-9A69-048818D3CDBA}"/>
                      </a:ext>
                    </a:extLst>
                  </p:cNvPr>
                  <p:cNvSpPr/>
                  <p:nvPr/>
                </p:nvSpPr>
                <p:spPr>
                  <a:xfrm rot="16200000" flipH="1">
                    <a:off x="6281587" y="1147841"/>
                    <a:ext cx="721608" cy="720000"/>
                  </a:xfrm>
                  <a:prstGeom prst="triangle">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cxnSp>
              <p:nvCxnSpPr>
                <p:cNvPr id="26" name="Straight Connector 25">
                  <a:extLst>
                    <a:ext uri="{FF2B5EF4-FFF2-40B4-BE49-F238E27FC236}">
                      <a16:creationId xmlns:a16="http://schemas.microsoft.com/office/drawing/2014/main" id="{CAD7E65E-788D-CB43-A92A-68BFC1B6153E}"/>
                    </a:ext>
                  </a:extLst>
                </p:cNvPr>
                <p:cNvCxnSpPr>
                  <a:cxnSpLocks/>
                </p:cNvCxnSpPr>
                <p:nvPr/>
              </p:nvCxnSpPr>
              <p:spPr>
                <a:xfrm>
                  <a:off x="10580914" y="1147438"/>
                  <a:ext cx="0" cy="698400"/>
                </a:xfrm>
                <a:prstGeom prst="line">
                  <a:avLst/>
                </a:prstGeom>
                <a:ln w="127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262566D-8D34-2E40-98AD-4B076ED3343D}"/>
                    </a:ext>
                  </a:extLst>
                </p:cNvPr>
                <p:cNvCxnSpPr>
                  <a:cxnSpLocks/>
                </p:cNvCxnSpPr>
                <p:nvPr/>
              </p:nvCxnSpPr>
              <p:spPr>
                <a:xfrm>
                  <a:off x="6972300" y="1148466"/>
                  <a:ext cx="0" cy="698400"/>
                </a:xfrm>
                <a:prstGeom prst="line">
                  <a:avLst/>
                </a:prstGeom>
                <a:ln w="127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58AC7D2A-99D7-4943-A99A-407D79D27F6E}"/>
                      </a:ext>
                    </a:extLst>
                  </p:cNvPr>
                  <p:cNvSpPr/>
                  <p:nvPr/>
                </p:nvSpPr>
                <p:spPr>
                  <a:xfrm>
                    <a:off x="109336" y="5185308"/>
                    <a:ext cx="5897325" cy="976144"/>
                  </a:xfrm>
                  <a:prstGeom prst="roundRect">
                    <a:avLst/>
                  </a:prstGeom>
                  <a:solidFill>
                    <a:schemeClr val="accent4">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unc>
                            <m:funcPr>
                              <m:ctrlPr>
                                <a:rPr lang="en-US" sz="2300" b="0" i="1" smtClean="0">
                                  <a:solidFill>
                                    <a:srgbClr val="002060"/>
                                  </a:solidFill>
                                  <a:latin typeface="Cambria Math" panose="02040503050406030204" pitchFamily="18" charset="0"/>
                                  <a:ea typeface="Cambria Math" panose="02040503050406030204" pitchFamily="18" charset="0"/>
                                </a:rPr>
                              </m:ctrlPr>
                            </m:funcPr>
                            <m:fName>
                              <m:func>
                                <m:funcPr>
                                  <m:ctrlPr>
                                    <a:rPr lang="en-US" sz="2300" i="1">
                                      <a:solidFill>
                                        <a:srgbClr val="002060"/>
                                      </a:solidFill>
                                      <a:latin typeface="Cambria Math" panose="02040503050406030204" pitchFamily="18" charset="0"/>
                                      <a:ea typeface="Cambria Math" panose="02040503050406030204" pitchFamily="18" charset="0"/>
                                    </a:rPr>
                                  </m:ctrlPr>
                                </m:funcPr>
                                <m:fName>
                                  <m:r>
                                    <a:rPr lang="en-US" sz="2300" b="0" i="1" smtClean="0">
                                      <a:solidFill>
                                        <a:srgbClr val="002060"/>
                                      </a:solidFill>
                                      <a:latin typeface="Cambria Math" panose="02040503050406030204" pitchFamily="18" charset="0"/>
                                      <a:ea typeface="Cambria Math" panose="02040503050406030204" pitchFamily="18" charset="0"/>
                                    </a:rPr>
                                    <m:t>𝑝</m:t>
                                  </m:r>
                                  <m:r>
                                    <a:rPr lang="en-US" sz="2300" b="0" i="1" smtClean="0">
                                      <a:solidFill>
                                        <a:srgbClr val="002060"/>
                                      </a:solidFill>
                                      <a:latin typeface="Cambria Math" panose="02040503050406030204" pitchFamily="18" charset="0"/>
                                      <a:ea typeface="Cambria Math" panose="02040503050406030204" pitchFamily="18" charset="0"/>
                                    </a:rPr>
                                    <m:t>=</m:t>
                                  </m:r>
                                  <m:r>
                                    <m:rPr>
                                      <m:sty m:val="p"/>
                                    </m:rPr>
                                    <a:rPr lang="en-US" sz="2400" b="0" i="0" smtClean="0">
                                      <a:solidFill>
                                        <a:srgbClr val="AA22FF"/>
                                      </a:solidFill>
                                      <a:latin typeface="Cambria Math" panose="02040503050406030204" pitchFamily="18" charset="0"/>
                                      <a:ea typeface="Cambria Math" panose="02040503050406030204" pitchFamily="18" charset="0"/>
                                    </a:rPr>
                                    <m:t>gcd</m:t>
                                  </m:r>
                                </m:fName>
                                <m:e>
                                  <m:d>
                                    <m:dPr>
                                      <m:ctrlPr>
                                        <a:rPr lang="en-US" sz="2300" i="1">
                                          <a:solidFill>
                                            <a:srgbClr val="002060"/>
                                          </a:solidFill>
                                          <a:latin typeface="Cambria Math" panose="02040503050406030204" pitchFamily="18" charset="0"/>
                                          <a:ea typeface="Cambria Math" panose="02040503050406030204" pitchFamily="18" charset="0"/>
                                        </a:rPr>
                                      </m:ctrlPr>
                                    </m:dPr>
                                    <m:e>
                                      <m:sSup>
                                        <m:sSupPr>
                                          <m:ctrlPr>
                                            <a:rPr lang="en-US" sz="2300" i="1">
                                              <a:solidFill>
                                                <a:srgbClr val="002060"/>
                                              </a:solidFill>
                                              <a:latin typeface="Cambria Math" panose="02040503050406030204" pitchFamily="18" charset="0"/>
                                              <a:ea typeface="Cambria Math" panose="02040503050406030204" pitchFamily="18" charset="0"/>
                                            </a:rPr>
                                          </m:ctrlPr>
                                        </m:sSupPr>
                                        <m:e>
                                          <m:r>
                                            <a:rPr lang="en-US" sz="2300" i="1">
                                              <a:solidFill>
                                                <a:srgbClr val="002060"/>
                                              </a:solidFill>
                                              <a:latin typeface="Cambria Math" panose="02040503050406030204" pitchFamily="18" charset="0"/>
                                              <a:ea typeface="Cambria Math" panose="02040503050406030204" pitchFamily="18" charset="0"/>
                                            </a:rPr>
                                            <m:t>𝑎</m:t>
                                          </m:r>
                                        </m:e>
                                        <m:sup>
                                          <m:r>
                                            <a:rPr lang="en-US" sz="2300" b="0" i="1" smtClean="0">
                                              <a:solidFill>
                                                <a:srgbClr val="002060"/>
                                              </a:solidFill>
                                              <a:latin typeface="Cambria Math" panose="02040503050406030204" pitchFamily="18" charset="0"/>
                                              <a:ea typeface="Cambria Math" panose="02040503050406030204" pitchFamily="18" charset="0"/>
                                            </a:rPr>
                                            <m:t>𝑟</m:t>
                                          </m:r>
                                          <m:r>
                                            <a:rPr lang="en-US" sz="2300" b="0" i="1" smtClean="0">
                                              <a:solidFill>
                                                <a:srgbClr val="002060"/>
                                              </a:solidFill>
                                              <a:latin typeface="Cambria Math" panose="02040503050406030204" pitchFamily="18" charset="0"/>
                                              <a:ea typeface="Cambria Math" panose="02040503050406030204" pitchFamily="18" charset="0"/>
                                            </a:rPr>
                                            <m:t>/2</m:t>
                                          </m:r>
                                        </m:sup>
                                      </m:sSup>
                                      <m:r>
                                        <a:rPr lang="en-US" sz="2300" b="0" i="1" smtClean="0">
                                          <a:solidFill>
                                            <a:srgbClr val="002060"/>
                                          </a:solidFill>
                                          <a:latin typeface="Cambria Math" panose="02040503050406030204" pitchFamily="18" charset="0"/>
                                          <a:ea typeface="Cambria Math" panose="02040503050406030204" pitchFamily="18" charset="0"/>
                                        </a:rPr>
                                        <m:t>+</m:t>
                                      </m:r>
                                      <m:r>
                                        <a:rPr lang="en-US" sz="2300" i="1">
                                          <a:solidFill>
                                            <a:srgbClr val="002060"/>
                                          </a:solidFill>
                                          <a:latin typeface="Cambria Math" panose="02040503050406030204" pitchFamily="18" charset="0"/>
                                          <a:ea typeface="Cambria Math" panose="02040503050406030204" pitchFamily="18" charset="0"/>
                                        </a:rPr>
                                        <m:t>1,</m:t>
                                      </m:r>
                                      <m:r>
                                        <a:rPr lang="en-US" sz="2300" i="1">
                                          <a:solidFill>
                                            <a:srgbClr val="002060"/>
                                          </a:solidFill>
                                          <a:latin typeface="Cambria Math" panose="02040503050406030204" pitchFamily="18" charset="0"/>
                                          <a:ea typeface="Cambria Math" panose="02040503050406030204" pitchFamily="18" charset="0"/>
                                        </a:rPr>
                                        <m:t>𝑁</m:t>
                                      </m:r>
                                    </m:e>
                                  </m:d>
                                </m:e>
                              </m:func>
                              <m:r>
                                <a:rPr lang="en-US" sz="2300" b="0" i="1" smtClean="0">
                                  <a:solidFill>
                                    <a:srgbClr val="002060"/>
                                  </a:solidFill>
                                  <a:latin typeface="Cambria Math" panose="02040503050406030204" pitchFamily="18" charset="0"/>
                                  <a:ea typeface="Cambria Math" panose="02040503050406030204" pitchFamily="18" charset="0"/>
                                </a:rPr>
                                <m:t>=</m:t>
                              </m:r>
                              <m:r>
                                <m:rPr>
                                  <m:sty m:val="p"/>
                                </m:rPr>
                                <a:rPr lang="en-US" sz="2400" i="0">
                                  <a:solidFill>
                                    <a:srgbClr val="AA22FF"/>
                                  </a:solidFill>
                                  <a:latin typeface="Cambria Math" panose="02040503050406030204" pitchFamily="18" charset="0"/>
                                  <a:ea typeface="Cambria Math" panose="02040503050406030204" pitchFamily="18" charset="0"/>
                                </a:rPr>
                                <m:t>gcd</m:t>
                              </m:r>
                            </m:fName>
                            <m:e>
                              <m:d>
                                <m:dPr>
                                  <m:ctrlPr>
                                    <a:rPr lang="en-US" sz="2300" b="0" i="1" smtClean="0">
                                      <a:solidFill>
                                        <a:srgbClr val="002060"/>
                                      </a:solidFill>
                                      <a:latin typeface="Cambria Math" panose="02040503050406030204" pitchFamily="18" charset="0"/>
                                      <a:ea typeface="Cambria Math" panose="02040503050406030204" pitchFamily="18" charset="0"/>
                                    </a:rPr>
                                  </m:ctrlPr>
                                </m:dPr>
                                <m:e>
                                  <m:sSup>
                                    <m:sSupPr>
                                      <m:ctrlPr>
                                        <a:rPr lang="en-US" sz="2300" i="1">
                                          <a:solidFill>
                                            <a:srgbClr val="002060"/>
                                          </a:solidFill>
                                          <a:latin typeface="Cambria Math" panose="02040503050406030204" pitchFamily="18" charset="0"/>
                                          <a:ea typeface="Cambria Math" panose="02040503050406030204" pitchFamily="18" charset="0"/>
                                        </a:rPr>
                                      </m:ctrlPr>
                                    </m:sSupPr>
                                    <m:e>
                                      <m:r>
                                        <a:rPr lang="en-US" sz="2300" b="0" i="1" smtClean="0">
                                          <a:solidFill>
                                            <a:srgbClr val="002060"/>
                                          </a:solidFill>
                                          <a:latin typeface="Cambria Math" panose="02040503050406030204" pitchFamily="18" charset="0"/>
                                          <a:ea typeface="Cambria Math" panose="02040503050406030204" pitchFamily="18" charset="0"/>
                                        </a:rPr>
                                        <m:t>7</m:t>
                                      </m:r>
                                    </m:e>
                                    <m:sup>
                                      <m:r>
                                        <a:rPr lang="en-US" sz="2300" b="0" i="1" smtClean="0">
                                          <a:solidFill>
                                            <a:srgbClr val="002060"/>
                                          </a:solidFill>
                                          <a:latin typeface="Cambria Math" panose="02040503050406030204" pitchFamily="18" charset="0"/>
                                          <a:ea typeface="Cambria Math" panose="02040503050406030204" pitchFamily="18" charset="0"/>
                                        </a:rPr>
                                        <m:t>2</m:t>
                                      </m:r>
                                    </m:sup>
                                  </m:sSup>
                                  <m:r>
                                    <a:rPr lang="en-US" sz="2300" b="0" i="1" smtClean="0">
                                      <a:solidFill>
                                        <a:srgbClr val="002060"/>
                                      </a:solidFill>
                                      <a:latin typeface="Cambria Math" panose="02040503050406030204" pitchFamily="18" charset="0"/>
                                      <a:ea typeface="Cambria Math" panose="02040503050406030204" pitchFamily="18" charset="0"/>
                                    </a:rPr>
                                    <m:t>+1,15</m:t>
                                  </m:r>
                                </m:e>
                              </m:d>
                            </m:e>
                          </m:func>
                          <m:r>
                            <a:rPr lang="en-US" sz="2300" b="0" i="1" smtClean="0">
                              <a:solidFill>
                                <a:srgbClr val="002060"/>
                              </a:solidFill>
                              <a:latin typeface="Cambria Math" panose="02040503050406030204" pitchFamily="18" charset="0"/>
                              <a:ea typeface="Cambria Math" panose="02040503050406030204" pitchFamily="18" charset="0"/>
                            </a:rPr>
                            <m:t>=5</m:t>
                          </m:r>
                        </m:oMath>
                      </m:oMathPara>
                    </a14:m>
                    <a:endParaRPr lang="en-US" sz="2300" b="0" i="1" dirty="0">
                      <a:solidFill>
                        <a:srgbClr val="002060"/>
                      </a:solidFill>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func>
                            <m:funcPr>
                              <m:ctrlPr>
                                <a:rPr lang="en-US" sz="2300" i="1">
                                  <a:solidFill>
                                    <a:srgbClr val="002060"/>
                                  </a:solidFill>
                                  <a:latin typeface="Cambria Math" panose="02040503050406030204" pitchFamily="18" charset="0"/>
                                  <a:ea typeface="Cambria Math" panose="02040503050406030204" pitchFamily="18" charset="0"/>
                                </a:rPr>
                              </m:ctrlPr>
                            </m:funcPr>
                            <m:fName>
                              <m:func>
                                <m:funcPr>
                                  <m:ctrlPr>
                                    <a:rPr lang="en-US" sz="2300" i="1">
                                      <a:solidFill>
                                        <a:srgbClr val="002060"/>
                                      </a:solidFill>
                                      <a:latin typeface="Cambria Math" panose="02040503050406030204" pitchFamily="18" charset="0"/>
                                      <a:ea typeface="Cambria Math" panose="02040503050406030204" pitchFamily="18" charset="0"/>
                                    </a:rPr>
                                  </m:ctrlPr>
                                </m:funcPr>
                                <m:fName>
                                  <m:r>
                                    <a:rPr lang="en-US" sz="2300" b="0" i="1" smtClean="0">
                                      <a:solidFill>
                                        <a:srgbClr val="002060"/>
                                      </a:solidFill>
                                      <a:latin typeface="Cambria Math" panose="02040503050406030204" pitchFamily="18" charset="0"/>
                                      <a:ea typeface="Cambria Math" panose="02040503050406030204" pitchFamily="18" charset="0"/>
                                    </a:rPr>
                                    <m:t>𝑞</m:t>
                                  </m:r>
                                  <m:r>
                                    <a:rPr lang="en-US" sz="2300" b="0" i="1" smtClean="0">
                                      <a:solidFill>
                                        <a:srgbClr val="002060"/>
                                      </a:solidFill>
                                      <a:latin typeface="Cambria Math" panose="02040503050406030204" pitchFamily="18" charset="0"/>
                                      <a:ea typeface="Cambria Math" panose="02040503050406030204" pitchFamily="18" charset="0"/>
                                    </a:rPr>
                                    <m:t>=</m:t>
                                  </m:r>
                                  <m:r>
                                    <m:rPr>
                                      <m:sty m:val="p"/>
                                    </m:rPr>
                                    <a:rPr lang="en-US" sz="2400" i="0">
                                      <a:solidFill>
                                        <a:srgbClr val="AA22FF"/>
                                      </a:solidFill>
                                      <a:latin typeface="Cambria Math" panose="02040503050406030204" pitchFamily="18" charset="0"/>
                                      <a:ea typeface="Cambria Math" panose="02040503050406030204" pitchFamily="18" charset="0"/>
                                    </a:rPr>
                                    <m:t>gcd</m:t>
                                  </m:r>
                                </m:fName>
                                <m:e>
                                  <m:d>
                                    <m:dPr>
                                      <m:ctrlPr>
                                        <a:rPr lang="en-US" sz="2300" i="1">
                                          <a:solidFill>
                                            <a:srgbClr val="002060"/>
                                          </a:solidFill>
                                          <a:latin typeface="Cambria Math" panose="02040503050406030204" pitchFamily="18" charset="0"/>
                                          <a:ea typeface="Cambria Math" panose="02040503050406030204" pitchFamily="18" charset="0"/>
                                        </a:rPr>
                                      </m:ctrlPr>
                                    </m:dPr>
                                    <m:e>
                                      <m:sSup>
                                        <m:sSupPr>
                                          <m:ctrlPr>
                                            <a:rPr lang="en-US" sz="2300" i="1">
                                              <a:solidFill>
                                                <a:srgbClr val="002060"/>
                                              </a:solidFill>
                                              <a:latin typeface="Cambria Math" panose="02040503050406030204" pitchFamily="18" charset="0"/>
                                              <a:ea typeface="Cambria Math" panose="02040503050406030204" pitchFamily="18" charset="0"/>
                                            </a:rPr>
                                          </m:ctrlPr>
                                        </m:sSupPr>
                                        <m:e>
                                          <m:r>
                                            <a:rPr lang="en-US" sz="2300" i="1">
                                              <a:solidFill>
                                                <a:srgbClr val="002060"/>
                                              </a:solidFill>
                                              <a:latin typeface="Cambria Math" panose="02040503050406030204" pitchFamily="18" charset="0"/>
                                              <a:ea typeface="Cambria Math" panose="02040503050406030204" pitchFamily="18" charset="0"/>
                                            </a:rPr>
                                            <m:t>𝑎</m:t>
                                          </m:r>
                                        </m:e>
                                        <m:sup>
                                          <m:r>
                                            <a:rPr lang="en-US" sz="2300" i="1">
                                              <a:solidFill>
                                                <a:srgbClr val="002060"/>
                                              </a:solidFill>
                                              <a:latin typeface="Cambria Math" panose="02040503050406030204" pitchFamily="18" charset="0"/>
                                              <a:ea typeface="Cambria Math" panose="02040503050406030204" pitchFamily="18" charset="0"/>
                                            </a:rPr>
                                            <m:t>𝑟</m:t>
                                          </m:r>
                                          <m:r>
                                            <a:rPr lang="en-US" sz="2300" i="1">
                                              <a:solidFill>
                                                <a:srgbClr val="002060"/>
                                              </a:solidFill>
                                              <a:latin typeface="Cambria Math" panose="02040503050406030204" pitchFamily="18" charset="0"/>
                                              <a:ea typeface="Cambria Math" panose="02040503050406030204" pitchFamily="18" charset="0"/>
                                            </a:rPr>
                                            <m:t>/2</m:t>
                                          </m:r>
                                        </m:sup>
                                      </m:sSup>
                                      <m:r>
                                        <a:rPr lang="en-US" sz="2300" b="0" i="1" smtClean="0">
                                          <a:solidFill>
                                            <a:srgbClr val="002060"/>
                                          </a:solidFill>
                                          <a:latin typeface="Cambria Math" panose="02040503050406030204" pitchFamily="18" charset="0"/>
                                          <a:ea typeface="Cambria Math" panose="02040503050406030204" pitchFamily="18" charset="0"/>
                                        </a:rPr>
                                        <m:t>−</m:t>
                                      </m:r>
                                      <m:r>
                                        <a:rPr lang="en-US" sz="2300" i="1">
                                          <a:solidFill>
                                            <a:srgbClr val="002060"/>
                                          </a:solidFill>
                                          <a:latin typeface="Cambria Math" panose="02040503050406030204" pitchFamily="18" charset="0"/>
                                          <a:ea typeface="Cambria Math" panose="02040503050406030204" pitchFamily="18" charset="0"/>
                                        </a:rPr>
                                        <m:t>1,</m:t>
                                      </m:r>
                                      <m:r>
                                        <a:rPr lang="en-US" sz="2300" i="1">
                                          <a:solidFill>
                                            <a:srgbClr val="002060"/>
                                          </a:solidFill>
                                          <a:latin typeface="Cambria Math" panose="02040503050406030204" pitchFamily="18" charset="0"/>
                                          <a:ea typeface="Cambria Math" panose="02040503050406030204" pitchFamily="18" charset="0"/>
                                        </a:rPr>
                                        <m:t>𝑁</m:t>
                                      </m:r>
                                    </m:e>
                                  </m:d>
                                </m:e>
                              </m:func>
                              <m:r>
                                <a:rPr lang="en-US" sz="2300" b="0" i="1" smtClean="0">
                                  <a:solidFill>
                                    <a:srgbClr val="002060"/>
                                  </a:solidFill>
                                  <a:latin typeface="Cambria Math" panose="02040503050406030204" pitchFamily="18" charset="0"/>
                                  <a:ea typeface="Cambria Math" panose="02040503050406030204" pitchFamily="18" charset="0"/>
                                </a:rPr>
                                <m:t>=</m:t>
                              </m:r>
                              <m:r>
                                <m:rPr>
                                  <m:sty m:val="p"/>
                                </m:rPr>
                                <a:rPr lang="en-US" sz="2400" i="0">
                                  <a:solidFill>
                                    <a:srgbClr val="AA22FF"/>
                                  </a:solidFill>
                                  <a:latin typeface="Cambria Math" panose="02040503050406030204" pitchFamily="18" charset="0"/>
                                  <a:ea typeface="Cambria Math" panose="02040503050406030204" pitchFamily="18" charset="0"/>
                                </a:rPr>
                                <m:t>gcd</m:t>
                              </m:r>
                            </m:fName>
                            <m:e>
                              <m:d>
                                <m:dPr>
                                  <m:ctrlPr>
                                    <a:rPr lang="en-US" sz="2300" i="1">
                                      <a:solidFill>
                                        <a:srgbClr val="002060"/>
                                      </a:solidFill>
                                      <a:latin typeface="Cambria Math" panose="02040503050406030204" pitchFamily="18" charset="0"/>
                                      <a:ea typeface="Cambria Math" panose="02040503050406030204" pitchFamily="18" charset="0"/>
                                    </a:rPr>
                                  </m:ctrlPr>
                                </m:dPr>
                                <m:e>
                                  <m:sSup>
                                    <m:sSupPr>
                                      <m:ctrlPr>
                                        <a:rPr lang="en-US" sz="2300" i="1">
                                          <a:solidFill>
                                            <a:srgbClr val="002060"/>
                                          </a:solidFill>
                                          <a:latin typeface="Cambria Math" panose="02040503050406030204" pitchFamily="18" charset="0"/>
                                          <a:ea typeface="Cambria Math" panose="02040503050406030204" pitchFamily="18" charset="0"/>
                                        </a:rPr>
                                      </m:ctrlPr>
                                    </m:sSupPr>
                                    <m:e>
                                      <m:r>
                                        <a:rPr lang="en-US" sz="2300" i="1">
                                          <a:solidFill>
                                            <a:srgbClr val="002060"/>
                                          </a:solidFill>
                                          <a:latin typeface="Cambria Math" panose="02040503050406030204" pitchFamily="18" charset="0"/>
                                          <a:ea typeface="Cambria Math" panose="02040503050406030204" pitchFamily="18" charset="0"/>
                                        </a:rPr>
                                        <m:t>7</m:t>
                                      </m:r>
                                    </m:e>
                                    <m:sup>
                                      <m:r>
                                        <a:rPr lang="en-US" sz="2300" i="1">
                                          <a:solidFill>
                                            <a:srgbClr val="002060"/>
                                          </a:solidFill>
                                          <a:latin typeface="Cambria Math" panose="02040503050406030204" pitchFamily="18" charset="0"/>
                                          <a:ea typeface="Cambria Math" panose="02040503050406030204" pitchFamily="18" charset="0"/>
                                        </a:rPr>
                                        <m:t>2</m:t>
                                      </m:r>
                                    </m:sup>
                                  </m:sSup>
                                  <m:r>
                                    <a:rPr lang="en-US" sz="2300" b="0" i="1" smtClean="0">
                                      <a:solidFill>
                                        <a:srgbClr val="002060"/>
                                      </a:solidFill>
                                      <a:latin typeface="Cambria Math" panose="02040503050406030204" pitchFamily="18" charset="0"/>
                                      <a:ea typeface="Cambria Math" panose="02040503050406030204" pitchFamily="18" charset="0"/>
                                    </a:rPr>
                                    <m:t>−</m:t>
                                  </m:r>
                                  <m:r>
                                    <a:rPr lang="en-US" sz="2300" i="1">
                                      <a:solidFill>
                                        <a:srgbClr val="002060"/>
                                      </a:solidFill>
                                      <a:latin typeface="Cambria Math" panose="02040503050406030204" pitchFamily="18" charset="0"/>
                                      <a:ea typeface="Cambria Math" panose="02040503050406030204" pitchFamily="18" charset="0"/>
                                    </a:rPr>
                                    <m:t>1,15</m:t>
                                  </m:r>
                                </m:e>
                              </m:d>
                            </m:e>
                          </m:func>
                          <m:r>
                            <a:rPr lang="en-US" sz="2300" i="1">
                              <a:solidFill>
                                <a:srgbClr val="002060"/>
                              </a:solidFill>
                              <a:latin typeface="Cambria Math" panose="02040503050406030204" pitchFamily="18" charset="0"/>
                              <a:ea typeface="Cambria Math" panose="02040503050406030204" pitchFamily="18" charset="0"/>
                            </a:rPr>
                            <m:t>=</m:t>
                          </m:r>
                          <m:r>
                            <a:rPr lang="en-US" sz="2300" b="0" i="1" smtClean="0">
                              <a:solidFill>
                                <a:srgbClr val="002060"/>
                              </a:solidFill>
                              <a:latin typeface="Cambria Math" panose="02040503050406030204" pitchFamily="18" charset="0"/>
                              <a:ea typeface="Cambria Math" panose="02040503050406030204" pitchFamily="18" charset="0"/>
                            </a:rPr>
                            <m:t>3</m:t>
                          </m:r>
                        </m:oMath>
                      </m:oMathPara>
                    </a14:m>
                    <a:endParaRPr lang="en-US" sz="2300" i="1" dirty="0">
                      <a:solidFill>
                        <a:srgbClr val="002060"/>
                      </a:solidFill>
                    </a:endParaRPr>
                  </a:p>
                </p:txBody>
              </p:sp>
            </mc:Choice>
            <mc:Fallback xmlns="">
              <p:sp>
                <p:nvSpPr>
                  <p:cNvPr id="33" name="Rounded Rectangle 32">
                    <a:extLst>
                      <a:ext uri="{FF2B5EF4-FFF2-40B4-BE49-F238E27FC236}">
                        <a16:creationId xmlns:a16="http://schemas.microsoft.com/office/drawing/2014/main" id="{58AC7D2A-99D7-4943-A99A-407D79D27F6E}"/>
                      </a:ext>
                    </a:extLst>
                  </p:cNvPr>
                  <p:cNvSpPr>
                    <a:spLocks noRot="1" noChangeAspect="1" noMove="1" noResize="1" noEditPoints="1" noAdjustHandles="1" noChangeArrowheads="1" noChangeShapeType="1" noTextEdit="1"/>
                  </p:cNvSpPr>
                  <p:nvPr/>
                </p:nvSpPr>
                <p:spPr>
                  <a:xfrm>
                    <a:off x="109336" y="5185308"/>
                    <a:ext cx="5897325" cy="976144"/>
                  </a:xfrm>
                  <a:prstGeom prst="roundRect">
                    <a:avLst/>
                  </a:prstGeom>
                  <a:blipFill>
                    <a:blip r:embed="rId12"/>
                    <a:stretch>
                      <a:fillRect/>
                    </a:stretch>
                  </a:blipFill>
                  <a:ln>
                    <a:solidFill>
                      <a:schemeClr val="bg1">
                        <a:lumMod val="65000"/>
                      </a:schemeClr>
                    </a:solidFill>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A23651A4-D75C-6746-A79F-BA6E1DF2F8CF}"/>
                  </a:ext>
                </a:extLst>
              </p:cNvPr>
              <p:cNvCxnSpPr>
                <a:cxnSpLocks/>
                <a:stCxn id="33" idx="0"/>
              </p:cNvCxnSpPr>
              <p:nvPr/>
            </p:nvCxnSpPr>
            <p:spPr>
              <a:xfrm flipV="1">
                <a:off x="3057999" y="4908273"/>
                <a:ext cx="0" cy="27703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Rounded Rectangle 51">
                <a:extLst>
                  <a:ext uri="{FF2B5EF4-FFF2-40B4-BE49-F238E27FC236}">
                    <a16:creationId xmlns:a16="http://schemas.microsoft.com/office/drawing/2014/main" id="{200079EF-F834-5347-93A4-36B5786F7892}"/>
                  </a:ext>
                </a:extLst>
              </p:cNvPr>
              <p:cNvSpPr/>
              <p:nvPr/>
            </p:nvSpPr>
            <p:spPr>
              <a:xfrm>
                <a:off x="51144" y="2774216"/>
                <a:ext cx="6025458" cy="3901221"/>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E85ADC0D-A15E-AD45-9D9E-BDF012867C5A}"/>
                    </a:ext>
                  </a:extLst>
                </p:cNvPr>
                <p:cNvSpPr/>
                <p:nvPr/>
              </p:nvSpPr>
              <p:spPr>
                <a:xfrm>
                  <a:off x="1061273" y="4073095"/>
                  <a:ext cx="3887238" cy="847630"/>
                </a:xfrm>
                <a:prstGeom prst="rect">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0" dirty="0">
                      <a:solidFill>
                        <a:srgbClr val="002060"/>
                      </a:solidFill>
                      <a:ea typeface="Cambria Math" panose="02040503050406030204" pitchFamily="18" charset="0"/>
                    </a:rPr>
                    <a:t>  </a:t>
                  </a:r>
                  <a14:m>
                    <m:oMath xmlns:m="http://schemas.openxmlformats.org/officeDocument/2006/math">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𝑎</m:t>
                          </m:r>
                        </m:e>
                        <m:sup>
                          <m:r>
                            <a:rPr lang="en-US" sz="2000" i="1">
                              <a:solidFill>
                                <a:schemeClr val="tx1"/>
                              </a:solidFill>
                              <a:latin typeface="Cambria Math" panose="02040503050406030204" pitchFamily="18" charset="0"/>
                            </a:rPr>
                            <m:t>𝑟</m:t>
                          </m:r>
                        </m:sup>
                      </m:sSup>
                      <m:r>
                        <a:rPr lang="en-US" sz="2000" i="1">
                          <a:solidFill>
                            <a:schemeClr val="tx1"/>
                          </a:solidFill>
                          <a:latin typeface="Cambria Math" panose="02040503050406030204" pitchFamily="18" charset="0"/>
                          <a:ea typeface="Cambria Math" panose="02040503050406030204" pitchFamily="18" charset="0"/>
                        </a:rPr>
                        <m:t>≡1 (</m:t>
                      </m:r>
                      <m:r>
                        <m:rPr>
                          <m:sty m:val="p"/>
                        </m:rPr>
                        <a:rPr lang="en-US" sz="2000">
                          <a:solidFill>
                            <a:schemeClr val="tx1"/>
                          </a:solidFill>
                          <a:latin typeface="Cambria Math" panose="02040503050406030204" pitchFamily="18" charset="0"/>
                          <a:ea typeface="Cambria Math" panose="02040503050406030204" pitchFamily="18" charset="0"/>
                        </a:rPr>
                        <m:t>mod</m:t>
                      </m:r>
                      <m:r>
                        <a:rPr lang="en-US" sz="2000">
                          <a:solidFill>
                            <a:schemeClr val="tx1"/>
                          </a:solidFill>
                          <a:latin typeface="Cambria Math" panose="02040503050406030204" pitchFamily="18" charset="0"/>
                          <a:ea typeface="Cambria Math" panose="02040503050406030204" pitchFamily="18" charset="0"/>
                        </a:rPr>
                        <m:t> </m:t>
                      </m:r>
                      <m:r>
                        <a:rPr lang="en-US" sz="2000" i="1">
                          <a:solidFill>
                            <a:schemeClr val="tx1"/>
                          </a:solidFill>
                          <a:latin typeface="Cambria Math" panose="02040503050406030204" pitchFamily="18" charset="0"/>
                          <a:ea typeface="Cambria Math" panose="02040503050406030204" pitchFamily="18" charset="0"/>
                        </a:rPr>
                        <m:t>𝑁</m:t>
                      </m:r>
                      <m:r>
                        <a:rPr lang="en-US" sz="2000" i="1">
                          <a:solidFill>
                            <a:schemeClr val="tx1"/>
                          </a:solidFill>
                          <a:latin typeface="Cambria Math" panose="02040503050406030204" pitchFamily="18" charset="0"/>
                          <a:ea typeface="Cambria Math" panose="02040503050406030204" pitchFamily="18" charset="0"/>
                        </a:rPr>
                        <m:t>)</m:t>
                      </m:r>
                    </m:oMath>
                  </a14:m>
                  <a:endParaRPr lang="en-US" sz="2000" dirty="0">
                    <a:solidFill>
                      <a:srgbClr val="002060"/>
                    </a:solidFill>
                  </a:endParaRPr>
                </a:p>
                <a:p>
                  <a:pPr algn="ctr"/>
                  <a14:m>
                    <m:oMath xmlns:m="http://schemas.openxmlformats.org/officeDocument/2006/math">
                      <m:r>
                        <a:rPr lang="en-US" i="1">
                          <a:solidFill>
                            <a:schemeClr val="tx1"/>
                          </a:solidFill>
                          <a:latin typeface="Cambria Math" panose="02040503050406030204" pitchFamily="18" charset="0"/>
                          <a:ea typeface="Cambria Math" panose="02040503050406030204" pitchFamily="18" charset="0"/>
                        </a:rPr>
                        <m:t>𝑟</m:t>
                      </m:r>
                    </m:oMath>
                  </a14:m>
                  <a:r>
                    <a:rPr lang="en-US" sz="2000" dirty="0">
                      <a:solidFill>
                        <a:srgbClr val="002060"/>
                      </a:solidFill>
                    </a:rPr>
                    <a:t> is even, </a:t>
                  </a:r>
                  <a14:m>
                    <m:oMath xmlns:m="http://schemas.openxmlformats.org/officeDocument/2006/math">
                      <m:sSup>
                        <m:sSupPr>
                          <m:ctrlPr>
                            <a:rPr lang="en-US" sz="2000" i="1">
                              <a:solidFill>
                                <a:srgbClr val="002060"/>
                              </a:solidFill>
                              <a:latin typeface="Cambria Math" panose="02040503050406030204" pitchFamily="18" charset="0"/>
                              <a:ea typeface="Cambria Math" panose="02040503050406030204" pitchFamily="18" charset="0"/>
                            </a:rPr>
                          </m:ctrlPr>
                        </m:sSupPr>
                        <m:e>
                          <m:r>
                            <a:rPr lang="en-US" sz="2000" i="1">
                              <a:solidFill>
                                <a:srgbClr val="002060"/>
                              </a:solidFill>
                              <a:latin typeface="Cambria Math" panose="02040503050406030204" pitchFamily="18" charset="0"/>
                              <a:ea typeface="Cambria Math" panose="02040503050406030204" pitchFamily="18" charset="0"/>
                            </a:rPr>
                            <m:t>𝑎</m:t>
                          </m:r>
                        </m:e>
                        <m:sup>
                          <m:r>
                            <a:rPr lang="en-US" sz="2000" i="1">
                              <a:solidFill>
                                <a:srgbClr val="002060"/>
                              </a:solidFill>
                              <a:latin typeface="Cambria Math" panose="02040503050406030204" pitchFamily="18" charset="0"/>
                              <a:ea typeface="Cambria Math" panose="02040503050406030204" pitchFamily="18" charset="0"/>
                            </a:rPr>
                            <m:t>𝑟</m:t>
                          </m:r>
                          <m:r>
                            <a:rPr lang="en-US" sz="2000" i="1">
                              <a:solidFill>
                                <a:srgbClr val="002060"/>
                              </a:solidFill>
                              <a:latin typeface="Cambria Math" panose="02040503050406030204" pitchFamily="18" charset="0"/>
                              <a:ea typeface="Cambria Math" panose="02040503050406030204" pitchFamily="18" charset="0"/>
                            </a:rPr>
                            <m:t>/2</m:t>
                          </m:r>
                        </m:sup>
                      </m:sSup>
                      <m:r>
                        <a:rPr lang="en-US" sz="2000" i="1">
                          <a:solidFill>
                            <a:srgbClr val="002060"/>
                          </a:solidFill>
                          <a:latin typeface="Cambria Math" panose="02040503050406030204" pitchFamily="18" charset="0"/>
                          <a:ea typeface="Cambria Math" panose="02040503050406030204" pitchFamily="18" charset="0"/>
                        </a:rPr>
                        <m:t>≢</m:t>
                      </m:r>
                      <m:r>
                        <a:rPr lang="en-US" sz="2000" b="0" i="0" smtClean="0">
                          <a:solidFill>
                            <a:srgbClr val="002060"/>
                          </a:solidFill>
                          <a:latin typeface="Cambria Math" panose="02040503050406030204" pitchFamily="18" charset="0"/>
                          <a:ea typeface="Cambria Math" panose="02040503050406030204" pitchFamily="18" charset="0"/>
                        </a:rPr>
                        <m:t>−</m:t>
                      </m:r>
                      <m:r>
                        <a:rPr lang="en-US" sz="2000">
                          <a:solidFill>
                            <a:srgbClr val="002060"/>
                          </a:solidFill>
                          <a:latin typeface="Cambria Math" panose="02040503050406030204" pitchFamily="18" charset="0"/>
                          <a:ea typeface="Cambria Math" panose="02040503050406030204" pitchFamily="18" charset="0"/>
                        </a:rPr>
                        <m:t>1 (</m:t>
                      </m:r>
                      <m:r>
                        <m:rPr>
                          <m:sty m:val="p"/>
                        </m:rPr>
                        <a:rPr lang="en-US" sz="2000">
                          <a:solidFill>
                            <a:srgbClr val="002060"/>
                          </a:solidFill>
                          <a:latin typeface="Cambria Math" panose="02040503050406030204" pitchFamily="18" charset="0"/>
                          <a:ea typeface="Cambria Math" panose="02040503050406030204" pitchFamily="18" charset="0"/>
                        </a:rPr>
                        <m:t>mod</m:t>
                      </m:r>
                      <m:r>
                        <a:rPr lang="en-US" sz="2000">
                          <a:solidFill>
                            <a:srgbClr val="002060"/>
                          </a:solidFill>
                          <a:latin typeface="Cambria Math" panose="02040503050406030204" pitchFamily="18" charset="0"/>
                          <a:ea typeface="Cambria Math" panose="02040503050406030204" pitchFamily="18" charset="0"/>
                        </a:rPr>
                        <m:t> </m:t>
                      </m:r>
                      <m:r>
                        <m:rPr>
                          <m:sty m:val="p"/>
                        </m:rPr>
                        <a:rPr lang="en-US" sz="2000">
                          <a:solidFill>
                            <a:srgbClr val="002060"/>
                          </a:solidFill>
                          <a:latin typeface="Cambria Math" panose="02040503050406030204" pitchFamily="18" charset="0"/>
                          <a:ea typeface="Cambria Math" panose="02040503050406030204" pitchFamily="18" charset="0"/>
                        </a:rPr>
                        <m:t>N</m:t>
                      </m:r>
                      <m:r>
                        <a:rPr lang="en-US" sz="2000">
                          <a:solidFill>
                            <a:srgbClr val="002060"/>
                          </a:solidFill>
                          <a:latin typeface="Cambria Math" panose="02040503050406030204" pitchFamily="18" charset="0"/>
                          <a:ea typeface="Cambria Math" panose="02040503050406030204" pitchFamily="18" charset="0"/>
                        </a:rPr>
                        <m:t>)</m:t>
                      </m:r>
                      <m:r>
                        <a:rPr lang="en-US" sz="2300" b="0" i="1" smtClean="0">
                          <a:solidFill>
                            <a:srgbClr val="002060"/>
                          </a:solidFill>
                          <a:latin typeface="Cambria Math" panose="02040503050406030204" pitchFamily="18" charset="0"/>
                          <a:ea typeface="Cambria Math" panose="02040503050406030204" pitchFamily="18" charset="0"/>
                        </a:rPr>
                        <m:t>)</m:t>
                      </m:r>
                    </m:oMath>
                  </a14:m>
                  <a:endParaRPr lang="en-US" sz="2300" dirty="0">
                    <a:solidFill>
                      <a:srgbClr val="002060"/>
                    </a:solidFill>
                  </a:endParaRPr>
                </a:p>
              </p:txBody>
            </p:sp>
          </mc:Choice>
          <mc:Fallback xmlns="">
            <p:sp>
              <p:nvSpPr>
                <p:cNvPr id="49" name="Rectangle 48">
                  <a:extLst>
                    <a:ext uri="{FF2B5EF4-FFF2-40B4-BE49-F238E27FC236}">
                      <a16:creationId xmlns:a16="http://schemas.microsoft.com/office/drawing/2014/main" id="{E85ADC0D-A15E-AD45-9D9E-BDF012867C5A}"/>
                    </a:ext>
                  </a:extLst>
                </p:cNvPr>
                <p:cNvSpPr>
                  <a:spLocks noRot="1" noChangeAspect="1" noMove="1" noResize="1" noEditPoints="1" noAdjustHandles="1" noChangeArrowheads="1" noChangeShapeType="1" noTextEdit="1"/>
                </p:cNvSpPr>
                <p:nvPr/>
              </p:nvSpPr>
              <p:spPr>
                <a:xfrm>
                  <a:off x="1061273" y="4073095"/>
                  <a:ext cx="3887238" cy="847630"/>
                </a:xfrm>
                <a:prstGeom prst="rect">
                  <a:avLst/>
                </a:prstGeom>
                <a:blipFill>
                  <a:blip r:embed="rId13"/>
                  <a:stretch>
                    <a:fillRect b="-5882"/>
                  </a:stretch>
                </a:blipFill>
                <a:ln>
                  <a:solidFill>
                    <a:schemeClr val="bg1">
                      <a:lumMod val="75000"/>
                    </a:schemeClr>
                  </a:solidFill>
                </a:ln>
              </p:spPr>
              <p:txBody>
                <a:bodyPr/>
                <a:lstStyle/>
                <a:p>
                  <a:r>
                    <a:rPr lang="en-US">
                      <a:noFill/>
                    </a:rPr>
                    <a:t> </a:t>
                  </a:r>
                </a:p>
              </p:txBody>
            </p:sp>
          </mc:Fallback>
        </mc:AlternateContent>
      </p:grpSp>
      <p:sp>
        <p:nvSpPr>
          <p:cNvPr id="35" name="Slide Number Placeholder 2">
            <a:extLst>
              <a:ext uri="{FF2B5EF4-FFF2-40B4-BE49-F238E27FC236}">
                <a16:creationId xmlns:a16="http://schemas.microsoft.com/office/drawing/2014/main" id="{2215B19D-E5C6-1945-B1C9-DAC92F6AA990}"/>
              </a:ext>
            </a:extLst>
          </p:cNvPr>
          <p:cNvSpPr>
            <a:spLocks noGrp="1"/>
          </p:cNvSpPr>
          <p:nvPr>
            <p:ph type="sldNum" sz="quarter" idx="12"/>
          </p:nvPr>
        </p:nvSpPr>
        <p:spPr>
          <a:xfrm>
            <a:off x="0" y="6492875"/>
            <a:ext cx="851338" cy="365125"/>
          </a:xfrm>
        </p:spPr>
        <p:txBody>
          <a:bodyPr/>
          <a:lstStyle/>
          <a:p>
            <a:pPr algn="l"/>
            <a:fld id="{591A223C-FA10-BC46-A853-03BA373D023C}" type="slidenum">
              <a:rPr lang="en-US" smtClean="0"/>
              <a:pPr algn="l"/>
              <a:t>47</a:t>
            </a:fld>
            <a:endParaRPr lang="en-US"/>
          </a:p>
        </p:txBody>
      </p:sp>
    </p:spTree>
    <p:extLst>
      <p:ext uri="{BB962C8B-B14F-4D97-AF65-F5344CB8AC3E}">
        <p14:creationId xmlns:p14="http://schemas.microsoft.com/office/powerpoint/2010/main" val="52973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linds(horizontal)">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blinds(horizontal)">
                                      <p:cBhvr>
                                        <p:cTn id="1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F14A6-C225-A04C-9C91-76BFF397798B}"/>
              </a:ext>
            </a:extLst>
          </p:cNvPr>
          <p:cNvSpPr>
            <a:spLocks noGrp="1"/>
          </p:cNvSpPr>
          <p:nvPr>
            <p:ph type="title"/>
          </p:nvPr>
        </p:nvSpPr>
        <p:spPr>
          <a:xfrm>
            <a:off x="0" y="0"/>
            <a:ext cx="12192000" cy="928688"/>
          </a:xfrm>
        </p:spPr>
        <p:txBody>
          <a:bodyPr/>
          <a:lstStyle/>
          <a:p>
            <a:r>
              <a:rPr lang="en-ZA" dirty="0"/>
              <a:t>The efficiency of Shor’s algorithm</a:t>
            </a:r>
            <a:endParaRPr lang="en-US" dirty="0"/>
          </a:p>
        </p:txBody>
      </p:sp>
      <p:sp>
        <p:nvSpPr>
          <p:cNvPr id="3" name="Slide Number Placeholder 2">
            <a:extLst>
              <a:ext uri="{FF2B5EF4-FFF2-40B4-BE49-F238E27FC236}">
                <a16:creationId xmlns:a16="http://schemas.microsoft.com/office/drawing/2014/main" id="{6EE58E74-29D6-5C4D-89CB-4813DA2DA78C}"/>
              </a:ext>
            </a:extLst>
          </p:cNvPr>
          <p:cNvSpPr>
            <a:spLocks noGrp="1"/>
          </p:cNvSpPr>
          <p:nvPr>
            <p:ph type="sldNum" sz="quarter" idx="12"/>
          </p:nvPr>
        </p:nvSpPr>
        <p:spPr/>
        <p:txBody>
          <a:bodyPr/>
          <a:lstStyle/>
          <a:p>
            <a:fld id="{591A223C-FA10-BC46-A853-03BA373D023C}" type="slidenum">
              <a:rPr lang="en-US" smtClean="0"/>
              <a:t>48</a:t>
            </a:fld>
            <a:endParaRPr lang="en-US"/>
          </a:p>
        </p:txBody>
      </p:sp>
      <p:grpSp>
        <p:nvGrpSpPr>
          <p:cNvPr id="7" name="Group 6">
            <a:extLst>
              <a:ext uri="{FF2B5EF4-FFF2-40B4-BE49-F238E27FC236}">
                <a16:creationId xmlns:a16="http://schemas.microsoft.com/office/drawing/2014/main" id="{21E9A86F-DBB1-5948-8113-D4EDD527DAEA}"/>
              </a:ext>
            </a:extLst>
          </p:cNvPr>
          <p:cNvGrpSpPr/>
          <p:nvPr/>
        </p:nvGrpSpPr>
        <p:grpSpPr>
          <a:xfrm>
            <a:off x="755161" y="1130671"/>
            <a:ext cx="9891800" cy="5544766"/>
            <a:chOff x="1949020" y="1038540"/>
            <a:chExt cx="9891800" cy="5544766"/>
          </a:xfrm>
        </p:grpSpPr>
        <p:pic>
          <p:nvPicPr>
            <p:cNvPr id="4" name="Picture 3">
              <a:extLst>
                <a:ext uri="{FF2B5EF4-FFF2-40B4-BE49-F238E27FC236}">
                  <a16:creationId xmlns:a16="http://schemas.microsoft.com/office/drawing/2014/main" id="{965244FA-76A2-FE4B-B35A-9DA5A6FCD1F7}"/>
                </a:ext>
              </a:extLst>
            </p:cNvPr>
            <p:cNvPicPr>
              <a:picLocks noChangeAspect="1"/>
            </p:cNvPicPr>
            <p:nvPr/>
          </p:nvPicPr>
          <p:blipFill>
            <a:blip r:embed="rId3"/>
            <a:stretch>
              <a:fillRect/>
            </a:stretch>
          </p:blipFill>
          <p:spPr>
            <a:xfrm>
              <a:off x="1949020" y="1038540"/>
              <a:ext cx="7798484" cy="5344483"/>
            </a:xfrm>
            <a:prstGeom prst="rect">
              <a:avLst/>
            </a:prstGeom>
          </p:spPr>
        </p:pic>
        <p:cxnSp>
          <p:nvCxnSpPr>
            <p:cNvPr id="5" name="Straight Connector 4">
              <a:extLst>
                <a:ext uri="{FF2B5EF4-FFF2-40B4-BE49-F238E27FC236}">
                  <a16:creationId xmlns:a16="http://schemas.microsoft.com/office/drawing/2014/main" id="{AE257ABF-3117-CF4C-A448-EA412F59880D}"/>
                </a:ext>
              </a:extLst>
            </p:cNvPr>
            <p:cNvCxnSpPr>
              <a:cxnSpLocks/>
            </p:cNvCxnSpPr>
            <p:nvPr/>
          </p:nvCxnSpPr>
          <p:spPr>
            <a:xfrm>
              <a:off x="2294871" y="2035249"/>
              <a:ext cx="3342578" cy="0"/>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8344619-4D93-2940-A998-0C107A54C27C}"/>
                </a:ext>
              </a:extLst>
            </p:cNvPr>
            <p:cNvCxnSpPr>
              <a:cxnSpLocks/>
            </p:cNvCxnSpPr>
            <p:nvPr/>
          </p:nvCxnSpPr>
          <p:spPr>
            <a:xfrm>
              <a:off x="5637449" y="2035249"/>
              <a:ext cx="0" cy="3875147"/>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53ADDE3-610D-E641-943C-54DB8EA01917}"/>
                </a:ext>
              </a:extLst>
            </p:cNvPr>
            <p:cNvCxnSpPr>
              <a:cxnSpLocks/>
            </p:cNvCxnSpPr>
            <p:nvPr/>
          </p:nvCxnSpPr>
          <p:spPr>
            <a:xfrm>
              <a:off x="2294871" y="4948445"/>
              <a:ext cx="3390340" cy="0"/>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FFBDABE-7C0D-A34C-92E6-9D7572F1C60C}"/>
                </a:ext>
              </a:extLst>
            </p:cNvPr>
            <p:cNvSpPr txBox="1"/>
            <p:nvPr/>
          </p:nvSpPr>
          <p:spPr>
            <a:xfrm>
              <a:off x="9769419" y="6337085"/>
              <a:ext cx="2071401" cy="246221"/>
            </a:xfrm>
            <a:prstGeom prst="rect">
              <a:avLst/>
            </a:prstGeom>
            <a:noFill/>
          </p:spPr>
          <p:txBody>
            <a:bodyPr wrap="none" rtlCol="0">
              <a:spAutoFit/>
            </a:bodyPr>
            <a:lstStyle/>
            <a:p>
              <a:r>
                <a:rPr lang="en-US" sz="1000" dirty="0"/>
                <a:t>DOI:10.1142/9789812814623_0029</a:t>
              </a:r>
            </a:p>
          </p:txBody>
        </p:sp>
      </p:grpSp>
      <p:sp>
        <p:nvSpPr>
          <p:cNvPr id="8" name="TextBox 7">
            <a:extLst>
              <a:ext uri="{FF2B5EF4-FFF2-40B4-BE49-F238E27FC236}">
                <a16:creationId xmlns:a16="http://schemas.microsoft.com/office/drawing/2014/main" id="{7D020AE8-D051-7840-BC51-7584ECE2ED14}"/>
              </a:ext>
            </a:extLst>
          </p:cNvPr>
          <p:cNvSpPr txBox="1"/>
          <p:nvPr/>
        </p:nvSpPr>
        <p:spPr>
          <a:xfrm>
            <a:off x="7050221" y="1572587"/>
            <a:ext cx="4229106" cy="830997"/>
          </a:xfrm>
          <a:prstGeom prst="rect">
            <a:avLst/>
          </a:prstGeom>
          <a:noFill/>
        </p:spPr>
        <p:txBody>
          <a:bodyPr wrap="none" rtlCol="0">
            <a:spAutoFit/>
          </a:bodyPr>
          <a:lstStyle/>
          <a:p>
            <a:r>
              <a:rPr lang="en-ZA" sz="2400" dirty="0"/>
              <a:t>Classical (NFS): ~1,000,000 years</a:t>
            </a:r>
          </a:p>
          <a:p>
            <a:r>
              <a:rPr lang="en-ZA" sz="2400" dirty="0"/>
              <a:t>Quantum (Shor): ~100 seconds</a:t>
            </a:r>
            <a:endParaRPr lang="en-US" sz="2400" dirty="0"/>
          </a:p>
        </p:txBody>
      </p:sp>
      <p:sp>
        <p:nvSpPr>
          <p:cNvPr id="12" name="TextBox 11">
            <a:extLst>
              <a:ext uri="{FF2B5EF4-FFF2-40B4-BE49-F238E27FC236}">
                <a16:creationId xmlns:a16="http://schemas.microsoft.com/office/drawing/2014/main" id="{54C22378-0A9E-0345-8A8D-8FE02B9461D3}"/>
              </a:ext>
            </a:extLst>
          </p:cNvPr>
          <p:cNvSpPr txBox="1"/>
          <p:nvPr/>
        </p:nvSpPr>
        <p:spPr>
          <a:xfrm>
            <a:off x="7151821" y="2467243"/>
            <a:ext cx="3864522" cy="923330"/>
          </a:xfrm>
          <a:prstGeom prst="rect">
            <a:avLst/>
          </a:prstGeom>
          <a:noFill/>
        </p:spPr>
        <p:txBody>
          <a:bodyPr wrap="square" rtlCol="0">
            <a:spAutoFit/>
          </a:bodyPr>
          <a:lstStyle/>
          <a:p>
            <a:pPr algn="ctr"/>
            <a:r>
              <a:rPr lang="en-ZA" dirty="0"/>
              <a:t>Estimated execution times depend strongly on the assumed classical and quantum architectures.</a:t>
            </a:r>
            <a:endParaRPr lang="en-US" dirty="0"/>
          </a:p>
        </p:txBody>
      </p:sp>
    </p:spTree>
    <p:extLst>
      <p:ext uri="{BB962C8B-B14F-4D97-AF65-F5344CB8AC3E}">
        <p14:creationId xmlns:p14="http://schemas.microsoft.com/office/powerpoint/2010/main" val="30809319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7BD95C-55FB-1B4E-91C4-1EFC4865C809}"/>
              </a:ext>
            </a:extLst>
          </p:cNvPr>
          <p:cNvSpPr>
            <a:spLocks noGrp="1"/>
          </p:cNvSpPr>
          <p:nvPr>
            <p:ph type="title"/>
          </p:nvPr>
        </p:nvSpPr>
        <p:spPr/>
        <p:txBody>
          <a:bodyPr/>
          <a:lstStyle/>
          <a:p>
            <a:r>
              <a:rPr lang="en-ZA" dirty="0"/>
              <a:t>Why Shor’s Algorithm Is Not Yet Practical</a:t>
            </a:r>
            <a:endParaRPr lang="en-US" dirty="0"/>
          </a:p>
        </p:txBody>
      </p:sp>
      <p:sp>
        <p:nvSpPr>
          <p:cNvPr id="3" name="Slide Number Placeholder 2">
            <a:extLst>
              <a:ext uri="{FF2B5EF4-FFF2-40B4-BE49-F238E27FC236}">
                <a16:creationId xmlns:a16="http://schemas.microsoft.com/office/drawing/2014/main" id="{2B5CF03E-F87D-5A41-88AD-3B4FAD8C2062}"/>
              </a:ext>
            </a:extLst>
          </p:cNvPr>
          <p:cNvSpPr>
            <a:spLocks noGrp="1"/>
          </p:cNvSpPr>
          <p:nvPr>
            <p:ph type="sldNum" sz="quarter" idx="12"/>
          </p:nvPr>
        </p:nvSpPr>
        <p:spPr/>
        <p:txBody>
          <a:bodyPr/>
          <a:lstStyle/>
          <a:p>
            <a:fld id="{591A223C-FA10-BC46-A853-03BA373D023C}" type="slidenum">
              <a:rPr lang="en-US" smtClean="0"/>
              <a:t>49</a:t>
            </a:fld>
            <a:endParaRPr lang="en-US"/>
          </a:p>
        </p:txBody>
      </p:sp>
      <p:pic>
        <p:nvPicPr>
          <p:cNvPr id="5" name="Picture 4">
            <a:extLst>
              <a:ext uri="{FF2B5EF4-FFF2-40B4-BE49-F238E27FC236}">
                <a16:creationId xmlns:a16="http://schemas.microsoft.com/office/drawing/2014/main" id="{F76D7590-F7C4-3541-8307-244CA02B0AC9}"/>
              </a:ext>
            </a:extLst>
          </p:cNvPr>
          <p:cNvPicPr>
            <a:picLocks noChangeAspect="1"/>
          </p:cNvPicPr>
          <p:nvPr/>
        </p:nvPicPr>
        <p:blipFill>
          <a:blip r:embed="rId3"/>
          <a:stretch>
            <a:fillRect/>
          </a:stretch>
        </p:blipFill>
        <p:spPr>
          <a:xfrm>
            <a:off x="405981" y="1659278"/>
            <a:ext cx="11380038" cy="4103007"/>
          </a:xfrm>
          <a:prstGeom prst="rect">
            <a:avLst/>
          </a:prstGeom>
        </p:spPr>
      </p:pic>
    </p:spTree>
    <p:extLst>
      <p:ext uri="{BB962C8B-B14F-4D97-AF65-F5344CB8AC3E}">
        <p14:creationId xmlns:p14="http://schemas.microsoft.com/office/powerpoint/2010/main" val="31756136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50</a:t>
            </a:fld>
            <a:endParaRPr lang="en-US"/>
          </a:p>
        </p:txBody>
      </p:sp>
      <p:sp>
        <p:nvSpPr>
          <p:cNvPr id="9" name="TextBox 8">
            <a:extLst>
              <a:ext uri="{FF2B5EF4-FFF2-40B4-BE49-F238E27FC236}">
                <a16:creationId xmlns:a16="http://schemas.microsoft.com/office/drawing/2014/main" id="{719C0D81-1920-C34F-B234-53C430C4B1BB}"/>
              </a:ext>
            </a:extLst>
          </p:cNvPr>
          <p:cNvSpPr txBox="1"/>
          <p:nvPr/>
        </p:nvSpPr>
        <p:spPr>
          <a:xfrm>
            <a:off x="7113537" y="2254845"/>
            <a:ext cx="3815468" cy="923330"/>
          </a:xfrm>
          <a:prstGeom prst="rect">
            <a:avLst/>
          </a:prstGeom>
          <a:noFill/>
        </p:spPr>
        <p:txBody>
          <a:bodyPr wrap="none" rtlCol="0">
            <a:spAutoFit/>
          </a:bodyPr>
          <a:lstStyle/>
          <a:p>
            <a:r>
              <a:rPr lang="en-US" sz="5400" dirty="0">
                <a:solidFill>
                  <a:schemeClr val="bg1"/>
                </a:solidFill>
                <a:latin typeface="Comic Sans MS" panose="030F0902030302020204" pitchFamily="66" charset="0"/>
              </a:rPr>
              <a:t>Questions?</a:t>
            </a:r>
          </a:p>
        </p:txBody>
      </p:sp>
      <p:pic>
        <p:nvPicPr>
          <p:cNvPr id="8" name="Picture 7">
            <a:extLst>
              <a:ext uri="{FF2B5EF4-FFF2-40B4-BE49-F238E27FC236}">
                <a16:creationId xmlns:a16="http://schemas.microsoft.com/office/drawing/2014/main" id="{68BB7708-FD2B-C44A-95EC-675AEE661F60}"/>
              </a:ext>
            </a:extLst>
          </p:cNvPr>
          <p:cNvPicPr>
            <a:picLocks noChangeAspect="1"/>
          </p:cNvPicPr>
          <p:nvPr/>
        </p:nvPicPr>
        <p:blipFill>
          <a:blip r:embed="rId4"/>
          <a:stretch>
            <a:fillRect/>
          </a:stretch>
        </p:blipFill>
        <p:spPr>
          <a:xfrm>
            <a:off x="3640187" y="3654697"/>
            <a:ext cx="2889913" cy="2889913"/>
          </a:xfrm>
          <a:prstGeom prst="rect">
            <a:avLst/>
          </a:prstGeom>
        </p:spPr>
      </p:pic>
      <p:pic>
        <p:nvPicPr>
          <p:cNvPr id="4" name="Picture 3">
            <a:extLst>
              <a:ext uri="{FF2B5EF4-FFF2-40B4-BE49-F238E27FC236}">
                <a16:creationId xmlns:a16="http://schemas.microsoft.com/office/drawing/2014/main" id="{9EA7A2B2-C115-AC43-8CB6-8B25213DCC32}"/>
              </a:ext>
            </a:extLst>
          </p:cNvPr>
          <p:cNvPicPr>
            <a:picLocks noChangeAspect="1"/>
          </p:cNvPicPr>
          <p:nvPr/>
        </p:nvPicPr>
        <p:blipFill>
          <a:blip r:embed="rId5"/>
          <a:stretch>
            <a:fillRect/>
          </a:stretch>
        </p:blipFill>
        <p:spPr>
          <a:xfrm>
            <a:off x="505065" y="1097779"/>
            <a:ext cx="3744255" cy="5113836"/>
          </a:xfrm>
          <a:prstGeom prst="rect">
            <a:avLst/>
          </a:prstGeom>
        </p:spPr>
      </p:pic>
    </p:spTree>
    <p:extLst>
      <p:ext uri="{BB962C8B-B14F-4D97-AF65-F5344CB8AC3E}">
        <p14:creationId xmlns:p14="http://schemas.microsoft.com/office/powerpoint/2010/main" val="4270821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231235</TotalTime>
  <Words>10219</Words>
  <Application>Microsoft Macintosh PowerPoint</Application>
  <PresentationFormat>Widescreen</PresentationFormat>
  <Paragraphs>1120</Paragraphs>
  <Slides>50</Slides>
  <Notes>50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50</vt:i4>
      </vt:variant>
    </vt:vector>
  </HeadingPairs>
  <TitlesOfParts>
    <vt:vector size="61" baseType="lpstr">
      <vt:lpstr>Andale Mono</vt:lpstr>
      <vt:lpstr>Arial</vt:lpstr>
      <vt:lpstr>Calibri</vt:lpstr>
      <vt:lpstr>Calibri Light</vt:lpstr>
      <vt:lpstr>Cambria</vt:lpstr>
      <vt:lpstr>Cambria Math</vt:lpstr>
      <vt:lpstr>Comic Sans MS</vt:lpstr>
      <vt:lpstr>Quantum Flat (BRK)</vt:lpstr>
      <vt:lpstr>Times</vt:lpstr>
      <vt:lpstr>Times New Roman</vt:lpstr>
      <vt:lpstr>Office Theme</vt:lpstr>
      <vt:lpstr>PowerPoint Presentation</vt:lpstr>
      <vt:lpstr>Content</vt:lpstr>
      <vt:lpstr>Grover’s Algorithm (1996)</vt:lpstr>
      <vt:lpstr>Grover’s Algorithm: Quadratic Speedup</vt:lpstr>
      <vt:lpstr>Finding Eve: Grover’s Search in Action</vt:lpstr>
      <vt:lpstr>Four Steps of Grover’s Algorithm</vt:lpstr>
      <vt:lpstr>Step 1: Creating an Equal Superposition</vt:lpstr>
      <vt:lpstr>Step 2: Amplitude Flip by the Oracle</vt:lpstr>
      <vt:lpstr>MathBox: Outer Product</vt:lpstr>
      <vt:lpstr>Grover Oracle: Operator Construction</vt:lpstr>
      <vt:lpstr>Grover Oracle: Quantum Gate Implementation</vt:lpstr>
      <vt:lpstr>Step 3: Amplitude Amplification</vt:lpstr>
      <vt:lpstr>Step 3: Diffusion Operator: Inversion About the Mean</vt:lpstr>
      <vt:lpstr>Step 3:  Diffusion Operator: Mathematical Construction</vt:lpstr>
      <vt:lpstr>Step 3: Building Diffusion with Reflection</vt:lpstr>
      <vt:lpstr>Constructing the Grover Diffuser</vt:lpstr>
      <vt:lpstr>Step 4: Measurement</vt:lpstr>
      <vt:lpstr>Grover’s Algorithm: State Evolution for N=4</vt:lpstr>
      <vt:lpstr>Grover’s Algorithm: Complete Circuit</vt:lpstr>
      <vt:lpstr>Constructing Controlled-Z Gates</vt:lpstr>
      <vt:lpstr>Grover’s Algorithm: Three-Qubit Circuit</vt:lpstr>
      <vt:lpstr>Geometric Interpretation of Grover’s Algorithm (1)</vt:lpstr>
      <vt:lpstr>Geometric Interpretation of Grover’s Algorithm (2)</vt:lpstr>
      <vt:lpstr>Geometric Interpretation of Grover’s Algorithm (3)</vt:lpstr>
      <vt:lpstr>Why Reflect About the Initial Superposition?</vt:lpstr>
      <vt:lpstr>Grover’s Algorithm with Multiple Solutions</vt:lpstr>
      <vt:lpstr>Grover’s Algorithm for SAT Problems</vt:lpstr>
      <vt:lpstr>Constraint Solving with Grover’s Algorithm</vt:lpstr>
      <vt:lpstr>The efficiency of Grover’s algorithm</vt:lpstr>
      <vt:lpstr>Shor’s Algorithm (1994)</vt:lpstr>
      <vt:lpstr>The Challenge of Prime Factorization.</vt:lpstr>
      <vt:lpstr>MathBox: Mathematical Foundations of Shor’s Algorithm</vt:lpstr>
      <vt:lpstr>MathBox: Modular Arithmetic</vt:lpstr>
      <vt:lpstr>MathBox Prime, Semiprime, and Composite Numbers</vt:lpstr>
      <vt:lpstr>The Greatest Common Divisor (GCD)</vt:lpstr>
      <vt:lpstr>MathBox  Euclidean Algorithm</vt:lpstr>
      <vt:lpstr>Shor’s Algorithm in a Nutshell</vt:lpstr>
      <vt:lpstr>From Period Finding to Factorization</vt:lpstr>
      <vt:lpstr>Classical Period Finding: f(x)= a^x mod N </vt:lpstr>
      <vt:lpstr>Shor’s Factoring Algorithm: Step by Step</vt:lpstr>
      <vt:lpstr>Shor’s Algorithm: Factoring N = 15</vt:lpstr>
      <vt:lpstr>The Challenge of Classical Period Finding</vt:lpstr>
      <vt:lpstr>Quantum Period Finding</vt:lpstr>
      <vt:lpstr>Quantum Period-Finding Circuit</vt:lpstr>
      <vt:lpstr>PowerPoint Presentation</vt:lpstr>
      <vt:lpstr>PowerPoint Presentation</vt:lpstr>
      <vt:lpstr>PowerPoint Presentation</vt:lpstr>
      <vt:lpstr>The efficiency of Shor’s algorithm</vt:lpstr>
      <vt:lpstr>Why Shor’s Algorithm Is Not Yet Practical</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Aleksandar Radovanovic</cp:lastModifiedBy>
  <cp:revision>4537</cp:revision>
  <cp:lastPrinted>2026-08-23T12:27:10Z</cp:lastPrinted>
  <dcterms:created xsi:type="dcterms:W3CDTF">2021-12-18T08:25:37Z</dcterms:created>
  <dcterms:modified xsi:type="dcterms:W3CDTF">2026-09-04T16:12:06Z</dcterms:modified>
</cp:coreProperties>
</file>