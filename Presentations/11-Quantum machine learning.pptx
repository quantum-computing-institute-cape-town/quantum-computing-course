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3"/>
  </p:notesMasterIdLst>
  <p:sldIdLst>
    <p:sldId id="730" r:id="rId2"/>
    <p:sldId id="612" r:id="rId3"/>
    <p:sldId id="515" r:id="rId4"/>
    <p:sldId id="807" r:id="rId5"/>
    <p:sldId id="513" r:id="rId6"/>
    <p:sldId id="744" r:id="rId7"/>
    <p:sldId id="613" r:id="rId8"/>
    <p:sldId id="759" r:id="rId9"/>
    <p:sldId id="617" r:id="rId10"/>
    <p:sldId id="507" r:id="rId11"/>
    <p:sldId id="746" r:id="rId12"/>
    <p:sldId id="764" r:id="rId13"/>
    <p:sldId id="762" r:id="rId14"/>
    <p:sldId id="514" r:id="rId15"/>
    <p:sldId id="732" r:id="rId16"/>
    <p:sldId id="802" r:id="rId17"/>
    <p:sldId id="525" r:id="rId18"/>
    <p:sldId id="615" r:id="rId19"/>
    <p:sldId id="512" r:id="rId20"/>
    <p:sldId id="526" r:id="rId21"/>
    <p:sldId id="616" r:id="rId22"/>
    <p:sldId id="765" r:id="rId23"/>
    <p:sldId id="808" r:id="rId24"/>
    <p:sldId id="766" r:id="rId25"/>
    <p:sldId id="803" r:id="rId26"/>
    <p:sldId id="804" r:id="rId27"/>
    <p:sldId id="805" r:id="rId28"/>
    <p:sldId id="806" r:id="rId29"/>
    <p:sldId id="795" r:id="rId30"/>
    <p:sldId id="801" r:id="rId31"/>
    <p:sldId id="72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E7"/>
    <a:srgbClr val="F8F9F9"/>
    <a:srgbClr val="FBFCFC"/>
    <a:srgbClr val="A6EFD3"/>
    <a:srgbClr val="30E845"/>
    <a:srgbClr val="0000FF"/>
    <a:srgbClr val="FFC000"/>
    <a:srgbClr val="FFFFE3"/>
    <a:srgbClr val="CA251F"/>
    <a:srgbClr val="E9F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09"/>
    <p:restoredTop sz="60399"/>
  </p:normalViewPr>
  <p:slideViewPr>
    <p:cSldViewPr snapToGrid="0" snapToObjects="1">
      <p:cViewPr varScale="1">
        <p:scale>
          <a:sx n="73" d="100"/>
          <a:sy n="73" d="100"/>
        </p:scale>
        <p:origin x="2128" y="192"/>
      </p:cViewPr>
      <p:guideLst>
        <p:guide orient="horz" pos="2160"/>
        <p:guide pos="3840"/>
      </p:guideLst>
    </p:cSldViewPr>
  </p:slideViewPr>
  <p:outlineViewPr>
    <p:cViewPr>
      <p:scale>
        <a:sx n="33" d="100"/>
        <a:sy n="33" d="100"/>
      </p:scale>
      <p:origin x="0" y="0"/>
    </p:cViewPr>
  </p:outlineViewPr>
  <p:notesTextViewPr>
    <p:cViewPr>
      <p:scale>
        <a:sx n="170" d="100"/>
        <a:sy n="170" d="100"/>
      </p:scale>
      <p:origin x="0" y="0"/>
    </p:cViewPr>
  </p:notesTextViewPr>
  <p:sorterViewPr>
    <p:cViewPr>
      <p:scale>
        <a:sx n="66" d="100"/>
        <a:sy n="66" d="100"/>
      </p:scale>
      <p:origin x="0" y="0"/>
    </p:cViewPr>
  </p:sorterViewPr>
  <p:notesViewPr>
    <p:cSldViewPr snapToGrid="0" snapToObjects="1">
      <p:cViewPr varScale="1">
        <p:scale>
          <a:sx n="95" d="100"/>
          <a:sy n="95" d="100"/>
        </p:scale>
        <p:origin x="227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4B3ECF-DC1C-214C-AEF3-97D6F1C2272A}" type="doc">
      <dgm:prSet loTypeId="urn:microsoft.com/office/officeart/2005/8/layout/chevron2" loCatId="" qsTypeId="urn:microsoft.com/office/officeart/2005/8/quickstyle/simple1" qsCatId="simple" csTypeId="urn:microsoft.com/office/officeart/2005/8/colors/colorful1" csCatId="colorful" phldr="1"/>
      <dgm:spPr/>
      <dgm:t>
        <a:bodyPr/>
        <a:lstStyle/>
        <a:p>
          <a:endParaRPr lang="en-US"/>
        </a:p>
      </dgm:t>
    </dgm:pt>
    <dgm:pt modelId="{2943DB26-64AC-814A-9ABB-9076BE05E1B4}">
      <dgm:prSet phldrT="[Text]" custT="1"/>
      <dgm:spPr/>
      <dgm:t>
        <a:bodyPr/>
        <a:lstStyle/>
        <a:p>
          <a:r>
            <a:rPr lang="en-US" sz="2000" dirty="0"/>
            <a:t>1956</a:t>
          </a:r>
        </a:p>
      </dgm:t>
    </dgm:pt>
    <dgm:pt modelId="{9097C440-95D8-C247-AFBF-322DAB2890A6}" type="parTrans" cxnId="{EC287112-ECC9-5844-8691-DF835B2D49A8}">
      <dgm:prSet/>
      <dgm:spPr/>
      <dgm:t>
        <a:bodyPr/>
        <a:lstStyle/>
        <a:p>
          <a:endParaRPr lang="en-US" sz="1800"/>
        </a:p>
      </dgm:t>
    </dgm:pt>
    <dgm:pt modelId="{4917B1DE-31CB-FE4F-97DB-CCF6C89DF214}" type="sibTrans" cxnId="{EC287112-ECC9-5844-8691-DF835B2D49A8}">
      <dgm:prSet/>
      <dgm:spPr/>
      <dgm:t>
        <a:bodyPr/>
        <a:lstStyle/>
        <a:p>
          <a:endParaRPr lang="en-US" sz="1800"/>
        </a:p>
      </dgm:t>
    </dgm:pt>
    <dgm:pt modelId="{275180CC-6AF9-624F-87DB-8357FEC84C42}">
      <dgm:prSet phldrT="[Text]" custT="1"/>
      <dgm:spPr/>
      <dgm:t>
        <a:bodyPr/>
        <a:lstStyle/>
        <a:p>
          <a:r>
            <a:rPr lang="en-US" sz="2000" dirty="0"/>
            <a:t>1980s</a:t>
          </a:r>
        </a:p>
      </dgm:t>
    </dgm:pt>
    <dgm:pt modelId="{A7415C83-A41D-CC43-800F-7F148D4F7AC9}" type="parTrans" cxnId="{8D6692F3-C394-A94A-A6E7-FA495756A124}">
      <dgm:prSet/>
      <dgm:spPr/>
      <dgm:t>
        <a:bodyPr/>
        <a:lstStyle/>
        <a:p>
          <a:endParaRPr lang="en-US" sz="1800"/>
        </a:p>
      </dgm:t>
    </dgm:pt>
    <dgm:pt modelId="{5376397D-80A4-C74E-9B53-343A5428EEF2}" type="sibTrans" cxnId="{8D6692F3-C394-A94A-A6E7-FA495756A124}">
      <dgm:prSet/>
      <dgm:spPr/>
      <dgm:t>
        <a:bodyPr/>
        <a:lstStyle/>
        <a:p>
          <a:endParaRPr lang="en-US" sz="1800"/>
        </a:p>
      </dgm:t>
    </dgm:pt>
    <dgm:pt modelId="{CCFD0C9C-DE27-AD41-9DB8-55C8DEA8586C}">
      <dgm:prSet phldrT="[Text]" custT="1"/>
      <dgm:spPr>
        <a:solidFill>
          <a:schemeClr val="accent4">
            <a:lumMod val="20000"/>
            <a:lumOff val="80000"/>
            <a:alpha val="90000"/>
          </a:schemeClr>
        </a:solidFill>
      </dgm:spPr>
      <dgm:t>
        <a:bodyPr/>
        <a:lstStyle/>
        <a:p>
          <a:r>
            <a:rPr lang="en-US" sz="1800" dirty="0"/>
            <a:t>Artificial Intelligence</a:t>
          </a:r>
        </a:p>
      </dgm:t>
    </dgm:pt>
    <dgm:pt modelId="{1EFEC3C1-039E-5141-9774-240E53094434}" type="parTrans" cxnId="{BC928449-4F68-FE4F-85A2-3F2831889BE2}">
      <dgm:prSet/>
      <dgm:spPr/>
      <dgm:t>
        <a:bodyPr/>
        <a:lstStyle/>
        <a:p>
          <a:endParaRPr lang="en-US" sz="1800"/>
        </a:p>
      </dgm:t>
    </dgm:pt>
    <dgm:pt modelId="{B69A1E7B-31D2-C24F-A71C-4D14A81E0DEF}" type="sibTrans" cxnId="{BC928449-4F68-FE4F-85A2-3F2831889BE2}">
      <dgm:prSet/>
      <dgm:spPr/>
      <dgm:t>
        <a:bodyPr/>
        <a:lstStyle/>
        <a:p>
          <a:endParaRPr lang="en-US" sz="1800"/>
        </a:p>
      </dgm:t>
    </dgm:pt>
    <dgm:pt modelId="{FA854328-E4BB-6945-BB4F-7FF6A3BCA267}">
      <dgm:prSet phldrT="[Text]" custT="1"/>
      <dgm:spPr>
        <a:solidFill>
          <a:schemeClr val="bg1">
            <a:lumMod val="95000"/>
            <a:alpha val="90000"/>
          </a:schemeClr>
        </a:solidFill>
      </dgm:spPr>
      <dgm:t>
        <a:bodyPr/>
        <a:lstStyle/>
        <a:p>
          <a:r>
            <a:rPr lang="en-US" sz="1800" dirty="0"/>
            <a:t>Neural Networks</a:t>
          </a:r>
        </a:p>
      </dgm:t>
    </dgm:pt>
    <dgm:pt modelId="{0ECA5A81-CA74-614D-AD0E-B7F428F3C624}" type="parTrans" cxnId="{E73A5608-500A-1746-B6B0-2570FC155555}">
      <dgm:prSet/>
      <dgm:spPr/>
      <dgm:t>
        <a:bodyPr/>
        <a:lstStyle/>
        <a:p>
          <a:endParaRPr lang="en-US" sz="1800"/>
        </a:p>
      </dgm:t>
    </dgm:pt>
    <dgm:pt modelId="{E092940F-5AD5-FA44-97C9-5997364EF553}" type="sibTrans" cxnId="{E73A5608-500A-1746-B6B0-2570FC155555}">
      <dgm:prSet/>
      <dgm:spPr/>
      <dgm:t>
        <a:bodyPr/>
        <a:lstStyle/>
        <a:p>
          <a:endParaRPr lang="en-US" sz="1800"/>
        </a:p>
      </dgm:t>
    </dgm:pt>
    <dgm:pt modelId="{5E4E3685-83FF-3442-840C-E1DF7C759156}">
      <dgm:prSet phldrT="[Text]" custT="1"/>
      <dgm:spPr>
        <a:solidFill>
          <a:schemeClr val="bg1">
            <a:lumMod val="95000"/>
            <a:alpha val="90000"/>
          </a:schemeClr>
        </a:solidFill>
      </dgm:spPr>
      <dgm:t>
        <a:bodyPr/>
        <a:lstStyle/>
        <a:p>
          <a:r>
            <a:rPr lang="en-US" sz="1800" dirty="0"/>
            <a:t>Advances in neural networks lay the foundations for deep learning.</a:t>
          </a:r>
        </a:p>
      </dgm:t>
    </dgm:pt>
    <dgm:pt modelId="{AA919247-3CCA-A243-84C9-F9E9D29F2C3C}" type="parTrans" cxnId="{C5B4AAEE-1A2C-6A45-8D4A-39EAA15B99BE}">
      <dgm:prSet/>
      <dgm:spPr/>
      <dgm:t>
        <a:bodyPr/>
        <a:lstStyle/>
        <a:p>
          <a:endParaRPr lang="en-US" sz="1800"/>
        </a:p>
      </dgm:t>
    </dgm:pt>
    <dgm:pt modelId="{5A2D1E5C-5FDB-B649-B1F0-A622397137EB}" type="sibTrans" cxnId="{C5B4AAEE-1A2C-6A45-8D4A-39EAA15B99BE}">
      <dgm:prSet/>
      <dgm:spPr/>
      <dgm:t>
        <a:bodyPr/>
        <a:lstStyle/>
        <a:p>
          <a:endParaRPr lang="en-US" sz="1800"/>
        </a:p>
      </dgm:t>
    </dgm:pt>
    <dgm:pt modelId="{5F624F86-4E90-3B47-BF2A-DAC8E621CA24}">
      <dgm:prSet phldrT="[Text]" custT="1"/>
      <dgm:spPr>
        <a:solidFill>
          <a:srgbClr val="002060"/>
        </a:solidFill>
      </dgm:spPr>
      <dgm:t>
        <a:bodyPr/>
        <a:lstStyle/>
        <a:p>
          <a:pPr>
            <a:buFont typeface="Arial" panose="020B0604020202020204" pitchFamily="34" charset="0"/>
            <a:buChar char="•"/>
          </a:pPr>
          <a:r>
            <a:rPr lang="en-US" sz="2000" dirty="0"/>
            <a:t>2009</a:t>
          </a:r>
        </a:p>
      </dgm:t>
    </dgm:pt>
    <dgm:pt modelId="{0B8DCDB7-A92C-7D4C-9ACA-FA81ACBB190E}" type="parTrans" cxnId="{A64748F7-02DB-DD4E-B22E-521B7972C458}">
      <dgm:prSet/>
      <dgm:spPr/>
      <dgm:t>
        <a:bodyPr/>
        <a:lstStyle/>
        <a:p>
          <a:endParaRPr lang="en-US" sz="1800"/>
        </a:p>
      </dgm:t>
    </dgm:pt>
    <dgm:pt modelId="{2ADCC50D-105E-AC48-B79C-1D0BA0829717}" type="sibTrans" cxnId="{A64748F7-02DB-DD4E-B22E-521B7972C458}">
      <dgm:prSet/>
      <dgm:spPr/>
      <dgm:t>
        <a:bodyPr/>
        <a:lstStyle/>
        <a:p>
          <a:endParaRPr lang="en-US" sz="1800"/>
        </a:p>
      </dgm:t>
    </dgm:pt>
    <dgm:pt modelId="{87346D68-E295-1348-B508-30C97E304CE2}">
      <dgm:prSet phldrT="[Text]" custT="1"/>
      <dgm:spPr>
        <a:solidFill>
          <a:schemeClr val="accent5">
            <a:lumMod val="20000"/>
            <a:lumOff val="80000"/>
            <a:alpha val="90000"/>
          </a:schemeClr>
        </a:solidFill>
      </dgm:spPr>
      <dgm:t>
        <a:bodyPr/>
        <a:lstStyle/>
        <a:p>
          <a:pPr>
            <a:buFont typeface="Arial" panose="020B0604020202020204" pitchFamily="34" charset="0"/>
            <a:buChar char="•"/>
          </a:pPr>
          <a:r>
            <a:rPr lang="en-US" sz="1800" b="0" dirty="0">
              <a:solidFill>
                <a:schemeClr val="tx1"/>
              </a:solidFill>
            </a:rPr>
            <a:t>HHL Algorithm</a:t>
          </a:r>
          <a:endParaRPr lang="en-US" sz="1800" dirty="0">
            <a:solidFill>
              <a:schemeClr val="tx1"/>
            </a:solidFill>
          </a:endParaRPr>
        </a:p>
      </dgm:t>
    </dgm:pt>
    <dgm:pt modelId="{082459D2-7B47-F44E-A84B-803031FDCE53}" type="parTrans" cxnId="{FD0EB064-DE59-C443-868E-2B61D6C2DFC5}">
      <dgm:prSet/>
      <dgm:spPr/>
      <dgm:t>
        <a:bodyPr/>
        <a:lstStyle/>
        <a:p>
          <a:endParaRPr lang="en-US" sz="1800"/>
        </a:p>
      </dgm:t>
    </dgm:pt>
    <dgm:pt modelId="{3402B209-51A9-AC45-87F0-9DC81AAE5E4E}" type="sibTrans" cxnId="{FD0EB064-DE59-C443-868E-2B61D6C2DFC5}">
      <dgm:prSet/>
      <dgm:spPr/>
      <dgm:t>
        <a:bodyPr/>
        <a:lstStyle/>
        <a:p>
          <a:endParaRPr lang="en-US" sz="1800"/>
        </a:p>
      </dgm:t>
    </dgm:pt>
    <dgm:pt modelId="{87436AFA-C75C-B242-8598-EC421E57A2B5}">
      <dgm:prSet phldrT="[Text]" custT="1"/>
      <dgm:spPr>
        <a:solidFill>
          <a:schemeClr val="accent4">
            <a:lumMod val="20000"/>
            <a:lumOff val="80000"/>
            <a:alpha val="90000"/>
          </a:schemeClr>
        </a:solidFill>
      </dgm:spPr>
      <dgm:t>
        <a:bodyPr/>
        <a:lstStyle/>
        <a:p>
          <a:r>
            <a:rPr lang="en-US" sz="1800" dirty="0"/>
            <a:t>Dartmouth workshop helps establish AI as a field of research..</a:t>
          </a:r>
        </a:p>
      </dgm:t>
    </dgm:pt>
    <dgm:pt modelId="{99DBA869-DE55-364A-821D-121437FE2AEC}" type="sibTrans" cxnId="{52212619-B86A-3948-80B1-9D0D83160CA4}">
      <dgm:prSet/>
      <dgm:spPr/>
      <dgm:t>
        <a:bodyPr/>
        <a:lstStyle/>
        <a:p>
          <a:endParaRPr lang="en-US" sz="1800"/>
        </a:p>
      </dgm:t>
    </dgm:pt>
    <dgm:pt modelId="{55359258-264C-AB49-8774-E257F27D9730}" type="parTrans" cxnId="{52212619-B86A-3948-80B1-9D0D83160CA4}">
      <dgm:prSet/>
      <dgm:spPr/>
      <dgm:t>
        <a:bodyPr/>
        <a:lstStyle/>
        <a:p>
          <a:endParaRPr lang="en-US" sz="1800"/>
        </a:p>
      </dgm:t>
    </dgm:pt>
    <dgm:pt modelId="{E14BAD89-F853-8E41-8846-9636EA552436}">
      <dgm:prSet phldrT="[Text]" custT="1"/>
      <dgm:spPr>
        <a:solidFill>
          <a:schemeClr val="accent6">
            <a:lumMod val="75000"/>
          </a:schemeClr>
        </a:solidFill>
      </dgm:spPr>
      <dgm:t>
        <a:bodyPr/>
        <a:lstStyle/>
        <a:p>
          <a:r>
            <a:rPr lang="en-US" sz="2000" dirty="0"/>
            <a:t>1990s</a:t>
          </a:r>
        </a:p>
      </dgm:t>
    </dgm:pt>
    <dgm:pt modelId="{A5D76DF6-4319-3F49-8CED-09729782BFBB}" type="parTrans" cxnId="{8C7E50D9-2DDB-F74B-9875-479D461F94C1}">
      <dgm:prSet/>
      <dgm:spPr/>
      <dgm:t>
        <a:bodyPr/>
        <a:lstStyle/>
        <a:p>
          <a:endParaRPr lang="en-US" sz="1800"/>
        </a:p>
      </dgm:t>
    </dgm:pt>
    <dgm:pt modelId="{B0100F20-4208-6342-85B2-ABA2133B77FC}" type="sibTrans" cxnId="{8C7E50D9-2DDB-F74B-9875-479D461F94C1}">
      <dgm:prSet/>
      <dgm:spPr/>
      <dgm:t>
        <a:bodyPr/>
        <a:lstStyle/>
        <a:p>
          <a:endParaRPr lang="en-US" sz="1800"/>
        </a:p>
      </dgm:t>
    </dgm:pt>
    <dgm:pt modelId="{F7A89504-7D0D-EC4A-825C-F08622504C88}">
      <dgm:prSet phldrT="[Text]" custT="1"/>
      <dgm:spPr>
        <a:solidFill>
          <a:schemeClr val="accent6">
            <a:lumMod val="20000"/>
            <a:lumOff val="80000"/>
            <a:alpha val="90000"/>
          </a:schemeClr>
        </a:solidFill>
      </dgm:spPr>
      <dgm:t>
        <a:bodyPr/>
        <a:lstStyle/>
        <a:p>
          <a:r>
            <a:rPr lang="en-US" sz="1800" i="0" dirty="0"/>
            <a:t>Early Quantum Machine Learning</a:t>
          </a:r>
          <a:endParaRPr lang="en-US" sz="1800" dirty="0"/>
        </a:p>
      </dgm:t>
    </dgm:pt>
    <dgm:pt modelId="{8E83DA77-A20D-DE49-82FF-84B9E33B9622}" type="parTrans" cxnId="{67527EA5-2FF5-D240-A7B5-F2962CBBF39C}">
      <dgm:prSet/>
      <dgm:spPr/>
      <dgm:t>
        <a:bodyPr/>
        <a:lstStyle/>
        <a:p>
          <a:endParaRPr lang="en-US" sz="1800"/>
        </a:p>
      </dgm:t>
    </dgm:pt>
    <dgm:pt modelId="{B0063D38-D70C-9642-B570-80701F6C84BF}" type="sibTrans" cxnId="{67527EA5-2FF5-D240-A7B5-F2962CBBF39C}">
      <dgm:prSet/>
      <dgm:spPr/>
      <dgm:t>
        <a:bodyPr/>
        <a:lstStyle/>
        <a:p>
          <a:endParaRPr lang="en-US" sz="1800"/>
        </a:p>
      </dgm:t>
    </dgm:pt>
    <dgm:pt modelId="{DD409D0E-9342-024B-A2C8-0E6DF1E15958}">
      <dgm:prSet phldrT="[Text]" custT="1"/>
      <dgm:spPr>
        <a:solidFill>
          <a:schemeClr val="accent6">
            <a:lumMod val="20000"/>
            <a:lumOff val="80000"/>
            <a:alpha val="90000"/>
          </a:schemeClr>
        </a:solidFill>
      </dgm:spPr>
      <dgm:t>
        <a:bodyPr/>
        <a:lstStyle/>
        <a:p>
          <a:r>
            <a:rPr lang="en-US" sz="1800" i="0" dirty="0" err="1"/>
            <a:t>Chrisley</a:t>
          </a:r>
          <a:r>
            <a:rPr lang="en-US" sz="1800" i="0" dirty="0"/>
            <a:t> and </a:t>
          </a:r>
          <a:r>
            <a:rPr lang="en-US" sz="1800" i="0" dirty="0" err="1"/>
            <a:t>Kak</a:t>
          </a:r>
          <a:r>
            <a:rPr lang="en-US" sz="1800" i="0" dirty="0"/>
            <a:t> propose early quantum neural networks.</a:t>
          </a:r>
          <a:endParaRPr lang="en-US" sz="1800" dirty="0"/>
        </a:p>
      </dgm:t>
    </dgm:pt>
    <dgm:pt modelId="{A1BED5BE-66E2-674A-81CB-81D3CF6012FC}" type="parTrans" cxnId="{41D4FC35-25E9-0648-A642-3F3822C62022}">
      <dgm:prSet/>
      <dgm:spPr/>
      <dgm:t>
        <a:bodyPr/>
        <a:lstStyle/>
        <a:p>
          <a:endParaRPr lang="en-US" sz="1800"/>
        </a:p>
      </dgm:t>
    </dgm:pt>
    <dgm:pt modelId="{7D32680A-0098-8643-BABD-B885B62BE369}" type="sibTrans" cxnId="{41D4FC35-25E9-0648-A642-3F3822C62022}">
      <dgm:prSet/>
      <dgm:spPr/>
      <dgm:t>
        <a:bodyPr/>
        <a:lstStyle/>
        <a:p>
          <a:endParaRPr lang="en-US" sz="1800"/>
        </a:p>
      </dgm:t>
    </dgm:pt>
    <dgm:pt modelId="{B5EDA66C-DA5A-094D-BBFE-BD337E4A177A}">
      <dgm:prSet phldrT="[Text]" custT="1"/>
      <dgm:spPr>
        <a:solidFill>
          <a:schemeClr val="accent5">
            <a:lumMod val="20000"/>
            <a:lumOff val="80000"/>
            <a:alpha val="90000"/>
          </a:schemeClr>
        </a:solidFill>
      </dgm:spPr>
      <dgm:t>
        <a:bodyPr/>
        <a:lstStyle/>
        <a:p>
          <a:pPr>
            <a:buFont typeface="Arial" panose="020B0604020202020204" pitchFamily="34" charset="0"/>
            <a:buChar char="•"/>
          </a:pPr>
          <a:r>
            <a:rPr lang="en-US" sz="1800" dirty="0">
              <a:solidFill>
                <a:schemeClr val="tx1"/>
              </a:solidFill>
            </a:rPr>
            <a:t>Harrow, Hassidim, and Lloyd demonstrate quantum speedup for certain linear algebra problems..</a:t>
          </a:r>
        </a:p>
      </dgm:t>
    </dgm:pt>
    <dgm:pt modelId="{DDFD625A-71AD-D146-B6FA-83110C34EC91}" type="parTrans" cxnId="{4930EB5F-5EF9-4844-B525-CB0AE93A29AF}">
      <dgm:prSet/>
      <dgm:spPr/>
      <dgm:t>
        <a:bodyPr/>
        <a:lstStyle/>
        <a:p>
          <a:endParaRPr lang="en-US" sz="1800"/>
        </a:p>
      </dgm:t>
    </dgm:pt>
    <dgm:pt modelId="{2FA5069D-E4F1-B949-A64E-A7B15BC5C453}" type="sibTrans" cxnId="{4930EB5F-5EF9-4844-B525-CB0AE93A29AF}">
      <dgm:prSet/>
      <dgm:spPr/>
      <dgm:t>
        <a:bodyPr/>
        <a:lstStyle/>
        <a:p>
          <a:endParaRPr lang="en-US" sz="1800"/>
        </a:p>
      </dgm:t>
    </dgm:pt>
    <dgm:pt modelId="{F9228F56-45C1-E747-AEF9-AD9565CA157B}">
      <dgm:prSet phldrT="[Text]" custT="1"/>
      <dgm:spPr>
        <a:solidFill>
          <a:srgbClr val="CA251F">
            <a:alpha val="90000"/>
          </a:srgbClr>
        </a:solidFill>
      </dgm:spPr>
      <dgm:t>
        <a:bodyPr/>
        <a:lstStyle/>
        <a:p>
          <a:pPr>
            <a:buFont typeface="Arial" panose="020B0604020202020204" pitchFamily="34" charset="0"/>
            <a:buChar char="•"/>
          </a:pPr>
          <a:r>
            <a:rPr lang="en-US" sz="2000" dirty="0">
              <a:solidFill>
                <a:schemeClr val="bg1"/>
              </a:solidFill>
            </a:rPr>
            <a:t>2010s</a:t>
          </a:r>
        </a:p>
      </dgm:t>
    </dgm:pt>
    <dgm:pt modelId="{5EAC2A21-5F26-0C4B-8900-5BE660F905D2}" type="parTrans" cxnId="{988DC547-DCCA-E847-A710-0AF06FDF1A1E}">
      <dgm:prSet/>
      <dgm:spPr/>
      <dgm:t>
        <a:bodyPr/>
        <a:lstStyle/>
        <a:p>
          <a:endParaRPr lang="en-US" sz="1800"/>
        </a:p>
      </dgm:t>
    </dgm:pt>
    <dgm:pt modelId="{C16B79F0-DE69-3842-B2E7-C42F28CD6FE1}" type="sibTrans" cxnId="{988DC547-DCCA-E847-A710-0AF06FDF1A1E}">
      <dgm:prSet/>
      <dgm:spPr/>
      <dgm:t>
        <a:bodyPr/>
        <a:lstStyle/>
        <a:p>
          <a:endParaRPr lang="en-US" sz="1800"/>
        </a:p>
      </dgm:t>
    </dgm:pt>
    <dgm:pt modelId="{79E6E759-4A86-8F45-A1EC-03BB39EB85D4}">
      <dgm:prSet phldrT="[Text]" custT="1"/>
      <dgm:spPr>
        <a:solidFill>
          <a:schemeClr val="accent2">
            <a:lumMod val="20000"/>
            <a:lumOff val="80000"/>
            <a:alpha val="90000"/>
          </a:schemeClr>
        </a:solidFill>
      </dgm:spPr>
      <dgm:t>
        <a:bodyPr/>
        <a:lstStyle/>
        <a:p>
          <a:pPr>
            <a:buFont typeface="Arial" panose="020B0604020202020204" pitchFamily="34" charset="0"/>
            <a:buChar char="•"/>
          </a:pPr>
          <a:r>
            <a:rPr lang="en-US" sz="1800" dirty="0">
              <a:solidFill>
                <a:schemeClr val="tx1"/>
              </a:solidFill>
            </a:rPr>
            <a:t>Deep Learning Breakthrough</a:t>
          </a:r>
        </a:p>
      </dgm:t>
    </dgm:pt>
    <dgm:pt modelId="{09E16476-40AD-6F42-9E80-118DEB315A93}" type="parTrans" cxnId="{676154D4-D5EE-7142-B4BE-98DE979D572D}">
      <dgm:prSet/>
      <dgm:spPr/>
      <dgm:t>
        <a:bodyPr/>
        <a:lstStyle/>
        <a:p>
          <a:endParaRPr lang="en-US" sz="1800"/>
        </a:p>
      </dgm:t>
    </dgm:pt>
    <dgm:pt modelId="{A57A720B-2050-294E-9ADE-FF512BDA8DD4}" type="sibTrans" cxnId="{676154D4-D5EE-7142-B4BE-98DE979D572D}">
      <dgm:prSet/>
      <dgm:spPr/>
      <dgm:t>
        <a:bodyPr/>
        <a:lstStyle/>
        <a:p>
          <a:endParaRPr lang="en-US" sz="1800"/>
        </a:p>
      </dgm:t>
    </dgm:pt>
    <dgm:pt modelId="{7F4C28BA-5C21-DD4C-A163-418FA34E16B3}">
      <dgm:prSet phldrT="[Text]" custT="1"/>
      <dgm:spPr>
        <a:solidFill>
          <a:schemeClr val="accent2">
            <a:lumMod val="20000"/>
            <a:lumOff val="80000"/>
            <a:alpha val="90000"/>
          </a:schemeClr>
        </a:solidFill>
      </dgm:spPr>
      <dgm:t>
        <a:bodyPr/>
        <a:lstStyle/>
        <a:p>
          <a:pPr>
            <a:buFont typeface="Arial" panose="020B0604020202020204" pitchFamily="34" charset="0"/>
            <a:buChar char="•"/>
          </a:pPr>
          <a:r>
            <a:rPr lang="en-US" sz="1800" dirty="0">
              <a:solidFill>
                <a:schemeClr val="tx1"/>
              </a:solidFill>
            </a:rPr>
            <a:t>Major advances in image recognition, natural language processing, and machine translation.</a:t>
          </a:r>
        </a:p>
      </dgm:t>
    </dgm:pt>
    <dgm:pt modelId="{C022DC6B-A7AD-1249-8717-87EE83DC0FB7}" type="parTrans" cxnId="{3D4FE8D9-997B-4F41-8E4F-4F5617059808}">
      <dgm:prSet/>
      <dgm:spPr/>
      <dgm:t>
        <a:bodyPr/>
        <a:lstStyle/>
        <a:p>
          <a:endParaRPr lang="en-US" sz="1800"/>
        </a:p>
      </dgm:t>
    </dgm:pt>
    <dgm:pt modelId="{241D64F6-0927-5844-BBBA-C5E6ABD27777}" type="sibTrans" cxnId="{3D4FE8D9-997B-4F41-8E4F-4F5617059808}">
      <dgm:prSet/>
      <dgm:spPr/>
      <dgm:t>
        <a:bodyPr/>
        <a:lstStyle/>
        <a:p>
          <a:endParaRPr lang="en-US" sz="1800"/>
        </a:p>
      </dgm:t>
    </dgm:pt>
    <dgm:pt modelId="{3C6E1AF3-E486-0644-A3C9-2F64A84DC38A}" type="pres">
      <dgm:prSet presAssocID="{FC4B3ECF-DC1C-214C-AEF3-97D6F1C2272A}" presName="linearFlow" presStyleCnt="0">
        <dgm:presLayoutVars>
          <dgm:dir/>
          <dgm:animLvl val="lvl"/>
          <dgm:resizeHandles val="exact"/>
        </dgm:presLayoutVars>
      </dgm:prSet>
      <dgm:spPr/>
    </dgm:pt>
    <dgm:pt modelId="{E6B955F8-7AF5-ED4D-A5C9-869EBB41F80B}" type="pres">
      <dgm:prSet presAssocID="{2943DB26-64AC-814A-9ABB-9076BE05E1B4}" presName="composite" presStyleCnt="0"/>
      <dgm:spPr/>
    </dgm:pt>
    <dgm:pt modelId="{FF4FB6DF-CE81-2A40-91EA-E5754EB3625F}" type="pres">
      <dgm:prSet presAssocID="{2943DB26-64AC-814A-9ABB-9076BE05E1B4}" presName="parentText" presStyleLbl="alignNode1" presStyleIdx="0" presStyleCnt="5">
        <dgm:presLayoutVars>
          <dgm:chMax val="1"/>
          <dgm:bulletEnabled val="1"/>
        </dgm:presLayoutVars>
      </dgm:prSet>
      <dgm:spPr/>
    </dgm:pt>
    <dgm:pt modelId="{8C2D8B56-2C9A-A847-9E38-234A7DB8463B}" type="pres">
      <dgm:prSet presAssocID="{2943DB26-64AC-814A-9ABB-9076BE05E1B4}" presName="descendantText" presStyleLbl="alignAcc1" presStyleIdx="0" presStyleCnt="5">
        <dgm:presLayoutVars>
          <dgm:bulletEnabled val="1"/>
        </dgm:presLayoutVars>
      </dgm:prSet>
      <dgm:spPr/>
    </dgm:pt>
    <dgm:pt modelId="{B36AA65B-5817-4244-BC24-E30C47776D03}" type="pres">
      <dgm:prSet presAssocID="{4917B1DE-31CB-FE4F-97DB-CCF6C89DF214}" presName="sp" presStyleCnt="0"/>
      <dgm:spPr/>
    </dgm:pt>
    <dgm:pt modelId="{2D829E55-137F-FD4A-9F9E-657DD7E9D95F}" type="pres">
      <dgm:prSet presAssocID="{275180CC-6AF9-624F-87DB-8357FEC84C42}" presName="composite" presStyleCnt="0"/>
      <dgm:spPr/>
    </dgm:pt>
    <dgm:pt modelId="{DD664135-0854-4046-9DC6-5454A89066E3}" type="pres">
      <dgm:prSet presAssocID="{275180CC-6AF9-624F-87DB-8357FEC84C42}" presName="parentText" presStyleLbl="alignNode1" presStyleIdx="1" presStyleCnt="5">
        <dgm:presLayoutVars>
          <dgm:chMax val="1"/>
          <dgm:bulletEnabled val="1"/>
        </dgm:presLayoutVars>
      </dgm:prSet>
      <dgm:spPr/>
    </dgm:pt>
    <dgm:pt modelId="{9F001D34-9FA5-D548-98EF-A9831C31FA7A}" type="pres">
      <dgm:prSet presAssocID="{275180CC-6AF9-624F-87DB-8357FEC84C42}" presName="descendantText" presStyleLbl="alignAcc1" presStyleIdx="1" presStyleCnt="5">
        <dgm:presLayoutVars>
          <dgm:bulletEnabled val="1"/>
        </dgm:presLayoutVars>
      </dgm:prSet>
      <dgm:spPr/>
    </dgm:pt>
    <dgm:pt modelId="{D104CDF4-FBE2-DE41-A7D7-D8B852F50802}" type="pres">
      <dgm:prSet presAssocID="{5376397D-80A4-C74E-9B53-343A5428EEF2}" presName="sp" presStyleCnt="0"/>
      <dgm:spPr/>
    </dgm:pt>
    <dgm:pt modelId="{841EBBA5-9918-244A-B710-519512AABFB0}" type="pres">
      <dgm:prSet presAssocID="{E14BAD89-F853-8E41-8846-9636EA552436}" presName="composite" presStyleCnt="0"/>
      <dgm:spPr/>
    </dgm:pt>
    <dgm:pt modelId="{F546315D-9C0E-E84C-8BE2-B310F802E628}" type="pres">
      <dgm:prSet presAssocID="{E14BAD89-F853-8E41-8846-9636EA552436}" presName="parentText" presStyleLbl="alignNode1" presStyleIdx="2" presStyleCnt="5">
        <dgm:presLayoutVars>
          <dgm:chMax val="1"/>
          <dgm:bulletEnabled val="1"/>
        </dgm:presLayoutVars>
      </dgm:prSet>
      <dgm:spPr/>
    </dgm:pt>
    <dgm:pt modelId="{B4FE55C1-D03A-E142-ABE1-9B83FBEAE58F}" type="pres">
      <dgm:prSet presAssocID="{E14BAD89-F853-8E41-8846-9636EA552436}" presName="descendantText" presStyleLbl="alignAcc1" presStyleIdx="2" presStyleCnt="5" custScaleY="136574">
        <dgm:presLayoutVars>
          <dgm:bulletEnabled val="1"/>
        </dgm:presLayoutVars>
      </dgm:prSet>
      <dgm:spPr/>
    </dgm:pt>
    <dgm:pt modelId="{0FE1697C-2C91-0540-BE85-4FC41862AED6}" type="pres">
      <dgm:prSet presAssocID="{B0100F20-4208-6342-85B2-ABA2133B77FC}" presName="sp" presStyleCnt="0"/>
      <dgm:spPr/>
    </dgm:pt>
    <dgm:pt modelId="{5C652647-0577-6848-96F0-51FC36C5AE01}" type="pres">
      <dgm:prSet presAssocID="{5F624F86-4E90-3B47-BF2A-DAC8E621CA24}" presName="composite" presStyleCnt="0"/>
      <dgm:spPr/>
    </dgm:pt>
    <dgm:pt modelId="{BFBD5833-310D-6442-B79B-E4E93530B91E}" type="pres">
      <dgm:prSet presAssocID="{5F624F86-4E90-3B47-BF2A-DAC8E621CA24}" presName="parentText" presStyleLbl="alignNode1" presStyleIdx="3" presStyleCnt="5">
        <dgm:presLayoutVars>
          <dgm:chMax val="1"/>
          <dgm:bulletEnabled val="1"/>
        </dgm:presLayoutVars>
      </dgm:prSet>
      <dgm:spPr/>
    </dgm:pt>
    <dgm:pt modelId="{07C39813-BB77-684C-B965-FDB6E8BF08EF}" type="pres">
      <dgm:prSet presAssocID="{5F624F86-4E90-3B47-BF2A-DAC8E621CA24}" presName="descendantText" presStyleLbl="alignAcc1" presStyleIdx="3" presStyleCnt="5">
        <dgm:presLayoutVars>
          <dgm:bulletEnabled val="1"/>
        </dgm:presLayoutVars>
      </dgm:prSet>
      <dgm:spPr/>
    </dgm:pt>
    <dgm:pt modelId="{7C2B3287-5987-774B-B3AA-18DF53B894AB}" type="pres">
      <dgm:prSet presAssocID="{2ADCC50D-105E-AC48-B79C-1D0BA0829717}" presName="sp" presStyleCnt="0"/>
      <dgm:spPr/>
    </dgm:pt>
    <dgm:pt modelId="{22961480-3FDE-844B-896B-9627EF56A6F0}" type="pres">
      <dgm:prSet presAssocID="{F9228F56-45C1-E747-AEF9-AD9565CA157B}" presName="composite" presStyleCnt="0"/>
      <dgm:spPr/>
    </dgm:pt>
    <dgm:pt modelId="{D70EFD48-DEF3-6041-AF13-3C5FB371257F}" type="pres">
      <dgm:prSet presAssocID="{F9228F56-45C1-E747-AEF9-AD9565CA157B}" presName="parentText" presStyleLbl="alignNode1" presStyleIdx="4" presStyleCnt="5">
        <dgm:presLayoutVars>
          <dgm:chMax val="1"/>
          <dgm:bulletEnabled val="1"/>
        </dgm:presLayoutVars>
      </dgm:prSet>
      <dgm:spPr/>
    </dgm:pt>
    <dgm:pt modelId="{C6DC447C-D15D-CC41-93A9-DDBA4A42D091}" type="pres">
      <dgm:prSet presAssocID="{F9228F56-45C1-E747-AEF9-AD9565CA157B}" presName="descendantText" presStyleLbl="alignAcc1" presStyleIdx="4" presStyleCnt="5">
        <dgm:presLayoutVars>
          <dgm:bulletEnabled val="1"/>
        </dgm:presLayoutVars>
      </dgm:prSet>
      <dgm:spPr/>
    </dgm:pt>
  </dgm:ptLst>
  <dgm:cxnLst>
    <dgm:cxn modelId="{0EBDF106-A8CF-984A-8B25-C24A12654DD4}" type="presOf" srcId="{87436AFA-C75C-B242-8598-EC421E57A2B5}" destId="{8C2D8B56-2C9A-A847-9E38-234A7DB8463B}" srcOrd="0" destOrd="1" presId="urn:microsoft.com/office/officeart/2005/8/layout/chevron2"/>
    <dgm:cxn modelId="{4749B007-3C17-6542-914D-8FB5D017DCBC}" type="presOf" srcId="{B5EDA66C-DA5A-094D-BBFE-BD337E4A177A}" destId="{07C39813-BB77-684C-B965-FDB6E8BF08EF}" srcOrd="0" destOrd="1" presId="urn:microsoft.com/office/officeart/2005/8/layout/chevron2"/>
    <dgm:cxn modelId="{E73A5608-500A-1746-B6B0-2570FC155555}" srcId="{275180CC-6AF9-624F-87DB-8357FEC84C42}" destId="{FA854328-E4BB-6945-BB4F-7FF6A3BCA267}" srcOrd="0" destOrd="0" parTransId="{0ECA5A81-CA74-614D-AD0E-B7F428F3C624}" sibTransId="{E092940F-5AD5-FA44-97C9-5997364EF553}"/>
    <dgm:cxn modelId="{EC287112-ECC9-5844-8691-DF835B2D49A8}" srcId="{FC4B3ECF-DC1C-214C-AEF3-97D6F1C2272A}" destId="{2943DB26-64AC-814A-9ABB-9076BE05E1B4}" srcOrd="0" destOrd="0" parTransId="{9097C440-95D8-C247-AFBF-322DAB2890A6}" sibTransId="{4917B1DE-31CB-FE4F-97DB-CCF6C89DF214}"/>
    <dgm:cxn modelId="{52212619-B86A-3948-80B1-9D0D83160CA4}" srcId="{CCFD0C9C-DE27-AD41-9DB8-55C8DEA8586C}" destId="{87436AFA-C75C-B242-8598-EC421E57A2B5}" srcOrd="0" destOrd="0" parTransId="{55359258-264C-AB49-8774-E257F27D9730}" sibTransId="{99DBA869-DE55-364A-821D-121437FE2AEC}"/>
    <dgm:cxn modelId="{622DCC29-7A4A-A64E-91A6-DBB64DC2745D}" type="presOf" srcId="{CCFD0C9C-DE27-AD41-9DB8-55C8DEA8586C}" destId="{8C2D8B56-2C9A-A847-9E38-234A7DB8463B}" srcOrd="0" destOrd="0" presId="urn:microsoft.com/office/officeart/2005/8/layout/chevron2"/>
    <dgm:cxn modelId="{D678152B-09B4-5446-BCFE-FA0144557207}" type="presOf" srcId="{F9228F56-45C1-E747-AEF9-AD9565CA157B}" destId="{D70EFD48-DEF3-6041-AF13-3C5FB371257F}" srcOrd="0" destOrd="0" presId="urn:microsoft.com/office/officeart/2005/8/layout/chevron2"/>
    <dgm:cxn modelId="{14C71E2B-8792-204B-B502-A938DD77006D}" type="presOf" srcId="{7F4C28BA-5C21-DD4C-A163-418FA34E16B3}" destId="{C6DC447C-D15D-CC41-93A9-DDBA4A42D091}" srcOrd="0" destOrd="1" presId="urn:microsoft.com/office/officeart/2005/8/layout/chevron2"/>
    <dgm:cxn modelId="{D5519434-D8DA-4542-8A20-0BCAD562AC6D}" type="presOf" srcId="{DD409D0E-9342-024B-A2C8-0E6DF1E15958}" destId="{B4FE55C1-D03A-E142-ABE1-9B83FBEAE58F}" srcOrd="0" destOrd="1" presId="urn:microsoft.com/office/officeart/2005/8/layout/chevron2"/>
    <dgm:cxn modelId="{41D4FC35-25E9-0648-A642-3F3822C62022}" srcId="{F7A89504-7D0D-EC4A-825C-F08622504C88}" destId="{DD409D0E-9342-024B-A2C8-0E6DF1E15958}" srcOrd="0" destOrd="0" parTransId="{A1BED5BE-66E2-674A-81CB-81D3CF6012FC}" sibTransId="{7D32680A-0098-8643-BABD-B885B62BE369}"/>
    <dgm:cxn modelId="{D8080939-F027-E84F-B25A-0E328F72009D}" type="presOf" srcId="{275180CC-6AF9-624F-87DB-8357FEC84C42}" destId="{DD664135-0854-4046-9DC6-5454A89066E3}" srcOrd="0" destOrd="0" presId="urn:microsoft.com/office/officeart/2005/8/layout/chevron2"/>
    <dgm:cxn modelId="{988DC547-DCCA-E847-A710-0AF06FDF1A1E}" srcId="{FC4B3ECF-DC1C-214C-AEF3-97D6F1C2272A}" destId="{F9228F56-45C1-E747-AEF9-AD9565CA157B}" srcOrd="4" destOrd="0" parTransId="{5EAC2A21-5F26-0C4B-8900-5BE660F905D2}" sibTransId="{C16B79F0-DE69-3842-B2E7-C42F28CD6FE1}"/>
    <dgm:cxn modelId="{BC928449-4F68-FE4F-85A2-3F2831889BE2}" srcId="{2943DB26-64AC-814A-9ABB-9076BE05E1B4}" destId="{CCFD0C9C-DE27-AD41-9DB8-55C8DEA8586C}" srcOrd="0" destOrd="0" parTransId="{1EFEC3C1-039E-5141-9774-240E53094434}" sibTransId="{B69A1E7B-31D2-C24F-A71C-4D14A81E0DEF}"/>
    <dgm:cxn modelId="{4930EB5F-5EF9-4844-B525-CB0AE93A29AF}" srcId="{87346D68-E295-1348-B508-30C97E304CE2}" destId="{B5EDA66C-DA5A-094D-BBFE-BD337E4A177A}" srcOrd="0" destOrd="0" parTransId="{DDFD625A-71AD-D146-B6FA-83110C34EC91}" sibTransId="{2FA5069D-E4F1-B949-A64E-A7B15BC5C453}"/>
    <dgm:cxn modelId="{FD0EB064-DE59-C443-868E-2B61D6C2DFC5}" srcId="{5F624F86-4E90-3B47-BF2A-DAC8E621CA24}" destId="{87346D68-E295-1348-B508-30C97E304CE2}" srcOrd="0" destOrd="0" parTransId="{082459D2-7B47-F44E-A84B-803031FDCE53}" sibTransId="{3402B209-51A9-AC45-87F0-9DC81AAE5E4E}"/>
    <dgm:cxn modelId="{5868B96F-9ABC-6241-ABBF-D2D97988EF36}" type="presOf" srcId="{87346D68-E295-1348-B508-30C97E304CE2}" destId="{07C39813-BB77-684C-B965-FDB6E8BF08EF}" srcOrd="0" destOrd="0" presId="urn:microsoft.com/office/officeart/2005/8/layout/chevron2"/>
    <dgm:cxn modelId="{CFD19291-20DF-E04C-941C-D8CB175B7DB8}" type="presOf" srcId="{E14BAD89-F853-8E41-8846-9636EA552436}" destId="{F546315D-9C0E-E84C-8BE2-B310F802E628}" srcOrd="0" destOrd="0" presId="urn:microsoft.com/office/officeart/2005/8/layout/chevron2"/>
    <dgm:cxn modelId="{258ADF96-3E82-944C-B0BF-E0FC858EDCC5}" type="presOf" srcId="{FA854328-E4BB-6945-BB4F-7FF6A3BCA267}" destId="{9F001D34-9FA5-D548-98EF-A9831C31FA7A}" srcOrd="0" destOrd="0" presId="urn:microsoft.com/office/officeart/2005/8/layout/chevron2"/>
    <dgm:cxn modelId="{67527EA5-2FF5-D240-A7B5-F2962CBBF39C}" srcId="{E14BAD89-F853-8E41-8846-9636EA552436}" destId="{F7A89504-7D0D-EC4A-825C-F08622504C88}" srcOrd="0" destOrd="0" parTransId="{8E83DA77-A20D-DE49-82FF-84B9E33B9622}" sibTransId="{B0063D38-D70C-9642-B570-80701F6C84BF}"/>
    <dgm:cxn modelId="{8E329EA8-165A-EB45-B24B-6606550169B2}" type="presOf" srcId="{79E6E759-4A86-8F45-A1EC-03BB39EB85D4}" destId="{C6DC447C-D15D-CC41-93A9-DDBA4A42D091}" srcOrd="0" destOrd="0" presId="urn:microsoft.com/office/officeart/2005/8/layout/chevron2"/>
    <dgm:cxn modelId="{55EC6CBC-7297-5840-8057-283094C216B1}" type="presOf" srcId="{5E4E3685-83FF-3442-840C-E1DF7C759156}" destId="{9F001D34-9FA5-D548-98EF-A9831C31FA7A}" srcOrd="0" destOrd="1" presId="urn:microsoft.com/office/officeart/2005/8/layout/chevron2"/>
    <dgm:cxn modelId="{BFE7C8D0-B17D-DD4E-885D-FB19144C8BDA}" type="presOf" srcId="{2943DB26-64AC-814A-9ABB-9076BE05E1B4}" destId="{FF4FB6DF-CE81-2A40-91EA-E5754EB3625F}" srcOrd="0" destOrd="0" presId="urn:microsoft.com/office/officeart/2005/8/layout/chevron2"/>
    <dgm:cxn modelId="{676154D4-D5EE-7142-B4BE-98DE979D572D}" srcId="{F9228F56-45C1-E747-AEF9-AD9565CA157B}" destId="{79E6E759-4A86-8F45-A1EC-03BB39EB85D4}" srcOrd="0" destOrd="0" parTransId="{09E16476-40AD-6F42-9E80-118DEB315A93}" sibTransId="{A57A720B-2050-294E-9ADE-FF512BDA8DD4}"/>
    <dgm:cxn modelId="{B12EA9D6-A538-4742-8558-6F2E3BDE006F}" type="presOf" srcId="{5F624F86-4E90-3B47-BF2A-DAC8E621CA24}" destId="{BFBD5833-310D-6442-B79B-E4E93530B91E}" srcOrd="0" destOrd="0" presId="urn:microsoft.com/office/officeart/2005/8/layout/chevron2"/>
    <dgm:cxn modelId="{8C7E50D9-2DDB-F74B-9875-479D461F94C1}" srcId="{FC4B3ECF-DC1C-214C-AEF3-97D6F1C2272A}" destId="{E14BAD89-F853-8E41-8846-9636EA552436}" srcOrd="2" destOrd="0" parTransId="{A5D76DF6-4319-3F49-8CED-09729782BFBB}" sibTransId="{B0100F20-4208-6342-85B2-ABA2133B77FC}"/>
    <dgm:cxn modelId="{3D4FE8D9-997B-4F41-8E4F-4F5617059808}" srcId="{79E6E759-4A86-8F45-A1EC-03BB39EB85D4}" destId="{7F4C28BA-5C21-DD4C-A163-418FA34E16B3}" srcOrd="0" destOrd="0" parTransId="{C022DC6B-A7AD-1249-8717-87EE83DC0FB7}" sibTransId="{241D64F6-0927-5844-BBBA-C5E6ABD27777}"/>
    <dgm:cxn modelId="{0EAEC5E7-048E-014E-9EE9-2F5D9A26C17A}" type="presOf" srcId="{FC4B3ECF-DC1C-214C-AEF3-97D6F1C2272A}" destId="{3C6E1AF3-E486-0644-A3C9-2F64A84DC38A}" srcOrd="0" destOrd="0" presId="urn:microsoft.com/office/officeart/2005/8/layout/chevron2"/>
    <dgm:cxn modelId="{C5B4AAEE-1A2C-6A45-8D4A-39EAA15B99BE}" srcId="{FA854328-E4BB-6945-BB4F-7FF6A3BCA267}" destId="{5E4E3685-83FF-3442-840C-E1DF7C759156}" srcOrd="0" destOrd="0" parTransId="{AA919247-3CCA-A243-84C9-F9E9D29F2C3C}" sibTransId="{5A2D1E5C-5FDB-B649-B1F0-A622397137EB}"/>
    <dgm:cxn modelId="{DF36DDEF-E059-614D-923E-2DBFD161F1E2}" type="presOf" srcId="{F7A89504-7D0D-EC4A-825C-F08622504C88}" destId="{B4FE55C1-D03A-E142-ABE1-9B83FBEAE58F}" srcOrd="0" destOrd="0" presId="urn:microsoft.com/office/officeart/2005/8/layout/chevron2"/>
    <dgm:cxn modelId="{8D6692F3-C394-A94A-A6E7-FA495756A124}" srcId="{FC4B3ECF-DC1C-214C-AEF3-97D6F1C2272A}" destId="{275180CC-6AF9-624F-87DB-8357FEC84C42}" srcOrd="1" destOrd="0" parTransId="{A7415C83-A41D-CC43-800F-7F148D4F7AC9}" sibTransId="{5376397D-80A4-C74E-9B53-343A5428EEF2}"/>
    <dgm:cxn modelId="{A64748F7-02DB-DD4E-B22E-521B7972C458}" srcId="{FC4B3ECF-DC1C-214C-AEF3-97D6F1C2272A}" destId="{5F624F86-4E90-3B47-BF2A-DAC8E621CA24}" srcOrd="3" destOrd="0" parTransId="{0B8DCDB7-A92C-7D4C-9ACA-FA81ACBB190E}" sibTransId="{2ADCC50D-105E-AC48-B79C-1D0BA0829717}"/>
    <dgm:cxn modelId="{0DE1AAA2-40E7-2C45-9C6C-8F379C717AFD}" type="presParOf" srcId="{3C6E1AF3-E486-0644-A3C9-2F64A84DC38A}" destId="{E6B955F8-7AF5-ED4D-A5C9-869EBB41F80B}" srcOrd="0" destOrd="0" presId="urn:microsoft.com/office/officeart/2005/8/layout/chevron2"/>
    <dgm:cxn modelId="{8D72562C-4A64-6646-9518-B0DC82C96388}" type="presParOf" srcId="{E6B955F8-7AF5-ED4D-A5C9-869EBB41F80B}" destId="{FF4FB6DF-CE81-2A40-91EA-E5754EB3625F}" srcOrd="0" destOrd="0" presId="urn:microsoft.com/office/officeart/2005/8/layout/chevron2"/>
    <dgm:cxn modelId="{F4A6D887-4CC2-D148-A34C-883BA3CA7037}" type="presParOf" srcId="{E6B955F8-7AF5-ED4D-A5C9-869EBB41F80B}" destId="{8C2D8B56-2C9A-A847-9E38-234A7DB8463B}" srcOrd="1" destOrd="0" presId="urn:microsoft.com/office/officeart/2005/8/layout/chevron2"/>
    <dgm:cxn modelId="{16DF3D4B-2D76-D346-9E5D-FB56741E1936}" type="presParOf" srcId="{3C6E1AF3-E486-0644-A3C9-2F64A84DC38A}" destId="{B36AA65B-5817-4244-BC24-E30C47776D03}" srcOrd="1" destOrd="0" presId="urn:microsoft.com/office/officeart/2005/8/layout/chevron2"/>
    <dgm:cxn modelId="{E6F59966-F3A7-D74E-9D50-80B8258D750E}" type="presParOf" srcId="{3C6E1AF3-E486-0644-A3C9-2F64A84DC38A}" destId="{2D829E55-137F-FD4A-9F9E-657DD7E9D95F}" srcOrd="2" destOrd="0" presId="urn:microsoft.com/office/officeart/2005/8/layout/chevron2"/>
    <dgm:cxn modelId="{9E959738-A6CF-3243-9B1A-5AF63BFFC636}" type="presParOf" srcId="{2D829E55-137F-FD4A-9F9E-657DD7E9D95F}" destId="{DD664135-0854-4046-9DC6-5454A89066E3}" srcOrd="0" destOrd="0" presId="urn:microsoft.com/office/officeart/2005/8/layout/chevron2"/>
    <dgm:cxn modelId="{BF7D947C-421B-0242-BE21-904718984B3C}" type="presParOf" srcId="{2D829E55-137F-FD4A-9F9E-657DD7E9D95F}" destId="{9F001D34-9FA5-D548-98EF-A9831C31FA7A}" srcOrd="1" destOrd="0" presId="urn:microsoft.com/office/officeart/2005/8/layout/chevron2"/>
    <dgm:cxn modelId="{A7CDA5FD-9985-564E-B153-773074C6255C}" type="presParOf" srcId="{3C6E1AF3-E486-0644-A3C9-2F64A84DC38A}" destId="{D104CDF4-FBE2-DE41-A7D7-D8B852F50802}" srcOrd="3" destOrd="0" presId="urn:microsoft.com/office/officeart/2005/8/layout/chevron2"/>
    <dgm:cxn modelId="{0FD06928-D38B-1243-9C08-EB2BFBDA7376}" type="presParOf" srcId="{3C6E1AF3-E486-0644-A3C9-2F64A84DC38A}" destId="{841EBBA5-9918-244A-B710-519512AABFB0}" srcOrd="4" destOrd="0" presId="urn:microsoft.com/office/officeart/2005/8/layout/chevron2"/>
    <dgm:cxn modelId="{33CDA9A1-D123-A341-A70D-C4699DDDAC5F}" type="presParOf" srcId="{841EBBA5-9918-244A-B710-519512AABFB0}" destId="{F546315D-9C0E-E84C-8BE2-B310F802E628}" srcOrd="0" destOrd="0" presId="urn:microsoft.com/office/officeart/2005/8/layout/chevron2"/>
    <dgm:cxn modelId="{95A20FF2-05EE-1A45-9310-D16661F38180}" type="presParOf" srcId="{841EBBA5-9918-244A-B710-519512AABFB0}" destId="{B4FE55C1-D03A-E142-ABE1-9B83FBEAE58F}" srcOrd="1" destOrd="0" presId="urn:microsoft.com/office/officeart/2005/8/layout/chevron2"/>
    <dgm:cxn modelId="{84D020A1-9960-8C4C-B5AC-D6812AB9535C}" type="presParOf" srcId="{3C6E1AF3-E486-0644-A3C9-2F64A84DC38A}" destId="{0FE1697C-2C91-0540-BE85-4FC41862AED6}" srcOrd="5" destOrd="0" presId="urn:microsoft.com/office/officeart/2005/8/layout/chevron2"/>
    <dgm:cxn modelId="{9C50B115-02CA-9F41-859F-091296F09EF3}" type="presParOf" srcId="{3C6E1AF3-E486-0644-A3C9-2F64A84DC38A}" destId="{5C652647-0577-6848-96F0-51FC36C5AE01}" srcOrd="6" destOrd="0" presId="urn:microsoft.com/office/officeart/2005/8/layout/chevron2"/>
    <dgm:cxn modelId="{AC91DD90-AD06-C247-98CB-90DED856C842}" type="presParOf" srcId="{5C652647-0577-6848-96F0-51FC36C5AE01}" destId="{BFBD5833-310D-6442-B79B-E4E93530B91E}" srcOrd="0" destOrd="0" presId="urn:microsoft.com/office/officeart/2005/8/layout/chevron2"/>
    <dgm:cxn modelId="{DB5401A0-7E2F-7C45-B5A4-729BD62A3A03}" type="presParOf" srcId="{5C652647-0577-6848-96F0-51FC36C5AE01}" destId="{07C39813-BB77-684C-B965-FDB6E8BF08EF}" srcOrd="1" destOrd="0" presId="urn:microsoft.com/office/officeart/2005/8/layout/chevron2"/>
    <dgm:cxn modelId="{ADDCAC2F-67BA-314E-911C-8BC065A617EB}" type="presParOf" srcId="{3C6E1AF3-E486-0644-A3C9-2F64A84DC38A}" destId="{7C2B3287-5987-774B-B3AA-18DF53B894AB}" srcOrd="7" destOrd="0" presId="urn:microsoft.com/office/officeart/2005/8/layout/chevron2"/>
    <dgm:cxn modelId="{7EA8169B-E86A-0C41-83B6-A0EB553D91A4}" type="presParOf" srcId="{3C6E1AF3-E486-0644-A3C9-2F64A84DC38A}" destId="{22961480-3FDE-844B-896B-9627EF56A6F0}" srcOrd="8" destOrd="0" presId="urn:microsoft.com/office/officeart/2005/8/layout/chevron2"/>
    <dgm:cxn modelId="{179C4B4C-D25C-F041-B7F8-2786BA88A980}" type="presParOf" srcId="{22961480-3FDE-844B-896B-9627EF56A6F0}" destId="{D70EFD48-DEF3-6041-AF13-3C5FB371257F}" srcOrd="0" destOrd="0" presId="urn:microsoft.com/office/officeart/2005/8/layout/chevron2"/>
    <dgm:cxn modelId="{960F7C92-08AF-8141-A4A7-BEB5FB4B9C45}" type="presParOf" srcId="{22961480-3FDE-844B-896B-9627EF56A6F0}" destId="{C6DC447C-D15D-CC41-93A9-DDBA4A42D091}" srcOrd="1" destOrd="0" presId="urn:microsoft.com/office/officeart/2005/8/layout/chevron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66EBA2-8760-B54D-B9CE-44704EC3CFC7}" type="doc">
      <dgm:prSet loTypeId="urn:microsoft.com/office/officeart/2005/8/layout/venn2" loCatId="" qsTypeId="urn:microsoft.com/office/officeart/2005/8/quickstyle/simple1" qsCatId="simple" csTypeId="urn:microsoft.com/office/officeart/2005/8/colors/colorful4" csCatId="colorful" phldr="1"/>
      <dgm:spPr/>
      <dgm:t>
        <a:bodyPr/>
        <a:lstStyle/>
        <a:p>
          <a:endParaRPr lang="en-US"/>
        </a:p>
      </dgm:t>
    </dgm:pt>
    <dgm:pt modelId="{8D10100F-986B-DB42-AEC8-DBDA6F4E8F0D}">
      <dgm:prSet phldrT="[Text]" custT="1"/>
      <dgm:spPr>
        <a:solidFill>
          <a:schemeClr val="accent6">
            <a:lumMod val="20000"/>
            <a:lumOff val="80000"/>
          </a:schemeClr>
        </a:solidFill>
      </dgm:spPr>
      <dgm:t>
        <a:bodyPr/>
        <a:lstStyle/>
        <a:p>
          <a:r>
            <a:rPr lang="en-ZA" sz="2200" dirty="0">
              <a:solidFill>
                <a:schemeClr val="tx1"/>
              </a:solidFill>
            </a:rPr>
            <a:t> </a:t>
          </a:r>
          <a:endParaRPr lang="en-US" sz="2200" dirty="0">
            <a:solidFill>
              <a:schemeClr val="tx1"/>
            </a:solidFill>
          </a:endParaRPr>
        </a:p>
      </dgm:t>
    </dgm:pt>
    <dgm:pt modelId="{62525BF6-62E1-FF47-B31B-368C515435D2}" type="parTrans" cxnId="{AA8DE75C-3338-1A47-A3B6-1D3CDA86495C}">
      <dgm:prSet/>
      <dgm:spPr/>
      <dgm:t>
        <a:bodyPr/>
        <a:lstStyle/>
        <a:p>
          <a:endParaRPr lang="en-US" sz="2200"/>
        </a:p>
      </dgm:t>
    </dgm:pt>
    <dgm:pt modelId="{D35F6AF4-D522-F044-B57C-DE195AE83809}" type="sibTrans" cxnId="{AA8DE75C-3338-1A47-A3B6-1D3CDA86495C}">
      <dgm:prSet/>
      <dgm:spPr/>
      <dgm:t>
        <a:bodyPr/>
        <a:lstStyle/>
        <a:p>
          <a:endParaRPr lang="en-US" sz="2200"/>
        </a:p>
      </dgm:t>
    </dgm:pt>
    <dgm:pt modelId="{BFC6DBF1-36F7-064A-A391-D567B2CA9EE2}">
      <dgm:prSet phldrT="[Text]" custT="1"/>
      <dgm:spPr>
        <a:solidFill>
          <a:schemeClr val="accent4">
            <a:lumMod val="20000"/>
            <a:lumOff val="80000"/>
          </a:schemeClr>
        </a:solidFill>
      </dgm:spPr>
      <dgm:t>
        <a:bodyPr/>
        <a:lstStyle/>
        <a:p>
          <a:r>
            <a:rPr lang="en-ZA" sz="2200" dirty="0">
              <a:solidFill>
                <a:schemeClr val="tx1"/>
              </a:solidFill>
            </a:rPr>
            <a:t> </a:t>
          </a:r>
          <a:endParaRPr lang="en-US" sz="2200" dirty="0">
            <a:solidFill>
              <a:schemeClr val="tx1"/>
            </a:solidFill>
          </a:endParaRPr>
        </a:p>
      </dgm:t>
    </dgm:pt>
    <dgm:pt modelId="{24E2D7E4-2E08-7A4D-8C16-FE37CA4A2782}" type="parTrans" cxnId="{49273020-0748-F349-ADF1-99B77BB74288}">
      <dgm:prSet/>
      <dgm:spPr/>
      <dgm:t>
        <a:bodyPr/>
        <a:lstStyle/>
        <a:p>
          <a:endParaRPr lang="en-US" sz="2200"/>
        </a:p>
      </dgm:t>
    </dgm:pt>
    <dgm:pt modelId="{44A68289-0CF7-5145-89FD-0A71BCC340F2}" type="sibTrans" cxnId="{49273020-0748-F349-ADF1-99B77BB74288}">
      <dgm:prSet/>
      <dgm:spPr/>
      <dgm:t>
        <a:bodyPr/>
        <a:lstStyle/>
        <a:p>
          <a:endParaRPr lang="en-US" sz="2200"/>
        </a:p>
      </dgm:t>
    </dgm:pt>
    <dgm:pt modelId="{150C0A1E-E1FB-AD45-AF86-54856AF5E675}">
      <dgm:prSet custT="1"/>
      <dgm:spPr>
        <a:solidFill>
          <a:schemeClr val="accent1">
            <a:lumMod val="20000"/>
            <a:lumOff val="80000"/>
          </a:schemeClr>
        </a:solidFill>
      </dgm:spPr>
      <dgm:t>
        <a:bodyPr/>
        <a:lstStyle/>
        <a:p>
          <a:r>
            <a:rPr lang="en-ZA" sz="2200" dirty="0">
              <a:solidFill>
                <a:schemeClr val="tx1"/>
              </a:solidFill>
            </a:rPr>
            <a:t> </a:t>
          </a:r>
        </a:p>
      </dgm:t>
    </dgm:pt>
    <dgm:pt modelId="{C01C1214-911F-B944-B3D5-6FA0544841D7}" type="parTrans" cxnId="{D1308F3B-E25A-B54D-9191-F378657BD696}">
      <dgm:prSet/>
      <dgm:spPr/>
      <dgm:t>
        <a:bodyPr/>
        <a:lstStyle/>
        <a:p>
          <a:endParaRPr lang="en-US" sz="2200"/>
        </a:p>
      </dgm:t>
    </dgm:pt>
    <dgm:pt modelId="{1861522E-D1B7-7E46-ACB2-F30E7AC88C63}" type="sibTrans" cxnId="{D1308F3B-E25A-B54D-9191-F378657BD696}">
      <dgm:prSet/>
      <dgm:spPr/>
      <dgm:t>
        <a:bodyPr/>
        <a:lstStyle/>
        <a:p>
          <a:endParaRPr lang="en-US" sz="2200"/>
        </a:p>
      </dgm:t>
    </dgm:pt>
    <dgm:pt modelId="{41456BFC-567D-F244-AEF6-887343032F1D}" type="pres">
      <dgm:prSet presAssocID="{1866EBA2-8760-B54D-B9CE-44704EC3CFC7}" presName="Name0" presStyleCnt="0">
        <dgm:presLayoutVars>
          <dgm:chMax val="7"/>
          <dgm:resizeHandles val="exact"/>
        </dgm:presLayoutVars>
      </dgm:prSet>
      <dgm:spPr/>
    </dgm:pt>
    <dgm:pt modelId="{EBD94FD0-2EF6-304C-8B3C-AE878BB76768}" type="pres">
      <dgm:prSet presAssocID="{1866EBA2-8760-B54D-B9CE-44704EC3CFC7}" presName="comp1" presStyleCnt="0"/>
      <dgm:spPr/>
    </dgm:pt>
    <dgm:pt modelId="{BCD09DF9-FED0-664D-85E2-21EAE955368C}" type="pres">
      <dgm:prSet presAssocID="{1866EBA2-8760-B54D-B9CE-44704EC3CFC7}" presName="circle1" presStyleLbl="node1" presStyleIdx="0" presStyleCnt="3" custScaleX="179854"/>
      <dgm:spPr/>
    </dgm:pt>
    <dgm:pt modelId="{5EFD3EA6-3A95-7348-B43F-35FB75CF9CD0}" type="pres">
      <dgm:prSet presAssocID="{1866EBA2-8760-B54D-B9CE-44704EC3CFC7}" presName="c1text" presStyleLbl="node1" presStyleIdx="0" presStyleCnt="3">
        <dgm:presLayoutVars>
          <dgm:bulletEnabled val="1"/>
        </dgm:presLayoutVars>
      </dgm:prSet>
      <dgm:spPr/>
    </dgm:pt>
    <dgm:pt modelId="{9454956D-8D58-E349-BECA-5F01B9E1F469}" type="pres">
      <dgm:prSet presAssocID="{1866EBA2-8760-B54D-B9CE-44704EC3CFC7}" presName="comp2" presStyleCnt="0"/>
      <dgm:spPr/>
    </dgm:pt>
    <dgm:pt modelId="{7F384DDC-094C-6747-8167-9061AD54178D}" type="pres">
      <dgm:prSet presAssocID="{1866EBA2-8760-B54D-B9CE-44704EC3CFC7}" presName="circle2" presStyleLbl="node1" presStyleIdx="1" presStyleCnt="3" custScaleX="150678"/>
      <dgm:spPr/>
    </dgm:pt>
    <dgm:pt modelId="{9B41EA7F-C17C-7D4D-B7F4-F386C5F0567E}" type="pres">
      <dgm:prSet presAssocID="{1866EBA2-8760-B54D-B9CE-44704EC3CFC7}" presName="c2text" presStyleLbl="node1" presStyleIdx="1" presStyleCnt="3">
        <dgm:presLayoutVars>
          <dgm:bulletEnabled val="1"/>
        </dgm:presLayoutVars>
      </dgm:prSet>
      <dgm:spPr/>
    </dgm:pt>
    <dgm:pt modelId="{566A4EBE-AF3D-A245-A281-02110565E56A}" type="pres">
      <dgm:prSet presAssocID="{1866EBA2-8760-B54D-B9CE-44704EC3CFC7}" presName="comp3" presStyleCnt="0"/>
      <dgm:spPr/>
    </dgm:pt>
    <dgm:pt modelId="{3D77F6E9-794A-EA48-AF72-7EC93A8283E2}" type="pres">
      <dgm:prSet presAssocID="{1866EBA2-8760-B54D-B9CE-44704EC3CFC7}" presName="circle3" presStyleLbl="node1" presStyleIdx="2" presStyleCnt="3" custScaleX="115042"/>
      <dgm:spPr/>
    </dgm:pt>
    <dgm:pt modelId="{B2B747E5-4B7B-9C46-9C3D-0196BEF1E8CF}" type="pres">
      <dgm:prSet presAssocID="{1866EBA2-8760-B54D-B9CE-44704EC3CFC7}" presName="c3text" presStyleLbl="node1" presStyleIdx="2" presStyleCnt="3">
        <dgm:presLayoutVars>
          <dgm:bulletEnabled val="1"/>
        </dgm:presLayoutVars>
      </dgm:prSet>
      <dgm:spPr/>
    </dgm:pt>
  </dgm:ptLst>
  <dgm:cxnLst>
    <dgm:cxn modelId="{67BC5400-93F2-7B47-9574-EC2E1534B4C3}" type="presOf" srcId="{150C0A1E-E1FB-AD45-AF86-54856AF5E675}" destId="{BCD09DF9-FED0-664D-85E2-21EAE955368C}" srcOrd="0" destOrd="0" presId="urn:microsoft.com/office/officeart/2005/8/layout/venn2"/>
    <dgm:cxn modelId="{49273020-0748-F349-ADF1-99B77BB74288}" srcId="{1866EBA2-8760-B54D-B9CE-44704EC3CFC7}" destId="{BFC6DBF1-36F7-064A-A391-D567B2CA9EE2}" srcOrd="2" destOrd="0" parTransId="{24E2D7E4-2E08-7A4D-8C16-FE37CA4A2782}" sibTransId="{44A68289-0CF7-5145-89FD-0A71BCC340F2}"/>
    <dgm:cxn modelId="{D1308F3B-E25A-B54D-9191-F378657BD696}" srcId="{1866EBA2-8760-B54D-B9CE-44704EC3CFC7}" destId="{150C0A1E-E1FB-AD45-AF86-54856AF5E675}" srcOrd="0" destOrd="0" parTransId="{C01C1214-911F-B944-B3D5-6FA0544841D7}" sibTransId="{1861522E-D1B7-7E46-ACB2-F30E7AC88C63}"/>
    <dgm:cxn modelId="{82B1F944-FA88-3C48-AD51-2D96F4F12059}" type="presOf" srcId="{8D10100F-986B-DB42-AEC8-DBDA6F4E8F0D}" destId="{7F384DDC-094C-6747-8167-9061AD54178D}" srcOrd="0" destOrd="0" presId="urn:microsoft.com/office/officeart/2005/8/layout/venn2"/>
    <dgm:cxn modelId="{F6E62C49-0B60-5142-9EEF-93F07A87B520}" type="presOf" srcId="{150C0A1E-E1FB-AD45-AF86-54856AF5E675}" destId="{5EFD3EA6-3A95-7348-B43F-35FB75CF9CD0}" srcOrd="1" destOrd="0" presId="urn:microsoft.com/office/officeart/2005/8/layout/venn2"/>
    <dgm:cxn modelId="{AA8DE75C-3338-1A47-A3B6-1D3CDA86495C}" srcId="{1866EBA2-8760-B54D-B9CE-44704EC3CFC7}" destId="{8D10100F-986B-DB42-AEC8-DBDA6F4E8F0D}" srcOrd="1" destOrd="0" parTransId="{62525BF6-62E1-FF47-B31B-368C515435D2}" sibTransId="{D35F6AF4-D522-F044-B57C-DE195AE83809}"/>
    <dgm:cxn modelId="{17926266-24F0-BD4C-8F63-27AE56DB545A}" type="presOf" srcId="{1866EBA2-8760-B54D-B9CE-44704EC3CFC7}" destId="{41456BFC-567D-F244-AEF6-887343032F1D}" srcOrd="0" destOrd="0" presId="urn:microsoft.com/office/officeart/2005/8/layout/venn2"/>
    <dgm:cxn modelId="{1299F483-68BC-E840-B0A6-1CDFABB56FF5}" type="presOf" srcId="{BFC6DBF1-36F7-064A-A391-D567B2CA9EE2}" destId="{B2B747E5-4B7B-9C46-9C3D-0196BEF1E8CF}" srcOrd="1" destOrd="0" presId="urn:microsoft.com/office/officeart/2005/8/layout/venn2"/>
    <dgm:cxn modelId="{139D4AB1-0FCF-3843-8791-EE3D1EA772C9}" type="presOf" srcId="{8D10100F-986B-DB42-AEC8-DBDA6F4E8F0D}" destId="{9B41EA7F-C17C-7D4D-B7F4-F386C5F0567E}" srcOrd="1" destOrd="0" presId="urn:microsoft.com/office/officeart/2005/8/layout/venn2"/>
    <dgm:cxn modelId="{5F6C05CC-9171-0E44-BEDA-0A5FE051AC60}" type="presOf" srcId="{BFC6DBF1-36F7-064A-A391-D567B2CA9EE2}" destId="{3D77F6E9-794A-EA48-AF72-7EC93A8283E2}" srcOrd="0" destOrd="0" presId="urn:microsoft.com/office/officeart/2005/8/layout/venn2"/>
    <dgm:cxn modelId="{CF5FD7A7-64F2-E744-9ACA-5FC8078BBAEE}" type="presParOf" srcId="{41456BFC-567D-F244-AEF6-887343032F1D}" destId="{EBD94FD0-2EF6-304C-8B3C-AE878BB76768}" srcOrd="0" destOrd="0" presId="urn:microsoft.com/office/officeart/2005/8/layout/venn2"/>
    <dgm:cxn modelId="{D2B57C1D-5C67-564E-BACD-E18D1E2E4BC9}" type="presParOf" srcId="{EBD94FD0-2EF6-304C-8B3C-AE878BB76768}" destId="{BCD09DF9-FED0-664D-85E2-21EAE955368C}" srcOrd="0" destOrd="0" presId="urn:microsoft.com/office/officeart/2005/8/layout/venn2"/>
    <dgm:cxn modelId="{D1F46335-709C-654F-B041-669CD439739E}" type="presParOf" srcId="{EBD94FD0-2EF6-304C-8B3C-AE878BB76768}" destId="{5EFD3EA6-3A95-7348-B43F-35FB75CF9CD0}" srcOrd="1" destOrd="0" presId="urn:microsoft.com/office/officeart/2005/8/layout/venn2"/>
    <dgm:cxn modelId="{C7F7EEF0-CD84-EF49-80A5-BA4A3CF47C91}" type="presParOf" srcId="{41456BFC-567D-F244-AEF6-887343032F1D}" destId="{9454956D-8D58-E349-BECA-5F01B9E1F469}" srcOrd="1" destOrd="0" presId="urn:microsoft.com/office/officeart/2005/8/layout/venn2"/>
    <dgm:cxn modelId="{D8B13386-8DC1-D048-B996-98A44382FFC2}" type="presParOf" srcId="{9454956D-8D58-E349-BECA-5F01B9E1F469}" destId="{7F384DDC-094C-6747-8167-9061AD54178D}" srcOrd="0" destOrd="0" presId="urn:microsoft.com/office/officeart/2005/8/layout/venn2"/>
    <dgm:cxn modelId="{F974E0B0-7A83-0B4E-9E26-7A7E8FCA3045}" type="presParOf" srcId="{9454956D-8D58-E349-BECA-5F01B9E1F469}" destId="{9B41EA7F-C17C-7D4D-B7F4-F386C5F0567E}" srcOrd="1" destOrd="0" presId="urn:microsoft.com/office/officeart/2005/8/layout/venn2"/>
    <dgm:cxn modelId="{56E1D49A-F282-484B-8F4F-3B0A527D8F41}" type="presParOf" srcId="{41456BFC-567D-F244-AEF6-887343032F1D}" destId="{566A4EBE-AF3D-A245-A281-02110565E56A}" srcOrd="2" destOrd="0" presId="urn:microsoft.com/office/officeart/2005/8/layout/venn2"/>
    <dgm:cxn modelId="{A42E866D-EA02-6341-A119-8658590B990D}" type="presParOf" srcId="{566A4EBE-AF3D-A245-A281-02110565E56A}" destId="{3D77F6E9-794A-EA48-AF72-7EC93A8283E2}" srcOrd="0" destOrd="0" presId="urn:microsoft.com/office/officeart/2005/8/layout/venn2"/>
    <dgm:cxn modelId="{B57D404C-CB53-EC4B-A3C2-FDBA386CA51B}" type="presParOf" srcId="{566A4EBE-AF3D-A245-A281-02110565E56A}" destId="{B2B747E5-4B7B-9C46-9C3D-0196BEF1E8CF}"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1E21CC-8D01-D34D-B74D-881C7CA3510B}" type="doc">
      <dgm:prSet loTypeId="urn:microsoft.com/office/officeart/2005/8/layout/orgChart1" loCatId="" qsTypeId="urn:microsoft.com/office/officeart/2005/8/quickstyle/simple1" qsCatId="simple" csTypeId="urn:microsoft.com/office/officeart/2005/8/colors/colorful1" csCatId="colorful" phldr="1"/>
      <dgm:spPr/>
      <dgm:t>
        <a:bodyPr/>
        <a:lstStyle/>
        <a:p>
          <a:endParaRPr lang="en-US"/>
        </a:p>
      </dgm:t>
    </dgm:pt>
    <dgm:pt modelId="{4A3DD03A-058A-2D4E-A49E-A94D92E0221D}">
      <dgm:prSet phldrT="[Text]" custT="1"/>
      <dgm:spPr/>
      <dgm:t>
        <a:bodyPr/>
        <a:lstStyle/>
        <a:p>
          <a:r>
            <a:rPr lang="en-US" sz="2800" dirty="0"/>
            <a:t>Machine Learning</a:t>
          </a:r>
        </a:p>
      </dgm:t>
    </dgm:pt>
    <dgm:pt modelId="{3D7EB8FF-53B1-794D-809B-5487759217D1}" type="parTrans" cxnId="{9830F670-781F-2846-839E-72B2946BF28C}">
      <dgm:prSet/>
      <dgm:spPr/>
      <dgm:t>
        <a:bodyPr/>
        <a:lstStyle/>
        <a:p>
          <a:endParaRPr lang="en-US"/>
        </a:p>
      </dgm:t>
    </dgm:pt>
    <dgm:pt modelId="{F49CA39E-1A08-B24D-8E32-7B92620202B1}" type="sibTrans" cxnId="{9830F670-781F-2846-839E-72B2946BF28C}">
      <dgm:prSet/>
      <dgm:spPr/>
      <dgm:t>
        <a:bodyPr/>
        <a:lstStyle/>
        <a:p>
          <a:endParaRPr lang="en-US"/>
        </a:p>
      </dgm:t>
    </dgm:pt>
    <dgm:pt modelId="{CA18C42E-92A5-664D-A61F-DDC0A910B2EB}">
      <dgm:prSet phldrT="[Text]" custT="1"/>
      <dgm:spPr/>
      <dgm:t>
        <a:bodyPr/>
        <a:lstStyle/>
        <a:p>
          <a:r>
            <a:rPr lang="en-ZA" sz="2400" b="0" dirty="0"/>
            <a:t>Supervised</a:t>
          </a:r>
          <a:endParaRPr lang="en-US" sz="2400" dirty="0"/>
        </a:p>
      </dgm:t>
    </dgm:pt>
    <dgm:pt modelId="{19162BB5-5EC5-6C42-A12A-803F65E2FAB1}" type="parTrans" cxnId="{C815CD5B-9AA2-874E-A4DA-B858B3076E01}">
      <dgm:prSet/>
      <dgm:spPr/>
      <dgm:t>
        <a:bodyPr/>
        <a:lstStyle/>
        <a:p>
          <a:endParaRPr lang="en-US"/>
        </a:p>
      </dgm:t>
    </dgm:pt>
    <dgm:pt modelId="{C5297F5B-B0E0-F949-BFFE-090BDEDB59B8}" type="sibTrans" cxnId="{C815CD5B-9AA2-874E-A4DA-B858B3076E01}">
      <dgm:prSet/>
      <dgm:spPr/>
      <dgm:t>
        <a:bodyPr/>
        <a:lstStyle/>
        <a:p>
          <a:endParaRPr lang="en-US"/>
        </a:p>
      </dgm:t>
    </dgm:pt>
    <dgm:pt modelId="{4C284F20-41DA-1F44-BCB0-7C2CCF0851A0}">
      <dgm:prSet phldrT="[Text]" custT="1"/>
      <dgm:spPr>
        <a:solidFill>
          <a:schemeClr val="accent3">
            <a:lumMod val="75000"/>
          </a:schemeClr>
        </a:solidFill>
      </dgm:spPr>
      <dgm:t>
        <a:bodyPr/>
        <a:lstStyle/>
        <a:p>
          <a:r>
            <a:rPr lang="en-ZA" sz="2400" b="0" dirty="0"/>
            <a:t>Unsupervised</a:t>
          </a:r>
          <a:endParaRPr lang="en-US" sz="2400" dirty="0"/>
        </a:p>
      </dgm:t>
    </dgm:pt>
    <dgm:pt modelId="{746BB8F1-764F-E04A-8D16-28A341B721F3}" type="parTrans" cxnId="{1ACA0CC8-484D-6E4A-AEAB-E3161073A452}">
      <dgm:prSet/>
      <dgm:spPr/>
      <dgm:t>
        <a:bodyPr/>
        <a:lstStyle/>
        <a:p>
          <a:endParaRPr lang="en-US"/>
        </a:p>
      </dgm:t>
    </dgm:pt>
    <dgm:pt modelId="{2DAD1950-A7F9-BF41-950C-DAE2753D548C}" type="sibTrans" cxnId="{1ACA0CC8-484D-6E4A-AEAB-E3161073A452}">
      <dgm:prSet/>
      <dgm:spPr/>
      <dgm:t>
        <a:bodyPr/>
        <a:lstStyle/>
        <a:p>
          <a:endParaRPr lang="en-US"/>
        </a:p>
      </dgm:t>
    </dgm:pt>
    <dgm:pt modelId="{DAC8E12C-BB31-6845-9284-97DA69159EB0}">
      <dgm:prSet phldrT="[Text]" custT="1"/>
      <dgm:spPr>
        <a:solidFill>
          <a:schemeClr val="accent6">
            <a:lumMod val="75000"/>
          </a:schemeClr>
        </a:solidFill>
      </dgm:spPr>
      <dgm:t>
        <a:bodyPr/>
        <a:lstStyle/>
        <a:p>
          <a:r>
            <a:rPr lang="en-ZA" sz="2400" b="0" dirty="0"/>
            <a:t>Reinforcement</a:t>
          </a:r>
          <a:endParaRPr lang="en-US" sz="2400" dirty="0"/>
        </a:p>
      </dgm:t>
    </dgm:pt>
    <dgm:pt modelId="{5B2185CE-97B2-7943-A469-AFC95E6AD088}" type="parTrans" cxnId="{9CD66E4A-10B8-B14C-9AF5-6432EDEE0EC2}">
      <dgm:prSet/>
      <dgm:spPr/>
      <dgm:t>
        <a:bodyPr/>
        <a:lstStyle/>
        <a:p>
          <a:endParaRPr lang="en-US"/>
        </a:p>
      </dgm:t>
    </dgm:pt>
    <dgm:pt modelId="{91EC54F7-9534-F74E-8B97-389E17D75D25}" type="sibTrans" cxnId="{9CD66E4A-10B8-B14C-9AF5-6432EDEE0EC2}">
      <dgm:prSet/>
      <dgm:spPr/>
      <dgm:t>
        <a:bodyPr/>
        <a:lstStyle/>
        <a:p>
          <a:endParaRPr lang="en-US"/>
        </a:p>
      </dgm:t>
    </dgm:pt>
    <dgm:pt modelId="{1FA5B0A3-4AAC-AA46-BC6C-FA184ABBF312}">
      <dgm:prSet phldrT="[Text]" custT="1"/>
      <dgm:spPr>
        <a:solidFill>
          <a:schemeClr val="accent2">
            <a:lumMod val="75000"/>
          </a:schemeClr>
        </a:solidFill>
      </dgm:spPr>
      <dgm:t>
        <a:bodyPr/>
        <a:lstStyle/>
        <a:p>
          <a:r>
            <a:rPr lang="en-ZA" sz="2400" b="0" dirty="0" err="1"/>
            <a:t>labeled</a:t>
          </a:r>
          <a:r>
            <a:rPr lang="en-ZA" sz="2400" b="0" dirty="0"/>
            <a:t> data</a:t>
          </a:r>
          <a:endParaRPr lang="en-US" sz="2400" dirty="0"/>
        </a:p>
      </dgm:t>
    </dgm:pt>
    <dgm:pt modelId="{60326848-3C12-734D-8F69-496A9F17165F}" type="parTrans" cxnId="{EAE57A6E-9E68-B14E-8BDF-62BE08949657}">
      <dgm:prSet/>
      <dgm:spPr/>
      <dgm:t>
        <a:bodyPr/>
        <a:lstStyle/>
        <a:p>
          <a:endParaRPr lang="en-US"/>
        </a:p>
      </dgm:t>
    </dgm:pt>
    <dgm:pt modelId="{97D2CDFC-E5DA-604D-8A17-45CBF594D2FA}" type="sibTrans" cxnId="{EAE57A6E-9E68-B14E-8BDF-62BE08949657}">
      <dgm:prSet/>
      <dgm:spPr/>
      <dgm:t>
        <a:bodyPr/>
        <a:lstStyle/>
        <a:p>
          <a:endParaRPr lang="en-US"/>
        </a:p>
      </dgm:t>
    </dgm:pt>
    <dgm:pt modelId="{C13EEE5D-E8DD-C34F-87A0-876BE145D183}">
      <dgm:prSet phldrT="[Text]" custT="1"/>
      <dgm:spPr>
        <a:solidFill>
          <a:schemeClr val="tx1">
            <a:lumMod val="50000"/>
            <a:lumOff val="50000"/>
          </a:schemeClr>
        </a:solidFill>
      </dgm:spPr>
      <dgm:t>
        <a:bodyPr/>
        <a:lstStyle/>
        <a:p>
          <a:r>
            <a:rPr lang="en-ZA" sz="2400" b="0" dirty="0" err="1"/>
            <a:t>unlabeled</a:t>
          </a:r>
          <a:r>
            <a:rPr lang="en-ZA" sz="2400" b="0" dirty="0"/>
            <a:t> data</a:t>
          </a:r>
          <a:endParaRPr lang="en-US" sz="2400" dirty="0"/>
        </a:p>
      </dgm:t>
    </dgm:pt>
    <dgm:pt modelId="{FA10FEDD-478A-A143-91F1-F5FBF1C4BC58}" type="parTrans" cxnId="{3C3BB347-D690-9145-811E-FFCF155CD3B8}">
      <dgm:prSet/>
      <dgm:spPr/>
      <dgm:t>
        <a:bodyPr/>
        <a:lstStyle/>
        <a:p>
          <a:endParaRPr lang="en-US"/>
        </a:p>
      </dgm:t>
    </dgm:pt>
    <dgm:pt modelId="{D6654261-B28E-ED4B-8D40-877A9EBBD374}" type="sibTrans" cxnId="{3C3BB347-D690-9145-811E-FFCF155CD3B8}">
      <dgm:prSet/>
      <dgm:spPr/>
      <dgm:t>
        <a:bodyPr/>
        <a:lstStyle/>
        <a:p>
          <a:endParaRPr lang="en-US"/>
        </a:p>
      </dgm:t>
    </dgm:pt>
    <dgm:pt modelId="{66925FC4-7D01-E24B-9960-1C7537A8656E}">
      <dgm:prSet phldrT="[Text]" custT="1"/>
      <dgm:spPr>
        <a:solidFill>
          <a:schemeClr val="accent6">
            <a:lumMod val="50000"/>
          </a:schemeClr>
        </a:solidFill>
      </dgm:spPr>
      <dgm:t>
        <a:bodyPr/>
        <a:lstStyle/>
        <a:p>
          <a:r>
            <a:rPr lang="en-ZA" sz="2400" b="0" dirty="0"/>
            <a:t>trial and error</a:t>
          </a:r>
          <a:endParaRPr lang="en-US" sz="2400" dirty="0"/>
        </a:p>
      </dgm:t>
    </dgm:pt>
    <dgm:pt modelId="{97FBE42B-B3C1-F14D-B9D4-C8A6CA5054CB}" type="parTrans" cxnId="{60F07468-861D-0745-90C2-A9FB7DC9D12D}">
      <dgm:prSet/>
      <dgm:spPr/>
      <dgm:t>
        <a:bodyPr/>
        <a:lstStyle/>
        <a:p>
          <a:endParaRPr lang="en-US"/>
        </a:p>
      </dgm:t>
    </dgm:pt>
    <dgm:pt modelId="{DCCAA0C8-EBBD-B945-A045-9CC5C1AE834C}" type="sibTrans" cxnId="{60F07468-861D-0745-90C2-A9FB7DC9D12D}">
      <dgm:prSet/>
      <dgm:spPr/>
      <dgm:t>
        <a:bodyPr/>
        <a:lstStyle/>
        <a:p>
          <a:endParaRPr lang="en-US"/>
        </a:p>
      </dgm:t>
    </dgm:pt>
    <dgm:pt modelId="{30A4094D-28EA-DE4C-AE45-DE079BA4A3BE}" type="pres">
      <dgm:prSet presAssocID="{951E21CC-8D01-D34D-B74D-881C7CA3510B}" presName="hierChild1" presStyleCnt="0">
        <dgm:presLayoutVars>
          <dgm:orgChart val="1"/>
          <dgm:chPref val="1"/>
          <dgm:dir/>
          <dgm:animOne val="branch"/>
          <dgm:animLvl val="lvl"/>
          <dgm:resizeHandles/>
        </dgm:presLayoutVars>
      </dgm:prSet>
      <dgm:spPr/>
    </dgm:pt>
    <dgm:pt modelId="{7EAB2FF3-2D32-7C45-9A4B-0A4325B26FC5}" type="pres">
      <dgm:prSet presAssocID="{4A3DD03A-058A-2D4E-A49E-A94D92E0221D}" presName="hierRoot1" presStyleCnt="0">
        <dgm:presLayoutVars>
          <dgm:hierBranch val="init"/>
        </dgm:presLayoutVars>
      </dgm:prSet>
      <dgm:spPr/>
    </dgm:pt>
    <dgm:pt modelId="{D5DDFE25-ECEF-8748-B27A-999DA78D063B}" type="pres">
      <dgm:prSet presAssocID="{4A3DD03A-058A-2D4E-A49E-A94D92E0221D}" presName="rootComposite1" presStyleCnt="0"/>
      <dgm:spPr/>
    </dgm:pt>
    <dgm:pt modelId="{7E83B773-949D-4B4E-B45B-AAB3170F3F41}" type="pres">
      <dgm:prSet presAssocID="{4A3DD03A-058A-2D4E-A49E-A94D92E0221D}" presName="rootText1" presStyleLbl="node0" presStyleIdx="0" presStyleCnt="1">
        <dgm:presLayoutVars>
          <dgm:chPref val="3"/>
        </dgm:presLayoutVars>
      </dgm:prSet>
      <dgm:spPr/>
    </dgm:pt>
    <dgm:pt modelId="{EBDEB0D7-B6DE-944F-818C-265DE494F6CD}" type="pres">
      <dgm:prSet presAssocID="{4A3DD03A-058A-2D4E-A49E-A94D92E0221D}" presName="rootConnector1" presStyleLbl="node1" presStyleIdx="0" presStyleCnt="0"/>
      <dgm:spPr/>
    </dgm:pt>
    <dgm:pt modelId="{B1FE4FAE-E838-2C4B-95D7-B1DC7BF4FEAF}" type="pres">
      <dgm:prSet presAssocID="{4A3DD03A-058A-2D4E-A49E-A94D92E0221D}" presName="hierChild2" presStyleCnt="0"/>
      <dgm:spPr/>
    </dgm:pt>
    <dgm:pt modelId="{228B0B42-9D24-D249-867B-E8266B6EF606}" type="pres">
      <dgm:prSet presAssocID="{19162BB5-5EC5-6C42-A12A-803F65E2FAB1}" presName="Name37" presStyleLbl="parChTrans1D2" presStyleIdx="0" presStyleCnt="3"/>
      <dgm:spPr/>
    </dgm:pt>
    <dgm:pt modelId="{FC2868AC-3E56-5E42-96EF-6FDDC2334085}" type="pres">
      <dgm:prSet presAssocID="{CA18C42E-92A5-664D-A61F-DDC0A910B2EB}" presName="hierRoot2" presStyleCnt="0">
        <dgm:presLayoutVars>
          <dgm:hierBranch val="init"/>
        </dgm:presLayoutVars>
      </dgm:prSet>
      <dgm:spPr/>
    </dgm:pt>
    <dgm:pt modelId="{A080CA52-8677-EA43-BE58-892EEEC7840A}" type="pres">
      <dgm:prSet presAssocID="{CA18C42E-92A5-664D-A61F-DDC0A910B2EB}" presName="rootComposite" presStyleCnt="0"/>
      <dgm:spPr/>
    </dgm:pt>
    <dgm:pt modelId="{805DE6C1-A246-CF4C-8A81-F5A57FCB8688}" type="pres">
      <dgm:prSet presAssocID="{CA18C42E-92A5-664D-A61F-DDC0A910B2EB}" presName="rootText" presStyleLbl="node2" presStyleIdx="0" presStyleCnt="3">
        <dgm:presLayoutVars>
          <dgm:chPref val="3"/>
        </dgm:presLayoutVars>
      </dgm:prSet>
      <dgm:spPr/>
    </dgm:pt>
    <dgm:pt modelId="{8584A79A-D76A-234B-BBE2-D400E1A60656}" type="pres">
      <dgm:prSet presAssocID="{CA18C42E-92A5-664D-A61F-DDC0A910B2EB}" presName="rootConnector" presStyleLbl="node2" presStyleIdx="0" presStyleCnt="3"/>
      <dgm:spPr/>
    </dgm:pt>
    <dgm:pt modelId="{B38FAAE5-1732-4547-A1FF-FC64D80773AF}" type="pres">
      <dgm:prSet presAssocID="{CA18C42E-92A5-664D-A61F-DDC0A910B2EB}" presName="hierChild4" presStyleCnt="0"/>
      <dgm:spPr/>
    </dgm:pt>
    <dgm:pt modelId="{77ADCEF6-8EB1-F84A-AF84-281D496E6DF6}" type="pres">
      <dgm:prSet presAssocID="{60326848-3C12-734D-8F69-496A9F17165F}" presName="Name37" presStyleLbl="parChTrans1D3" presStyleIdx="0" presStyleCnt="3"/>
      <dgm:spPr/>
    </dgm:pt>
    <dgm:pt modelId="{8A7A17DD-4D7A-814E-85C2-91CC1E937036}" type="pres">
      <dgm:prSet presAssocID="{1FA5B0A3-4AAC-AA46-BC6C-FA184ABBF312}" presName="hierRoot2" presStyleCnt="0">
        <dgm:presLayoutVars>
          <dgm:hierBranch val="init"/>
        </dgm:presLayoutVars>
      </dgm:prSet>
      <dgm:spPr/>
    </dgm:pt>
    <dgm:pt modelId="{D2C662F9-A67F-3948-8CD4-02B05561DDC6}" type="pres">
      <dgm:prSet presAssocID="{1FA5B0A3-4AAC-AA46-BC6C-FA184ABBF312}" presName="rootComposite" presStyleCnt="0"/>
      <dgm:spPr/>
    </dgm:pt>
    <dgm:pt modelId="{38C29C25-D682-4840-9288-31F7DB0556CB}" type="pres">
      <dgm:prSet presAssocID="{1FA5B0A3-4AAC-AA46-BC6C-FA184ABBF312}" presName="rootText" presStyleLbl="node3" presStyleIdx="0" presStyleCnt="3">
        <dgm:presLayoutVars>
          <dgm:chPref val="3"/>
        </dgm:presLayoutVars>
      </dgm:prSet>
      <dgm:spPr/>
    </dgm:pt>
    <dgm:pt modelId="{3FF3F02E-2FB7-674F-B0E7-B53831805FF5}" type="pres">
      <dgm:prSet presAssocID="{1FA5B0A3-4AAC-AA46-BC6C-FA184ABBF312}" presName="rootConnector" presStyleLbl="node3" presStyleIdx="0" presStyleCnt="3"/>
      <dgm:spPr/>
    </dgm:pt>
    <dgm:pt modelId="{4EC51E50-B07B-D24B-8E0B-38557FFA5CF5}" type="pres">
      <dgm:prSet presAssocID="{1FA5B0A3-4AAC-AA46-BC6C-FA184ABBF312}" presName="hierChild4" presStyleCnt="0"/>
      <dgm:spPr/>
    </dgm:pt>
    <dgm:pt modelId="{C5E5BD1A-557C-8A4A-AF0B-AB71FE3650A3}" type="pres">
      <dgm:prSet presAssocID="{1FA5B0A3-4AAC-AA46-BC6C-FA184ABBF312}" presName="hierChild5" presStyleCnt="0"/>
      <dgm:spPr/>
    </dgm:pt>
    <dgm:pt modelId="{EF0C37EC-E976-704E-A890-85D613DA0BBA}" type="pres">
      <dgm:prSet presAssocID="{CA18C42E-92A5-664D-A61F-DDC0A910B2EB}" presName="hierChild5" presStyleCnt="0"/>
      <dgm:spPr/>
    </dgm:pt>
    <dgm:pt modelId="{BF430CED-065E-8C45-BDB6-4C919C066FF9}" type="pres">
      <dgm:prSet presAssocID="{746BB8F1-764F-E04A-8D16-28A341B721F3}" presName="Name37" presStyleLbl="parChTrans1D2" presStyleIdx="1" presStyleCnt="3"/>
      <dgm:spPr/>
    </dgm:pt>
    <dgm:pt modelId="{9E62F238-B8E8-404A-94EA-E66667F40F8D}" type="pres">
      <dgm:prSet presAssocID="{4C284F20-41DA-1F44-BCB0-7C2CCF0851A0}" presName="hierRoot2" presStyleCnt="0">
        <dgm:presLayoutVars>
          <dgm:hierBranch val="init"/>
        </dgm:presLayoutVars>
      </dgm:prSet>
      <dgm:spPr/>
    </dgm:pt>
    <dgm:pt modelId="{E5489116-867D-6542-934B-238C23A71D1A}" type="pres">
      <dgm:prSet presAssocID="{4C284F20-41DA-1F44-BCB0-7C2CCF0851A0}" presName="rootComposite" presStyleCnt="0"/>
      <dgm:spPr/>
    </dgm:pt>
    <dgm:pt modelId="{A41CDCCE-5820-974B-B5AC-5FEA334038AF}" type="pres">
      <dgm:prSet presAssocID="{4C284F20-41DA-1F44-BCB0-7C2CCF0851A0}" presName="rootText" presStyleLbl="node2" presStyleIdx="1" presStyleCnt="3">
        <dgm:presLayoutVars>
          <dgm:chPref val="3"/>
        </dgm:presLayoutVars>
      </dgm:prSet>
      <dgm:spPr/>
    </dgm:pt>
    <dgm:pt modelId="{96969066-BA84-D34A-8AC4-0D67CDF97A04}" type="pres">
      <dgm:prSet presAssocID="{4C284F20-41DA-1F44-BCB0-7C2CCF0851A0}" presName="rootConnector" presStyleLbl="node2" presStyleIdx="1" presStyleCnt="3"/>
      <dgm:spPr/>
    </dgm:pt>
    <dgm:pt modelId="{0C5715B8-EC6F-2A4E-A59C-29BB1E0CA2C1}" type="pres">
      <dgm:prSet presAssocID="{4C284F20-41DA-1F44-BCB0-7C2CCF0851A0}" presName="hierChild4" presStyleCnt="0"/>
      <dgm:spPr/>
    </dgm:pt>
    <dgm:pt modelId="{E410F00E-3612-AD46-A2D9-45D9A3FE026B}" type="pres">
      <dgm:prSet presAssocID="{FA10FEDD-478A-A143-91F1-F5FBF1C4BC58}" presName="Name37" presStyleLbl="parChTrans1D3" presStyleIdx="1" presStyleCnt="3"/>
      <dgm:spPr/>
    </dgm:pt>
    <dgm:pt modelId="{1ED357BB-534D-4341-A08E-EB17DCF5C1CA}" type="pres">
      <dgm:prSet presAssocID="{C13EEE5D-E8DD-C34F-87A0-876BE145D183}" presName="hierRoot2" presStyleCnt="0">
        <dgm:presLayoutVars>
          <dgm:hierBranch val="init"/>
        </dgm:presLayoutVars>
      </dgm:prSet>
      <dgm:spPr/>
    </dgm:pt>
    <dgm:pt modelId="{7C6512A0-62B4-BA4F-9F90-4CD766993934}" type="pres">
      <dgm:prSet presAssocID="{C13EEE5D-E8DD-C34F-87A0-876BE145D183}" presName="rootComposite" presStyleCnt="0"/>
      <dgm:spPr/>
    </dgm:pt>
    <dgm:pt modelId="{C381137C-22B5-AE43-8F59-C6D9602E5B1E}" type="pres">
      <dgm:prSet presAssocID="{C13EEE5D-E8DD-C34F-87A0-876BE145D183}" presName="rootText" presStyleLbl="node3" presStyleIdx="1" presStyleCnt="3">
        <dgm:presLayoutVars>
          <dgm:chPref val="3"/>
        </dgm:presLayoutVars>
      </dgm:prSet>
      <dgm:spPr/>
    </dgm:pt>
    <dgm:pt modelId="{C45D697D-3CA5-D543-81B0-06729CA157E0}" type="pres">
      <dgm:prSet presAssocID="{C13EEE5D-E8DD-C34F-87A0-876BE145D183}" presName="rootConnector" presStyleLbl="node3" presStyleIdx="1" presStyleCnt="3"/>
      <dgm:spPr/>
    </dgm:pt>
    <dgm:pt modelId="{1271BAC6-E97E-BE4E-8D77-93CC95989121}" type="pres">
      <dgm:prSet presAssocID="{C13EEE5D-E8DD-C34F-87A0-876BE145D183}" presName="hierChild4" presStyleCnt="0"/>
      <dgm:spPr/>
    </dgm:pt>
    <dgm:pt modelId="{9F8F4EEC-8250-2F4F-B478-40DC542D9B87}" type="pres">
      <dgm:prSet presAssocID="{C13EEE5D-E8DD-C34F-87A0-876BE145D183}" presName="hierChild5" presStyleCnt="0"/>
      <dgm:spPr/>
    </dgm:pt>
    <dgm:pt modelId="{3EA3C239-E087-F240-89D7-9B5CAD83ABB5}" type="pres">
      <dgm:prSet presAssocID="{4C284F20-41DA-1F44-BCB0-7C2CCF0851A0}" presName="hierChild5" presStyleCnt="0"/>
      <dgm:spPr/>
    </dgm:pt>
    <dgm:pt modelId="{484E0472-14EB-FA4A-A3C6-FC37D06024D5}" type="pres">
      <dgm:prSet presAssocID="{5B2185CE-97B2-7943-A469-AFC95E6AD088}" presName="Name37" presStyleLbl="parChTrans1D2" presStyleIdx="2" presStyleCnt="3"/>
      <dgm:spPr/>
    </dgm:pt>
    <dgm:pt modelId="{7794AF42-8636-514B-BA8A-AE26BA320A87}" type="pres">
      <dgm:prSet presAssocID="{DAC8E12C-BB31-6845-9284-97DA69159EB0}" presName="hierRoot2" presStyleCnt="0">
        <dgm:presLayoutVars>
          <dgm:hierBranch val="init"/>
        </dgm:presLayoutVars>
      </dgm:prSet>
      <dgm:spPr/>
    </dgm:pt>
    <dgm:pt modelId="{5A308836-2F90-D24E-891E-437244DB6005}" type="pres">
      <dgm:prSet presAssocID="{DAC8E12C-BB31-6845-9284-97DA69159EB0}" presName="rootComposite" presStyleCnt="0"/>
      <dgm:spPr/>
    </dgm:pt>
    <dgm:pt modelId="{E8F8D823-81EE-8A44-A0E5-1869A0776130}" type="pres">
      <dgm:prSet presAssocID="{DAC8E12C-BB31-6845-9284-97DA69159EB0}" presName="rootText" presStyleLbl="node2" presStyleIdx="2" presStyleCnt="3">
        <dgm:presLayoutVars>
          <dgm:chPref val="3"/>
        </dgm:presLayoutVars>
      </dgm:prSet>
      <dgm:spPr/>
    </dgm:pt>
    <dgm:pt modelId="{C2C096E8-8226-094A-AFEC-17D823E37D41}" type="pres">
      <dgm:prSet presAssocID="{DAC8E12C-BB31-6845-9284-97DA69159EB0}" presName="rootConnector" presStyleLbl="node2" presStyleIdx="2" presStyleCnt="3"/>
      <dgm:spPr/>
    </dgm:pt>
    <dgm:pt modelId="{57E4CE0B-A7FF-444C-AAD6-DEF4ACD1C12C}" type="pres">
      <dgm:prSet presAssocID="{DAC8E12C-BB31-6845-9284-97DA69159EB0}" presName="hierChild4" presStyleCnt="0"/>
      <dgm:spPr/>
    </dgm:pt>
    <dgm:pt modelId="{344E5A90-BB4D-BA43-B4B4-B94D356B659C}" type="pres">
      <dgm:prSet presAssocID="{97FBE42B-B3C1-F14D-B9D4-C8A6CA5054CB}" presName="Name37" presStyleLbl="parChTrans1D3" presStyleIdx="2" presStyleCnt="3"/>
      <dgm:spPr/>
    </dgm:pt>
    <dgm:pt modelId="{0A55B03A-A284-4941-928F-AFE6A6C6B395}" type="pres">
      <dgm:prSet presAssocID="{66925FC4-7D01-E24B-9960-1C7537A8656E}" presName="hierRoot2" presStyleCnt="0">
        <dgm:presLayoutVars>
          <dgm:hierBranch val="init"/>
        </dgm:presLayoutVars>
      </dgm:prSet>
      <dgm:spPr/>
    </dgm:pt>
    <dgm:pt modelId="{BC62A68D-EE76-7947-912E-D47BFDA895A7}" type="pres">
      <dgm:prSet presAssocID="{66925FC4-7D01-E24B-9960-1C7537A8656E}" presName="rootComposite" presStyleCnt="0"/>
      <dgm:spPr/>
    </dgm:pt>
    <dgm:pt modelId="{F339D308-30A9-C94C-8532-7BE79BF2C9EF}" type="pres">
      <dgm:prSet presAssocID="{66925FC4-7D01-E24B-9960-1C7537A8656E}" presName="rootText" presStyleLbl="node3" presStyleIdx="2" presStyleCnt="3">
        <dgm:presLayoutVars>
          <dgm:chPref val="3"/>
        </dgm:presLayoutVars>
      </dgm:prSet>
      <dgm:spPr/>
    </dgm:pt>
    <dgm:pt modelId="{6F1DE565-E876-5948-9036-0B6856E827BE}" type="pres">
      <dgm:prSet presAssocID="{66925FC4-7D01-E24B-9960-1C7537A8656E}" presName="rootConnector" presStyleLbl="node3" presStyleIdx="2" presStyleCnt="3"/>
      <dgm:spPr/>
    </dgm:pt>
    <dgm:pt modelId="{63FB3606-1DE9-844B-9A84-148484942BBA}" type="pres">
      <dgm:prSet presAssocID="{66925FC4-7D01-E24B-9960-1C7537A8656E}" presName="hierChild4" presStyleCnt="0"/>
      <dgm:spPr/>
    </dgm:pt>
    <dgm:pt modelId="{1EDC5456-2DF3-0B4F-A17D-47C561C657AE}" type="pres">
      <dgm:prSet presAssocID="{66925FC4-7D01-E24B-9960-1C7537A8656E}" presName="hierChild5" presStyleCnt="0"/>
      <dgm:spPr/>
    </dgm:pt>
    <dgm:pt modelId="{9F5E3C94-E55D-7E44-BE87-88C91ABD117E}" type="pres">
      <dgm:prSet presAssocID="{DAC8E12C-BB31-6845-9284-97DA69159EB0}" presName="hierChild5" presStyleCnt="0"/>
      <dgm:spPr/>
    </dgm:pt>
    <dgm:pt modelId="{DAD6A857-E8A5-954B-9DEC-31D193EA1223}" type="pres">
      <dgm:prSet presAssocID="{4A3DD03A-058A-2D4E-A49E-A94D92E0221D}" presName="hierChild3" presStyleCnt="0"/>
      <dgm:spPr/>
    </dgm:pt>
  </dgm:ptLst>
  <dgm:cxnLst>
    <dgm:cxn modelId="{0E496918-70BE-7544-BC85-405F7A256F9A}" type="presOf" srcId="{97FBE42B-B3C1-F14D-B9D4-C8A6CA5054CB}" destId="{344E5A90-BB4D-BA43-B4B4-B94D356B659C}" srcOrd="0" destOrd="0" presId="urn:microsoft.com/office/officeart/2005/8/layout/orgChart1"/>
    <dgm:cxn modelId="{38A3D21A-8CD6-4545-B332-28785DA359FE}" type="presOf" srcId="{4A3DD03A-058A-2D4E-A49E-A94D92E0221D}" destId="{EBDEB0D7-B6DE-944F-818C-265DE494F6CD}" srcOrd="1" destOrd="0" presId="urn:microsoft.com/office/officeart/2005/8/layout/orgChart1"/>
    <dgm:cxn modelId="{1CA7FA2E-6243-7E41-8866-CC47C3073DC6}" type="presOf" srcId="{66925FC4-7D01-E24B-9960-1C7537A8656E}" destId="{6F1DE565-E876-5948-9036-0B6856E827BE}" srcOrd="1" destOrd="0" presId="urn:microsoft.com/office/officeart/2005/8/layout/orgChart1"/>
    <dgm:cxn modelId="{17CD8535-461E-B844-9F55-4CEBF9089834}" type="presOf" srcId="{CA18C42E-92A5-664D-A61F-DDC0A910B2EB}" destId="{805DE6C1-A246-CF4C-8A81-F5A57FCB8688}" srcOrd="0" destOrd="0" presId="urn:microsoft.com/office/officeart/2005/8/layout/orgChart1"/>
    <dgm:cxn modelId="{E1109B3A-BF91-9242-AE23-4B88E54B26D4}" type="presOf" srcId="{FA10FEDD-478A-A143-91F1-F5FBF1C4BC58}" destId="{E410F00E-3612-AD46-A2D9-45D9A3FE026B}" srcOrd="0" destOrd="0" presId="urn:microsoft.com/office/officeart/2005/8/layout/orgChart1"/>
    <dgm:cxn modelId="{E4925B3F-2623-5A4F-8E3C-B15461FB6EFE}" type="presOf" srcId="{4C284F20-41DA-1F44-BCB0-7C2CCF0851A0}" destId="{A41CDCCE-5820-974B-B5AC-5FEA334038AF}" srcOrd="0" destOrd="0" presId="urn:microsoft.com/office/officeart/2005/8/layout/orgChart1"/>
    <dgm:cxn modelId="{3C3BB347-D690-9145-811E-FFCF155CD3B8}" srcId="{4C284F20-41DA-1F44-BCB0-7C2CCF0851A0}" destId="{C13EEE5D-E8DD-C34F-87A0-876BE145D183}" srcOrd="0" destOrd="0" parTransId="{FA10FEDD-478A-A143-91F1-F5FBF1C4BC58}" sibTransId="{D6654261-B28E-ED4B-8D40-877A9EBBD374}"/>
    <dgm:cxn modelId="{9CD66E4A-10B8-B14C-9AF5-6432EDEE0EC2}" srcId="{4A3DD03A-058A-2D4E-A49E-A94D92E0221D}" destId="{DAC8E12C-BB31-6845-9284-97DA69159EB0}" srcOrd="2" destOrd="0" parTransId="{5B2185CE-97B2-7943-A469-AFC95E6AD088}" sibTransId="{91EC54F7-9534-F74E-8B97-389E17D75D25}"/>
    <dgm:cxn modelId="{34B52D55-D879-554E-969E-748DA6A897A1}" type="presOf" srcId="{1FA5B0A3-4AAC-AA46-BC6C-FA184ABBF312}" destId="{38C29C25-D682-4840-9288-31F7DB0556CB}" srcOrd="0" destOrd="0" presId="urn:microsoft.com/office/officeart/2005/8/layout/orgChart1"/>
    <dgm:cxn modelId="{ACB78F57-52A0-A442-869E-5467E9D4C5D9}" type="presOf" srcId="{DAC8E12C-BB31-6845-9284-97DA69159EB0}" destId="{E8F8D823-81EE-8A44-A0E5-1869A0776130}" srcOrd="0" destOrd="0" presId="urn:microsoft.com/office/officeart/2005/8/layout/orgChart1"/>
    <dgm:cxn modelId="{91E4E25A-A0A1-7444-B414-318DC2E5654F}" type="presOf" srcId="{1FA5B0A3-4AAC-AA46-BC6C-FA184ABBF312}" destId="{3FF3F02E-2FB7-674F-B0E7-B53831805FF5}" srcOrd="1" destOrd="0" presId="urn:microsoft.com/office/officeart/2005/8/layout/orgChart1"/>
    <dgm:cxn modelId="{C815CD5B-9AA2-874E-A4DA-B858B3076E01}" srcId="{4A3DD03A-058A-2D4E-A49E-A94D92E0221D}" destId="{CA18C42E-92A5-664D-A61F-DDC0A910B2EB}" srcOrd="0" destOrd="0" parTransId="{19162BB5-5EC5-6C42-A12A-803F65E2FAB1}" sibTransId="{C5297F5B-B0E0-F949-BFFE-090BDEDB59B8}"/>
    <dgm:cxn modelId="{74368960-AEBF-CC40-A7C1-7BA94EA15937}" type="presOf" srcId="{CA18C42E-92A5-664D-A61F-DDC0A910B2EB}" destId="{8584A79A-D76A-234B-BBE2-D400E1A60656}" srcOrd="1" destOrd="0" presId="urn:microsoft.com/office/officeart/2005/8/layout/orgChart1"/>
    <dgm:cxn modelId="{60F07468-861D-0745-90C2-A9FB7DC9D12D}" srcId="{DAC8E12C-BB31-6845-9284-97DA69159EB0}" destId="{66925FC4-7D01-E24B-9960-1C7537A8656E}" srcOrd="0" destOrd="0" parTransId="{97FBE42B-B3C1-F14D-B9D4-C8A6CA5054CB}" sibTransId="{DCCAA0C8-EBBD-B945-A045-9CC5C1AE834C}"/>
    <dgm:cxn modelId="{EAE57A6E-9E68-B14E-8BDF-62BE08949657}" srcId="{CA18C42E-92A5-664D-A61F-DDC0A910B2EB}" destId="{1FA5B0A3-4AAC-AA46-BC6C-FA184ABBF312}" srcOrd="0" destOrd="0" parTransId="{60326848-3C12-734D-8F69-496A9F17165F}" sibTransId="{97D2CDFC-E5DA-604D-8A17-45CBF594D2FA}"/>
    <dgm:cxn modelId="{9830F670-781F-2846-839E-72B2946BF28C}" srcId="{951E21CC-8D01-D34D-B74D-881C7CA3510B}" destId="{4A3DD03A-058A-2D4E-A49E-A94D92E0221D}" srcOrd="0" destOrd="0" parTransId="{3D7EB8FF-53B1-794D-809B-5487759217D1}" sibTransId="{F49CA39E-1A08-B24D-8E32-7B92620202B1}"/>
    <dgm:cxn modelId="{A9D7DC7F-B66F-304F-A886-73F98005D08A}" type="presOf" srcId="{4C284F20-41DA-1F44-BCB0-7C2CCF0851A0}" destId="{96969066-BA84-D34A-8AC4-0D67CDF97A04}" srcOrd="1" destOrd="0" presId="urn:microsoft.com/office/officeart/2005/8/layout/orgChart1"/>
    <dgm:cxn modelId="{45A06885-48B9-EA4B-AFCA-BEA23E841AF6}" type="presOf" srcId="{C13EEE5D-E8DD-C34F-87A0-876BE145D183}" destId="{C45D697D-3CA5-D543-81B0-06729CA157E0}" srcOrd="1" destOrd="0" presId="urn:microsoft.com/office/officeart/2005/8/layout/orgChart1"/>
    <dgm:cxn modelId="{7F776987-C568-6C45-95B0-2B3C965A8D6F}" type="presOf" srcId="{4A3DD03A-058A-2D4E-A49E-A94D92E0221D}" destId="{7E83B773-949D-4B4E-B45B-AAB3170F3F41}" srcOrd="0" destOrd="0" presId="urn:microsoft.com/office/officeart/2005/8/layout/orgChart1"/>
    <dgm:cxn modelId="{211C7894-8965-9549-9EF0-92D7CB4E9660}" type="presOf" srcId="{746BB8F1-764F-E04A-8D16-28A341B721F3}" destId="{BF430CED-065E-8C45-BDB6-4C919C066FF9}" srcOrd="0" destOrd="0" presId="urn:microsoft.com/office/officeart/2005/8/layout/orgChart1"/>
    <dgm:cxn modelId="{7E7BB79B-8FD0-E34F-AFC4-31DE18BB0146}" type="presOf" srcId="{DAC8E12C-BB31-6845-9284-97DA69159EB0}" destId="{C2C096E8-8226-094A-AFEC-17D823E37D41}" srcOrd="1" destOrd="0" presId="urn:microsoft.com/office/officeart/2005/8/layout/orgChart1"/>
    <dgm:cxn modelId="{B4A1ABA6-1BB7-1C4F-9A70-1F0D10F2778F}" type="presOf" srcId="{60326848-3C12-734D-8F69-496A9F17165F}" destId="{77ADCEF6-8EB1-F84A-AF84-281D496E6DF6}" srcOrd="0" destOrd="0" presId="urn:microsoft.com/office/officeart/2005/8/layout/orgChart1"/>
    <dgm:cxn modelId="{934C19A7-B2D4-8545-A858-F54F36C85BC9}" type="presOf" srcId="{951E21CC-8D01-D34D-B74D-881C7CA3510B}" destId="{30A4094D-28EA-DE4C-AE45-DE079BA4A3BE}" srcOrd="0" destOrd="0" presId="urn:microsoft.com/office/officeart/2005/8/layout/orgChart1"/>
    <dgm:cxn modelId="{85E8D6B0-A466-5C4C-8DCF-9AD46E37B66E}" type="presOf" srcId="{66925FC4-7D01-E24B-9960-1C7537A8656E}" destId="{F339D308-30A9-C94C-8532-7BE79BF2C9EF}" srcOrd="0" destOrd="0" presId="urn:microsoft.com/office/officeart/2005/8/layout/orgChart1"/>
    <dgm:cxn modelId="{619F3AB7-415A-C043-9EA1-708393E7DDA3}" type="presOf" srcId="{5B2185CE-97B2-7943-A469-AFC95E6AD088}" destId="{484E0472-14EB-FA4A-A3C6-FC37D06024D5}" srcOrd="0" destOrd="0" presId="urn:microsoft.com/office/officeart/2005/8/layout/orgChart1"/>
    <dgm:cxn modelId="{1ACA0CC8-484D-6E4A-AEAB-E3161073A452}" srcId="{4A3DD03A-058A-2D4E-A49E-A94D92E0221D}" destId="{4C284F20-41DA-1F44-BCB0-7C2CCF0851A0}" srcOrd="1" destOrd="0" parTransId="{746BB8F1-764F-E04A-8D16-28A341B721F3}" sibTransId="{2DAD1950-A7F9-BF41-950C-DAE2753D548C}"/>
    <dgm:cxn modelId="{D5DA09D5-E22A-E242-8C88-34B78E25C155}" type="presOf" srcId="{19162BB5-5EC5-6C42-A12A-803F65E2FAB1}" destId="{228B0B42-9D24-D249-867B-E8266B6EF606}" srcOrd="0" destOrd="0" presId="urn:microsoft.com/office/officeart/2005/8/layout/orgChart1"/>
    <dgm:cxn modelId="{551FF0FB-4E43-304A-82A7-56411578C311}" type="presOf" srcId="{C13EEE5D-E8DD-C34F-87A0-876BE145D183}" destId="{C381137C-22B5-AE43-8F59-C6D9602E5B1E}" srcOrd="0" destOrd="0" presId="urn:microsoft.com/office/officeart/2005/8/layout/orgChart1"/>
    <dgm:cxn modelId="{80C6C725-E2CA-BD4D-A2C4-20F58B5CAFA4}" type="presParOf" srcId="{30A4094D-28EA-DE4C-AE45-DE079BA4A3BE}" destId="{7EAB2FF3-2D32-7C45-9A4B-0A4325B26FC5}" srcOrd="0" destOrd="0" presId="urn:microsoft.com/office/officeart/2005/8/layout/orgChart1"/>
    <dgm:cxn modelId="{E16FB9D1-9C8F-5E4F-AB8D-983838BCB8D0}" type="presParOf" srcId="{7EAB2FF3-2D32-7C45-9A4B-0A4325B26FC5}" destId="{D5DDFE25-ECEF-8748-B27A-999DA78D063B}" srcOrd="0" destOrd="0" presId="urn:microsoft.com/office/officeart/2005/8/layout/orgChart1"/>
    <dgm:cxn modelId="{BF77BC83-AF65-744B-8A84-0EBB54AAB2D7}" type="presParOf" srcId="{D5DDFE25-ECEF-8748-B27A-999DA78D063B}" destId="{7E83B773-949D-4B4E-B45B-AAB3170F3F41}" srcOrd="0" destOrd="0" presId="urn:microsoft.com/office/officeart/2005/8/layout/orgChart1"/>
    <dgm:cxn modelId="{375DB838-D85C-2940-9D61-2F7B73E84C68}" type="presParOf" srcId="{D5DDFE25-ECEF-8748-B27A-999DA78D063B}" destId="{EBDEB0D7-B6DE-944F-818C-265DE494F6CD}" srcOrd="1" destOrd="0" presId="urn:microsoft.com/office/officeart/2005/8/layout/orgChart1"/>
    <dgm:cxn modelId="{69BE1E06-3F47-184D-A383-11437B6EA7CB}" type="presParOf" srcId="{7EAB2FF3-2D32-7C45-9A4B-0A4325B26FC5}" destId="{B1FE4FAE-E838-2C4B-95D7-B1DC7BF4FEAF}" srcOrd="1" destOrd="0" presId="urn:microsoft.com/office/officeart/2005/8/layout/orgChart1"/>
    <dgm:cxn modelId="{5DA49C68-7ECC-464A-A8AC-55858828E699}" type="presParOf" srcId="{B1FE4FAE-E838-2C4B-95D7-B1DC7BF4FEAF}" destId="{228B0B42-9D24-D249-867B-E8266B6EF606}" srcOrd="0" destOrd="0" presId="urn:microsoft.com/office/officeart/2005/8/layout/orgChart1"/>
    <dgm:cxn modelId="{721A1106-B23D-A84E-98BA-95FBFE98EC23}" type="presParOf" srcId="{B1FE4FAE-E838-2C4B-95D7-B1DC7BF4FEAF}" destId="{FC2868AC-3E56-5E42-96EF-6FDDC2334085}" srcOrd="1" destOrd="0" presId="urn:microsoft.com/office/officeart/2005/8/layout/orgChart1"/>
    <dgm:cxn modelId="{37479330-FE17-B44B-90CC-8B87C8D649AE}" type="presParOf" srcId="{FC2868AC-3E56-5E42-96EF-6FDDC2334085}" destId="{A080CA52-8677-EA43-BE58-892EEEC7840A}" srcOrd="0" destOrd="0" presId="urn:microsoft.com/office/officeart/2005/8/layout/orgChart1"/>
    <dgm:cxn modelId="{393B5835-94F7-D643-994E-9ED5526CF8F8}" type="presParOf" srcId="{A080CA52-8677-EA43-BE58-892EEEC7840A}" destId="{805DE6C1-A246-CF4C-8A81-F5A57FCB8688}" srcOrd="0" destOrd="0" presId="urn:microsoft.com/office/officeart/2005/8/layout/orgChart1"/>
    <dgm:cxn modelId="{F396F58A-AF88-B34E-B1BF-F7E4C8C09AB6}" type="presParOf" srcId="{A080CA52-8677-EA43-BE58-892EEEC7840A}" destId="{8584A79A-D76A-234B-BBE2-D400E1A60656}" srcOrd="1" destOrd="0" presId="urn:microsoft.com/office/officeart/2005/8/layout/orgChart1"/>
    <dgm:cxn modelId="{B0857442-628C-284F-9E04-1C5DC2BD3067}" type="presParOf" srcId="{FC2868AC-3E56-5E42-96EF-6FDDC2334085}" destId="{B38FAAE5-1732-4547-A1FF-FC64D80773AF}" srcOrd="1" destOrd="0" presId="urn:microsoft.com/office/officeart/2005/8/layout/orgChart1"/>
    <dgm:cxn modelId="{952BDDC7-50FF-7647-A516-83301330A29C}" type="presParOf" srcId="{B38FAAE5-1732-4547-A1FF-FC64D80773AF}" destId="{77ADCEF6-8EB1-F84A-AF84-281D496E6DF6}" srcOrd="0" destOrd="0" presId="urn:microsoft.com/office/officeart/2005/8/layout/orgChart1"/>
    <dgm:cxn modelId="{BEDB0B4D-BF94-4345-84CD-57EDB2238099}" type="presParOf" srcId="{B38FAAE5-1732-4547-A1FF-FC64D80773AF}" destId="{8A7A17DD-4D7A-814E-85C2-91CC1E937036}" srcOrd="1" destOrd="0" presId="urn:microsoft.com/office/officeart/2005/8/layout/orgChart1"/>
    <dgm:cxn modelId="{116EC914-B502-E24E-B817-5E11E191E3EE}" type="presParOf" srcId="{8A7A17DD-4D7A-814E-85C2-91CC1E937036}" destId="{D2C662F9-A67F-3948-8CD4-02B05561DDC6}" srcOrd="0" destOrd="0" presId="urn:microsoft.com/office/officeart/2005/8/layout/orgChart1"/>
    <dgm:cxn modelId="{4DDC86DF-44AE-4147-AEED-8F9C4425AF30}" type="presParOf" srcId="{D2C662F9-A67F-3948-8CD4-02B05561DDC6}" destId="{38C29C25-D682-4840-9288-31F7DB0556CB}" srcOrd="0" destOrd="0" presId="urn:microsoft.com/office/officeart/2005/8/layout/orgChart1"/>
    <dgm:cxn modelId="{4FD3A929-D408-BD4C-A73F-A14D135919D6}" type="presParOf" srcId="{D2C662F9-A67F-3948-8CD4-02B05561DDC6}" destId="{3FF3F02E-2FB7-674F-B0E7-B53831805FF5}" srcOrd="1" destOrd="0" presId="urn:microsoft.com/office/officeart/2005/8/layout/orgChart1"/>
    <dgm:cxn modelId="{50351C1E-FAE5-D741-B37A-D2B513CE2A7A}" type="presParOf" srcId="{8A7A17DD-4D7A-814E-85C2-91CC1E937036}" destId="{4EC51E50-B07B-D24B-8E0B-38557FFA5CF5}" srcOrd="1" destOrd="0" presId="urn:microsoft.com/office/officeart/2005/8/layout/orgChart1"/>
    <dgm:cxn modelId="{EDEB41EA-80ED-AB4B-83DA-383DCAD913A0}" type="presParOf" srcId="{8A7A17DD-4D7A-814E-85C2-91CC1E937036}" destId="{C5E5BD1A-557C-8A4A-AF0B-AB71FE3650A3}" srcOrd="2" destOrd="0" presId="urn:microsoft.com/office/officeart/2005/8/layout/orgChart1"/>
    <dgm:cxn modelId="{95139FE6-3A46-AE42-AD37-A51F765D0F7C}" type="presParOf" srcId="{FC2868AC-3E56-5E42-96EF-6FDDC2334085}" destId="{EF0C37EC-E976-704E-A890-85D613DA0BBA}" srcOrd="2" destOrd="0" presId="urn:microsoft.com/office/officeart/2005/8/layout/orgChart1"/>
    <dgm:cxn modelId="{E14FE366-5944-D541-994A-77F1C88D75B7}" type="presParOf" srcId="{B1FE4FAE-E838-2C4B-95D7-B1DC7BF4FEAF}" destId="{BF430CED-065E-8C45-BDB6-4C919C066FF9}" srcOrd="2" destOrd="0" presId="urn:microsoft.com/office/officeart/2005/8/layout/orgChart1"/>
    <dgm:cxn modelId="{4178481E-6C5D-3746-B4BA-EDB0387DE604}" type="presParOf" srcId="{B1FE4FAE-E838-2C4B-95D7-B1DC7BF4FEAF}" destId="{9E62F238-B8E8-404A-94EA-E66667F40F8D}" srcOrd="3" destOrd="0" presId="urn:microsoft.com/office/officeart/2005/8/layout/orgChart1"/>
    <dgm:cxn modelId="{8164E8D7-18B5-6D4F-A7D1-EC5586F4A224}" type="presParOf" srcId="{9E62F238-B8E8-404A-94EA-E66667F40F8D}" destId="{E5489116-867D-6542-934B-238C23A71D1A}" srcOrd="0" destOrd="0" presId="urn:microsoft.com/office/officeart/2005/8/layout/orgChart1"/>
    <dgm:cxn modelId="{A212F37E-2CC7-5F45-8F62-C7FFD2841CA0}" type="presParOf" srcId="{E5489116-867D-6542-934B-238C23A71D1A}" destId="{A41CDCCE-5820-974B-B5AC-5FEA334038AF}" srcOrd="0" destOrd="0" presId="urn:microsoft.com/office/officeart/2005/8/layout/orgChart1"/>
    <dgm:cxn modelId="{68E0A0F0-8A83-7441-BF2D-C87A853BD3EA}" type="presParOf" srcId="{E5489116-867D-6542-934B-238C23A71D1A}" destId="{96969066-BA84-D34A-8AC4-0D67CDF97A04}" srcOrd="1" destOrd="0" presId="urn:microsoft.com/office/officeart/2005/8/layout/orgChart1"/>
    <dgm:cxn modelId="{72C7062D-E08B-074B-AA25-5B4DF978468E}" type="presParOf" srcId="{9E62F238-B8E8-404A-94EA-E66667F40F8D}" destId="{0C5715B8-EC6F-2A4E-A59C-29BB1E0CA2C1}" srcOrd="1" destOrd="0" presId="urn:microsoft.com/office/officeart/2005/8/layout/orgChart1"/>
    <dgm:cxn modelId="{B0D2DCA0-B7D5-C843-AC9D-941B407D246C}" type="presParOf" srcId="{0C5715B8-EC6F-2A4E-A59C-29BB1E0CA2C1}" destId="{E410F00E-3612-AD46-A2D9-45D9A3FE026B}" srcOrd="0" destOrd="0" presId="urn:microsoft.com/office/officeart/2005/8/layout/orgChart1"/>
    <dgm:cxn modelId="{564380AF-93D6-F746-B961-892B84E6C143}" type="presParOf" srcId="{0C5715B8-EC6F-2A4E-A59C-29BB1E0CA2C1}" destId="{1ED357BB-534D-4341-A08E-EB17DCF5C1CA}" srcOrd="1" destOrd="0" presId="urn:microsoft.com/office/officeart/2005/8/layout/orgChart1"/>
    <dgm:cxn modelId="{3E9F1C3F-E0D6-BC43-BF3D-FE3678FDE367}" type="presParOf" srcId="{1ED357BB-534D-4341-A08E-EB17DCF5C1CA}" destId="{7C6512A0-62B4-BA4F-9F90-4CD766993934}" srcOrd="0" destOrd="0" presId="urn:microsoft.com/office/officeart/2005/8/layout/orgChart1"/>
    <dgm:cxn modelId="{2C328F81-2726-BD49-B011-562DBE91AD78}" type="presParOf" srcId="{7C6512A0-62B4-BA4F-9F90-4CD766993934}" destId="{C381137C-22B5-AE43-8F59-C6D9602E5B1E}" srcOrd="0" destOrd="0" presId="urn:microsoft.com/office/officeart/2005/8/layout/orgChart1"/>
    <dgm:cxn modelId="{1C89CB01-AED8-6E45-8FDD-E08960DFA13B}" type="presParOf" srcId="{7C6512A0-62B4-BA4F-9F90-4CD766993934}" destId="{C45D697D-3CA5-D543-81B0-06729CA157E0}" srcOrd="1" destOrd="0" presId="urn:microsoft.com/office/officeart/2005/8/layout/orgChart1"/>
    <dgm:cxn modelId="{2DB8ACD0-556F-C34E-B1D7-5E7F837F10F9}" type="presParOf" srcId="{1ED357BB-534D-4341-A08E-EB17DCF5C1CA}" destId="{1271BAC6-E97E-BE4E-8D77-93CC95989121}" srcOrd="1" destOrd="0" presId="urn:microsoft.com/office/officeart/2005/8/layout/orgChart1"/>
    <dgm:cxn modelId="{E2C9AA3D-A712-4E42-A850-139AF4007A59}" type="presParOf" srcId="{1ED357BB-534D-4341-A08E-EB17DCF5C1CA}" destId="{9F8F4EEC-8250-2F4F-B478-40DC542D9B87}" srcOrd="2" destOrd="0" presId="urn:microsoft.com/office/officeart/2005/8/layout/orgChart1"/>
    <dgm:cxn modelId="{D0EE6F1A-3042-964B-AE2D-B4B8D1E6D932}" type="presParOf" srcId="{9E62F238-B8E8-404A-94EA-E66667F40F8D}" destId="{3EA3C239-E087-F240-89D7-9B5CAD83ABB5}" srcOrd="2" destOrd="0" presId="urn:microsoft.com/office/officeart/2005/8/layout/orgChart1"/>
    <dgm:cxn modelId="{B532F78E-DCB6-F647-B7A4-3B0E6A2658A1}" type="presParOf" srcId="{B1FE4FAE-E838-2C4B-95D7-B1DC7BF4FEAF}" destId="{484E0472-14EB-FA4A-A3C6-FC37D06024D5}" srcOrd="4" destOrd="0" presId="urn:microsoft.com/office/officeart/2005/8/layout/orgChart1"/>
    <dgm:cxn modelId="{A1E70E9C-878E-CC40-9F9D-39DDC3854C68}" type="presParOf" srcId="{B1FE4FAE-E838-2C4B-95D7-B1DC7BF4FEAF}" destId="{7794AF42-8636-514B-BA8A-AE26BA320A87}" srcOrd="5" destOrd="0" presId="urn:microsoft.com/office/officeart/2005/8/layout/orgChart1"/>
    <dgm:cxn modelId="{4128C2DA-AD1A-A545-A08A-11EFE0189B13}" type="presParOf" srcId="{7794AF42-8636-514B-BA8A-AE26BA320A87}" destId="{5A308836-2F90-D24E-891E-437244DB6005}" srcOrd="0" destOrd="0" presId="urn:microsoft.com/office/officeart/2005/8/layout/orgChart1"/>
    <dgm:cxn modelId="{EE0ABA1E-85ED-3F4D-BDBB-1268DF69AA3F}" type="presParOf" srcId="{5A308836-2F90-D24E-891E-437244DB6005}" destId="{E8F8D823-81EE-8A44-A0E5-1869A0776130}" srcOrd="0" destOrd="0" presId="urn:microsoft.com/office/officeart/2005/8/layout/orgChart1"/>
    <dgm:cxn modelId="{0ED4477E-8D2F-7043-8448-C87CB0C8A627}" type="presParOf" srcId="{5A308836-2F90-D24E-891E-437244DB6005}" destId="{C2C096E8-8226-094A-AFEC-17D823E37D41}" srcOrd="1" destOrd="0" presId="urn:microsoft.com/office/officeart/2005/8/layout/orgChart1"/>
    <dgm:cxn modelId="{8EB349CA-C980-3543-A77C-31E73D8C366F}" type="presParOf" srcId="{7794AF42-8636-514B-BA8A-AE26BA320A87}" destId="{57E4CE0B-A7FF-444C-AAD6-DEF4ACD1C12C}" srcOrd="1" destOrd="0" presId="urn:microsoft.com/office/officeart/2005/8/layout/orgChart1"/>
    <dgm:cxn modelId="{3B19DE3E-3E45-9149-91A9-07EE927777AF}" type="presParOf" srcId="{57E4CE0B-A7FF-444C-AAD6-DEF4ACD1C12C}" destId="{344E5A90-BB4D-BA43-B4B4-B94D356B659C}" srcOrd="0" destOrd="0" presId="urn:microsoft.com/office/officeart/2005/8/layout/orgChart1"/>
    <dgm:cxn modelId="{190F37FF-6E59-5644-B9CE-1D349CE511EA}" type="presParOf" srcId="{57E4CE0B-A7FF-444C-AAD6-DEF4ACD1C12C}" destId="{0A55B03A-A284-4941-928F-AFE6A6C6B395}" srcOrd="1" destOrd="0" presId="urn:microsoft.com/office/officeart/2005/8/layout/orgChart1"/>
    <dgm:cxn modelId="{7C43B1D9-5EFE-B349-BB61-C325FE02ABFA}" type="presParOf" srcId="{0A55B03A-A284-4941-928F-AFE6A6C6B395}" destId="{BC62A68D-EE76-7947-912E-D47BFDA895A7}" srcOrd="0" destOrd="0" presId="urn:microsoft.com/office/officeart/2005/8/layout/orgChart1"/>
    <dgm:cxn modelId="{6F0B0558-2ADA-554D-9026-814D6177FBB6}" type="presParOf" srcId="{BC62A68D-EE76-7947-912E-D47BFDA895A7}" destId="{F339D308-30A9-C94C-8532-7BE79BF2C9EF}" srcOrd="0" destOrd="0" presId="urn:microsoft.com/office/officeart/2005/8/layout/orgChart1"/>
    <dgm:cxn modelId="{3EC68D79-84E8-F346-B5AB-5E1678558442}" type="presParOf" srcId="{BC62A68D-EE76-7947-912E-D47BFDA895A7}" destId="{6F1DE565-E876-5948-9036-0B6856E827BE}" srcOrd="1" destOrd="0" presId="urn:microsoft.com/office/officeart/2005/8/layout/orgChart1"/>
    <dgm:cxn modelId="{8902BFB1-8D59-6A4B-A973-45D839EF7BEA}" type="presParOf" srcId="{0A55B03A-A284-4941-928F-AFE6A6C6B395}" destId="{63FB3606-1DE9-844B-9A84-148484942BBA}" srcOrd="1" destOrd="0" presId="urn:microsoft.com/office/officeart/2005/8/layout/orgChart1"/>
    <dgm:cxn modelId="{D5C54C0B-3386-CC42-9DE4-E290CB01D2F3}" type="presParOf" srcId="{0A55B03A-A284-4941-928F-AFE6A6C6B395}" destId="{1EDC5456-2DF3-0B4F-A17D-47C561C657AE}" srcOrd="2" destOrd="0" presId="urn:microsoft.com/office/officeart/2005/8/layout/orgChart1"/>
    <dgm:cxn modelId="{3EDB6D86-A172-E84D-AC7E-E4211A00419A}" type="presParOf" srcId="{7794AF42-8636-514B-BA8A-AE26BA320A87}" destId="{9F5E3C94-E55D-7E44-BE87-88C91ABD117E}" srcOrd="2" destOrd="0" presId="urn:microsoft.com/office/officeart/2005/8/layout/orgChart1"/>
    <dgm:cxn modelId="{F688DCD8-5F3A-4149-88B2-0E3F9A7E1880}" type="presParOf" srcId="{7EAB2FF3-2D32-7C45-9A4B-0A4325B26FC5}" destId="{DAD6A857-E8A5-954B-9DEC-31D193EA122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51E21CC-8D01-D34D-B74D-881C7CA3510B}" type="doc">
      <dgm:prSet loTypeId="urn:microsoft.com/office/officeart/2005/8/layout/hierarchy6" loCatId="" qsTypeId="urn:microsoft.com/office/officeart/2005/8/quickstyle/simple2" qsCatId="simple" csTypeId="urn:microsoft.com/office/officeart/2005/8/colors/colorful3" csCatId="colorful" phldr="1"/>
      <dgm:spPr/>
      <dgm:t>
        <a:bodyPr/>
        <a:lstStyle/>
        <a:p>
          <a:endParaRPr lang="en-US"/>
        </a:p>
      </dgm:t>
    </dgm:pt>
    <dgm:pt modelId="{4A3DD03A-058A-2D4E-A49E-A94D92E0221D}">
      <dgm:prSet phldrT="[Text]" custT="1"/>
      <dgm:spPr>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dgm:spPr>
      <dgm:t>
        <a:bodyPr/>
        <a:lstStyle/>
        <a:p>
          <a:r>
            <a:rPr lang="en-US" sz="2600" dirty="0"/>
            <a:t>Machine learning</a:t>
          </a:r>
        </a:p>
      </dgm:t>
    </dgm:pt>
    <dgm:pt modelId="{3D7EB8FF-53B1-794D-809B-5487759217D1}" type="parTrans" cxnId="{9830F670-781F-2846-839E-72B2946BF28C}">
      <dgm:prSet/>
      <dgm:spPr/>
      <dgm:t>
        <a:bodyPr/>
        <a:lstStyle/>
        <a:p>
          <a:endParaRPr lang="en-US" sz="2600"/>
        </a:p>
      </dgm:t>
    </dgm:pt>
    <dgm:pt modelId="{F49CA39E-1A08-B24D-8E32-7B92620202B1}" type="sibTrans" cxnId="{9830F670-781F-2846-839E-72B2946BF28C}">
      <dgm:prSet/>
      <dgm:spPr/>
      <dgm:t>
        <a:bodyPr/>
        <a:lstStyle/>
        <a:p>
          <a:endParaRPr lang="en-US" sz="2600"/>
        </a:p>
      </dgm:t>
    </dgm:pt>
    <dgm:pt modelId="{CA18C42E-92A5-664D-A61F-DDC0A910B2EB}">
      <dgm:prSet phldrT="[Text]" custT="1"/>
      <dgm:spPr>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dgm:spPr>
      <dgm:t>
        <a:bodyPr/>
        <a:lstStyle/>
        <a:p>
          <a:r>
            <a:rPr lang="en-ZA" sz="2600" b="0" dirty="0"/>
            <a:t>discriminative</a:t>
          </a:r>
          <a:endParaRPr lang="en-US" sz="2600" dirty="0">
            <a:solidFill>
              <a:schemeClr val="bg1"/>
            </a:solidFill>
          </a:endParaRPr>
        </a:p>
      </dgm:t>
    </dgm:pt>
    <dgm:pt modelId="{19162BB5-5EC5-6C42-A12A-803F65E2FAB1}" type="parTrans" cxnId="{C815CD5B-9AA2-874E-A4DA-B858B3076E01}">
      <dgm:prSet/>
      <dgm:spPr/>
      <dgm:t>
        <a:bodyPr/>
        <a:lstStyle/>
        <a:p>
          <a:endParaRPr lang="en-US" sz="2600"/>
        </a:p>
      </dgm:t>
    </dgm:pt>
    <dgm:pt modelId="{C5297F5B-B0E0-F949-BFFE-090BDEDB59B8}" type="sibTrans" cxnId="{C815CD5B-9AA2-874E-A4DA-B858B3076E01}">
      <dgm:prSet/>
      <dgm:spPr/>
      <dgm:t>
        <a:bodyPr/>
        <a:lstStyle/>
        <a:p>
          <a:endParaRPr lang="en-US" sz="2600"/>
        </a:p>
      </dgm:t>
    </dgm:pt>
    <dgm:pt modelId="{4C284F20-41DA-1F44-BCB0-7C2CCF0851A0}">
      <dgm:prSet phldrT="[Text]" custT="1"/>
      <dgm:sp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dgm:spPr>
      <dgm:t>
        <a:bodyPr/>
        <a:lstStyle/>
        <a:p>
          <a:r>
            <a:rPr lang="en-ZA" sz="2600" b="0" dirty="0"/>
            <a:t>generative</a:t>
          </a:r>
          <a:endParaRPr lang="en-US" sz="2600" dirty="0">
            <a:solidFill>
              <a:schemeClr val="bg1"/>
            </a:solidFill>
          </a:endParaRPr>
        </a:p>
      </dgm:t>
    </dgm:pt>
    <dgm:pt modelId="{746BB8F1-764F-E04A-8D16-28A341B721F3}" type="parTrans" cxnId="{1ACA0CC8-484D-6E4A-AEAB-E3161073A452}">
      <dgm:prSet/>
      <dgm:spPr/>
      <dgm:t>
        <a:bodyPr/>
        <a:lstStyle/>
        <a:p>
          <a:endParaRPr lang="en-US" sz="2600"/>
        </a:p>
      </dgm:t>
    </dgm:pt>
    <dgm:pt modelId="{2DAD1950-A7F9-BF41-950C-DAE2753D548C}" type="sibTrans" cxnId="{1ACA0CC8-484D-6E4A-AEAB-E3161073A452}">
      <dgm:prSet/>
      <dgm:spPr/>
      <dgm:t>
        <a:bodyPr/>
        <a:lstStyle/>
        <a:p>
          <a:endParaRPr lang="en-US" sz="2600"/>
        </a:p>
      </dgm:t>
    </dgm:pt>
    <dgm:pt modelId="{43257B9D-68F8-F24A-8504-0A9230E1C0DF}" type="pres">
      <dgm:prSet presAssocID="{951E21CC-8D01-D34D-B74D-881C7CA3510B}" presName="mainComposite" presStyleCnt="0">
        <dgm:presLayoutVars>
          <dgm:chPref val="1"/>
          <dgm:dir/>
          <dgm:animOne val="branch"/>
          <dgm:animLvl val="lvl"/>
          <dgm:resizeHandles val="exact"/>
        </dgm:presLayoutVars>
      </dgm:prSet>
      <dgm:spPr/>
    </dgm:pt>
    <dgm:pt modelId="{2D77069D-2941-9D40-AC52-B90D2739C15C}" type="pres">
      <dgm:prSet presAssocID="{951E21CC-8D01-D34D-B74D-881C7CA3510B}" presName="hierFlow" presStyleCnt="0"/>
      <dgm:spPr/>
    </dgm:pt>
    <dgm:pt modelId="{DDF5349F-466B-884C-98A1-468480531B2A}" type="pres">
      <dgm:prSet presAssocID="{951E21CC-8D01-D34D-B74D-881C7CA3510B}" presName="hierChild1" presStyleCnt="0">
        <dgm:presLayoutVars>
          <dgm:chPref val="1"/>
          <dgm:animOne val="branch"/>
          <dgm:animLvl val="lvl"/>
        </dgm:presLayoutVars>
      </dgm:prSet>
      <dgm:spPr/>
    </dgm:pt>
    <dgm:pt modelId="{644240C7-6C79-B24A-9E30-FCEF4413DB1F}" type="pres">
      <dgm:prSet presAssocID="{4A3DD03A-058A-2D4E-A49E-A94D92E0221D}" presName="Name14" presStyleCnt="0"/>
      <dgm:spPr/>
    </dgm:pt>
    <dgm:pt modelId="{04CAE12B-0E14-2243-8391-E8BBF076BE08}" type="pres">
      <dgm:prSet presAssocID="{4A3DD03A-058A-2D4E-A49E-A94D92E0221D}" presName="level1Shape" presStyleLbl="node0" presStyleIdx="0" presStyleCnt="1" custScaleX="156717" custScaleY="66586">
        <dgm:presLayoutVars>
          <dgm:chPref val="3"/>
        </dgm:presLayoutVars>
      </dgm:prSet>
      <dgm:spPr/>
    </dgm:pt>
    <dgm:pt modelId="{80592FDF-63CC-F347-AB56-5C9FC9C40504}" type="pres">
      <dgm:prSet presAssocID="{4A3DD03A-058A-2D4E-A49E-A94D92E0221D}" presName="hierChild2" presStyleCnt="0"/>
      <dgm:spPr/>
    </dgm:pt>
    <dgm:pt modelId="{5BB2DC0D-8143-4544-9466-AC6A095C67BB}" type="pres">
      <dgm:prSet presAssocID="{19162BB5-5EC5-6C42-A12A-803F65E2FAB1}" presName="Name19" presStyleLbl="parChTrans1D2" presStyleIdx="0" presStyleCnt="2"/>
      <dgm:spPr/>
    </dgm:pt>
    <dgm:pt modelId="{D153B2D9-5B77-024A-A0DB-A19904FD219B}" type="pres">
      <dgm:prSet presAssocID="{CA18C42E-92A5-664D-A61F-DDC0A910B2EB}" presName="Name21" presStyleCnt="0"/>
      <dgm:spPr/>
    </dgm:pt>
    <dgm:pt modelId="{7F4467A5-A352-4046-914E-301145D2990A}" type="pres">
      <dgm:prSet presAssocID="{CA18C42E-92A5-664D-A61F-DDC0A910B2EB}" presName="level2Shape" presStyleLbl="node2" presStyleIdx="0" presStyleCnt="2" custScaleX="179622" custScaleY="66558" custLinFactNeighborX="-2129" custLinFactNeighborY="21217"/>
      <dgm:spPr/>
    </dgm:pt>
    <dgm:pt modelId="{E32C62CF-DF7E-8542-8C46-4CEEA8E39CB5}" type="pres">
      <dgm:prSet presAssocID="{CA18C42E-92A5-664D-A61F-DDC0A910B2EB}" presName="hierChild3" presStyleCnt="0"/>
      <dgm:spPr/>
    </dgm:pt>
    <dgm:pt modelId="{B39955B6-8BFE-3047-B511-F11C4A356E65}" type="pres">
      <dgm:prSet presAssocID="{746BB8F1-764F-E04A-8D16-28A341B721F3}" presName="Name19" presStyleLbl="parChTrans1D2" presStyleIdx="1" presStyleCnt="2"/>
      <dgm:spPr/>
    </dgm:pt>
    <dgm:pt modelId="{6865BB1C-C0F0-B74F-A938-10E94D109CB2}" type="pres">
      <dgm:prSet presAssocID="{4C284F20-41DA-1F44-BCB0-7C2CCF0851A0}" presName="Name21" presStyleCnt="0"/>
      <dgm:spPr/>
    </dgm:pt>
    <dgm:pt modelId="{3CF18186-A00C-EA4C-AD74-2F51448A9447}" type="pres">
      <dgm:prSet presAssocID="{4C284F20-41DA-1F44-BCB0-7C2CCF0851A0}" presName="level2Shape" presStyleLbl="node2" presStyleIdx="1" presStyleCnt="2" custScaleX="179622" custScaleY="67620" custLinFactNeighborX="-1437" custLinFactNeighborY="22239"/>
      <dgm:spPr/>
    </dgm:pt>
    <dgm:pt modelId="{1130C09A-386F-BA4C-B2E0-6B109308BC4C}" type="pres">
      <dgm:prSet presAssocID="{4C284F20-41DA-1F44-BCB0-7C2CCF0851A0}" presName="hierChild3" presStyleCnt="0"/>
      <dgm:spPr/>
    </dgm:pt>
    <dgm:pt modelId="{7DDF6841-DF77-4D4F-8EE4-A92E730A29F7}" type="pres">
      <dgm:prSet presAssocID="{951E21CC-8D01-D34D-B74D-881C7CA3510B}" presName="bgShapesFlow" presStyleCnt="0"/>
      <dgm:spPr/>
    </dgm:pt>
  </dgm:ptLst>
  <dgm:cxnLst>
    <dgm:cxn modelId="{8F9F9925-3EC1-F841-B31B-C627CFBDC808}" type="presOf" srcId="{4C284F20-41DA-1F44-BCB0-7C2CCF0851A0}" destId="{3CF18186-A00C-EA4C-AD74-2F51448A9447}" srcOrd="0" destOrd="0" presId="urn:microsoft.com/office/officeart/2005/8/layout/hierarchy6"/>
    <dgm:cxn modelId="{C815CD5B-9AA2-874E-A4DA-B858B3076E01}" srcId="{4A3DD03A-058A-2D4E-A49E-A94D92E0221D}" destId="{CA18C42E-92A5-664D-A61F-DDC0A910B2EB}" srcOrd="0" destOrd="0" parTransId="{19162BB5-5EC5-6C42-A12A-803F65E2FAB1}" sibTransId="{C5297F5B-B0E0-F949-BFFE-090BDEDB59B8}"/>
    <dgm:cxn modelId="{9830F670-781F-2846-839E-72B2946BF28C}" srcId="{951E21CC-8D01-D34D-B74D-881C7CA3510B}" destId="{4A3DD03A-058A-2D4E-A49E-A94D92E0221D}" srcOrd="0" destOrd="0" parTransId="{3D7EB8FF-53B1-794D-809B-5487759217D1}" sibTransId="{F49CA39E-1A08-B24D-8E32-7B92620202B1}"/>
    <dgm:cxn modelId="{BBD0BE99-BC47-C441-89AB-81852CDC63FB}" type="presOf" srcId="{19162BB5-5EC5-6C42-A12A-803F65E2FAB1}" destId="{5BB2DC0D-8143-4544-9466-AC6A095C67BB}" srcOrd="0" destOrd="0" presId="urn:microsoft.com/office/officeart/2005/8/layout/hierarchy6"/>
    <dgm:cxn modelId="{1ACA0CC8-484D-6E4A-AEAB-E3161073A452}" srcId="{4A3DD03A-058A-2D4E-A49E-A94D92E0221D}" destId="{4C284F20-41DA-1F44-BCB0-7C2CCF0851A0}" srcOrd="1" destOrd="0" parTransId="{746BB8F1-764F-E04A-8D16-28A341B721F3}" sibTransId="{2DAD1950-A7F9-BF41-950C-DAE2753D548C}"/>
    <dgm:cxn modelId="{D718AFD7-EDBA-3740-B620-5E6B982F0BE2}" type="presOf" srcId="{951E21CC-8D01-D34D-B74D-881C7CA3510B}" destId="{43257B9D-68F8-F24A-8504-0A9230E1C0DF}" srcOrd="0" destOrd="0" presId="urn:microsoft.com/office/officeart/2005/8/layout/hierarchy6"/>
    <dgm:cxn modelId="{158D28E8-CFAA-C64C-82CB-6338DB6B15CE}" type="presOf" srcId="{CA18C42E-92A5-664D-A61F-DDC0A910B2EB}" destId="{7F4467A5-A352-4046-914E-301145D2990A}" srcOrd="0" destOrd="0" presId="urn:microsoft.com/office/officeart/2005/8/layout/hierarchy6"/>
    <dgm:cxn modelId="{00436CEE-4BCA-684E-9B18-375719A1DD04}" type="presOf" srcId="{746BB8F1-764F-E04A-8D16-28A341B721F3}" destId="{B39955B6-8BFE-3047-B511-F11C4A356E65}" srcOrd="0" destOrd="0" presId="urn:microsoft.com/office/officeart/2005/8/layout/hierarchy6"/>
    <dgm:cxn modelId="{55A936F0-AA87-E245-A88E-E674A5B26480}" type="presOf" srcId="{4A3DD03A-058A-2D4E-A49E-A94D92E0221D}" destId="{04CAE12B-0E14-2243-8391-E8BBF076BE08}" srcOrd="0" destOrd="0" presId="urn:microsoft.com/office/officeart/2005/8/layout/hierarchy6"/>
    <dgm:cxn modelId="{C0212822-054C-DC4B-945F-3732EB4E5993}" type="presParOf" srcId="{43257B9D-68F8-F24A-8504-0A9230E1C0DF}" destId="{2D77069D-2941-9D40-AC52-B90D2739C15C}" srcOrd="0" destOrd="0" presId="urn:microsoft.com/office/officeart/2005/8/layout/hierarchy6"/>
    <dgm:cxn modelId="{EC78475A-5A3E-484C-B6ED-D2A0B88A8BD5}" type="presParOf" srcId="{2D77069D-2941-9D40-AC52-B90D2739C15C}" destId="{DDF5349F-466B-884C-98A1-468480531B2A}" srcOrd="0" destOrd="0" presId="urn:microsoft.com/office/officeart/2005/8/layout/hierarchy6"/>
    <dgm:cxn modelId="{8DB033B0-5A33-2342-A0E2-898E53395660}" type="presParOf" srcId="{DDF5349F-466B-884C-98A1-468480531B2A}" destId="{644240C7-6C79-B24A-9E30-FCEF4413DB1F}" srcOrd="0" destOrd="0" presId="urn:microsoft.com/office/officeart/2005/8/layout/hierarchy6"/>
    <dgm:cxn modelId="{1536F8D9-3BDF-2441-BB43-62AFCA84A460}" type="presParOf" srcId="{644240C7-6C79-B24A-9E30-FCEF4413DB1F}" destId="{04CAE12B-0E14-2243-8391-E8BBF076BE08}" srcOrd="0" destOrd="0" presId="urn:microsoft.com/office/officeart/2005/8/layout/hierarchy6"/>
    <dgm:cxn modelId="{471DC770-ECFF-FC4F-B2B6-7DE4345019B8}" type="presParOf" srcId="{644240C7-6C79-B24A-9E30-FCEF4413DB1F}" destId="{80592FDF-63CC-F347-AB56-5C9FC9C40504}" srcOrd="1" destOrd="0" presId="urn:microsoft.com/office/officeart/2005/8/layout/hierarchy6"/>
    <dgm:cxn modelId="{A5533C62-BA98-1C46-811A-DC2659EFC1C6}" type="presParOf" srcId="{80592FDF-63CC-F347-AB56-5C9FC9C40504}" destId="{5BB2DC0D-8143-4544-9466-AC6A095C67BB}" srcOrd="0" destOrd="0" presId="urn:microsoft.com/office/officeart/2005/8/layout/hierarchy6"/>
    <dgm:cxn modelId="{B3A059B3-1F8F-CF49-B85A-6C51046B572B}" type="presParOf" srcId="{80592FDF-63CC-F347-AB56-5C9FC9C40504}" destId="{D153B2D9-5B77-024A-A0DB-A19904FD219B}" srcOrd="1" destOrd="0" presId="urn:microsoft.com/office/officeart/2005/8/layout/hierarchy6"/>
    <dgm:cxn modelId="{C46B3E69-D750-5F40-8EC7-E51B3FF2D425}" type="presParOf" srcId="{D153B2D9-5B77-024A-A0DB-A19904FD219B}" destId="{7F4467A5-A352-4046-914E-301145D2990A}" srcOrd="0" destOrd="0" presId="urn:microsoft.com/office/officeart/2005/8/layout/hierarchy6"/>
    <dgm:cxn modelId="{FBA1B491-2C8E-1843-98B2-5C8E8E100BFB}" type="presParOf" srcId="{D153B2D9-5B77-024A-A0DB-A19904FD219B}" destId="{E32C62CF-DF7E-8542-8C46-4CEEA8E39CB5}" srcOrd="1" destOrd="0" presId="urn:microsoft.com/office/officeart/2005/8/layout/hierarchy6"/>
    <dgm:cxn modelId="{3195CF50-AFB6-C44C-AEFE-4055C82EC541}" type="presParOf" srcId="{80592FDF-63CC-F347-AB56-5C9FC9C40504}" destId="{B39955B6-8BFE-3047-B511-F11C4A356E65}" srcOrd="2" destOrd="0" presId="urn:microsoft.com/office/officeart/2005/8/layout/hierarchy6"/>
    <dgm:cxn modelId="{F10B7B0C-AA17-1543-A8ED-6DBE37AE8C68}" type="presParOf" srcId="{80592FDF-63CC-F347-AB56-5C9FC9C40504}" destId="{6865BB1C-C0F0-B74F-A938-10E94D109CB2}" srcOrd="3" destOrd="0" presId="urn:microsoft.com/office/officeart/2005/8/layout/hierarchy6"/>
    <dgm:cxn modelId="{DAC3FD04-B5AF-0C4B-881C-B66FF9F24FF3}" type="presParOf" srcId="{6865BB1C-C0F0-B74F-A938-10E94D109CB2}" destId="{3CF18186-A00C-EA4C-AD74-2F51448A9447}" srcOrd="0" destOrd="0" presId="urn:microsoft.com/office/officeart/2005/8/layout/hierarchy6"/>
    <dgm:cxn modelId="{D95CACB0-9B39-1C4E-9228-D410CA52B37E}" type="presParOf" srcId="{6865BB1C-C0F0-B74F-A938-10E94D109CB2}" destId="{1130C09A-386F-BA4C-B2E0-6B109308BC4C}" srcOrd="1" destOrd="0" presId="urn:microsoft.com/office/officeart/2005/8/layout/hierarchy6"/>
    <dgm:cxn modelId="{CF7755E0-CDED-474F-93E1-2457E0CE72FB}" type="presParOf" srcId="{43257B9D-68F8-F24A-8504-0A9230E1C0DF}" destId="{7DDF6841-DF77-4D4F-8EE4-A92E730A29F7}"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934845-D5AE-074B-9B03-390BDAB8DDD5}" type="doc">
      <dgm:prSet loTypeId="urn:microsoft.com/office/officeart/2005/8/layout/process1" loCatId="" qsTypeId="urn:microsoft.com/office/officeart/2005/8/quickstyle/simple1" qsCatId="simple" csTypeId="urn:microsoft.com/office/officeart/2005/8/colors/colorful4" csCatId="colorful" phldr="1"/>
      <dgm:spPr/>
    </dgm:pt>
    <dgm:pt modelId="{E75680F1-81CD-2944-865F-69C3F3799CA0}">
      <dgm:prSet phldrT="[Text]" custT="1"/>
      <dgm:spPr/>
      <dgm:t>
        <a:bodyPr/>
        <a:lstStyle/>
        <a:p>
          <a:r>
            <a:rPr lang="en-US" sz="2300" dirty="0">
              <a:solidFill>
                <a:schemeClr val="tx1"/>
              </a:solidFill>
            </a:rPr>
            <a:t>processing</a:t>
          </a:r>
        </a:p>
      </dgm:t>
    </dgm:pt>
    <dgm:pt modelId="{E7840EFB-9969-EC4F-8F28-800FA8F448D8}" type="parTrans" cxnId="{DD4637E0-C18A-994C-A41D-B00A18AE3EB3}">
      <dgm:prSet/>
      <dgm:spPr/>
      <dgm:t>
        <a:bodyPr/>
        <a:lstStyle/>
        <a:p>
          <a:endParaRPr lang="en-US">
            <a:solidFill>
              <a:schemeClr val="tx1"/>
            </a:solidFill>
          </a:endParaRPr>
        </a:p>
      </dgm:t>
    </dgm:pt>
    <dgm:pt modelId="{3C4D0297-2DF4-CA4A-BF6A-CF75A41D59F9}" type="sibTrans" cxnId="{DD4637E0-C18A-994C-A41D-B00A18AE3EB3}">
      <dgm:prSet/>
      <dgm:spPr/>
      <dgm:t>
        <a:bodyPr/>
        <a:lstStyle/>
        <a:p>
          <a:endParaRPr lang="en-US">
            <a:solidFill>
              <a:schemeClr val="tx1"/>
            </a:solidFill>
          </a:endParaRPr>
        </a:p>
      </dgm:t>
    </dgm:pt>
    <dgm:pt modelId="{8E932C85-1F30-4B45-BDE3-9F219BC2E1B0}">
      <dgm:prSet phldrT="[Text]" custT="1"/>
      <dgm:spPr/>
      <dgm:t>
        <a:bodyPr/>
        <a:lstStyle/>
        <a:p>
          <a:r>
            <a:rPr lang="en-US" sz="2300" dirty="0">
              <a:solidFill>
                <a:schemeClr val="tx1"/>
              </a:solidFill>
            </a:rPr>
            <a:t>measurement</a:t>
          </a:r>
        </a:p>
      </dgm:t>
    </dgm:pt>
    <dgm:pt modelId="{6B47973B-4DA2-C44C-82D8-271C0AA2484E}" type="parTrans" cxnId="{6B5881F1-88D6-6949-9BC6-3092BC5E9AF7}">
      <dgm:prSet/>
      <dgm:spPr/>
      <dgm:t>
        <a:bodyPr/>
        <a:lstStyle/>
        <a:p>
          <a:endParaRPr lang="en-US">
            <a:solidFill>
              <a:schemeClr val="tx1"/>
            </a:solidFill>
          </a:endParaRPr>
        </a:p>
      </dgm:t>
    </dgm:pt>
    <dgm:pt modelId="{737D0661-2B80-564E-B841-5200624A824E}" type="sibTrans" cxnId="{6B5881F1-88D6-6949-9BC6-3092BC5E9AF7}">
      <dgm:prSet/>
      <dgm:spPr/>
      <dgm:t>
        <a:bodyPr/>
        <a:lstStyle/>
        <a:p>
          <a:endParaRPr lang="en-US">
            <a:solidFill>
              <a:schemeClr val="tx1"/>
            </a:solidFill>
          </a:endParaRPr>
        </a:p>
      </dgm:t>
    </dgm:pt>
    <dgm:pt modelId="{F716B841-68E9-474F-87B7-7CA5351185E3}">
      <dgm:prSet phldrT="[Text]" custT="1"/>
      <dgm:spPr/>
      <dgm:t>
        <a:bodyPr/>
        <a:lstStyle/>
        <a:p>
          <a:r>
            <a:rPr lang="en-US" sz="2300" dirty="0">
              <a:solidFill>
                <a:schemeClr val="tx1"/>
              </a:solidFill>
            </a:rPr>
            <a:t>encoding</a:t>
          </a:r>
        </a:p>
      </dgm:t>
    </dgm:pt>
    <dgm:pt modelId="{268C3414-B3C2-D44A-A511-9B207DE78DC2}" type="parTrans" cxnId="{6CC64C1F-ED5B-C843-8AF6-618E715C056F}">
      <dgm:prSet/>
      <dgm:spPr/>
      <dgm:t>
        <a:bodyPr/>
        <a:lstStyle/>
        <a:p>
          <a:endParaRPr lang="en-US"/>
        </a:p>
      </dgm:t>
    </dgm:pt>
    <dgm:pt modelId="{A4D3BDC1-A34A-C04A-956D-056053A2C815}" type="sibTrans" cxnId="{6CC64C1F-ED5B-C843-8AF6-618E715C056F}">
      <dgm:prSet/>
      <dgm:spPr/>
      <dgm:t>
        <a:bodyPr/>
        <a:lstStyle/>
        <a:p>
          <a:endParaRPr lang="en-US"/>
        </a:p>
      </dgm:t>
    </dgm:pt>
    <dgm:pt modelId="{FCC4A185-7AD1-F648-A702-D7A00CF6E4DA}" type="pres">
      <dgm:prSet presAssocID="{83934845-D5AE-074B-9B03-390BDAB8DDD5}" presName="Name0" presStyleCnt="0">
        <dgm:presLayoutVars>
          <dgm:dir/>
          <dgm:resizeHandles val="exact"/>
        </dgm:presLayoutVars>
      </dgm:prSet>
      <dgm:spPr/>
    </dgm:pt>
    <dgm:pt modelId="{3562B6D8-A28F-A44F-9060-B6D7B59221CC}" type="pres">
      <dgm:prSet presAssocID="{F716B841-68E9-474F-87B7-7CA5351185E3}" presName="node" presStyleLbl="node1" presStyleIdx="0" presStyleCnt="3">
        <dgm:presLayoutVars>
          <dgm:bulletEnabled val="1"/>
        </dgm:presLayoutVars>
      </dgm:prSet>
      <dgm:spPr/>
    </dgm:pt>
    <dgm:pt modelId="{5169FEC3-8FEE-094A-B22F-836B8E694A3C}" type="pres">
      <dgm:prSet presAssocID="{A4D3BDC1-A34A-C04A-956D-056053A2C815}" presName="sibTrans" presStyleLbl="sibTrans2D1" presStyleIdx="0" presStyleCnt="2"/>
      <dgm:spPr/>
    </dgm:pt>
    <dgm:pt modelId="{D8300F6F-841C-664F-B221-D156A62EE78F}" type="pres">
      <dgm:prSet presAssocID="{A4D3BDC1-A34A-C04A-956D-056053A2C815}" presName="connectorText" presStyleLbl="sibTrans2D1" presStyleIdx="0" presStyleCnt="2"/>
      <dgm:spPr/>
    </dgm:pt>
    <dgm:pt modelId="{7AC60E6A-FC53-C740-9817-64E44E7DD0EB}" type="pres">
      <dgm:prSet presAssocID="{E75680F1-81CD-2944-865F-69C3F3799CA0}" presName="node" presStyleLbl="node1" presStyleIdx="1" presStyleCnt="3">
        <dgm:presLayoutVars>
          <dgm:bulletEnabled val="1"/>
        </dgm:presLayoutVars>
      </dgm:prSet>
      <dgm:spPr/>
    </dgm:pt>
    <dgm:pt modelId="{C5F9AFE8-4EE2-1D49-B6DD-57442C6B912D}" type="pres">
      <dgm:prSet presAssocID="{3C4D0297-2DF4-CA4A-BF6A-CF75A41D59F9}" presName="sibTrans" presStyleLbl="sibTrans2D1" presStyleIdx="1" presStyleCnt="2"/>
      <dgm:spPr/>
    </dgm:pt>
    <dgm:pt modelId="{DFD8F15A-1491-F54F-9570-2D9CAD30BF1F}" type="pres">
      <dgm:prSet presAssocID="{3C4D0297-2DF4-CA4A-BF6A-CF75A41D59F9}" presName="connectorText" presStyleLbl="sibTrans2D1" presStyleIdx="1" presStyleCnt="2"/>
      <dgm:spPr/>
    </dgm:pt>
    <dgm:pt modelId="{70D3FA2C-D3C2-1443-AE2C-0A322484A87D}" type="pres">
      <dgm:prSet presAssocID="{8E932C85-1F30-4B45-BDE3-9F219BC2E1B0}" presName="node" presStyleLbl="node1" presStyleIdx="2" presStyleCnt="3">
        <dgm:presLayoutVars>
          <dgm:bulletEnabled val="1"/>
        </dgm:presLayoutVars>
      </dgm:prSet>
      <dgm:spPr/>
    </dgm:pt>
  </dgm:ptLst>
  <dgm:cxnLst>
    <dgm:cxn modelId="{B1C10901-6C7B-0A45-A8F9-FC03D018BC07}" type="presOf" srcId="{E75680F1-81CD-2944-865F-69C3F3799CA0}" destId="{7AC60E6A-FC53-C740-9817-64E44E7DD0EB}" srcOrd="0" destOrd="0" presId="urn:microsoft.com/office/officeart/2005/8/layout/process1"/>
    <dgm:cxn modelId="{86472709-A2EA-2B49-BB98-4E1B24F08E25}" type="presOf" srcId="{8E932C85-1F30-4B45-BDE3-9F219BC2E1B0}" destId="{70D3FA2C-D3C2-1443-AE2C-0A322484A87D}" srcOrd="0" destOrd="0" presId="urn:microsoft.com/office/officeart/2005/8/layout/process1"/>
    <dgm:cxn modelId="{6CC64C1F-ED5B-C843-8AF6-618E715C056F}" srcId="{83934845-D5AE-074B-9B03-390BDAB8DDD5}" destId="{F716B841-68E9-474F-87B7-7CA5351185E3}" srcOrd="0" destOrd="0" parTransId="{268C3414-B3C2-D44A-A511-9B207DE78DC2}" sibTransId="{A4D3BDC1-A34A-C04A-956D-056053A2C815}"/>
    <dgm:cxn modelId="{3B52746D-6EF9-B649-A10A-8243CFBF6F85}" type="presOf" srcId="{F716B841-68E9-474F-87B7-7CA5351185E3}" destId="{3562B6D8-A28F-A44F-9060-B6D7B59221CC}" srcOrd="0" destOrd="0" presId="urn:microsoft.com/office/officeart/2005/8/layout/process1"/>
    <dgm:cxn modelId="{6517B26D-D589-4D45-8766-BAAD6EEEB59C}" type="presOf" srcId="{83934845-D5AE-074B-9B03-390BDAB8DDD5}" destId="{FCC4A185-7AD1-F648-A702-D7A00CF6E4DA}" srcOrd="0" destOrd="0" presId="urn:microsoft.com/office/officeart/2005/8/layout/process1"/>
    <dgm:cxn modelId="{98F7AE79-6429-7A4B-B2E8-07B460527A67}" type="presOf" srcId="{3C4D0297-2DF4-CA4A-BF6A-CF75A41D59F9}" destId="{C5F9AFE8-4EE2-1D49-B6DD-57442C6B912D}" srcOrd="0" destOrd="0" presId="urn:microsoft.com/office/officeart/2005/8/layout/process1"/>
    <dgm:cxn modelId="{42D6409B-991C-5248-8338-5D40FDF4BE18}" type="presOf" srcId="{3C4D0297-2DF4-CA4A-BF6A-CF75A41D59F9}" destId="{DFD8F15A-1491-F54F-9570-2D9CAD30BF1F}" srcOrd="1" destOrd="0" presId="urn:microsoft.com/office/officeart/2005/8/layout/process1"/>
    <dgm:cxn modelId="{EB14C9B0-73B1-A24C-8DCF-1ED3D8E131E3}" type="presOf" srcId="{A4D3BDC1-A34A-C04A-956D-056053A2C815}" destId="{5169FEC3-8FEE-094A-B22F-836B8E694A3C}" srcOrd="0" destOrd="0" presId="urn:microsoft.com/office/officeart/2005/8/layout/process1"/>
    <dgm:cxn modelId="{DD4637E0-C18A-994C-A41D-B00A18AE3EB3}" srcId="{83934845-D5AE-074B-9B03-390BDAB8DDD5}" destId="{E75680F1-81CD-2944-865F-69C3F3799CA0}" srcOrd="1" destOrd="0" parTransId="{E7840EFB-9969-EC4F-8F28-800FA8F448D8}" sibTransId="{3C4D0297-2DF4-CA4A-BF6A-CF75A41D59F9}"/>
    <dgm:cxn modelId="{470220E6-1C04-9F46-95A9-7B747E7773A9}" type="presOf" srcId="{A4D3BDC1-A34A-C04A-956D-056053A2C815}" destId="{D8300F6F-841C-664F-B221-D156A62EE78F}" srcOrd="1" destOrd="0" presId="urn:microsoft.com/office/officeart/2005/8/layout/process1"/>
    <dgm:cxn modelId="{6B5881F1-88D6-6949-9BC6-3092BC5E9AF7}" srcId="{83934845-D5AE-074B-9B03-390BDAB8DDD5}" destId="{8E932C85-1F30-4B45-BDE3-9F219BC2E1B0}" srcOrd="2" destOrd="0" parTransId="{6B47973B-4DA2-C44C-82D8-271C0AA2484E}" sibTransId="{737D0661-2B80-564E-B841-5200624A824E}"/>
    <dgm:cxn modelId="{36EBB984-E766-DF4D-BD1A-2273D74B8E00}" type="presParOf" srcId="{FCC4A185-7AD1-F648-A702-D7A00CF6E4DA}" destId="{3562B6D8-A28F-A44F-9060-B6D7B59221CC}" srcOrd="0" destOrd="0" presId="urn:microsoft.com/office/officeart/2005/8/layout/process1"/>
    <dgm:cxn modelId="{705C3987-10F8-1D45-A771-010B8F3E93CC}" type="presParOf" srcId="{FCC4A185-7AD1-F648-A702-D7A00CF6E4DA}" destId="{5169FEC3-8FEE-094A-B22F-836B8E694A3C}" srcOrd="1" destOrd="0" presId="urn:microsoft.com/office/officeart/2005/8/layout/process1"/>
    <dgm:cxn modelId="{D0DC5556-1F7F-4742-A639-440337BAD76E}" type="presParOf" srcId="{5169FEC3-8FEE-094A-B22F-836B8E694A3C}" destId="{D8300F6F-841C-664F-B221-D156A62EE78F}" srcOrd="0" destOrd="0" presId="urn:microsoft.com/office/officeart/2005/8/layout/process1"/>
    <dgm:cxn modelId="{CBF88B68-9A02-B440-9652-86BE6D7BE3BB}" type="presParOf" srcId="{FCC4A185-7AD1-F648-A702-D7A00CF6E4DA}" destId="{7AC60E6A-FC53-C740-9817-64E44E7DD0EB}" srcOrd="2" destOrd="0" presId="urn:microsoft.com/office/officeart/2005/8/layout/process1"/>
    <dgm:cxn modelId="{5CFDDE51-0385-C045-BEC0-B9BEEB99578C}" type="presParOf" srcId="{FCC4A185-7AD1-F648-A702-D7A00CF6E4DA}" destId="{C5F9AFE8-4EE2-1D49-B6DD-57442C6B912D}" srcOrd="3" destOrd="0" presId="urn:microsoft.com/office/officeart/2005/8/layout/process1"/>
    <dgm:cxn modelId="{5ABCAEE5-FE15-1240-8FFC-46ED2A936D89}" type="presParOf" srcId="{C5F9AFE8-4EE2-1D49-B6DD-57442C6B912D}" destId="{DFD8F15A-1491-F54F-9570-2D9CAD30BF1F}" srcOrd="0" destOrd="0" presId="urn:microsoft.com/office/officeart/2005/8/layout/process1"/>
    <dgm:cxn modelId="{90DA629B-C18E-8843-8346-C45F89E115CA}" type="presParOf" srcId="{FCC4A185-7AD1-F648-A702-D7A00CF6E4DA}" destId="{70D3FA2C-D3C2-1443-AE2C-0A322484A87D}"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29FE07-BE07-4A4B-A5F2-19E6A7142990}" type="doc">
      <dgm:prSet loTypeId="urn:microsoft.com/office/officeart/2005/8/layout/hChevron3" loCatId="" qsTypeId="urn:microsoft.com/office/officeart/2005/8/quickstyle/simple1" qsCatId="simple" csTypeId="urn:microsoft.com/office/officeart/2005/8/colors/colorful1" csCatId="colorful" phldr="1"/>
      <dgm:spPr/>
    </dgm:pt>
    <dgm:pt modelId="{D472DE9C-A716-9C4E-A255-D5D99EE04F2F}">
      <dgm:prSet phldrT="[Text]" custT="1"/>
      <dgm:spPr>
        <a:solidFill>
          <a:schemeClr val="accent1">
            <a:lumMod val="20000"/>
            <a:lumOff val="80000"/>
          </a:schemeClr>
        </a:solidFill>
      </dgm:spPr>
      <dgm:t>
        <a:bodyPr/>
        <a:lstStyle/>
        <a:p>
          <a:r>
            <a:rPr lang="en-US" sz="2400" dirty="0">
              <a:solidFill>
                <a:schemeClr val="tx1"/>
              </a:solidFill>
            </a:rPr>
            <a:t>Hybrid</a:t>
          </a:r>
        </a:p>
      </dgm:t>
    </dgm:pt>
    <dgm:pt modelId="{4EC3CA4A-C6F9-F24E-BF86-ED8DFCDF2E4D}" type="parTrans" cxnId="{C2733CA7-D136-624F-985C-93750EC52592}">
      <dgm:prSet/>
      <dgm:spPr/>
      <dgm:t>
        <a:bodyPr/>
        <a:lstStyle/>
        <a:p>
          <a:endParaRPr lang="en-US">
            <a:solidFill>
              <a:schemeClr val="tx1"/>
            </a:solidFill>
          </a:endParaRPr>
        </a:p>
      </dgm:t>
    </dgm:pt>
    <dgm:pt modelId="{4D224B2C-EE54-ED4C-9832-B510CBC04EC4}" type="sibTrans" cxnId="{C2733CA7-D136-624F-985C-93750EC52592}">
      <dgm:prSet/>
      <dgm:spPr/>
      <dgm:t>
        <a:bodyPr/>
        <a:lstStyle/>
        <a:p>
          <a:endParaRPr lang="en-US">
            <a:solidFill>
              <a:schemeClr val="tx1"/>
            </a:solidFill>
          </a:endParaRPr>
        </a:p>
      </dgm:t>
    </dgm:pt>
    <dgm:pt modelId="{DB79BE18-519A-3849-9BA7-9F7561437692}">
      <dgm:prSet phldrT="[Text]" custT="1"/>
      <dgm:spPr>
        <a:solidFill>
          <a:schemeClr val="accent6">
            <a:lumMod val="20000"/>
            <a:lumOff val="80000"/>
          </a:schemeClr>
        </a:solidFill>
      </dgm:spPr>
      <dgm:t>
        <a:bodyPr/>
        <a:lstStyle/>
        <a:p>
          <a:r>
            <a:rPr lang="en-US" sz="2400" dirty="0">
              <a:solidFill>
                <a:schemeClr val="tx1"/>
              </a:solidFill>
            </a:rPr>
            <a:t>Native Quantum</a:t>
          </a:r>
        </a:p>
      </dgm:t>
    </dgm:pt>
    <dgm:pt modelId="{5104F7AD-2377-3944-8E3D-9E204224F56A}" type="parTrans" cxnId="{AD401C17-3181-884E-8837-357E91B95B67}">
      <dgm:prSet/>
      <dgm:spPr/>
      <dgm:t>
        <a:bodyPr/>
        <a:lstStyle/>
        <a:p>
          <a:endParaRPr lang="en-US">
            <a:solidFill>
              <a:schemeClr val="tx1"/>
            </a:solidFill>
          </a:endParaRPr>
        </a:p>
      </dgm:t>
    </dgm:pt>
    <dgm:pt modelId="{A15DD126-1881-324B-94E5-249A6BB9DF48}" type="sibTrans" cxnId="{AD401C17-3181-884E-8837-357E91B95B67}">
      <dgm:prSet/>
      <dgm:spPr/>
      <dgm:t>
        <a:bodyPr/>
        <a:lstStyle/>
        <a:p>
          <a:endParaRPr lang="en-US">
            <a:solidFill>
              <a:schemeClr val="tx1"/>
            </a:solidFill>
          </a:endParaRPr>
        </a:p>
      </dgm:t>
    </dgm:pt>
    <dgm:pt modelId="{1BF6E45B-FF46-B54A-A344-148C3F5EBBF5}">
      <dgm:prSet phldrT="[Text]" custT="1"/>
      <dgm:spPr>
        <a:solidFill>
          <a:schemeClr val="accent2">
            <a:lumMod val="20000"/>
            <a:lumOff val="80000"/>
          </a:schemeClr>
        </a:solidFill>
      </dgm:spPr>
      <dgm:t>
        <a:bodyPr/>
        <a:lstStyle/>
        <a:p>
          <a:r>
            <a:rPr lang="en-US" sz="2400" dirty="0">
              <a:solidFill>
                <a:schemeClr val="tx1"/>
              </a:solidFill>
            </a:rPr>
            <a:t>Quantum</a:t>
          </a:r>
          <a:br>
            <a:rPr lang="en-US" sz="2400" dirty="0">
              <a:solidFill>
                <a:schemeClr val="tx1"/>
              </a:solidFill>
            </a:rPr>
          </a:br>
          <a:r>
            <a:rPr lang="en-US" sz="2400" dirty="0">
              <a:solidFill>
                <a:schemeClr val="tx1"/>
              </a:solidFill>
            </a:rPr>
            <a:t>Cognition</a:t>
          </a:r>
        </a:p>
      </dgm:t>
    </dgm:pt>
    <dgm:pt modelId="{3EB7AFE8-1C90-2843-84BC-363A0B33BC7E}" type="parTrans" cxnId="{63E89A34-8EAF-8344-93DB-405B1024DAEF}">
      <dgm:prSet/>
      <dgm:spPr/>
      <dgm:t>
        <a:bodyPr/>
        <a:lstStyle/>
        <a:p>
          <a:endParaRPr lang="en-US">
            <a:solidFill>
              <a:schemeClr val="tx1"/>
            </a:solidFill>
          </a:endParaRPr>
        </a:p>
      </dgm:t>
    </dgm:pt>
    <dgm:pt modelId="{579AFC8E-454E-0C48-81E0-1D39B9FEBD88}" type="sibTrans" cxnId="{63E89A34-8EAF-8344-93DB-405B1024DAEF}">
      <dgm:prSet/>
      <dgm:spPr/>
      <dgm:t>
        <a:bodyPr/>
        <a:lstStyle/>
        <a:p>
          <a:endParaRPr lang="en-US">
            <a:solidFill>
              <a:schemeClr val="tx1"/>
            </a:solidFill>
          </a:endParaRPr>
        </a:p>
      </dgm:t>
    </dgm:pt>
    <dgm:pt modelId="{2C337785-56B7-F646-875F-CA7F56971171}">
      <dgm:prSet phldrT="[Text]" custT="1"/>
      <dgm:spPr>
        <a:solidFill>
          <a:schemeClr val="tx2">
            <a:lumMod val="20000"/>
            <a:lumOff val="80000"/>
          </a:schemeClr>
        </a:solidFill>
      </dgm:spPr>
      <dgm:t>
        <a:bodyPr/>
        <a:lstStyle/>
        <a:p>
          <a:r>
            <a:rPr lang="en-US" sz="2400" dirty="0">
              <a:solidFill>
                <a:schemeClr val="tx1"/>
              </a:solidFill>
            </a:rPr>
            <a:t>QAGI</a:t>
          </a:r>
        </a:p>
      </dgm:t>
    </dgm:pt>
    <dgm:pt modelId="{91FF2CDF-9417-B045-AF29-C3AFF96DE562}" type="parTrans" cxnId="{043D4CDE-550B-3D43-816B-A5DB977F7CE5}">
      <dgm:prSet/>
      <dgm:spPr/>
      <dgm:t>
        <a:bodyPr/>
        <a:lstStyle/>
        <a:p>
          <a:endParaRPr lang="en-US">
            <a:solidFill>
              <a:schemeClr val="tx1"/>
            </a:solidFill>
          </a:endParaRPr>
        </a:p>
      </dgm:t>
    </dgm:pt>
    <dgm:pt modelId="{A093EF50-12E5-EC4E-A8A6-FD51BC0017B9}" type="sibTrans" cxnId="{043D4CDE-550B-3D43-816B-A5DB977F7CE5}">
      <dgm:prSet/>
      <dgm:spPr/>
      <dgm:t>
        <a:bodyPr/>
        <a:lstStyle/>
        <a:p>
          <a:endParaRPr lang="en-US">
            <a:solidFill>
              <a:schemeClr val="tx1"/>
            </a:solidFill>
          </a:endParaRPr>
        </a:p>
      </dgm:t>
    </dgm:pt>
    <dgm:pt modelId="{BFC96DBF-5416-2D45-8F64-A0BF40C0377C}">
      <dgm:prSet phldrT="[Text]" custT="1"/>
      <dgm:spPr>
        <a:solidFill>
          <a:schemeClr val="accent4">
            <a:lumMod val="20000"/>
            <a:lumOff val="80000"/>
          </a:schemeClr>
        </a:solidFill>
      </dgm:spPr>
      <dgm:t>
        <a:bodyPr/>
        <a:lstStyle/>
        <a:p>
          <a:r>
            <a:rPr lang="en-US" sz="2400" dirty="0">
              <a:solidFill>
                <a:schemeClr val="tx1"/>
              </a:solidFill>
            </a:rPr>
            <a:t>QSI</a:t>
          </a:r>
        </a:p>
      </dgm:t>
    </dgm:pt>
    <dgm:pt modelId="{E9CDC0B7-558B-1D47-B867-BA7CDAD04C90}" type="parTrans" cxnId="{28082648-52E6-7D47-9D2C-4F2328200DD1}">
      <dgm:prSet/>
      <dgm:spPr/>
      <dgm:t>
        <a:bodyPr/>
        <a:lstStyle/>
        <a:p>
          <a:endParaRPr lang="en-US"/>
        </a:p>
      </dgm:t>
    </dgm:pt>
    <dgm:pt modelId="{8EC00A93-64B0-1240-BC79-C218B28C1B51}" type="sibTrans" cxnId="{28082648-52E6-7D47-9D2C-4F2328200DD1}">
      <dgm:prSet/>
      <dgm:spPr/>
      <dgm:t>
        <a:bodyPr/>
        <a:lstStyle/>
        <a:p>
          <a:endParaRPr lang="en-US"/>
        </a:p>
      </dgm:t>
    </dgm:pt>
    <dgm:pt modelId="{ECB19239-A14E-B342-948B-F91E41AE0C53}" type="pres">
      <dgm:prSet presAssocID="{9229FE07-BE07-4A4B-A5F2-19E6A7142990}" presName="Name0" presStyleCnt="0">
        <dgm:presLayoutVars>
          <dgm:dir/>
          <dgm:resizeHandles val="exact"/>
        </dgm:presLayoutVars>
      </dgm:prSet>
      <dgm:spPr/>
    </dgm:pt>
    <dgm:pt modelId="{16E2FD02-DF59-C24B-8522-F14BB5B926E1}" type="pres">
      <dgm:prSet presAssocID="{D472DE9C-A716-9C4E-A255-D5D99EE04F2F}" presName="parTxOnly" presStyleLbl="node1" presStyleIdx="0" presStyleCnt="5">
        <dgm:presLayoutVars>
          <dgm:bulletEnabled val="1"/>
        </dgm:presLayoutVars>
      </dgm:prSet>
      <dgm:spPr/>
    </dgm:pt>
    <dgm:pt modelId="{150690F9-CB15-6C48-8735-0C2D18A2FDDB}" type="pres">
      <dgm:prSet presAssocID="{4D224B2C-EE54-ED4C-9832-B510CBC04EC4}" presName="parSpace" presStyleCnt="0"/>
      <dgm:spPr/>
    </dgm:pt>
    <dgm:pt modelId="{AB0468DA-5375-2741-836E-0A1D1A8AA387}" type="pres">
      <dgm:prSet presAssocID="{DB79BE18-519A-3849-9BA7-9F7561437692}" presName="parTxOnly" presStyleLbl="node1" presStyleIdx="1" presStyleCnt="5">
        <dgm:presLayoutVars>
          <dgm:bulletEnabled val="1"/>
        </dgm:presLayoutVars>
      </dgm:prSet>
      <dgm:spPr/>
    </dgm:pt>
    <dgm:pt modelId="{CD90E763-FD78-3244-B67A-E7EE265F2BDB}" type="pres">
      <dgm:prSet presAssocID="{A15DD126-1881-324B-94E5-249A6BB9DF48}" presName="parSpace" presStyleCnt="0"/>
      <dgm:spPr/>
    </dgm:pt>
    <dgm:pt modelId="{2CEE9858-6158-B344-8BF7-7DE58C785997}" type="pres">
      <dgm:prSet presAssocID="{1BF6E45B-FF46-B54A-A344-148C3F5EBBF5}" presName="parTxOnly" presStyleLbl="node1" presStyleIdx="2" presStyleCnt="5">
        <dgm:presLayoutVars>
          <dgm:bulletEnabled val="1"/>
        </dgm:presLayoutVars>
      </dgm:prSet>
      <dgm:spPr/>
    </dgm:pt>
    <dgm:pt modelId="{0D0CE024-A4C5-7048-852C-02A3C1B03709}" type="pres">
      <dgm:prSet presAssocID="{579AFC8E-454E-0C48-81E0-1D39B9FEBD88}" presName="parSpace" presStyleCnt="0"/>
      <dgm:spPr/>
    </dgm:pt>
    <dgm:pt modelId="{B0C8C095-73A9-7D4D-A29C-C76CA364B866}" type="pres">
      <dgm:prSet presAssocID="{2C337785-56B7-F646-875F-CA7F56971171}" presName="parTxOnly" presStyleLbl="node1" presStyleIdx="3" presStyleCnt="5">
        <dgm:presLayoutVars>
          <dgm:bulletEnabled val="1"/>
        </dgm:presLayoutVars>
      </dgm:prSet>
      <dgm:spPr/>
    </dgm:pt>
    <dgm:pt modelId="{DC35131C-BE68-F746-868E-80205CB6E6C1}" type="pres">
      <dgm:prSet presAssocID="{A093EF50-12E5-EC4E-A8A6-FD51BC0017B9}" presName="parSpace" presStyleCnt="0"/>
      <dgm:spPr/>
    </dgm:pt>
    <dgm:pt modelId="{74A98F8B-BD8B-A04B-A150-5DA01C8D7842}" type="pres">
      <dgm:prSet presAssocID="{BFC96DBF-5416-2D45-8F64-A0BF40C0377C}" presName="parTxOnly" presStyleLbl="node1" presStyleIdx="4" presStyleCnt="5">
        <dgm:presLayoutVars>
          <dgm:bulletEnabled val="1"/>
        </dgm:presLayoutVars>
      </dgm:prSet>
      <dgm:spPr/>
    </dgm:pt>
  </dgm:ptLst>
  <dgm:cxnLst>
    <dgm:cxn modelId="{AD401C17-3181-884E-8837-357E91B95B67}" srcId="{9229FE07-BE07-4A4B-A5F2-19E6A7142990}" destId="{DB79BE18-519A-3849-9BA7-9F7561437692}" srcOrd="1" destOrd="0" parTransId="{5104F7AD-2377-3944-8E3D-9E204224F56A}" sibTransId="{A15DD126-1881-324B-94E5-249A6BB9DF48}"/>
    <dgm:cxn modelId="{63E89A34-8EAF-8344-93DB-405B1024DAEF}" srcId="{9229FE07-BE07-4A4B-A5F2-19E6A7142990}" destId="{1BF6E45B-FF46-B54A-A344-148C3F5EBBF5}" srcOrd="2" destOrd="0" parTransId="{3EB7AFE8-1C90-2843-84BC-363A0B33BC7E}" sibTransId="{579AFC8E-454E-0C48-81E0-1D39B9FEBD88}"/>
    <dgm:cxn modelId="{2706D13B-F957-264A-8FA9-DBE23C394164}" type="presOf" srcId="{BFC96DBF-5416-2D45-8F64-A0BF40C0377C}" destId="{74A98F8B-BD8B-A04B-A150-5DA01C8D7842}" srcOrd="0" destOrd="0" presId="urn:microsoft.com/office/officeart/2005/8/layout/hChevron3"/>
    <dgm:cxn modelId="{28082648-52E6-7D47-9D2C-4F2328200DD1}" srcId="{9229FE07-BE07-4A4B-A5F2-19E6A7142990}" destId="{BFC96DBF-5416-2D45-8F64-A0BF40C0377C}" srcOrd="4" destOrd="0" parTransId="{E9CDC0B7-558B-1D47-B867-BA7CDAD04C90}" sibTransId="{8EC00A93-64B0-1240-BC79-C218B28C1B51}"/>
    <dgm:cxn modelId="{A61A104C-1AD7-7043-ABC0-69DA93D96CCD}" type="presOf" srcId="{1BF6E45B-FF46-B54A-A344-148C3F5EBBF5}" destId="{2CEE9858-6158-B344-8BF7-7DE58C785997}" srcOrd="0" destOrd="0" presId="urn:microsoft.com/office/officeart/2005/8/layout/hChevron3"/>
    <dgm:cxn modelId="{6581E361-9C32-3B49-A650-5FBB5ACC8E33}" type="presOf" srcId="{2C337785-56B7-F646-875F-CA7F56971171}" destId="{B0C8C095-73A9-7D4D-A29C-C76CA364B866}" srcOrd="0" destOrd="0" presId="urn:microsoft.com/office/officeart/2005/8/layout/hChevron3"/>
    <dgm:cxn modelId="{EE0B4B67-F45A-634A-99A4-E8556E5E7BDC}" type="presOf" srcId="{D472DE9C-A716-9C4E-A255-D5D99EE04F2F}" destId="{16E2FD02-DF59-C24B-8522-F14BB5B926E1}" srcOrd="0" destOrd="0" presId="urn:microsoft.com/office/officeart/2005/8/layout/hChevron3"/>
    <dgm:cxn modelId="{C2733CA7-D136-624F-985C-93750EC52592}" srcId="{9229FE07-BE07-4A4B-A5F2-19E6A7142990}" destId="{D472DE9C-A716-9C4E-A255-D5D99EE04F2F}" srcOrd="0" destOrd="0" parTransId="{4EC3CA4A-C6F9-F24E-BF86-ED8DFCDF2E4D}" sibTransId="{4D224B2C-EE54-ED4C-9832-B510CBC04EC4}"/>
    <dgm:cxn modelId="{043D4CDE-550B-3D43-816B-A5DB977F7CE5}" srcId="{9229FE07-BE07-4A4B-A5F2-19E6A7142990}" destId="{2C337785-56B7-F646-875F-CA7F56971171}" srcOrd="3" destOrd="0" parTransId="{91FF2CDF-9417-B045-AF29-C3AFF96DE562}" sibTransId="{A093EF50-12E5-EC4E-A8A6-FD51BC0017B9}"/>
    <dgm:cxn modelId="{0D3D86E3-3065-6D42-9F5A-1CDC77168D42}" type="presOf" srcId="{9229FE07-BE07-4A4B-A5F2-19E6A7142990}" destId="{ECB19239-A14E-B342-948B-F91E41AE0C53}" srcOrd="0" destOrd="0" presId="urn:microsoft.com/office/officeart/2005/8/layout/hChevron3"/>
    <dgm:cxn modelId="{BA753FFD-1CBF-B04D-B64A-30F0A94ADAC8}" type="presOf" srcId="{DB79BE18-519A-3849-9BA7-9F7561437692}" destId="{AB0468DA-5375-2741-836E-0A1D1A8AA387}" srcOrd="0" destOrd="0" presId="urn:microsoft.com/office/officeart/2005/8/layout/hChevron3"/>
    <dgm:cxn modelId="{0275B5AE-4849-0A42-BC1C-D2FAB813D8B4}" type="presParOf" srcId="{ECB19239-A14E-B342-948B-F91E41AE0C53}" destId="{16E2FD02-DF59-C24B-8522-F14BB5B926E1}" srcOrd="0" destOrd="0" presId="urn:microsoft.com/office/officeart/2005/8/layout/hChevron3"/>
    <dgm:cxn modelId="{5CDEEFF2-01F8-AC4D-A1E9-5C84FFFFBA89}" type="presParOf" srcId="{ECB19239-A14E-B342-948B-F91E41AE0C53}" destId="{150690F9-CB15-6C48-8735-0C2D18A2FDDB}" srcOrd="1" destOrd="0" presId="urn:microsoft.com/office/officeart/2005/8/layout/hChevron3"/>
    <dgm:cxn modelId="{FEA26EB7-D71A-DE40-95E0-8BBC86C4EDBD}" type="presParOf" srcId="{ECB19239-A14E-B342-948B-F91E41AE0C53}" destId="{AB0468DA-5375-2741-836E-0A1D1A8AA387}" srcOrd="2" destOrd="0" presId="urn:microsoft.com/office/officeart/2005/8/layout/hChevron3"/>
    <dgm:cxn modelId="{0A736239-A708-CD4C-A750-BCB92B1836A0}" type="presParOf" srcId="{ECB19239-A14E-B342-948B-F91E41AE0C53}" destId="{CD90E763-FD78-3244-B67A-E7EE265F2BDB}" srcOrd="3" destOrd="0" presId="urn:microsoft.com/office/officeart/2005/8/layout/hChevron3"/>
    <dgm:cxn modelId="{FFFAD416-A727-3148-9008-E74D9384E799}" type="presParOf" srcId="{ECB19239-A14E-B342-948B-F91E41AE0C53}" destId="{2CEE9858-6158-B344-8BF7-7DE58C785997}" srcOrd="4" destOrd="0" presId="urn:microsoft.com/office/officeart/2005/8/layout/hChevron3"/>
    <dgm:cxn modelId="{A81F9AAC-E39E-9B44-95CC-C94486FFD76C}" type="presParOf" srcId="{ECB19239-A14E-B342-948B-F91E41AE0C53}" destId="{0D0CE024-A4C5-7048-852C-02A3C1B03709}" srcOrd="5" destOrd="0" presId="urn:microsoft.com/office/officeart/2005/8/layout/hChevron3"/>
    <dgm:cxn modelId="{55623242-2D99-2144-A375-6AE1982270CD}" type="presParOf" srcId="{ECB19239-A14E-B342-948B-F91E41AE0C53}" destId="{B0C8C095-73A9-7D4D-A29C-C76CA364B866}" srcOrd="6" destOrd="0" presId="urn:microsoft.com/office/officeart/2005/8/layout/hChevron3"/>
    <dgm:cxn modelId="{3B700817-67BA-BD4A-99A1-BFCF4B652685}" type="presParOf" srcId="{ECB19239-A14E-B342-948B-F91E41AE0C53}" destId="{DC35131C-BE68-F746-868E-80205CB6E6C1}" srcOrd="7" destOrd="0" presId="urn:microsoft.com/office/officeart/2005/8/layout/hChevron3"/>
    <dgm:cxn modelId="{01013897-F0D7-8045-B068-B2A5C12B9DAB}" type="presParOf" srcId="{ECB19239-A14E-B342-948B-F91E41AE0C53}" destId="{74A98F8B-BD8B-A04B-A150-5DA01C8D7842}"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4FB6DF-CE81-2A40-91EA-E5754EB3625F}">
      <dsp:nvSpPr>
        <dsp:cNvPr id="0" name=""/>
        <dsp:cNvSpPr/>
      </dsp:nvSpPr>
      <dsp:spPr>
        <a:xfrm rot="5400000">
          <a:off x="-187681" y="208691"/>
          <a:ext cx="1251211" cy="875847"/>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1956</a:t>
          </a:r>
        </a:p>
      </dsp:txBody>
      <dsp:txXfrm rot="-5400000">
        <a:off x="2" y="458933"/>
        <a:ext cx="875847" cy="375364"/>
      </dsp:txXfrm>
    </dsp:sp>
    <dsp:sp modelId="{8C2D8B56-2C9A-A847-9E38-234A7DB8463B}">
      <dsp:nvSpPr>
        <dsp:cNvPr id="0" name=""/>
        <dsp:cNvSpPr/>
      </dsp:nvSpPr>
      <dsp:spPr>
        <a:xfrm rot="5400000">
          <a:off x="3294433" y="-2397576"/>
          <a:ext cx="813287" cy="5650459"/>
        </a:xfrm>
        <a:prstGeom prst="round2SameRect">
          <a:avLst/>
        </a:prstGeom>
        <a:solidFill>
          <a:schemeClr val="accent4">
            <a:lumMod val="20000"/>
            <a:lumOff val="80000"/>
            <a:alpha val="9000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Artificial Intelligence</a:t>
          </a:r>
        </a:p>
        <a:p>
          <a:pPr marL="342900" lvl="2" indent="-171450" algn="l" defTabSz="800100">
            <a:lnSpc>
              <a:spcPct val="90000"/>
            </a:lnSpc>
            <a:spcBef>
              <a:spcPct val="0"/>
            </a:spcBef>
            <a:spcAft>
              <a:spcPct val="15000"/>
            </a:spcAft>
            <a:buChar char="•"/>
          </a:pPr>
          <a:r>
            <a:rPr lang="en-US" sz="1800" kern="1200" dirty="0"/>
            <a:t>Dartmouth workshop helps establish AI as a field of research..</a:t>
          </a:r>
        </a:p>
      </dsp:txBody>
      <dsp:txXfrm rot="-5400000">
        <a:off x="875848" y="60710"/>
        <a:ext cx="5610758" cy="733885"/>
      </dsp:txXfrm>
    </dsp:sp>
    <dsp:sp modelId="{DD664135-0854-4046-9DC6-5454A89066E3}">
      <dsp:nvSpPr>
        <dsp:cNvPr id="0" name=""/>
        <dsp:cNvSpPr/>
      </dsp:nvSpPr>
      <dsp:spPr>
        <a:xfrm rot="5400000">
          <a:off x="-187681" y="1348193"/>
          <a:ext cx="1251211" cy="875847"/>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1980s</a:t>
          </a:r>
        </a:p>
      </dsp:txBody>
      <dsp:txXfrm rot="-5400000">
        <a:off x="2" y="1598435"/>
        <a:ext cx="875847" cy="375364"/>
      </dsp:txXfrm>
    </dsp:sp>
    <dsp:sp modelId="{9F001D34-9FA5-D548-98EF-A9831C31FA7A}">
      <dsp:nvSpPr>
        <dsp:cNvPr id="0" name=""/>
        <dsp:cNvSpPr/>
      </dsp:nvSpPr>
      <dsp:spPr>
        <a:xfrm rot="5400000">
          <a:off x="3294433" y="-1258073"/>
          <a:ext cx="813287" cy="5650459"/>
        </a:xfrm>
        <a:prstGeom prst="round2SameRect">
          <a:avLst/>
        </a:prstGeom>
        <a:solidFill>
          <a:schemeClr val="bg1">
            <a:lumMod val="95000"/>
            <a:alpha val="9000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Neural Networks</a:t>
          </a:r>
        </a:p>
        <a:p>
          <a:pPr marL="342900" lvl="2" indent="-171450" algn="l" defTabSz="800100">
            <a:lnSpc>
              <a:spcPct val="90000"/>
            </a:lnSpc>
            <a:spcBef>
              <a:spcPct val="0"/>
            </a:spcBef>
            <a:spcAft>
              <a:spcPct val="15000"/>
            </a:spcAft>
            <a:buChar char="•"/>
          </a:pPr>
          <a:r>
            <a:rPr lang="en-US" sz="1800" kern="1200" dirty="0"/>
            <a:t>Advances in neural networks lay the foundations for deep learning.</a:t>
          </a:r>
        </a:p>
      </dsp:txBody>
      <dsp:txXfrm rot="-5400000">
        <a:off x="875848" y="1200213"/>
        <a:ext cx="5610758" cy="733885"/>
      </dsp:txXfrm>
    </dsp:sp>
    <dsp:sp modelId="{F546315D-9C0E-E84C-8BE2-B310F802E628}">
      <dsp:nvSpPr>
        <dsp:cNvPr id="0" name=""/>
        <dsp:cNvSpPr/>
      </dsp:nvSpPr>
      <dsp:spPr>
        <a:xfrm rot="5400000">
          <a:off x="-187681" y="2636421"/>
          <a:ext cx="1251211" cy="875847"/>
        </a:xfrm>
        <a:prstGeom prst="chevron">
          <a:avLst/>
        </a:prstGeom>
        <a:solidFill>
          <a:schemeClr val="accent6">
            <a:lumMod val="7500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1990s</a:t>
          </a:r>
        </a:p>
      </dsp:txBody>
      <dsp:txXfrm rot="-5400000">
        <a:off x="2" y="2886663"/>
        <a:ext cx="875847" cy="375364"/>
      </dsp:txXfrm>
    </dsp:sp>
    <dsp:sp modelId="{B4FE55C1-D03A-E142-ABE1-9B83FBEAE58F}">
      <dsp:nvSpPr>
        <dsp:cNvPr id="0" name=""/>
        <dsp:cNvSpPr/>
      </dsp:nvSpPr>
      <dsp:spPr>
        <a:xfrm rot="5400000">
          <a:off x="3145707" y="30154"/>
          <a:ext cx="1110738" cy="5650459"/>
        </a:xfrm>
        <a:prstGeom prst="round2SameRect">
          <a:avLst/>
        </a:prstGeom>
        <a:solidFill>
          <a:schemeClr val="accent6">
            <a:lumMod val="20000"/>
            <a:lumOff val="80000"/>
            <a:alpha val="9000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t>Early Quantum Machine Learning</a:t>
          </a:r>
          <a:endParaRPr lang="en-US" sz="1800" kern="1200" dirty="0"/>
        </a:p>
        <a:p>
          <a:pPr marL="342900" lvl="2" indent="-171450" algn="l" defTabSz="800100">
            <a:lnSpc>
              <a:spcPct val="90000"/>
            </a:lnSpc>
            <a:spcBef>
              <a:spcPct val="0"/>
            </a:spcBef>
            <a:spcAft>
              <a:spcPct val="15000"/>
            </a:spcAft>
            <a:buChar char="•"/>
          </a:pPr>
          <a:r>
            <a:rPr lang="en-US" sz="1800" i="0" kern="1200" dirty="0" err="1"/>
            <a:t>Chrisley</a:t>
          </a:r>
          <a:r>
            <a:rPr lang="en-US" sz="1800" i="0" kern="1200" dirty="0"/>
            <a:t> and </a:t>
          </a:r>
          <a:r>
            <a:rPr lang="en-US" sz="1800" i="0" kern="1200" dirty="0" err="1"/>
            <a:t>Kak</a:t>
          </a:r>
          <a:r>
            <a:rPr lang="en-US" sz="1800" i="0" kern="1200" dirty="0"/>
            <a:t> propose early quantum neural networks.</a:t>
          </a:r>
          <a:endParaRPr lang="en-US" sz="1800" kern="1200" dirty="0"/>
        </a:p>
      </dsp:txBody>
      <dsp:txXfrm rot="-5400000">
        <a:off x="875847" y="2354236"/>
        <a:ext cx="5596237" cy="1002294"/>
      </dsp:txXfrm>
    </dsp:sp>
    <dsp:sp modelId="{BFBD5833-310D-6442-B79B-E4E93530B91E}">
      <dsp:nvSpPr>
        <dsp:cNvPr id="0" name=""/>
        <dsp:cNvSpPr/>
      </dsp:nvSpPr>
      <dsp:spPr>
        <a:xfrm rot="5400000">
          <a:off x="-187681" y="3775924"/>
          <a:ext cx="1251211" cy="875847"/>
        </a:xfrm>
        <a:prstGeom prst="chevron">
          <a:avLst/>
        </a:prstGeom>
        <a:solidFill>
          <a:srgbClr val="002060"/>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t>2009</a:t>
          </a:r>
        </a:p>
      </dsp:txBody>
      <dsp:txXfrm rot="-5400000">
        <a:off x="2" y="4026166"/>
        <a:ext cx="875847" cy="375364"/>
      </dsp:txXfrm>
    </dsp:sp>
    <dsp:sp modelId="{07C39813-BB77-684C-B965-FDB6E8BF08EF}">
      <dsp:nvSpPr>
        <dsp:cNvPr id="0" name=""/>
        <dsp:cNvSpPr/>
      </dsp:nvSpPr>
      <dsp:spPr>
        <a:xfrm rot="5400000">
          <a:off x="3294433" y="1169656"/>
          <a:ext cx="813287" cy="5650459"/>
        </a:xfrm>
        <a:prstGeom prst="round2SameRect">
          <a:avLst/>
        </a:prstGeom>
        <a:solidFill>
          <a:schemeClr val="accent5">
            <a:lumMod val="20000"/>
            <a:lumOff val="80000"/>
            <a:alpha val="9000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kern="1200" dirty="0">
              <a:solidFill>
                <a:schemeClr val="tx1"/>
              </a:solidFill>
            </a:rPr>
            <a:t>HHL Algorithm</a:t>
          </a:r>
          <a:endParaRPr lang="en-US" sz="1800" kern="1200" dirty="0">
            <a:solidFill>
              <a:schemeClr val="tx1"/>
            </a:solidFill>
          </a:endParaRPr>
        </a:p>
        <a:p>
          <a:pPr marL="342900" lvl="2" indent="-171450" algn="l" defTabSz="800100">
            <a:lnSpc>
              <a:spcPct val="90000"/>
            </a:lnSpc>
            <a:spcBef>
              <a:spcPct val="0"/>
            </a:spcBef>
            <a:spcAft>
              <a:spcPct val="15000"/>
            </a:spcAft>
            <a:buFont typeface="Arial" panose="020B0604020202020204" pitchFamily="34" charset="0"/>
            <a:buChar char="•"/>
          </a:pPr>
          <a:r>
            <a:rPr lang="en-US" sz="1800" kern="1200" dirty="0">
              <a:solidFill>
                <a:schemeClr val="tx1"/>
              </a:solidFill>
            </a:rPr>
            <a:t>Harrow, Hassidim, and Lloyd demonstrate quantum speedup for certain linear algebra problems..</a:t>
          </a:r>
        </a:p>
      </dsp:txBody>
      <dsp:txXfrm rot="-5400000">
        <a:off x="875848" y="3627943"/>
        <a:ext cx="5610758" cy="733885"/>
      </dsp:txXfrm>
    </dsp:sp>
    <dsp:sp modelId="{D70EFD48-DEF3-6041-AF13-3C5FB371257F}">
      <dsp:nvSpPr>
        <dsp:cNvPr id="0" name=""/>
        <dsp:cNvSpPr/>
      </dsp:nvSpPr>
      <dsp:spPr>
        <a:xfrm rot="5400000">
          <a:off x="-187681" y="4915426"/>
          <a:ext cx="1251211" cy="875847"/>
        </a:xfrm>
        <a:prstGeom prst="chevron">
          <a:avLst/>
        </a:prstGeom>
        <a:solidFill>
          <a:srgbClr val="CA251F">
            <a:alpha val="90000"/>
          </a:srgb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kern="1200" dirty="0">
              <a:solidFill>
                <a:schemeClr val="bg1"/>
              </a:solidFill>
            </a:rPr>
            <a:t>2010s</a:t>
          </a:r>
        </a:p>
      </dsp:txBody>
      <dsp:txXfrm rot="-5400000">
        <a:off x="2" y="5165668"/>
        <a:ext cx="875847" cy="375364"/>
      </dsp:txXfrm>
    </dsp:sp>
    <dsp:sp modelId="{C6DC447C-D15D-CC41-93A9-DDBA4A42D091}">
      <dsp:nvSpPr>
        <dsp:cNvPr id="0" name=""/>
        <dsp:cNvSpPr/>
      </dsp:nvSpPr>
      <dsp:spPr>
        <a:xfrm rot="5400000">
          <a:off x="3294433" y="2309159"/>
          <a:ext cx="813287" cy="5650459"/>
        </a:xfrm>
        <a:prstGeom prst="round2SameRect">
          <a:avLst/>
        </a:prstGeom>
        <a:solidFill>
          <a:schemeClr val="accent2">
            <a:lumMod val="20000"/>
            <a:lumOff val="80000"/>
            <a:alpha val="9000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kern="1200" dirty="0">
              <a:solidFill>
                <a:schemeClr val="tx1"/>
              </a:solidFill>
            </a:rPr>
            <a:t>Deep Learning Breakthrough</a:t>
          </a:r>
        </a:p>
        <a:p>
          <a:pPr marL="342900" lvl="2" indent="-171450" algn="l" defTabSz="800100">
            <a:lnSpc>
              <a:spcPct val="90000"/>
            </a:lnSpc>
            <a:spcBef>
              <a:spcPct val="0"/>
            </a:spcBef>
            <a:spcAft>
              <a:spcPct val="15000"/>
            </a:spcAft>
            <a:buFont typeface="Arial" panose="020B0604020202020204" pitchFamily="34" charset="0"/>
            <a:buChar char="•"/>
          </a:pPr>
          <a:r>
            <a:rPr lang="en-US" sz="1800" kern="1200" dirty="0">
              <a:solidFill>
                <a:schemeClr val="tx1"/>
              </a:solidFill>
            </a:rPr>
            <a:t>Major advances in image recognition, natural language processing, and machine translation.</a:t>
          </a:r>
        </a:p>
      </dsp:txBody>
      <dsp:txXfrm rot="-5400000">
        <a:off x="875848" y="4767446"/>
        <a:ext cx="5610758" cy="7338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D09DF9-FED0-664D-85E2-21EAE955368C}">
      <dsp:nvSpPr>
        <dsp:cNvPr id="0" name=""/>
        <dsp:cNvSpPr/>
      </dsp:nvSpPr>
      <dsp:spPr>
        <a:xfrm>
          <a:off x="883914" y="0"/>
          <a:ext cx="9745689" cy="5418667"/>
        </a:xfrm>
        <a:prstGeom prst="ellipse">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ZA" sz="2200" kern="1200" dirty="0">
              <a:solidFill>
                <a:schemeClr val="tx1"/>
              </a:solidFill>
            </a:rPr>
            <a:t> </a:t>
          </a:r>
        </a:p>
      </dsp:txBody>
      <dsp:txXfrm>
        <a:off x="4053700" y="270933"/>
        <a:ext cx="3406118" cy="812800"/>
      </dsp:txXfrm>
    </dsp:sp>
    <dsp:sp modelId="{7F384DDC-094C-6747-8167-9061AD54178D}">
      <dsp:nvSpPr>
        <dsp:cNvPr id="0" name=""/>
        <dsp:cNvSpPr/>
      </dsp:nvSpPr>
      <dsp:spPr>
        <a:xfrm>
          <a:off x="2694982" y="1354666"/>
          <a:ext cx="6123554" cy="4064000"/>
        </a:xfrm>
        <a:prstGeom prst="ellipse">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ZA" sz="2200" kern="1200" dirty="0">
              <a:solidFill>
                <a:schemeClr val="tx1"/>
              </a:solidFill>
            </a:rPr>
            <a:t> </a:t>
          </a:r>
          <a:endParaRPr lang="en-US" sz="2200" kern="1200" dirty="0">
            <a:solidFill>
              <a:schemeClr val="tx1"/>
            </a:solidFill>
          </a:endParaRPr>
        </a:p>
      </dsp:txBody>
      <dsp:txXfrm>
        <a:off x="4329971" y="1608666"/>
        <a:ext cx="2853576" cy="762000"/>
      </dsp:txXfrm>
    </dsp:sp>
    <dsp:sp modelId="{3D77F6E9-794A-EA48-AF72-7EC93A8283E2}">
      <dsp:nvSpPr>
        <dsp:cNvPr id="0" name=""/>
        <dsp:cNvSpPr/>
      </dsp:nvSpPr>
      <dsp:spPr>
        <a:xfrm>
          <a:off x="4198323" y="2709333"/>
          <a:ext cx="3116871" cy="2709333"/>
        </a:xfrm>
        <a:prstGeom prst="ellipse">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ZA" sz="2200" kern="1200" dirty="0">
              <a:solidFill>
                <a:schemeClr val="tx1"/>
              </a:solidFill>
            </a:rPr>
            <a:t> </a:t>
          </a:r>
          <a:endParaRPr lang="en-US" sz="2200" kern="1200" dirty="0">
            <a:solidFill>
              <a:schemeClr val="tx1"/>
            </a:solidFill>
          </a:endParaRPr>
        </a:p>
      </dsp:txBody>
      <dsp:txXfrm>
        <a:off x="4654779" y="3386666"/>
        <a:ext cx="2203960" cy="135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E5A90-BB4D-BA43-B4B4-B94D356B659C}">
      <dsp:nvSpPr>
        <dsp:cNvPr id="0" name=""/>
        <dsp:cNvSpPr/>
      </dsp:nvSpPr>
      <dsp:spPr>
        <a:xfrm>
          <a:off x="5607782" y="2789834"/>
          <a:ext cx="333562" cy="1022923"/>
        </a:xfrm>
        <a:custGeom>
          <a:avLst/>
          <a:gdLst/>
          <a:ahLst/>
          <a:cxnLst/>
          <a:rect l="0" t="0" r="0" b="0"/>
          <a:pathLst>
            <a:path>
              <a:moveTo>
                <a:pt x="0" y="0"/>
              </a:moveTo>
              <a:lnTo>
                <a:pt x="0" y="1022923"/>
              </a:lnTo>
              <a:lnTo>
                <a:pt x="333562" y="102292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4E0472-14EB-FA4A-A3C6-FC37D06024D5}">
      <dsp:nvSpPr>
        <dsp:cNvPr id="0" name=""/>
        <dsp:cNvSpPr/>
      </dsp:nvSpPr>
      <dsp:spPr>
        <a:xfrm>
          <a:off x="3806547" y="1210974"/>
          <a:ext cx="2690734" cy="466986"/>
        </a:xfrm>
        <a:custGeom>
          <a:avLst/>
          <a:gdLst/>
          <a:ahLst/>
          <a:cxnLst/>
          <a:rect l="0" t="0" r="0" b="0"/>
          <a:pathLst>
            <a:path>
              <a:moveTo>
                <a:pt x="0" y="0"/>
              </a:moveTo>
              <a:lnTo>
                <a:pt x="0" y="233493"/>
              </a:lnTo>
              <a:lnTo>
                <a:pt x="2690734" y="233493"/>
              </a:lnTo>
              <a:lnTo>
                <a:pt x="2690734" y="46698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410F00E-3612-AD46-A2D9-45D9A3FE026B}">
      <dsp:nvSpPr>
        <dsp:cNvPr id="0" name=""/>
        <dsp:cNvSpPr/>
      </dsp:nvSpPr>
      <dsp:spPr>
        <a:xfrm>
          <a:off x="2917048" y="2789834"/>
          <a:ext cx="333562" cy="1022923"/>
        </a:xfrm>
        <a:custGeom>
          <a:avLst/>
          <a:gdLst/>
          <a:ahLst/>
          <a:cxnLst/>
          <a:rect l="0" t="0" r="0" b="0"/>
          <a:pathLst>
            <a:path>
              <a:moveTo>
                <a:pt x="0" y="0"/>
              </a:moveTo>
              <a:lnTo>
                <a:pt x="0" y="1022923"/>
              </a:lnTo>
              <a:lnTo>
                <a:pt x="333562" y="102292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F430CED-065E-8C45-BDB6-4C919C066FF9}">
      <dsp:nvSpPr>
        <dsp:cNvPr id="0" name=""/>
        <dsp:cNvSpPr/>
      </dsp:nvSpPr>
      <dsp:spPr>
        <a:xfrm>
          <a:off x="3760827" y="1210974"/>
          <a:ext cx="91440" cy="466986"/>
        </a:xfrm>
        <a:custGeom>
          <a:avLst/>
          <a:gdLst/>
          <a:ahLst/>
          <a:cxnLst/>
          <a:rect l="0" t="0" r="0" b="0"/>
          <a:pathLst>
            <a:path>
              <a:moveTo>
                <a:pt x="45720" y="0"/>
              </a:moveTo>
              <a:lnTo>
                <a:pt x="45720" y="46698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ADCEF6-8EB1-F84A-AF84-281D496E6DF6}">
      <dsp:nvSpPr>
        <dsp:cNvPr id="0" name=""/>
        <dsp:cNvSpPr/>
      </dsp:nvSpPr>
      <dsp:spPr>
        <a:xfrm>
          <a:off x="226313" y="2789834"/>
          <a:ext cx="333562" cy="1022923"/>
        </a:xfrm>
        <a:custGeom>
          <a:avLst/>
          <a:gdLst/>
          <a:ahLst/>
          <a:cxnLst/>
          <a:rect l="0" t="0" r="0" b="0"/>
          <a:pathLst>
            <a:path>
              <a:moveTo>
                <a:pt x="0" y="0"/>
              </a:moveTo>
              <a:lnTo>
                <a:pt x="0" y="1022923"/>
              </a:lnTo>
              <a:lnTo>
                <a:pt x="333562" y="1022923"/>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8B0B42-9D24-D249-867B-E8266B6EF606}">
      <dsp:nvSpPr>
        <dsp:cNvPr id="0" name=""/>
        <dsp:cNvSpPr/>
      </dsp:nvSpPr>
      <dsp:spPr>
        <a:xfrm>
          <a:off x="1115812" y="1210974"/>
          <a:ext cx="2690734" cy="466986"/>
        </a:xfrm>
        <a:custGeom>
          <a:avLst/>
          <a:gdLst/>
          <a:ahLst/>
          <a:cxnLst/>
          <a:rect l="0" t="0" r="0" b="0"/>
          <a:pathLst>
            <a:path>
              <a:moveTo>
                <a:pt x="2690734" y="0"/>
              </a:moveTo>
              <a:lnTo>
                <a:pt x="2690734" y="233493"/>
              </a:lnTo>
              <a:lnTo>
                <a:pt x="0" y="233493"/>
              </a:lnTo>
              <a:lnTo>
                <a:pt x="0" y="46698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83B773-949D-4B4E-B45B-AAB3170F3F41}">
      <dsp:nvSpPr>
        <dsp:cNvPr id="0" name=""/>
        <dsp:cNvSpPr/>
      </dsp:nvSpPr>
      <dsp:spPr>
        <a:xfrm>
          <a:off x="2694673" y="99100"/>
          <a:ext cx="2223747" cy="111187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Machine Learning</a:t>
          </a:r>
        </a:p>
      </dsp:txBody>
      <dsp:txXfrm>
        <a:off x="2694673" y="99100"/>
        <a:ext cx="2223747" cy="1111873"/>
      </dsp:txXfrm>
    </dsp:sp>
    <dsp:sp modelId="{805DE6C1-A246-CF4C-8A81-F5A57FCB8688}">
      <dsp:nvSpPr>
        <dsp:cNvPr id="0" name=""/>
        <dsp:cNvSpPr/>
      </dsp:nvSpPr>
      <dsp:spPr>
        <a:xfrm>
          <a:off x="3938" y="1677961"/>
          <a:ext cx="2223747" cy="111187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t>Supervised</a:t>
          </a:r>
          <a:endParaRPr lang="en-US" sz="2400" kern="1200" dirty="0"/>
        </a:p>
      </dsp:txBody>
      <dsp:txXfrm>
        <a:off x="3938" y="1677961"/>
        <a:ext cx="2223747" cy="1111873"/>
      </dsp:txXfrm>
    </dsp:sp>
    <dsp:sp modelId="{38C29C25-D682-4840-9288-31F7DB0556CB}">
      <dsp:nvSpPr>
        <dsp:cNvPr id="0" name=""/>
        <dsp:cNvSpPr/>
      </dsp:nvSpPr>
      <dsp:spPr>
        <a:xfrm>
          <a:off x="559875" y="3256821"/>
          <a:ext cx="2223747" cy="1111873"/>
        </a:xfrm>
        <a:prstGeom prst="rect">
          <a:avLst/>
        </a:prstGeom>
        <a:solidFill>
          <a:schemeClr val="accent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err="1"/>
            <a:t>labeled</a:t>
          </a:r>
          <a:r>
            <a:rPr lang="en-ZA" sz="2400" b="0" kern="1200" dirty="0"/>
            <a:t> data</a:t>
          </a:r>
          <a:endParaRPr lang="en-US" sz="2400" kern="1200" dirty="0"/>
        </a:p>
      </dsp:txBody>
      <dsp:txXfrm>
        <a:off x="559875" y="3256821"/>
        <a:ext cx="2223747" cy="1111873"/>
      </dsp:txXfrm>
    </dsp:sp>
    <dsp:sp modelId="{A41CDCCE-5820-974B-B5AC-5FEA334038AF}">
      <dsp:nvSpPr>
        <dsp:cNvPr id="0" name=""/>
        <dsp:cNvSpPr/>
      </dsp:nvSpPr>
      <dsp:spPr>
        <a:xfrm>
          <a:off x="2694673" y="1677961"/>
          <a:ext cx="2223747" cy="1111873"/>
        </a:xfrm>
        <a:prstGeom prst="rect">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t>Unsupervised</a:t>
          </a:r>
          <a:endParaRPr lang="en-US" sz="2400" kern="1200" dirty="0"/>
        </a:p>
      </dsp:txBody>
      <dsp:txXfrm>
        <a:off x="2694673" y="1677961"/>
        <a:ext cx="2223747" cy="1111873"/>
      </dsp:txXfrm>
    </dsp:sp>
    <dsp:sp modelId="{C381137C-22B5-AE43-8F59-C6D9602E5B1E}">
      <dsp:nvSpPr>
        <dsp:cNvPr id="0" name=""/>
        <dsp:cNvSpPr/>
      </dsp:nvSpPr>
      <dsp:spPr>
        <a:xfrm>
          <a:off x="3250610" y="3256821"/>
          <a:ext cx="2223747" cy="1111873"/>
        </a:xfrm>
        <a:prstGeom prst="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err="1"/>
            <a:t>unlabeled</a:t>
          </a:r>
          <a:r>
            <a:rPr lang="en-ZA" sz="2400" b="0" kern="1200" dirty="0"/>
            <a:t> data</a:t>
          </a:r>
          <a:endParaRPr lang="en-US" sz="2400" kern="1200" dirty="0"/>
        </a:p>
      </dsp:txBody>
      <dsp:txXfrm>
        <a:off x="3250610" y="3256821"/>
        <a:ext cx="2223747" cy="1111873"/>
      </dsp:txXfrm>
    </dsp:sp>
    <dsp:sp modelId="{E8F8D823-81EE-8A44-A0E5-1869A0776130}">
      <dsp:nvSpPr>
        <dsp:cNvPr id="0" name=""/>
        <dsp:cNvSpPr/>
      </dsp:nvSpPr>
      <dsp:spPr>
        <a:xfrm>
          <a:off x="5385407" y="1677961"/>
          <a:ext cx="2223747" cy="1111873"/>
        </a:xfrm>
        <a:prstGeom prst="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t>Reinforcement</a:t>
          </a:r>
          <a:endParaRPr lang="en-US" sz="2400" kern="1200" dirty="0"/>
        </a:p>
      </dsp:txBody>
      <dsp:txXfrm>
        <a:off x="5385407" y="1677961"/>
        <a:ext cx="2223747" cy="1111873"/>
      </dsp:txXfrm>
    </dsp:sp>
    <dsp:sp modelId="{F339D308-30A9-C94C-8532-7BE79BF2C9EF}">
      <dsp:nvSpPr>
        <dsp:cNvPr id="0" name=""/>
        <dsp:cNvSpPr/>
      </dsp:nvSpPr>
      <dsp:spPr>
        <a:xfrm>
          <a:off x="5941344" y="3256821"/>
          <a:ext cx="2223747" cy="1111873"/>
        </a:xfrm>
        <a:prstGeom prst="rect">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ZA" sz="2400" b="0" kern="1200" dirty="0"/>
            <a:t>trial and error</a:t>
          </a:r>
          <a:endParaRPr lang="en-US" sz="2400" kern="1200" dirty="0"/>
        </a:p>
      </dsp:txBody>
      <dsp:txXfrm>
        <a:off x="5941344" y="3256821"/>
        <a:ext cx="2223747" cy="11118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CAE12B-0E14-2243-8391-E8BBF076BE08}">
      <dsp:nvSpPr>
        <dsp:cNvPr id="0" name=""/>
        <dsp:cNvSpPr/>
      </dsp:nvSpPr>
      <dsp:spPr>
        <a:xfrm>
          <a:off x="3390242" y="238662"/>
          <a:ext cx="3395452" cy="961774"/>
        </a:xfrm>
        <a:prstGeom prst="roundRect">
          <a:avLst>
            <a:gd name="adj" fmla="val 10000"/>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Machine learning</a:t>
          </a:r>
        </a:p>
      </dsp:txBody>
      <dsp:txXfrm>
        <a:off x="3418411" y="266831"/>
        <a:ext cx="3339114" cy="905436"/>
      </dsp:txXfrm>
    </dsp:sp>
    <dsp:sp modelId="{5BB2DC0D-8143-4544-9466-AC6A095C67BB}">
      <dsp:nvSpPr>
        <dsp:cNvPr id="0" name=""/>
        <dsp:cNvSpPr/>
      </dsp:nvSpPr>
      <dsp:spPr>
        <a:xfrm>
          <a:off x="2770991" y="1200437"/>
          <a:ext cx="2316977" cy="831765"/>
        </a:xfrm>
        <a:custGeom>
          <a:avLst/>
          <a:gdLst/>
          <a:ahLst/>
          <a:cxnLst/>
          <a:rect l="0" t="0" r="0" b="0"/>
          <a:pathLst>
            <a:path>
              <a:moveTo>
                <a:pt x="2316977" y="0"/>
              </a:moveTo>
              <a:lnTo>
                <a:pt x="2316977" y="415882"/>
              </a:lnTo>
              <a:lnTo>
                <a:pt x="0" y="415882"/>
              </a:lnTo>
              <a:lnTo>
                <a:pt x="0" y="83176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4467A5-A352-4046-914E-301145D2990A}">
      <dsp:nvSpPr>
        <dsp:cNvPr id="0" name=""/>
        <dsp:cNvSpPr/>
      </dsp:nvSpPr>
      <dsp:spPr>
        <a:xfrm>
          <a:off x="825134" y="2032202"/>
          <a:ext cx="3891715" cy="961370"/>
        </a:xfrm>
        <a:prstGeom prst="roundRect">
          <a:avLst>
            <a:gd name="adj" fmla="val 10000"/>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ZA" sz="2600" b="0" kern="1200" dirty="0"/>
            <a:t>discriminative</a:t>
          </a:r>
          <a:endParaRPr lang="en-US" sz="2600" kern="1200" dirty="0">
            <a:solidFill>
              <a:schemeClr val="bg1"/>
            </a:solidFill>
          </a:endParaRPr>
        </a:p>
      </dsp:txBody>
      <dsp:txXfrm>
        <a:off x="853292" y="2060360"/>
        <a:ext cx="3835399" cy="905054"/>
      </dsp:txXfrm>
    </dsp:sp>
    <dsp:sp modelId="{B39955B6-8BFE-3047-B511-F11C4A356E65}">
      <dsp:nvSpPr>
        <dsp:cNvPr id="0" name=""/>
        <dsp:cNvSpPr/>
      </dsp:nvSpPr>
      <dsp:spPr>
        <a:xfrm>
          <a:off x="5087969" y="1200437"/>
          <a:ext cx="2239715" cy="816426"/>
        </a:xfrm>
        <a:custGeom>
          <a:avLst/>
          <a:gdLst/>
          <a:ahLst/>
          <a:cxnLst/>
          <a:rect l="0" t="0" r="0" b="0"/>
          <a:pathLst>
            <a:path>
              <a:moveTo>
                <a:pt x="0" y="0"/>
              </a:moveTo>
              <a:lnTo>
                <a:pt x="0" y="408213"/>
              </a:lnTo>
              <a:lnTo>
                <a:pt x="2239715" y="408213"/>
              </a:lnTo>
              <a:lnTo>
                <a:pt x="2239715" y="816426"/>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F18186-A00C-EA4C-AD74-2F51448A9447}">
      <dsp:nvSpPr>
        <dsp:cNvPr id="0" name=""/>
        <dsp:cNvSpPr/>
      </dsp:nvSpPr>
      <dsp:spPr>
        <a:xfrm>
          <a:off x="5381826" y="2016863"/>
          <a:ext cx="3891715" cy="976709"/>
        </a:xfrm>
        <a:prstGeom prst="roundRect">
          <a:avLst>
            <a:gd name="adj" fmla="val 10000"/>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ZA" sz="2600" b="0" kern="1200" dirty="0"/>
            <a:t>generative</a:t>
          </a:r>
          <a:endParaRPr lang="en-US" sz="2600" kern="1200" dirty="0">
            <a:solidFill>
              <a:schemeClr val="bg1"/>
            </a:solidFill>
          </a:endParaRPr>
        </a:p>
      </dsp:txBody>
      <dsp:txXfrm>
        <a:off x="5410433" y="2045470"/>
        <a:ext cx="3834501" cy="9194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2B6D8-A28F-A44F-9060-B6D7B59221CC}">
      <dsp:nvSpPr>
        <dsp:cNvPr id="0" name=""/>
        <dsp:cNvSpPr/>
      </dsp:nvSpPr>
      <dsp:spPr>
        <a:xfrm>
          <a:off x="6459" y="723941"/>
          <a:ext cx="1930791" cy="115847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tx1"/>
              </a:solidFill>
            </a:rPr>
            <a:t>encoding</a:t>
          </a:r>
        </a:p>
      </dsp:txBody>
      <dsp:txXfrm>
        <a:off x="40390" y="757872"/>
        <a:ext cx="1862929" cy="1090612"/>
      </dsp:txXfrm>
    </dsp:sp>
    <dsp:sp modelId="{5169FEC3-8FEE-094A-B22F-836B8E694A3C}">
      <dsp:nvSpPr>
        <dsp:cNvPr id="0" name=""/>
        <dsp:cNvSpPr/>
      </dsp:nvSpPr>
      <dsp:spPr>
        <a:xfrm>
          <a:off x="2130330" y="1063760"/>
          <a:ext cx="409327" cy="47883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130330" y="1159527"/>
        <a:ext cx="286529" cy="287302"/>
      </dsp:txXfrm>
    </dsp:sp>
    <dsp:sp modelId="{7AC60E6A-FC53-C740-9817-64E44E7DD0EB}">
      <dsp:nvSpPr>
        <dsp:cNvPr id="0" name=""/>
        <dsp:cNvSpPr/>
      </dsp:nvSpPr>
      <dsp:spPr>
        <a:xfrm>
          <a:off x="2709567" y="723941"/>
          <a:ext cx="1930791" cy="1158474"/>
        </a:xfrm>
        <a:prstGeom prst="roundRect">
          <a:avLst>
            <a:gd name="adj" fmla="val 1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tx1"/>
              </a:solidFill>
            </a:rPr>
            <a:t>processing</a:t>
          </a:r>
        </a:p>
      </dsp:txBody>
      <dsp:txXfrm>
        <a:off x="2743498" y="757872"/>
        <a:ext cx="1862929" cy="1090612"/>
      </dsp:txXfrm>
    </dsp:sp>
    <dsp:sp modelId="{C5F9AFE8-4EE2-1D49-B6DD-57442C6B912D}">
      <dsp:nvSpPr>
        <dsp:cNvPr id="0" name=""/>
        <dsp:cNvSpPr/>
      </dsp:nvSpPr>
      <dsp:spPr>
        <a:xfrm>
          <a:off x="4833438" y="1063760"/>
          <a:ext cx="409327" cy="478836"/>
        </a:xfrm>
        <a:prstGeom prs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solidFill>
              <a:schemeClr val="tx1"/>
            </a:solidFill>
          </a:endParaRPr>
        </a:p>
      </dsp:txBody>
      <dsp:txXfrm>
        <a:off x="4833438" y="1159527"/>
        <a:ext cx="286529" cy="287302"/>
      </dsp:txXfrm>
    </dsp:sp>
    <dsp:sp modelId="{70D3FA2C-D3C2-1443-AE2C-0A322484A87D}">
      <dsp:nvSpPr>
        <dsp:cNvPr id="0" name=""/>
        <dsp:cNvSpPr/>
      </dsp:nvSpPr>
      <dsp:spPr>
        <a:xfrm>
          <a:off x="5412675" y="723941"/>
          <a:ext cx="1930791" cy="1158474"/>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solidFill>
                <a:schemeClr val="tx1"/>
              </a:solidFill>
            </a:rPr>
            <a:t>measurement</a:t>
          </a:r>
        </a:p>
      </dsp:txBody>
      <dsp:txXfrm>
        <a:off x="5446606" y="757872"/>
        <a:ext cx="1862929" cy="10906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E2FD02-DF59-C24B-8522-F14BB5B926E1}">
      <dsp:nvSpPr>
        <dsp:cNvPr id="0" name=""/>
        <dsp:cNvSpPr/>
      </dsp:nvSpPr>
      <dsp:spPr>
        <a:xfrm>
          <a:off x="1454" y="511338"/>
          <a:ext cx="2836838" cy="1134735"/>
        </a:xfrm>
        <a:prstGeom prst="homePlate">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Hybrid</a:t>
          </a:r>
        </a:p>
      </dsp:txBody>
      <dsp:txXfrm>
        <a:off x="1454" y="511338"/>
        <a:ext cx="2553154" cy="1134735"/>
      </dsp:txXfrm>
    </dsp:sp>
    <dsp:sp modelId="{AB0468DA-5375-2741-836E-0A1D1A8AA387}">
      <dsp:nvSpPr>
        <dsp:cNvPr id="0" name=""/>
        <dsp:cNvSpPr/>
      </dsp:nvSpPr>
      <dsp:spPr>
        <a:xfrm>
          <a:off x="2270925" y="511338"/>
          <a:ext cx="2836838" cy="1134735"/>
        </a:xfrm>
        <a:prstGeom prst="chevron">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Native Quantum</a:t>
          </a:r>
        </a:p>
      </dsp:txBody>
      <dsp:txXfrm>
        <a:off x="2838293" y="511338"/>
        <a:ext cx="1702103" cy="1134735"/>
      </dsp:txXfrm>
    </dsp:sp>
    <dsp:sp modelId="{2CEE9858-6158-B344-8BF7-7DE58C785997}">
      <dsp:nvSpPr>
        <dsp:cNvPr id="0" name=""/>
        <dsp:cNvSpPr/>
      </dsp:nvSpPr>
      <dsp:spPr>
        <a:xfrm>
          <a:off x="4540396" y="511338"/>
          <a:ext cx="2836838" cy="1134735"/>
        </a:xfrm>
        <a:prstGeom prst="chevron">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Quantum</a:t>
          </a:r>
          <a:br>
            <a:rPr lang="en-US" sz="2400" kern="1200" dirty="0">
              <a:solidFill>
                <a:schemeClr val="tx1"/>
              </a:solidFill>
            </a:rPr>
          </a:br>
          <a:r>
            <a:rPr lang="en-US" sz="2400" kern="1200" dirty="0">
              <a:solidFill>
                <a:schemeClr val="tx1"/>
              </a:solidFill>
            </a:rPr>
            <a:t>Cognition</a:t>
          </a:r>
        </a:p>
      </dsp:txBody>
      <dsp:txXfrm>
        <a:off x="5107764" y="511338"/>
        <a:ext cx="1702103" cy="1134735"/>
      </dsp:txXfrm>
    </dsp:sp>
    <dsp:sp modelId="{B0C8C095-73A9-7D4D-A29C-C76CA364B866}">
      <dsp:nvSpPr>
        <dsp:cNvPr id="0" name=""/>
        <dsp:cNvSpPr/>
      </dsp:nvSpPr>
      <dsp:spPr>
        <a:xfrm>
          <a:off x="6809867" y="511338"/>
          <a:ext cx="2836838" cy="1134735"/>
        </a:xfrm>
        <a:prstGeom prst="chevron">
          <a:avLst/>
        </a:prstGeom>
        <a:solidFill>
          <a:schemeClr val="tx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QAGI</a:t>
          </a:r>
        </a:p>
      </dsp:txBody>
      <dsp:txXfrm>
        <a:off x="7377235" y="511338"/>
        <a:ext cx="1702103" cy="1134735"/>
      </dsp:txXfrm>
    </dsp:sp>
    <dsp:sp modelId="{74A98F8B-BD8B-A04B-A150-5DA01C8D7842}">
      <dsp:nvSpPr>
        <dsp:cNvPr id="0" name=""/>
        <dsp:cNvSpPr/>
      </dsp:nvSpPr>
      <dsp:spPr>
        <a:xfrm>
          <a:off x="9079337" y="511338"/>
          <a:ext cx="2836838" cy="1134735"/>
        </a:xfrm>
        <a:prstGeom prst="chevron">
          <a:avLst/>
        </a:prstGeom>
        <a:solidFill>
          <a:schemeClr val="accent4">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QSI</a:t>
          </a:r>
        </a:p>
      </dsp:txBody>
      <dsp:txXfrm>
        <a:off x="9646705" y="511338"/>
        <a:ext cx="1702103" cy="1134735"/>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9/4/26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dx.doi.org/10.1016/j.plrev.2013.08.002"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2036754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1" dirty="0"/>
              <a:t>History of AI and Machine Learning</a:t>
            </a:r>
          </a:p>
          <a:p>
            <a:pPr algn="just"/>
            <a:r>
              <a:rPr lang="en-ZA" b="0" dirty="0"/>
              <a:t>The history of artificial intelligence is often traced back to the Dartmouth Summer Research Project in 1956, which helped establish AI as a distinct field of research.</a:t>
            </a:r>
          </a:p>
          <a:p>
            <a:pPr algn="just"/>
            <a:endParaRPr lang="en-ZA" b="0" dirty="0"/>
          </a:p>
          <a:p>
            <a:pPr algn="just"/>
            <a:r>
              <a:rPr lang="en-ZA" b="0" dirty="0"/>
              <a:t>After early excitement, AI experienced periods of reduced interest and funding in the 1970s and again in the late 1980s, known as the </a:t>
            </a:r>
            <a:r>
              <a:rPr lang="en-ZA" b="0" i="1" dirty="0"/>
              <a:t>AI winters</a:t>
            </a:r>
            <a:r>
              <a:rPr lang="en-ZA" b="0" dirty="0"/>
              <a:t>.</a:t>
            </a:r>
          </a:p>
          <a:p>
            <a:pPr algn="just"/>
            <a:endParaRPr lang="en-ZA" b="0" dirty="0"/>
          </a:p>
          <a:p>
            <a:pPr algn="just"/>
            <a:r>
              <a:rPr lang="en-ZA" b="0" dirty="0"/>
              <a:t>Neural networks had been studied since the 1950s and 1960s, with important advances in backpropagation during the 1980s. The major breakthrough came after 2010, when increased computing power and large datasets enabled deep learning to achieve major successes in image recognition, speech processing, and machine translation.</a:t>
            </a:r>
          </a:p>
          <a:p>
            <a:pPr algn="just"/>
            <a:endParaRPr lang="en-ZA" b="0" dirty="0"/>
          </a:p>
          <a:p>
            <a:pPr algn="just"/>
            <a:r>
              <a:rPr lang="en-ZA" b="1" dirty="0"/>
              <a:t>Rise of Quantum Machine Learning</a:t>
            </a:r>
          </a:p>
          <a:p>
            <a:pPr algn="just"/>
            <a:r>
              <a:rPr lang="en-ZA" b="0" dirty="0"/>
              <a:t>Early ideas combining quantum computing and learning appeared in the 1990s, including work by </a:t>
            </a:r>
            <a:r>
              <a:rPr lang="en-ZA" b="0" dirty="0" err="1"/>
              <a:t>Chrisley</a:t>
            </a:r>
            <a:r>
              <a:rPr lang="en-ZA" b="0" dirty="0"/>
              <a:t> and Subhash </a:t>
            </a:r>
            <a:r>
              <a:rPr lang="en-ZA" b="0" dirty="0" err="1"/>
              <a:t>Kak</a:t>
            </a:r>
            <a:r>
              <a:rPr lang="en-ZA" b="0" dirty="0"/>
              <a:t>.</a:t>
            </a:r>
          </a:p>
          <a:p>
            <a:pPr algn="just"/>
            <a:endParaRPr lang="en-ZA" b="0" dirty="0"/>
          </a:p>
          <a:p>
            <a:pPr algn="just"/>
            <a:r>
              <a:rPr lang="en-ZA" b="0" dirty="0"/>
              <a:t>A major milestone came in 2009, when Harrow, Hassidim, and Lloyd introduced the HHL algorithm, demonstrating exponential speedup for certain linear algebra problems under specific conditions. Since linear algebra is fundamental to machine learning, this result helped drive the development of modern quantum machine learning (QML).</a:t>
            </a:r>
          </a:p>
          <a:p>
            <a:pPr algn="just"/>
            <a:endParaRPr lang="en-ZA" b="0" dirty="0"/>
          </a:p>
          <a:p>
            <a:pPr marL="228600" indent="-228600" algn="just">
              <a:buFont typeface="Arial" panose="020B0604020202020204" pitchFamily="34" charset="0"/>
              <a:buChar char="•"/>
            </a:pPr>
            <a:endParaRPr lang="en-ZA" b="0" dirty="0"/>
          </a:p>
          <a:p>
            <a:pPr marL="0" indent="0" algn="just">
              <a:buFont typeface="Arial" panose="020B0604020202020204" pitchFamily="34" charset="0"/>
              <a:buNone/>
            </a:pPr>
            <a:endParaRPr lang="en-ZA" b="0" dirty="0"/>
          </a:p>
          <a:p>
            <a:pPr marL="0" indent="0" algn="l">
              <a:buFont typeface="Arial" panose="020B0604020202020204" pitchFamily="34" charset="0"/>
              <a:buNone/>
            </a:pPr>
            <a:r>
              <a:rPr lang="en-ZA" sz="1200" b="0" i="0" dirty="0"/>
              <a:t>Reference:</a:t>
            </a:r>
          </a:p>
          <a:p>
            <a:pPr marL="171450" indent="-171450" algn="l">
              <a:buFont typeface="Arial" panose="020B0604020202020204" pitchFamily="34" charset="0"/>
              <a:buChar char="•"/>
            </a:pPr>
            <a:r>
              <a:rPr lang="en-US" sz="1200" b="0" i="0" dirty="0" err="1"/>
              <a:t>Chrisley</a:t>
            </a:r>
            <a:r>
              <a:rPr lang="en-US" sz="1200" b="0" i="0" dirty="0"/>
              <a:t>, R. (1995). Quantum Learning. In P. </a:t>
            </a:r>
            <a:r>
              <a:rPr lang="en-US" sz="1200" b="0" i="0" dirty="0" err="1"/>
              <a:t>Pyllkkänen</a:t>
            </a:r>
            <a:r>
              <a:rPr lang="en-US" sz="1200" b="0" i="0" dirty="0"/>
              <a:t> &amp; P. </a:t>
            </a:r>
            <a:r>
              <a:rPr lang="en-US" sz="1200" b="0" i="0" dirty="0" err="1"/>
              <a:t>Pyllkkö</a:t>
            </a:r>
            <a:r>
              <a:rPr lang="en-US" sz="1200" b="0" i="0" dirty="0"/>
              <a:t> (Eds.), New Directions in Cognitive Science. Finnish Society for Artificial Intelligence.</a:t>
            </a:r>
          </a:p>
          <a:p>
            <a:pPr marL="171450" indent="-171450" algn="l">
              <a:buFont typeface="Arial" panose="020B0604020202020204" pitchFamily="34" charset="0"/>
              <a:buChar char="•"/>
            </a:pPr>
            <a:r>
              <a:rPr lang="en-US" sz="1200" b="0" i="0" dirty="0" err="1"/>
              <a:t>Kak</a:t>
            </a:r>
            <a:r>
              <a:rPr lang="en-US" sz="1200" b="0" i="0" dirty="0"/>
              <a:t>, S. C. (1995). On Quantum Neural Computing. Inf. Sci., 83, 143–160. https://</a:t>
            </a:r>
            <a:r>
              <a:rPr lang="en-US" sz="1200" b="0" i="0" dirty="0" err="1"/>
              <a:t>api.semanticscholar.org</a:t>
            </a:r>
            <a:r>
              <a:rPr lang="en-US" sz="1200" b="0" i="0" dirty="0"/>
              <a:t>/CorpusID:7498355</a:t>
            </a:r>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908438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Two American researchers provided some of the most widely cited definitions of artificial intelligence and machine learning.</a:t>
            </a:r>
          </a:p>
          <a:p>
            <a:pPr algn="just"/>
            <a:endParaRPr lang="en-ZA" b="0" dirty="0"/>
          </a:p>
          <a:p>
            <a:pPr algn="just"/>
            <a:r>
              <a:rPr lang="en-ZA" b="1" dirty="0"/>
              <a:t>John McCarthy</a:t>
            </a:r>
            <a:r>
              <a:rPr lang="en-ZA" dirty="0"/>
              <a:t>, who coined the term </a:t>
            </a:r>
            <a:r>
              <a:rPr lang="en-ZA" i="1" dirty="0"/>
              <a:t>artificial intelligence</a:t>
            </a:r>
            <a:r>
              <a:rPr lang="en-ZA" dirty="0"/>
              <a:t>, defined it as </a:t>
            </a:r>
            <a:r>
              <a:rPr lang="en-ZA" i="1" dirty="0"/>
              <a:t>“the science and engineering of making intelligent machines.”</a:t>
            </a:r>
          </a:p>
          <a:p>
            <a:pPr algn="just"/>
            <a:endParaRPr lang="en-ZA" dirty="0"/>
          </a:p>
          <a:p>
            <a:pPr algn="just"/>
            <a:r>
              <a:rPr lang="en-ZA" b="1" dirty="0"/>
              <a:t>Machine learning</a:t>
            </a:r>
            <a:r>
              <a:rPr lang="en-ZA" dirty="0"/>
              <a:t>, a subfield of artificial intelligence, was famously described by </a:t>
            </a:r>
            <a:r>
              <a:rPr lang="en-ZA" b="1" dirty="0"/>
              <a:t>Arthur Samuel</a:t>
            </a:r>
            <a:r>
              <a:rPr lang="en-ZA" dirty="0"/>
              <a:t> as </a:t>
            </a:r>
            <a:r>
              <a:rPr lang="en-ZA" i="1" dirty="0"/>
              <a:t>“a field of study that gives computers the ability to learn without being explicitly programmed.”</a:t>
            </a:r>
          </a:p>
          <a:p>
            <a:pPr algn="just"/>
            <a:endParaRPr lang="en-ZA" dirty="0"/>
          </a:p>
          <a:p>
            <a:pPr algn="just"/>
            <a:r>
              <a:rPr lang="en-ZA" b="0" dirty="0"/>
              <a:t>Extending these ideas, quantum artificial intelligence can be described as a research field focused on developing artificial intelligence and machine learning methods that use the power of quantum computing.</a:t>
            </a:r>
          </a:p>
          <a:p>
            <a:pPr algn="just"/>
            <a:endParaRPr lang="en-ZA" b="0" dirty="0"/>
          </a:p>
          <a:p>
            <a:pPr algn="just"/>
            <a:r>
              <a:rPr lang="en-ZA" b="0" dirty="0"/>
              <a:t>It is important to emphasize that quantum machine learning is not simply classical machine learning running on a quantum computer. It develops models and methods that use specifically quantum properties and operations as part of the learning process.</a:t>
            </a:r>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1498195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Artificial intelligence (AI) is a broad field focused on creating intelligent systems that can perceive, reason, learn, and act to achieve a goal.</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Machine Learning (ML) is a subset of AI that enables systems to learn patterns from data and make predictions or decisions without being explicitly programmed for every task.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Deep Learning (DL) is a specialized subfield of ML that uses multi-layered artificial neural networks to automatically learn complex representations of data, excelling at tasks such as image recognition and natural language processing.</a:t>
            </a:r>
            <a:endParaRPr lang="en-US" b="0" dirty="0"/>
          </a:p>
        </p:txBody>
      </p:sp>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2157314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1" dirty="0"/>
              <a:t>Machine learning</a:t>
            </a:r>
            <a:r>
              <a:rPr lang="en-ZA" dirty="0"/>
              <a:t> is about learning from existing data and using that knowledge to make decisions about new data.</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In a </a:t>
            </a:r>
            <a:r>
              <a:rPr lang="en-ZA" b="1" dirty="0"/>
              <a:t>classification problem</a:t>
            </a:r>
            <a:r>
              <a:rPr lang="en-ZA" dirty="0"/>
              <a:t>, the goal is to assign data to predefined classes. For example, to classify an image as either a cat or a dog.</a:t>
            </a:r>
          </a:p>
          <a:p>
            <a:pPr algn="just"/>
            <a:endParaRPr lang="en-ZA" dirty="0"/>
          </a:p>
          <a:p>
            <a:pPr algn="just"/>
            <a:r>
              <a:rPr lang="en-ZA" dirty="0"/>
              <a:t>The process begins with a set of examples for which the correct classes are already known. This is called the </a:t>
            </a:r>
            <a:r>
              <a:rPr lang="en-ZA" b="1" dirty="0"/>
              <a:t>training data</a:t>
            </a:r>
            <a:r>
              <a:rPr lang="en-ZA" dirty="0"/>
              <a:t>. A machine learning program uses this data to identify patterns and build a </a:t>
            </a:r>
            <a:r>
              <a:rPr lang="en-ZA" b="1" dirty="0"/>
              <a:t>model</a:t>
            </a:r>
            <a:r>
              <a:rPr lang="en-ZA" dirty="0"/>
              <a:t>. Once training is complete, the model can be saved and reused later.</a:t>
            </a:r>
          </a:p>
          <a:p>
            <a:pPr algn="just"/>
            <a:endParaRPr lang="en-ZA" dirty="0"/>
          </a:p>
          <a:p>
            <a:pPr algn="just"/>
            <a:r>
              <a:rPr lang="en-ZA" dirty="0"/>
              <a:t>When new, unseen data is provided, another part of the system, often called the </a:t>
            </a:r>
            <a:r>
              <a:rPr lang="en-ZA" b="1" dirty="0"/>
              <a:t>inference engine</a:t>
            </a:r>
            <a:r>
              <a:rPr lang="en-ZA" dirty="0"/>
              <a:t>, loads the trained model and uses it to make a classification.</a:t>
            </a:r>
          </a:p>
        </p:txBody>
      </p:sp>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958848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Machine learning is typically divided into three main types: </a:t>
            </a:r>
            <a:r>
              <a:rPr lang="en-ZA" b="1" dirty="0"/>
              <a:t>supervised, unsupervised, and reinforcement learning</a:t>
            </a:r>
            <a:r>
              <a:rPr lang="en-ZA" dirty="0"/>
              <a:t>.</a:t>
            </a:r>
          </a:p>
          <a:p>
            <a:endParaRPr lang="en-ZA" dirty="0"/>
          </a:p>
          <a:p>
            <a:r>
              <a:rPr lang="en-ZA" b="1" dirty="0"/>
              <a:t>Supervised learning</a:t>
            </a:r>
            <a:r>
              <a:rPr lang="en-ZA" dirty="0"/>
              <a:t> learns from </a:t>
            </a:r>
            <a:r>
              <a:rPr lang="en-ZA" dirty="0" err="1"/>
              <a:t>labeled</a:t>
            </a:r>
            <a:r>
              <a:rPr lang="en-ZA" dirty="0"/>
              <a:t> training data and uses the resulting model to classify or predict new data. Besides classification, it includes </a:t>
            </a:r>
            <a:r>
              <a:rPr lang="en-ZA" b="1" dirty="0"/>
              <a:t>regression</a:t>
            </a:r>
            <a:r>
              <a:rPr lang="en-ZA" dirty="0"/>
              <a:t>, which predicts continuous numerical values. For example, predicting a house price from historical sales data.</a:t>
            </a:r>
          </a:p>
          <a:p>
            <a:endParaRPr lang="en-ZA" dirty="0"/>
          </a:p>
          <a:p>
            <a:r>
              <a:rPr lang="en-ZA" b="1" dirty="0"/>
              <a:t>Unsupervised learning</a:t>
            </a:r>
            <a:r>
              <a:rPr lang="en-ZA" dirty="0"/>
              <a:t> works with </a:t>
            </a:r>
            <a:r>
              <a:rPr lang="en-ZA" dirty="0" err="1"/>
              <a:t>unlabeled</a:t>
            </a:r>
            <a:r>
              <a:rPr lang="en-ZA" dirty="0"/>
              <a:t> data and tries to discover hidden patterns or groups. For example, given images of apples and watermelons without labels, the algorithm may group them based on properties such as </a:t>
            </a:r>
            <a:r>
              <a:rPr lang="en-ZA" dirty="0" err="1"/>
              <a:t>color</a:t>
            </a:r>
            <a:r>
              <a:rPr lang="en-ZA" dirty="0"/>
              <a:t>, shape, and size.</a:t>
            </a:r>
          </a:p>
          <a:p>
            <a:endParaRPr lang="en-ZA" dirty="0"/>
          </a:p>
          <a:p>
            <a:r>
              <a:rPr lang="en-ZA" b="1" dirty="0"/>
              <a:t>Reinforcement learning</a:t>
            </a:r>
            <a:r>
              <a:rPr lang="en-ZA" dirty="0"/>
              <a:t> learns through trial and error by interacting with an environment and receiving </a:t>
            </a:r>
            <a:r>
              <a:rPr lang="en-ZA" b="1" dirty="0"/>
              <a:t>rewards or penalties</a:t>
            </a:r>
            <a:r>
              <a:rPr lang="en-ZA" dirty="0"/>
              <a:t>. For example, a Pac-Man agent can learn to collect rewards while avoiding ghosts. Similar principles can be applied to autonomous systems that learn which actions lead to better outcomes.</a:t>
            </a:r>
          </a:p>
        </p:txBody>
      </p:sp>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13272058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 common distinction in modern machine learning is between discriminative and generative models.</a:t>
            </a:r>
          </a:p>
          <a:p>
            <a:endParaRPr lang="en-ZA" b="0" dirty="0"/>
          </a:p>
          <a:p>
            <a:r>
              <a:rPr lang="en-ZA" b="1" dirty="0"/>
              <a:t>Discriminative models</a:t>
            </a:r>
            <a:r>
              <a:rPr lang="en-ZA" dirty="0"/>
              <a:t> learn to distinguish between different outcomes or make predictions from input data. For example, a discriminative model can learn whether an image represents a cat or a dog.</a:t>
            </a:r>
            <a:endParaRPr lang="en-ZA" b="0" dirty="0"/>
          </a:p>
          <a:p>
            <a:endParaRPr lang="en-ZA" b="0" dirty="0"/>
          </a:p>
          <a:p>
            <a:r>
              <a:rPr lang="en-ZA" b="1" dirty="0"/>
              <a:t>Generative models</a:t>
            </a:r>
            <a:r>
              <a:rPr lang="en-ZA" dirty="0"/>
              <a:t> learn the underlying probability distribution of the data. This allows them not only to recognize patterns in the data but also to generate new, similar samples.</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112746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machine learning, data are organized into data points, described by attributes that can be selected or transformed into features. These features form feature vectors within a feature space.</a:t>
            </a:r>
          </a:p>
          <a:p>
            <a:endParaRPr lang="en-ZA" b="0" dirty="0"/>
          </a:p>
          <a:p>
            <a:pPr marL="171450" indent="-171450">
              <a:buFont typeface="Arial" panose="020B0604020202020204" pitchFamily="34" charset="0"/>
              <a:buChar char="•"/>
            </a:pPr>
            <a:r>
              <a:rPr lang="en-ZA" b="1" dirty="0"/>
              <a:t>Data</a:t>
            </a:r>
            <a:r>
              <a:rPr lang="en-ZA" dirty="0"/>
              <a:t> are collected facts or measurements.</a:t>
            </a:r>
          </a:p>
          <a:p>
            <a:pPr marL="171450" indent="-171450">
              <a:buFont typeface="Arial" panose="020B0604020202020204" pitchFamily="34" charset="0"/>
              <a:buChar char="•"/>
            </a:pPr>
            <a:r>
              <a:rPr lang="en-ZA" b="1" dirty="0"/>
              <a:t>Data point</a:t>
            </a:r>
            <a:r>
              <a:rPr lang="en-ZA" dirty="0"/>
              <a:t> is a single observation or example in a dataset.</a:t>
            </a:r>
          </a:p>
          <a:p>
            <a:pPr marL="171450" indent="-171450">
              <a:buFont typeface="Arial" panose="020B0604020202020204" pitchFamily="34" charset="0"/>
              <a:buChar char="•"/>
            </a:pPr>
            <a:r>
              <a:rPr lang="en-ZA" b="1" dirty="0"/>
              <a:t>Attribute</a:t>
            </a:r>
            <a:r>
              <a:rPr lang="en-ZA" dirty="0"/>
              <a:t> is a property of a data point as originally collected, for example, the </a:t>
            </a:r>
            <a:r>
              <a:rPr lang="en-ZA" i="1" dirty="0"/>
              <a:t>size of a house in square meters</a:t>
            </a:r>
            <a:r>
              <a:rPr lang="en-ZA" dirty="0"/>
              <a:t>.</a:t>
            </a:r>
          </a:p>
          <a:p>
            <a:pPr marL="171450" indent="-171450">
              <a:buFont typeface="Arial" panose="020B0604020202020204" pitchFamily="34" charset="0"/>
              <a:buChar char="•"/>
            </a:pPr>
            <a:r>
              <a:rPr lang="en-ZA" b="1" dirty="0"/>
              <a:t>Feature</a:t>
            </a:r>
            <a:r>
              <a:rPr lang="en-ZA" dirty="0"/>
              <a:t> is an attribute that has been selected or transformed for use as input to a machine learning model. Features are often normalized to make them suitable for processing.</a:t>
            </a:r>
          </a:p>
          <a:p>
            <a:pPr marL="171450" indent="-171450">
              <a:buFont typeface="Arial" panose="020B0604020202020204" pitchFamily="34" charset="0"/>
              <a:buChar char="•"/>
            </a:pPr>
            <a:r>
              <a:rPr lang="en-ZA" b="1" dirty="0"/>
              <a:t>Feature vector</a:t>
            </a:r>
            <a:r>
              <a:rPr lang="en-ZA" dirty="0"/>
              <a:t> is the set of features describing a single data point, commonly represented mathematically as a column vector.</a:t>
            </a:r>
          </a:p>
          <a:p>
            <a:pPr marL="171450" indent="-171450">
              <a:buFont typeface="Arial" panose="020B0604020202020204" pitchFamily="34" charset="0"/>
              <a:buChar char="•"/>
            </a:pPr>
            <a:r>
              <a:rPr lang="en-ZA" b="1" dirty="0"/>
              <a:t>Feature space</a:t>
            </a:r>
            <a:r>
              <a:rPr lang="en-ZA" dirty="0"/>
              <a:t> is the multidimensional space defined by all features, with one dimension for each feature.</a:t>
            </a:r>
          </a:p>
          <a:p>
            <a:pPr marL="171450" indent="-171450">
              <a:buFont typeface="Arial" panose="020B0604020202020204" pitchFamily="34" charset="0"/>
              <a:buChar char="•"/>
            </a:pPr>
            <a:r>
              <a:rPr lang="en-ZA" b="1" dirty="0"/>
              <a:t>Dataset</a:t>
            </a:r>
            <a:r>
              <a:rPr lang="en-ZA" dirty="0"/>
              <a:t> is the complete collection of data points used for training, validation, or testing.</a:t>
            </a:r>
          </a:p>
          <a:p>
            <a:endParaRPr lang="en-ZA" b="0" dirty="0"/>
          </a:p>
          <a:p>
            <a:endParaRPr lang="en-ZA" b="0" dirty="0"/>
          </a:p>
          <a:p>
            <a:r>
              <a:rPr lang="en-ZA" b="1" dirty="0"/>
              <a:t>Data preparation</a:t>
            </a:r>
          </a:p>
          <a:p>
            <a:r>
              <a:rPr lang="en-ZA" b="0" dirty="0"/>
              <a:t>Data preparation commonly includes two important processes:</a:t>
            </a:r>
          </a:p>
          <a:p>
            <a:endParaRPr lang="en-ZA" b="0" dirty="0"/>
          </a:p>
          <a:p>
            <a:r>
              <a:rPr lang="en-ZA" b="1" dirty="0"/>
              <a:t>Feature selection</a:t>
            </a:r>
            <a:r>
              <a:rPr lang="en-ZA" b="0" dirty="0"/>
              <a:t> – Choosing the attributes that are most relevant to the problem. For example, floor size may be useful for predicting house prices, while house </a:t>
            </a:r>
            <a:r>
              <a:rPr lang="en-ZA" b="0" dirty="0" err="1"/>
              <a:t>color</a:t>
            </a:r>
            <a:r>
              <a:rPr lang="en-ZA" b="0" dirty="0"/>
              <a:t> may be less relevant.</a:t>
            </a:r>
          </a:p>
          <a:p>
            <a:r>
              <a:rPr lang="en-ZA" b="1" dirty="0"/>
              <a:t>Feature engineering</a:t>
            </a:r>
            <a:r>
              <a:rPr lang="en-ZA" b="0" dirty="0"/>
              <a:t> – Transforming raw attributes into a form that can be effectively processed by the model. Numerical values can be used directly or normalized, while categorical information, such as a street name, can be converted using one-hot encoding.</a:t>
            </a:r>
          </a:p>
          <a:p>
            <a:r>
              <a:rPr lang="en-ZA" b="1" dirty="0"/>
              <a:t>Quantum data encoding</a:t>
            </a:r>
            <a:r>
              <a:rPr lang="en-ZA" dirty="0"/>
              <a:t> – Encoding numerical feature values into quantum states so they can be processed by a quantum circuit.</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2874931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quantum machine learning, different approaches can be categorized according to the type of data (classical or quantum) and the type of algorithm (classical or quantum).</a:t>
            </a:r>
          </a:p>
          <a:p>
            <a:pPr algn="just"/>
            <a:endParaRPr lang="en-ZA" b="0" dirty="0"/>
          </a:p>
          <a:p>
            <a:pPr algn="just"/>
            <a:r>
              <a:rPr lang="en-ZA" b="0" dirty="0"/>
              <a:t>The first letter in the diagram indicates whether the data is classical (C) or quantum (Q), while the second letter indicates whether the algorithm is classical or quantum. This gives four possible workflows:</a:t>
            </a:r>
          </a:p>
          <a:p>
            <a:pPr algn="just"/>
            <a:endParaRPr lang="en-ZA" b="0" dirty="0"/>
          </a:p>
          <a:p>
            <a:pPr algn="just"/>
            <a:r>
              <a:rPr lang="en-ZA" b="1" dirty="0"/>
              <a:t>CC (Classical–Classical)</a:t>
            </a:r>
            <a:r>
              <a:rPr lang="en-ZA" b="0" dirty="0"/>
              <a:t>: Standard machine learning — classical data processed by classical algorithms.</a:t>
            </a:r>
          </a:p>
          <a:p>
            <a:pPr algn="just"/>
            <a:r>
              <a:rPr lang="en-ZA" b="1" dirty="0"/>
              <a:t>CQ (Classical–Quantum)</a:t>
            </a:r>
            <a:r>
              <a:rPr lang="en-ZA" b="0" dirty="0"/>
              <a:t>: Classical data encoded into quantum states and processed by a quantum algorithm.</a:t>
            </a:r>
          </a:p>
          <a:p>
            <a:pPr algn="just"/>
            <a:r>
              <a:rPr lang="en-ZA" b="1" dirty="0"/>
              <a:t>QC (Quantum–Classical)</a:t>
            </a:r>
            <a:r>
              <a:rPr lang="en-ZA" b="0" dirty="0"/>
              <a:t>: Quantum data measured and then processed by a classical algorithm. Measurement converts the quantum information into classical data and may lose some information about the original quantum state.</a:t>
            </a:r>
          </a:p>
          <a:p>
            <a:pPr algn="just"/>
            <a:r>
              <a:rPr lang="en-ZA" b="1" dirty="0"/>
              <a:t>QQ (Quantum–Quantum)</a:t>
            </a:r>
            <a:r>
              <a:rPr lang="en-ZA" b="0" dirty="0"/>
              <a:t>: Quantum data processed directly by quantum algorithms. This can include quantum data produced by quantum sensors, communication systems, or quantum simulations.</a:t>
            </a:r>
          </a:p>
        </p:txBody>
      </p:sp>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983160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Quantum machine learning can be described using a general three-step model:</a:t>
            </a:r>
          </a:p>
          <a:p>
            <a:endParaRPr lang="en-ZA" b="0" dirty="0"/>
          </a:p>
          <a:p>
            <a:pPr marL="228600" indent="-228600">
              <a:buFont typeface="+mj-lt"/>
              <a:buAutoNum type="arabicPeriod"/>
            </a:pPr>
            <a:r>
              <a:rPr lang="en-ZA" b="0" dirty="0"/>
              <a:t>Data encoding – Input data is encoded into quantum states using methods such as basis encoding, amplitude encoding, or angle encoding.</a:t>
            </a:r>
          </a:p>
          <a:p>
            <a:pPr marL="228600" indent="-228600">
              <a:buFont typeface="+mj-lt"/>
              <a:buAutoNum type="arabicPeriod"/>
            </a:pPr>
            <a:endParaRPr lang="en-ZA" b="0" dirty="0"/>
          </a:p>
          <a:p>
            <a:pPr marL="228600" indent="-228600">
              <a:buFont typeface="+mj-lt"/>
              <a:buAutoNum type="arabicPeriod"/>
            </a:pPr>
            <a:r>
              <a:rPr lang="en-ZA" b="0" dirty="0"/>
              <a:t>Quantum processing – A quantum circuit processes the encoded data and acts as the machine learning model. The circuit may contain </a:t>
            </a:r>
            <a:r>
              <a:rPr lang="en-ZA" b="0" dirty="0" err="1"/>
              <a:t>tunable</a:t>
            </a:r>
            <a:r>
              <a:rPr lang="en-ZA" b="0" dirty="0"/>
              <a:t> parameters that are optimized during training, often using a classical optimization loop.</a:t>
            </a:r>
          </a:p>
          <a:p>
            <a:pPr marL="228600" indent="-228600">
              <a:buFont typeface="+mj-lt"/>
              <a:buAutoNum type="arabicPeriod"/>
            </a:pPr>
            <a:endParaRPr lang="en-ZA" b="0" dirty="0"/>
          </a:p>
          <a:p>
            <a:pPr marL="228600" indent="-228600">
              <a:buFont typeface="+mj-lt"/>
              <a:buAutoNum type="arabicPeriod"/>
            </a:pPr>
            <a:r>
              <a:rPr lang="en-ZA" b="0" dirty="0"/>
              <a:t>Measurement and prediction – Finally, the quantum state is measured. The measurement results are converted into classical information and interpreted as the output or prediction of the model.</a:t>
            </a:r>
          </a:p>
          <a:p>
            <a:pPr algn="just"/>
            <a:endParaRPr lang="en-ZA" b="0" dirty="0"/>
          </a:p>
          <a:p>
            <a:pPr marL="0" indent="0">
              <a:buFont typeface="Arial" panose="020B0604020202020204" pitchFamily="34" charset="0"/>
              <a:buNone/>
            </a:pPr>
            <a:endParaRPr lang="en-US" sz="1200" dirty="0"/>
          </a:p>
          <a:p>
            <a:pPr marL="0" indent="0">
              <a:buFont typeface="Arial" panose="020B0604020202020204" pitchFamily="34" charset="0"/>
              <a:buNone/>
            </a:pPr>
            <a:r>
              <a:rPr lang="en-US" b="0" i="1" dirty="0"/>
              <a:t>Reference</a:t>
            </a:r>
            <a:endParaRPr lang="en-US" sz="1200" i="1"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err="1"/>
              <a:t>Schuld</a:t>
            </a:r>
            <a:r>
              <a:rPr lang="en-US" sz="1200" i="1" dirty="0"/>
              <a:t>, M., Supervised quantum machine learning models are kernel methods (2021). </a:t>
            </a:r>
            <a:r>
              <a:rPr lang="en-US" sz="1200" i="1" dirty="0" err="1"/>
              <a:t>arXiv</a:t>
            </a:r>
            <a:r>
              <a:rPr lang="en-US" sz="1200" i="1" dirty="0"/>
              <a:t> preprint arXiv:2101.11020</a:t>
            </a:r>
          </a:p>
          <a:p>
            <a:pPr marL="457200" indent="-457200">
              <a:buFont typeface="Arial" panose="020B0604020202020204" pitchFamily="34" charset="0"/>
              <a:buChar char="•"/>
            </a:pPr>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1054500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Variational Quantum Algorithms (VQAs) are hybrid quantum–classical methods used in optimization, machine learning, and quantum chemistry.</a:t>
            </a:r>
          </a:p>
          <a:p>
            <a:pPr algn="just"/>
            <a:endParaRPr lang="en-ZA" b="0" dirty="0"/>
          </a:p>
          <a:p>
            <a:pPr marL="171450" indent="-171450" algn="just">
              <a:buFont typeface="Arial" panose="020B0604020202020204" pitchFamily="34" charset="0"/>
              <a:buChar char="•"/>
            </a:pPr>
            <a:r>
              <a:rPr lang="en-ZA" b="0" dirty="0"/>
              <a:t>They use variational (parameterized) quantum circuits with </a:t>
            </a:r>
            <a:r>
              <a:rPr lang="en-ZA" b="0" dirty="0" err="1"/>
              <a:t>tunable</a:t>
            </a:r>
            <a:r>
              <a:rPr lang="en-ZA" b="0" dirty="0"/>
              <a:t> gates.</a:t>
            </a:r>
          </a:p>
          <a:p>
            <a:pPr marL="171450" indent="-171450" algn="just">
              <a:buFont typeface="Arial" panose="020B0604020202020204" pitchFamily="34" charset="0"/>
              <a:buChar char="•"/>
            </a:pPr>
            <a:r>
              <a:rPr lang="en-ZA" b="0" dirty="0"/>
              <a:t>A classical optimizer adjusts these parameters to minimize or maximize a cost function, using feedback from quantum measurements.</a:t>
            </a:r>
          </a:p>
          <a:p>
            <a:pPr marL="171450" indent="-171450" algn="just">
              <a:buFont typeface="Arial" panose="020B0604020202020204" pitchFamily="34" charset="0"/>
              <a:buChar char="•"/>
            </a:pPr>
            <a:r>
              <a:rPr lang="en-ZA" b="0" dirty="0"/>
              <a:t>The quantum circuit efficiently explores the solution space, while the classical optimizer steers the search toward the best solution.</a:t>
            </a:r>
          </a:p>
        </p:txBody>
      </p:sp>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1246906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Variational or parameterized</a:t>
                </a:r>
                <a:r>
                  <a:rPr lang="en-ZA" dirty="0"/>
                  <a:t> means that the quantum circuit contains adjustable parameters, typically the rotation angles of certain quantum gates, which are tuned during training.</a:t>
                </a:r>
              </a:p>
              <a:p>
                <a:endParaRPr lang="en-ZA" dirty="0"/>
              </a:p>
              <a:p>
                <a:r>
                  <a:rPr lang="en-ZA" dirty="0"/>
                  <a:t>Such a circuit is called a </a:t>
                </a:r>
                <a:r>
                  <a:rPr lang="en-ZA" b="1" dirty="0"/>
                  <a:t>Variational Quantum Circuit (VQC)</a:t>
                </a:r>
                <a:r>
                  <a:rPr lang="en-ZA" dirty="0"/>
                  <a:t> or </a:t>
                </a:r>
                <a:r>
                  <a:rPr lang="en-ZA" b="1" dirty="0"/>
                  <a:t>Parameterized Quantum Circuit (PQC)</a:t>
                </a:r>
                <a:r>
                  <a:rPr lang="en-ZA" dirty="0"/>
                  <a:t> and can be viewed as a quantum counterpart of a trainable machine learning model.</a:t>
                </a:r>
              </a:p>
              <a:p>
                <a:endParaRPr lang="en-ZA" dirty="0"/>
              </a:p>
              <a:p>
                <a:r>
                  <a:rPr lang="en-ZA" dirty="0"/>
                  <a:t>A VQC typically consists of three layers: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b="1" dirty="0"/>
                  <a:t>Encoding layer </a:t>
                </a:r>
                <a14:m>
                  <m:oMath xmlns:m="http://schemas.openxmlformats.org/officeDocument/2006/math">
                    <m:r>
                      <a:rPr lang="en-US" sz="1200" b="1" i="1" smtClean="0">
                        <a:latin typeface="Cambria Math" panose="02040503050406030204" pitchFamily="18" charset="0"/>
                      </a:rPr>
                      <m:t>𝑼</m:t>
                    </m:r>
                    <m:r>
                      <a:rPr lang="en-US" sz="1200" b="1" i="1" smtClean="0">
                        <a:latin typeface="Cambria Math" panose="02040503050406030204" pitchFamily="18" charset="0"/>
                      </a:rPr>
                      <m:t>(</m:t>
                    </m:r>
                    <m:r>
                      <a:rPr lang="en-US" sz="1200" b="1" i="1" smtClean="0">
                        <a:latin typeface="Cambria Math" panose="02040503050406030204" pitchFamily="18" charset="0"/>
                      </a:rPr>
                      <m:t>𝒙</m:t>
                    </m:r>
                    <m:r>
                      <a:rPr lang="en-US" sz="1200" b="1" i="1">
                        <a:latin typeface="Cambria Math" panose="02040503050406030204" pitchFamily="18" charset="0"/>
                      </a:rPr>
                      <m:t>)</m:t>
                    </m:r>
                  </m:oMath>
                </a14:m>
                <a:r>
                  <a:rPr lang="en-ZA" b="1" dirty="0"/>
                  <a:t>: </a:t>
                </a:r>
                <a:r>
                  <a:rPr lang="en-ZA" dirty="0"/>
                  <a:t>Encodes the classical input features </a:t>
                </a:r>
                <a14:m>
                  <m:oMath xmlns:m="http://schemas.openxmlformats.org/officeDocument/2006/math">
                    <m:r>
                      <a:rPr lang="en-US" sz="1200" b="1" i="1" smtClean="0">
                        <a:solidFill>
                          <a:schemeClr val="tx1"/>
                        </a:solidFill>
                        <a:latin typeface="Cambria Math" panose="02040503050406030204" pitchFamily="18" charset="0"/>
                      </a:rPr>
                      <m:t>𝒙</m:t>
                    </m:r>
                  </m:oMath>
                </a14:m>
                <a:r>
                  <a:rPr lang="en-ZA" dirty="0"/>
                  <a:t> into a quantum state using methods such as basis, amplitude, or angle encoding.</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b="1" dirty="0"/>
                  <a:t>Variational layer </a:t>
                </a:r>
                <a14:m>
                  <m:oMath xmlns:m="http://schemas.openxmlformats.org/officeDocument/2006/math">
                    <m:r>
                      <a:rPr lang="en-US" sz="1200" b="1" i="1" smtClean="0">
                        <a:latin typeface="Cambria Math" panose="02040503050406030204" pitchFamily="18" charset="0"/>
                      </a:rPr>
                      <m:t>𝑽</m:t>
                    </m:r>
                    <m:r>
                      <a:rPr lang="en-US" sz="1200" b="1" i="1" smtClean="0">
                        <a:latin typeface="Cambria Math" panose="02040503050406030204" pitchFamily="18" charset="0"/>
                      </a:rPr>
                      <m:t>(</m:t>
                    </m:r>
                    <m:r>
                      <a:rPr lang="en-US" sz="1200" b="1" i="1">
                        <a:latin typeface="Cambria Math" panose="02040503050406030204" pitchFamily="18" charset="0"/>
                        <a:ea typeface="Cambria Math" panose="02040503050406030204" pitchFamily="18" charset="0"/>
                      </a:rPr>
                      <m:t>𝜽</m:t>
                    </m:r>
                    <m:r>
                      <a:rPr lang="en-US" sz="1200" b="1" i="1">
                        <a:latin typeface="Cambria Math" panose="02040503050406030204" pitchFamily="18" charset="0"/>
                      </a:rPr>
                      <m:t>)</m:t>
                    </m:r>
                  </m:oMath>
                </a14:m>
                <a:r>
                  <a:rPr lang="en-US" b="1" dirty="0"/>
                  <a:t>: </a:t>
                </a:r>
                <a:r>
                  <a:rPr lang="en-ZA" dirty="0"/>
                  <a:t>Contains parameterized quantum gates whose parameters </a:t>
                </a:r>
                <a:r>
                  <a:rPr lang="el-GR" dirty="0"/>
                  <a:t>θ </a:t>
                </a:r>
                <a:r>
                  <a:rPr lang="en-ZA" dirty="0"/>
                  <a:t>are adjusted during training. The structure of this layer is often called an </a:t>
                </a:r>
                <a:r>
                  <a:rPr lang="en-ZA" b="1" dirty="0"/>
                  <a:t>ansatz</a:t>
                </a:r>
                <a:r>
                  <a:rPr lang="en-ZA" dirty="0"/>
                  <a:t>—an assumed circuit structure that can be tuned to approximate the desired solution.</a:t>
                </a:r>
              </a:p>
              <a:p>
                <a:pPr marL="228600" indent="-228600">
                  <a:buFont typeface="+mj-lt"/>
                  <a:buAutoNum type="arabicPeriod"/>
                </a:pPr>
                <a:r>
                  <a:rPr lang="en-ZA" b="1" dirty="0"/>
                  <a:t>Measurement layer </a:t>
                </a:r>
                <a:r>
                  <a:rPr lang="en-ZA" dirty="0"/>
                  <a:t>Selected qubits are measured to obtain classical output from the quantum circuit. The circuit is typically executed many times (</a:t>
                </a:r>
                <a:r>
                  <a:rPr lang="en-ZA" i="1" dirty="0"/>
                  <a:t>shots</a:t>
                </a:r>
                <a:r>
                  <a:rPr lang="en-ZA" dirty="0"/>
                  <a:t>) to estimate probabilities or expectation values.</a:t>
                </a:r>
              </a:p>
              <a:p>
                <a:endParaRPr lang="en-ZA" dirty="0"/>
              </a:p>
              <a:p>
                <a:r>
                  <a:rPr lang="en-ZA" b="1" dirty="0"/>
                  <a:t>Training Loop</a:t>
                </a:r>
              </a:p>
              <a:p>
                <a:pPr marL="228600" indent="-228600">
                  <a:buFont typeface="+mj-lt"/>
                  <a:buAutoNum type="arabicPeriod"/>
                </a:pPr>
                <a:r>
                  <a:rPr lang="en-ZA" dirty="0"/>
                  <a:t>Start with input data </a:t>
                </a:r>
                <a14:m>
                  <m:oMath xmlns:m="http://schemas.openxmlformats.org/officeDocument/2006/math">
                    <m:r>
                      <a:rPr lang="en-US" sz="1200" b="1" i="1" smtClean="0">
                        <a:solidFill>
                          <a:schemeClr val="tx1"/>
                        </a:solidFill>
                        <a:latin typeface="Cambria Math" panose="02040503050406030204" pitchFamily="18" charset="0"/>
                      </a:rPr>
                      <m:t>𝒙</m:t>
                    </m:r>
                  </m:oMath>
                </a14:m>
                <a:r>
                  <a:rPr lang="en-ZA" dirty="0"/>
                  <a:t> and initial parameters </a:t>
                </a:r>
                <a:r>
                  <a:rPr lang="el-GR" dirty="0"/>
                  <a:t>θ. </a:t>
                </a:r>
              </a:p>
              <a:p>
                <a:pPr marL="228600" indent="-228600">
                  <a:buFont typeface="+mj-lt"/>
                  <a:buAutoNum type="arabicPeriod"/>
                </a:pPr>
                <a:r>
                  <a:rPr lang="en-ZA" dirty="0"/>
                  <a:t>Execute the quantum circuit and measure its output. </a:t>
                </a:r>
              </a:p>
              <a:p>
                <a:pPr marL="228600" indent="-228600">
                  <a:buFont typeface="+mj-lt"/>
                  <a:buAutoNum type="arabicPeriod"/>
                </a:pPr>
                <a:r>
                  <a:rPr lang="en-ZA" dirty="0"/>
                  <a:t>Compare the output with the expected result and calculate a </a:t>
                </a:r>
                <a:r>
                  <a:rPr lang="en-ZA" b="1" dirty="0"/>
                  <a:t>cost (loss) function</a:t>
                </a:r>
                <a:r>
                  <a:rPr lang="en-ZA" dirty="0"/>
                  <a:t>. </a:t>
                </a:r>
              </a:p>
              <a:p>
                <a:pPr marL="228600" indent="-228600">
                  <a:buFont typeface="+mj-lt"/>
                  <a:buAutoNum type="arabicPeriod"/>
                </a:pPr>
                <a:r>
                  <a:rPr lang="en-ZA" dirty="0"/>
                  <a:t>A classical optimizer uses the cost to update </a:t>
                </a:r>
                <a:r>
                  <a:rPr lang="el-GR" dirty="0"/>
                  <a:t>θ. </a:t>
                </a:r>
              </a:p>
              <a:p>
                <a:pPr marL="228600" indent="-228600">
                  <a:buFont typeface="+mj-lt"/>
                  <a:buAutoNum type="arabicPeriod"/>
                </a:pPr>
                <a:r>
                  <a:rPr lang="en-ZA" dirty="0"/>
                  <a:t>Run the circuit again with the new parameters and repeat until the model reaches the desired performance.</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dirty="0" err="1"/>
                  <a:t>Kvantno</a:t>
                </a:r>
                <a:r>
                  <a:rPr lang="en-US" sz="2000" b="0" i="0" dirty="0"/>
                  <a:t> </a:t>
                </a:r>
                <a:r>
                  <a:rPr lang="en-US" sz="2000" b="0" i="0" dirty="0" err="1"/>
                  <a:t>kolo</a:t>
                </a:r>
                <a:r>
                  <a:rPr lang="en-US" sz="2000" b="0" i="0" dirty="0"/>
                  <a:t> </a:t>
                </a:r>
                <a:r>
                  <a:rPr lang="en-US" sz="2000" b="0" i="0" dirty="0" err="1"/>
                  <a:t>parametarizovanog</a:t>
                </a:r>
                <a:r>
                  <a:rPr lang="en-US" sz="2000" b="0" i="0" dirty="0"/>
                  <a:t> </a:t>
                </a:r>
                <a:r>
                  <a:rPr lang="en-US" sz="2000" b="0" i="0" dirty="0" err="1"/>
                  <a:t>kvantnog</a:t>
                </a:r>
                <a:r>
                  <a:rPr lang="en-US" sz="2000" b="0" i="0" dirty="0"/>
                  <a:t> </a:t>
                </a:r>
                <a:r>
                  <a:rPr lang="en-US" sz="2000" b="0" i="0" dirty="0" err="1"/>
                  <a:t>klasifikatora</a:t>
                </a:r>
                <a:r>
                  <a:rPr lang="en-US" sz="2000" b="0" i="0" dirty="0"/>
                  <a:t> se </a:t>
                </a:r>
                <a:r>
                  <a:rPr lang="en-US" sz="2000" b="0" i="0" dirty="0" err="1"/>
                  <a:t>može</a:t>
                </a:r>
                <a:r>
                  <a:rPr lang="en-US" sz="2000" b="0" i="0" dirty="0"/>
                  <a:t> </a:t>
                </a:r>
                <a:r>
                  <a:rPr lang="en-US" sz="2000" b="0" i="0" dirty="0" err="1"/>
                  <a:t>prikazati</a:t>
                </a:r>
                <a:r>
                  <a:rPr lang="en-US" sz="2000" b="0" i="0" dirty="0"/>
                  <a:t> </a:t>
                </a:r>
                <a:r>
                  <a:rPr lang="en-US" sz="2000" b="0" i="0" dirty="0" err="1"/>
                  <a:t>blok</a:t>
                </a:r>
                <a:r>
                  <a:rPr lang="en-US" sz="2000" b="0" i="0" dirty="0"/>
                  <a:t> </a:t>
                </a:r>
                <a:r>
                  <a:rPr lang="en-US" sz="2000" b="0" i="0" dirty="0" err="1"/>
                  <a:t>dijagramom</a:t>
                </a:r>
                <a:r>
                  <a:rPr lang="en-US" sz="2000" b="0" i="0" dirty="0"/>
                  <a:t> </a:t>
                </a:r>
                <a:r>
                  <a:rPr lang="en-US" sz="2000" b="0" i="0" dirty="0" err="1"/>
                  <a:t>na</a:t>
                </a:r>
                <a:r>
                  <a:rPr lang="en-US" sz="2000" b="0" i="0" dirty="0"/>
                  <a:t> </a:t>
                </a:r>
                <a:r>
                  <a:rPr lang="en-US" sz="2000" b="0" i="0" dirty="0" err="1"/>
                  <a:t>slici</a:t>
                </a:r>
                <a:r>
                  <a:rPr lang="en-US" sz="2000" b="0" i="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err="1"/>
                  <a:t>Kodiranje</a:t>
                </a:r>
                <a:r>
                  <a:rPr lang="en-US" sz="2000" b="0" i="0" dirty="0"/>
                  <a:t> </a:t>
                </a:r>
                <a:r>
                  <a:rPr lang="en-US" sz="2000" b="0" i="0" dirty="0" err="1"/>
                  <a:t>podataka</a:t>
                </a:r>
                <a:r>
                  <a:rPr lang="en-US" sz="2000" b="0" i="0" dirty="0"/>
                  <a:t> u </a:t>
                </a:r>
                <a:r>
                  <a:rPr lang="en-US" sz="2000" b="0" i="0" dirty="0" err="1"/>
                  <a:t>kvantna</a:t>
                </a:r>
                <a:r>
                  <a:rPr lang="en-US" sz="2000" b="0" i="0" dirty="0"/>
                  <a:t> </a:t>
                </a:r>
                <a:r>
                  <a:rPr lang="en-US" sz="2000" b="0" i="0" dirty="0" err="1"/>
                  <a:t>stanja</a:t>
                </a:r>
                <a:r>
                  <a:rPr lang="en-US" sz="2000" b="0" i="0" dirty="0"/>
                  <a:t> </a:t>
                </a:r>
                <a:r>
                  <a:rPr lang="en-US" sz="2000" b="0" i="0" dirty="0" err="1"/>
                  <a:t>vrši</a:t>
                </a:r>
                <a:r>
                  <a:rPr lang="en-US" sz="2000" b="0" i="0" dirty="0"/>
                  <a:t> se </a:t>
                </a:r>
                <a:r>
                  <a:rPr lang="en-US" sz="2000" b="0" i="0" dirty="0" err="1"/>
                  <a:t>operatorom</a:t>
                </a:r>
                <a:r>
                  <a:rPr lang="en-US" sz="2000" b="0" i="0" dirty="0"/>
                  <a:t> U.</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a:t>Operator W </a:t>
                </a:r>
                <a:r>
                  <a:rPr lang="en-US" sz="2000" b="0" i="0" dirty="0" err="1"/>
                  <a:t>je</a:t>
                </a:r>
                <a:r>
                  <a:rPr lang="en-US" sz="2000" b="0" i="0" dirty="0"/>
                  <a:t> model </a:t>
                </a:r>
                <a:r>
                  <a:rPr lang="en-US" sz="2000" b="0" i="0" dirty="0" err="1"/>
                  <a:t>klasifikatora</a:t>
                </a:r>
                <a:r>
                  <a:rPr lang="en-US" sz="2000" b="0" i="0" dirty="0"/>
                  <a:t> </a:t>
                </a:r>
                <a:r>
                  <a:rPr lang="en-US" sz="2000" b="0" i="0" dirty="0" err="1"/>
                  <a:t>definisan</a:t>
                </a:r>
                <a:r>
                  <a:rPr lang="en-US" sz="2000" b="0" i="0" dirty="0"/>
                  <a:t> </a:t>
                </a:r>
                <a:r>
                  <a:rPr lang="en-US" sz="2000" b="0" i="0" dirty="0" err="1"/>
                  <a:t>parametrima</a:t>
                </a:r>
                <a:r>
                  <a:rPr lang="en-US" sz="2000" b="0" i="0" dirty="0"/>
                  <a:t> 𝜃. </a:t>
                </a:r>
                <a:r>
                  <a:rPr lang="en-US" sz="2000" b="0" i="0" dirty="0" err="1"/>
                  <a:t>Ovaj</a:t>
                </a:r>
                <a:r>
                  <a:rPr lang="en-US" sz="2000" b="0" i="0" dirty="0"/>
                  <a:t> operator se </a:t>
                </a:r>
                <a:r>
                  <a:rPr lang="en-US" sz="2000" b="0" i="0" dirty="0" err="1"/>
                  <a:t>realizuje</a:t>
                </a:r>
                <a:r>
                  <a:rPr lang="en-US" sz="2000" b="0" i="0" dirty="0"/>
                  <a:t> </a:t>
                </a:r>
                <a:r>
                  <a:rPr lang="en-US" sz="2000" b="0" i="0" dirty="0" err="1"/>
                  <a:t>parametarizovanim</a:t>
                </a:r>
                <a:r>
                  <a:rPr lang="en-US" sz="2000" b="0" i="0" dirty="0"/>
                  <a:t> </a:t>
                </a:r>
                <a:r>
                  <a:rPr lang="en-US" sz="2000" b="0" i="0" dirty="0" err="1"/>
                  <a:t>ili</a:t>
                </a:r>
                <a:r>
                  <a:rPr lang="en-US" sz="2000" b="0" i="0" dirty="0"/>
                  <a:t> </a:t>
                </a:r>
                <a:r>
                  <a:rPr lang="en-US" sz="2000" b="0" i="0" dirty="0" err="1"/>
                  <a:t>varijacionim</a:t>
                </a:r>
                <a:r>
                  <a:rPr lang="en-US" sz="2000" b="0" i="0" dirty="0"/>
                  <a:t> </a:t>
                </a:r>
                <a:r>
                  <a:rPr lang="en-US" sz="2000" b="0" i="0" dirty="0" err="1"/>
                  <a:t>kvantnim</a:t>
                </a:r>
                <a:r>
                  <a:rPr lang="en-US" sz="2000" b="0" i="0" dirty="0"/>
                  <a:t> </a:t>
                </a:r>
                <a:r>
                  <a:rPr lang="en-US" sz="2000" b="0" i="0" dirty="0" err="1"/>
                  <a:t>kolom</a:t>
                </a:r>
                <a:r>
                  <a:rPr lang="en-US" sz="2000" b="0" i="0" dirty="0"/>
                  <a:t> </a:t>
                </a:r>
                <a:r>
                  <a:rPr lang="en-US" sz="2000" b="0" i="0" dirty="0" err="1"/>
                  <a:t>ili</a:t>
                </a:r>
                <a:r>
                  <a:rPr lang="en-US" sz="2000" b="0" i="0" dirty="0"/>
                  <a:t> </a:t>
                </a:r>
                <a:r>
                  <a:rPr lang="en-US" sz="2000" b="0" i="0" dirty="0" err="1"/>
                  <a:t>skraćeno</a:t>
                </a:r>
                <a:r>
                  <a:rPr lang="en-US" sz="2000" b="0" i="0" dirty="0"/>
                  <a:t> 'VQC' od </a:t>
                </a:r>
                <a:r>
                  <a:rPr lang="en-US" sz="2000" b="0" i="0" dirty="0" err="1"/>
                  <a:t>engleskog</a:t>
                </a:r>
                <a:r>
                  <a:rPr lang="en-US" sz="2000" b="0" i="0" dirty="0"/>
                  <a:t> </a:t>
                </a:r>
                <a:r>
                  <a:rPr lang="en-US" sz="2000" b="0" i="0" dirty="0" err="1"/>
                  <a:t>imena</a:t>
                </a:r>
                <a:r>
                  <a:rPr lang="en-US" sz="2000" b="0" i="0" dirty="0"/>
                  <a:t> Variational Quantum Circuit. VQC se </a:t>
                </a:r>
                <a:r>
                  <a:rPr lang="en-US" sz="2000" b="0" i="0" dirty="0" err="1"/>
                  <a:t>često</a:t>
                </a:r>
                <a:r>
                  <a:rPr lang="en-US" sz="2000" b="0" i="0" dirty="0"/>
                  <a:t> </a:t>
                </a:r>
                <a:r>
                  <a:rPr lang="en-US" sz="2000" b="0" i="0" dirty="0" err="1"/>
                  <a:t>naziva</a:t>
                </a:r>
                <a:r>
                  <a:rPr lang="en-US" sz="2000" b="0" i="0" dirty="0"/>
                  <a:t> </a:t>
                </a:r>
                <a:r>
                  <a:rPr lang="en-US" sz="2000" b="0" i="0" dirty="0" err="1"/>
                  <a:t>i</a:t>
                </a:r>
                <a:r>
                  <a:rPr lang="en-US" sz="2000" b="0" i="0" dirty="0"/>
                  <a:t> 'ansatz'. </a:t>
                </a:r>
                <a:r>
                  <a:rPr lang="en-US" sz="2000" b="0" i="0" dirty="0" err="1"/>
                  <a:t>Reč</a:t>
                </a:r>
                <a:r>
                  <a:rPr lang="en-US" sz="2000" b="0" i="0" dirty="0"/>
                  <a:t> ansatz </a:t>
                </a:r>
                <a:r>
                  <a:rPr lang="en-US" sz="2000" b="0" i="0" dirty="0" err="1"/>
                  <a:t>je</a:t>
                </a:r>
                <a:r>
                  <a:rPr lang="en-US" sz="2000" b="0" i="0" dirty="0"/>
                  <a:t> </a:t>
                </a:r>
                <a:r>
                  <a:rPr lang="en-US" sz="2000" b="0" i="0" dirty="0" err="1"/>
                  <a:t>nemačkog</a:t>
                </a:r>
                <a:r>
                  <a:rPr lang="en-US" sz="2000" b="0" i="0" dirty="0"/>
                  <a:t> </a:t>
                </a:r>
                <a:r>
                  <a:rPr lang="en-US" sz="2000" b="0" i="0" dirty="0" err="1"/>
                  <a:t>porekla</a:t>
                </a:r>
                <a:r>
                  <a:rPr lang="en-US" sz="2000" b="0" i="0" dirty="0"/>
                  <a:t> </a:t>
                </a:r>
                <a:r>
                  <a:rPr lang="en-US" sz="2000" b="0" i="0" dirty="0" err="1"/>
                  <a:t>i</a:t>
                </a:r>
                <a:r>
                  <a:rPr lang="en-US" sz="2000" b="0" i="0" dirty="0"/>
                  <a:t> u </a:t>
                </a:r>
                <a:r>
                  <a:rPr lang="en-US" sz="2000" b="0" i="0" dirty="0" err="1"/>
                  <a:t>ovom</a:t>
                </a:r>
                <a:r>
                  <a:rPr lang="en-US" sz="2000" b="0" i="0" dirty="0"/>
                  <a:t> </a:t>
                </a:r>
                <a:r>
                  <a:rPr lang="en-US" sz="2000" b="0" i="0" dirty="0" err="1"/>
                  <a:t>kontekstu</a:t>
                </a:r>
                <a:r>
                  <a:rPr lang="en-US" sz="2000" b="0" i="0" dirty="0"/>
                  <a:t> </a:t>
                </a:r>
                <a:r>
                  <a:rPr lang="en-US" sz="2000" b="0" i="0" dirty="0" err="1"/>
                  <a:t>označava</a:t>
                </a:r>
                <a:r>
                  <a:rPr lang="en-US" sz="2000" b="0" i="0" dirty="0"/>
                  <a:t> </a:t>
                </a:r>
                <a:r>
                  <a:rPr lang="en-US" sz="2000" b="0" i="0" dirty="0" err="1"/>
                  <a:t>početno</a:t>
                </a:r>
                <a:r>
                  <a:rPr lang="en-US" sz="2000" b="0" i="0" dirty="0"/>
                  <a:t> </a:t>
                </a:r>
                <a:r>
                  <a:rPr lang="en-US" sz="2000" b="0" i="0" dirty="0" err="1"/>
                  <a:t>stanje</a:t>
                </a:r>
                <a:r>
                  <a:rPr lang="en-US" sz="2000" b="0" i="0" dirty="0"/>
                  <a:t> </a:t>
                </a:r>
                <a:r>
                  <a:rPr lang="en-US" sz="2000" b="0" i="0" dirty="0" err="1"/>
                  <a:t>sistema</a:t>
                </a:r>
                <a:r>
                  <a:rPr lang="en-US" sz="2000" b="0" i="0" dirty="0"/>
                  <a:t> </a:t>
                </a:r>
                <a:r>
                  <a:rPr lang="en-US" sz="2000" b="0" i="0" dirty="0" err="1"/>
                  <a:t>koje</a:t>
                </a:r>
                <a:r>
                  <a:rPr lang="en-US" sz="2000" b="0" i="0" dirty="0"/>
                  <a:t> se </a:t>
                </a:r>
                <a:r>
                  <a:rPr lang="en-US" sz="2000" b="0" i="0" dirty="0" err="1"/>
                  <a:t>procesom</a:t>
                </a:r>
                <a:r>
                  <a:rPr lang="en-US" sz="2000" b="0" i="0" dirty="0"/>
                  <a:t> </a:t>
                </a:r>
                <a:r>
                  <a:rPr lang="en-US" sz="2000" b="0" i="0" dirty="0" err="1"/>
                  <a:t>modifikacije</a:t>
                </a:r>
                <a:r>
                  <a:rPr lang="en-US" sz="2000" b="0" i="0" dirty="0"/>
                  <a:t> </a:t>
                </a:r>
                <a:r>
                  <a:rPr lang="en-US" sz="2000" b="0" i="0" dirty="0" err="1"/>
                  <a:t>dovodi</a:t>
                </a:r>
                <a:r>
                  <a:rPr lang="en-US" sz="2000" b="0" i="0" dirty="0"/>
                  <a:t> do </a:t>
                </a:r>
                <a:r>
                  <a:rPr lang="en-US" sz="2000" b="0" i="0" dirty="0" err="1"/>
                  <a:t>željenog</a:t>
                </a:r>
                <a:r>
                  <a:rPr lang="en-US" sz="2000" b="0" i="0" dirty="0"/>
                  <a:t> </a:t>
                </a:r>
                <a:r>
                  <a:rPr lang="en-US" sz="2000" b="0" i="0" dirty="0" err="1"/>
                  <a:t>stanja</a:t>
                </a:r>
                <a:r>
                  <a:rPr lang="en-US" sz="2000" b="0" i="0" dirty="0"/>
                  <a:t> </a:t>
                </a:r>
                <a:r>
                  <a:rPr lang="en-US" sz="2000" b="0" i="0" dirty="0" err="1"/>
                  <a:t>koje</a:t>
                </a:r>
                <a:r>
                  <a:rPr lang="en-US" sz="2000" b="0" i="0" dirty="0"/>
                  <a:t> </a:t>
                </a:r>
                <a:r>
                  <a:rPr lang="en-US" sz="2000" b="0" i="0" dirty="0" err="1"/>
                  <a:t>je</a:t>
                </a:r>
                <a:r>
                  <a:rPr lang="en-US" sz="2000" b="0" i="0" dirty="0"/>
                  <a:t> </a:t>
                </a:r>
                <a:r>
                  <a:rPr lang="en-US" sz="2000" b="0" i="0" dirty="0" err="1"/>
                  <a:t>rešenje</a:t>
                </a:r>
                <a:r>
                  <a:rPr lang="en-US" sz="2000" b="0" i="0" dirty="0"/>
                  <a:t> </a:t>
                </a:r>
                <a:r>
                  <a:rPr lang="en-US" sz="2000" b="0" i="0" dirty="0" err="1"/>
                  <a:t>problema</a:t>
                </a:r>
                <a:r>
                  <a:rPr lang="en-US" sz="2000" b="0" i="0" dirty="0"/>
                  <a:t>. </a:t>
                </a:r>
                <a:r>
                  <a:rPr lang="en-US" sz="2000" b="0" i="0" dirty="0" err="1"/>
                  <a:t>Ukratko</a:t>
                </a:r>
                <a:r>
                  <a:rPr lang="en-US" sz="2000" b="0" i="0" dirty="0"/>
                  <a:t>, operator W </a:t>
                </a:r>
                <a:r>
                  <a:rPr lang="en-US" sz="2000" b="0" i="0" dirty="0" err="1"/>
                  <a:t>je</a:t>
                </a:r>
                <a:r>
                  <a:rPr lang="en-US" sz="2000" b="0" i="0" dirty="0"/>
                  <a:t> u </a:t>
                </a:r>
                <a:r>
                  <a:rPr lang="en-US" sz="2000" b="0" i="0" dirty="0" err="1"/>
                  <a:t>stanju</a:t>
                </a:r>
                <a:r>
                  <a:rPr lang="en-US" sz="2000" b="0" i="0" dirty="0"/>
                  <a:t> </a:t>
                </a:r>
                <a:r>
                  <a:rPr lang="en-US" sz="2000" b="0" i="0" dirty="0" err="1"/>
                  <a:t>definisano</a:t>
                </a:r>
                <a:r>
                  <a:rPr lang="en-US" sz="2000" b="0" i="0" dirty="0"/>
                  <a:t> </a:t>
                </a:r>
                <a:r>
                  <a:rPr lang="en-US" sz="2000" b="0" i="0" dirty="0" err="1"/>
                  <a:t>parametrima</a:t>
                </a:r>
                <a:r>
                  <a:rPr lang="en-US" sz="2000" b="0" i="0" dirty="0"/>
                  <a:t> 𝜃 </a:t>
                </a:r>
                <a:r>
                  <a:rPr lang="en-US" sz="2000" b="0" i="0" dirty="0" err="1"/>
                  <a:t>čijom</a:t>
                </a:r>
                <a:r>
                  <a:rPr lang="en-US" sz="2000" b="0" i="0" dirty="0"/>
                  <a:t> se </a:t>
                </a:r>
                <a:r>
                  <a:rPr lang="en-US" sz="2000" b="0" i="0" dirty="0" err="1"/>
                  <a:t>korekcijom</a:t>
                </a:r>
                <a:r>
                  <a:rPr lang="en-US" sz="2000" b="0" i="0" dirty="0"/>
                  <a:t> </a:t>
                </a:r>
                <a:r>
                  <a:rPr lang="en-US" sz="2000" b="0" i="0" dirty="0" err="1"/>
                  <a:t>vrši</a:t>
                </a:r>
                <a:r>
                  <a:rPr lang="en-US" sz="2000" b="0" i="0" dirty="0"/>
                  <a:t> </a:t>
                </a:r>
                <a:r>
                  <a:rPr lang="en-US" sz="2000" b="0" i="0" dirty="0" err="1"/>
                  <a:t>treniranje</a:t>
                </a:r>
                <a:r>
                  <a:rPr lang="en-US" sz="2000" b="0" i="0" dirty="0"/>
                  <a:t> </a:t>
                </a:r>
                <a:r>
                  <a:rPr lang="en-US" sz="2000" b="0" i="0" dirty="0" err="1"/>
                  <a:t>modela</a:t>
                </a:r>
                <a:r>
                  <a:rPr lang="en-US" sz="2000" b="0" i="0" dirty="0"/>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a:t>Na </a:t>
                </a:r>
                <a:r>
                  <a:rPr lang="en-US" sz="2000" b="0" i="0" dirty="0" err="1"/>
                  <a:t>izlazu</a:t>
                </a:r>
                <a:r>
                  <a:rPr lang="en-US" sz="2000" b="0" i="0" dirty="0"/>
                  <a:t> </a:t>
                </a:r>
                <a:r>
                  <a:rPr lang="en-US" sz="2000" b="0" i="0" dirty="0" err="1"/>
                  <a:t>ansaz</a:t>
                </a:r>
                <a:r>
                  <a:rPr lang="en-US" sz="2000" b="0" i="0" dirty="0"/>
                  <a:t> </a:t>
                </a:r>
                <a:r>
                  <a:rPr lang="en-US" sz="2000" b="0" i="0" dirty="0" err="1"/>
                  <a:t>daje</a:t>
                </a:r>
                <a:r>
                  <a:rPr lang="en-US" sz="2000" b="0" i="0" dirty="0"/>
                  <a:t> </a:t>
                </a:r>
                <a:r>
                  <a:rPr lang="en-US" sz="2000" b="0" i="0" dirty="0" err="1"/>
                  <a:t>klasifikaciju</a:t>
                </a:r>
                <a:r>
                  <a:rPr lang="en-US" sz="2000" b="0" i="0" dirty="0"/>
                  <a:t> </a:t>
                </a:r>
                <a:r>
                  <a:rPr lang="en-US" sz="2000" b="0" i="0" dirty="0" err="1"/>
                  <a:t>ulaznog</a:t>
                </a:r>
                <a:r>
                  <a:rPr lang="en-US" sz="2000" b="0" i="0" dirty="0"/>
                  <a:t> </a:t>
                </a:r>
                <a:r>
                  <a:rPr lang="en-US" sz="2000" b="0" i="0" dirty="0" err="1"/>
                  <a:t>podatka</a:t>
                </a:r>
                <a:r>
                  <a:rPr lang="en-US" sz="2000" b="0" i="0" dirty="0"/>
                  <a:t> </a:t>
                </a:r>
                <a:r>
                  <a:rPr lang="en-US" sz="2000" b="0" i="0" dirty="0" err="1"/>
                  <a:t>koja</a:t>
                </a:r>
                <a:r>
                  <a:rPr lang="en-US" sz="2000" b="0" i="0" dirty="0"/>
                  <a:t> se </a:t>
                </a:r>
                <a:r>
                  <a:rPr lang="en-US" sz="2000" b="0" i="0" dirty="0" err="1"/>
                  <a:t>dobija</a:t>
                </a:r>
                <a:r>
                  <a:rPr lang="en-US" sz="2000" b="0" i="0" dirty="0"/>
                  <a:t> </a:t>
                </a:r>
                <a:r>
                  <a:rPr lang="en-US" sz="2000" b="0" i="0" dirty="0" err="1"/>
                  <a:t>merenjem</a:t>
                </a:r>
                <a:r>
                  <a:rPr lang="en-US" sz="2000" b="0" i="0" dirty="0"/>
                  <a:t> </a:t>
                </a:r>
                <a:r>
                  <a:rPr lang="en-US" sz="2000" b="0" i="0" dirty="0" err="1"/>
                  <a:t>jednog</a:t>
                </a:r>
                <a:r>
                  <a:rPr lang="en-US" sz="2000" b="0" i="0" dirty="0"/>
                  <a:t> </a:t>
                </a:r>
                <a:r>
                  <a:rPr lang="en-US" sz="2000" b="0" i="0" dirty="0" err="1"/>
                  <a:t>ili</a:t>
                </a:r>
                <a:r>
                  <a:rPr lang="en-US" sz="2000" b="0" i="0" dirty="0"/>
                  <a:t> </a:t>
                </a:r>
                <a:r>
                  <a:rPr lang="en-US" sz="2000" b="0" i="0" dirty="0" err="1"/>
                  <a:t>više</a:t>
                </a:r>
                <a:r>
                  <a:rPr lang="en-US" sz="2000" b="0" i="0" dirty="0"/>
                  <a:t> </a:t>
                </a:r>
                <a:r>
                  <a:rPr lang="en-US" sz="2000" b="0" i="0" dirty="0" err="1"/>
                  <a:t>kubita</a:t>
                </a:r>
                <a:r>
                  <a:rPr lang="en-US" sz="2000" b="0" i="0" dirty="0"/>
                  <a:t> kola.</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err="1"/>
                  <a:t>Rezultat</a:t>
                </a:r>
                <a:r>
                  <a:rPr lang="en-US" sz="2000" b="0" i="0" dirty="0"/>
                  <a:t> </a:t>
                </a:r>
                <a:r>
                  <a:rPr lang="en-US" sz="2000" b="0" i="0" dirty="0" err="1"/>
                  <a:t>merenja</a:t>
                </a:r>
                <a:r>
                  <a:rPr lang="en-US" sz="2000" b="0" i="0" dirty="0"/>
                  <a:t> se </a:t>
                </a:r>
                <a:r>
                  <a:rPr lang="en-US" sz="2000" b="0" i="0" dirty="0" err="1"/>
                  <a:t>unosi</a:t>
                </a:r>
                <a:r>
                  <a:rPr lang="en-US" sz="2000" b="0" i="0" dirty="0"/>
                  <a:t> u </a:t>
                </a:r>
                <a:r>
                  <a:rPr lang="en-US" sz="2000" b="0" i="0" dirty="0" err="1"/>
                  <a:t>optimizacioni</a:t>
                </a:r>
                <a:r>
                  <a:rPr lang="en-US" sz="2000" b="0" i="0" dirty="0"/>
                  <a:t> </a:t>
                </a:r>
                <a:r>
                  <a:rPr lang="en-US" sz="2000" b="0" i="0" dirty="0" err="1"/>
                  <a:t>moduo</a:t>
                </a:r>
                <a:r>
                  <a:rPr lang="en-US" sz="2000" b="0" i="0" dirty="0"/>
                  <a:t> </a:t>
                </a:r>
                <a:r>
                  <a:rPr lang="en-US" sz="2000" b="0" i="0" dirty="0" err="1"/>
                  <a:t>koji</a:t>
                </a:r>
                <a:r>
                  <a:rPr lang="en-US" sz="2000" b="0" i="0" dirty="0"/>
                  <a:t> </a:t>
                </a:r>
                <a:r>
                  <a:rPr lang="en-US" sz="2000" b="0" i="0" dirty="0" err="1"/>
                  <a:t>računa</a:t>
                </a:r>
                <a:r>
                  <a:rPr lang="en-US" sz="2000" b="0" i="0" dirty="0"/>
                  <a:t> </a:t>
                </a:r>
                <a:r>
                  <a:rPr lang="en-US" sz="2000" b="0" i="0" dirty="0" err="1"/>
                  <a:t>funkciju</a:t>
                </a:r>
                <a:r>
                  <a:rPr lang="en-US" sz="2000" b="0" i="0" dirty="0"/>
                  <a:t> </a:t>
                </a:r>
                <a:r>
                  <a:rPr lang="en-US" sz="2000" b="0" i="0" dirty="0" err="1"/>
                  <a:t>greške</a:t>
                </a:r>
                <a:r>
                  <a:rPr lang="en-US" sz="2000" b="0" i="0" dirty="0"/>
                  <a:t>. </a:t>
                </a:r>
                <a:r>
                  <a:rPr lang="en-US" sz="2000" b="0" i="0" dirty="0" err="1"/>
                  <a:t>Funkcija</a:t>
                </a:r>
                <a:r>
                  <a:rPr lang="en-US" sz="2000" b="0" i="0" dirty="0"/>
                  <a:t> </a:t>
                </a:r>
                <a:r>
                  <a:rPr lang="en-US" sz="2000" b="0" i="0" dirty="0" err="1"/>
                  <a:t>greške</a:t>
                </a:r>
                <a:r>
                  <a:rPr lang="en-US" sz="2000" b="0" i="0" dirty="0"/>
                  <a:t> </a:t>
                </a:r>
                <a:r>
                  <a:rPr lang="en-US" sz="2000" b="0" i="0" dirty="0" err="1"/>
                  <a:t>ima</a:t>
                </a:r>
                <a:r>
                  <a:rPr lang="en-US" sz="2000" b="0" i="0" dirty="0"/>
                  <a:t> </a:t>
                </a:r>
                <a:r>
                  <a:rPr lang="en-US" sz="2000" b="0" i="0" dirty="0" err="1"/>
                  <a:t>zadatak</a:t>
                </a:r>
                <a:r>
                  <a:rPr lang="en-US" sz="2000" b="0" i="0" dirty="0"/>
                  <a:t> da </a:t>
                </a:r>
                <a:r>
                  <a:rPr lang="en-US" sz="2000" b="0" i="0" dirty="0" err="1"/>
                  <a:t>podešavanjem</a:t>
                </a:r>
                <a:r>
                  <a:rPr lang="en-US" sz="2000" b="0" i="0" dirty="0"/>
                  <a:t> </a:t>
                </a:r>
                <a:r>
                  <a:rPr lang="en-US" sz="2000" b="0" i="0" dirty="0" err="1"/>
                  <a:t>parametara</a:t>
                </a:r>
                <a:r>
                  <a:rPr lang="en-US" sz="2000" b="0" i="0" dirty="0"/>
                  <a:t> </a:t>
                </a:r>
                <a:r>
                  <a:rPr lang="en-US" sz="2000" i="0">
                    <a:latin typeface="Cambria Math" panose="02040503050406030204" pitchFamily="18" charset="0"/>
                    <a:ea typeface="Cambria Math" panose="02040503050406030204" pitchFamily="18" charset="0"/>
                  </a:rPr>
                  <a:t>𝜃</a:t>
                </a:r>
                <a:r>
                  <a:rPr lang="en-US" sz="2000" b="0" i="0" dirty="0"/>
                  <a:t> </a:t>
                </a:r>
                <a:r>
                  <a:rPr lang="en-US" sz="2000" b="0" i="0" dirty="0" err="1"/>
                  <a:t>minimizuje</a:t>
                </a:r>
                <a:r>
                  <a:rPr lang="en-US" sz="2000" b="0" i="0" dirty="0"/>
                  <a:t> </a:t>
                </a:r>
                <a:r>
                  <a:rPr lang="en-US" sz="2000" b="0" i="0" dirty="0" err="1"/>
                  <a:t>greške</a:t>
                </a:r>
                <a:r>
                  <a:rPr lang="en-US" sz="2000" b="0" i="0" baseline="0" dirty="0"/>
                  <a:t> </a:t>
                </a:r>
                <a:r>
                  <a:rPr lang="en-US" sz="2000" b="0" i="0" baseline="0" dirty="0" err="1"/>
                  <a:t>klasifikacija</a:t>
                </a:r>
                <a:r>
                  <a:rPr lang="en-US" sz="2000" b="0" i="0" dirty="0"/>
                  <a:t>.</a:t>
                </a:r>
                <a:r>
                  <a:rPr lang="en-US" sz="2000" b="0" i="0" baseline="0" dirty="0"/>
                  <a:t> U </a:t>
                </a:r>
                <a:r>
                  <a:rPr lang="en-US" sz="2000" b="0" i="0" baseline="0" dirty="0" err="1"/>
                  <a:t>svakoj</a:t>
                </a:r>
                <a:r>
                  <a:rPr lang="en-US" sz="2000" b="0" i="0" baseline="0" dirty="0"/>
                  <a:t> </a:t>
                </a:r>
                <a:r>
                  <a:rPr lang="en-US" sz="2000" b="0" i="0" baseline="0" dirty="0" err="1"/>
                  <a:t>iteraciji</a:t>
                </a:r>
                <a:r>
                  <a:rPr lang="en-US" sz="2000" b="0" i="0" baseline="0" dirty="0"/>
                  <a:t> </a:t>
                </a:r>
                <a:r>
                  <a:rPr lang="en-US" sz="2000" i="0">
                    <a:latin typeface="Cambria Math" panose="02040503050406030204" pitchFamily="18" charset="0"/>
                    <a:ea typeface="Cambria Math" panose="02040503050406030204" pitchFamily="18" charset="0"/>
                  </a:rPr>
                  <a:t>𝜃</a:t>
                </a:r>
                <a:r>
                  <a:rPr lang="en-US" sz="2000" b="0" i="0" baseline="0" dirty="0"/>
                  <a:t> se </a:t>
                </a:r>
                <a:r>
                  <a:rPr lang="en-US" sz="2000" b="0" i="0" baseline="0" dirty="0" err="1"/>
                  <a:t>šalje</a:t>
                </a:r>
                <a:r>
                  <a:rPr lang="en-US" sz="2000" b="0" i="0" baseline="0" dirty="0"/>
                  <a:t> </a:t>
                </a:r>
                <a:r>
                  <a:rPr lang="en-US" sz="2000" b="0" i="0" baseline="0" dirty="0" err="1"/>
                  <a:t>nazad</a:t>
                </a:r>
                <a:r>
                  <a:rPr lang="en-US" sz="2000" b="0" i="0" baseline="0" dirty="0"/>
                  <a:t> u model </a:t>
                </a:r>
                <a:r>
                  <a:rPr lang="en-US" sz="2000" b="0" i="0" baseline="0" dirty="0" err="1"/>
                  <a:t>koji</a:t>
                </a:r>
                <a:r>
                  <a:rPr lang="en-US" sz="2000" b="0" i="0" baseline="0" dirty="0"/>
                  <a:t> se </a:t>
                </a:r>
                <a:r>
                  <a:rPr lang="en-US" sz="2000" dirty="0" err="1"/>
                  <a:t>ažurira</a:t>
                </a:r>
                <a:r>
                  <a:rPr lang="en-US" sz="2000" dirty="0"/>
                  <a:t>. </a:t>
                </a:r>
                <a:r>
                  <a:rPr lang="en-US" sz="2000" dirty="0" err="1"/>
                  <a:t>Obuka</a:t>
                </a:r>
                <a:r>
                  <a:rPr lang="en-US" sz="2000" dirty="0"/>
                  <a:t> se </a:t>
                </a:r>
                <a:r>
                  <a:rPr lang="en-US" sz="2000" dirty="0" err="1"/>
                  <a:t>završava</a:t>
                </a:r>
                <a:r>
                  <a:rPr lang="en-US" sz="2000" dirty="0"/>
                  <a:t> </a:t>
                </a:r>
                <a:r>
                  <a:rPr lang="en-US" sz="2000" dirty="0" err="1"/>
                  <a:t>kada</a:t>
                </a:r>
                <a:r>
                  <a:rPr lang="en-US" sz="2000" dirty="0"/>
                  <a:t> </a:t>
                </a:r>
                <a:r>
                  <a:rPr lang="en-US" sz="2000" dirty="0" err="1"/>
                  <a:t>kada</a:t>
                </a:r>
                <a:r>
                  <a:rPr lang="en-US" sz="2000" dirty="0"/>
                  <a:t> se </a:t>
                </a:r>
                <a:r>
                  <a:rPr lang="en-US" sz="2000" dirty="0" err="1"/>
                  <a:t>funkcija</a:t>
                </a:r>
                <a:r>
                  <a:rPr lang="en-US" sz="2000" dirty="0"/>
                  <a:t> </a:t>
                </a:r>
                <a:r>
                  <a:rPr lang="en-US" sz="2000" dirty="0" err="1"/>
                  <a:t>greške</a:t>
                </a:r>
                <a:r>
                  <a:rPr lang="en-US" sz="2000" dirty="0"/>
                  <a:t> </a:t>
                </a:r>
                <a:r>
                  <a:rPr lang="en-US" sz="2000" dirty="0" err="1"/>
                  <a:t>stabilizuje</a:t>
                </a:r>
                <a:r>
                  <a:rPr lang="en-US" sz="200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kern="1200" dirty="0">
                  <a:solidFill>
                    <a:schemeClr val="tx1"/>
                  </a:solidFill>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4141995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first step in many quantum machine learning algorithms is data encoding. One of the most common methods used with VQCs is angle encoding, where classical data values are encoded into the rotation angles of qubits.</a:t>
                </a:r>
              </a:p>
              <a:p>
                <a:endParaRPr lang="en-ZA" dirty="0"/>
              </a:p>
              <a:p>
                <a:pPr marL="228600" indent="-228600">
                  <a:buFont typeface="+mj-lt"/>
                  <a:buAutoNum type="arabicPeriod"/>
                </a:pPr>
                <a:r>
                  <a:rPr lang="en-ZA" dirty="0"/>
                  <a:t>Each component of a classical vector is typically normalized or scaled and then used as the rotation angle of a corresponding qubit, using gates such as RX​, RY​, or RZ​. </a:t>
                </a:r>
              </a:p>
              <a:p>
                <a:pPr marL="228600" indent="-228600">
                  <a:buFont typeface="+mj-lt"/>
                  <a:buAutoNum type="arabicPeriod"/>
                </a:pPr>
                <a:r>
                  <a:rPr lang="en-ZA" dirty="0"/>
                  <a:t>If the input vector has n components, a straightforward implementation uses n qubits, one for each feature. </a:t>
                </a:r>
              </a:p>
              <a:p>
                <a:pPr marL="228600" indent="-228600">
                  <a:buFont typeface="+mj-lt"/>
                  <a:buAutoNum type="arabicPeriod"/>
                </a:pPr>
                <a:r>
                  <a:rPr lang="en-ZA" dirty="0"/>
                  <a:t>Fewer qubits can also be used through techniques such as </a:t>
                </a:r>
                <a:r>
                  <a:rPr lang="en-ZA" b="1" dirty="0"/>
                  <a:t>data re-uploading</a:t>
                </a:r>
                <a:r>
                  <a:rPr lang="en-ZA" dirty="0"/>
                  <a:t>, where the same qubits are used to encode several data values at different stages of the circuit.</a:t>
                </a:r>
              </a:p>
              <a:p>
                <a:pPr marL="0" indent="0">
                  <a:buFont typeface="+mj-lt"/>
                  <a:buNone/>
                </a:pPr>
                <a:r>
                  <a:rPr lang="en-ZA" dirty="0"/>
                  <a:t> </a:t>
                </a:r>
              </a:p>
              <a:p>
                <a:r>
                  <a:rPr lang="en-ZA" dirty="0"/>
                  <a:t>For example, a two-dimensional vector can be encoded using two qubits, with one rotation applied to each qubit. If RY​ rotations are used, the qubit states remain in the real x-z plane of the Bloch sphere. As a result, the corresponding state amplitudes remain real, which provides a simple way of representing real-valued input data.</a:t>
                </a:r>
              </a:p>
              <a:p>
                <a:endParaRPr lang="en-ZA" dirty="0"/>
              </a:p>
              <a:p>
                <a:pPr algn="just"/>
                <a:r>
                  <a:rPr lang="en-ZA" b="0" dirty="0"/>
                  <a:t>The state of the complete register is obtained as the Kronecker product of the individual qubit states. If the encoding uses only independent single-qubit rotations, the resulting state is initially a product state; entanglement can then be introduced by subsequent layers of the VQC.</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Najčešće</a:t>
                </a:r>
                <a:r>
                  <a:rPr lang="en-US" sz="2000" dirty="0"/>
                  <a:t> </a:t>
                </a:r>
                <a:r>
                  <a:rPr lang="en-US" sz="2000" dirty="0" err="1"/>
                  <a:t>korišćeni</a:t>
                </a:r>
                <a:r>
                  <a:rPr lang="en-US" sz="2000" dirty="0"/>
                  <a:t> </a:t>
                </a:r>
                <a:r>
                  <a:rPr lang="en-US" sz="2000" dirty="0" err="1"/>
                  <a:t>metod</a:t>
                </a:r>
                <a:r>
                  <a:rPr lang="en-US" sz="2000" dirty="0"/>
                  <a:t> </a:t>
                </a:r>
                <a:r>
                  <a:rPr lang="en-US" sz="2000" dirty="0" err="1"/>
                  <a:t>kodiranja</a:t>
                </a:r>
                <a:r>
                  <a:rPr lang="en-US" sz="2000" dirty="0"/>
                  <a:t> </a:t>
                </a:r>
                <a:r>
                  <a:rPr lang="en-US" sz="2000" dirty="0" err="1"/>
                  <a:t>je</a:t>
                </a:r>
                <a:r>
                  <a:rPr lang="en-US" sz="2000" dirty="0"/>
                  <a:t> </a:t>
                </a:r>
                <a:r>
                  <a:rPr lang="en-US" sz="2000" dirty="0" err="1"/>
                  <a:t>kodiranje</a:t>
                </a:r>
                <a:r>
                  <a:rPr lang="en-US" sz="2000" dirty="0"/>
                  <a:t> </a:t>
                </a:r>
                <a:r>
                  <a:rPr lang="en-US" sz="2000" dirty="0" err="1"/>
                  <a:t>podataka</a:t>
                </a:r>
                <a:r>
                  <a:rPr lang="en-US" sz="2000" dirty="0"/>
                  <a:t> u </a:t>
                </a:r>
                <a:r>
                  <a:rPr lang="en-US" sz="2000" dirty="0" err="1"/>
                  <a:t>uglove</a:t>
                </a:r>
                <a:r>
                  <a:rPr lang="en-US" sz="2000" dirty="0"/>
                  <a:t> </a:t>
                </a:r>
                <a:r>
                  <a:rPr lang="en-US" sz="2000" dirty="0" err="1"/>
                  <a:t>rotacije</a:t>
                </a:r>
                <a:r>
                  <a:rPr lang="en-US" sz="2000" dirty="0"/>
                  <a:t>. U </a:t>
                </a:r>
                <a:r>
                  <a:rPr lang="en-US" sz="2000" dirty="0" err="1"/>
                  <a:t>ovom</a:t>
                </a:r>
                <a:r>
                  <a:rPr lang="en-US" sz="2000" dirty="0"/>
                  <a:t> </a:t>
                </a:r>
                <a:r>
                  <a:rPr lang="en-US" sz="2000" dirty="0" err="1"/>
                  <a:t>slučaju</a:t>
                </a:r>
                <a:r>
                  <a:rPr lang="en-US" sz="2000" dirty="0"/>
                  <a:t> se N-</a:t>
                </a:r>
                <a:r>
                  <a:rPr lang="en-US" sz="2000" dirty="0" err="1"/>
                  <a:t>dimenzionalni</a:t>
                </a:r>
                <a:r>
                  <a:rPr lang="en-US" sz="2000" dirty="0"/>
                  <a:t> </a:t>
                </a:r>
                <a:r>
                  <a:rPr lang="en-US" sz="2000" dirty="0" err="1"/>
                  <a:t>vektori</a:t>
                </a:r>
                <a:r>
                  <a:rPr lang="en-US" sz="2000" dirty="0"/>
                  <a:t> </a:t>
                </a:r>
                <a:r>
                  <a:rPr lang="en-US" sz="2000" dirty="0" err="1"/>
                  <a:t>atributa</a:t>
                </a:r>
                <a:r>
                  <a:rPr lang="en-US" sz="2000" dirty="0"/>
                  <a:t> </a:t>
                </a:r>
                <a:r>
                  <a:rPr lang="en-US" sz="2000" dirty="0" err="1"/>
                  <a:t>kodiraju</a:t>
                </a:r>
                <a:r>
                  <a:rPr lang="en-US" sz="2000" dirty="0"/>
                  <a:t> u </a:t>
                </a:r>
                <a:r>
                  <a:rPr lang="en-US" sz="2000" dirty="0" err="1"/>
                  <a:t>isti</a:t>
                </a:r>
                <a:r>
                  <a:rPr lang="en-US" sz="2000" dirty="0"/>
                  <a:t> </a:t>
                </a:r>
                <a:r>
                  <a:rPr lang="en-US" sz="2000" dirty="0" err="1"/>
                  <a:t>broj</a:t>
                </a:r>
                <a:r>
                  <a:rPr lang="en-US" sz="2000" dirty="0"/>
                  <a:t> </a:t>
                </a:r>
                <a:r>
                  <a:rPr lang="en-US" sz="2000" dirty="0" err="1"/>
                  <a:t>kubita</a:t>
                </a:r>
                <a:r>
                  <a:rPr lang="en-US" sz="20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Neka</a:t>
                </a:r>
                <a:r>
                  <a:rPr lang="en-US" sz="2000" dirty="0"/>
                  <a:t> </a:t>
                </a:r>
                <a:r>
                  <a:rPr lang="en-US" sz="2000" dirty="0" err="1"/>
                  <a:t>je</a:t>
                </a:r>
                <a:r>
                  <a:rPr lang="en-US" sz="2000" dirty="0"/>
                  <a:t> </a:t>
                </a:r>
                <a:r>
                  <a:rPr lang="en-US" sz="2000" dirty="0" err="1"/>
                  <a:t>na</a:t>
                </a:r>
                <a:r>
                  <a:rPr lang="en-US" sz="2000" dirty="0"/>
                  <a:t> primer </a:t>
                </a:r>
                <a:r>
                  <a:rPr lang="en-US" sz="2000" dirty="0" err="1"/>
                  <a:t>dat</a:t>
                </a:r>
                <a:r>
                  <a:rPr lang="en-US" sz="2000" dirty="0"/>
                  <a:t> </a:t>
                </a:r>
                <a:r>
                  <a:rPr lang="en-US" sz="2000" dirty="0" err="1"/>
                  <a:t>dvodimenzionalni</a:t>
                </a:r>
                <a:r>
                  <a:rPr lang="en-US" sz="2000" dirty="0"/>
                  <a:t> </a:t>
                </a:r>
                <a:r>
                  <a:rPr lang="en-US" sz="2000" dirty="0" err="1"/>
                  <a:t>atribut</a:t>
                </a:r>
                <a:r>
                  <a:rPr lang="en-US" sz="2000" dirty="0"/>
                  <a:t> 𝑥, </a:t>
                </a:r>
                <a:r>
                  <a:rPr lang="en-US" sz="2000" dirty="0" err="1"/>
                  <a:t>što</a:t>
                </a:r>
                <a:r>
                  <a:rPr lang="en-US" sz="2000" dirty="0"/>
                  <a:t> </a:t>
                </a:r>
                <a:r>
                  <a:rPr lang="en-US" sz="2000" dirty="0" err="1"/>
                  <a:t>znači</a:t>
                </a:r>
                <a:r>
                  <a:rPr lang="en-US" sz="2000" dirty="0"/>
                  <a:t> da </a:t>
                </a:r>
                <a:r>
                  <a:rPr lang="en-US" sz="2000" dirty="0" err="1"/>
                  <a:t>će</a:t>
                </a:r>
                <a:r>
                  <a:rPr lang="en-US" sz="2000" dirty="0"/>
                  <a:t> u </a:t>
                </a:r>
                <a:r>
                  <a:rPr lang="en-US" sz="2000" dirty="0" err="1"/>
                  <a:t>svrhu</a:t>
                </a:r>
                <a:r>
                  <a:rPr lang="en-US" sz="2000" dirty="0"/>
                  <a:t> </a:t>
                </a:r>
                <a:r>
                  <a:rPr lang="en-US" sz="2000" dirty="0" err="1"/>
                  <a:t>kodiranja</a:t>
                </a:r>
                <a:r>
                  <a:rPr lang="en-US" sz="2000" dirty="0"/>
                  <a:t> </a:t>
                </a:r>
                <a:r>
                  <a:rPr lang="en-US" sz="2000" dirty="0" err="1"/>
                  <a:t>biti</a:t>
                </a:r>
                <a:r>
                  <a:rPr lang="en-US" sz="2000" dirty="0"/>
                  <a:t> </a:t>
                </a:r>
                <a:r>
                  <a:rPr lang="en-US" sz="2000" dirty="0" err="1"/>
                  <a:t>potreban</a:t>
                </a:r>
                <a:r>
                  <a:rPr lang="en-US" sz="2000" dirty="0"/>
                  <a:t> </a:t>
                </a:r>
                <a:r>
                  <a:rPr lang="en-US" sz="2000" dirty="0" err="1"/>
                  <a:t>registar</a:t>
                </a:r>
                <a:r>
                  <a:rPr lang="en-US" sz="2000" dirty="0"/>
                  <a:t> </a:t>
                </a:r>
                <a:r>
                  <a:rPr lang="en-US" sz="2000" dirty="0" err="1"/>
                  <a:t>sa</a:t>
                </a:r>
                <a:r>
                  <a:rPr lang="en-US" sz="2000" dirty="0"/>
                  <a:t> </a:t>
                </a:r>
                <a:r>
                  <a:rPr lang="en-US" sz="2000" dirty="0" err="1"/>
                  <a:t>dva</a:t>
                </a:r>
                <a:r>
                  <a:rPr lang="en-US" sz="2000" dirty="0"/>
                  <a:t> </a:t>
                </a:r>
                <a:r>
                  <a:rPr lang="en-US" sz="2000" dirty="0" err="1"/>
                  <a:t>kubita</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Atribut</a:t>
                </a:r>
                <a:r>
                  <a:rPr lang="en-US" sz="2000" dirty="0"/>
                  <a:t> 𝑥 se </a:t>
                </a:r>
                <a:r>
                  <a:rPr lang="en-US" sz="2000" dirty="0" err="1"/>
                  <a:t>sada</a:t>
                </a:r>
                <a:r>
                  <a:rPr lang="en-US" sz="2000" dirty="0"/>
                  <a:t> </a:t>
                </a:r>
                <a:r>
                  <a:rPr lang="en-US" sz="2000" dirty="0" err="1"/>
                  <a:t>kodira</a:t>
                </a:r>
                <a:r>
                  <a:rPr lang="en-US" sz="2000" dirty="0"/>
                  <a:t> </a:t>
                </a:r>
                <a:r>
                  <a:rPr lang="en-US" sz="2000" dirty="0" err="1"/>
                  <a:t>tako</a:t>
                </a:r>
                <a:r>
                  <a:rPr lang="en-US" sz="2000" dirty="0"/>
                  <a:t> </a:t>
                </a:r>
                <a:r>
                  <a:rPr lang="en-US" sz="2000" dirty="0" err="1"/>
                  <a:t>što</a:t>
                </a:r>
                <a:r>
                  <a:rPr lang="en-US" sz="2000" dirty="0"/>
                  <a:t> se </a:t>
                </a:r>
                <a:r>
                  <a:rPr lang="en-US" sz="2000" dirty="0" err="1"/>
                  <a:t>svaki</a:t>
                </a:r>
                <a:r>
                  <a:rPr lang="en-US" sz="2000" dirty="0"/>
                  <a:t> od </a:t>
                </a:r>
                <a:r>
                  <a:rPr lang="en-US" sz="2000" dirty="0" err="1"/>
                  <a:t>kubita</a:t>
                </a:r>
                <a:r>
                  <a:rPr lang="en-US" sz="2000" dirty="0"/>
                  <a:t> </a:t>
                </a:r>
                <a:r>
                  <a:rPr lang="en-US" sz="2000" dirty="0" err="1"/>
                  <a:t>rotira</a:t>
                </a:r>
                <a:r>
                  <a:rPr lang="en-US" sz="2000" dirty="0"/>
                  <a:t> </a:t>
                </a:r>
                <a:r>
                  <a:rPr lang="en-US" sz="2000" dirty="0" err="1"/>
                  <a:t>za</a:t>
                </a:r>
                <a:r>
                  <a:rPr lang="en-US" sz="2000" dirty="0"/>
                  <a:t> </a:t>
                </a:r>
                <a:r>
                  <a:rPr lang="en-US" sz="2000" dirty="0" err="1"/>
                  <a:t>vrednost</a:t>
                </a:r>
                <a:r>
                  <a:rPr lang="en-US" sz="2000" dirty="0"/>
                  <a:t> </a:t>
                </a:r>
                <a:r>
                  <a:rPr lang="en-US" sz="2000" dirty="0" err="1"/>
                  <a:t>svakog</a:t>
                </a:r>
                <a:r>
                  <a:rPr lang="en-US" sz="2000" dirty="0"/>
                  <a:t> </a:t>
                </a:r>
                <a:r>
                  <a:rPr lang="en-US" sz="2000" dirty="0" err="1"/>
                  <a:t>elementa</a:t>
                </a:r>
                <a:r>
                  <a:rPr lang="en-US" sz="2000" dirty="0"/>
                  <a:t> </a:t>
                </a:r>
                <a:r>
                  <a:rPr lang="en-US" sz="2000" dirty="0" err="1"/>
                  <a:t>vektora</a:t>
                </a:r>
                <a:r>
                  <a:rPr lang="en-US" sz="2000" dirty="0"/>
                  <a:t> 𝑥.</a:t>
                </a:r>
                <a:r>
                  <a:rPr lang="en-US" sz="2000" baseline="0" dirty="0"/>
                  <a:t> </a:t>
                </a:r>
                <a:r>
                  <a:rPr lang="en-US" sz="2000" baseline="0" dirty="0" err="1"/>
                  <a:t>P</a:t>
                </a:r>
                <a:r>
                  <a:rPr lang="en-US" sz="2000" dirty="0" err="1"/>
                  <a:t>rvi</a:t>
                </a:r>
                <a:r>
                  <a:rPr lang="en-US" sz="2000" dirty="0"/>
                  <a:t> </a:t>
                </a:r>
                <a:r>
                  <a:rPr lang="en-US" sz="2000" dirty="0" err="1"/>
                  <a:t>kubit</a:t>
                </a:r>
                <a:r>
                  <a:rPr lang="en-US" sz="2000" dirty="0"/>
                  <a:t> se </a:t>
                </a:r>
                <a:r>
                  <a:rPr lang="en-US" sz="2000" dirty="0" err="1"/>
                  <a:t>rotira</a:t>
                </a:r>
                <a:r>
                  <a:rPr lang="en-US" sz="2000" dirty="0"/>
                  <a:t> </a:t>
                </a:r>
                <a:r>
                  <a:rPr lang="en-US" sz="2000" dirty="0" err="1"/>
                  <a:t>za</a:t>
                </a:r>
                <a:r>
                  <a:rPr lang="en-US" sz="2000" dirty="0"/>
                  <a:t> </a:t>
                </a:r>
                <a:r>
                  <a:rPr lang="en-US" sz="2000" i="0">
                    <a:solidFill>
                      <a:schemeClr val="bg1"/>
                    </a:solidFill>
                    <a:latin typeface="Cambria Math" panose="02040503050406030204" pitchFamily="18" charset="0"/>
                  </a:rPr>
                  <a:t>𝑥_1</a:t>
                </a:r>
                <a:r>
                  <a:rPr lang="en-US" sz="2000" dirty="0"/>
                  <a:t> a </a:t>
                </a:r>
                <a:r>
                  <a:rPr lang="en-US" sz="2000" dirty="0" err="1"/>
                  <a:t>drugi</a:t>
                </a:r>
                <a:r>
                  <a:rPr lang="en-US" sz="2000" baseline="0" dirty="0"/>
                  <a:t> </a:t>
                </a:r>
                <a:r>
                  <a:rPr lang="en-US" sz="2000" baseline="0" dirty="0" err="1"/>
                  <a:t>za</a:t>
                </a:r>
                <a:r>
                  <a:rPr lang="en-US" sz="2000" baseline="0" dirty="0"/>
                  <a:t> </a:t>
                </a:r>
                <a:r>
                  <a:rPr lang="en-US" sz="2000" i="0">
                    <a:solidFill>
                      <a:schemeClr val="bg1"/>
                    </a:solidFill>
                    <a:latin typeface="Cambria Math" panose="02040503050406030204" pitchFamily="18" charset="0"/>
                  </a:rPr>
                  <a:t>𝑥_</a:t>
                </a:r>
                <a:r>
                  <a:rPr lang="sr-Latn-RS" sz="2000" b="0" i="0">
                    <a:solidFill>
                      <a:schemeClr val="bg1"/>
                    </a:solidFill>
                    <a:latin typeface="Cambria Math" panose="02040503050406030204" pitchFamily="18" charset="0"/>
                  </a:rPr>
                  <a:t>2</a:t>
                </a:r>
                <a:r>
                  <a:rPr lang="en-US" sz="2000" dirty="0"/>
                  <a:t>. U </a:t>
                </a:r>
                <a:r>
                  <a:rPr lang="en-US" sz="2000" dirty="0" err="1"/>
                  <a:t>ovom</a:t>
                </a:r>
                <a:r>
                  <a:rPr lang="en-US" sz="2000" dirty="0"/>
                  <a:t> </a:t>
                </a:r>
                <a:r>
                  <a:rPr lang="en-US" sz="2000" dirty="0" err="1"/>
                  <a:t>primeru</a:t>
                </a:r>
                <a:r>
                  <a:rPr lang="en-US" sz="2000" dirty="0"/>
                  <a:t> se </a:t>
                </a:r>
                <a:r>
                  <a:rPr lang="en-US" sz="2000" dirty="0" err="1"/>
                  <a:t>koristi</a:t>
                </a:r>
                <a:r>
                  <a:rPr lang="en-US" sz="2000" dirty="0"/>
                  <a:t> </a:t>
                </a:r>
                <a:r>
                  <a:rPr lang="en-US" sz="2000" dirty="0" err="1"/>
                  <a:t>rotacija</a:t>
                </a:r>
                <a:r>
                  <a:rPr lang="en-US" sz="2000" dirty="0"/>
                  <a:t> </a:t>
                </a:r>
                <a:r>
                  <a:rPr lang="en-US" sz="2000" dirty="0" err="1"/>
                  <a:t>oko</a:t>
                </a:r>
                <a:r>
                  <a:rPr lang="en-US" sz="2000" dirty="0"/>
                  <a:t> 𝑦 </a:t>
                </a:r>
                <a:r>
                  <a:rPr lang="en-US" sz="2000" dirty="0" err="1"/>
                  <a:t>ose</a:t>
                </a:r>
                <a:r>
                  <a:rPr lang="en-US" sz="2000" baseline="0" dirty="0"/>
                  <a:t>  </a:t>
                </a:r>
                <a:r>
                  <a:rPr lang="en-US" sz="2000" baseline="0" dirty="0" err="1"/>
                  <a:t>mada</a:t>
                </a:r>
                <a:r>
                  <a:rPr lang="en-US" sz="2000" baseline="0" dirty="0"/>
                  <a:t> se </a:t>
                </a:r>
                <a:r>
                  <a:rPr lang="en-US" sz="2000" baseline="0" dirty="0" err="1"/>
                  <a:t>može</a:t>
                </a:r>
                <a:r>
                  <a:rPr lang="en-US" sz="2000" baseline="0" dirty="0"/>
                  <a:t> </a:t>
                </a:r>
                <a:r>
                  <a:rPr lang="en-US" sz="2000" baseline="0" dirty="0" err="1"/>
                  <a:t>koristiti</a:t>
                </a:r>
                <a:r>
                  <a:rPr lang="en-US" sz="2000" baseline="0" dirty="0"/>
                  <a:t> </a:t>
                </a:r>
                <a:r>
                  <a:rPr lang="en-US" sz="2000" baseline="0" dirty="0" err="1"/>
                  <a:t>i</a:t>
                </a:r>
                <a:r>
                  <a:rPr lang="en-US" sz="2000" baseline="0" dirty="0"/>
                  <a:t> </a:t>
                </a:r>
                <a:r>
                  <a:rPr lang="en-US" sz="2000" baseline="0" dirty="0" err="1"/>
                  <a:t>rotacija</a:t>
                </a:r>
                <a:r>
                  <a:rPr lang="en-US" sz="2000" baseline="0" dirty="0"/>
                  <a:t> </a:t>
                </a:r>
                <a:r>
                  <a:rPr lang="en-US" sz="2000" baseline="0" dirty="0" err="1"/>
                  <a:t>oko</a:t>
                </a:r>
                <a:r>
                  <a:rPr lang="en-US" sz="2000" baseline="0" dirty="0"/>
                  <a:t> </a:t>
                </a:r>
                <a:r>
                  <a:rPr lang="en-US" sz="2000" baseline="0" dirty="0" err="1"/>
                  <a:t>drugih</a:t>
                </a:r>
                <a:r>
                  <a:rPr lang="en-US" sz="2000" baseline="0" dirty="0"/>
                  <a:t> </a:t>
                </a:r>
                <a:r>
                  <a:rPr lang="en-US" sz="2000" baseline="0" dirty="0" err="1"/>
                  <a:t>osa</a:t>
                </a:r>
                <a:r>
                  <a:rPr lang="en-US" sz="2000" baseline="0" dirty="0"/>
                  <a:t>.</a:t>
                </a: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Stanje</a:t>
                </a:r>
                <a:r>
                  <a:rPr lang="en-US" sz="2000" dirty="0"/>
                  <a:t> </a:t>
                </a:r>
                <a:r>
                  <a:rPr lang="en-US" sz="2000" dirty="0" err="1"/>
                  <a:t>registra</a:t>
                </a:r>
                <a:r>
                  <a:rPr lang="en-US" sz="2000" dirty="0"/>
                  <a:t> se </a:t>
                </a:r>
                <a:r>
                  <a:rPr lang="en-US" sz="2000" dirty="0" err="1"/>
                  <a:t>izražava</a:t>
                </a:r>
                <a:r>
                  <a:rPr lang="en-US" sz="2000" dirty="0"/>
                  <a:t> </a:t>
                </a:r>
                <a:r>
                  <a:rPr lang="en-US" sz="2000" dirty="0" err="1"/>
                  <a:t>Kronekerovim</a:t>
                </a:r>
                <a:r>
                  <a:rPr lang="en-US" sz="2000" dirty="0"/>
                  <a:t> </a:t>
                </a:r>
                <a:r>
                  <a:rPr lang="en-US" sz="2000" dirty="0" err="1"/>
                  <a:t>proizvodom</a:t>
                </a:r>
                <a:r>
                  <a:rPr lang="en-US" sz="2000" dirty="0"/>
                  <a:t> </a:t>
                </a:r>
                <a:r>
                  <a:rPr lang="en-US" sz="2000" dirty="0" err="1"/>
                  <a:t>stanja</a:t>
                </a:r>
                <a:r>
                  <a:rPr lang="en-US" sz="2000" dirty="0"/>
                  <a:t> </a:t>
                </a:r>
                <a:r>
                  <a:rPr lang="en-US" sz="2000" dirty="0" err="1"/>
                  <a:t>pojedinačnih</a:t>
                </a:r>
                <a:r>
                  <a:rPr lang="en-US" sz="2000" dirty="0"/>
                  <a:t> </a:t>
                </a:r>
                <a:r>
                  <a:rPr lang="en-US" sz="2000" dirty="0" err="1"/>
                  <a:t>kubita</a:t>
                </a:r>
                <a:r>
                  <a:rPr lang="en-US" sz="2000" dirty="0"/>
                  <a:t>. </a:t>
                </a:r>
                <a:r>
                  <a:rPr lang="en-US" sz="2000" dirty="0" err="1"/>
                  <a:t>Iz</a:t>
                </a:r>
                <a:r>
                  <a:rPr lang="en-US" sz="2000" dirty="0"/>
                  <a:t> </a:t>
                </a:r>
                <a:r>
                  <a:rPr lang="en-US" sz="2000" dirty="0" err="1"/>
                  <a:t>ovog</a:t>
                </a:r>
                <a:r>
                  <a:rPr lang="en-US" sz="2000" dirty="0"/>
                  <a:t> </a:t>
                </a:r>
                <a:r>
                  <a:rPr lang="en-US" sz="2000" dirty="0" err="1"/>
                  <a:t>razloga</a:t>
                </a:r>
                <a:r>
                  <a:rPr lang="en-US" sz="2000" dirty="0"/>
                  <a:t>, </a:t>
                </a:r>
                <a:r>
                  <a:rPr lang="en-US" sz="2000" dirty="0" err="1"/>
                  <a:t>ovo</a:t>
                </a:r>
                <a:r>
                  <a:rPr lang="en-US" sz="2000" dirty="0"/>
                  <a:t> </a:t>
                </a:r>
                <a:r>
                  <a:rPr lang="en-US" sz="2000" dirty="0" err="1"/>
                  <a:t>kodiranje</a:t>
                </a:r>
                <a:r>
                  <a:rPr lang="en-US" sz="2000" dirty="0"/>
                  <a:t> se </a:t>
                </a:r>
                <a:r>
                  <a:rPr lang="en-US" sz="2000" dirty="0" err="1"/>
                  <a:t>često</a:t>
                </a:r>
                <a:r>
                  <a:rPr lang="en-US" sz="2000" dirty="0"/>
                  <a:t> </a:t>
                </a:r>
                <a:r>
                  <a:rPr lang="en-US" sz="2000" dirty="0" err="1"/>
                  <a:t>naziva</a:t>
                </a:r>
                <a:r>
                  <a:rPr lang="en-US" sz="2000" dirty="0"/>
                  <a:t> </a:t>
                </a:r>
                <a:r>
                  <a:rPr lang="en-US" sz="2000" dirty="0" err="1"/>
                  <a:t>tenzorsko</a:t>
                </a:r>
                <a:r>
                  <a:rPr lang="en-US" sz="2000" dirty="0"/>
                  <a:t> </a:t>
                </a:r>
                <a:r>
                  <a:rPr lang="en-US" sz="2000" dirty="0" err="1"/>
                  <a:t>kodiranje</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2826920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Higher-order encoding extends angle encoding by introducing interactions between input features, allowing the quantum state to represent nonlinear relationships between them. In a straightforward implementation, one qubit is used for each component of the feature vector.</a:t>
                </a:r>
              </a:p>
              <a:p>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This example shows how to encode a two-dimensional feature vector </a:t>
                </a:r>
                <a14:m>
                  <m:oMath xmlns:m="http://schemas.openxmlformats.org/officeDocument/2006/math">
                    <m:r>
                      <a:rPr lang="en-US" sz="1200" b="0" i="1" smtClean="0">
                        <a:latin typeface="Cambria Math" panose="02040503050406030204" pitchFamily="18" charset="0"/>
                      </a:rPr>
                      <m:t>𝑥</m:t>
                    </m:r>
                    <m:r>
                      <a:rPr lang="en-US" sz="1200" b="0" i="1" smtClean="0">
                        <a:latin typeface="Cambria Math" panose="02040503050406030204" pitchFamily="18" charset="0"/>
                      </a:rPr>
                      <m:t>=</m:t>
                    </m:r>
                    <m:d>
                      <m:dPr>
                        <m:ctrlPr>
                          <a:rPr lang="en-US" sz="1200" b="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b="0" i="1" smtClean="0">
                                <a:latin typeface="Cambria Math" panose="02040503050406030204" pitchFamily="18" charset="0"/>
                              </a:rPr>
                              <m:t>2</m:t>
                            </m:r>
                          </m:sub>
                        </m:sSub>
                      </m:e>
                    </m:d>
                  </m:oMath>
                </a14:m>
                <a:r>
                  <a:rPr lang="en-ZA" b="0" dirty="0"/>
                  <a:t>.</a:t>
                </a:r>
              </a:p>
              <a:p>
                <a:endParaRPr lang="en-ZA" b="0" dirty="0"/>
              </a:p>
              <a:p>
                <a:pPr marL="171450" indent="-171450">
                  <a:buFont typeface="Arial" panose="020B0604020202020204" pitchFamily="34" charset="0"/>
                  <a:buChar char="•"/>
                </a:pPr>
                <a:r>
                  <a:rPr lang="en-ZA" b="0" dirty="0"/>
                  <a:t>The qubits are first placed into superposition.</a:t>
                </a:r>
              </a:p>
              <a:p>
                <a:pPr marL="171450" indent="-171450">
                  <a:buFont typeface="Arial" panose="020B0604020202020204" pitchFamily="34" charset="0"/>
                  <a:buChar char="•"/>
                </a:pPr>
                <a:r>
                  <a:rPr lang="en-ZA" b="0" dirty="0"/>
                  <a:t>Each qubit is then rotated about the Z-axis using the corresponding input feature,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oMath>
                </a14:m>
                <a:r>
                  <a:rPr lang="en-ZA" b="0" dirty="0"/>
                  <a:t>​ or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b="0" i="1" smtClean="0">
                            <a:latin typeface="Cambria Math" panose="02040503050406030204" pitchFamily="18" charset="0"/>
                          </a:rPr>
                          <m:t>2</m:t>
                        </m:r>
                      </m:sub>
                    </m:sSub>
                  </m:oMath>
                </a14:m>
                <a:r>
                  <a:rPr lang="en-ZA" b="0" dirty="0"/>
                  <a:t>​.</a:t>
                </a:r>
              </a:p>
              <a:p>
                <a:pPr marL="171450" indent="-171450">
                  <a:buFont typeface="Arial" panose="020B0604020202020204" pitchFamily="34" charset="0"/>
                  <a:buChar char="•"/>
                </a:pPr>
                <a:r>
                  <a:rPr lang="en-ZA" b="0" dirty="0"/>
                  <a:t>A CNOT gate introduces entanglement between the qubits.</a:t>
                </a:r>
              </a:p>
              <a:p>
                <a:pPr marL="171450" indent="-171450">
                  <a:buFont typeface="Arial" panose="020B0604020202020204" pitchFamily="34" charset="0"/>
                  <a:buChar char="•"/>
                </a:pPr>
                <a:r>
                  <a:rPr lang="en-ZA" b="0" dirty="0"/>
                  <a:t>An additional data-dependent rotation is applied with an angle proportional to the product</a:t>
                </a:r>
                <a:r>
                  <a:rPr lang="en-ZA" b="0" baseline="0" dirty="0"/>
                  <a:t>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b="0" i="1" smtClean="0">
                            <a:latin typeface="Cambria Math" panose="02040503050406030204" pitchFamily="18" charset="0"/>
                          </a:rPr>
                          <m:t>2</m:t>
                        </m:r>
                      </m:sub>
                    </m:sSub>
                  </m:oMath>
                </a14:m>
                <a:r>
                  <a:rPr lang="en-ZA" b="0" dirty="0"/>
                  <a:t>​. The term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1</m:t>
                        </m:r>
                      </m:sub>
                    </m:sSub>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b="0" i="1" smtClean="0">
                            <a:latin typeface="Cambria Math" panose="02040503050406030204" pitchFamily="18" charset="0"/>
                          </a:rPr>
                          <m:t>2</m:t>
                        </m:r>
                      </m:sub>
                    </m:sSub>
                  </m:oMath>
                </a14:m>
                <a:r>
                  <a:rPr lang="en-ZA" b="0" dirty="0"/>
                  <a:t>​ captures an interaction between the two input features. Because the encoding includes such cross-terms in addition to the individual features, it is called higher-order encoding.</a:t>
                </a:r>
              </a:p>
              <a:p>
                <a:pPr algn="just"/>
                <a:endParaRPr lang="en-ZA" b="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1" dirty="0"/>
                  <a:t>Reference</a:t>
                </a:r>
                <a:endParaRPr lang="en-US" sz="1200" i="1" dirty="0">
                  <a:latin typeface="+mn-lt"/>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i="1" kern="1200" dirty="0" err="1">
                    <a:solidFill>
                      <a:schemeClr val="tx1"/>
                    </a:solidFill>
                    <a:latin typeface="+mn-lt"/>
                    <a:ea typeface="+mn-ea"/>
                    <a:cs typeface="+mn-cs"/>
                  </a:rPr>
                  <a:t>Havlíček</a:t>
                </a:r>
                <a:r>
                  <a:rPr lang="en-US" sz="1200" i="1" kern="1200" dirty="0">
                    <a:solidFill>
                      <a:schemeClr val="tx1"/>
                    </a:solidFill>
                    <a:latin typeface="+mn-lt"/>
                    <a:ea typeface="+mn-ea"/>
                    <a:cs typeface="+mn-cs"/>
                  </a:rPr>
                  <a:t> and al. Supervised learning with quantum-enhanced feature spaces, Nature volume 567, pages 209–212 (2019)</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a:latin typeface="+mn-lt"/>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Another example of encoding is a higher order encoding described in a paper </a:t>
                </a:r>
                <a:r>
                  <a:rPr lang="en-US" sz="2000" kern="1200" dirty="0">
                    <a:solidFill>
                      <a:schemeClr val="tx1"/>
                    </a:solidFill>
                    <a:latin typeface="+mn-lt"/>
                    <a:ea typeface="+mn-ea"/>
                    <a:cs typeface="+mn-cs"/>
                  </a:rPr>
                  <a:t>"Supervised learning with quantum-enhanced feature spaces”.</a:t>
                </a:r>
                <a:r>
                  <a:rPr lang="en-US" sz="2000" dirty="0">
                    <a:latin typeface="+mn-lt"/>
                  </a:rPr>
                  <a:t> Like angle encoding number </a:t>
                </a:r>
                <a:r>
                  <a:rPr lang="en-US" sz="2000" dirty="0" err="1">
                    <a:latin typeface="+mn-lt"/>
                  </a:rPr>
                  <a:t>og</a:t>
                </a:r>
                <a:r>
                  <a:rPr lang="en-US" sz="2000" dirty="0">
                    <a:latin typeface="+mn-lt"/>
                  </a:rPr>
                  <a:t> qubits corresponds to number of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mn-lt"/>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latin typeface="+mn-lt"/>
                  </a:rPr>
                  <a:t>In this example we have a vector with feature values </a:t>
                </a:r>
                <a:r>
                  <a:rPr lang="en-US" sz="2000" b="0" i="0">
                    <a:latin typeface="+mn-lt"/>
                  </a:rPr>
                  <a:t>𝑥_1</a:t>
                </a:r>
                <a:r>
                  <a:rPr lang="en-US" sz="2000" dirty="0">
                    <a:latin typeface="+mn-lt"/>
                  </a:rPr>
                  <a:t> and </a:t>
                </a:r>
                <a:r>
                  <a:rPr lang="en-US" sz="2000" b="0" i="0">
                    <a:latin typeface="+mn-lt"/>
                  </a:rPr>
                  <a:t>𝑥_2</a:t>
                </a:r>
                <a:r>
                  <a:rPr lang="en-US" sz="2000" dirty="0">
                    <a:latin typeface="+mn-lt"/>
                  </a:rPr>
                  <a:t>. As a first step,</a:t>
                </a:r>
                <a:r>
                  <a:rPr lang="en-US" sz="2000" baseline="0" dirty="0">
                    <a:latin typeface="+mn-lt"/>
                  </a:rPr>
                  <a:t> each of the qubits is put into superposition and rotate by an angle that corresponds to a feature value.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latin typeface="+mn-lt"/>
                  </a:rPr>
                  <a:t>In the second step we entangle qubit with a CNOT gate and apply rotation by product of feature values. Since this product is considered as a higher order data, this encoding is called higher order encoding.</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aseline="0" dirty="0">
                    <a:latin typeface="+mn-lt"/>
                  </a:rPr>
                  <a:t>This block is often repeated and number of repeats is called a ‘depth of a feature map’.</a:t>
                </a:r>
                <a:endParaRPr lang="en-US" sz="200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1395225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The trainable part of the quantum circuit, called the ansatz, is commonly built from two sublayers.</a:t>
            </a:r>
          </a:p>
          <a:p>
            <a:endParaRPr lang="en-ZA" b="0" dirty="0"/>
          </a:p>
          <a:p>
            <a:pPr marL="228600" indent="-228600">
              <a:buFont typeface="+mj-lt"/>
              <a:buAutoNum type="arabicPeriod"/>
            </a:pPr>
            <a:r>
              <a:rPr lang="en-ZA" b="0" dirty="0"/>
              <a:t>The first is the rotation sublayer, which applies parameterized quantum gates whose rotation angles are adjusted during training.</a:t>
            </a:r>
          </a:p>
          <a:p>
            <a:pPr marL="228600" indent="-228600">
              <a:buFont typeface="+mj-lt"/>
              <a:buAutoNum type="arabicPeriod"/>
            </a:pPr>
            <a:r>
              <a:rPr lang="en-ZA" b="0" dirty="0"/>
              <a:t>The second is the entangling sublayer, which connects the qubits using controlled gates, allowing the circuit to represent more complex relationships in the data.</a:t>
            </a:r>
          </a:p>
          <a:p>
            <a:endParaRPr lang="en-ZA" b="0" dirty="0"/>
          </a:p>
          <a:p>
            <a:r>
              <a:rPr lang="en-ZA" b="0" dirty="0"/>
              <a:t>Together, these two sublayers form a variational block, and several such blocks can be repeated to create a more expressive model.</a:t>
            </a:r>
          </a:p>
          <a:p>
            <a:endParaRPr lang="en-ZA" b="0" dirty="0"/>
          </a:p>
          <a:p>
            <a:pPr marL="171450" indent="-171450">
              <a:buFont typeface="Arial" panose="020B0604020202020204" pitchFamily="34" charset="0"/>
              <a:buChar char="•"/>
            </a:pPr>
            <a:r>
              <a:rPr lang="en-ZA" b="0" dirty="0"/>
              <a:t>The ansatz produces an output that depends on its current parameters.</a:t>
            </a:r>
          </a:p>
          <a:p>
            <a:pPr marL="171450" indent="-171450">
              <a:buFont typeface="Arial" panose="020B0604020202020204" pitchFamily="34" charset="0"/>
              <a:buChar char="•"/>
            </a:pPr>
            <a:r>
              <a:rPr lang="en-ZA" b="0" dirty="0"/>
              <a:t>During training, these parameters are adjusted step by step so that the model output becomes closer to the expected result.</a:t>
            </a:r>
          </a:p>
          <a:p>
            <a:pPr marL="171450" indent="-171450">
              <a:buFont typeface="Arial" panose="020B0604020202020204" pitchFamily="34" charset="0"/>
              <a:buChar char="•"/>
            </a:pPr>
            <a:r>
              <a:rPr lang="en-ZA" b="0" dirty="0"/>
              <a:t>This process is repeated until the model reaches the desired level of performance.</a:t>
            </a:r>
          </a:p>
        </p:txBody>
      </p:sp>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291161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figure shows IBM’s </a:t>
                </a:r>
                <a:r>
                  <a:rPr lang="en-ZA" b="0" dirty="0" err="1"/>
                  <a:t>RealAmplitudes</a:t>
                </a:r>
                <a:r>
                  <a:rPr lang="en-ZA" b="0" dirty="0"/>
                  <a:t> ansatz, which uses adjustable parameters </a:t>
                </a:r>
                <a:r>
                  <a:rPr lang="el-GR" b="0" dirty="0"/>
                  <a:t>θ </a:t>
                </a:r>
                <a:r>
                  <a:rPr lang="en-ZA" b="0" dirty="0"/>
                  <a:t>that are optimized during the training process. It is called </a:t>
                </a:r>
                <a:r>
                  <a:rPr lang="en-ZA" b="0" i="1" dirty="0" err="1"/>
                  <a:t>RealAmplitudes</a:t>
                </a:r>
                <a:r>
                  <a:rPr lang="en-ZA" b="0" dirty="0"/>
                  <a:t> because the circuit uses RY​ rotations and CX gates, which keep the amplitudes of the quantum state real-valued.</a:t>
                </a:r>
              </a:p>
              <a:p>
                <a:endParaRPr lang="en-ZA" b="0" dirty="0"/>
              </a:p>
              <a:p>
                <a:pPr marL="171450" indent="-171450">
                  <a:buFont typeface="Arial" panose="020B0604020202020204" pitchFamily="34" charset="0"/>
                  <a:buChar char="•"/>
                </a:pPr>
                <a:r>
                  <a:rPr lang="en-ZA" b="0" dirty="0"/>
                  <a:t>Once the feature vector has been encoded, the quantum state enters the trainable part of the circuit. The first layer applies an RY​ rotation to each qubit, with a different angle </a:t>
                </a:r>
                <a:r>
                  <a:rPr lang="el-GR" b="0" dirty="0"/>
                  <a:t>θ</a:t>
                </a:r>
                <a:r>
                  <a:rPr lang="en-ZA" b="0" dirty="0" err="1"/>
                  <a:t>i</a:t>
                </a:r>
                <a:r>
                  <a:rPr lang="en-ZA" b="0" dirty="0"/>
                  <a:t>​. These angles are the variational parameters that are adjusted during training.</a:t>
                </a:r>
              </a:p>
              <a:p>
                <a:pPr marL="171450" indent="-171450">
                  <a:buFont typeface="Arial" panose="020B0604020202020204" pitchFamily="34" charset="0"/>
                  <a:buChar char="•"/>
                </a:pPr>
                <a:r>
                  <a:rPr lang="en-ZA" b="0" dirty="0"/>
                  <a:t>Next, CX gates entangle the qubits, allowing the circuit to create correlations between their states. In this example, the reverse-linear entanglement pattern connects the three qubits using two CX gates.</a:t>
                </a:r>
              </a:p>
              <a:p>
                <a:pPr marL="171450" indent="-171450">
                  <a:buFont typeface="Arial" panose="020B0604020202020204" pitchFamily="34" charset="0"/>
                  <a:buChar char="•"/>
                </a:pPr>
                <a:r>
                  <a:rPr lang="en-ZA" b="0" dirty="0"/>
                  <a:t>The sequence of rotation and entanglement layers is repeated twice, using different parameter values, and is followed by a final rotation layer. Repeating these layers increases the expressive power of the circuit, allowing it to represent more complex relationships in the data.</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Na </a:t>
                </a:r>
                <a:r>
                  <a:rPr lang="en-US" sz="2000" dirty="0" err="1"/>
                  <a:t>kodirane</a:t>
                </a:r>
                <a:r>
                  <a:rPr lang="en-US" sz="2000" dirty="0"/>
                  <a:t> </a:t>
                </a:r>
                <a:r>
                  <a:rPr lang="en-US" sz="2000" dirty="0" err="1"/>
                  <a:t>podatke</a:t>
                </a:r>
                <a:r>
                  <a:rPr lang="en-US" sz="2000" dirty="0"/>
                  <a:t> se </a:t>
                </a:r>
                <a:r>
                  <a:rPr lang="en-US" sz="2000" dirty="0" err="1"/>
                  <a:t>sada</a:t>
                </a:r>
                <a:r>
                  <a:rPr lang="en-US" sz="2000" dirty="0"/>
                  <a:t> </a:t>
                </a:r>
                <a:r>
                  <a:rPr lang="en-US" sz="2000" dirty="0" err="1"/>
                  <a:t>primenjuje</a:t>
                </a:r>
                <a:r>
                  <a:rPr lang="en-US" sz="2000" dirty="0"/>
                  <a:t> model. </a:t>
                </a:r>
                <a:r>
                  <a:rPr lang="en-US" sz="2000" dirty="0" err="1"/>
                  <a:t>Slika</a:t>
                </a:r>
                <a:r>
                  <a:rPr lang="en-US" sz="2000" dirty="0"/>
                  <a:t> </a:t>
                </a:r>
                <a:r>
                  <a:rPr lang="en-US" sz="2000" dirty="0" err="1"/>
                  <a:t>prikazuje</a:t>
                </a:r>
                <a:r>
                  <a:rPr lang="en-US" sz="2000" dirty="0"/>
                  <a:t> IBM-</a:t>
                </a:r>
                <a:r>
                  <a:rPr lang="en-US" sz="2000" dirty="0" err="1"/>
                  <a:t>ov</a:t>
                </a:r>
                <a:r>
                  <a:rPr lang="en-US" sz="2000" dirty="0"/>
                  <a:t> ‘real amplitude’ model </a:t>
                </a:r>
                <a:r>
                  <a:rPr lang="en-US" sz="2000" dirty="0" err="1"/>
                  <a:t>koji</a:t>
                </a:r>
                <a:r>
                  <a:rPr lang="en-US" sz="2000" dirty="0"/>
                  <a:t> </a:t>
                </a:r>
                <a:r>
                  <a:rPr lang="en-US" sz="2000" dirty="0" err="1"/>
                  <a:t>je</a:t>
                </a:r>
                <a:r>
                  <a:rPr lang="en-US" sz="2000" dirty="0"/>
                  <a:t> deo </a:t>
                </a:r>
                <a:r>
                  <a:rPr lang="en-US" sz="2000" dirty="0" err="1"/>
                  <a:t>Qiskit</a:t>
                </a:r>
                <a:r>
                  <a:rPr lang="en-US" sz="2000" dirty="0"/>
                  <a:t> </a:t>
                </a:r>
                <a:r>
                  <a:rPr lang="en-US" sz="2000" dirty="0" err="1"/>
                  <a:t>biblioteke</a:t>
                </a:r>
                <a:r>
                  <a:rPr lang="en-US" sz="2000" dirty="0"/>
                  <a:t>. Model </a:t>
                </a:r>
                <a:r>
                  <a:rPr lang="en-US" sz="2000" dirty="0" err="1"/>
                  <a:t>koristi</a:t>
                </a:r>
                <a:r>
                  <a:rPr lang="en-US" sz="2000" dirty="0"/>
                  <a:t> </a:t>
                </a:r>
                <a:r>
                  <a:rPr lang="en-US" sz="2000" dirty="0" err="1"/>
                  <a:t>variacione</a:t>
                </a:r>
                <a:r>
                  <a:rPr lang="en-US" sz="2000" dirty="0"/>
                  <a:t> </a:t>
                </a:r>
                <a:r>
                  <a:rPr lang="en-US" sz="2000" dirty="0" err="1"/>
                  <a:t>parametre</a:t>
                </a:r>
                <a:r>
                  <a:rPr lang="en-US" sz="2000" dirty="0"/>
                  <a:t> </a:t>
                </a:r>
                <a:r>
                  <a:rPr lang="en-US" sz="2000" i="0">
                    <a:solidFill>
                      <a:schemeClr val="bg1"/>
                    </a:solidFill>
                    <a:latin typeface="Cambria Math" panose="02040503050406030204" pitchFamily="18" charset="0"/>
                    <a:ea typeface="Cambria Math" panose="02040503050406030204" pitchFamily="18" charset="0"/>
                  </a:rPr>
                  <a:t>𝜃</a:t>
                </a:r>
                <a:r>
                  <a:rPr lang="en-US" sz="2000" dirty="0"/>
                  <a:t> </a:t>
                </a:r>
                <a:r>
                  <a:rPr lang="en-US" sz="2000" dirty="0" err="1"/>
                  <a:t>koji</a:t>
                </a:r>
                <a:r>
                  <a:rPr lang="en-US" sz="2000" dirty="0"/>
                  <a:t> se </a:t>
                </a:r>
                <a:r>
                  <a:rPr lang="en-US" sz="2000" dirty="0" err="1"/>
                  <a:t>obu</a:t>
                </a:r>
                <a:r>
                  <a:rPr lang="sr-Latn-RS" sz="2000" dirty="0"/>
                  <a:t>č</a:t>
                </a:r>
                <a:r>
                  <a:rPr lang="en-US" sz="2000" dirty="0" err="1"/>
                  <a:t>avaju</a:t>
                </a:r>
                <a:r>
                  <a:rPr lang="en-US" sz="2000" baseline="0" dirty="0"/>
                  <a:t> </a:t>
                </a:r>
                <a:r>
                  <a:rPr lang="en-US" sz="2000" baseline="0" dirty="0" err="1"/>
                  <a:t>tokom</a:t>
                </a:r>
                <a:r>
                  <a:rPr lang="en-US" sz="2000" baseline="0" dirty="0"/>
                  <a:t> </a:t>
                </a:r>
                <a:r>
                  <a:rPr lang="en-US" sz="2000" baseline="0" dirty="0" err="1"/>
                  <a:t>treninga</a:t>
                </a:r>
                <a:r>
                  <a:rPr lang="en-US" sz="2000" baseline="0" dirty="0"/>
                  <a:t> </a:t>
                </a:r>
                <a:r>
                  <a:rPr lang="en-US" sz="2000" baseline="0" dirty="0" err="1"/>
                  <a:t>modela</a:t>
                </a:r>
                <a:r>
                  <a:rPr lang="en-US" sz="2000"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Posle</a:t>
                </a:r>
                <a:r>
                  <a:rPr lang="en-US" sz="2000" dirty="0"/>
                  <a:t> </a:t>
                </a:r>
                <a:r>
                  <a:rPr lang="en-US" sz="2000" dirty="0" err="1"/>
                  <a:t>kodiranja</a:t>
                </a:r>
                <a:r>
                  <a:rPr lang="en-US" sz="2000" dirty="0"/>
                  <a:t> </a:t>
                </a:r>
                <a:r>
                  <a:rPr lang="en-US" sz="2000" dirty="0" err="1"/>
                  <a:t>podaci</a:t>
                </a:r>
                <a:r>
                  <a:rPr lang="en-US" sz="2000" dirty="0"/>
                  <a:t> </a:t>
                </a:r>
                <a:r>
                  <a:rPr lang="en-US" sz="2000" dirty="0" err="1"/>
                  <a:t>ulaze</a:t>
                </a:r>
                <a:r>
                  <a:rPr lang="en-US" sz="2000" dirty="0"/>
                  <a:t> u model </a:t>
                </a:r>
                <a:r>
                  <a:rPr lang="en-US" sz="2000" dirty="0" err="1"/>
                  <a:t>čiji</a:t>
                </a:r>
                <a:r>
                  <a:rPr lang="en-US" sz="2000" dirty="0"/>
                  <a:t> </a:t>
                </a:r>
                <a:r>
                  <a:rPr lang="en-US" sz="2000" dirty="0" err="1"/>
                  <a:t>prvi</a:t>
                </a:r>
                <a:r>
                  <a:rPr lang="en-US" sz="2000" dirty="0"/>
                  <a:t> </a:t>
                </a:r>
                <a:r>
                  <a:rPr lang="en-US" sz="2000" dirty="0" err="1"/>
                  <a:t>sloj</a:t>
                </a:r>
                <a:r>
                  <a:rPr lang="en-US" sz="2000" dirty="0"/>
                  <a:t> </a:t>
                </a:r>
                <a:r>
                  <a:rPr lang="en-US" sz="2000" dirty="0" err="1"/>
                  <a:t>rotira</a:t>
                </a:r>
                <a:r>
                  <a:rPr lang="en-US" sz="2000" dirty="0"/>
                  <a:t> </a:t>
                </a:r>
                <a:r>
                  <a:rPr lang="en-US" sz="2000" dirty="0" err="1"/>
                  <a:t>svaki</a:t>
                </a:r>
                <a:r>
                  <a:rPr lang="en-US" sz="2000" dirty="0"/>
                  <a:t> </a:t>
                </a:r>
                <a:r>
                  <a:rPr lang="en-US" sz="2000" dirty="0" err="1"/>
                  <a:t>kubit</a:t>
                </a:r>
                <a:r>
                  <a:rPr lang="en-US" sz="2000" dirty="0"/>
                  <a:t> </a:t>
                </a:r>
                <a:r>
                  <a:rPr lang="en-US" sz="2000" dirty="0" err="1"/>
                  <a:t>za</a:t>
                </a:r>
                <a:r>
                  <a:rPr lang="en-US" sz="2000" dirty="0"/>
                  <a:t> </a:t>
                </a:r>
                <a:r>
                  <a:rPr lang="en-US" sz="2000" dirty="0" err="1"/>
                  <a:t>različit</a:t>
                </a:r>
                <a:r>
                  <a:rPr lang="en-US" sz="2000" dirty="0"/>
                  <a:t> </a:t>
                </a:r>
                <a:r>
                  <a:rPr lang="en-US" sz="2000" dirty="0" err="1"/>
                  <a:t>parametar</a:t>
                </a:r>
                <a:r>
                  <a:rPr lang="en-US" sz="2000" dirty="0"/>
                  <a:t> 𝜃.  </a:t>
                </a:r>
                <a:r>
                  <a:rPr lang="en-US" sz="2000" dirty="0" err="1"/>
                  <a:t>Uglovi</a:t>
                </a:r>
                <a:r>
                  <a:rPr lang="en-US" sz="2000" dirty="0"/>
                  <a:t> 𝜃 </a:t>
                </a:r>
                <a:r>
                  <a:rPr lang="en-US" sz="2000" dirty="0" err="1"/>
                  <a:t>predstavljaju</a:t>
                </a:r>
                <a:r>
                  <a:rPr lang="en-US" sz="2000" dirty="0"/>
                  <a:t> </a:t>
                </a:r>
                <a:r>
                  <a:rPr lang="en-US" sz="2000" dirty="0" err="1"/>
                  <a:t>variacione</a:t>
                </a:r>
                <a:r>
                  <a:rPr lang="en-US" sz="2000" dirty="0"/>
                  <a:t> </a:t>
                </a:r>
                <a:r>
                  <a:rPr lang="en-US" sz="2000" dirty="0" err="1"/>
                  <a:t>parametre</a:t>
                </a:r>
                <a:r>
                  <a:rPr lang="en-US" sz="2000" dirty="0"/>
                  <a:t> </a:t>
                </a:r>
                <a:r>
                  <a:rPr lang="en-US" sz="2000" dirty="0" err="1"/>
                  <a:t>koji</a:t>
                </a:r>
                <a:r>
                  <a:rPr lang="en-US" sz="2000" dirty="0"/>
                  <a:t> </a:t>
                </a:r>
                <a:r>
                  <a:rPr lang="en-US" sz="2000" dirty="0" err="1"/>
                  <a:t>će</a:t>
                </a:r>
                <a:r>
                  <a:rPr lang="en-US" sz="2000" dirty="0"/>
                  <a:t> se </a:t>
                </a:r>
                <a:r>
                  <a:rPr lang="en-US" sz="2000" dirty="0" err="1"/>
                  <a:t>menjati</a:t>
                </a:r>
                <a:r>
                  <a:rPr lang="en-US" sz="2000" dirty="0"/>
                  <a:t> u </a:t>
                </a:r>
                <a:r>
                  <a:rPr lang="en-US" sz="2000" dirty="0" err="1"/>
                  <a:t>toku</a:t>
                </a:r>
                <a:r>
                  <a:rPr lang="en-US" sz="2000" dirty="0"/>
                  <a:t> </a:t>
                </a:r>
                <a:r>
                  <a:rPr lang="en-US" sz="2000" dirty="0" err="1"/>
                  <a:t>obuke</a:t>
                </a:r>
                <a:r>
                  <a:rPr lang="en-US" sz="2000" dirty="0"/>
                  <a:t> </a:t>
                </a:r>
                <a:r>
                  <a:rPr lang="en-US" sz="2000" dirty="0" err="1"/>
                  <a:t>modela</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U </a:t>
                </a:r>
                <a:r>
                  <a:rPr lang="en-US" sz="2000" dirty="0" err="1"/>
                  <a:t>sledecmo</a:t>
                </a:r>
                <a:r>
                  <a:rPr lang="en-US" sz="2000" dirty="0"/>
                  <a:t> </a:t>
                </a:r>
                <a:r>
                  <a:rPr lang="en-US" sz="2000" dirty="0" err="1"/>
                  <a:t>koraku</a:t>
                </a:r>
                <a:r>
                  <a:rPr lang="en-US" sz="2000" dirty="0"/>
                  <a:t> </a:t>
                </a:r>
                <a:r>
                  <a:rPr lang="en-US" sz="2000" dirty="0" err="1"/>
                  <a:t>kubiti</a:t>
                </a:r>
                <a:r>
                  <a:rPr lang="en-US" sz="2000" dirty="0"/>
                  <a:t> se </a:t>
                </a:r>
                <a:r>
                  <a:rPr lang="en-US" sz="2000" dirty="0" err="1"/>
                  <a:t>međusobno</a:t>
                </a:r>
                <a:r>
                  <a:rPr lang="en-US" sz="2000" dirty="0"/>
                  <a:t> </a:t>
                </a:r>
                <a:r>
                  <a:rPr lang="en-US" sz="2000" dirty="0" err="1"/>
                  <a:t>spleću</a:t>
                </a:r>
                <a:r>
                  <a:rPr lang="en-US" sz="2000" dirty="0"/>
                  <a:t> </a:t>
                </a:r>
                <a:r>
                  <a:rPr lang="en-US" sz="2000" dirty="0" err="1"/>
                  <a:t>što</a:t>
                </a:r>
                <a:r>
                  <a:rPr lang="en-US" sz="2000" dirty="0"/>
                  <a:t> </a:t>
                </a:r>
                <a:r>
                  <a:rPr lang="en-US" sz="2000" dirty="0" err="1"/>
                  <a:t>povećava</a:t>
                </a:r>
                <a:r>
                  <a:rPr lang="en-US" sz="2000" dirty="0"/>
                  <a:t> </a:t>
                </a:r>
                <a:r>
                  <a:rPr lang="en-US" sz="2000" dirty="0" err="1"/>
                  <a:t>korelaciju</a:t>
                </a:r>
                <a:r>
                  <a:rPr lang="en-US" sz="2000" dirty="0"/>
                  <a:t> </a:t>
                </a:r>
                <a:r>
                  <a:rPr lang="en-US" sz="2000" dirty="0" err="1"/>
                  <a:t>među</a:t>
                </a:r>
                <a:r>
                  <a:rPr lang="en-US" sz="2000" dirty="0"/>
                  <a:t> </a:t>
                </a:r>
                <a:r>
                  <a:rPr lang="en-US" sz="2000" dirty="0" err="1"/>
                  <a:t>svojstvima</a:t>
                </a:r>
                <a:r>
                  <a:rPr lang="en-US" sz="2000" dirty="0"/>
                  <a:t> </a:t>
                </a:r>
                <a:r>
                  <a:rPr lang="en-US" sz="2000" dirty="0" err="1"/>
                  <a:t>atributa</a:t>
                </a:r>
                <a:r>
                  <a:rPr lang="en-US" sz="2000" dirty="0"/>
                  <a: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err="1"/>
                  <a:t>Ovaj</a:t>
                </a:r>
                <a:r>
                  <a:rPr lang="en-US" sz="2000" dirty="0"/>
                  <a:t> se </a:t>
                </a:r>
                <a:r>
                  <a:rPr lang="en-US" sz="2000" dirty="0" err="1"/>
                  <a:t>proces</a:t>
                </a:r>
                <a:r>
                  <a:rPr lang="en-US" sz="2000" baseline="0" dirty="0"/>
                  <a:t> </a:t>
                </a:r>
                <a:r>
                  <a:rPr lang="en-US" sz="2000" dirty="0" err="1"/>
                  <a:t>može</a:t>
                </a:r>
                <a:r>
                  <a:rPr lang="en-US" sz="2000" dirty="0"/>
                  <a:t> </a:t>
                </a:r>
                <a:r>
                  <a:rPr lang="en-US" sz="2000" dirty="0" err="1"/>
                  <a:t>ponoviti</a:t>
                </a:r>
                <a:r>
                  <a:rPr lang="en-US" sz="2000" dirty="0"/>
                  <a:t> </a:t>
                </a:r>
                <a:r>
                  <a:rPr lang="en-US" sz="2000" dirty="0" err="1"/>
                  <a:t>više</a:t>
                </a:r>
                <a:r>
                  <a:rPr lang="en-US" sz="2000" dirty="0"/>
                  <a:t> puta </a:t>
                </a:r>
                <a:r>
                  <a:rPr lang="en-US" sz="2000" dirty="0" err="1"/>
                  <a:t>sa</a:t>
                </a:r>
                <a:r>
                  <a:rPr lang="en-US" sz="2000" dirty="0"/>
                  <a:t> </a:t>
                </a:r>
                <a:r>
                  <a:rPr lang="en-US" sz="2000" dirty="0" err="1"/>
                  <a:t>različitim</a:t>
                </a:r>
                <a:r>
                  <a:rPr lang="en-US" sz="2000" dirty="0"/>
                  <a:t> </a:t>
                </a:r>
                <a:r>
                  <a:rPr lang="en-US" sz="2000" dirty="0" err="1"/>
                  <a:t>vrednostima</a:t>
                </a:r>
                <a:r>
                  <a:rPr lang="en-US" sz="2000" dirty="0"/>
                  <a:t> </a:t>
                </a:r>
                <a:r>
                  <a:rPr lang="en-US" sz="2000" dirty="0" err="1"/>
                  <a:t>parametara</a:t>
                </a:r>
                <a:r>
                  <a:rPr lang="en-US" sz="2000" dirty="0"/>
                  <a:t> </a:t>
                </a:r>
                <a:r>
                  <a:rPr lang="en-US" sz="2000" i="0">
                    <a:solidFill>
                      <a:schemeClr val="bg1"/>
                    </a:solidFill>
                    <a:latin typeface="Cambria Math" panose="02040503050406030204" pitchFamily="18" charset="0"/>
                    <a:ea typeface="Cambria Math" panose="02040503050406030204" pitchFamily="18" charset="0"/>
                  </a:rPr>
                  <a:t>𝜃</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268607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figure shows several additional examples of parameterized quantum circuits presented in the IBM paper cited below, which explored different circuit architectures for quantum machine learning.</a:t>
            </a:r>
          </a:p>
          <a:p>
            <a:pPr algn="just"/>
            <a:endParaRPr lang="en-ZA" b="0" dirty="0"/>
          </a:p>
          <a:p>
            <a:pPr algn="just"/>
            <a:r>
              <a:rPr lang="en-ZA" b="0" dirty="0"/>
              <a:t>All three circuits follow a similar structure. They begin with layers of parameterized RY​ and RZ​ rotations, followed by an entangling layer.</a:t>
            </a:r>
          </a:p>
          <a:p>
            <a:pPr algn="just"/>
            <a:endParaRPr lang="en-ZA" b="0" dirty="0"/>
          </a:p>
          <a:p>
            <a:pPr algn="just"/>
            <a:r>
              <a:rPr lang="en-ZA" b="0" dirty="0"/>
              <a:t>The main difference is the choice of gates used for entanglement. The first circuit uses cascading CX gates, while the other two use parameterized controlled rotations, CRZ​ and CRX​.</a:t>
            </a:r>
          </a:p>
          <a:p>
            <a:pPr algn="just"/>
            <a:r>
              <a:rPr lang="en-ZA" b="0" dirty="0"/>
              <a:t>These examples illustrate that a variational quantum model does not have a single fixed architecture. Different combinations of rotation and entangling gates can be used to construct the trainable part of the model.</a:t>
            </a: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t>Reference</a:t>
            </a:r>
            <a:endParaRPr lang="en-US" sz="1200" i="1" dirty="0"/>
          </a:p>
          <a:p>
            <a:r>
              <a:rPr lang="en-US" sz="1200" i="1" dirty="0"/>
              <a:t>Sim, S., Johnson, P.D. and </a:t>
            </a:r>
            <a:r>
              <a:rPr lang="en-US" sz="1200" i="1" dirty="0" err="1"/>
              <a:t>Aspuru-Guzik</a:t>
            </a:r>
            <a:r>
              <a:rPr lang="en-US" sz="1200" i="1" dirty="0"/>
              <a:t>, A. (2019),</a:t>
            </a:r>
          </a:p>
          <a:p>
            <a:r>
              <a:rPr lang="en-US" sz="1200" i="1" dirty="0" err="1"/>
              <a:t>Expressibility</a:t>
            </a:r>
            <a:r>
              <a:rPr lang="en-US" sz="1200" i="1" dirty="0"/>
              <a:t> and Entangling Capability of Parameterized Quantum Circuits for Hybrid Quantum-Classical Algorithms. Adv. Quantum Technol., 2: 1900070. https://</a:t>
            </a:r>
            <a:r>
              <a:rPr lang="en-US" sz="1200" i="1" dirty="0" err="1"/>
              <a:t>doi.org</a:t>
            </a:r>
            <a:r>
              <a:rPr lang="en-US" sz="1200" i="1" dirty="0"/>
              <a:t>/10.1002/qute.201900070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2325518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In addition to choosing the type of entangling gates, these gates can be arranged using different entanglement topologies, which determine how the qubits are connected.</a:t>
            </a:r>
          </a:p>
          <a:p>
            <a:endParaRPr lang="en-ZA" dirty="0"/>
          </a:p>
          <a:p>
            <a:r>
              <a:rPr lang="en-ZA" b="1" dirty="0"/>
              <a:t>Star topology:</a:t>
            </a:r>
            <a:r>
              <a:rPr lang="en-ZA" dirty="0"/>
              <a:t> One qubit acts as a central hub and is entangled with all the others. This provides connectivity between the central qubit and the rest of the register using relatively few entangling gates.</a:t>
            </a:r>
          </a:p>
          <a:p>
            <a:r>
              <a:rPr lang="en-ZA" b="1" dirty="0"/>
              <a:t>Linear topology:</a:t>
            </a:r>
            <a:r>
              <a:rPr lang="en-ZA" dirty="0"/>
              <a:t> Each qubit is entangled with its nearest </a:t>
            </a:r>
            <a:r>
              <a:rPr lang="en-ZA" dirty="0" err="1"/>
              <a:t>neighbor</a:t>
            </a:r>
            <a:r>
              <a:rPr lang="en-ZA" dirty="0"/>
              <a:t>, forming a chain-like structure. This requires relatively few connections and can be well suited to hardware with limited qubit connectivity.</a:t>
            </a:r>
          </a:p>
          <a:p>
            <a:r>
              <a:rPr lang="en-ZA" b="1" dirty="0"/>
              <a:t>Fully connected topology:</a:t>
            </a:r>
            <a:r>
              <a:rPr lang="en-ZA" dirty="0"/>
              <a:t> Every pair of qubits is connected through entangling gates. This provides richer interactions between qubits but requires more gates, increasing circuit complexity and potentially introducing more noise.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1" dirty="0"/>
              <a:t>Reference</a:t>
            </a:r>
            <a:endParaRPr lang="en-US" sz="1200" i="1" dirty="0"/>
          </a:p>
          <a:p>
            <a:r>
              <a:rPr lang="en-US" sz="1200" i="1" dirty="0"/>
              <a:t>Sim, S., Johnson, P.D. and </a:t>
            </a:r>
            <a:r>
              <a:rPr lang="en-US" sz="1200" i="1" dirty="0" err="1"/>
              <a:t>Aspuru-Guzik</a:t>
            </a:r>
            <a:r>
              <a:rPr lang="en-US" sz="1200" i="1" dirty="0"/>
              <a:t>, A. (2019),</a:t>
            </a:r>
          </a:p>
          <a:p>
            <a:r>
              <a:rPr lang="en-US" sz="1200" i="1" dirty="0" err="1"/>
              <a:t>Expressibility</a:t>
            </a:r>
            <a:r>
              <a:rPr lang="en-US" sz="1200" i="1" dirty="0"/>
              <a:t> and Entangling Capability of Parameterized Quantum Circuits for Hybrid Quantum-Classical Algorithms. Adv. Quantum Technol., 2: 1900070. https://</a:t>
            </a:r>
            <a:r>
              <a:rPr lang="en-US" sz="1200" i="1" dirty="0" err="1"/>
              <a:t>doi.org</a:t>
            </a:r>
            <a:r>
              <a:rPr lang="en-US" sz="1200" i="1" dirty="0"/>
              <a:t>/10.1002/qute.201900070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1096830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next step in a variational quantum circuit (VQC) is measurement, or readout. Because quantum measurements are probabilistic, the circuit is typically executed many times (shots) to collect statistics. The results can be visualized as a histogram showing how frequently each measurement outcome occurs.</a:t>
            </a:r>
          </a:p>
          <a:p>
            <a:endParaRPr lang="en-ZA" b="0" dirty="0"/>
          </a:p>
          <a:p>
            <a:r>
              <a:rPr lang="en-ZA" b="0" dirty="0"/>
              <a:t>In a discriminative model, the measurement results are interpreted to produce a predicted class label or numerical value.</a:t>
            </a:r>
          </a:p>
          <a:p>
            <a:pPr marL="228600" indent="-228600">
              <a:buFont typeface="Arial" panose="020B0604020202020204" pitchFamily="34" charset="0"/>
              <a:buChar char="•"/>
            </a:pPr>
            <a:r>
              <a:rPr lang="en-ZA" dirty="0"/>
              <a:t>For example, the most probable bit or </a:t>
            </a:r>
            <a:r>
              <a:rPr lang="en-ZA" dirty="0" err="1"/>
              <a:t>bitstring</a:t>
            </a:r>
            <a:r>
              <a:rPr lang="en-ZA" dirty="0"/>
              <a:t>, such as “1” or “01”, can be mapped to a particular class.</a:t>
            </a:r>
            <a:r>
              <a:rPr lang="en-ZA" b="0" dirty="0"/>
              <a:t>.</a:t>
            </a:r>
          </a:p>
          <a:p>
            <a:endParaRPr lang="en-ZA" b="0" dirty="0"/>
          </a:p>
          <a:p>
            <a:r>
              <a:rPr lang="en-ZA" b="0" dirty="0"/>
              <a:t>In a generative model, the measurement results represent a probability distribution over possible outcomes.</a:t>
            </a:r>
          </a:p>
          <a:p>
            <a:pPr marL="171450" indent="-171450">
              <a:buFont typeface="Arial" panose="020B0604020202020204" pitchFamily="34" charset="0"/>
              <a:buChar char="•"/>
            </a:pPr>
            <a:r>
              <a:rPr lang="en-ZA" b="0" u="none" dirty="0"/>
              <a:t>For</a:t>
            </a:r>
            <a:r>
              <a:rPr lang="en-ZA" b="0" u="sng" dirty="0"/>
              <a:t> </a:t>
            </a:r>
            <a:r>
              <a:rPr lang="en-ZA" b="0" u="none" dirty="0"/>
              <a:t>example,</a:t>
            </a:r>
            <a:r>
              <a:rPr lang="en-ZA" b="0" dirty="0"/>
              <a:t> the complete </a:t>
            </a:r>
            <a:r>
              <a:rPr lang="en-ZA" dirty="0"/>
              <a:t>probability</a:t>
            </a:r>
            <a:r>
              <a:rPr lang="en-ZA" b="0" dirty="0"/>
              <a:t> distribution, such as </a:t>
            </a:r>
            <a:r>
              <a:rPr lang="en-ZA" dirty="0"/>
              <a:t>{0:0.12,  1:0.88}.</a:t>
            </a:r>
            <a:br>
              <a:rPr lang="en-ZA" b="0" dirty="0"/>
            </a:br>
            <a:endParaRPr lang="en-ZA" b="0" dirty="0"/>
          </a:p>
          <a:p>
            <a:pPr algn="just"/>
            <a:r>
              <a:rPr lang="en-ZA" b="0" dirty="0"/>
              <a:t>The figure shows a simple binary quantum classifier that distinguishes between two classes, 0 and 1. In this case, measuring a single qubit is sufficient to determine the predicted class.</a:t>
            </a:r>
          </a:p>
        </p:txBody>
      </p:sp>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605534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quantum classifiers, an alternative strategy for determining the class label is parity-based post-processing, also called parity classification.</a:t>
                </a:r>
              </a:p>
              <a:p>
                <a:endParaRPr lang="en-ZA" dirty="0"/>
              </a:p>
              <a:p>
                <a:r>
                  <a:rPr lang="en-ZA" dirty="0"/>
                  <a:t>Suppose the measurement outcomes are:</a:t>
                </a:r>
              </a:p>
              <a:p>
                <a:pPr marL="171450" indent="-171450">
                  <a:buFont typeface="Arial" panose="020B0604020202020204" pitchFamily="34" charset="0"/>
                  <a:buChar char="•"/>
                </a:pPr>
                <a:r>
                  <a:rPr lang="en-ZA" dirty="0"/>
                  <a:t>00 with probability 0.1</a:t>
                </a:r>
              </a:p>
              <a:p>
                <a:pPr marL="171450" indent="-171450">
                  <a:buFont typeface="Arial" panose="020B0604020202020204" pitchFamily="34" charset="0"/>
                  <a:buChar char="•"/>
                </a:pPr>
                <a:r>
                  <a:rPr lang="en-ZA" dirty="0"/>
                  <a:t>01 with probability 0.7</a:t>
                </a:r>
              </a:p>
              <a:p>
                <a:pPr marL="171450" indent="-171450">
                  <a:buFont typeface="Arial" panose="020B0604020202020204" pitchFamily="34" charset="0"/>
                  <a:buChar char="•"/>
                </a:pPr>
                <a:r>
                  <a:rPr lang="en-ZA" dirty="0"/>
                  <a:t>10 with probability 0.2</a:t>
                </a:r>
              </a:p>
              <a:p>
                <a:pPr marL="171450" indent="-171450">
                  <a:buFont typeface="Arial" panose="020B0604020202020204" pitchFamily="34" charset="0"/>
                  <a:buChar char="•"/>
                </a:pPr>
                <a:r>
                  <a:rPr lang="en-ZA" dirty="0"/>
                  <a:t>11 with probability 0.0</a:t>
                </a:r>
              </a:p>
              <a:p>
                <a:pPr marL="171450" indent="-171450">
                  <a:buFont typeface="Arial" panose="020B0604020202020204" pitchFamily="34" charset="0"/>
                  <a:buChar char="•"/>
                </a:pPr>
                <a:endParaRPr lang="en-ZA" dirty="0"/>
              </a:p>
              <a:p>
                <a:pPr algn="just"/>
                <a:r>
                  <a:rPr lang="en-ZA" dirty="0"/>
                  <a:t>The outcomes are grouped into two classes according to their </a:t>
                </a:r>
                <a:r>
                  <a:rPr lang="en-ZA" b="0" dirty="0"/>
                  <a:t>parity</a:t>
                </a:r>
                <a:r>
                  <a:rPr lang="en-ZA" dirty="0"/>
                  <a:t>, determined by whether the </a:t>
                </a:r>
                <a:r>
                  <a:rPr lang="en-ZA" dirty="0" err="1"/>
                  <a:t>bitstring</a:t>
                </a:r>
                <a:r>
                  <a:rPr lang="en-ZA" dirty="0"/>
                  <a:t> contains an even or odd number of 1s. The probabilities of all outcomes belonging to the same class are then added together.</a:t>
                </a:r>
              </a:p>
              <a:p>
                <a:endParaRPr lang="en-ZA" dirty="0"/>
              </a:p>
              <a:p>
                <a:r>
                  <a:rPr lang="en-ZA" dirty="0"/>
                  <a:t>In this example:</a:t>
                </a:r>
              </a:p>
              <a:p>
                <a:pPr marL="171450" indent="-171450">
                  <a:buFont typeface="Arial" panose="020B0604020202020204" pitchFamily="34" charset="0"/>
                  <a:buChar char="•"/>
                </a:pPr>
                <a:r>
                  <a:rPr lang="en-ZA" b="0" dirty="0"/>
                  <a:t>Class 0 (even parity):</a:t>
                </a:r>
                <a:r>
                  <a:rPr lang="en-ZA" dirty="0"/>
                  <a:t> 00,11,	</a:t>
                </a:r>
                <a14:m>
                  <m:oMath xmlns:m="http://schemas.openxmlformats.org/officeDocument/2006/math">
                    <m:r>
                      <a:rPr lang="en-US" sz="1200" b="0" i="0" smtClean="0">
                        <a:latin typeface="Cambria Math" panose="02040503050406030204" pitchFamily="18" charset="0"/>
                        <a:ea typeface="Cambria Math" panose="02040503050406030204" pitchFamily="18" charset="0"/>
                      </a:rPr>
                      <m:t> </m:t>
                    </m:r>
                    <m:sSub>
                      <m:sSubPr>
                        <m:ctrlPr>
                          <a:rPr lang="en-US" sz="1200" b="0" i="1" smtClean="0">
                            <a:latin typeface="Cambria Math" panose="02040503050406030204" pitchFamily="18" charset="0"/>
                            <a:ea typeface="Cambria Math" panose="02040503050406030204" pitchFamily="18" charset="0"/>
                          </a:rPr>
                        </m:ctrlPr>
                      </m:sSubPr>
                      <m:e>
                        <m:r>
                          <a:rPr lang="en-US" sz="1200" b="0" i="1" smtClean="0">
                            <a:latin typeface="Cambria Math" panose="02040503050406030204" pitchFamily="18" charset="0"/>
                            <a:ea typeface="Cambria Math" panose="02040503050406030204" pitchFamily="18" charset="0"/>
                          </a:rPr>
                          <m:t>𝑝</m:t>
                        </m:r>
                      </m:e>
                      <m:sub>
                        <m:r>
                          <a:rPr lang="en-US" sz="1200" b="0" i="1" smtClean="0">
                            <a:latin typeface="Cambria Math" panose="02040503050406030204" pitchFamily="18" charset="0"/>
                            <a:ea typeface="Cambria Math" panose="02040503050406030204" pitchFamily="18" charset="0"/>
                          </a:rPr>
                          <m:t>0</m:t>
                        </m:r>
                      </m:sub>
                    </m:sSub>
                    <m:r>
                      <a:rPr lang="en-US" sz="1200" b="0" i="1" smtClean="0">
                        <a:latin typeface="Cambria Math" panose="02040503050406030204" pitchFamily="18" charset="0"/>
                        <a:ea typeface="Cambria Math" panose="02040503050406030204" pitchFamily="18" charset="0"/>
                      </a:rPr>
                      <m:t>=0.1+0.0=0.1</m:t>
                    </m:r>
                  </m:oMath>
                </a14:m>
                <a:endParaRPr lang="en-ZA" dirty="0"/>
              </a:p>
              <a:p>
                <a:pPr marL="171450" indent="-171450">
                  <a:buFont typeface="Arial" panose="020B0604020202020204" pitchFamily="34" charset="0"/>
                  <a:buChar char="•"/>
                </a:pPr>
                <a:r>
                  <a:rPr lang="en-ZA" b="0" dirty="0"/>
                  <a:t>Class 1 (odd parity)</a:t>
                </a:r>
                <a:r>
                  <a:rPr lang="en-ZA" b="1" dirty="0"/>
                  <a:t>:</a:t>
                </a:r>
                <a:r>
                  <a:rPr lang="en-ZA" dirty="0"/>
                  <a:t> 01,10,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𝑝</m:t>
                        </m:r>
                      </m:e>
                      <m:sub>
                        <m:r>
                          <a:rPr lang="en-US" sz="1200" b="0" i="1" smtClean="0">
                            <a:latin typeface="Cambria Math" panose="02040503050406030204" pitchFamily="18" charset="0"/>
                            <a:ea typeface="Cambria Math" panose="02040503050406030204" pitchFamily="18" charset="0"/>
                          </a:rPr>
                          <m:t>1</m:t>
                        </m:r>
                      </m:sub>
                    </m:sSub>
                    <m:r>
                      <a:rPr lang="en-US" sz="1200" b="0" i="1" smtClean="0">
                        <a:latin typeface="Cambria Math" panose="02040503050406030204" pitchFamily="18" charset="0"/>
                        <a:ea typeface="Cambria Math" panose="02040503050406030204" pitchFamily="18" charset="0"/>
                      </a:rPr>
                      <m:t>=0.7+0.2=0.9</m:t>
                    </m:r>
                  </m:oMath>
                </a14:m>
                <a:endParaRPr lang="en-ZA" dirty="0"/>
              </a:p>
              <a:p>
                <a:endParaRPr lang="en-ZA" dirty="0"/>
              </a:p>
              <a:p>
                <a:r>
                  <a:rPr lang="en-ZA" dirty="0"/>
                  <a:t>Since Class 1 has the higher total probability, the model </a:t>
                </a:r>
                <a:r>
                  <a:rPr lang="en-ZA" b="0" dirty="0"/>
                  <a:t>predicts Class 1</a:t>
                </a:r>
                <a:r>
                  <a:rPr lang="en-ZA" dirty="0"/>
                  <a:t> for the input.</a:t>
                </a:r>
              </a:p>
            </p:txBody>
          </p:sp>
        </mc:Choice>
        <mc:Fallback xmlns="">
          <p:sp>
            <p:nvSpPr>
              <p:cNvPr id="3" name="Notes Placeholder 2"/>
              <p:cNvSpPr>
                <a:spLocks noGrp="1"/>
              </p:cNvSpPr>
              <p:nvPr>
                <p:ph type="body" idx="1"/>
              </p:nvPr>
            </p:nvSpPr>
            <p:spPr/>
            <p:txBody>
              <a:bodyPr/>
              <a:lstStyle/>
              <a:p>
                <a:pPr algn="just"/>
                <a:r>
                  <a:rPr lang="en-ZA" b="0" dirty="0"/>
                  <a:t>In quantum classifiers, an alternative strategy for determining the label is parity-based post-processing, also called parity classification.</a:t>
                </a:r>
              </a:p>
              <a:p>
                <a:pPr algn="just"/>
                <a:endParaRPr lang="en-ZA" b="0" dirty="0"/>
              </a:p>
              <a:p>
                <a:r>
                  <a:rPr lang="en-ZA" b="0" dirty="0"/>
                  <a:t>Suppose the measurement outcomes are:</a:t>
                </a:r>
              </a:p>
              <a:p>
                <a:pPr marL="171450" indent="-171450">
                  <a:buFont typeface="Arial" panose="020B0604020202020204" pitchFamily="34" charset="0"/>
                  <a:buChar char="•"/>
                </a:pPr>
                <a:r>
                  <a:rPr lang="en-ZA" b="0" dirty="0"/>
                  <a:t>00 with probability 0.1</a:t>
                </a:r>
              </a:p>
              <a:p>
                <a:pPr marL="171450" indent="-171450">
                  <a:buFont typeface="Arial" panose="020B0604020202020204" pitchFamily="34" charset="0"/>
                  <a:buChar char="•"/>
                </a:pPr>
                <a:r>
                  <a:rPr lang="en-ZA" b="0" dirty="0"/>
                  <a:t>01 with probability 0.7</a:t>
                </a:r>
              </a:p>
              <a:p>
                <a:pPr marL="171450" indent="-171450">
                  <a:buFont typeface="Arial" panose="020B0604020202020204" pitchFamily="34" charset="0"/>
                  <a:buChar char="•"/>
                </a:pPr>
                <a:r>
                  <a:rPr lang="en-ZA" b="0" dirty="0"/>
                  <a:t>10 with probability 0.2</a:t>
                </a:r>
              </a:p>
              <a:p>
                <a:pPr marL="171450" indent="-171450">
                  <a:buFont typeface="Arial" panose="020B0604020202020204" pitchFamily="34" charset="0"/>
                  <a:buChar char="•"/>
                </a:pPr>
                <a:r>
                  <a:rPr lang="en-ZA" b="0" dirty="0"/>
                  <a:t>11 with probability 0.0</a:t>
                </a:r>
              </a:p>
              <a:p>
                <a:endParaRPr lang="en-ZA" b="0" dirty="0"/>
              </a:p>
              <a:p>
                <a:r>
                  <a:rPr lang="en-ZA" b="0" dirty="0"/>
                  <a:t>The outcomes are grouped into two classes based on parity, that is, whether the </a:t>
                </a:r>
                <a:r>
                  <a:rPr lang="en-ZA" b="0" dirty="0" err="1"/>
                  <a:t>bitstring</a:t>
                </a:r>
                <a:r>
                  <a:rPr lang="en-ZA" b="0" dirty="0"/>
                  <a:t> contains an even or odd number of 1s (equivalently, 0s). The final prediction is made by summing probabilities within each class.</a:t>
                </a:r>
              </a:p>
              <a:p>
                <a:r>
                  <a:rPr lang="en-ZA" b="0" dirty="0"/>
                  <a:t>In this example:</a:t>
                </a:r>
              </a:p>
              <a:p>
                <a:pPr marL="171450" indent="-171450">
                  <a:buFont typeface="Arial" panose="020B0604020202020204" pitchFamily="34" charset="0"/>
                  <a:buChar char="•"/>
                </a:pPr>
                <a:r>
                  <a:rPr lang="en-ZA" b="0" dirty="0"/>
                  <a:t>Class 0 (even parity): 00 → </a:t>
                </a:r>
                <a:r>
                  <a:rPr lang="en-US" sz="1200" b="0" i="0">
                    <a:latin typeface="Cambria Math" panose="02040503050406030204" pitchFamily="18" charset="0"/>
                    <a:ea typeface="Cambria Math" panose="02040503050406030204" pitchFamily="18" charset="0"/>
                  </a:rPr>
                  <a:t>𝑝_0−0.1</a:t>
                </a:r>
                <a:endParaRPr lang="en-US" sz="1200" b="0" dirty="0">
                  <a:ea typeface="Cambria Math" panose="02040503050406030204" pitchFamily="18" charset="0"/>
                </a:endParaRPr>
              </a:p>
              <a:p>
                <a:pPr marL="171450" indent="-171450">
                  <a:buFont typeface="Arial" panose="020B0604020202020204" pitchFamily="34" charset="0"/>
                  <a:buChar char="•"/>
                </a:pPr>
                <a:r>
                  <a:rPr lang="en-ZA" b="0" dirty="0"/>
                  <a:t>Class 1 (odd parity): 01 and 10 → </a:t>
                </a:r>
                <a:r>
                  <a:rPr lang="en-US" sz="1200" b="0" i="0">
                    <a:latin typeface="Cambria Math" panose="02040503050406030204" pitchFamily="18" charset="0"/>
                    <a:ea typeface="Cambria Math" panose="02040503050406030204" pitchFamily="18" charset="0"/>
                  </a:rPr>
                  <a:t>𝑝_1=0.7+0.2=0.9</a:t>
                </a:r>
                <a:endParaRPr lang="en-ZA" b="0" dirty="0"/>
              </a:p>
              <a:p>
                <a:pPr marL="171450" indent="-171450">
                  <a:buFont typeface="Arial" panose="020B0604020202020204" pitchFamily="34" charset="0"/>
                  <a:buChar char="•"/>
                </a:pPr>
                <a:endParaRPr lang="en-ZA" b="0" dirty="0"/>
              </a:p>
              <a:p>
                <a:r>
                  <a:rPr lang="en-ZA" b="0" dirty="0"/>
                  <a:t>Since Class 1 has the higher total probability, the model predicts the input most likely belongs to Class 1.</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3737164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A Quantum Circuit Born Machine (QCBM) is a generative quantum machine learning model in which the probability distribution produced by a parameterized quantum circuit is trained to approximate a target distribution.</a:t>
                </a:r>
              </a:p>
              <a:p>
                <a:pPr algn="just"/>
                <a:endParaRPr lang="en-ZA" b="0" dirty="0"/>
              </a:p>
              <a:p>
                <a:pPr algn="just"/>
                <a:r>
                  <a:rPr lang="en-ZA" dirty="0"/>
                  <a:t>Unlike a classifier, a QCBM learns a </a:t>
                </a:r>
                <a:r>
                  <a:rPr lang="en-ZA" b="1" dirty="0"/>
                  <a:t>probability distribution</a:t>
                </a:r>
                <a:r>
                  <a:rPr lang="en-ZA" dirty="0"/>
                  <a:t> and generates samples that resemble the training data. The figure shows a parameterized quantum circuit whose parameters are optimized to reproduce the target distribution</a:t>
                </a:r>
                <a:r>
                  <a:rPr lang="en-ZA" b="0" dirty="0"/>
                  <a:t>.</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Quantum circuits are naturally suited to this task because measuring a quantum state inherently produces samples from a probability distribution. </a:t>
                </a:r>
                <a:r>
                  <a:rPr lang="en-ZA" dirty="0"/>
                  <a:t>which states that the probability of measuring a particular quantum state is given by the squared magnitude of its amplitude.</a:t>
                </a:r>
                <a:endParaRPr lang="en-US" sz="1200" dirty="0"/>
              </a:p>
              <a:p>
                <a:pPr algn="just"/>
                <a:endParaRPr lang="en-ZA" b="0" dirty="0"/>
              </a:p>
              <a:p>
                <a:pPr algn="just"/>
                <a:r>
                  <a:rPr lang="en-ZA" b="0" dirty="0"/>
                  <a:t>During training, the parameters </a:t>
                </a:r>
                <a14:m>
                  <m:oMath xmlns:m="http://schemas.openxmlformats.org/officeDocument/2006/math">
                    <m:r>
                      <a:rPr lang="en-US" sz="1200" b="0" i="1" smtClean="0">
                        <a:latin typeface="Cambria Math" panose="02040503050406030204" pitchFamily="18" charset="0"/>
                        <a:ea typeface="Cambria Math" panose="02040503050406030204" pitchFamily="18" charset="0"/>
                      </a:rPr>
                      <m:t>𝜃</m:t>
                    </m:r>
                  </m:oMath>
                </a14:m>
                <a:r>
                  <a:rPr lang="en-ZA" b="0" dirty="0"/>
                  <a:t> are adjusted so that the distribution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𝑝</m:t>
                        </m:r>
                      </m:e>
                      <m:sub>
                        <m:r>
                          <a:rPr lang="en-US" sz="1200" b="0" i="1" smtClean="0">
                            <a:latin typeface="Cambria Math" panose="02040503050406030204" pitchFamily="18" charset="0"/>
                            <a:ea typeface="Cambria Math" panose="02040503050406030204" pitchFamily="18" charset="0"/>
                          </a:rPr>
                          <m:t>𝜃</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oMath>
                </a14:m>
                <a:r>
                  <a:rPr lang="en-ZA" b="0" dirty="0"/>
                  <a:t> becomes as close as possible to the target distribution. Once trained, the QCBM can generate new samples with statistical properties similar to those of the training data. This makes QCBMs useful for generative tasks and for </a:t>
                </a:r>
                <a:r>
                  <a:rPr lang="en-ZA" b="0" dirty="0" err="1"/>
                  <a:t>modeling</a:t>
                </a:r>
                <a:r>
                  <a:rPr lang="en-ZA" b="0" dirty="0"/>
                  <a:t> complex probability distributions.</a:t>
                </a:r>
              </a:p>
            </p:txBody>
          </p:sp>
        </mc:Choice>
        <mc:Fallback xmlns="">
          <p:sp>
            <p:nvSpPr>
              <p:cNvPr id="3" name="Notes Placeholder 2"/>
              <p:cNvSpPr>
                <a:spLocks noGrp="1"/>
              </p:cNvSpPr>
              <p:nvPr>
                <p:ph type="body" idx="1"/>
              </p:nvPr>
            </p:nvSpPr>
            <p:spPr/>
            <p:txBody>
              <a:bodyPr/>
              <a:lstStyle/>
              <a:p>
                <a:pPr algn="just"/>
                <a:r>
                  <a:rPr lang="en-ZA" b="0" dirty="0"/>
                  <a:t>A Quantum Circuit Born Machine (QCBM) is a generative quantum machine learning model in which the probability distribution produced by a parameterized quantum circuit is trained to approximate a target distribution.</a:t>
                </a:r>
              </a:p>
              <a:p>
                <a:pPr algn="just"/>
                <a:endParaRPr lang="en-ZA" b="0" dirty="0"/>
              </a:p>
              <a:p>
                <a:pPr algn="just"/>
                <a:r>
                  <a:rPr lang="en-ZA" dirty="0"/>
                  <a:t>Unlike a classifier, a QCBM learns a </a:t>
                </a:r>
                <a:r>
                  <a:rPr lang="en-ZA" b="1" dirty="0"/>
                  <a:t>probability distribution</a:t>
                </a:r>
                <a:r>
                  <a:rPr lang="en-ZA" dirty="0"/>
                  <a:t> and generates samples that resemble the training data. </a:t>
                </a:r>
                <a:r>
                  <a:rPr lang="en-ZA"/>
                  <a:t>The figure shows a parameterized quantum circuit whose parameters are optimized to reproduce the target distribution</a:t>
                </a:r>
                <a:r>
                  <a:rPr lang="en-ZA" b="0"/>
                  <a:t>.</a:t>
                </a:r>
                <a:endParaRPr lang="en-ZA" b="0" dirty="0"/>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Quantum circuits are naturally suited to this task because measuring a quantum state inherently produces samples from a probability distribution. The name Born Machine comes from the Born rule, according to which the probability of measuring a state </a:t>
                </a:r>
                <a:r>
                  <a:rPr lang="en-US" sz="1200" i="0">
                    <a:latin typeface="Cambria Math" panose="02040503050406030204" pitchFamily="18" charset="0"/>
                  </a:rPr>
                  <a:t>|</a:t>
                </a:r>
                <a:r>
                  <a:rPr lang="en-US" sz="1200" b="0" i="0">
                    <a:latin typeface="Cambria Math" panose="02040503050406030204" pitchFamily="18" charset="0"/>
                  </a:rPr>
                  <a:t>𝑥⟩</a:t>
                </a:r>
                <a:r>
                  <a:rPr lang="en-ZA" b="0" dirty="0"/>
                  <a:t> is determined by the squared magnitude of its amplitude: </a:t>
                </a:r>
                <a:r>
                  <a:rPr lang="en-US" sz="1200" b="0" i="0">
                    <a:latin typeface="Cambria Math" panose="02040503050406030204" pitchFamily="18" charset="0"/>
                  </a:rPr>
                  <a:t>𝑝_</a:t>
                </a:r>
                <a:r>
                  <a:rPr lang="en-US" sz="1200" b="0" i="0">
                    <a:latin typeface="Cambria Math" panose="02040503050406030204" pitchFamily="18" charset="0"/>
                    <a:ea typeface="Cambria Math" panose="02040503050406030204" pitchFamily="18" charset="0"/>
                  </a:rPr>
                  <a:t>𝜃 </a:t>
                </a:r>
                <a:r>
                  <a:rPr lang="en-US" sz="1200" b="0" i="0">
                    <a:latin typeface="Cambria Math" panose="02040503050406030204" pitchFamily="18" charset="0"/>
                  </a:rPr>
                  <a:t>(𝑥)=|⟨𝑥│𝑆(</a:t>
                </a:r>
                <a:r>
                  <a:rPr lang="en-US" sz="1200" b="0" i="0">
                    <a:latin typeface="Cambria Math" panose="02040503050406030204" pitchFamily="18" charset="0"/>
                    <a:ea typeface="Cambria Math" panose="02040503050406030204" pitchFamily="18" charset="0"/>
                  </a:rPr>
                  <a:t>𝜃) ⟩|^</a:t>
                </a:r>
                <a:r>
                  <a:rPr lang="en-US" sz="1200" b="0" i="0">
                    <a:latin typeface="Cambria Math" panose="02040503050406030204" pitchFamily="18" charset="0"/>
                  </a:rPr>
                  <a:t>2</a:t>
                </a:r>
                <a:r>
                  <a:rPr lang="en-US" sz="1200" dirty="0"/>
                  <a:t>. </a:t>
                </a:r>
              </a:p>
              <a:p>
                <a:pPr algn="just"/>
                <a:endParaRPr lang="en-ZA" b="0" dirty="0"/>
              </a:p>
              <a:p>
                <a:pPr algn="just"/>
                <a:r>
                  <a:rPr lang="en-ZA" b="0" dirty="0"/>
                  <a:t>During training, the parameters </a:t>
                </a:r>
                <a:r>
                  <a:rPr lang="en-US" sz="1200" b="0" i="0">
                    <a:latin typeface="Cambria Math" panose="02040503050406030204" pitchFamily="18" charset="0"/>
                    <a:ea typeface="Cambria Math" panose="02040503050406030204" pitchFamily="18" charset="0"/>
                  </a:rPr>
                  <a:t>𝜃</a:t>
                </a:r>
                <a:r>
                  <a:rPr lang="en-ZA" b="0" dirty="0"/>
                  <a:t> are adjusted so that the distribution </a:t>
                </a:r>
                <a:r>
                  <a:rPr lang="en-US" sz="1200" b="0" i="0">
                    <a:latin typeface="Cambria Math" panose="02040503050406030204" pitchFamily="18" charset="0"/>
                  </a:rPr>
                  <a:t>𝑝_</a:t>
                </a:r>
                <a:r>
                  <a:rPr lang="en-US" sz="1200" b="0" i="0">
                    <a:latin typeface="Cambria Math" panose="02040503050406030204" pitchFamily="18" charset="0"/>
                    <a:ea typeface="Cambria Math" panose="02040503050406030204" pitchFamily="18" charset="0"/>
                  </a:rPr>
                  <a:t>𝜃 </a:t>
                </a:r>
                <a:r>
                  <a:rPr lang="en-US" sz="1200" b="0" i="0">
                    <a:latin typeface="Cambria Math" panose="02040503050406030204" pitchFamily="18" charset="0"/>
                  </a:rPr>
                  <a:t>(𝑥)</a:t>
                </a:r>
                <a:r>
                  <a:rPr lang="en-ZA" b="0" dirty="0"/>
                  <a:t> becomes as close as possible to the target distribution. Once trained, the QCBM can generate new samples with statistical properties similar to those of the training data. This makes QCBMs useful for generative tasks and for </a:t>
                </a:r>
                <a:r>
                  <a:rPr lang="en-ZA" b="0" dirty="0" err="1"/>
                  <a:t>modeling</a:t>
                </a:r>
                <a:r>
                  <a:rPr lang="en-ZA" b="0" dirty="0"/>
                  <a:t> complex probability distributions.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3319495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Variational quantum models are typically trained via an iterative optimization loop:</a:t>
                </a:r>
              </a:p>
              <a:p>
                <a:endParaRPr lang="en-ZA" b="0" dirty="0"/>
              </a:p>
              <a:p>
                <a:pPr marL="228600" indent="-228600">
                  <a:buFont typeface="+mj-lt"/>
                  <a:buAutoNum type="arabicPeriod"/>
                </a:pPr>
                <a:r>
                  <a:rPr lang="en-ZA" b="0" dirty="0"/>
                  <a:t>Start with input data </a:t>
                </a:r>
                <a14:m>
                  <m:oMath xmlns:m="http://schemas.openxmlformats.org/officeDocument/2006/math">
                    <m:r>
                      <a:rPr lang="en-US" sz="1200" i="1" smtClean="0">
                        <a:latin typeface="Cambria Math" panose="02040503050406030204" pitchFamily="18" charset="0"/>
                      </a:rPr>
                      <m:t>𝑥</m:t>
                    </m:r>
                  </m:oMath>
                </a14:m>
                <a:r>
                  <a:rPr lang="en-ZA" b="0" dirty="0"/>
                  <a:t> and initial parameters </a:t>
                </a:r>
                <a:r>
                  <a:rPr lang="el-GR" b="0" dirty="0"/>
                  <a:t>θ. </a:t>
                </a:r>
                <a:endParaRPr lang="en-US" b="0" dirty="0"/>
              </a:p>
              <a:p>
                <a:pPr marL="228600" indent="-228600">
                  <a:buFont typeface="+mj-lt"/>
                  <a:buAutoNum type="arabicPeriod"/>
                </a:pPr>
                <a:r>
                  <a:rPr lang="en-ZA" b="0" dirty="0"/>
                  <a:t>Run the quantum circuit multiple times to obtain its output. </a:t>
                </a:r>
              </a:p>
              <a:p>
                <a:pPr marL="228600" indent="-228600">
                  <a:buFont typeface="+mj-lt"/>
                  <a:buAutoNum type="arabicPeriod"/>
                </a:pPr>
                <a:r>
                  <a:rPr lang="en-ZA" b="0" dirty="0"/>
                  <a:t>Compare the circuit output with the expected output using a loss function. </a:t>
                </a:r>
              </a:p>
              <a:p>
                <a:pPr marL="228600" indent="-228600">
                  <a:buFont typeface="+mj-lt"/>
                  <a:buAutoNum type="arabicPeriod"/>
                </a:pPr>
                <a:r>
                  <a:rPr lang="en-ZA" dirty="0"/>
                  <a:t>The classical optimizer uses the loss to update the parameters </a:t>
                </a:r>
                <a:r>
                  <a:rPr lang="el-GR" dirty="0"/>
                  <a:t>θ </a:t>
                </a:r>
                <a:r>
                  <a:rPr lang="en-ZA" dirty="0"/>
                  <a:t>in the direction that minimizes the loss.</a:t>
                </a:r>
              </a:p>
              <a:p>
                <a:pPr marL="228600" indent="-228600">
                  <a:buFont typeface="+mj-lt"/>
                  <a:buAutoNum type="arabicPeriod"/>
                </a:pPr>
                <a:r>
                  <a:rPr lang="en-ZA" b="0" dirty="0"/>
                  <a:t>Run the circuit again with the updated parameters and repeat the process until the loss is minimized</a:t>
                </a:r>
                <a:r>
                  <a:rPr lang="en-ZA" dirty="0"/>
                  <a:t>.</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dirty="0" err="1"/>
                  <a:t>Kvantno</a:t>
                </a:r>
                <a:r>
                  <a:rPr lang="en-US" sz="2000" b="0" i="0" dirty="0"/>
                  <a:t> </a:t>
                </a:r>
                <a:r>
                  <a:rPr lang="en-US" sz="2000" b="0" i="0" dirty="0" err="1"/>
                  <a:t>kolo</a:t>
                </a:r>
                <a:r>
                  <a:rPr lang="en-US" sz="2000" b="0" i="0" dirty="0"/>
                  <a:t> </a:t>
                </a:r>
                <a:r>
                  <a:rPr lang="en-US" sz="2000" b="0" i="0" dirty="0" err="1"/>
                  <a:t>parametarizovanog</a:t>
                </a:r>
                <a:r>
                  <a:rPr lang="en-US" sz="2000" b="0" i="0" dirty="0"/>
                  <a:t> </a:t>
                </a:r>
                <a:r>
                  <a:rPr lang="en-US" sz="2000" b="0" i="0" dirty="0" err="1"/>
                  <a:t>kvantnog</a:t>
                </a:r>
                <a:r>
                  <a:rPr lang="en-US" sz="2000" b="0" i="0" dirty="0"/>
                  <a:t> </a:t>
                </a:r>
                <a:r>
                  <a:rPr lang="en-US" sz="2000" b="0" i="0" dirty="0" err="1"/>
                  <a:t>klasifikatora</a:t>
                </a:r>
                <a:r>
                  <a:rPr lang="en-US" sz="2000" b="0" i="0" dirty="0"/>
                  <a:t> se </a:t>
                </a:r>
                <a:r>
                  <a:rPr lang="en-US" sz="2000" b="0" i="0" dirty="0" err="1"/>
                  <a:t>može</a:t>
                </a:r>
                <a:r>
                  <a:rPr lang="en-US" sz="2000" b="0" i="0" dirty="0"/>
                  <a:t> </a:t>
                </a:r>
                <a:r>
                  <a:rPr lang="en-US" sz="2000" b="0" i="0" dirty="0" err="1"/>
                  <a:t>prikazati</a:t>
                </a:r>
                <a:r>
                  <a:rPr lang="en-US" sz="2000" b="0" i="0" dirty="0"/>
                  <a:t> </a:t>
                </a:r>
                <a:r>
                  <a:rPr lang="en-US" sz="2000" b="0" i="0" dirty="0" err="1"/>
                  <a:t>blok</a:t>
                </a:r>
                <a:r>
                  <a:rPr lang="en-US" sz="2000" b="0" i="0" dirty="0"/>
                  <a:t> </a:t>
                </a:r>
                <a:r>
                  <a:rPr lang="en-US" sz="2000" b="0" i="0" dirty="0" err="1"/>
                  <a:t>dijagramom</a:t>
                </a:r>
                <a:r>
                  <a:rPr lang="en-US" sz="2000" b="0" i="0" dirty="0"/>
                  <a:t> </a:t>
                </a:r>
                <a:r>
                  <a:rPr lang="en-US" sz="2000" b="0" i="0" dirty="0" err="1"/>
                  <a:t>na</a:t>
                </a:r>
                <a:r>
                  <a:rPr lang="en-US" sz="2000" b="0" i="0" dirty="0"/>
                  <a:t> </a:t>
                </a:r>
                <a:r>
                  <a:rPr lang="en-US" sz="2000" b="0" i="0" dirty="0" err="1"/>
                  <a:t>slici</a:t>
                </a:r>
                <a:r>
                  <a:rPr lang="en-US" sz="2000" b="0" i="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i="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err="1"/>
                  <a:t>Kodiranje</a:t>
                </a:r>
                <a:r>
                  <a:rPr lang="en-US" sz="2000" b="0" i="0" dirty="0"/>
                  <a:t> </a:t>
                </a:r>
                <a:r>
                  <a:rPr lang="en-US" sz="2000" b="0" i="0" dirty="0" err="1"/>
                  <a:t>podataka</a:t>
                </a:r>
                <a:r>
                  <a:rPr lang="en-US" sz="2000" b="0" i="0" dirty="0"/>
                  <a:t> u </a:t>
                </a:r>
                <a:r>
                  <a:rPr lang="en-US" sz="2000" b="0" i="0" dirty="0" err="1"/>
                  <a:t>kvantna</a:t>
                </a:r>
                <a:r>
                  <a:rPr lang="en-US" sz="2000" b="0" i="0" dirty="0"/>
                  <a:t> </a:t>
                </a:r>
                <a:r>
                  <a:rPr lang="en-US" sz="2000" b="0" i="0" dirty="0" err="1"/>
                  <a:t>stanja</a:t>
                </a:r>
                <a:r>
                  <a:rPr lang="en-US" sz="2000" b="0" i="0" dirty="0"/>
                  <a:t> </a:t>
                </a:r>
                <a:r>
                  <a:rPr lang="en-US" sz="2000" b="0" i="0" dirty="0" err="1"/>
                  <a:t>vrši</a:t>
                </a:r>
                <a:r>
                  <a:rPr lang="en-US" sz="2000" b="0" i="0" dirty="0"/>
                  <a:t> se </a:t>
                </a:r>
                <a:r>
                  <a:rPr lang="en-US" sz="2000" b="0" i="0" dirty="0" err="1"/>
                  <a:t>operatorom</a:t>
                </a:r>
                <a:r>
                  <a:rPr lang="en-US" sz="2000" b="0" i="0" dirty="0"/>
                  <a:t> U.</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a:t>Operator W </a:t>
                </a:r>
                <a:r>
                  <a:rPr lang="en-US" sz="2000" b="0" i="0" dirty="0" err="1"/>
                  <a:t>je</a:t>
                </a:r>
                <a:r>
                  <a:rPr lang="en-US" sz="2000" b="0" i="0" dirty="0"/>
                  <a:t> model </a:t>
                </a:r>
                <a:r>
                  <a:rPr lang="en-US" sz="2000" b="0" i="0" dirty="0" err="1"/>
                  <a:t>klasifikatora</a:t>
                </a:r>
                <a:r>
                  <a:rPr lang="en-US" sz="2000" b="0" i="0" dirty="0"/>
                  <a:t> </a:t>
                </a:r>
                <a:r>
                  <a:rPr lang="en-US" sz="2000" b="0" i="0" dirty="0" err="1"/>
                  <a:t>definisan</a:t>
                </a:r>
                <a:r>
                  <a:rPr lang="en-US" sz="2000" b="0" i="0" dirty="0"/>
                  <a:t> </a:t>
                </a:r>
                <a:r>
                  <a:rPr lang="en-US" sz="2000" b="0" i="0" dirty="0" err="1"/>
                  <a:t>parametrima</a:t>
                </a:r>
                <a:r>
                  <a:rPr lang="en-US" sz="2000" b="0" i="0" dirty="0"/>
                  <a:t> 𝜃. </a:t>
                </a:r>
                <a:r>
                  <a:rPr lang="en-US" sz="2000" b="0" i="0" dirty="0" err="1"/>
                  <a:t>Ovaj</a:t>
                </a:r>
                <a:r>
                  <a:rPr lang="en-US" sz="2000" b="0" i="0" dirty="0"/>
                  <a:t> operator se </a:t>
                </a:r>
                <a:r>
                  <a:rPr lang="en-US" sz="2000" b="0" i="0" dirty="0" err="1"/>
                  <a:t>realizuje</a:t>
                </a:r>
                <a:r>
                  <a:rPr lang="en-US" sz="2000" b="0" i="0" dirty="0"/>
                  <a:t> </a:t>
                </a:r>
                <a:r>
                  <a:rPr lang="en-US" sz="2000" b="0" i="0" dirty="0" err="1"/>
                  <a:t>parametarizovanim</a:t>
                </a:r>
                <a:r>
                  <a:rPr lang="en-US" sz="2000" b="0" i="0" dirty="0"/>
                  <a:t> </a:t>
                </a:r>
                <a:r>
                  <a:rPr lang="en-US" sz="2000" b="0" i="0" dirty="0" err="1"/>
                  <a:t>ili</a:t>
                </a:r>
                <a:r>
                  <a:rPr lang="en-US" sz="2000" b="0" i="0" dirty="0"/>
                  <a:t> </a:t>
                </a:r>
                <a:r>
                  <a:rPr lang="en-US" sz="2000" b="0" i="0" dirty="0" err="1"/>
                  <a:t>varijacionim</a:t>
                </a:r>
                <a:r>
                  <a:rPr lang="en-US" sz="2000" b="0" i="0" dirty="0"/>
                  <a:t> </a:t>
                </a:r>
                <a:r>
                  <a:rPr lang="en-US" sz="2000" b="0" i="0" dirty="0" err="1"/>
                  <a:t>kvantnim</a:t>
                </a:r>
                <a:r>
                  <a:rPr lang="en-US" sz="2000" b="0" i="0" dirty="0"/>
                  <a:t> </a:t>
                </a:r>
                <a:r>
                  <a:rPr lang="en-US" sz="2000" b="0" i="0" dirty="0" err="1"/>
                  <a:t>kolom</a:t>
                </a:r>
                <a:r>
                  <a:rPr lang="en-US" sz="2000" b="0" i="0" dirty="0"/>
                  <a:t> </a:t>
                </a:r>
                <a:r>
                  <a:rPr lang="en-US" sz="2000" b="0" i="0" dirty="0" err="1"/>
                  <a:t>ili</a:t>
                </a:r>
                <a:r>
                  <a:rPr lang="en-US" sz="2000" b="0" i="0" dirty="0"/>
                  <a:t> </a:t>
                </a:r>
                <a:r>
                  <a:rPr lang="en-US" sz="2000" b="0" i="0" dirty="0" err="1"/>
                  <a:t>skraćeno</a:t>
                </a:r>
                <a:r>
                  <a:rPr lang="en-US" sz="2000" b="0" i="0" dirty="0"/>
                  <a:t> 'VQC' od </a:t>
                </a:r>
                <a:r>
                  <a:rPr lang="en-US" sz="2000" b="0" i="0" dirty="0" err="1"/>
                  <a:t>engleskog</a:t>
                </a:r>
                <a:r>
                  <a:rPr lang="en-US" sz="2000" b="0" i="0" dirty="0"/>
                  <a:t> </a:t>
                </a:r>
                <a:r>
                  <a:rPr lang="en-US" sz="2000" b="0" i="0" dirty="0" err="1"/>
                  <a:t>imena</a:t>
                </a:r>
                <a:r>
                  <a:rPr lang="en-US" sz="2000" b="0" i="0" dirty="0"/>
                  <a:t> Variational Quantum Circuit. VQC se </a:t>
                </a:r>
                <a:r>
                  <a:rPr lang="en-US" sz="2000" b="0" i="0" dirty="0" err="1"/>
                  <a:t>često</a:t>
                </a:r>
                <a:r>
                  <a:rPr lang="en-US" sz="2000" b="0" i="0" dirty="0"/>
                  <a:t> </a:t>
                </a:r>
                <a:r>
                  <a:rPr lang="en-US" sz="2000" b="0" i="0" dirty="0" err="1"/>
                  <a:t>naziva</a:t>
                </a:r>
                <a:r>
                  <a:rPr lang="en-US" sz="2000" b="0" i="0" dirty="0"/>
                  <a:t> </a:t>
                </a:r>
                <a:r>
                  <a:rPr lang="en-US" sz="2000" b="0" i="0" dirty="0" err="1"/>
                  <a:t>i</a:t>
                </a:r>
                <a:r>
                  <a:rPr lang="en-US" sz="2000" b="0" i="0" dirty="0"/>
                  <a:t> 'ansatz'. </a:t>
                </a:r>
                <a:r>
                  <a:rPr lang="en-US" sz="2000" b="0" i="0" dirty="0" err="1"/>
                  <a:t>Reč</a:t>
                </a:r>
                <a:r>
                  <a:rPr lang="en-US" sz="2000" b="0" i="0" dirty="0"/>
                  <a:t> ansatz </a:t>
                </a:r>
                <a:r>
                  <a:rPr lang="en-US" sz="2000" b="0" i="0" dirty="0" err="1"/>
                  <a:t>je</a:t>
                </a:r>
                <a:r>
                  <a:rPr lang="en-US" sz="2000" b="0" i="0" dirty="0"/>
                  <a:t> </a:t>
                </a:r>
                <a:r>
                  <a:rPr lang="en-US" sz="2000" b="0" i="0" dirty="0" err="1"/>
                  <a:t>nemačkog</a:t>
                </a:r>
                <a:r>
                  <a:rPr lang="en-US" sz="2000" b="0" i="0" dirty="0"/>
                  <a:t> </a:t>
                </a:r>
                <a:r>
                  <a:rPr lang="en-US" sz="2000" b="0" i="0" dirty="0" err="1"/>
                  <a:t>porekla</a:t>
                </a:r>
                <a:r>
                  <a:rPr lang="en-US" sz="2000" b="0" i="0" dirty="0"/>
                  <a:t> </a:t>
                </a:r>
                <a:r>
                  <a:rPr lang="en-US" sz="2000" b="0" i="0" dirty="0" err="1"/>
                  <a:t>i</a:t>
                </a:r>
                <a:r>
                  <a:rPr lang="en-US" sz="2000" b="0" i="0" dirty="0"/>
                  <a:t> u </a:t>
                </a:r>
                <a:r>
                  <a:rPr lang="en-US" sz="2000" b="0" i="0" dirty="0" err="1"/>
                  <a:t>ovom</a:t>
                </a:r>
                <a:r>
                  <a:rPr lang="en-US" sz="2000" b="0" i="0" dirty="0"/>
                  <a:t> </a:t>
                </a:r>
                <a:r>
                  <a:rPr lang="en-US" sz="2000" b="0" i="0" dirty="0" err="1"/>
                  <a:t>kontekstu</a:t>
                </a:r>
                <a:r>
                  <a:rPr lang="en-US" sz="2000" b="0" i="0" dirty="0"/>
                  <a:t> </a:t>
                </a:r>
                <a:r>
                  <a:rPr lang="en-US" sz="2000" b="0" i="0" dirty="0" err="1"/>
                  <a:t>označava</a:t>
                </a:r>
                <a:r>
                  <a:rPr lang="en-US" sz="2000" b="0" i="0" dirty="0"/>
                  <a:t> </a:t>
                </a:r>
                <a:r>
                  <a:rPr lang="en-US" sz="2000" b="0" i="0" dirty="0" err="1"/>
                  <a:t>početno</a:t>
                </a:r>
                <a:r>
                  <a:rPr lang="en-US" sz="2000" b="0" i="0" dirty="0"/>
                  <a:t> </a:t>
                </a:r>
                <a:r>
                  <a:rPr lang="en-US" sz="2000" b="0" i="0" dirty="0" err="1"/>
                  <a:t>stanje</a:t>
                </a:r>
                <a:r>
                  <a:rPr lang="en-US" sz="2000" b="0" i="0" dirty="0"/>
                  <a:t> </a:t>
                </a:r>
                <a:r>
                  <a:rPr lang="en-US" sz="2000" b="0" i="0" dirty="0" err="1"/>
                  <a:t>sistema</a:t>
                </a:r>
                <a:r>
                  <a:rPr lang="en-US" sz="2000" b="0" i="0" dirty="0"/>
                  <a:t> </a:t>
                </a:r>
                <a:r>
                  <a:rPr lang="en-US" sz="2000" b="0" i="0" dirty="0" err="1"/>
                  <a:t>koje</a:t>
                </a:r>
                <a:r>
                  <a:rPr lang="en-US" sz="2000" b="0" i="0" dirty="0"/>
                  <a:t> se </a:t>
                </a:r>
                <a:r>
                  <a:rPr lang="en-US" sz="2000" b="0" i="0" dirty="0" err="1"/>
                  <a:t>procesom</a:t>
                </a:r>
                <a:r>
                  <a:rPr lang="en-US" sz="2000" b="0" i="0" dirty="0"/>
                  <a:t> </a:t>
                </a:r>
                <a:r>
                  <a:rPr lang="en-US" sz="2000" b="0" i="0" dirty="0" err="1"/>
                  <a:t>modifikacije</a:t>
                </a:r>
                <a:r>
                  <a:rPr lang="en-US" sz="2000" b="0" i="0" dirty="0"/>
                  <a:t> </a:t>
                </a:r>
                <a:r>
                  <a:rPr lang="en-US" sz="2000" b="0" i="0" dirty="0" err="1"/>
                  <a:t>dovodi</a:t>
                </a:r>
                <a:r>
                  <a:rPr lang="en-US" sz="2000" b="0" i="0" dirty="0"/>
                  <a:t> do </a:t>
                </a:r>
                <a:r>
                  <a:rPr lang="en-US" sz="2000" b="0" i="0" dirty="0" err="1"/>
                  <a:t>željenog</a:t>
                </a:r>
                <a:r>
                  <a:rPr lang="en-US" sz="2000" b="0" i="0" dirty="0"/>
                  <a:t> </a:t>
                </a:r>
                <a:r>
                  <a:rPr lang="en-US" sz="2000" b="0" i="0" dirty="0" err="1"/>
                  <a:t>stanja</a:t>
                </a:r>
                <a:r>
                  <a:rPr lang="en-US" sz="2000" b="0" i="0" dirty="0"/>
                  <a:t> </a:t>
                </a:r>
                <a:r>
                  <a:rPr lang="en-US" sz="2000" b="0" i="0" dirty="0" err="1"/>
                  <a:t>koje</a:t>
                </a:r>
                <a:r>
                  <a:rPr lang="en-US" sz="2000" b="0" i="0" dirty="0"/>
                  <a:t> </a:t>
                </a:r>
                <a:r>
                  <a:rPr lang="en-US" sz="2000" b="0" i="0" dirty="0" err="1"/>
                  <a:t>je</a:t>
                </a:r>
                <a:r>
                  <a:rPr lang="en-US" sz="2000" b="0" i="0" dirty="0"/>
                  <a:t> </a:t>
                </a:r>
                <a:r>
                  <a:rPr lang="en-US" sz="2000" b="0" i="0" dirty="0" err="1"/>
                  <a:t>rešenje</a:t>
                </a:r>
                <a:r>
                  <a:rPr lang="en-US" sz="2000" b="0" i="0" dirty="0"/>
                  <a:t> </a:t>
                </a:r>
                <a:r>
                  <a:rPr lang="en-US" sz="2000" b="0" i="0" dirty="0" err="1"/>
                  <a:t>problema</a:t>
                </a:r>
                <a:r>
                  <a:rPr lang="en-US" sz="2000" b="0" i="0" dirty="0"/>
                  <a:t>. </a:t>
                </a:r>
                <a:r>
                  <a:rPr lang="en-US" sz="2000" b="0" i="0" dirty="0" err="1"/>
                  <a:t>Ukratko</a:t>
                </a:r>
                <a:r>
                  <a:rPr lang="en-US" sz="2000" b="0" i="0" dirty="0"/>
                  <a:t>, operator W </a:t>
                </a:r>
                <a:r>
                  <a:rPr lang="en-US" sz="2000" b="0" i="0" dirty="0" err="1"/>
                  <a:t>je</a:t>
                </a:r>
                <a:r>
                  <a:rPr lang="en-US" sz="2000" b="0" i="0" dirty="0"/>
                  <a:t> u </a:t>
                </a:r>
                <a:r>
                  <a:rPr lang="en-US" sz="2000" b="0" i="0" dirty="0" err="1"/>
                  <a:t>stanju</a:t>
                </a:r>
                <a:r>
                  <a:rPr lang="en-US" sz="2000" b="0" i="0" dirty="0"/>
                  <a:t> </a:t>
                </a:r>
                <a:r>
                  <a:rPr lang="en-US" sz="2000" b="0" i="0" dirty="0" err="1"/>
                  <a:t>definisano</a:t>
                </a:r>
                <a:r>
                  <a:rPr lang="en-US" sz="2000" b="0" i="0" dirty="0"/>
                  <a:t> </a:t>
                </a:r>
                <a:r>
                  <a:rPr lang="en-US" sz="2000" b="0" i="0" dirty="0" err="1"/>
                  <a:t>parametrima</a:t>
                </a:r>
                <a:r>
                  <a:rPr lang="en-US" sz="2000" b="0" i="0" dirty="0"/>
                  <a:t> 𝜃 </a:t>
                </a:r>
                <a:r>
                  <a:rPr lang="en-US" sz="2000" b="0" i="0" dirty="0" err="1"/>
                  <a:t>čijom</a:t>
                </a:r>
                <a:r>
                  <a:rPr lang="en-US" sz="2000" b="0" i="0" dirty="0"/>
                  <a:t> se </a:t>
                </a:r>
                <a:r>
                  <a:rPr lang="en-US" sz="2000" b="0" i="0" dirty="0" err="1"/>
                  <a:t>korekcijom</a:t>
                </a:r>
                <a:r>
                  <a:rPr lang="en-US" sz="2000" b="0" i="0" dirty="0"/>
                  <a:t> </a:t>
                </a:r>
                <a:r>
                  <a:rPr lang="en-US" sz="2000" b="0" i="0" dirty="0" err="1"/>
                  <a:t>vrši</a:t>
                </a:r>
                <a:r>
                  <a:rPr lang="en-US" sz="2000" b="0" i="0" dirty="0"/>
                  <a:t> </a:t>
                </a:r>
                <a:r>
                  <a:rPr lang="en-US" sz="2000" b="0" i="0" dirty="0" err="1"/>
                  <a:t>treniranje</a:t>
                </a:r>
                <a:r>
                  <a:rPr lang="en-US" sz="2000" b="0" i="0" dirty="0"/>
                  <a:t> </a:t>
                </a:r>
                <a:r>
                  <a:rPr lang="en-US" sz="2000" b="0" i="0" dirty="0" err="1"/>
                  <a:t>modela</a:t>
                </a:r>
                <a:r>
                  <a:rPr lang="en-US" sz="2000" b="0" i="0" dirty="0"/>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a:t>Na </a:t>
                </a:r>
                <a:r>
                  <a:rPr lang="en-US" sz="2000" b="0" i="0" dirty="0" err="1"/>
                  <a:t>izlazu</a:t>
                </a:r>
                <a:r>
                  <a:rPr lang="en-US" sz="2000" b="0" i="0" dirty="0"/>
                  <a:t> </a:t>
                </a:r>
                <a:r>
                  <a:rPr lang="en-US" sz="2000" b="0" i="0" dirty="0" err="1"/>
                  <a:t>ansaz</a:t>
                </a:r>
                <a:r>
                  <a:rPr lang="en-US" sz="2000" b="0" i="0" dirty="0"/>
                  <a:t> </a:t>
                </a:r>
                <a:r>
                  <a:rPr lang="en-US" sz="2000" b="0" i="0" dirty="0" err="1"/>
                  <a:t>daje</a:t>
                </a:r>
                <a:r>
                  <a:rPr lang="en-US" sz="2000" b="0" i="0" dirty="0"/>
                  <a:t> </a:t>
                </a:r>
                <a:r>
                  <a:rPr lang="en-US" sz="2000" b="0" i="0" dirty="0" err="1"/>
                  <a:t>klasifikaciju</a:t>
                </a:r>
                <a:r>
                  <a:rPr lang="en-US" sz="2000" b="0" i="0" dirty="0"/>
                  <a:t> </a:t>
                </a:r>
                <a:r>
                  <a:rPr lang="en-US" sz="2000" b="0" i="0" dirty="0" err="1"/>
                  <a:t>ulaznog</a:t>
                </a:r>
                <a:r>
                  <a:rPr lang="en-US" sz="2000" b="0" i="0" dirty="0"/>
                  <a:t> </a:t>
                </a:r>
                <a:r>
                  <a:rPr lang="en-US" sz="2000" b="0" i="0" dirty="0" err="1"/>
                  <a:t>podatka</a:t>
                </a:r>
                <a:r>
                  <a:rPr lang="en-US" sz="2000" b="0" i="0" dirty="0"/>
                  <a:t> </a:t>
                </a:r>
                <a:r>
                  <a:rPr lang="en-US" sz="2000" b="0" i="0" dirty="0" err="1"/>
                  <a:t>koja</a:t>
                </a:r>
                <a:r>
                  <a:rPr lang="en-US" sz="2000" b="0" i="0" dirty="0"/>
                  <a:t> se </a:t>
                </a:r>
                <a:r>
                  <a:rPr lang="en-US" sz="2000" b="0" i="0" dirty="0" err="1"/>
                  <a:t>dobija</a:t>
                </a:r>
                <a:r>
                  <a:rPr lang="en-US" sz="2000" b="0" i="0" dirty="0"/>
                  <a:t> </a:t>
                </a:r>
                <a:r>
                  <a:rPr lang="en-US" sz="2000" b="0" i="0" dirty="0" err="1"/>
                  <a:t>merenjem</a:t>
                </a:r>
                <a:r>
                  <a:rPr lang="en-US" sz="2000" b="0" i="0" dirty="0"/>
                  <a:t> </a:t>
                </a:r>
                <a:r>
                  <a:rPr lang="en-US" sz="2000" b="0" i="0" dirty="0" err="1"/>
                  <a:t>jednog</a:t>
                </a:r>
                <a:r>
                  <a:rPr lang="en-US" sz="2000" b="0" i="0" dirty="0"/>
                  <a:t> </a:t>
                </a:r>
                <a:r>
                  <a:rPr lang="en-US" sz="2000" b="0" i="0" dirty="0" err="1"/>
                  <a:t>ili</a:t>
                </a:r>
                <a:r>
                  <a:rPr lang="en-US" sz="2000" b="0" i="0" dirty="0"/>
                  <a:t> </a:t>
                </a:r>
                <a:r>
                  <a:rPr lang="en-US" sz="2000" b="0" i="0" dirty="0" err="1"/>
                  <a:t>više</a:t>
                </a:r>
                <a:r>
                  <a:rPr lang="en-US" sz="2000" b="0" i="0" dirty="0"/>
                  <a:t> </a:t>
                </a:r>
                <a:r>
                  <a:rPr lang="en-US" sz="2000" b="0" i="0" dirty="0" err="1"/>
                  <a:t>kubita</a:t>
                </a:r>
                <a:r>
                  <a:rPr lang="en-US" sz="2000" b="0" i="0" dirty="0"/>
                  <a:t> kola.</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i="0" dirty="0" err="1"/>
                  <a:t>Rezultat</a:t>
                </a:r>
                <a:r>
                  <a:rPr lang="en-US" sz="2000" b="0" i="0" dirty="0"/>
                  <a:t> </a:t>
                </a:r>
                <a:r>
                  <a:rPr lang="en-US" sz="2000" b="0" i="0" dirty="0" err="1"/>
                  <a:t>merenja</a:t>
                </a:r>
                <a:r>
                  <a:rPr lang="en-US" sz="2000" b="0" i="0" dirty="0"/>
                  <a:t> se </a:t>
                </a:r>
                <a:r>
                  <a:rPr lang="en-US" sz="2000" b="0" i="0" dirty="0" err="1"/>
                  <a:t>unosi</a:t>
                </a:r>
                <a:r>
                  <a:rPr lang="en-US" sz="2000" b="0" i="0" dirty="0"/>
                  <a:t> u </a:t>
                </a:r>
                <a:r>
                  <a:rPr lang="en-US" sz="2000" b="0" i="0" dirty="0" err="1"/>
                  <a:t>optimizacioni</a:t>
                </a:r>
                <a:r>
                  <a:rPr lang="en-US" sz="2000" b="0" i="0" dirty="0"/>
                  <a:t> </a:t>
                </a:r>
                <a:r>
                  <a:rPr lang="en-US" sz="2000" b="0" i="0" dirty="0" err="1"/>
                  <a:t>moduo</a:t>
                </a:r>
                <a:r>
                  <a:rPr lang="en-US" sz="2000" b="0" i="0" dirty="0"/>
                  <a:t> </a:t>
                </a:r>
                <a:r>
                  <a:rPr lang="en-US" sz="2000" b="0" i="0" dirty="0" err="1"/>
                  <a:t>koji</a:t>
                </a:r>
                <a:r>
                  <a:rPr lang="en-US" sz="2000" b="0" i="0" dirty="0"/>
                  <a:t> </a:t>
                </a:r>
                <a:r>
                  <a:rPr lang="en-US" sz="2000" b="0" i="0" dirty="0" err="1"/>
                  <a:t>računa</a:t>
                </a:r>
                <a:r>
                  <a:rPr lang="en-US" sz="2000" b="0" i="0" dirty="0"/>
                  <a:t> </a:t>
                </a:r>
                <a:r>
                  <a:rPr lang="en-US" sz="2000" b="0" i="0" dirty="0" err="1"/>
                  <a:t>funkciju</a:t>
                </a:r>
                <a:r>
                  <a:rPr lang="en-US" sz="2000" b="0" i="0" dirty="0"/>
                  <a:t> </a:t>
                </a:r>
                <a:r>
                  <a:rPr lang="en-US" sz="2000" b="0" i="0" dirty="0" err="1"/>
                  <a:t>greške</a:t>
                </a:r>
                <a:r>
                  <a:rPr lang="en-US" sz="2000" b="0" i="0" dirty="0"/>
                  <a:t>. </a:t>
                </a:r>
                <a:r>
                  <a:rPr lang="en-US" sz="2000" b="0" i="0" dirty="0" err="1"/>
                  <a:t>Funkcija</a:t>
                </a:r>
                <a:r>
                  <a:rPr lang="en-US" sz="2000" b="0" i="0" dirty="0"/>
                  <a:t> </a:t>
                </a:r>
                <a:r>
                  <a:rPr lang="en-US" sz="2000" b="0" i="0" dirty="0" err="1"/>
                  <a:t>greške</a:t>
                </a:r>
                <a:r>
                  <a:rPr lang="en-US" sz="2000" b="0" i="0" dirty="0"/>
                  <a:t> </a:t>
                </a:r>
                <a:r>
                  <a:rPr lang="en-US" sz="2000" b="0" i="0" dirty="0" err="1"/>
                  <a:t>ima</a:t>
                </a:r>
                <a:r>
                  <a:rPr lang="en-US" sz="2000" b="0" i="0" dirty="0"/>
                  <a:t> </a:t>
                </a:r>
                <a:r>
                  <a:rPr lang="en-US" sz="2000" b="0" i="0" dirty="0" err="1"/>
                  <a:t>zadatak</a:t>
                </a:r>
                <a:r>
                  <a:rPr lang="en-US" sz="2000" b="0" i="0" dirty="0"/>
                  <a:t> da </a:t>
                </a:r>
                <a:r>
                  <a:rPr lang="en-US" sz="2000" b="0" i="0" dirty="0" err="1"/>
                  <a:t>podešavanjem</a:t>
                </a:r>
                <a:r>
                  <a:rPr lang="en-US" sz="2000" b="0" i="0" dirty="0"/>
                  <a:t> </a:t>
                </a:r>
                <a:r>
                  <a:rPr lang="en-US" sz="2000" b="0" i="0" dirty="0" err="1"/>
                  <a:t>parametara</a:t>
                </a:r>
                <a:r>
                  <a:rPr lang="en-US" sz="2000" b="0" i="0" dirty="0"/>
                  <a:t> </a:t>
                </a:r>
                <a:r>
                  <a:rPr lang="en-US" sz="2000" i="0">
                    <a:latin typeface="Cambria Math" panose="02040503050406030204" pitchFamily="18" charset="0"/>
                    <a:ea typeface="Cambria Math" panose="02040503050406030204" pitchFamily="18" charset="0"/>
                  </a:rPr>
                  <a:t>𝜃</a:t>
                </a:r>
                <a:r>
                  <a:rPr lang="en-US" sz="2000" b="0" i="0" dirty="0"/>
                  <a:t> </a:t>
                </a:r>
                <a:r>
                  <a:rPr lang="en-US" sz="2000" b="0" i="0" dirty="0" err="1"/>
                  <a:t>minimizuje</a:t>
                </a:r>
                <a:r>
                  <a:rPr lang="en-US" sz="2000" b="0" i="0" dirty="0"/>
                  <a:t> </a:t>
                </a:r>
                <a:r>
                  <a:rPr lang="en-US" sz="2000" b="0" i="0" dirty="0" err="1"/>
                  <a:t>greške</a:t>
                </a:r>
                <a:r>
                  <a:rPr lang="en-US" sz="2000" b="0" i="0" baseline="0" dirty="0"/>
                  <a:t> </a:t>
                </a:r>
                <a:r>
                  <a:rPr lang="en-US" sz="2000" b="0" i="0" baseline="0" dirty="0" err="1"/>
                  <a:t>klasifikacija</a:t>
                </a:r>
                <a:r>
                  <a:rPr lang="en-US" sz="2000" b="0" i="0" dirty="0"/>
                  <a:t>.</a:t>
                </a:r>
                <a:r>
                  <a:rPr lang="en-US" sz="2000" b="0" i="0" baseline="0" dirty="0"/>
                  <a:t> U </a:t>
                </a:r>
                <a:r>
                  <a:rPr lang="en-US" sz="2000" b="0" i="0" baseline="0" dirty="0" err="1"/>
                  <a:t>svakoj</a:t>
                </a:r>
                <a:r>
                  <a:rPr lang="en-US" sz="2000" b="0" i="0" baseline="0" dirty="0"/>
                  <a:t> </a:t>
                </a:r>
                <a:r>
                  <a:rPr lang="en-US" sz="2000" b="0" i="0" baseline="0" dirty="0" err="1"/>
                  <a:t>iteraciji</a:t>
                </a:r>
                <a:r>
                  <a:rPr lang="en-US" sz="2000" b="0" i="0" baseline="0" dirty="0"/>
                  <a:t> </a:t>
                </a:r>
                <a:r>
                  <a:rPr lang="en-US" sz="2000" i="0">
                    <a:latin typeface="Cambria Math" panose="02040503050406030204" pitchFamily="18" charset="0"/>
                    <a:ea typeface="Cambria Math" panose="02040503050406030204" pitchFamily="18" charset="0"/>
                  </a:rPr>
                  <a:t>𝜃</a:t>
                </a:r>
                <a:r>
                  <a:rPr lang="en-US" sz="2000" b="0" i="0" baseline="0" dirty="0"/>
                  <a:t> se </a:t>
                </a:r>
                <a:r>
                  <a:rPr lang="en-US" sz="2000" b="0" i="0" baseline="0" dirty="0" err="1"/>
                  <a:t>šalje</a:t>
                </a:r>
                <a:r>
                  <a:rPr lang="en-US" sz="2000" b="0" i="0" baseline="0" dirty="0"/>
                  <a:t> </a:t>
                </a:r>
                <a:r>
                  <a:rPr lang="en-US" sz="2000" b="0" i="0" baseline="0" dirty="0" err="1"/>
                  <a:t>nazad</a:t>
                </a:r>
                <a:r>
                  <a:rPr lang="en-US" sz="2000" b="0" i="0" baseline="0" dirty="0"/>
                  <a:t> u model </a:t>
                </a:r>
                <a:r>
                  <a:rPr lang="en-US" sz="2000" b="0" i="0" baseline="0" dirty="0" err="1"/>
                  <a:t>koji</a:t>
                </a:r>
                <a:r>
                  <a:rPr lang="en-US" sz="2000" b="0" i="0" baseline="0" dirty="0"/>
                  <a:t> se </a:t>
                </a:r>
                <a:r>
                  <a:rPr lang="en-US" sz="2000" dirty="0" err="1"/>
                  <a:t>ažurira</a:t>
                </a:r>
                <a:r>
                  <a:rPr lang="en-US" sz="2000" dirty="0"/>
                  <a:t>. </a:t>
                </a:r>
                <a:r>
                  <a:rPr lang="en-US" sz="2000" dirty="0" err="1"/>
                  <a:t>Obuka</a:t>
                </a:r>
                <a:r>
                  <a:rPr lang="en-US" sz="2000" dirty="0"/>
                  <a:t> se </a:t>
                </a:r>
                <a:r>
                  <a:rPr lang="en-US" sz="2000" dirty="0" err="1"/>
                  <a:t>završava</a:t>
                </a:r>
                <a:r>
                  <a:rPr lang="en-US" sz="2000" dirty="0"/>
                  <a:t> </a:t>
                </a:r>
                <a:r>
                  <a:rPr lang="en-US" sz="2000" dirty="0" err="1"/>
                  <a:t>kada</a:t>
                </a:r>
                <a:r>
                  <a:rPr lang="en-US" sz="2000" dirty="0"/>
                  <a:t> </a:t>
                </a:r>
                <a:r>
                  <a:rPr lang="en-US" sz="2000" dirty="0" err="1"/>
                  <a:t>kada</a:t>
                </a:r>
                <a:r>
                  <a:rPr lang="en-US" sz="2000" dirty="0"/>
                  <a:t> se </a:t>
                </a:r>
                <a:r>
                  <a:rPr lang="en-US" sz="2000" dirty="0" err="1"/>
                  <a:t>funkcija</a:t>
                </a:r>
                <a:r>
                  <a:rPr lang="en-US" sz="2000" dirty="0"/>
                  <a:t> </a:t>
                </a:r>
                <a:r>
                  <a:rPr lang="en-US" sz="2000" dirty="0" err="1"/>
                  <a:t>greške</a:t>
                </a:r>
                <a:r>
                  <a:rPr lang="en-US" sz="2000" dirty="0"/>
                  <a:t> </a:t>
                </a:r>
                <a:r>
                  <a:rPr lang="en-US" sz="2000" dirty="0" err="1"/>
                  <a:t>stabilizuje</a:t>
                </a:r>
                <a:r>
                  <a:rPr lang="en-US" sz="2000" dirty="0"/>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2000" kern="1200" dirty="0">
                  <a:solidFill>
                    <a:schemeClr val="tx1"/>
                  </a:solidFill>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863208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diagram shows the optimization loop in a variational quantum circuit. The process starts with a set of circuit parameters. The circuit is executed with these parameters, and measurement gives a probability distribution. The loss function then compares this distribution with the desired distribution and produces a single value, called the loss. The optimizer uses this loss to suggest a new set of parameters that should reduce it. The circuit is then executed again with the new parameters, and the whole process repeats. The goal is to make the loss as small as possible, meaning that the output distribution becomes as close as possible to the desired distribution.</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12474671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Quantum-native AI goes beyond simply using quantum computers to improve computational performance. The idea is that quantum processes themselves become part of how an intelligent system learns and makes decisions.</a:t>
            </a:r>
            <a:endParaRPr lang="en-US" sz="1200" b="0" i="0" dirty="0"/>
          </a:p>
        </p:txBody>
      </p:sp>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3976363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ZA" dirty="0"/>
          </a:p>
          <a:p>
            <a:pPr marL="171450" indent="-171450" algn="just">
              <a:buFont typeface="Arial" panose="020B0604020202020204" pitchFamily="34" charset="0"/>
              <a:buChar char="•"/>
            </a:pPr>
            <a:r>
              <a:rPr lang="en-ZA" dirty="0"/>
              <a:t>Today, most AI models are hybrid: they run on a quantum computer, but the optimization is classical.</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At the same time, research efforts are increasing toward native quantum models, where all stages of data encoding, processing, and optimization take place within quantum systems.</a:t>
            </a:r>
          </a:p>
          <a:p>
            <a:pPr marL="171450" indent="-171450" algn="just">
              <a:buFont typeface="Arial" panose="020B0604020202020204" pitchFamily="34" charset="0"/>
              <a:buChar char="•"/>
            </a:pPr>
            <a:endParaRPr lang="en-ZA"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next step is Quantum </a:t>
            </a:r>
            <a:r>
              <a:rPr lang="en-US" dirty="0">
                <a:solidFill>
                  <a:schemeClr val="tx1"/>
                </a:solidFill>
              </a:rPr>
              <a:t>Cognition</a:t>
            </a:r>
            <a:r>
              <a:rPr lang="en-ZA" dirty="0"/>
              <a:t>, which treats cognition as a quantum process, opening new ways to model reasoning.</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Quantum Artificial General Intelligence represents a theoretical horizon where learning, cognition, and possibly awareness arise from quantum processes.</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A form of quantum intelligence so advanced that it could uncover truths, make discoveries, and solve challenges far beyond what any human mind can imagine.</a:t>
            </a:r>
          </a:p>
        </p:txBody>
      </p:sp>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14962138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mainstream view view is that intelligence emerges from complex neural networks, so AGI might be achieved by building machines that can simulate them. But not everyone agrees, saying this approach has built-in limits, citing Gödel’s incompleteness theorems.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In simple terms, the first Gödel’s theorem state that any formal system capable of basic arithmetic contains true statements it cannot prove. The simplest illustration in everyday language is the sentence: “This statement is false.”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second theorem says that no such system can prove its own consistency. For example, A map can’t verify its own accuracy. You need another map, or some higher-level authority, to verify it.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From a computer science perspective, Gödel’s theorems suggest that all formal systems, including programming languages and Classical AI models, have inherent limits. Even a perfect classical AGI could never fully understand itself.</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For true AGI, we may need input that lies outside classical logic. Possibly something that arises from quantum processes, which behave in probabilistic, contextual, and entangled ways.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rPr>
              <a:t>Reference: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K. Gödel, “</a:t>
            </a:r>
            <a:r>
              <a:rPr lang="en-ZA" dirty="0" err="1"/>
              <a:t>Über</a:t>
            </a:r>
            <a:r>
              <a:rPr lang="en-ZA" dirty="0"/>
              <a:t> formal </a:t>
            </a:r>
            <a:r>
              <a:rPr lang="en-ZA" dirty="0" err="1"/>
              <a:t>unentscheidbare</a:t>
            </a:r>
            <a:r>
              <a:rPr lang="en-ZA" dirty="0"/>
              <a:t> </a:t>
            </a:r>
            <a:r>
              <a:rPr lang="en-ZA" dirty="0" err="1"/>
              <a:t>Sätze</a:t>
            </a:r>
            <a:r>
              <a:rPr lang="en-ZA" dirty="0"/>
              <a:t> der </a:t>
            </a:r>
            <a:r>
              <a:rPr lang="en-ZA" i="1" dirty="0"/>
              <a:t>Principia Mathematica</a:t>
            </a:r>
            <a:r>
              <a:rPr lang="en-ZA" dirty="0"/>
              <a:t> und </a:t>
            </a:r>
            <a:r>
              <a:rPr lang="en-ZA" dirty="0" err="1"/>
              <a:t>verwandter</a:t>
            </a:r>
            <a:r>
              <a:rPr lang="en-ZA" dirty="0"/>
              <a:t> </a:t>
            </a:r>
            <a:r>
              <a:rPr lang="en-ZA" dirty="0" err="1"/>
              <a:t>Systeme</a:t>
            </a:r>
            <a:r>
              <a:rPr lang="en-ZA" dirty="0"/>
              <a:t> I,” </a:t>
            </a:r>
            <a:r>
              <a:rPr lang="en-ZA" i="1" dirty="0" err="1"/>
              <a:t>Monatshefte</a:t>
            </a:r>
            <a:r>
              <a:rPr lang="en-ZA" i="1" dirty="0"/>
              <a:t> </a:t>
            </a:r>
            <a:r>
              <a:rPr lang="en-ZA" i="1" dirty="0" err="1"/>
              <a:t>für</a:t>
            </a:r>
            <a:r>
              <a:rPr lang="en-ZA" i="1" dirty="0"/>
              <a:t> </a:t>
            </a:r>
            <a:r>
              <a:rPr lang="en-ZA" i="1" dirty="0" err="1"/>
              <a:t>Mathematik</a:t>
            </a:r>
            <a:r>
              <a:rPr lang="en-ZA" i="1" dirty="0"/>
              <a:t> und </a:t>
            </a:r>
            <a:r>
              <a:rPr lang="en-ZA" i="1" dirty="0" err="1"/>
              <a:t>Physik</a:t>
            </a:r>
            <a:r>
              <a:rPr lang="en-ZA" dirty="0"/>
              <a:t>, vol. 38, pp. 173–198, 1931.</a:t>
            </a:r>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rPr>
              <a:t>(</a:t>
            </a:r>
            <a:r>
              <a:rPr lang="en-ZA" dirty="0"/>
              <a:t>On Formally Undecidable Propositions of Principia Mathematica and Related Systems I.</a:t>
            </a:r>
            <a:r>
              <a:rPr lang="en-ZA" b="0" dirty="0">
                <a:solidFill>
                  <a:schemeClr val="tx1"/>
                </a:solidFill>
              </a:rPr>
              <a:t>)</a:t>
            </a:r>
          </a:p>
        </p:txBody>
      </p:sp>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35839938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To address the proposed limitations of classical computation in explaining human reasoning, Penrose and </a:t>
            </a:r>
            <a:r>
              <a:rPr lang="en-ZA" dirty="0" err="1"/>
              <a:t>Hameroff</a:t>
            </a:r>
            <a:r>
              <a:rPr lang="en-ZA" dirty="0"/>
              <a:t> developed a quantum-based theory of consciousness called Orchestrated Objective Reduction, or </a:t>
            </a:r>
            <a:r>
              <a:rPr lang="en-ZA" dirty="0" err="1"/>
              <a:t>Orch</a:t>
            </a:r>
            <a:r>
              <a:rPr lang="en-ZA" dirty="0"/>
              <a:t>-OR.  According to their theory, consciousness arises not only from a neural complexity, but from tiny structures inside neurons called microtubules. Microtubules are made of tubulin molecules that can act like qubits, capable of being in two states or a superposition of both.</a:t>
            </a:r>
          </a:p>
          <a:p>
            <a:pPr algn="just"/>
            <a:endParaRPr lang="en-ZA" dirty="0"/>
          </a:p>
          <a:p>
            <a:pPr algn="just"/>
            <a:r>
              <a:rPr lang="en-ZA" dirty="0"/>
              <a:t>Penrose explains superposition as two diverging curvatures of spacetime. When the separation between these spacetime states becomes large enough, the quantum state collapses on its own. Penrose called this process Objective Reduction (OR) and estimated that it occurs roughly every 25 milliseconds. This timescale aligns with the brain’s ~40 Hz gamma oscillations often associated with conscious awareness.</a:t>
            </a:r>
          </a:p>
          <a:p>
            <a:pPr algn="just"/>
            <a:endParaRPr lang="en-ZA" dirty="0"/>
          </a:p>
          <a:p>
            <a:pPr algn="just"/>
            <a:r>
              <a:rPr lang="en-ZA" dirty="0"/>
              <a:t>In this view, the brain’s computational power is not limited by the number of neurons, but by the enormous number of tubulin molecules within them. Instead of around 10¹⁶ operations per second, the brain could potentially achieve ~10²⁷ operations per second — far beyond the capability of classical simulation.</a:t>
            </a:r>
            <a:endParaRPr lang="en-ZA" b="0" dirty="0"/>
          </a:p>
          <a:p>
            <a:endParaRPr lang="en-US" sz="1200" dirty="0"/>
          </a:p>
          <a:p>
            <a:r>
              <a:rPr lang="en-ZA" b="0" dirty="0"/>
              <a:t>References:</a:t>
            </a:r>
            <a:endParaRPr lang="en-US" sz="1200" i="1" dirty="0"/>
          </a:p>
          <a:p>
            <a:r>
              <a:rPr lang="en-ZA" sz="1200" i="1" dirty="0"/>
              <a:t>Stuart R. </a:t>
            </a:r>
            <a:r>
              <a:rPr lang="en-ZA" sz="1200" i="1" dirty="0" err="1"/>
              <a:t>Hameroff</a:t>
            </a:r>
            <a:r>
              <a:rPr lang="en-ZA" sz="1200" i="1" dirty="0"/>
              <a:t>, Roger Penrose, “Consciousness in the universe: A review of the ‘</a:t>
            </a:r>
            <a:r>
              <a:rPr lang="en-ZA" sz="1200" i="1" dirty="0" err="1"/>
              <a:t>Orch</a:t>
            </a:r>
            <a:r>
              <a:rPr lang="en-ZA" sz="1200" i="1" dirty="0"/>
              <a:t> OR’ theory,” Physics of Life Reviews 11: 39-78, 2014, </a:t>
            </a:r>
            <a:r>
              <a:rPr lang="en-ZA" sz="1200" i="1" dirty="0" err="1"/>
              <a:t>doi</a:t>
            </a:r>
            <a:r>
              <a:rPr lang="en-ZA" sz="1200" i="1" dirty="0"/>
              <a:t>: </a:t>
            </a:r>
            <a:r>
              <a:rPr lang="en-ZA" sz="1200" i="1" dirty="0">
                <a:hlinkClick r:id="rId3"/>
              </a:rPr>
              <a:t>10.1016/j.plrev.2013.08.002</a:t>
            </a:r>
            <a:r>
              <a:rPr lang="en-ZA" sz="1200" i="1" dirty="0"/>
              <a:t>.</a:t>
            </a:r>
          </a:p>
          <a:p>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40340109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Penrose–</a:t>
                </a:r>
                <a:r>
                  <a:rPr lang="en-ZA" dirty="0" err="1"/>
                  <a:t>Hameroff</a:t>
                </a:r>
                <a:r>
                  <a:rPr lang="en-ZA" dirty="0"/>
                  <a:t> model remains difficult to test experimentally, but researchers are beginning to explore quantum-based models of neural processing. One example is the “Stochastic Quantum Neural Network Model.” In this model, each neuron is represented by a qubit in superposition, and neural activation is defined as the probability of measuring the qubit in the state ∣1⟩.</a:t>
                </a:r>
              </a:p>
              <a:p>
                <a:pPr algn="just"/>
                <a:endParaRPr lang="en-ZA" dirty="0"/>
              </a:p>
              <a:p>
                <a:pPr algn="just"/>
                <a:r>
                  <a:rPr lang="en-ZA" dirty="0"/>
                  <a:t>To capture correlations between quantum neurons, the authors use entanglement. This allows different neurons to influence one another in ways that go beyond classical connectivity.</a:t>
                </a:r>
              </a:p>
              <a:p>
                <a:pPr algn="just"/>
                <a:endParaRPr lang="en-ZA" dirty="0"/>
              </a:p>
              <a:p>
                <a:pPr algn="just"/>
                <a:r>
                  <a:rPr lang="en-ZA" dirty="0"/>
                  <a:t>The temporal evolution of an isolated quantum neural network follows the Schrödinger equation. The operator that drives this evolution is built from rotation operators, together with a coupling term that determines how the neurons interact.</a:t>
                </a:r>
              </a:p>
              <a:p>
                <a:pPr algn="just"/>
                <a:endParaRPr lang="en-ZA" dirty="0"/>
              </a:p>
              <a:p>
                <a:pPr algn="just"/>
                <a:r>
                  <a:rPr lang="en-ZA" dirty="0"/>
                  <a:t>The authors formulated a stochastic equation that captures the evolution of a quantum system under environmental influence. The first term describes standard Schrödinger evolution. The second models the environment’s effect. The third adds random fluctuations similar to those in biological neurons.</a:t>
                </a:r>
              </a:p>
              <a:p>
                <a:pPr algn="just"/>
                <a:endParaRPr lang="en-ZA" dirty="0"/>
              </a:p>
              <a:p>
                <a:pPr algn="just"/>
                <a:r>
                  <a:rPr lang="en-ZA" dirty="0"/>
                  <a:t>Although this model is a step closer to possible implementation, it remains fully theoretical and cannot be built on today’s quantum hardware.</a:t>
                </a:r>
              </a:p>
              <a:p>
                <a:pPr algn="just"/>
                <a:endParaRPr lang="en-ZA" dirty="0"/>
              </a:p>
              <a:p>
                <a:pPr algn="just"/>
                <a:r>
                  <a:rPr lang="en-ZA" dirty="0"/>
                  <a:t>=========</a:t>
                </a:r>
              </a:p>
              <a:p>
                <a:pPr marL="171450" indent="-171450" algn="just">
                  <a:buFont typeface="Arial" panose="020B0604020202020204" pitchFamily="34" charset="0"/>
                  <a:buChar char="•"/>
                </a:pPr>
                <a:r>
                  <a:rPr lang="en-ZA" dirty="0"/>
                  <a:t>The Hamiltonian is a Hermitian matrix that encodes the energy of the system and dictates how the quantum state evolves in time. For a single qubit, a Hamiltonian might be a combination of Pauli matrices, such as: H=</a:t>
                </a:r>
                <a:r>
                  <a:rPr lang="en-ZA" dirty="0" err="1"/>
                  <a:t>aX+bY+cZ</a:t>
                </a:r>
                <a:endParaRPr lang="en-ZA" dirty="0"/>
              </a:p>
              <a:p>
                <a:pPr marL="171450" indent="-171450" algn="just">
                  <a:buFont typeface="Arial" panose="020B0604020202020204" pitchFamily="34" charset="0"/>
                  <a:buChar char="•"/>
                </a:pPr>
                <a:r>
                  <a:rPr lang="en-ZA" dirty="0"/>
                  <a:t>The Planck constant links a particle’s energy to its frequency as E=hf. (</a:t>
                </a:r>
                <a14:m>
                  <m:oMath xmlns:m="http://schemas.openxmlformats.org/officeDocument/2006/math">
                    <m:r>
                      <a:rPr lang="en-US" sz="1200" b="0" i="1" smtClean="0">
                        <a:latin typeface="Cambria Math" panose="02040503050406030204" pitchFamily="18" charset="0"/>
                        <a:ea typeface="Cambria Math" panose="02040503050406030204" pitchFamily="18" charset="0"/>
                      </a:rPr>
                      <m:t>ℏ</m:t>
                    </m:r>
                  </m:oMath>
                </a14:m>
                <a:r>
                  <a:rPr lang="en-ZA" dirty="0"/>
                  <a:t>=h/2pi – reduced </a:t>
                </a:r>
                <a:r>
                  <a:rPr lang="en-ZA" dirty="0" err="1"/>
                  <a:t>planck</a:t>
                </a:r>
                <a:r>
                  <a:rPr lang="en-ZA" dirty="0"/>
                  <a:t> constant)</a:t>
                </a:r>
              </a:p>
              <a:p>
                <a:pPr marL="171450" indent="-171450" algn="just">
                  <a:buFont typeface="Arial" panose="020B0604020202020204" pitchFamily="34" charset="0"/>
                  <a:buChar char="•"/>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𝐿</m:t>
                        </m:r>
                      </m:e>
                      <m:sub>
                        <m:r>
                          <a:rPr lang="en-US" sz="1200" b="0" i="1" smtClean="0">
                            <a:latin typeface="Cambria Math" panose="02040503050406030204" pitchFamily="18" charset="0"/>
                          </a:rPr>
                          <m:t>𝑘</m:t>
                        </m:r>
                      </m:sub>
                    </m:sSub>
                  </m:oMath>
                </a14:m>
                <a:r>
                  <a:rPr lang="en-ZA" dirty="0"/>
                  <a:t> is Lindblad operator is a matrix that describes how the environment disturbs the quantum state.</a:t>
                </a:r>
                <a:r>
                  <a:rPr lang="en-US" sz="1200" b="0" dirty="0"/>
                  <a:t> </a:t>
                </a:r>
                <a14:m>
                  <m:oMath xmlns:m="http://schemas.openxmlformats.org/officeDocument/2006/math">
                    <m:r>
                      <a:rPr lang="en-US" sz="1200" b="0" i="1" smtClean="0">
                        <a:latin typeface="Cambria Math" panose="02040503050406030204" pitchFamily="18" charset="0"/>
                      </a:rPr>
                      <m:t>𝑑</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𝑊</m:t>
                        </m:r>
                      </m:e>
                      <m:sub>
                        <m:r>
                          <a:rPr lang="en-US" sz="1200" b="0" i="1" smtClean="0">
                            <a:latin typeface="Cambria Math" panose="02040503050406030204" pitchFamily="18" charset="0"/>
                          </a:rPr>
                          <m:t>𝑘</m:t>
                        </m:r>
                      </m:sub>
                    </m:sSub>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oMath>
                </a14:m>
                <a:r>
                  <a:rPr lang="en-ZA" dirty="0"/>
                  <a:t> is a Wiener increment — the mathematical representation of a tiny random fluctuation, used to model noise in the quantum system. Simply, it is a random number drawn from a Gaussian (normal) distribution..</a:t>
                </a:r>
              </a:p>
              <a:p>
                <a:pPr algn="just"/>
                <a:r>
                  <a:rPr lang="en-ZA" dirty="0"/>
                  <a:t>=========</a:t>
                </a:r>
              </a:p>
            </p:txBody>
          </p:sp>
        </mc:Choice>
        <mc:Fallback xmlns="">
          <p:sp>
            <p:nvSpPr>
              <p:cNvPr id="3" name="Notes Placeholder 2"/>
              <p:cNvSpPr>
                <a:spLocks noGrp="1"/>
              </p:cNvSpPr>
              <p:nvPr>
                <p:ph type="body" idx="1"/>
              </p:nvPr>
            </p:nvSpPr>
            <p:spPr/>
            <p:txBody>
              <a:bodyPr/>
              <a:lstStyle/>
              <a:p>
                <a:pPr algn="just"/>
                <a:r>
                  <a:rPr lang="en-ZA" dirty="0"/>
                  <a:t>We’re still far from testing the Penrose–</a:t>
                </a:r>
                <a:r>
                  <a:rPr lang="en-ZA" dirty="0" err="1"/>
                  <a:t>Hameroff</a:t>
                </a:r>
                <a:r>
                  <a:rPr lang="en-ZA" dirty="0"/>
                  <a:t> model, but researchers are beginning to add quantum-like behaviour to neural models.</a:t>
                </a:r>
              </a:p>
              <a:p>
                <a:pPr algn="just"/>
                <a:endParaRPr lang="en-ZA" dirty="0"/>
              </a:p>
              <a:p>
                <a:pPr algn="just"/>
                <a:r>
                  <a:rPr lang="en-ZA" dirty="0"/>
                  <a:t>Recently published research proposes a neuro-quantum model where each neuron is represented by a qubit in superposition. Neural activation is defined as the probability that the qubit collapses to ‘1’. Natural neural randomness is introduced through small stochastic fluctuations in the qubit’s evolution.</a:t>
                </a:r>
              </a:p>
              <a:p>
                <a:pPr algn="just"/>
                <a:endParaRPr lang="en-ZA" dirty="0"/>
              </a:p>
              <a:p>
                <a:pPr algn="just"/>
                <a:r>
                  <a:rPr lang="en-ZA" dirty="0"/>
                  <a:t>To capture correlations between quantum neurons, the authors use entanglement. This allows different neurons to influence one another in ways that go beyond classical connectivity.</a:t>
                </a:r>
              </a:p>
              <a:p>
                <a:pPr algn="just"/>
                <a:endParaRPr lang="en-ZA" dirty="0"/>
              </a:p>
              <a:p>
                <a:pPr algn="just"/>
                <a:r>
                  <a:rPr lang="en-ZA" dirty="0"/>
                  <a:t>When the system evolves without noise, it follows the standard Schrödinger equation. The Hamiltonian that drives this evolution is built from Pauli rotation operators, together with a coupling term that determines how the neurons interact.</a:t>
                </a:r>
              </a:p>
              <a:p>
                <a:pPr algn="just"/>
                <a:endParaRPr lang="en-ZA" dirty="0"/>
              </a:p>
              <a:p>
                <a:pPr algn="just"/>
                <a:r>
                  <a:rPr lang="en-ZA" dirty="0"/>
                  <a:t>Using these principles, the authors suggest a quantum stochastic differential equation that describes the evolution of the neural network under uncertainty. The first part represents ordinary quantum evolution, the second captures the influence of the environment, and the third introduces random fluctuations that mimic the unpredictable behaviour observed in biological neurons.</a:t>
                </a:r>
              </a:p>
              <a:p>
                <a:pPr algn="just"/>
                <a:endParaRPr lang="en-ZA" dirty="0"/>
              </a:p>
              <a:p>
                <a:pPr algn="just"/>
                <a:r>
                  <a:rPr lang="en-ZA" dirty="0"/>
                  <a:t>Compared to ORCH-OR or similar theories, this model is a step closer to possible implementation. However, it remains fully theoretical, and it cannot be built on today’s quantum hardware.</a:t>
                </a:r>
              </a:p>
              <a:p>
                <a:pPr algn="just"/>
                <a:endParaRPr lang="en-ZA" dirty="0"/>
              </a:p>
              <a:p>
                <a:pPr algn="just"/>
                <a:r>
                  <a:rPr lang="en-ZA" dirty="0"/>
                  <a:t>=========</a:t>
                </a:r>
              </a:p>
              <a:p>
                <a:pPr marL="171450" indent="-171450" algn="just">
                  <a:buFont typeface="Arial" panose="020B0604020202020204" pitchFamily="34" charset="0"/>
                  <a:buChar char="•"/>
                </a:pPr>
                <a:r>
                  <a:rPr lang="en-ZA" dirty="0"/>
                  <a:t>The Hamiltonian is simply a Hermitian matrix that encodes the energy of the system and dictates how the quantum state evolves in time. For a single qubit, a Hamiltonian might be a combination of Pauli matrices, such as: H=</a:t>
                </a:r>
                <a:r>
                  <a:rPr lang="en-ZA" dirty="0" err="1"/>
                  <a:t>aX+bY+cZ</a:t>
                </a:r>
                <a:endParaRPr lang="en-ZA" dirty="0"/>
              </a:p>
              <a:p>
                <a:pPr marL="171450" indent="-171450" algn="just">
                  <a:buFont typeface="Arial" panose="020B0604020202020204" pitchFamily="34" charset="0"/>
                  <a:buChar char="•"/>
                </a:pPr>
                <a:r>
                  <a:rPr lang="en-ZA" dirty="0"/>
                  <a:t>The Planck constant links a particle’s energy to its frequency as E=hf. (</a:t>
                </a:r>
                <a:r>
                  <a:rPr lang="en-US" sz="1200" b="0" i="0">
                    <a:latin typeface="Cambria Math" panose="02040503050406030204" pitchFamily="18" charset="0"/>
                    <a:ea typeface="Cambria Math" panose="02040503050406030204" pitchFamily="18" charset="0"/>
                  </a:rPr>
                  <a:t>ℏ</a:t>
                </a:r>
                <a:r>
                  <a:rPr lang="en-ZA" dirty="0"/>
                  <a:t>=h/2pi – reduced </a:t>
                </a:r>
                <a:r>
                  <a:rPr lang="en-ZA" dirty="0" err="1"/>
                  <a:t>planck</a:t>
                </a:r>
                <a:r>
                  <a:rPr lang="en-ZA" dirty="0"/>
                  <a:t> constant)</a:t>
                </a:r>
              </a:p>
              <a:p>
                <a:pPr marL="171450" indent="-171450" algn="just">
                  <a:buFont typeface="Arial" panose="020B0604020202020204" pitchFamily="34" charset="0"/>
                  <a:buChar char="•"/>
                </a:pPr>
                <a:r>
                  <a:rPr lang="en-US" sz="1200" b="0" i="0">
                    <a:latin typeface="Cambria Math" panose="02040503050406030204" pitchFamily="18" charset="0"/>
                  </a:rPr>
                  <a:t>𝐿_𝑘</a:t>
                </a:r>
                <a:r>
                  <a:rPr lang="en-ZA" dirty="0"/>
                  <a:t> is Lindblad operator is a matrix that describes how the environment disturbs the quantum state.</a:t>
                </a:r>
                <a:r>
                  <a:rPr lang="en-US" sz="1200" b="0" dirty="0"/>
                  <a:t> </a:t>
                </a:r>
                <a:r>
                  <a:rPr lang="en-US" sz="1200" b="0" i="0">
                    <a:latin typeface="Cambria Math" panose="02040503050406030204" pitchFamily="18" charset="0"/>
                  </a:rPr>
                  <a:t>𝑑𝑊_𝑘 (𝑡)</a:t>
                </a:r>
                <a:r>
                  <a:rPr lang="en-ZA" dirty="0"/>
                  <a:t> is a Wiener increment — the mathematical representation of a tiny random fluctuation, used to model noise in the quantum system. Simply, it is a random number drawn from a Gaussian (normal) distribution..</a:t>
                </a:r>
              </a:p>
              <a:p>
                <a:pPr algn="just"/>
                <a:r>
                  <a:rPr lang="en-ZA"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19022595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Another stream of research, called Quantum Cognitive Models, takes a different approach. They focus on the principles of cognition rather than the biological or physical processes of the brain. These models apply quantum phenomena </a:t>
            </a:r>
            <a:r>
              <a:rPr lang="en-ZA" sz="1200" kern="1200" dirty="0">
                <a:solidFill>
                  <a:schemeClr val="tx1"/>
                </a:solidFill>
                <a:latin typeface="+mn-lt"/>
                <a:ea typeface="+mn-ea"/>
                <a:cs typeface="+mn-cs"/>
              </a:rPr>
              <a:t>quantum phenomena to thinking and decision-making processes</a:t>
            </a:r>
            <a:r>
              <a:rPr lang="en-ZA" dirty="0"/>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Some projects include: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IBM’s QUATRO and </a:t>
            </a:r>
            <a:r>
              <a:rPr lang="en-ZA" dirty="0" err="1"/>
              <a:t>IonQ</a:t>
            </a:r>
            <a:r>
              <a:rPr lang="en-ZA" dirty="0"/>
              <a:t>: uses variational quantum circuits to simulate quantum-inspired cognitive models on real hardware.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Another promising direction is Quantum-Cognitive Neural Networks, which use quantum principles to model perception, judgment, and decision-making. These models have shown practical value in ambiguous tasks like telling apart different types of oranges in transparent plastic bags, and distinguishing military from civilian vehicles of the same make.</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They excel at ambiguous tasks, like spotting items through transparent plastic bags or distinguishing a civilian truck from its military version. For now, they run on classical computers because the required quantum hardware doesn’t exist yet.</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6405190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effectLst/>
              </a:rPr>
              <a:t>The final frontier would be quantum superintelligence.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effectLs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sz="1200" kern="1200" dirty="0">
                <a:solidFill>
                  <a:schemeClr val="tx1"/>
                </a:solidFill>
                <a:latin typeface="+mn-lt"/>
                <a:ea typeface="+mn-ea"/>
                <a:cs typeface="+mn-cs"/>
              </a:rPr>
              <a:t>True superintelligence would require not just computational power. It would require qualities like awareness and understanding, things today’s AI does not </a:t>
            </a:r>
            <a:r>
              <a:rPr lang="en-ZA" sz="1200" kern="1200">
                <a:solidFill>
                  <a:schemeClr val="tx1"/>
                </a:solidFill>
                <a:latin typeface="+mn-lt"/>
                <a:ea typeface="+mn-ea"/>
                <a:cs typeface="+mn-cs"/>
              </a:rPr>
              <a:t>have.</a:t>
            </a:r>
            <a:endParaRPr lang="en-ZA" sz="1200" kern="1200" dirty="0">
              <a:solidFill>
                <a:schemeClr val="tx1"/>
              </a:solidFill>
              <a:latin typeface="+mn-lt"/>
              <a:ea typeface="+mn-ea"/>
              <a:cs typeface="+mn-cs"/>
            </a:endParaRPr>
          </a:p>
          <a:p>
            <a:pPr algn="just"/>
            <a:endParaRPr lang="en-ZA" sz="1200"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sz="1200" kern="1200" dirty="0">
                <a:solidFill>
                  <a:schemeClr val="tx1"/>
                </a:solidFill>
                <a:latin typeface="+mn-lt"/>
                <a:ea typeface="+mn-ea"/>
                <a:cs typeface="+mn-cs"/>
              </a:rPr>
              <a:t>Quantum superintelligence (QSI ) would be a self-aware  intelligence far beyond the best human abilities, powered by quantum technologies.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sz="1200"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It may be the last machine we ever build.</a:t>
            </a:r>
            <a:endParaRPr lang="en-ZA"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3867177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1155157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9/4/26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9/4/26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9/4/26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9/4/26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9/4/26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A4E9-6EC3-B04F-B29B-A2BC27A8BA6F}"/>
              </a:ext>
            </a:extLst>
          </p:cNvPr>
          <p:cNvSpPr>
            <a:spLocks noGrp="1"/>
          </p:cNvSpPr>
          <p:nvPr>
            <p:ph type="title"/>
          </p:nvPr>
        </p:nvSpPr>
        <p:spPr>
          <a:xfrm>
            <a:off x="0" y="0"/>
            <a:ext cx="12192000" cy="928688"/>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789709" cy="365125"/>
          </a:xfrm>
        </p:spPr>
        <p:txBody>
          <a:bodyPr/>
          <a:lstStyle>
            <a:lvl1pPr algn="l">
              <a:defRPr/>
            </a:lvl1pPr>
          </a:lstStyle>
          <a:p>
            <a:fld id="{591A223C-FA10-BC46-A853-03BA373D023C}" type="slidenum">
              <a:rPr lang="en-US" smtClean="0"/>
              <a:pPr/>
              <a:t>‹#›</a:t>
            </a:fld>
            <a:endParaRPr lang="en-US"/>
          </a:p>
        </p:txBody>
      </p:sp>
      <p:pic>
        <p:nvPicPr>
          <p:cNvPr id="6" name="Picture 5">
            <a:extLst>
              <a:ext uri="{FF2B5EF4-FFF2-40B4-BE49-F238E27FC236}">
                <a16:creationId xmlns:a16="http://schemas.microsoft.com/office/drawing/2014/main" id="{988EA578-68DE-B840-881A-F00F06E9E9B0}"/>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7" name="Picture 6">
            <a:extLst>
              <a:ext uri="{FF2B5EF4-FFF2-40B4-BE49-F238E27FC236}">
                <a16:creationId xmlns:a16="http://schemas.microsoft.com/office/drawing/2014/main" id="{672EE528-21A4-1142-A251-50892F96CC3F}"/>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9/4/26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D7B12702-767F-204E-A31B-71D7331C2EF3}"/>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9/4/26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9/4/26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9/4/26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9/4/26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19BAD7-D4B1-4646-B2F1-0F1275438C06}"/>
              </a:ext>
            </a:extLst>
          </p:cNvPr>
          <p:cNvSpPr>
            <a:spLocks noGrp="1"/>
          </p:cNvSpPr>
          <p:nvPr>
            <p:ph type="sldNum" sz="quarter" idx="12"/>
          </p:nvPr>
        </p:nvSpPr>
        <p:spPr>
          <a:xfrm>
            <a:off x="0" y="6522605"/>
            <a:ext cx="831273" cy="365125"/>
          </a:xfrm>
        </p:spPr>
        <p:txBody>
          <a:bodyPr/>
          <a:lstStyle>
            <a:lvl1pPr algn="l">
              <a:defRPr/>
            </a:lvl1pPr>
          </a:lstStyle>
          <a:p>
            <a:fld id="{F9755F1A-B9A0-4847-95B6-A26175A266D6}" type="slidenum">
              <a:rPr lang="en-US" smtClean="0"/>
              <a:pPr/>
              <a:t>‹#›</a:t>
            </a:fld>
            <a:endParaRPr lang="en-US"/>
          </a:p>
        </p:txBody>
      </p:sp>
      <p:sp>
        <p:nvSpPr>
          <p:cNvPr id="5" name="Title 1">
            <a:extLst>
              <a:ext uri="{FF2B5EF4-FFF2-40B4-BE49-F238E27FC236}">
                <a16:creationId xmlns:a16="http://schemas.microsoft.com/office/drawing/2014/main" id="{9597F359-8EEF-B34E-908B-EA6295880535}"/>
              </a:ext>
            </a:extLst>
          </p:cNvPr>
          <p:cNvSpPr>
            <a:spLocks noGrp="1"/>
          </p:cNvSpPr>
          <p:nvPr>
            <p:ph type="title"/>
          </p:nvPr>
        </p:nvSpPr>
        <p:spPr>
          <a:xfrm>
            <a:off x="0" y="0"/>
            <a:ext cx="12192000" cy="858034"/>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7" name="Picture 6">
            <a:extLst>
              <a:ext uri="{FF2B5EF4-FFF2-40B4-BE49-F238E27FC236}">
                <a16:creationId xmlns:a16="http://schemas.microsoft.com/office/drawing/2014/main" id="{4E1DAE02-B4C8-384F-8258-382D1E595081}"/>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56FE7467-C0BE-3C4F-A39A-04E030BD0AF8}"/>
              </a:ext>
            </a:extLst>
          </p:cNvPr>
          <p:cNvPicPr>
            <a:picLocks noChangeAspect="1"/>
          </p:cNvPicPr>
          <p:nvPr userDrawn="1"/>
        </p:nvPicPr>
        <p:blipFill>
          <a:blip r:embed="rId3"/>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664336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M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flip="none" rotWithShape="1">
            <a:gsLst>
              <a:gs pos="0">
                <a:schemeClr val="accent6">
                  <a:lumMod val="5000"/>
                  <a:lumOff val="95000"/>
                  <a:alpha val="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10800000" scaled="1"/>
            <a:tileRect/>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18B1DED-A97D-9F49-ADD7-83A254340500}"/>
              </a:ext>
            </a:extLst>
          </p:cNvPr>
          <p:cNvPicPr>
            <a:picLocks noChangeAspect="1"/>
          </p:cNvPicPr>
          <p:nvPr userDrawn="1"/>
        </p:nvPicPr>
        <p:blipFill>
          <a:blip r:embed="rId3"/>
          <a:stretch>
            <a:fillRect/>
          </a:stretch>
        </p:blipFill>
        <p:spPr>
          <a:xfrm>
            <a:off x="11222826" y="47388"/>
            <a:ext cx="709176" cy="792000"/>
          </a:xfrm>
          <a:prstGeom prst="rect">
            <a:avLst/>
          </a:prstGeom>
        </p:spPr>
      </p:pic>
    </p:spTree>
    <p:extLst>
      <p:ext uri="{BB962C8B-B14F-4D97-AF65-F5344CB8AC3E}">
        <p14:creationId xmlns:p14="http://schemas.microsoft.com/office/powerpoint/2010/main" val="1190975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9/4/26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5.tif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8.tiff"/><Relationship Id="rId4" Type="http://schemas.openxmlformats.org/officeDocument/2006/relationships/image" Target="../media/image7.tiff"/></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jp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5.tiff"/><Relationship Id="rId13" Type="http://schemas.openxmlformats.org/officeDocument/2006/relationships/image" Target="../media/image12.jpg"/><Relationship Id="rId3" Type="http://schemas.openxmlformats.org/officeDocument/2006/relationships/diagramData" Target="../diagrams/data3.xml"/><Relationship Id="rId7" Type="http://schemas.microsoft.com/office/2007/relationships/diagramDrawing" Target="../diagrams/drawing3.xml"/><Relationship Id="rId12"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3.xml"/><Relationship Id="rId11" Type="http://schemas.openxmlformats.org/officeDocument/2006/relationships/image" Target="../media/image10.png"/><Relationship Id="rId5" Type="http://schemas.openxmlformats.org/officeDocument/2006/relationships/diagramQuickStyle" Target="../diagrams/quickStyle3.xml"/><Relationship Id="rId10" Type="http://schemas.openxmlformats.org/officeDocument/2006/relationships/image" Target="../media/image17.tiff"/><Relationship Id="rId4" Type="http://schemas.openxmlformats.org/officeDocument/2006/relationships/diagramLayout" Target="../diagrams/layout3.xml"/><Relationship Id="rId9" Type="http://schemas.openxmlformats.org/officeDocument/2006/relationships/image" Target="../media/image16.tiff"/><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8.tiff"/><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19.tiff"/></Relationships>
</file>

<file path=ppt/slides/_rels/slide8.xml.rels><?xml version="1.0" encoding="UTF-8" standalone="yes"?>
<Relationships xmlns="http://schemas.openxmlformats.org/package/2006/relationships"><Relationship Id="rId3" Type="http://schemas.openxmlformats.org/officeDocument/2006/relationships/image" Target="../media/image20.tiff"/><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22.tiff"/><Relationship Id="rId4" Type="http://schemas.openxmlformats.org/officeDocument/2006/relationships/image" Target="../media/image21.tif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18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4.tiff"/></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0.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0.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201.png"/><Relationship Id="rId18" Type="http://schemas.openxmlformats.org/officeDocument/2006/relationships/image" Target="../media/image31.png"/><Relationship Id="rId26" Type="http://schemas.openxmlformats.org/officeDocument/2006/relationships/image" Target="../media/image64.png"/><Relationship Id="rId21" Type="http://schemas.openxmlformats.org/officeDocument/2006/relationships/image" Target="../media/image260.png"/><Relationship Id="rId34" Type="http://schemas.openxmlformats.org/officeDocument/2006/relationships/image" Target="../media/image370.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30.png"/><Relationship Id="rId25" Type="http://schemas.openxmlformats.org/officeDocument/2006/relationships/image" Target="../media/image63.png"/><Relationship Id="rId33" Type="http://schemas.openxmlformats.org/officeDocument/2006/relationships/image" Target="../media/image360.png"/><Relationship Id="rId2" Type="http://schemas.openxmlformats.org/officeDocument/2006/relationships/notesSlide" Target="../notesSlides/notesSlide13.xml"/><Relationship Id="rId16" Type="http://schemas.openxmlformats.org/officeDocument/2006/relationships/image" Target="../media/image29.png"/><Relationship Id="rId20" Type="http://schemas.openxmlformats.org/officeDocument/2006/relationships/image" Target="../media/image250.png"/><Relationship Id="rId29" Type="http://schemas.openxmlformats.org/officeDocument/2006/relationships/image" Target="../media/image320.png"/><Relationship Id="rId1" Type="http://schemas.openxmlformats.org/officeDocument/2006/relationships/slideLayout" Target="../slideLayouts/slideLayout6.xml"/><Relationship Id="rId24" Type="http://schemas.openxmlformats.org/officeDocument/2006/relationships/image" Target="../media/image62.png"/><Relationship Id="rId32" Type="http://schemas.openxmlformats.org/officeDocument/2006/relationships/image" Target="../media/image350.png"/><Relationship Id="rId15" Type="http://schemas.openxmlformats.org/officeDocument/2006/relationships/image" Target="../media/image227.png"/><Relationship Id="rId23" Type="http://schemas.openxmlformats.org/officeDocument/2006/relationships/image" Target="../media/image59.png"/><Relationship Id="rId28" Type="http://schemas.openxmlformats.org/officeDocument/2006/relationships/image" Target="../media/image310.png"/><Relationship Id="rId10" Type="http://schemas.openxmlformats.org/officeDocument/2006/relationships/image" Target="../media/image192.png"/><Relationship Id="rId19" Type="http://schemas.openxmlformats.org/officeDocument/2006/relationships/image" Target="../media/image32.png"/><Relationship Id="rId31" Type="http://schemas.openxmlformats.org/officeDocument/2006/relationships/image" Target="../media/image340.png"/><Relationship Id="rId9" Type="http://schemas.openxmlformats.org/officeDocument/2006/relationships/image" Target="../media/image181.png"/><Relationship Id="rId14" Type="http://schemas.openxmlformats.org/officeDocument/2006/relationships/image" Target="../media/image2110.png"/><Relationship Id="rId22" Type="http://schemas.openxmlformats.org/officeDocument/2006/relationships/image" Target="../media/image58.png"/><Relationship Id="rId27" Type="http://schemas.openxmlformats.org/officeDocument/2006/relationships/image" Target="../media/image66.png"/><Relationship Id="rId30"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350.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340.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8.png"/><Relationship Id="rId11" Type="http://schemas.openxmlformats.org/officeDocument/2006/relationships/image" Target="../media/image33.png"/><Relationship Id="rId5" Type="http://schemas.openxmlformats.org/officeDocument/2006/relationships/image" Target="../media/image37.png"/><Relationship Id="rId15" Type="http://schemas.openxmlformats.org/officeDocument/2006/relationships/image" Target="../media/image370.png"/><Relationship Id="rId10" Type="http://schemas.openxmlformats.org/officeDocument/2006/relationships/image" Target="../media/image320.png"/><Relationship Id="rId4" Type="http://schemas.openxmlformats.org/officeDocument/2006/relationships/image" Target="../media/image36.png"/><Relationship Id="rId9" Type="http://schemas.openxmlformats.org/officeDocument/2006/relationships/image" Target="../media/image310.png"/><Relationship Id="rId14" Type="http://schemas.openxmlformats.org/officeDocument/2006/relationships/image" Target="../media/image360.png"/></Relationships>
</file>

<file path=ppt/slides/_rels/slide15.xml.rels><?xml version="1.0" encoding="UTF-8" standalone="yes"?>
<Relationships xmlns="http://schemas.openxmlformats.org/package/2006/relationships"><Relationship Id="rId13" Type="http://schemas.openxmlformats.org/officeDocument/2006/relationships/image" Target="../media/image310.png"/><Relationship Id="rId18" Type="http://schemas.openxmlformats.org/officeDocument/2006/relationships/image" Target="../media/image360.png"/><Relationship Id="rId26" Type="http://schemas.openxmlformats.org/officeDocument/2006/relationships/image" Target="../media/image75.png"/><Relationship Id="rId21" Type="http://schemas.openxmlformats.org/officeDocument/2006/relationships/image" Target="../media/image42.png"/><Relationship Id="rId17" Type="http://schemas.openxmlformats.org/officeDocument/2006/relationships/image" Target="../media/image350.png"/><Relationship Id="rId25" Type="http://schemas.openxmlformats.org/officeDocument/2006/relationships/image" Target="../media/image74.png"/><Relationship Id="rId2" Type="http://schemas.openxmlformats.org/officeDocument/2006/relationships/notesSlide" Target="../notesSlides/notesSlide15.xml"/><Relationship Id="rId16" Type="http://schemas.openxmlformats.org/officeDocument/2006/relationships/image" Target="../media/image340.png"/><Relationship Id="rId20" Type="http://schemas.openxmlformats.org/officeDocument/2006/relationships/image" Target="../media/image41.png"/><Relationship Id="rId1" Type="http://schemas.openxmlformats.org/officeDocument/2006/relationships/slideLayout" Target="../slideLayouts/slideLayout6.xml"/><Relationship Id="rId24" Type="http://schemas.openxmlformats.org/officeDocument/2006/relationships/image" Target="../media/image73.png"/><Relationship Id="rId15" Type="http://schemas.openxmlformats.org/officeDocument/2006/relationships/image" Target="../media/image33.png"/><Relationship Id="rId23" Type="http://schemas.openxmlformats.org/officeDocument/2006/relationships/image" Target="../media/image72.png"/><Relationship Id="rId19" Type="http://schemas.openxmlformats.org/officeDocument/2006/relationships/image" Target="../media/image370.png"/><Relationship Id="rId14" Type="http://schemas.openxmlformats.org/officeDocument/2006/relationships/image" Target="../media/image320.png"/><Relationship Id="rId22" Type="http://schemas.openxmlformats.org/officeDocument/2006/relationships/image" Target="../media/image43.png"/></Relationships>
</file>

<file path=ppt/slides/_rels/slide16.xml.rels><?xml version="1.0" encoding="UTF-8" standalone="yes"?>
<Relationships xmlns="http://schemas.openxmlformats.org/package/2006/relationships"><Relationship Id="rId13" Type="http://schemas.openxmlformats.org/officeDocument/2006/relationships/image" Target="../media/image311.png"/><Relationship Id="rId18" Type="http://schemas.openxmlformats.org/officeDocument/2006/relationships/image" Target="../media/image3600.png"/><Relationship Id="rId26" Type="http://schemas.openxmlformats.org/officeDocument/2006/relationships/image" Target="../media/image46.png"/><Relationship Id="rId21" Type="http://schemas.openxmlformats.org/officeDocument/2006/relationships/image" Target="../media/image390.png"/><Relationship Id="rId17" Type="http://schemas.openxmlformats.org/officeDocument/2006/relationships/image" Target="../media/image3500.png"/><Relationship Id="rId25" Type="http://schemas.openxmlformats.org/officeDocument/2006/relationships/image" Target="../media/image45.png"/><Relationship Id="rId2" Type="http://schemas.openxmlformats.org/officeDocument/2006/relationships/notesSlide" Target="../notesSlides/notesSlide16.xml"/><Relationship Id="rId16" Type="http://schemas.openxmlformats.org/officeDocument/2006/relationships/image" Target="../media/image3400.png"/><Relationship Id="rId20" Type="http://schemas.openxmlformats.org/officeDocument/2006/relationships/image" Target="../media/image380.png"/><Relationship Id="rId29" Type="http://schemas.openxmlformats.org/officeDocument/2006/relationships/image" Target="../media/image49.png"/><Relationship Id="rId1" Type="http://schemas.openxmlformats.org/officeDocument/2006/relationships/slideLayout" Target="../slideLayouts/slideLayout6.xml"/><Relationship Id="rId24" Type="http://schemas.openxmlformats.org/officeDocument/2006/relationships/image" Target="../media/image44.png"/><Relationship Id="rId32" Type="http://schemas.openxmlformats.org/officeDocument/2006/relationships/image" Target="../media/image52.png"/><Relationship Id="rId15" Type="http://schemas.openxmlformats.org/officeDocument/2006/relationships/image" Target="../media/image330.png"/><Relationship Id="rId23" Type="http://schemas.openxmlformats.org/officeDocument/2006/relationships/image" Target="../media/image410.png"/><Relationship Id="rId28" Type="http://schemas.openxmlformats.org/officeDocument/2006/relationships/image" Target="../media/image48.png"/><Relationship Id="rId19" Type="http://schemas.openxmlformats.org/officeDocument/2006/relationships/image" Target="../media/image3700.png"/><Relationship Id="rId31" Type="http://schemas.openxmlformats.org/officeDocument/2006/relationships/image" Target="../media/image51.png"/><Relationship Id="rId14" Type="http://schemas.openxmlformats.org/officeDocument/2006/relationships/image" Target="../media/image321.png"/><Relationship Id="rId22" Type="http://schemas.openxmlformats.org/officeDocument/2006/relationships/image" Target="../media/image400.png"/><Relationship Id="rId27" Type="http://schemas.openxmlformats.org/officeDocument/2006/relationships/image" Target="../media/image47.png"/><Relationship Id="rId30" Type="http://schemas.openxmlformats.org/officeDocument/2006/relationships/image" Target="../media/image50.png"/></Relationships>
</file>

<file path=ppt/slides/_rels/slide17.xml.rels><?xml version="1.0" encoding="UTF-8" standalone="yes"?>
<Relationships xmlns="http://schemas.openxmlformats.org/package/2006/relationships"><Relationship Id="rId18" Type="http://schemas.openxmlformats.org/officeDocument/2006/relationships/image" Target="../media/image33.png"/><Relationship Id="rId3" Type="http://schemas.openxmlformats.org/officeDocument/2006/relationships/image" Target="../media/image53.png"/><Relationship Id="rId21" Type="http://schemas.openxmlformats.org/officeDocument/2006/relationships/image" Target="../media/image360.png"/><Relationship Id="rId17" Type="http://schemas.openxmlformats.org/officeDocument/2006/relationships/image" Target="../media/image320.png"/><Relationship Id="rId2" Type="http://schemas.openxmlformats.org/officeDocument/2006/relationships/notesSlide" Target="../notesSlides/notesSlide17.xml"/><Relationship Id="rId16" Type="http://schemas.openxmlformats.org/officeDocument/2006/relationships/image" Target="../media/image310.png"/><Relationship Id="rId20" Type="http://schemas.openxmlformats.org/officeDocument/2006/relationships/image" Target="../media/image350.png"/><Relationship Id="rId1" Type="http://schemas.openxmlformats.org/officeDocument/2006/relationships/slideLayout" Target="../slideLayouts/slideLayout6.xml"/><Relationship Id="rId19" Type="http://schemas.openxmlformats.org/officeDocument/2006/relationships/image" Target="../media/image340.png"/><Relationship Id="rId22" Type="http://schemas.openxmlformats.org/officeDocument/2006/relationships/image" Target="../media/image370.png"/></Relationships>
</file>

<file path=ppt/slides/_rels/slide18.xml.rels><?xml version="1.0" encoding="UTF-8" standalone="yes"?>
<Relationships xmlns="http://schemas.openxmlformats.org/package/2006/relationships"><Relationship Id="rId13" Type="http://schemas.openxmlformats.org/officeDocument/2006/relationships/image" Target="../media/image310.png"/><Relationship Id="rId18" Type="http://schemas.openxmlformats.org/officeDocument/2006/relationships/image" Target="../media/image360.png"/><Relationship Id="rId17" Type="http://schemas.openxmlformats.org/officeDocument/2006/relationships/image" Target="../media/image350.png"/><Relationship Id="rId2" Type="http://schemas.openxmlformats.org/officeDocument/2006/relationships/notesSlide" Target="../notesSlides/notesSlide18.xml"/><Relationship Id="rId16" Type="http://schemas.openxmlformats.org/officeDocument/2006/relationships/image" Target="../media/image340.png"/><Relationship Id="rId1" Type="http://schemas.openxmlformats.org/officeDocument/2006/relationships/slideLayout" Target="../slideLayouts/slideLayout6.xml"/><Relationship Id="rId15" Type="http://schemas.openxmlformats.org/officeDocument/2006/relationships/image" Target="../media/image33.png"/><Relationship Id="rId19" Type="http://schemas.openxmlformats.org/officeDocument/2006/relationships/image" Target="../media/image370.png"/><Relationship Id="rId14" Type="http://schemas.openxmlformats.org/officeDocument/2006/relationships/image" Target="../media/image320.png"/></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57.tiff"/><Relationship Id="rId18" Type="http://schemas.openxmlformats.org/officeDocument/2006/relationships/image" Target="../media/image340.png"/><Relationship Id="rId3" Type="http://schemas.openxmlformats.org/officeDocument/2006/relationships/image" Target="../media/image54.png"/><Relationship Id="rId21" Type="http://schemas.openxmlformats.org/officeDocument/2006/relationships/image" Target="../media/image370.png"/><Relationship Id="rId7" Type="http://schemas.openxmlformats.org/officeDocument/2006/relationships/image" Target="../media/image860.png"/><Relationship Id="rId12" Type="http://schemas.openxmlformats.org/officeDocument/2006/relationships/image" Target="../media/image56.png"/><Relationship Id="rId17" Type="http://schemas.openxmlformats.org/officeDocument/2006/relationships/image" Target="../media/image33.png"/><Relationship Id="rId2" Type="http://schemas.openxmlformats.org/officeDocument/2006/relationships/notesSlide" Target="../notesSlides/notesSlide19.xml"/><Relationship Id="rId16" Type="http://schemas.openxmlformats.org/officeDocument/2006/relationships/image" Target="../media/image320.png"/><Relationship Id="rId20" Type="http://schemas.openxmlformats.org/officeDocument/2006/relationships/image" Target="../media/image360.png"/><Relationship Id="rId1" Type="http://schemas.openxmlformats.org/officeDocument/2006/relationships/slideLayout" Target="../slideLayouts/slideLayout6.xml"/><Relationship Id="rId6" Type="http://schemas.openxmlformats.org/officeDocument/2006/relationships/image" Target="../media/image850.png"/><Relationship Id="rId11" Type="http://schemas.openxmlformats.org/officeDocument/2006/relationships/image" Target="../media/image55.png"/><Relationship Id="rId5" Type="http://schemas.openxmlformats.org/officeDocument/2006/relationships/image" Target="../media/image840.png"/><Relationship Id="rId15" Type="http://schemas.openxmlformats.org/officeDocument/2006/relationships/image" Target="../media/image310.png"/><Relationship Id="rId10" Type="http://schemas.openxmlformats.org/officeDocument/2006/relationships/image" Target="../media/image89.png"/><Relationship Id="rId19" Type="http://schemas.openxmlformats.org/officeDocument/2006/relationships/image" Target="../media/image350.png"/><Relationship Id="rId4" Type="http://schemas.openxmlformats.org/officeDocument/2006/relationships/image" Target="../media/image830.png"/><Relationship Id="rId9" Type="http://schemas.openxmlformats.org/officeDocument/2006/relationships/image" Target="../media/image831.png"/></Relationships>
</file>

<file path=ppt/slides/_rels/slide20.xml.rels><?xml version="1.0" encoding="UTF-8" standalone="yes"?>
<Relationships xmlns="http://schemas.openxmlformats.org/package/2006/relationships"><Relationship Id="rId18" Type="http://schemas.openxmlformats.org/officeDocument/2006/relationships/image" Target="../media/image350.png"/><Relationship Id="rId3" Type="http://schemas.openxmlformats.org/officeDocument/2006/relationships/image" Target="../media/image94.png"/><Relationship Id="rId7" Type="http://schemas.openxmlformats.org/officeDocument/2006/relationships/image" Target="../media/image57.tiff"/><Relationship Id="rId12" Type="http://schemas.openxmlformats.org/officeDocument/2006/relationships/image" Target="../media/image55.png"/><Relationship Id="rId17" Type="http://schemas.openxmlformats.org/officeDocument/2006/relationships/image" Target="../media/image340.png"/><Relationship Id="rId2" Type="http://schemas.openxmlformats.org/officeDocument/2006/relationships/notesSlide" Target="../notesSlides/notesSlide20.xml"/><Relationship Id="rId16" Type="http://schemas.openxmlformats.org/officeDocument/2006/relationships/image" Target="../media/image33.png"/><Relationship Id="rId20" Type="http://schemas.openxmlformats.org/officeDocument/2006/relationships/image" Target="../media/image370.png"/><Relationship Id="rId1" Type="http://schemas.openxmlformats.org/officeDocument/2006/relationships/slideLayout" Target="../slideLayouts/slideLayout6.xml"/><Relationship Id="rId6" Type="http://schemas.openxmlformats.org/officeDocument/2006/relationships/image" Target="../media/image97.png"/><Relationship Id="rId11" Type="http://schemas.openxmlformats.org/officeDocument/2006/relationships/image" Target="../media/image92.png"/><Relationship Id="rId5" Type="http://schemas.openxmlformats.org/officeDocument/2006/relationships/image" Target="../media/image96.png"/><Relationship Id="rId15" Type="http://schemas.openxmlformats.org/officeDocument/2006/relationships/image" Target="../media/image320.png"/><Relationship Id="rId10" Type="http://schemas.openxmlformats.org/officeDocument/2006/relationships/image" Target="../media/image560.png"/><Relationship Id="rId19" Type="http://schemas.openxmlformats.org/officeDocument/2006/relationships/image" Target="../media/image360.png"/><Relationship Id="rId4" Type="http://schemas.openxmlformats.org/officeDocument/2006/relationships/image" Target="../media/image95.png"/><Relationship Id="rId9" Type="http://schemas.openxmlformats.org/officeDocument/2006/relationships/image" Target="../media/image98.png"/><Relationship Id="rId14" Type="http://schemas.openxmlformats.org/officeDocument/2006/relationships/image" Target="../media/image310.png"/></Relationships>
</file>

<file path=ppt/slides/_rels/slide21.xml.rels><?xml version="1.0" encoding="UTF-8" standalone="yes"?>
<Relationships xmlns="http://schemas.openxmlformats.org/package/2006/relationships"><Relationship Id="rId13" Type="http://schemas.openxmlformats.org/officeDocument/2006/relationships/image" Target="../media/image310.png"/><Relationship Id="rId18" Type="http://schemas.openxmlformats.org/officeDocument/2006/relationships/image" Target="../media/image360.png"/><Relationship Id="rId21" Type="http://schemas.openxmlformats.org/officeDocument/2006/relationships/image" Target="../media/image68.png"/><Relationship Id="rId17" Type="http://schemas.openxmlformats.org/officeDocument/2006/relationships/image" Target="../media/image350.png"/><Relationship Id="rId25" Type="http://schemas.openxmlformats.org/officeDocument/2006/relationships/image" Target="../media/image76.png"/><Relationship Id="rId2" Type="http://schemas.openxmlformats.org/officeDocument/2006/relationships/notesSlide" Target="../notesSlides/notesSlide21.xml"/><Relationship Id="rId16" Type="http://schemas.openxmlformats.org/officeDocument/2006/relationships/image" Target="../media/image340.png"/><Relationship Id="rId20" Type="http://schemas.openxmlformats.org/officeDocument/2006/relationships/image" Target="../media/image67.png"/><Relationship Id="rId1" Type="http://schemas.openxmlformats.org/officeDocument/2006/relationships/slideLayout" Target="../slideLayouts/slideLayout6.xml"/><Relationship Id="rId24" Type="http://schemas.openxmlformats.org/officeDocument/2006/relationships/image" Target="../media/image71.png"/><Relationship Id="rId15" Type="http://schemas.openxmlformats.org/officeDocument/2006/relationships/image" Target="../media/image33.png"/><Relationship Id="rId23" Type="http://schemas.openxmlformats.org/officeDocument/2006/relationships/image" Target="../media/image70.png"/><Relationship Id="rId19" Type="http://schemas.openxmlformats.org/officeDocument/2006/relationships/image" Target="../media/image370.png"/><Relationship Id="rId14" Type="http://schemas.openxmlformats.org/officeDocument/2006/relationships/image" Target="../media/image320.png"/><Relationship Id="rId22" Type="http://schemas.openxmlformats.org/officeDocument/2006/relationships/image" Target="../media/image69.png"/></Relationships>
</file>

<file path=ppt/slides/_rels/slide22.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320.png"/><Relationship Id="rId18" Type="http://schemas.openxmlformats.org/officeDocument/2006/relationships/image" Target="../media/image370.png"/><Relationship Id="rId3" Type="http://schemas.openxmlformats.org/officeDocument/2006/relationships/image" Target="../media/image58.tiff"/><Relationship Id="rId7" Type="http://schemas.openxmlformats.org/officeDocument/2006/relationships/image" Target="../media/image148.png"/><Relationship Id="rId12" Type="http://schemas.openxmlformats.org/officeDocument/2006/relationships/image" Target="../media/image310.png"/><Relationship Id="rId17" Type="http://schemas.openxmlformats.org/officeDocument/2006/relationships/image" Target="../media/image360.png"/><Relationship Id="rId2" Type="http://schemas.openxmlformats.org/officeDocument/2006/relationships/notesSlide" Target="../notesSlides/notesSlide22.xml"/><Relationship Id="rId16" Type="http://schemas.openxmlformats.org/officeDocument/2006/relationships/image" Target="../media/image350.png"/><Relationship Id="rId1" Type="http://schemas.openxmlformats.org/officeDocument/2006/relationships/slideLayout" Target="../slideLayouts/slideLayout6.xml"/><Relationship Id="rId6" Type="http://schemas.openxmlformats.org/officeDocument/2006/relationships/image" Target="../media/image147.png"/><Relationship Id="rId5" Type="http://schemas.openxmlformats.org/officeDocument/2006/relationships/image" Target="../media/image146.png"/><Relationship Id="rId15" Type="http://schemas.openxmlformats.org/officeDocument/2006/relationships/image" Target="../media/image340.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82.png"/><Relationship Id="rId1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59.tif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60.tiff"/><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65.tiff"/><Relationship Id="rId3" Type="http://schemas.openxmlformats.org/officeDocument/2006/relationships/image" Target="../media/image61.tiff"/><Relationship Id="rId7" Type="http://schemas.openxmlformats.org/officeDocument/2006/relationships/image" Target="../media/image130.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64.tiff"/><Relationship Id="rId11" Type="http://schemas.openxmlformats.org/officeDocument/2006/relationships/image" Target="../media/image134.png"/><Relationship Id="rId5" Type="http://schemas.openxmlformats.org/officeDocument/2006/relationships/image" Target="../media/image63.tiff"/><Relationship Id="rId10" Type="http://schemas.openxmlformats.org/officeDocument/2006/relationships/image" Target="../media/image133.png"/><Relationship Id="rId4" Type="http://schemas.openxmlformats.org/officeDocument/2006/relationships/image" Target="../media/image62.tiff"/><Relationship Id="rId9" Type="http://schemas.openxmlformats.org/officeDocument/2006/relationships/image" Target="../media/image132.png"/></Relationships>
</file>

<file path=ppt/slides/_rels/slide28.xml.rels><?xml version="1.0" encoding="UTF-8" standalone="yes"?>
<Relationships xmlns="http://schemas.openxmlformats.org/package/2006/relationships"><Relationship Id="rId8" Type="http://schemas.openxmlformats.org/officeDocument/2006/relationships/image" Target="../media/image1460.png"/><Relationship Id="rId3" Type="http://schemas.openxmlformats.org/officeDocument/2006/relationships/image" Target="../media/image141.png"/><Relationship Id="rId7" Type="http://schemas.openxmlformats.org/officeDocument/2006/relationships/image" Target="../media/image77.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6.tiff"/><Relationship Id="rId5" Type="http://schemas.openxmlformats.org/officeDocument/2006/relationships/image" Target="../media/image143.png"/><Relationship Id="rId4" Type="http://schemas.openxmlformats.org/officeDocument/2006/relationships/image" Target="../media/image142.png"/><Relationship Id="rId9" Type="http://schemas.openxmlformats.org/officeDocument/2006/relationships/image" Target="../media/image78.tiff"/></Relationships>
</file>

<file path=ppt/slides/_rels/slide29.xml.rels><?xml version="1.0" encoding="UTF-8" standalone="yes"?>
<Relationships xmlns="http://schemas.openxmlformats.org/package/2006/relationships"><Relationship Id="rId3" Type="http://schemas.openxmlformats.org/officeDocument/2006/relationships/image" Target="../media/image79.tiff"/><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81.tiff"/><Relationship Id="rId4" Type="http://schemas.openxmlformats.org/officeDocument/2006/relationships/image" Target="../media/image80.tiff"/></Relationships>
</file>

<file path=ppt/slides/_rels/slide30.xml.rels><?xml version="1.0" encoding="UTF-8" standalone="yes"?>
<Relationships xmlns="http://schemas.openxmlformats.org/package/2006/relationships"><Relationship Id="rId3" Type="http://schemas.openxmlformats.org/officeDocument/2006/relationships/image" Target="../media/image82.tiff"/><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83.tiff"/></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85.tiff"/><Relationship Id="rId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938992"/>
          </a:xfrm>
          <a:prstGeom prst="rect">
            <a:avLst/>
          </a:prstGeom>
          <a:noFill/>
        </p:spPr>
        <p:txBody>
          <a:bodyPr wrap="square" rtlCol="0">
            <a:spAutoFit/>
          </a:bodyPr>
          <a:lstStyle/>
          <a:p>
            <a:pPr algn="ctr"/>
            <a:r>
              <a:rPr lang="en-US" sz="6000" b="1" dirty="0">
                <a:solidFill>
                  <a:schemeClr val="bg1"/>
                </a:solidFill>
              </a:rPr>
              <a:t>11. Quantum Machine Learning</a:t>
            </a:r>
          </a:p>
          <a:p>
            <a:pPr algn="ctr"/>
            <a:r>
              <a:rPr lang="en-US" sz="6000" b="1" dirty="0">
                <a:solidFill>
                  <a:schemeClr val="bg1"/>
                </a:solidFill>
              </a:rPr>
              <a:t>&amp; Quantum AI</a:t>
            </a:r>
          </a:p>
        </p:txBody>
      </p:sp>
      <p:sp>
        <p:nvSpPr>
          <p:cNvPr id="8" name="TextBox 7">
            <a:extLst>
              <a:ext uri="{FF2B5EF4-FFF2-40B4-BE49-F238E27FC236}">
                <a16:creationId xmlns:a16="http://schemas.microsoft.com/office/drawing/2014/main" id="{F74C9EAC-8461-1046-B2A9-937ECC47615A}"/>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BB57F99D-4C91-0F4F-B705-04A651343404}"/>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1634406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1217E2-0FA0-BB44-8757-150FA73F82E1}"/>
              </a:ext>
            </a:extLst>
          </p:cNvPr>
          <p:cNvSpPr>
            <a:spLocks noGrp="1"/>
          </p:cNvSpPr>
          <p:nvPr>
            <p:ph type="sldNum" sz="quarter" idx="12"/>
          </p:nvPr>
        </p:nvSpPr>
        <p:spPr/>
        <p:txBody>
          <a:bodyPr/>
          <a:lstStyle/>
          <a:p>
            <a:fld id="{F9755F1A-B9A0-4847-95B6-A26175A266D6}" type="slidenum">
              <a:rPr lang="en-US" smtClean="0"/>
              <a:t>2</a:t>
            </a:fld>
            <a:endParaRPr lang="en-US" dirty="0"/>
          </a:p>
        </p:txBody>
      </p:sp>
      <p:sp>
        <p:nvSpPr>
          <p:cNvPr id="3" name="Title 2">
            <a:extLst>
              <a:ext uri="{FF2B5EF4-FFF2-40B4-BE49-F238E27FC236}">
                <a16:creationId xmlns:a16="http://schemas.microsoft.com/office/drawing/2014/main" id="{A13D0C75-261A-1343-AF25-F59CDD4FECF6}"/>
              </a:ext>
            </a:extLst>
          </p:cNvPr>
          <p:cNvSpPr>
            <a:spLocks noGrp="1"/>
          </p:cNvSpPr>
          <p:nvPr>
            <p:ph type="title"/>
          </p:nvPr>
        </p:nvSpPr>
        <p:spPr/>
        <p:txBody>
          <a:bodyPr/>
          <a:lstStyle/>
          <a:p>
            <a:r>
              <a:rPr lang="en-ZA" dirty="0"/>
              <a:t>A Brief History of AI and Machine Learning</a:t>
            </a:r>
            <a:endParaRPr lang="en-US" dirty="0"/>
          </a:p>
        </p:txBody>
      </p:sp>
      <p:graphicFrame>
        <p:nvGraphicFramePr>
          <p:cNvPr id="4" name="Diagram 3">
            <a:extLst>
              <a:ext uri="{FF2B5EF4-FFF2-40B4-BE49-F238E27FC236}">
                <a16:creationId xmlns:a16="http://schemas.microsoft.com/office/drawing/2014/main" id="{533EFB98-324D-854C-9D08-D68C8BB22881}"/>
              </a:ext>
            </a:extLst>
          </p:cNvPr>
          <p:cNvGraphicFramePr/>
          <p:nvPr>
            <p:extLst>
              <p:ext uri="{D42A27DB-BD31-4B8C-83A1-F6EECF244321}">
                <p14:modId xmlns:p14="http://schemas.microsoft.com/office/powerpoint/2010/main" val="1745282350"/>
              </p:ext>
            </p:extLst>
          </p:nvPr>
        </p:nvGraphicFramePr>
        <p:xfrm>
          <a:off x="304799" y="858034"/>
          <a:ext cx="6526307" cy="59999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610F5CC5-6766-E04F-A818-30BF767E3E55}"/>
              </a:ext>
            </a:extLst>
          </p:cNvPr>
          <p:cNvSpPr txBox="1"/>
          <p:nvPr/>
        </p:nvSpPr>
        <p:spPr>
          <a:xfrm rot="642647">
            <a:off x="7998896" y="5543878"/>
            <a:ext cx="2332690" cy="461665"/>
          </a:xfrm>
          <a:prstGeom prst="rect">
            <a:avLst/>
          </a:prstGeom>
          <a:noFill/>
        </p:spPr>
        <p:txBody>
          <a:bodyPr wrap="none" rtlCol="0">
            <a:spAutoFit/>
          </a:bodyPr>
          <a:lstStyle/>
          <a:p>
            <a:r>
              <a:rPr lang="en-US" sz="2400" dirty="0"/>
              <a:t>Dartmouth 1956.</a:t>
            </a:r>
          </a:p>
        </p:txBody>
      </p:sp>
      <p:pic>
        <p:nvPicPr>
          <p:cNvPr id="7" name="Picture 6">
            <a:extLst>
              <a:ext uri="{FF2B5EF4-FFF2-40B4-BE49-F238E27FC236}">
                <a16:creationId xmlns:a16="http://schemas.microsoft.com/office/drawing/2014/main" id="{B1617CB3-BDE1-A845-A596-59C4E50A9946}"/>
              </a:ext>
            </a:extLst>
          </p:cNvPr>
          <p:cNvPicPr>
            <a:picLocks noChangeAspect="1"/>
          </p:cNvPicPr>
          <p:nvPr/>
        </p:nvPicPr>
        <p:blipFill>
          <a:blip r:embed="rId8"/>
          <a:stretch>
            <a:fillRect/>
          </a:stretch>
        </p:blipFill>
        <p:spPr>
          <a:xfrm>
            <a:off x="6243570" y="1559841"/>
            <a:ext cx="5843342" cy="3895561"/>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764375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95A0-8474-2D4A-9D80-2005D79BCCEA}"/>
              </a:ext>
            </a:extLst>
          </p:cNvPr>
          <p:cNvSpPr>
            <a:spLocks noGrp="1"/>
          </p:cNvSpPr>
          <p:nvPr>
            <p:ph type="title"/>
          </p:nvPr>
        </p:nvSpPr>
        <p:spPr/>
        <p:txBody>
          <a:bodyPr/>
          <a:lstStyle/>
          <a:p>
            <a:r>
              <a:rPr lang="en-ZA" dirty="0"/>
              <a:t>Defining AI, Machine Learning, and Quantum AI</a:t>
            </a:r>
            <a:endParaRPr lang="en-US" dirty="0"/>
          </a:p>
        </p:txBody>
      </p:sp>
      <p:sp>
        <p:nvSpPr>
          <p:cNvPr id="3" name="Slide Number Placeholder 2">
            <a:extLst>
              <a:ext uri="{FF2B5EF4-FFF2-40B4-BE49-F238E27FC236}">
                <a16:creationId xmlns:a16="http://schemas.microsoft.com/office/drawing/2014/main" id="{62C2D02F-B87A-4949-8B87-6C745A2D4C54}"/>
              </a:ext>
            </a:extLst>
          </p:cNvPr>
          <p:cNvSpPr>
            <a:spLocks noGrp="1"/>
          </p:cNvSpPr>
          <p:nvPr>
            <p:ph type="sldNum" sz="quarter" idx="12"/>
          </p:nvPr>
        </p:nvSpPr>
        <p:spPr/>
        <p:txBody>
          <a:bodyPr/>
          <a:lstStyle/>
          <a:p>
            <a:fld id="{591A223C-FA10-BC46-A853-03BA373D023C}" type="slidenum">
              <a:rPr lang="en-US" smtClean="0"/>
              <a:t>3</a:t>
            </a:fld>
            <a:endParaRPr lang="en-US"/>
          </a:p>
        </p:txBody>
      </p:sp>
      <p:sp>
        <p:nvSpPr>
          <p:cNvPr id="4" name="Rectangle 3">
            <a:extLst>
              <a:ext uri="{FF2B5EF4-FFF2-40B4-BE49-F238E27FC236}">
                <a16:creationId xmlns:a16="http://schemas.microsoft.com/office/drawing/2014/main" id="{57C092DD-E315-4B44-8904-4F6A2F759699}"/>
              </a:ext>
            </a:extLst>
          </p:cNvPr>
          <p:cNvSpPr/>
          <p:nvPr/>
        </p:nvSpPr>
        <p:spPr>
          <a:xfrm>
            <a:off x="3629191" y="2965714"/>
            <a:ext cx="6419767" cy="1384995"/>
          </a:xfrm>
          <a:prstGeom prst="rect">
            <a:avLst/>
          </a:prstGeom>
        </p:spPr>
        <p:txBody>
          <a:bodyPr wrap="square">
            <a:spAutoFit/>
          </a:bodyPr>
          <a:lstStyle/>
          <a:p>
            <a:r>
              <a:rPr lang="en-ZA" sz="2800" i="1" dirty="0"/>
              <a:t>Machine learning is a field of study that gives computers the ability to learn</a:t>
            </a:r>
            <a:r>
              <a:rPr lang="en-ZA" sz="2800" dirty="0"/>
              <a:t> without being explicitly programmed</a:t>
            </a:r>
            <a:r>
              <a:rPr lang="en-US" sz="2800" dirty="0"/>
              <a:t>.</a:t>
            </a:r>
          </a:p>
        </p:txBody>
      </p:sp>
      <p:sp>
        <p:nvSpPr>
          <p:cNvPr id="7" name="Rectangle 6">
            <a:extLst>
              <a:ext uri="{FF2B5EF4-FFF2-40B4-BE49-F238E27FC236}">
                <a16:creationId xmlns:a16="http://schemas.microsoft.com/office/drawing/2014/main" id="{2C0E9AFC-89F3-7846-A939-8EE39A34596E}"/>
              </a:ext>
            </a:extLst>
          </p:cNvPr>
          <p:cNvSpPr/>
          <p:nvPr/>
        </p:nvSpPr>
        <p:spPr>
          <a:xfrm>
            <a:off x="7019226" y="4485515"/>
            <a:ext cx="2869696" cy="461665"/>
          </a:xfrm>
          <a:prstGeom prst="rect">
            <a:avLst/>
          </a:prstGeom>
        </p:spPr>
        <p:txBody>
          <a:bodyPr wrap="none">
            <a:spAutoFit/>
          </a:bodyPr>
          <a:lstStyle/>
          <a:p>
            <a:r>
              <a:rPr lang="en-ZA" sz="2400" dirty="0"/>
              <a:t>Arthur Samuel</a:t>
            </a:r>
            <a:r>
              <a:rPr lang="en-US" sz="2400" i="1" dirty="0"/>
              <a:t> (1959)</a:t>
            </a:r>
          </a:p>
        </p:txBody>
      </p:sp>
      <p:sp>
        <p:nvSpPr>
          <p:cNvPr id="9" name="Rectangle 8">
            <a:extLst>
              <a:ext uri="{FF2B5EF4-FFF2-40B4-BE49-F238E27FC236}">
                <a16:creationId xmlns:a16="http://schemas.microsoft.com/office/drawing/2014/main" id="{C3635148-BBF1-074E-B0C7-397DCF256819}"/>
              </a:ext>
            </a:extLst>
          </p:cNvPr>
          <p:cNvSpPr/>
          <p:nvPr/>
        </p:nvSpPr>
        <p:spPr>
          <a:xfrm>
            <a:off x="1624019" y="5257077"/>
            <a:ext cx="10217461" cy="1200329"/>
          </a:xfrm>
          <a:prstGeom prst="rect">
            <a:avLst/>
          </a:prstGeom>
          <a:solidFill>
            <a:srgbClr val="FFF2E7"/>
          </a:solidFill>
        </p:spPr>
        <p:txBody>
          <a:bodyPr wrap="square">
            <a:spAutoFit/>
          </a:bodyPr>
          <a:lstStyle/>
          <a:p>
            <a:pPr algn="just"/>
            <a:r>
              <a:rPr lang="en-ZA" sz="2400" dirty="0">
                <a:latin typeface="+mj-lt"/>
              </a:rPr>
              <a:t>Quantum artificial intelligence (QAI) is a research field focused on developing artificial intelligence and machine learning methods that use the power of quantum computing.</a:t>
            </a:r>
            <a:endParaRPr lang="en-US" sz="2400" dirty="0">
              <a:latin typeface="+mj-lt"/>
            </a:endParaRPr>
          </a:p>
        </p:txBody>
      </p:sp>
      <p:sp>
        <p:nvSpPr>
          <p:cNvPr id="6" name="TextBox 5">
            <a:extLst>
              <a:ext uri="{FF2B5EF4-FFF2-40B4-BE49-F238E27FC236}">
                <a16:creationId xmlns:a16="http://schemas.microsoft.com/office/drawing/2014/main" id="{FC61B06F-7C59-BB4D-BBBE-E2DED865F7BE}"/>
              </a:ext>
            </a:extLst>
          </p:cNvPr>
          <p:cNvSpPr txBox="1"/>
          <p:nvPr/>
        </p:nvSpPr>
        <p:spPr>
          <a:xfrm>
            <a:off x="13230808" y="4215579"/>
            <a:ext cx="184731" cy="461665"/>
          </a:xfrm>
          <a:prstGeom prst="rect">
            <a:avLst/>
          </a:prstGeom>
          <a:noFill/>
        </p:spPr>
        <p:txBody>
          <a:bodyPr wrap="none" rtlCol="0">
            <a:spAutoFit/>
          </a:bodyPr>
          <a:lstStyle/>
          <a:p>
            <a:endParaRPr lang="en-US" sz="2400" dirty="0"/>
          </a:p>
        </p:txBody>
      </p:sp>
      <p:sp>
        <p:nvSpPr>
          <p:cNvPr id="8" name="TextBox 7">
            <a:extLst>
              <a:ext uri="{FF2B5EF4-FFF2-40B4-BE49-F238E27FC236}">
                <a16:creationId xmlns:a16="http://schemas.microsoft.com/office/drawing/2014/main" id="{A1E376BE-F72B-2741-88C8-626E8C912AF6}"/>
              </a:ext>
            </a:extLst>
          </p:cNvPr>
          <p:cNvSpPr txBox="1"/>
          <p:nvPr/>
        </p:nvSpPr>
        <p:spPr>
          <a:xfrm>
            <a:off x="7141082" y="5705636"/>
            <a:ext cx="184731" cy="369332"/>
          </a:xfrm>
          <a:prstGeom prst="rect">
            <a:avLst/>
          </a:prstGeom>
          <a:noFill/>
        </p:spPr>
        <p:txBody>
          <a:bodyPr wrap="none" rtlCol="0">
            <a:spAutoFit/>
          </a:bodyPr>
          <a:lstStyle/>
          <a:p>
            <a:endParaRPr lang="en-US" dirty="0"/>
          </a:p>
        </p:txBody>
      </p:sp>
      <p:pic>
        <p:nvPicPr>
          <p:cNvPr id="13" name="Picture 12">
            <a:extLst>
              <a:ext uri="{FF2B5EF4-FFF2-40B4-BE49-F238E27FC236}">
                <a16:creationId xmlns:a16="http://schemas.microsoft.com/office/drawing/2014/main" id="{33006894-F6AC-6945-9CCC-EE2FC8EAB93B}"/>
              </a:ext>
            </a:extLst>
          </p:cNvPr>
          <p:cNvPicPr>
            <a:picLocks noChangeAspect="1"/>
          </p:cNvPicPr>
          <p:nvPr/>
        </p:nvPicPr>
        <p:blipFill>
          <a:blip r:embed="rId3"/>
          <a:stretch>
            <a:fillRect/>
          </a:stretch>
        </p:blipFill>
        <p:spPr>
          <a:xfrm>
            <a:off x="143069" y="3676478"/>
            <a:ext cx="1234819" cy="2855520"/>
          </a:xfrm>
          <a:prstGeom prst="rect">
            <a:avLst/>
          </a:prstGeom>
        </p:spPr>
      </p:pic>
      <p:sp>
        <p:nvSpPr>
          <p:cNvPr id="22" name="TextBox 21">
            <a:extLst>
              <a:ext uri="{FF2B5EF4-FFF2-40B4-BE49-F238E27FC236}">
                <a16:creationId xmlns:a16="http://schemas.microsoft.com/office/drawing/2014/main" id="{3D89F177-31DC-FB4A-A0B8-33ED4B4CCDF3}"/>
              </a:ext>
            </a:extLst>
          </p:cNvPr>
          <p:cNvSpPr txBox="1"/>
          <p:nvPr/>
        </p:nvSpPr>
        <p:spPr>
          <a:xfrm>
            <a:off x="2356631" y="2138410"/>
            <a:ext cx="2737352" cy="461665"/>
          </a:xfrm>
          <a:prstGeom prst="rect">
            <a:avLst/>
          </a:prstGeom>
          <a:noFill/>
        </p:spPr>
        <p:txBody>
          <a:bodyPr wrap="square" rtlCol="0">
            <a:spAutoFit/>
          </a:bodyPr>
          <a:lstStyle/>
          <a:p>
            <a:r>
              <a:rPr lang="en-ZA" sz="2400" dirty="0"/>
              <a:t>John McCarthy</a:t>
            </a:r>
            <a:r>
              <a:rPr lang="en-US" sz="2400" i="1" dirty="0"/>
              <a:t> 1955</a:t>
            </a:r>
          </a:p>
        </p:txBody>
      </p:sp>
      <p:sp>
        <p:nvSpPr>
          <p:cNvPr id="23" name="TextBox 22">
            <a:extLst>
              <a:ext uri="{FF2B5EF4-FFF2-40B4-BE49-F238E27FC236}">
                <a16:creationId xmlns:a16="http://schemas.microsoft.com/office/drawing/2014/main" id="{1A6B6B96-FD75-8740-977D-DCA3628B90B9}"/>
              </a:ext>
            </a:extLst>
          </p:cNvPr>
          <p:cNvSpPr txBox="1"/>
          <p:nvPr/>
        </p:nvSpPr>
        <p:spPr>
          <a:xfrm>
            <a:off x="2356632" y="1182299"/>
            <a:ext cx="7692326" cy="954107"/>
          </a:xfrm>
          <a:prstGeom prst="rect">
            <a:avLst/>
          </a:prstGeom>
          <a:noFill/>
        </p:spPr>
        <p:txBody>
          <a:bodyPr wrap="square" rtlCol="0">
            <a:spAutoFit/>
          </a:bodyPr>
          <a:lstStyle/>
          <a:p>
            <a:r>
              <a:rPr lang="en-US" sz="2800" i="1" dirty="0"/>
              <a:t>Artificial Intelligence is the science and engineering of making intelligent machines.</a:t>
            </a:r>
          </a:p>
        </p:txBody>
      </p:sp>
      <p:pic>
        <p:nvPicPr>
          <p:cNvPr id="10" name="Picture 9">
            <a:extLst>
              <a:ext uri="{FF2B5EF4-FFF2-40B4-BE49-F238E27FC236}">
                <a16:creationId xmlns:a16="http://schemas.microsoft.com/office/drawing/2014/main" id="{D60EBB1A-6091-214F-BA91-F20F3BF1065B}"/>
              </a:ext>
            </a:extLst>
          </p:cNvPr>
          <p:cNvPicPr>
            <a:picLocks noChangeAspect="1"/>
          </p:cNvPicPr>
          <p:nvPr/>
        </p:nvPicPr>
        <p:blipFill>
          <a:blip r:embed="rId4"/>
          <a:stretch>
            <a:fillRect/>
          </a:stretch>
        </p:blipFill>
        <p:spPr>
          <a:xfrm>
            <a:off x="254823" y="928688"/>
            <a:ext cx="1856402" cy="2635945"/>
          </a:xfrm>
          <a:prstGeom prst="rect">
            <a:avLst/>
          </a:prstGeom>
        </p:spPr>
      </p:pic>
      <p:pic>
        <p:nvPicPr>
          <p:cNvPr id="11" name="Picture 10">
            <a:extLst>
              <a:ext uri="{FF2B5EF4-FFF2-40B4-BE49-F238E27FC236}">
                <a16:creationId xmlns:a16="http://schemas.microsoft.com/office/drawing/2014/main" id="{28555E36-5A8C-0B49-9C8E-565621E7288B}"/>
              </a:ext>
            </a:extLst>
          </p:cNvPr>
          <p:cNvPicPr>
            <a:picLocks noChangeAspect="1"/>
          </p:cNvPicPr>
          <p:nvPr/>
        </p:nvPicPr>
        <p:blipFill>
          <a:blip r:embed="rId5"/>
          <a:stretch>
            <a:fillRect/>
          </a:stretch>
        </p:blipFill>
        <p:spPr>
          <a:xfrm>
            <a:off x="9987839" y="2470301"/>
            <a:ext cx="2030882" cy="2717098"/>
          </a:xfrm>
          <a:prstGeom prst="rect">
            <a:avLst/>
          </a:prstGeom>
        </p:spPr>
      </p:pic>
    </p:spTree>
    <p:extLst>
      <p:ext uri="{BB962C8B-B14F-4D97-AF65-F5344CB8AC3E}">
        <p14:creationId xmlns:p14="http://schemas.microsoft.com/office/powerpoint/2010/main" val="106081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A9D64-B38B-B842-A6C7-409E11E6F72A}"/>
              </a:ext>
            </a:extLst>
          </p:cNvPr>
          <p:cNvSpPr>
            <a:spLocks noGrp="1"/>
          </p:cNvSpPr>
          <p:nvPr>
            <p:ph type="title"/>
          </p:nvPr>
        </p:nvSpPr>
        <p:spPr/>
        <p:txBody>
          <a:bodyPr/>
          <a:lstStyle/>
          <a:p>
            <a:r>
              <a:rPr lang="en-ZA" b="1" dirty="0"/>
              <a:t>Artificial Intelligence, Machine Learning, and Deep Learning</a:t>
            </a:r>
            <a:r>
              <a:rPr lang="en-ZA" dirty="0"/>
              <a:t> </a:t>
            </a:r>
            <a:endParaRPr lang="en-US" dirty="0"/>
          </a:p>
        </p:txBody>
      </p:sp>
      <p:sp>
        <p:nvSpPr>
          <p:cNvPr id="3" name="Slide Number Placeholder 2">
            <a:extLst>
              <a:ext uri="{FF2B5EF4-FFF2-40B4-BE49-F238E27FC236}">
                <a16:creationId xmlns:a16="http://schemas.microsoft.com/office/drawing/2014/main" id="{2F7B5907-2C30-634A-805C-C7FDE5230CF1}"/>
              </a:ext>
            </a:extLst>
          </p:cNvPr>
          <p:cNvSpPr>
            <a:spLocks noGrp="1"/>
          </p:cNvSpPr>
          <p:nvPr>
            <p:ph type="sldNum" sz="quarter" idx="12"/>
          </p:nvPr>
        </p:nvSpPr>
        <p:spPr/>
        <p:txBody>
          <a:bodyPr/>
          <a:lstStyle/>
          <a:p>
            <a:fld id="{591A223C-FA10-BC46-A853-03BA373D023C}" type="slidenum">
              <a:rPr lang="en-US" smtClean="0"/>
              <a:t>4</a:t>
            </a:fld>
            <a:endParaRPr lang="en-US"/>
          </a:p>
        </p:txBody>
      </p:sp>
      <p:graphicFrame>
        <p:nvGraphicFramePr>
          <p:cNvPr id="5" name="Diagram 4">
            <a:extLst>
              <a:ext uri="{FF2B5EF4-FFF2-40B4-BE49-F238E27FC236}">
                <a16:creationId xmlns:a16="http://schemas.microsoft.com/office/drawing/2014/main" id="{5F45C18A-ED53-C547-81CE-E4F8EB9BF0C4}"/>
              </a:ext>
            </a:extLst>
          </p:cNvPr>
          <p:cNvGraphicFramePr/>
          <p:nvPr/>
        </p:nvGraphicFramePr>
        <p:xfrm>
          <a:off x="0" y="1256770"/>
          <a:ext cx="1151351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B874EF8C-E742-CF45-BE98-B2BF5B238AAD}"/>
              </a:ext>
            </a:extLst>
          </p:cNvPr>
          <p:cNvSpPr txBox="1"/>
          <p:nvPr/>
        </p:nvSpPr>
        <p:spPr>
          <a:xfrm>
            <a:off x="3946038" y="1732527"/>
            <a:ext cx="3621440" cy="861774"/>
          </a:xfrm>
          <a:prstGeom prst="rect">
            <a:avLst/>
          </a:prstGeom>
          <a:noFill/>
        </p:spPr>
        <p:txBody>
          <a:bodyPr wrap="none" rtlCol="0">
            <a:spAutoFit/>
          </a:bodyPr>
          <a:lstStyle/>
          <a:p>
            <a:pPr algn="ctr"/>
            <a:r>
              <a:rPr lang="en-ZA" sz="2600" dirty="0"/>
              <a:t>ARTIFICIAL INTELLIGENCE</a:t>
            </a:r>
            <a:br>
              <a:rPr lang="en-ZA" sz="2600" dirty="0"/>
            </a:br>
            <a:r>
              <a:rPr lang="en-ZA" sz="2400" dirty="0"/>
              <a:t>(Performs intelligent tasks)</a:t>
            </a:r>
            <a:endParaRPr lang="en-US" sz="2400" dirty="0"/>
          </a:p>
        </p:txBody>
      </p:sp>
      <p:sp>
        <p:nvSpPr>
          <p:cNvPr id="9" name="TextBox 8">
            <a:extLst>
              <a:ext uri="{FF2B5EF4-FFF2-40B4-BE49-F238E27FC236}">
                <a16:creationId xmlns:a16="http://schemas.microsoft.com/office/drawing/2014/main" id="{DD08B016-5633-7040-8DA2-E3260EF98096}"/>
              </a:ext>
            </a:extLst>
          </p:cNvPr>
          <p:cNvSpPr txBox="1"/>
          <p:nvPr/>
        </p:nvSpPr>
        <p:spPr>
          <a:xfrm>
            <a:off x="4267216" y="3042773"/>
            <a:ext cx="2979085" cy="861774"/>
          </a:xfrm>
          <a:prstGeom prst="rect">
            <a:avLst/>
          </a:prstGeom>
          <a:noFill/>
        </p:spPr>
        <p:txBody>
          <a:bodyPr wrap="none" rtlCol="0">
            <a:spAutoFit/>
          </a:bodyPr>
          <a:lstStyle/>
          <a:p>
            <a:pPr algn="ctr"/>
            <a:r>
              <a:rPr lang="en-ZA" sz="2600" dirty="0"/>
              <a:t>MACHINE LEARNING</a:t>
            </a:r>
            <a:br>
              <a:rPr lang="en-ZA" sz="2600" dirty="0"/>
            </a:br>
            <a:r>
              <a:rPr lang="en-ZA" sz="2400" dirty="0"/>
              <a:t>(Learns from data)</a:t>
            </a:r>
            <a:endParaRPr lang="en-US" sz="2400" dirty="0"/>
          </a:p>
        </p:txBody>
      </p:sp>
      <p:sp>
        <p:nvSpPr>
          <p:cNvPr id="10" name="TextBox 9">
            <a:extLst>
              <a:ext uri="{FF2B5EF4-FFF2-40B4-BE49-F238E27FC236}">
                <a16:creationId xmlns:a16="http://schemas.microsoft.com/office/drawing/2014/main" id="{79146A8E-8500-DF4D-A51C-6E281B9E891D}"/>
              </a:ext>
            </a:extLst>
          </p:cNvPr>
          <p:cNvSpPr txBox="1"/>
          <p:nvPr/>
        </p:nvSpPr>
        <p:spPr>
          <a:xfrm>
            <a:off x="4445534" y="4961921"/>
            <a:ext cx="2622449" cy="1292662"/>
          </a:xfrm>
          <a:prstGeom prst="rect">
            <a:avLst/>
          </a:prstGeom>
          <a:noFill/>
        </p:spPr>
        <p:txBody>
          <a:bodyPr wrap="none" rtlCol="0">
            <a:spAutoFit/>
          </a:bodyPr>
          <a:lstStyle/>
          <a:p>
            <a:pPr algn="ctr"/>
            <a:r>
              <a:rPr lang="en-ZA" sz="2600" dirty="0"/>
              <a:t>DEEP LEARNING </a:t>
            </a:r>
            <a:br>
              <a:rPr lang="en-ZA" sz="2600" dirty="0"/>
            </a:br>
            <a:r>
              <a:rPr lang="en-ZA" sz="2600" dirty="0"/>
              <a:t>(Neural networks)</a:t>
            </a:r>
            <a:endParaRPr lang="en-US" sz="2600" dirty="0"/>
          </a:p>
          <a:p>
            <a:endParaRPr lang="en-US" sz="2600" dirty="0"/>
          </a:p>
        </p:txBody>
      </p:sp>
    </p:spTree>
    <p:extLst>
      <p:ext uri="{BB962C8B-B14F-4D97-AF65-F5344CB8AC3E}">
        <p14:creationId xmlns:p14="http://schemas.microsoft.com/office/powerpoint/2010/main" val="3121462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039E7-D7F1-5543-A15A-CBDC7C80B86C}"/>
              </a:ext>
            </a:extLst>
          </p:cNvPr>
          <p:cNvSpPr>
            <a:spLocks noGrp="1"/>
          </p:cNvSpPr>
          <p:nvPr>
            <p:ph type="title"/>
          </p:nvPr>
        </p:nvSpPr>
        <p:spPr/>
        <p:txBody>
          <a:bodyPr/>
          <a:lstStyle/>
          <a:p>
            <a:r>
              <a:rPr lang="en-US" dirty="0"/>
              <a:t>Learning From Data</a:t>
            </a:r>
          </a:p>
        </p:txBody>
      </p:sp>
      <p:sp>
        <p:nvSpPr>
          <p:cNvPr id="3" name="Slide Number Placeholder 2">
            <a:extLst>
              <a:ext uri="{FF2B5EF4-FFF2-40B4-BE49-F238E27FC236}">
                <a16:creationId xmlns:a16="http://schemas.microsoft.com/office/drawing/2014/main" id="{4836D4A6-37C2-3043-B970-984077A7C6D8}"/>
              </a:ext>
            </a:extLst>
          </p:cNvPr>
          <p:cNvSpPr>
            <a:spLocks noGrp="1"/>
          </p:cNvSpPr>
          <p:nvPr>
            <p:ph type="sldNum" sz="quarter" idx="12"/>
          </p:nvPr>
        </p:nvSpPr>
        <p:spPr/>
        <p:txBody>
          <a:bodyPr/>
          <a:lstStyle/>
          <a:p>
            <a:fld id="{591A223C-FA10-BC46-A853-03BA373D023C}" type="slidenum">
              <a:rPr lang="en-US" smtClean="0"/>
              <a:t>5</a:t>
            </a:fld>
            <a:endParaRPr lang="en-US"/>
          </a:p>
        </p:txBody>
      </p:sp>
      <p:pic>
        <p:nvPicPr>
          <p:cNvPr id="4" name="Picture 3">
            <a:extLst>
              <a:ext uri="{FF2B5EF4-FFF2-40B4-BE49-F238E27FC236}">
                <a16:creationId xmlns:a16="http://schemas.microsoft.com/office/drawing/2014/main" id="{E31A01CC-ADCF-664A-853F-EE639F4642E5}"/>
              </a:ext>
            </a:extLst>
          </p:cNvPr>
          <p:cNvPicPr>
            <a:picLocks noChangeAspect="1"/>
          </p:cNvPicPr>
          <p:nvPr/>
        </p:nvPicPr>
        <p:blipFill>
          <a:blip r:embed="rId3"/>
          <a:stretch>
            <a:fillRect/>
          </a:stretch>
        </p:blipFill>
        <p:spPr>
          <a:xfrm>
            <a:off x="419098" y="2393012"/>
            <a:ext cx="765340" cy="9812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B974775A-22CC-4A43-A690-8E021C9A301A}"/>
              </a:ext>
            </a:extLst>
          </p:cNvPr>
          <p:cNvPicPr>
            <a:picLocks noChangeAspect="1"/>
          </p:cNvPicPr>
          <p:nvPr/>
        </p:nvPicPr>
        <p:blipFill>
          <a:blip r:embed="rId4"/>
          <a:stretch>
            <a:fillRect/>
          </a:stretch>
        </p:blipFill>
        <p:spPr>
          <a:xfrm>
            <a:off x="2612769" y="2393569"/>
            <a:ext cx="1130872" cy="9800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445B647F-63E1-1F42-BCAC-616D509DFC54}"/>
              </a:ext>
            </a:extLst>
          </p:cNvPr>
          <p:cNvPicPr>
            <a:picLocks noChangeAspect="1"/>
          </p:cNvPicPr>
          <p:nvPr/>
        </p:nvPicPr>
        <p:blipFill>
          <a:blip r:embed="rId5"/>
          <a:stretch>
            <a:fillRect/>
          </a:stretch>
        </p:blipFill>
        <p:spPr>
          <a:xfrm flipH="1">
            <a:off x="3943088" y="2343878"/>
            <a:ext cx="941255" cy="10292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0E093DD9-0633-DD42-ACD6-F78D6872EE05}"/>
              </a:ext>
            </a:extLst>
          </p:cNvPr>
          <p:cNvPicPr>
            <a:picLocks noChangeAspect="1"/>
          </p:cNvPicPr>
          <p:nvPr/>
        </p:nvPicPr>
        <p:blipFill>
          <a:blip r:embed="rId6"/>
          <a:stretch>
            <a:fillRect/>
          </a:stretch>
        </p:blipFill>
        <p:spPr>
          <a:xfrm>
            <a:off x="1382584" y="2511348"/>
            <a:ext cx="1032039" cy="8617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4DFF7B6B-1500-C646-84E6-5BFC99B67A7D}"/>
              </a:ext>
            </a:extLst>
          </p:cNvPr>
          <p:cNvSpPr txBox="1"/>
          <p:nvPr/>
        </p:nvSpPr>
        <p:spPr>
          <a:xfrm>
            <a:off x="459601" y="3373101"/>
            <a:ext cx="465961" cy="369332"/>
          </a:xfrm>
          <a:prstGeom prst="rect">
            <a:avLst/>
          </a:prstGeom>
          <a:noFill/>
        </p:spPr>
        <p:txBody>
          <a:bodyPr wrap="none" rtlCol="0">
            <a:spAutoFit/>
          </a:bodyPr>
          <a:lstStyle/>
          <a:p>
            <a:r>
              <a:rPr lang="en-US" dirty="0"/>
              <a:t>cat</a:t>
            </a:r>
          </a:p>
        </p:txBody>
      </p:sp>
      <p:sp>
        <p:nvSpPr>
          <p:cNvPr id="10" name="TextBox 9">
            <a:extLst>
              <a:ext uri="{FF2B5EF4-FFF2-40B4-BE49-F238E27FC236}">
                <a16:creationId xmlns:a16="http://schemas.microsoft.com/office/drawing/2014/main" id="{5B38626D-AFC7-884D-AA96-8723D43D51F5}"/>
              </a:ext>
            </a:extLst>
          </p:cNvPr>
          <p:cNvSpPr txBox="1"/>
          <p:nvPr/>
        </p:nvSpPr>
        <p:spPr>
          <a:xfrm>
            <a:off x="2882277" y="3373101"/>
            <a:ext cx="537327" cy="369332"/>
          </a:xfrm>
          <a:prstGeom prst="rect">
            <a:avLst/>
          </a:prstGeom>
          <a:noFill/>
        </p:spPr>
        <p:txBody>
          <a:bodyPr wrap="none" rtlCol="0">
            <a:spAutoFit/>
          </a:bodyPr>
          <a:lstStyle/>
          <a:p>
            <a:r>
              <a:rPr lang="en-US" dirty="0"/>
              <a:t>dog</a:t>
            </a:r>
          </a:p>
        </p:txBody>
      </p:sp>
      <p:sp>
        <p:nvSpPr>
          <p:cNvPr id="11" name="TextBox 10">
            <a:extLst>
              <a:ext uri="{FF2B5EF4-FFF2-40B4-BE49-F238E27FC236}">
                <a16:creationId xmlns:a16="http://schemas.microsoft.com/office/drawing/2014/main" id="{D0A7EC95-9B8C-7B4E-8A6A-21567B0547AD}"/>
              </a:ext>
            </a:extLst>
          </p:cNvPr>
          <p:cNvSpPr txBox="1"/>
          <p:nvPr/>
        </p:nvSpPr>
        <p:spPr>
          <a:xfrm>
            <a:off x="4145051" y="3353917"/>
            <a:ext cx="537327" cy="369332"/>
          </a:xfrm>
          <a:prstGeom prst="rect">
            <a:avLst/>
          </a:prstGeom>
          <a:noFill/>
        </p:spPr>
        <p:txBody>
          <a:bodyPr wrap="none" rtlCol="0">
            <a:spAutoFit/>
          </a:bodyPr>
          <a:lstStyle/>
          <a:p>
            <a:r>
              <a:rPr lang="en-US" dirty="0"/>
              <a:t>dog</a:t>
            </a:r>
          </a:p>
        </p:txBody>
      </p:sp>
      <p:sp>
        <p:nvSpPr>
          <p:cNvPr id="16" name="TextBox 15">
            <a:extLst>
              <a:ext uri="{FF2B5EF4-FFF2-40B4-BE49-F238E27FC236}">
                <a16:creationId xmlns:a16="http://schemas.microsoft.com/office/drawing/2014/main" id="{7F52C9FE-6DF8-0E4D-B867-67778925E886}"/>
              </a:ext>
            </a:extLst>
          </p:cNvPr>
          <p:cNvSpPr txBox="1"/>
          <p:nvPr/>
        </p:nvSpPr>
        <p:spPr>
          <a:xfrm>
            <a:off x="1382584" y="1655554"/>
            <a:ext cx="1766702" cy="461665"/>
          </a:xfrm>
          <a:prstGeom prst="rect">
            <a:avLst/>
          </a:prstGeom>
          <a:noFill/>
        </p:spPr>
        <p:txBody>
          <a:bodyPr wrap="none" rtlCol="0">
            <a:spAutoFit/>
          </a:bodyPr>
          <a:lstStyle/>
          <a:p>
            <a:r>
              <a:rPr lang="en-US" sz="2400" dirty="0"/>
              <a:t>training data</a:t>
            </a:r>
          </a:p>
        </p:txBody>
      </p:sp>
      <p:grpSp>
        <p:nvGrpSpPr>
          <p:cNvPr id="27" name="Group 26">
            <a:extLst>
              <a:ext uri="{FF2B5EF4-FFF2-40B4-BE49-F238E27FC236}">
                <a16:creationId xmlns:a16="http://schemas.microsoft.com/office/drawing/2014/main" id="{6C95CEF5-4D72-804F-8540-DD9A21A8BAD5}"/>
              </a:ext>
            </a:extLst>
          </p:cNvPr>
          <p:cNvGrpSpPr/>
          <p:nvPr/>
        </p:nvGrpSpPr>
        <p:grpSpPr>
          <a:xfrm>
            <a:off x="4976523" y="1804728"/>
            <a:ext cx="6068981" cy="1776754"/>
            <a:chOff x="4976523" y="1804728"/>
            <a:chExt cx="6068981" cy="1776754"/>
          </a:xfrm>
        </p:grpSpPr>
        <p:grpSp>
          <p:nvGrpSpPr>
            <p:cNvPr id="25" name="Group 24">
              <a:extLst>
                <a:ext uri="{FF2B5EF4-FFF2-40B4-BE49-F238E27FC236}">
                  <a16:creationId xmlns:a16="http://schemas.microsoft.com/office/drawing/2014/main" id="{E9ACB287-777F-4945-A40E-964325067BFB}"/>
                </a:ext>
              </a:extLst>
            </p:cNvPr>
            <p:cNvGrpSpPr/>
            <p:nvPr/>
          </p:nvGrpSpPr>
          <p:grpSpPr>
            <a:xfrm>
              <a:off x="4976523" y="1804728"/>
              <a:ext cx="6068981" cy="1776754"/>
              <a:chOff x="4976523" y="1804728"/>
              <a:chExt cx="6068981" cy="1776754"/>
            </a:xfrm>
          </p:grpSpPr>
          <p:grpSp>
            <p:nvGrpSpPr>
              <p:cNvPr id="9" name="Group 8">
                <a:extLst>
                  <a:ext uri="{FF2B5EF4-FFF2-40B4-BE49-F238E27FC236}">
                    <a16:creationId xmlns:a16="http://schemas.microsoft.com/office/drawing/2014/main" id="{4ADB8519-24AA-6544-9DD3-B012B8910616}"/>
                  </a:ext>
                </a:extLst>
              </p:cNvPr>
              <p:cNvGrpSpPr/>
              <p:nvPr/>
            </p:nvGrpSpPr>
            <p:grpSpPr>
              <a:xfrm>
                <a:off x="4976523" y="1804728"/>
                <a:ext cx="3008717" cy="1753039"/>
                <a:chOff x="4976523" y="1804728"/>
                <a:chExt cx="3008717" cy="1753039"/>
              </a:xfrm>
            </p:grpSpPr>
            <p:sp>
              <p:nvSpPr>
                <p:cNvPr id="12" name="Rounded Rectangle 11">
                  <a:extLst>
                    <a:ext uri="{FF2B5EF4-FFF2-40B4-BE49-F238E27FC236}">
                      <a16:creationId xmlns:a16="http://schemas.microsoft.com/office/drawing/2014/main" id="{DEBCE85D-29F5-4D4D-9592-A6C1476C966D}"/>
                    </a:ext>
                  </a:extLst>
                </p:cNvPr>
                <p:cNvSpPr/>
                <p:nvPr/>
              </p:nvSpPr>
              <p:spPr>
                <a:xfrm>
                  <a:off x="5505809" y="2111781"/>
                  <a:ext cx="2479431" cy="144598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training</a:t>
                  </a:r>
                </a:p>
                <a:p>
                  <a:pPr algn="ctr"/>
                  <a:r>
                    <a:rPr lang="en-US" sz="2400" dirty="0">
                      <a:solidFill>
                        <a:schemeClr val="tx1"/>
                      </a:solidFill>
                    </a:rPr>
                    <a:t>algorithm</a:t>
                  </a:r>
                </a:p>
              </p:txBody>
            </p:sp>
            <p:sp>
              <p:nvSpPr>
                <p:cNvPr id="17" name="Right Arrow 16">
                  <a:extLst>
                    <a:ext uri="{FF2B5EF4-FFF2-40B4-BE49-F238E27FC236}">
                      <a16:creationId xmlns:a16="http://schemas.microsoft.com/office/drawing/2014/main" id="{50B40CD2-2611-A24A-9111-D34502AF1513}"/>
                    </a:ext>
                  </a:extLst>
                </p:cNvPr>
                <p:cNvSpPr/>
                <p:nvPr/>
              </p:nvSpPr>
              <p:spPr>
                <a:xfrm>
                  <a:off x="4976523" y="2649371"/>
                  <a:ext cx="499567" cy="369277"/>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928F24A6-8497-AB47-920A-18422718900B}"/>
                    </a:ext>
                  </a:extLst>
                </p:cNvPr>
                <p:cNvPicPr>
                  <a:picLocks noChangeAspect="1"/>
                </p:cNvPicPr>
                <p:nvPr/>
              </p:nvPicPr>
              <p:blipFill>
                <a:blip r:embed="rId7"/>
                <a:stretch>
                  <a:fillRect/>
                </a:stretch>
              </p:blipFill>
              <p:spPr>
                <a:xfrm>
                  <a:off x="6971143" y="1804728"/>
                  <a:ext cx="1014097" cy="790996"/>
                </a:xfrm>
                <a:prstGeom prst="rect">
                  <a:avLst/>
                </a:prstGeom>
              </p:spPr>
            </p:pic>
          </p:grpSp>
          <p:sp>
            <p:nvSpPr>
              <p:cNvPr id="13" name="Rounded Rectangle 12">
                <a:extLst>
                  <a:ext uri="{FF2B5EF4-FFF2-40B4-BE49-F238E27FC236}">
                    <a16:creationId xmlns:a16="http://schemas.microsoft.com/office/drawing/2014/main" id="{974C8D8F-6074-5C4D-9791-7DC727C2C507}"/>
                  </a:ext>
                </a:extLst>
              </p:cNvPr>
              <p:cNvSpPr/>
              <p:nvPr/>
            </p:nvSpPr>
            <p:spPr>
              <a:xfrm>
                <a:off x="8566073" y="2135496"/>
                <a:ext cx="2479431" cy="1445986"/>
              </a:xfrm>
              <a:prstGeom prst="roundRect">
                <a:avLst>
                  <a:gd name="adj" fmla="val 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model</a:t>
                </a:r>
              </a:p>
            </p:txBody>
          </p:sp>
        </p:grpSp>
        <p:sp>
          <p:nvSpPr>
            <p:cNvPr id="18" name="Right Arrow 17">
              <a:extLst>
                <a:ext uri="{FF2B5EF4-FFF2-40B4-BE49-F238E27FC236}">
                  <a16:creationId xmlns:a16="http://schemas.microsoft.com/office/drawing/2014/main" id="{D1124B24-4C1D-6E46-AA0C-477D33DA745E}"/>
                </a:ext>
              </a:extLst>
            </p:cNvPr>
            <p:cNvSpPr/>
            <p:nvPr/>
          </p:nvSpPr>
          <p:spPr>
            <a:xfrm>
              <a:off x="8025873" y="2649371"/>
              <a:ext cx="499567" cy="369277"/>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4AA47D83-595D-9448-8ED7-D128EE2A493C}"/>
              </a:ext>
            </a:extLst>
          </p:cNvPr>
          <p:cNvGrpSpPr/>
          <p:nvPr/>
        </p:nvGrpSpPr>
        <p:grpSpPr>
          <a:xfrm>
            <a:off x="8566071" y="308814"/>
            <a:ext cx="2479431" cy="6250974"/>
            <a:chOff x="8566071" y="308814"/>
            <a:chExt cx="2479431" cy="6250974"/>
          </a:xfrm>
        </p:grpSpPr>
        <p:pic>
          <p:nvPicPr>
            <p:cNvPr id="14" name="Picture 13">
              <a:extLst>
                <a:ext uri="{FF2B5EF4-FFF2-40B4-BE49-F238E27FC236}">
                  <a16:creationId xmlns:a16="http://schemas.microsoft.com/office/drawing/2014/main" id="{66F254FC-159A-8440-A5D6-44C5509E8136}"/>
                </a:ext>
              </a:extLst>
            </p:cNvPr>
            <p:cNvPicPr>
              <a:picLocks noChangeAspect="1"/>
            </p:cNvPicPr>
            <p:nvPr/>
          </p:nvPicPr>
          <p:blipFill>
            <a:blip r:embed="rId8"/>
            <a:stretch>
              <a:fillRect/>
            </a:stretch>
          </p:blipFill>
          <p:spPr>
            <a:xfrm>
              <a:off x="9368692" y="308814"/>
              <a:ext cx="874190" cy="1132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Oval 14">
              <a:extLst>
                <a:ext uri="{FF2B5EF4-FFF2-40B4-BE49-F238E27FC236}">
                  <a16:creationId xmlns:a16="http://schemas.microsoft.com/office/drawing/2014/main" id="{1231440C-DAC4-4D4C-83B7-6D1B69030C71}"/>
                </a:ext>
              </a:extLst>
            </p:cNvPr>
            <p:cNvSpPr/>
            <p:nvPr/>
          </p:nvSpPr>
          <p:spPr>
            <a:xfrm>
              <a:off x="9054256" y="5119788"/>
              <a:ext cx="1440000" cy="1440000"/>
            </a:xfrm>
            <a:prstGeom prst="ellipse">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dog</a:t>
              </a:r>
            </a:p>
          </p:txBody>
        </p:sp>
        <p:sp>
          <p:nvSpPr>
            <p:cNvPr id="19" name="Right Arrow 18">
              <a:extLst>
                <a:ext uri="{FF2B5EF4-FFF2-40B4-BE49-F238E27FC236}">
                  <a16:creationId xmlns:a16="http://schemas.microsoft.com/office/drawing/2014/main" id="{3027BB49-C3EF-F448-929C-FBF76F221544}"/>
                </a:ext>
              </a:extLst>
            </p:cNvPr>
            <p:cNvSpPr/>
            <p:nvPr/>
          </p:nvSpPr>
          <p:spPr>
            <a:xfrm rot="5400000">
              <a:off x="9556004" y="1620090"/>
              <a:ext cx="499567" cy="369277"/>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083CA7FC-F3F8-8247-8312-8F9F40354D18}"/>
                </a:ext>
              </a:extLst>
            </p:cNvPr>
            <p:cNvSpPr/>
            <p:nvPr/>
          </p:nvSpPr>
          <p:spPr>
            <a:xfrm rot="5400000">
              <a:off x="9524473" y="4604382"/>
              <a:ext cx="499567" cy="369277"/>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8CFECB44-5DF7-374E-B23F-038AB84FB4AB}"/>
                </a:ext>
              </a:extLst>
            </p:cNvPr>
            <p:cNvSpPr/>
            <p:nvPr/>
          </p:nvSpPr>
          <p:spPr>
            <a:xfrm>
              <a:off x="8566071" y="3592818"/>
              <a:ext cx="2479431" cy="868468"/>
            </a:xfrm>
            <a:prstGeom prst="roundRect">
              <a:avLst>
                <a:gd name="adj" fmla="val 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400" dirty="0">
                  <a:solidFill>
                    <a:schemeClr val="tx1"/>
                  </a:solidFill>
                </a:rPr>
                <a:t>inference</a:t>
              </a:r>
            </a:p>
            <a:p>
              <a:pPr algn="ctr"/>
              <a:r>
                <a:rPr lang="en-ZA" sz="2400" dirty="0">
                  <a:solidFill>
                    <a:schemeClr val="tx1"/>
                  </a:solidFill>
                </a:rPr>
                <a:t> engine</a:t>
              </a:r>
              <a:endParaRPr lang="en-US" sz="2400" dirty="0">
                <a:solidFill>
                  <a:schemeClr val="tx1"/>
                </a:solidFill>
              </a:endParaRPr>
            </a:p>
          </p:txBody>
        </p:sp>
      </p:grpSp>
      <p:sp>
        <p:nvSpPr>
          <p:cNvPr id="24" name="TextBox 23">
            <a:extLst>
              <a:ext uri="{FF2B5EF4-FFF2-40B4-BE49-F238E27FC236}">
                <a16:creationId xmlns:a16="http://schemas.microsoft.com/office/drawing/2014/main" id="{8EA72F3B-6DA2-B64A-ACF5-066F0DCD745E}"/>
              </a:ext>
            </a:extLst>
          </p:cNvPr>
          <p:cNvSpPr txBox="1"/>
          <p:nvPr/>
        </p:nvSpPr>
        <p:spPr>
          <a:xfrm>
            <a:off x="1498160" y="3373101"/>
            <a:ext cx="465961" cy="369332"/>
          </a:xfrm>
          <a:prstGeom prst="rect">
            <a:avLst/>
          </a:prstGeom>
          <a:noFill/>
        </p:spPr>
        <p:txBody>
          <a:bodyPr wrap="none" rtlCol="0">
            <a:spAutoFit/>
          </a:bodyPr>
          <a:lstStyle/>
          <a:p>
            <a:r>
              <a:rPr lang="en-US" dirty="0"/>
              <a:t>cat</a:t>
            </a:r>
          </a:p>
        </p:txBody>
      </p:sp>
      <p:sp>
        <p:nvSpPr>
          <p:cNvPr id="23" name="TextBox 22">
            <a:extLst>
              <a:ext uri="{FF2B5EF4-FFF2-40B4-BE49-F238E27FC236}">
                <a16:creationId xmlns:a16="http://schemas.microsoft.com/office/drawing/2014/main" id="{BCCCD4EE-F035-5E46-A68A-B3400F59E603}"/>
              </a:ext>
            </a:extLst>
          </p:cNvPr>
          <p:cNvSpPr txBox="1"/>
          <p:nvPr/>
        </p:nvSpPr>
        <p:spPr>
          <a:xfrm>
            <a:off x="328815" y="5022091"/>
            <a:ext cx="5176994" cy="1200329"/>
          </a:xfrm>
          <a:prstGeom prst="rect">
            <a:avLst/>
          </a:prstGeom>
          <a:noFill/>
          <a:ln>
            <a:solidFill>
              <a:schemeClr val="accent1"/>
            </a:solidFill>
          </a:ln>
        </p:spPr>
        <p:txBody>
          <a:bodyPr wrap="square" rtlCol="0">
            <a:spAutoFit/>
          </a:bodyPr>
          <a:lstStyle/>
          <a:p>
            <a:pPr algn="ctr"/>
            <a:r>
              <a:rPr lang="en-ZA" sz="2400" dirty="0">
                <a:latin typeface="+mj-lt"/>
              </a:rPr>
              <a:t>Machine learning is learning from existing data and using that knowledge to make decisions about new data.</a:t>
            </a:r>
            <a:endParaRPr lang="en-US" sz="2400" dirty="0">
              <a:latin typeface="+mj-lt"/>
            </a:endParaRPr>
          </a:p>
        </p:txBody>
      </p:sp>
      <p:sp>
        <p:nvSpPr>
          <p:cNvPr id="28" name="TextBox 27">
            <a:extLst>
              <a:ext uri="{FF2B5EF4-FFF2-40B4-BE49-F238E27FC236}">
                <a16:creationId xmlns:a16="http://schemas.microsoft.com/office/drawing/2014/main" id="{EACD9139-873A-7A41-85AB-1AB45E73C1B2}"/>
              </a:ext>
            </a:extLst>
          </p:cNvPr>
          <p:cNvSpPr txBox="1"/>
          <p:nvPr/>
        </p:nvSpPr>
        <p:spPr>
          <a:xfrm>
            <a:off x="10209068" y="256137"/>
            <a:ext cx="925253" cy="400110"/>
          </a:xfrm>
          <a:prstGeom prst="rect">
            <a:avLst/>
          </a:prstGeom>
          <a:noFill/>
        </p:spPr>
        <p:txBody>
          <a:bodyPr wrap="none" rtlCol="0">
            <a:spAutoFit/>
          </a:bodyPr>
          <a:lstStyle/>
          <a:p>
            <a:r>
              <a:rPr lang="en-US" sz="2000" dirty="0"/>
              <a:t>class=?</a:t>
            </a:r>
          </a:p>
        </p:txBody>
      </p:sp>
      <p:sp>
        <p:nvSpPr>
          <p:cNvPr id="29" name="TextBox 28">
            <a:extLst>
              <a:ext uri="{FF2B5EF4-FFF2-40B4-BE49-F238E27FC236}">
                <a16:creationId xmlns:a16="http://schemas.microsoft.com/office/drawing/2014/main" id="{822422DE-99BD-FC41-BBB2-D76BF1024A05}"/>
              </a:ext>
            </a:extLst>
          </p:cNvPr>
          <p:cNvSpPr txBox="1"/>
          <p:nvPr/>
        </p:nvSpPr>
        <p:spPr>
          <a:xfrm>
            <a:off x="1441330" y="3742433"/>
            <a:ext cx="2079737" cy="400110"/>
          </a:xfrm>
          <a:prstGeom prst="rect">
            <a:avLst/>
          </a:prstGeom>
          <a:noFill/>
        </p:spPr>
        <p:txBody>
          <a:bodyPr wrap="none" rtlCol="0">
            <a:spAutoFit/>
          </a:bodyPr>
          <a:lstStyle/>
          <a:p>
            <a:r>
              <a:rPr lang="en-US" sz="2000" dirty="0"/>
              <a:t>classes= {cat, dog}</a:t>
            </a:r>
          </a:p>
        </p:txBody>
      </p:sp>
    </p:spTree>
    <p:extLst>
      <p:ext uri="{BB962C8B-B14F-4D97-AF65-F5344CB8AC3E}">
        <p14:creationId xmlns:p14="http://schemas.microsoft.com/office/powerpoint/2010/main" val="2530116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1414B-A119-914A-9051-764BB986B952}"/>
              </a:ext>
            </a:extLst>
          </p:cNvPr>
          <p:cNvSpPr>
            <a:spLocks noGrp="1"/>
          </p:cNvSpPr>
          <p:nvPr>
            <p:ph type="title"/>
          </p:nvPr>
        </p:nvSpPr>
        <p:spPr/>
        <p:txBody>
          <a:bodyPr/>
          <a:lstStyle/>
          <a:p>
            <a:r>
              <a:rPr lang="en-ZA" dirty="0"/>
              <a:t>Types of Machine Learning</a:t>
            </a:r>
            <a:endParaRPr lang="en-US" dirty="0"/>
          </a:p>
        </p:txBody>
      </p:sp>
      <p:sp>
        <p:nvSpPr>
          <p:cNvPr id="3" name="Slide Number Placeholder 2">
            <a:extLst>
              <a:ext uri="{FF2B5EF4-FFF2-40B4-BE49-F238E27FC236}">
                <a16:creationId xmlns:a16="http://schemas.microsoft.com/office/drawing/2014/main" id="{B25A2B31-86D0-6944-8D62-ED1A716C1BB0}"/>
              </a:ext>
            </a:extLst>
          </p:cNvPr>
          <p:cNvSpPr>
            <a:spLocks noGrp="1"/>
          </p:cNvSpPr>
          <p:nvPr>
            <p:ph type="sldNum" sz="quarter" idx="12"/>
          </p:nvPr>
        </p:nvSpPr>
        <p:spPr/>
        <p:txBody>
          <a:bodyPr/>
          <a:lstStyle/>
          <a:p>
            <a:fld id="{591A223C-FA10-BC46-A853-03BA373D023C}" type="slidenum">
              <a:rPr lang="en-US" smtClean="0"/>
              <a:t>6</a:t>
            </a:fld>
            <a:endParaRPr lang="en-US"/>
          </a:p>
        </p:txBody>
      </p:sp>
      <p:graphicFrame>
        <p:nvGraphicFramePr>
          <p:cNvPr id="4" name="Diagram 3">
            <a:extLst>
              <a:ext uri="{FF2B5EF4-FFF2-40B4-BE49-F238E27FC236}">
                <a16:creationId xmlns:a16="http://schemas.microsoft.com/office/drawing/2014/main" id="{8D17B770-F0D8-CD43-BDE0-98B8EC479CE4}"/>
              </a:ext>
            </a:extLst>
          </p:cNvPr>
          <p:cNvGraphicFramePr/>
          <p:nvPr>
            <p:extLst>
              <p:ext uri="{D42A27DB-BD31-4B8C-83A1-F6EECF244321}">
                <p14:modId xmlns:p14="http://schemas.microsoft.com/office/powerpoint/2010/main" val="946181745"/>
              </p:ext>
            </p:extLst>
          </p:nvPr>
        </p:nvGraphicFramePr>
        <p:xfrm>
          <a:off x="2011484" y="780737"/>
          <a:ext cx="8169031" cy="44677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384248A3-A7D2-A84A-A4EA-29D3D0D87513}"/>
              </a:ext>
            </a:extLst>
          </p:cNvPr>
          <p:cNvPicPr>
            <a:picLocks noChangeAspect="1"/>
          </p:cNvPicPr>
          <p:nvPr/>
        </p:nvPicPr>
        <p:blipFill>
          <a:blip r:embed="rId8"/>
          <a:stretch>
            <a:fillRect/>
          </a:stretch>
        </p:blipFill>
        <p:spPr>
          <a:xfrm>
            <a:off x="7956061" y="5423092"/>
            <a:ext cx="2224454" cy="895687"/>
          </a:xfrm>
          <a:prstGeom prst="rect">
            <a:avLst/>
          </a:prstGeom>
        </p:spPr>
      </p:pic>
      <p:pic>
        <p:nvPicPr>
          <p:cNvPr id="7" name="Picture 6">
            <a:extLst>
              <a:ext uri="{FF2B5EF4-FFF2-40B4-BE49-F238E27FC236}">
                <a16:creationId xmlns:a16="http://schemas.microsoft.com/office/drawing/2014/main" id="{3B8F6A7E-CD2C-404E-958D-00E132712594}"/>
              </a:ext>
            </a:extLst>
          </p:cNvPr>
          <p:cNvPicPr>
            <a:picLocks noChangeAspect="1"/>
          </p:cNvPicPr>
          <p:nvPr/>
        </p:nvPicPr>
        <p:blipFill>
          <a:blip r:embed="rId9"/>
          <a:stretch>
            <a:fillRect/>
          </a:stretch>
        </p:blipFill>
        <p:spPr>
          <a:xfrm>
            <a:off x="5339698" y="5248533"/>
            <a:ext cx="373031" cy="417795"/>
          </a:xfrm>
          <a:prstGeom prst="rect">
            <a:avLst/>
          </a:prstGeom>
        </p:spPr>
      </p:pic>
      <p:pic>
        <p:nvPicPr>
          <p:cNvPr id="8" name="Picture 7">
            <a:extLst>
              <a:ext uri="{FF2B5EF4-FFF2-40B4-BE49-F238E27FC236}">
                <a16:creationId xmlns:a16="http://schemas.microsoft.com/office/drawing/2014/main" id="{4872E851-EB26-C44F-9FE6-37E4EAE85471}"/>
              </a:ext>
            </a:extLst>
          </p:cNvPr>
          <p:cNvPicPr>
            <a:picLocks noChangeAspect="1"/>
          </p:cNvPicPr>
          <p:nvPr/>
        </p:nvPicPr>
        <p:blipFill>
          <a:blip r:embed="rId10"/>
          <a:stretch>
            <a:fillRect/>
          </a:stretch>
        </p:blipFill>
        <p:spPr>
          <a:xfrm>
            <a:off x="5513636" y="5706714"/>
            <a:ext cx="755493" cy="668926"/>
          </a:xfrm>
          <a:prstGeom prst="rect">
            <a:avLst/>
          </a:prstGeom>
        </p:spPr>
      </p:pic>
      <p:pic>
        <p:nvPicPr>
          <p:cNvPr id="11" name="Picture 10">
            <a:extLst>
              <a:ext uri="{FF2B5EF4-FFF2-40B4-BE49-F238E27FC236}">
                <a16:creationId xmlns:a16="http://schemas.microsoft.com/office/drawing/2014/main" id="{043B933B-8F19-8940-AC45-91259C0BC51D}"/>
              </a:ext>
            </a:extLst>
          </p:cNvPr>
          <p:cNvPicPr>
            <a:picLocks noChangeAspect="1"/>
          </p:cNvPicPr>
          <p:nvPr/>
        </p:nvPicPr>
        <p:blipFill>
          <a:blip r:embed="rId9"/>
          <a:stretch>
            <a:fillRect/>
          </a:stretch>
        </p:blipFill>
        <p:spPr>
          <a:xfrm>
            <a:off x="6371371" y="5935919"/>
            <a:ext cx="373031" cy="417795"/>
          </a:xfrm>
          <a:prstGeom prst="rect">
            <a:avLst/>
          </a:prstGeom>
        </p:spPr>
      </p:pic>
      <p:pic>
        <p:nvPicPr>
          <p:cNvPr id="12" name="Picture 11">
            <a:extLst>
              <a:ext uri="{FF2B5EF4-FFF2-40B4-BE49-F238E27FC236}">
                <a16:creationId xmlns:a16="http://schemas.microsoft.com/office/drawing/2014/main" id="{934E910A-DBB4-1E4B-8CDB-E2F10FAB45B6}"/>
              </a:ext>
            </a:extLst>
          </p:cNvPr>
          <p:cNvPicPr>
            <a:picLocks noChangeAspect="1"/>
          </p:cNvPicPr>
          <p:nvPr/>
        </p:nvPicPr>
        <p:blipFill>
          <a:blip r:embed="rId10"/>
          <a:stretch>
            <a:fillRect/>
          </a:stretch>
        </p:blipFill>
        <p:spPr>
          <a:xfrm>
            <a:off x="6702077" y="5418775"/>
            <a:ext cx="755493" cy="668926"/>
          </a:xfrm>
          <a:prstGeom prst="rect">
            <a:avLst/>
          </a:prstGeom>
        </p:spPr>
      </p:pic>
      <p:pic>
        <p:nvPicPr>
          <p:cNvPr id="18" name="Picture 17">
            <a:extLst>
              <a:ext uri="{FF2B5EF4-FFF2-40B4-BE49-F238E27FC236}">
                <a16:creationId xmlns:a16="http://schemas.microsoft.com/office/drawing/2014/main" id="{D0CE340E-C4E1-274F-BD0B-A500817FCFDA}"/>
              </a:ext>
            </a:extLst>
          </p:cNvPr>
          <p:cNvPicPr>
            <a:picLocks noChangeAspect="1"/>
          </p:cNvPicPr>
          <p:nvPr/>
        </p:nvPicPr>
        <p:blipFill>
          <a:blip r:embed="rId11"/>
          <a:stretch>
            <a:fillRect/>
          </a:stretch>
        </p:blipFill>
        <p:spPr>
          <a:xfrm>
            <a:off x="4022545" y="5869413"/>
            <a:ext cx="797992" cy="6915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 name="Picture 18">
            <a:extLst>
              <a:ext uri="{FF2B5EF4-FFF2-40B4-BE49-F238E27FC236}">
                <a16:creationId xmlns:a16="http://schemas.microsoft.com/office/drawing/2014/main" id="{764BE416-2D6E-BD4C-B475-6B1658D7EBDD}"/>
              </a:ext>
            </a:extLst>
          </p:cNvPr>
          <p:cNvPicPr>
            <a:picLocks noChangeAspect="1"/>
          </p:cNvPicPr>
          <p:nvPr/>
        </p:nvPicPr>
        <p:blipFill>
          <a:blip r:embed="rId12"/>
          <a:stretch>
            <a:fillRect/>
          </a:stretch>
        </p:blipFill>
        <p:spPr>
          <a:xfrm flipH="1">
            <a:off x="3117657" y="5380611"/>
            <a:ext cx="677926" cy="7412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 name="Picture 19">
            <a:extLst>
              <a:ext uri="{FF2B5EF4-FFF2-40B4-BE49-F238E27FC236}">
                <a16:creationId xmlns:a16="http://schemas.microsoft.com/office/drawing/2014/main" id="{6E985CAA-1DBD-9D4A-B1F8-5C30BB99EF00}"/>
              </a:ext>
            </a:extLst>
          </p:cNvPr>
          <p:cNvPicPr>
            <a:picLocks noChangeAspect="1"/>
          </p:cNvPicPr>
          <p:nvPr/>
        </p:nvPicPr>
        <p:blipFill>
          <a:blip r:embed="rId13"/>
          <a:stretch>
            <a:fillRect/>
          </a:stretch>
        </p:blipFill>
        <p:spPr>
          <a:xfrm>
            <a:off x="4088762" y="5069752"/>
            <a:ext cx="675957" cy="5644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1" name="TextBox 20">
            <a:extLst>
              <a:ext uri="{FF2B5EF4-FFF2-40B4-BE49-F238E27FC236}">
                <a16:creationId xmlns:a16="http://schemas.microsoft.com/office/drawing/2014/main" id="{F477AA7E-A041-B74A-B698-9ECC16D8FBB3}"/>
              </a:ext>
            </a:extLst>
          </p:cNvPr>
          <p:cNvSpPr txBox="1"/>
          <p:nvPr/>
        </p:nvSpPr>
        <p:spPr>
          <a:xfrm>
            <a:off x="4111349" y="6492875"/>
            <a:ext cx="537327" cy="369332"/>
          </a:xfrm>
          <a:prstGeom prst="rect">
            <a:avLst/>
          </a:prstGeom>
          <a:noFill/>
        </p:spPr>
        <p:txBody>
          <a:bodyPr wrap="none" rtlCol="0">
            <a:spAutoFit/>
          </a:bodyPr>
          <a:lstStyle/>
          <a:p>
            <a:r>
              <a:rPr lang="en-US" dirty="0"/>
              <a:t>dog</a:t>
            </a:r>
          </a:p>
        </p:txBody>
      </p:sp>
      <p:sp>
        <p:nvSpPr>
          <p:cNvPr id="22" name="TextBox 21">
            <a:extLst>
              <a:ext uri="{FF2B5EF4-FFF2-40B4-BE49-F238E27FC236}">
                <a16:creationId xmlns:a16="http://schemas.microsoft.com/office/drawing/2014/main" id="{ECCA461C-033C-A44B-8EAA-402205354EC8}"/>
              </a:ext>
            </a:extLst>
          </p:cNvPr>
          <p:cNvSpPr txBox="1"/>
          <p:nvPr/>
        </p:nvSpPr>
        <p:spPr>
          <a:xfrm>
            <a:off x="3206067" y="6069307"/>
            <a:ext cx="537327" cy="369332"/>
          </a:xfrm>
          <a:prstGeom prst="rect">
            <a:avLst/>
          </a:prstGeom>
          <a:noFill/>
        </p:spPr>
        <p:txBody>
          <a:bodyPr wrap="none" rtlCol="0">
            <a:spAutoFit/>
          </a:bodyPr>
          <a:lstStyle/>
          <a:p>
            <a:r>
              <a:rPr lang="en-US" dirty="0"/>
              <a:t>dog</a:t>
            </a:r>
          </a:p>
        </p:txBody>
      </p:sp>
      <p:sp>
        <p:nvSpPr>
          <p:cNvPr id="24" name="TextBox 23">
            <a:extLst>
              <a:ext uri="{FF2B5EF4-FFF2-40B4-BE49-F238E27FC236}">
                <a16:creationId xmlns:a16="http://schemas.microsoft.com/office/drawing/2014/main" id="{497E5B7F-0E16-D14A-9AC4-31A83A8892F5}"/>
              </a:ext>
            </a:extLst>
          </p:cNvPr>
          <p:cNvSpPr txBox="1"/>
          <p:nvPr/>
        </p:nvSpPr>
        <p:spPr>
          <a:xfrm>
            <a:off x="4160569" y="5566587"/>
            <a:ext cx="465961" cy="369332"/>
          </a:xfrm>
          <a:prstGeom prst="rect">
            <a:avLst/>
          </a:prstGeom>
          <a:noFill/>
        </p:spPr>
        <p:txBody>
          <a:bodyPr wrap="none" rtlCol="0">
            <a:spAutoFit/>
          </a:bodyPr>
          <a:lstStyle/>
          <a:p>
            <a:r>
              <a:rPr lang="en-US" dirty="0"/>
              <a:t>cat</a:t>
            </a:r>
          </a:p>
        </p:txBody>
      </p:sp>
      <p:pic>
        <p:nvPicPr>
          <p:cNvPr id="25" name="Picture 24">
            <a:extLst>
              <a:ext uri="{FF2B5EF4-FFF2-40B4-BE49-F238E27FC236}">
                <a16:creationId xmlns:a16="http://schemas.microsoft.com/office/drawing/2014/main" id="{9BEB24F6-8ABB-0D4E-84DE-AEEDE765EC7D}"/>
              </a:ext>
            </a:extLst>
          </p:cNvPr>
          <p:cNvPicPr>
            <a:picLocks noChangeAspect="1"/>
          </p:cNvPicPr>
          <p:nvPr/>
        </p:nvPicPr>
        <p:blipFill>
          <a:blip r:embed="rId9"/>
          <a:stretch>
            <a:fillRect/>
          </a:stretch>
        </p:blipFill>
        <p:spPr>
          <a:xfrm>
            <a:off x="7079823" y="4962816"/>
            <a:ext cx="373031" cy="417795"/>
          </a:xfrm>
          <a:prstGeom prst="rect">
            <a:avLst/>
          </a:prstGeom>
        </p:spPr>
      </p:pic>
      <p:pic>
        <p:nvPicPr>
          <p:cNvPr id="26" name="Picture 25">
            <a:extLst>
              <a:ext uri="{FF2B5EF4-FFF2-40B4-BE49-F238E27FC236}">
                <a16:creationId xmlns:a16="http://schemas.microsoft.com/office/drawing/2014/main" id="{18139ACD-07F2-024D-A9D5-3091623DFCDD}"/>
              </a:ext>
            </a:extLst>
          </p:cNvPr>
          <p:cNvPicPr>
            <a:picLocks noChangeAspect="1"/>
          </p:cNvPicPr>
          <p:nvPr/>
        </p:nvPicPr>
        <p:blipFill>
          <a:blip r:embed="rId10"/>
          <a:stretch>
            <a:fillRect/>
          </a:stretch>
        </p:blipFill>
        <p:spPr>
          <a:xfrm>
            <a:off x="5926283" y="5171713"/>
            <a:ext cx="755493" cy="668926"/>
          </a:xfrm>
          <a:prstGeom prst="rect">
            <a:avLst/>
          </a:prstGeom>
        </p:spPr>
      </p:pic>
      <p:pic>
        <p:nvPicPr>
          <p:cNvPr id="17" name="Picture 16">
            <a:extLst>
              <a:ext uri="{FF2B5EF4-FFF2-40B4-BE49-F238E27FC236}">
                <a16:creationId xmlns:a16="http://schemas.microsoft.com/office/drawing/2014/main" id="{BBA490BC-B345-6240-ACE8-5C53EF6DC38F}"/>
              </a:ext>
            </a:extLst>
          </p:cNvPr>
          <p:cNvPicPr>
            <a:picLocks noChangeAspect="1"/>
          </p:cNvPicPr>
          <p:nvPr/>
        </p:nvPicPr>
        <p:blipFill>
          <a:blip r:embed="rId14"/>
          <a:stretch>
            <a:fillRect/>
          </a:stretch>
        </p:blipFill>
        <p:spPr>
          <a:xfrm>
            <a:off x="2593522" y="5248533"/>
            <a:ext cx="512450" cy="6569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TextBox 22">
            <a:extLst>
              <a:ext uri="{FF2B5EF4-FFF2-40B4-BE49-F238E27FC236}">
                <a16:creationId xmlns:a16="http://schemas.microsoft.com/office/drawing/2014/main" id="{CA58DBA6-B6D4-7944-9BC9-3DFA26F2F9C3}"/>
              </a:ext>
            </a:extLst>
          </p:cNvPr>
          <p:cNvSpPr txBox="1"/>
          <p:nvPr/>
        </p:nvSpPr>
        <p:spPr>
          <a:xfrm>
            <a:off x="2568097" y="5845877"/>
            <a:ext cx="465961" cy="369332"/>
          </a:xfrm>
          <a:prstGeom prst="rect">
            <a:avLst/>
          </a:prstGeom>
          <a:noFill/>
        </p:spPr>
        <p:txBody>
          <a:bodyPr wrap="none" rtlCol="0">
            <a:spAutoFit/>
          </a:bodyPr>
          <a:lstStyle/>
          <a:p>
            <a:pPr algn="ctr"/>
            <a:r>
              <a:rPr lang="en-US" dirty="0"/>
              <a:t>cat</a:t>
            </a:r>
          </a:p>
        </p:txBody>
      </p:sp>
    </p:spTree>
    <p:extLst>
      <p:ext uri="{BB962C8B-B14F-4D97-AF65-F5344CB8AC3E}">
        <p14:creationId xmlns:p14="http://schemas.microsoft.com/office/powerpoint/2010/main" val="2918685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1414B-A119-914A-9051-764BB986B952}"/>
              </a:ext>
            </a:extLst>
          </p:cNvPr>
          <p:cNvSpPr>
            <a:spLocks noGrp="1"/>
          </p:cNvSpPr>
          <p:nvPr>
            <p:ph type="title"/>
          </p:nvPr>
        </p:nvSpPr>
        <p:spPr/>
        <p:txBody>
          <a:bodyPr/>
          <a:lstStyle/>
          <a:p>
            <a:r>
              <a:rPr lang="en-ZA" dirty="0"/>
              <a:t>Discriminative and Generative Models</a:t>
            </a:r>
            <a:endParaRPr lang="en-US" dirty="0"/>
          </a:p>
        </p:txBody>
      </p:sp>
      <p:sp>
        <p:nvSpPr>
          <p:cNvPr id="3" name="Slide Number Placeholder 2">
            <a:extLst>
              <a:ext uri="{FF2B5EF4-FFF2-40B4-BE49-F238E27FC236}">
                <a16:creationId xmlns:a16="http://schemas.microsoft.com/office/drawing/2014/main" id="{B25A2B31-86D0-6944-8D62-ED1A716C1BB0}"/>
              </a:ext>
            </a:extLst>
          </p:cNvPr>
          <p:cNvSpPr>
            <a:spLocks noGrp="1"/>
          </p:cNvSpPr>
          <p:nvPr>
            <p:ph type="sldNum" sz="quarter" idx="12"/>
          </p:nvPr>
        </p:nvSpPr>
        <p:spPr/>
        <p:txBody>
          <a:bodyPr/>
          <a:lstStyle/>
          <a:p>
            <a:fld id="{591A223C-FA10-BC46-A853-03BA373D023C}" type="slidenum">
              <a:rPr lang="en-US" smtClean="0"/>
              <a:t>7</a:t>
            </a:fld>
            <a:endParaRPr lang="en-US"/>
          </a:p>
        </p:txBody>
      </p:sp>
      <p:graphicFrame>
        <p:nvGraphicFramePr>
          <p:cNvPr id="4" name="Diagram 3">
            <a:extLst>
              <a:ext uri="{FF2B5EF4-FFF2-40B4-BE49-F238E27FC236}">
                <a16:creationId xmlns:a16="http://schemas.microsoft.com/office/drawing/2014/main" id="{8D17B770-F0D8-CD43-BDE0-98B8EC479CE4}"/>
              </a:ext>
            </a:extLst>
          </p:cNvPr>
          <p:cNvGraphicFramePr/>
          <p:nvPr>
            <p:extLst>
              <p:ext uri="{D42A27DB-BD31-4B8C-83A1-F6EECF244321}">
                <p14:modId xmlns:p14="http://schemas.microsoft.com/office/powerpoint/2010/main" val="242673341"/>
              </p:ext>
            </p:extLst>
          </p:nvPr>
        </p:nvGraphicFramePr>
        <p:xfrm>
          <a:off x="658274" y="988124"/>
          <a:ext cx="10175938" cy="29935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Rounded Rectangle 14">
            <a:extLst>
              <a:ext uri="{FF2B5EF4-FFF2-40B4-BE49-F238E27FC236}">
                <a16:creationId xmlns:a16="http://schemas.microsoft.com/office/drawing/2014/main" id="{D38598FA-61B8-2240-9C96-65C32F2E34E2}"/>
              </a:ext>
            </a:extLst>
          </p:cNvPr>
          <p:cNvSpPr/>
          <p:nvPr/>
        </p:nvSpPr>
        <p:spPr>
          <a:xfrm>
            <a:off x="1874047" y="5335504"/>
            <a:ext cx="2169459" cy="90993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Model</a:t>
            </a:r>
          </a:p>
        </p:txBody>
      </p:sp>
      <p:sp>
        <p:nvSpPr>
          <p:cNvPr id="28" name="Right Arrow 27">
            <a:extLst>
              <a:ext uri="{FF2B5EF4-FFF2-40B4-BE49-F238E27FC236}">
                <a16:creationId xmlns:a16="http://schemas.microsoft.com/office/drawing/2014/main" id="{3C27BB3E-BC58-B242-89D6-A592846B0D3E}"/>
              </a:ext>
            </a:extLst>
          </p:cNvPr>
          <p:cNvSpPr/>
          <p:nvPr/>
        </p:nvSpPr>
        <p:spPr>
          <a:xfrm>
            <a:off x="4133901" y="5630693"/>
            <a:ext cx="446741" cy="319556"/>
          </a:xfrm>
          <a:prstGeom prst="rightArrow">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C4CE36C-4D2B-4A45-AAE5-F4C69E628923}"/>
              </a:ext>
            </a:extLst>
          </p:cNvPr>
          <p:cNvSpPr txBox="1"/>
          <p:nvPr/>
        </p:nvSpPr>
        <p:spPr>
          <a:xfrm>
            <a:off x="4635768" y="5521553"/>
            <a:ext cx="622414" cy="523220"/>
          </a:xfrm>
          <a:prstGeom prst="rect">
            <a:avLst/>
          </a:prstGeom>
          <a:noFill/>
        </p:spPr>
        <p:txBody>
          <a:bodyPr wrap="none" rtlCol="0">
            <a:spAutoFit/>
          </a:bodyPr>
          <a:lstStyle/>
          <a:p>
            <a:r>
              <a:rPr lang="en-US" sz="2800" dirty="0"/>
              <a:t>cat</a:t>
            </a:r>
          </a:p>
        </p:txBody>
      </p:sp>
      <p:sp>
        <p:nvSpPr>
          <p:cNvPr id="31" name="Rounded Rectangle 30">
            <a:extLst>
              <a:ext uri="{FF2B5EF4-FFF2-40B4-BE49-F238E27FC236}">
                <a16:creationId xmlns:a16="http://schemas.microsoft.com/office/drawing/2014/main" id="{FA3F543E-06FB-9F40-B415-29647162579E}"/>
              </a:ext>
            </a:extLst>
          </p:cNvPr>
          <p:cNvSpPr/>
          <p:nvPr/>
        </p:nvSpPr>
        <p:spPr>
          <a:xfrm>
            <a:off x="8105464" y="5252897"/>
            <a:ext cx="2169459" cy="909935"/>
          </a:xfrm>
          <a:prstGeom prst="roundRect">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Model</a:t>
            </a:r>
          </a:p>
        </p:txBody>
      </p:sp>
      <p:sp>
        <p:nvSpPr>
          <p:cNvPr id="32" name="Right Arrow 31">
            <a:extLst>
              <a:ext uri="{FF2B5EF4-FFF2-40B4-BE49-F238E27FC236}">
                <a16:creationId xmlns:a16="http://schemas.microsoft.com/office/drawing/2014/main" id="{3BCE748B-4C85-5D48-83F6-D1D29CDA7C82}"/>
              </a:ext>
            </a:extLst>
          </p:cNvPr>
          <p:cNvSpPr/>
          <p:nvPr/>
        </p:nvSpPr>
        <p:spPr>
          <a:xfrm>
            <a:off x="10373659" y="5529722"/>
            <a:ext cx="446741" cy="319556"/>
          </a:xfrm>
          <a:prstGeom prst="rightArrow">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Arrow 32">
            <a:extLst>
              <a:ext uri="{FF2B5EF4-FFF2-40B4-BE49-F238E27FC236}">
                <a16:creationId xmlns:a16="http://schemas.microsoft.com/office/drawing/2014/main" id="{4FF89EA3-AA84-AA4C-9E6E-7902A086FE22}"/>
              </a:ext>
            </a:extLst>
          </p:cNvPr>
          <p:cNvSpPr/>
          <p:nvPr/>
        </p:nvSpPr>
        <p:spPr>
          <a:xfrm>
            <a:off x="1290248" y="5680323"/>
            <a:ext cx="446741" cy="319556"/>
          </a:xfrm>
          <a:prstGeom prst="rightArrow">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Arrow 42">
            <a:extLst>
              <a:ext uri="{FF2B5EF4-FFF2-40B4-BE49-F238E27FC236}">
                <a16:creationId xmlns:a16="http://schemas.microsoft.com/office/drawing/2014/main" id="{E65CB561-F280-8541-989D-23C04CDAEFB1}"/>
              </a:ext>
            </a:extLst>
          </p:cNvPr>
          <p:cNvSpPr/>
          <p:nvPr/>
        </p:nvSpPr>
        <p:spPr>
          <a:xfrm>
            <a:off x="7607246" y="5584401"/>
            <a:ext cx="446741" cy="319556"/>
          </a:xfrm>
          <a:prstGeom prst="rightArrow">
            <a:avLst/>
          </a:prstGeom>
          <a:solidFill>
            <a:schemeClr val="bg1">
              <a:lumMod val="6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7A6E46-2879-9943-ABFE-4E4E40ECC03C}"/>
              </a:ext>
            </a:extLst>
          </p:cNvPr>
          <p:cNvSpPr txBox="1"/>
          <p:nvPr/>
        </p:nvSpPr>
        <p:spPr>
          <a:xfrm>
            <a:off x="2117294" y="4078778"/>
            <a:ext cx="2702984" cy="461665"/>
          </a:xfrm>
          <a:prstGeom prst="rect">
            <a:avLst/>
          </a:prstGeom>
          <a:noFill/>
        </p:spPr>
        <p:txBody>
          <a:bodyPr wrap="none" rtlCol="0">
            <a:spAutoFit/>
          </a:bodyPr>
          <a:lstStyle/>
          <a:p>
            <a:r>
              <a:rPr lang="en-ZA" sz="2400" dirty="0"/>
              <a:t>Learn to distinguish.</a:t>
            </a:r>
            <a:endParaRPr lang="en-US" sz="2200" dirty="0">
              <a:latin typeface="+mj-lt"/>
            </a:endParaRPr>
          </a:p>
        </p:txBody>
      </p:sp>
      <p:sp>
        <p:nvSpPr>
          <p:cNvPr id="17" name="TextBox 16">
            <a:extLst>
              <a:ext uri="{FF2B5EF4-FFF2-40B4-BE49-F238E27FC236}">
                <a16:creationId xmlns:a16="http://schemas.microsoft.com/office/drawing/2014/main" id="{A4B81873-C706-AC4E-AD4C-161115309726}"/>
              </a:ext>
            </a:extLst>
          </p:cNvPr>
          <p:cNvSpPr txBox="1"/>
          <p:nvPr/>
        </p:nvSpPr>
        <p:spPr>
          <a:xfrm>
            <a:off x="6980840" y="4092097"/>
            <a:ext cx="2146293" cy="461665"/>
          </a:xfrm>
          <a:prstGeom prst="rect">
            <a:avLst/>
          </a:prstGeom>
          <a:noFill/>
        </p:spPr>
        <p:txBody>
          <a:bodyPr wrap="none" rtlCol="0">
            <a:spAutoFit/>
          </a:bodyPr>
          <a:lstStyle/>
          <a:p>
            <a:r>
              <a:rPr lang="en-ZA" sz="2400" dirty="0"/>
              <a:t>Learn to create.</a:t>
            </a:r>
            <a:endParaRPr lang="en-US" sz="2200" dirty="0">
              <a:latin typeface="+mj-lt"/>
            </a:endParaRPr>
          </a:p>
        </p:txBody>
      </p:sp>
      <p:pic>
        <p:nvPicPr>
          <p:cNvPr id="21" name="Picture 20">
            <a:extLst>
              <a:ext uri="{FF2B5EF4-FFF2-40B4-BE49-F238E27FC236}">
                <a16:creationId xmlns:a16="http://schemas.microsoft.com/office/drawing/2014/main" id="{79660E83-D0FE-0F49-A83C-24927DB2812F}"/>
              </a:ext>
            </a:extLst>
          </p:cNvPr>
          <p:cNvPicPr>
            <a:picLocks noChangeAspect="1"/>
          </p:cNvPicPr>
          <p:nvPr/>
        </p:nvPicPr>
        <p:blipFill>
          <a:blip r:embed="rId8"/>
          <a:stretch>
            <a:fillRect/>
          </a:stretch>
        </p:blipFill>
        <p:spPr>
          <a:xfrm>
            <a:off x="50851" y="4810130"/>
            <a:ext cx="1197089" cy="19720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2" name="Picture 21">
            <a:extLst>
              <a:ext uri="{FF2B5EF4-FFF2-40B4-BE49-F238E27FC236}">
                <a16:creationId xmlns:a16="http://schemas.microsoft.com/office/drawing/2014/main" id="{2E8F9B15-F422-AE42-BF2A-8690B98C9C13}"/>
              </a:ext>
            </a:extLst>
          </p:cNvPr>
          <p:cNvPicPr>
            <a:picLocks noChangeAspect="1"/>
          </p:cNvPicPr>
          <p:nvPr/>
        </p:nvPicPr>
        <p:blipFill>
          <a:blip r:embed="rId9"/>
          <a:stretch>
            <a:fillRect/>
          </a:stretch>
        </p:blipFill>
        <p:spPr>
          <a:xfrm>
            <a:off x="10901030" y="4822024"/>
            <a:ext cx="1188548" cy="193689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3" name="Picture 22">
            <a:extLst>
              <a:ext uri="{FF2B5EF4-FFF2-40B4-BE49-F238E27FC236}">
                <a16:creationId xmlns:a16="http://schemas.microsoft.com/office/drawing/2014/main" id="{1394460B-5AF5-6A4A-8A0A-1DB2F2E400B0}"/>
              </a:ext>
            </a:extLst>
          </p:cNvPr>
          <p:cNvPicPr>
            <a:picLocks noChangeAspect="1"/>
          </p:cNvPicPr>
          <p:nvPr/>
        </p:nvPicPr>
        <p:blipFill>
          <a:blip r:embed="rId8"/>
          <a:stretch>
            <a:fillRect/>
          </a:stretch>
        </p:blipFill>
        <p:spPr>
          <a:xfrm>
            <a:off x="6292243" y="4822024"/>
            <a:ext cx="1197089" cy="197204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46659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Line Callout 1 28">
            <a:extLst>
              <a:ext uri="{FF2B5EF4-FFF2-40B4-BE49-F238E27FC236}">
                <a16:creationId xmlns:a16="http://schemas.microsoft.com/office/drawing/2014/main" id="{17AD99AB-0C7C-4844-B18A-01DCABC68CBA}"/>
              </a:ext>
            </a:extLst>
          </p:cNvPr>
          <p:cNvSpPr/>
          <p:nvPr/>
        </p:nvSpPr>
        <p:spPr>
          <a:xfrm>
            <a:off x="8334489" y="1258759"/>
            <a:ext cx="3727646" cy="1874948"/>
          </a:xfrm>
          <a:prstGeom prst="borderCallout1">
            <a:avLst>
              <a:gd name="adj1" fmla="val 17488"/>
              <a:gd name="adj2" fmla="val -3199"/>
              <a:gd name="adj3" fmla="val 31749"/>
              <a:gd name="adj4" fmla="val -23501"/>
            </a:avLst>
          </a:prstGeom>
          <a:gradFill flip="none" rotWithShape="1">
            <a:gsLst>
              <a:gs pos="0">
                <a:schemeClr val="accent4">
                  <a:lumMod val="5000"/>
                  <a:lumOff val="95000"/>
                </a:schemeClr>
              </a:gs>
              <a:gs pos="100000">
                <a:schemeClr val="accent4">
                  <a:lumMod val="20000"/>
                  <a:lumOff val="80000"/>
                </a:schemeClr>
              </a:gs>
            </a:gsLst>
            <a:lin ang="54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E93CA4-9DCC-394A-8F47-EA5733361020}"/>
              </a:ext>
            </a:extLst>
          </p:cNvPr>
          <p:cNvSpPr>
            <a:spLocks noGrp="1"/>
          </p:cNvSpPr>
          <p:nvPr>
            <p:ph type="title"/>
          </p:nvPr>
        </p:nvSpPr>
        <p:spPr/>
        <p:txBody>
          <a:bodyPr/>
          <a:lstStyle/>
          <a:p>
            <a:r>
              <a:rPr lang="en-ZA" dirty="0"/>
              <a:t>Key Concepts: Data, Attributes, and Features</a:t>
            </a:r>
            <a:endParaRPr lang="en-US" dirty="0"/>
          </a:p>
        </p:txBody>
      </p:sp>
      <p:sp>
        <p:nvSpPr>
          <p:cNvPr id="3" name="Slide Number Placeholder 2">
            <a:extLst>
              <a:ext uri="{FF2B5EF4-FFF2-40B4-BE49-F238E27FC236}">
                <a16:creationId xmlns:a16="http://schemas.microsoft.com/office/drawing/2014/main" id="{74FF6DF7-86B3-5549-8F90-A81AC136AC31}"/>
              </a:ext>
            </a:extLst>
          </p:cNvPr>
          <p:cNvSpPr>
            <a:spLocks noGrp="1"/>
          </p:cNvSpPr>
          <p:nvPr>
            <p:ph type="sldNum" sz="quarter" idx="12"/>
          </p:nvPr>
        </p:nvSpPr>
        <p:spPr/>
        <p:txBody>
          <a:bodyPr/>
          <a:lstStyle/>
          <a:p>
            <a:fld id="{591A223C-FA10-BC46-A853-03BA373D023C}" type="slidenum">
              <a:rPr lang="en-US" smtClean="0"/>
              <a:t>8</a:t>
            </a:fld>
            <a:endParaRPr lang="en-US"/>
          </a:p>
        </p:txBody>
      </p:sp>
      <p:pic>
        <p:nvPicPr>
          <p:cNvPr id="7" name="Picture 6">
            <a:extLst>
              <a:ext uri="{FF2B5EF4-FFF2-40B4-BE49-F238E27FC236}">
                <a16:creationId xmlns:a16="http://schemas.microsoft.com/office/drawing/2014/main" id="{B4C5AD23-D28B-EA48-A654-BDCB327AAF58}"/>
              </a:ext>
            </a:extLst>
          </p:cNvPr>
          <p:cNvPicPr>
            <a:picLocks noChangeAspect="1"/>
          </p:cNvPicPr>
          <p:nvPr/>
        </p:nvPicPr>
        <p:blipFill>
          <a:blip r:embed="rId3"/>
          <a:stretch>
            <a:fillRect/>
          </a:stretch>
        </p:blipFill>
        <p:spPr>
          <a:xfrm>
            <a:off x="197733" y="876349"/>
            <a:ext cx="2452583" cy="2452583"/>
          </a:xfrm>
          <a:prstGeom prst="rect">
            <a:avLst/>
          </a:prstGeom>
        </p:spPr>
      </p:pic>
      <p:pic>
        <p:nvPicPr>
          <p:cNvPr id="9" name="Picture 8">
            <a:extLst>
              <a:ext uri="{FF2B5EF4-FFF2-40B4-BE49-F238E27FC236}">
                <a16:creationId xmlns:a16="http://schemas.microsoft.com/office/drawing/2014/main" id="{703DBB57-F9FE-6F4C-858F-351B859DCC45}"/>
              </a:ext>
            </a:extLst>
          </p:cNvPr>
          <p:cNvPicPr>
            <a:picLocks noChangeAspect="1"/>
          </p:cNvPicPr>
          <p:nvPr/>
        </p:nvPicPr>
        <p:blipFill>
          <a:blip r:embed="rId4"/>
          <a:stretch>
            <a:fillRect/>
          </a:stretch>
        </p:blipFill>
        <p:spPr>
          <a:xfrm>
            <a:off x="2742865" y="1105242"/>
            <a:ext cx="2449741" cy="2057400"/>
          </a:xfrm>
          <a:prstGeom prst="rect">
            <a:avLst/>
          </a:prstGeom>
        </p:spPr>
      </p:pic>
      <p:sp>
        <p:nvSpPr>
          <p:cNvPr id="15" name="TextBox 14">
            <a:extLst>
              <a:ext uri="{FF2B5EF4-FFF2-40B4-BE49-F238E27FC236}">
                <a16:creationId xmlns:a16="http://schemas.microsoft.com/office/drawing/2014/main" id="{6083B7CF-E79F-0E48-B936-F35D59CDB8B1}"/>
              </a:ext>
            </a:extLst>
          </p:cNvPr>
          <p:cNvSpPr txBox="1"/>
          <p:nvPr/>
        </p:nvSpPr>
        <p:spPr>
          <a:xfrm>
            <a:off x="288017" y="4241649"/>
            <a:ext cx="11078802" cy="2677656"/>
          </a:xfrm>
          <a:prstGeom prst="rect">
            <a:avLst/>
          </a:prstGeom>
          <a:noFill/>
        </p:spPr>
        <p:txBody>
          <a:bodyPr wrap="none" rtlCol="0">
            <a:spAutoFit/>
          </a:bodyPr>
          <a:lstStyle/>
          <a:p>
            <a:r>
              <a:rPr lang="en-ZA" sz="2400" b="1" dirty="0">
                <a:latin typeface="+mj-lt"/>
              </a:rPr>
              <a:t>Data: </a:t>
            </a:r>
            <a:r>
              <a:rPr lang="en-ZA" sz="2400" dirty="0">
                <a:latin typeface="+mj-lt"/>
              </a:rPr>
              <a:t>Facts or measurements (e.g., floor size = 100 m², rooms = 2)</a:t>
            </a:r>
          </a:p>
          <a:p>
            <a:r>
              <a:rPr lang="en-ZA" sz="2400" b="1" dirty="0">
                <a:latin typeface="+mj-lt"/>
              </a:rPr>
              <a:t>Data point: </a:t>
            </a:r>
            <a:r>
              <a:rPr lang="en-ZA" sz="2400" dirty="0">
                <a:latin typeface="+mj-lt"/>
              </a:rPr>
              <a:t>One example in the dataset (e.g., one house: 120 m², 3 rooms)</a:t>
            </a:r>
          </a:p>
          <a:p>
            <a:r>
              <a:rPr lang="en-ZA" sz="2400" b="1" dirty="0">
                <a:latin typeface="+mj-lt"/>
              </a:rPr>
              <a:t>Attribute: </a:t>
            </a:r>
            <a:r>
              <a:rPr lang="en-ZA" sz="2400" dirty="0">
                <a:latin typeface="+mj-lt"/>
              </a:rPr>
              <a:t>A property of the data as originally collected (e.g., size in square meters)</a:t>
            </a:r>
          </a:p>
          <a:p>
            <a:r>
              <a:rPr lang="en-ZA" sz="2400" b="1" dirty="0">
                <a:latin typeface="+mj-lt"/>
              </a:rPr>
              <a:t>Feature: </a:t>
            </a:r>
            <a:r>
              <a:rPr lang="en-ZA" sz="2400" dirty="0">
                <a:latin typeface="+mj-lt"/>
              </a:rPr>
              <a:t>An attribute selected or transformed for use in a model (e.g., normalized size)</a:t>
            </a:r>
          </a:p>
          <a:p>
            <a:r>
              <a:rPr lang="en-ZA" sz="2400" b="1" dirty="0">
                <a:latin typeface="+mj-lt"/>
              </a:rPr>
              <a:t>Feature vector: </a:t>
            </a:r>
            <a:r>
              <a:rPr lang="en-ZA" sz="2400" dirty="0">
                <a:latin typeface="+mj-lt"/>
              </a:rPr>
              <a:t>Set of features describing one data point (e.g., [x1​,x2​])</a:t>
            </a:r>
          </a:p>
          <a:p>
            <a:r>
              <a:rPr lang="en-ZA" sz="2400" b="1" dirty="0">
                <a:latin typeface="+mj-lt"/>
              </a:rPr>
              <a:t>Feature space: </a:t>
            </a:r>
            <a:r>
              <a:rPr lang="en-ZA" sz="2400" dirty="0">
                <a:latin typeface="+mj-lt"/>
              </a:rPr>
              <a:t>The n-dimensional space defined by the features (2 features → 2D space)</a:t>
            </a:r>
          </a:p>
          <a:p>
            <a:r>
              <a:rPr lang="en-ZA" sz="2400" b="1" dirty="0">
                <a:latin typeface="+mj-lt"/>
              </a:rPr>
              <a:t>Dataset: </a:t>
            </a:r>
            <a:r>
              <a:rPr lang="en-ZA" sz="2400" dirty="0">
                <a:latin typeface="+mj-lt"/>
              </a:rPr>
              <a:t>The complete collection of data points used for training and testing a model.</a:t>
            </a:r>
          </a:p>
        </p:txBody>
      </p:sp>
      <p:pic>
        <p:nvPicPr>
          <p:cNvPr id="16" name="Picture 15">
            <a:extLst>
              <a:ext uri="{FF2B5EF4-FFF2-40B4-BE49-F238E27FC236}">
                <a16:creationId xmlns:a16="http://schemas.microsoft.com/office/drawing/2014/main" id="{527C9D02-E5EE-634F-B2DC-0AC46ECA2BB4}"/>
              </a:ext>
            </a:extLst>
          </p:cNvPr>
          <p:cNvPicPr>
            <a:picLocks noChangeAspect="1"/>
          </p:cNvPicPr>
          <p:nvPr/>
        </p:nvPicPr>
        <p:blipFill>
          <a:blip r:embed="rId5"/>
          <a:stretch>
            <a:fillRect/>
          </a:stretch>
        </p:blipFill>
        <p:spPr>
          <a:xfrm>
            <a:off x="5102744" y="1089174"/>
            <a:ext cx="2827021" cy="2089537"/>
          </a:xfrm>
          <a:prstGeom prst="rect">
            <a:avLst/>
          </a:prstGeom>
        </p:spPr>
      </p:pic>
      <p:sp>
        <p:nvSpPr>
          <p:cNvPr id="17" name="Right Brace 16">
            <a:extLst>
              <a:ext uri="{FF2B5EF4-FFF2-40B4-BE49-F238E27FC236}">
                <a16:creationId xmlns:a16="http://schemas.microsoft.com/office/drawing/2014/main" id="{5C0981B1-221A-E74C-8290-79F1A5936F3C}"/>
              </a:ext>
            </a:extLst>
          </p:cNvPr>
          <p:cNvSpPr/>
          <p:nvPr/>
        </p:nvSpPr>
        <p:spPr>
          <a:xfrm rot="5400000">
            <a:off x="4153172" y="159739"/>
            <a:ext cx="410934" cy="6644643"/>
          </a:xfrm>
          <a:prstGeom prst="rightBrace">
            <a:avLst>
              <a:gd name="adj1" fmla="val 91901"/>
              <a:gd name="adj2" fmla="val 50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3BE163A7-E86D-B848-9C14-97B5913669D4}"/>
              </a:ext>
            </a:extLst>
          </p:cNvPr>
          <p:cNvSpPr txBox="1"/>
          <p:nvPr/>
        </p:nvSpPr>
        <p:spPr>
          <a:xfrm>
            <a:off x="2795519" y="3651159"/>
            <a:ext cx="2976392" cy="446276"/>
          </a:xfrm>
          <a:prstGeom prst="rect">
            <a:avLst/>
          </a:prstGeom>
          <a:noFill/>
        </p:spPr>
        <p:txBody>
          <a:bodyPr wrap="none" rtlCol="0">
            <a:spAutoFit/>
          </a:bodyPr>
          <a:lstStyle/>
          <a:p>
            <a:r>
              <a:rPr lang="en-US" sz="2300" dirty="0" err="1">
                <a:latin typeface="+mj-lt"/>
              </a:rPr>
              <a:t>datatset</a:t>
            </a:r>
            <a:r>
              <a:rPr lang="en-US" sz="2300" dirty="0">
                <a:latin typeface="+mj-lt"/>
              </a:rPr>
              <a:t> = 3 data points</a:t>
            </a: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E164555-EDE2-994C-876A-3FCCC8850980}"/>
                  </a:ext>
                </a:extLst>
              </p:cNvPr>
              <p:cNvSpPr/>
              <p:nvPr/>
            </p:nvSpPr>
            <p:spPr>
              <a:xfrm>
                <a:off x="8338685" y="2011454"/>
                <a:ext cx="3729804" cy="8107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𝑥</m:t>
                      </m:r>
                      <m:r>
                        <a:rPr lang="en-US" sz="2800" i="1" smtClean="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a:rPr lang="en-US" sz="2800" b="0" i="1" smtClean="0">
                                    <a:latin typeface="Cambria Math" panose="02040503050406030204" pitchFamily="18" charset="0"/>
                                  </a:rPr>
                                  <m:t>𝑠𝑖𝑧𝑒</m:t>
                                </m:r>
                              </m:e>
                            </m:mr>
                            <m:mr>
                              <m:e>
                                <m:r>
                                  <a:rPr lang="en-US" sz="2800" b="0" i="1" smtClean="0">
                                    <a:latin typeface="Cambria Math" panose="02040503050406030204" pitchFamily="18" charset="0"/>
                                    <a:ea typeface="Cambria Math" panose="02040503050406030204" pitchFamily="18" charset="0"/>
                                  </a:rPr>
                                  <m:t>𝑟𝑜𝑜𝑚𝑠</m:t>
                                </m:r>
                              </m:e>
                            </m:mr>
                          </m:m>
                        </m:e>
                      </m:d>
                      <m:r>
                        <a:rPr lang="en-US" sz="2800" b="0" i="1" smtClean="0">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b="0" i="1">
                                  <a:latin typeface="Cambria Math" panose="02040503050406030204" pitchFamily="18" charset="0"/>
                                </a:rPr>
                              </m:ctrlPr>
                            </m:mPr>
                            <m:mr>
                              <m:e>
                                <m:r>
                                  <a:rPr lang="en-US" sz="2800" b="0" i="1" smtClean="0">
                                    <a:latin typeface="Cambria Math" panose="02040503050406030204" pitchFamily="18" charset="0"/>
                                  </a:rPr>
                                  <m:t>120</m:t>
                                </m:r>
                              </m:e>
                            </m:mr>
                            <m:mr>
                              <m:e>
                                <m:r>
                                  <a:rPr lang="en-US" sz="2800" b="0" i="1" smtClean="0">
                                    <a:latin typeface="Cambria Math" panose="02040503050406030204" pitchFamily="18" charset="0"/>
                                    <a:ea typeface="Cambria Math" panose="02040503050406030204" pitchFamily="18" charset="0"/>
                                  </a:rPr>
                                  <m:t>3</m:t>
                                </m:r>
                              </m:e>
                            </m:mr>
                          </m:m>
                        </m:e>
                      </m:d>
                    </m:oMath>
                  </m:oMathPara>
                </a14:m>
                <a:endParaRPr lang="en-US" sz="2800" dirty="0"/>
              </a:p>
            </p:txBody>
          </p:sp>
        </mc:Choice>
        <mc:Fallback xmlns="">
          <p:sp>
            <p:nvSpPr>
              <p:cNvPr id="19" name="Rectangle 18">
                <a:extLst>
                  <a:ext uri="{FF2B5EF4-FFF2-40B4-BE49-F238E27FC236}">
                    <a16:creationId xmlns:a16="http://schemas.microsoft.com/office/drawing/2014/main" id="{6E164555-EDE2-994C-876A-3FCCC8850980}"/>
                  </a:ext>
                </a:extLst>
              </p:cNvPr>
              <p:cNvSpPr>
                <a:spLocks noRot="1" noChangeAspect="1" noMove="1" noResize="1" noEditPoints="1" noAdjustHandles="1" noChangeArrowheads="1" noChangeShapeType="1" noTextEdit="1"/>
              </p:cNvSpPr>
              <p:nvPr/>
            </p:nvSpPr>
            <p:spPr>
              <a:xfrm>
                <a:off x="8338685" y="2011454"/>
                <a:ext cx="3729804" cy="810799"/>
              </a:xfrm>
              <a:prstGeom prst="rect">
                <a:avLst/>
              </a:prstGeom>
              <a:blipFill>
                <a:blip r:embed="rId6"/>
                <a:stretch>
                  <a:fillRect b="-7692"/>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E8D1B83D-ACB9-6547-919C-F764D2B2D835}"/>
              </a:ext>
            </a:extLst>
          </p:cNvPr>
          <p:cNvSpPr txBox="1"/>
          <p:nvPr/>
        </p:nvSpPr>
        <p:spPr>
          <a:xfrm>
            <a:off x="9239489" y="3648956"/>
            <a:ext cx="2804160" cy="446276"/>
          </a:xfrm>
          <a:prstGeom prst="rect">
            <a:avLst/>
          </a:prstGeom>
          <a:noFill/>
        </p:spPr>
        <p:txBody>
          <a:bodyPr wrap="square" rtlCol="0">
            <a:spAutoFit/>
          </a:bodyPr>
          <a:lstStyle/>
          <a:p>
            <a:r>
              <a:rPr lang="en-US" sz="2300" dirty="0">
                <a:latin typeface="+mj-lt"/>
              </a:rPr>
              <a:t>2D feature vector</a:t>
            </a:r>
          </a:p>
        </p:txBody>
      </p:sp>
      <p:sp>
        <p:nvSpPr>
          <p:cNvPr id="24" name="Right Brace 23">
            <a:extLst>
              <a:ext uri="{FF2B5EF4-FFF2-40B4-BE49-F238E27FC236}">
                <a16:creationId xmlns:a16="http://schemas.microsoft.com/office/drawing/2014/main" id="{5FFD7C48-071A-754B-ABB6-2718DEC739B6}"/>
              </a:ext>
            </a:extLst>
          </p:cNvPr>
          <p:cNvSpPr/>
          <p:nvPr/>
        </p:nvSpPr>
        <p:spPr>
          <a:xfrm rot="5400000">
            <a:off x="9998120" y="2014524"/>
            <a:ext cx="410934" cy="2942135"/>
          </a:xfrm>
          <a:prstGeom prst="rightBrace">
            <a:avLst>
              <a:gd name="adj1" fmla="val 91901"/>
              <a:gd name="adj2" fmla="val 504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a:extLst>
              <a:ext uri="{FF2B5EF4-FFF2-40B4-BE49-F238E27FC236}">
                <a16:creationId xmlns:a16="http://schemas.microsoft.com/office/drawing/2014/main" id="{EB6A9EE8-DFC6-5C43-B607-27EA6302BC5A}"/>
              </a:ext>
            </a:extLst>
          </p:cNvPr>
          <p:cNvSpPr txBox="1"/>
          <p:nvPr/>
        </p:nvSpPr>
        <p:spPr>
          <a:xfrm>
            <a:off x="9864234" y="1295298"/>
            <a:ext cx="1702831" cy="446276"/>
          </a:xfrm>
          <a:prstGeom prst="rect">
            <a:avLst/>
          </a:prstGeom>
          <a:noFill/>
        </p:spPr>
        <p:txBody>
          <a:bodyPr wrap="square" rtlCol="0">
            <a:spAutoFit/>
          </a:bodyPr>
          <a:lstStyle/>
          <a:p>
            <a:pPr algn="ctr"/>
            <a:r>
              <a:rPr lang="en-US" sz="2300" dirty="0">
                <a:latin typeface="+mj-lt"/>
              </a:rPr>
              <a:t>features</a:t>
            </a:r>
          </a:p>
        </p:txBody>
      </p:sp>
      <p:cxnSp>
        <p:nvCxnSpPr>
          <p:cNvPr id="25" name="Straight Arrow Connector 24">
            <a:extLst>
              <a:ext uri="{FF2B5EF4-FFF2-40B4-BE49-F238E27FC236}">
                <a16:creationId xmlns:a16="http://schemas.microsoft.com/office/drawing/2014/main" id="{69DCAB45-2EC0-1943-A5FA-B44D99579884}"/>
              </a:ext>
            </a:extLst>
          </p:cNvPr>
          <p:cNvCxnSpPr>
            <a:cxnSpLocks/>
          </p:cNvCxnSpPr>
          <p:nvPr/>
        </p:nvCxnSpPr>
        <p:spPr>
          <a:xfrm flipH="1">
            <a:off x="10017912" y="1773452"/>
            <a:ext cx="490022" cy="23800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1014503-75D9-B048-9C55-5BC735F013DC}"/>
              </a:ext>
            </a:extLst>
          </p:cNvPr>
          <p:cNvCxnSpPr>
            <a:cxnSpLocks/>
          </p:cNvCxnSpPr>
          <p:nvPr/>
        </p:nvCxnSpPr>
        <p:spPr>
          <a:xfrm>
            <a:off x="10920695" y="1773452"/>
            <a:ext cx="490022" cy="23800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348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FD33E-B05A-2341-BECE-6D961D911FFE}"/>
              </a:ext>
            </a:extLst>
          </p:cNvPr>
          <p:cNvSpPr>
            <a:spLocks noGrp="1"/>
          </p:cNvSpPr>
          <p:nvPr>
            <p:ph type="title"/>
          </p:nvPr>
        </p:nvSpPr>
        <p:spPr/>
        <p:txBody>
          <a:bodyPr/>
          <a:lstStyle/>
          <a:p>
            <a:r>
              <a:rPr lang="en-ZA" dirty="0"/>
              <a:t>Quantum Machine Learning by Data and Algorithm Type</a:t>
            </a:r>
            <a:endParaRPr lang="en-US" dirty="0"/>
          </a:p>
        </p:txBody>
      </p:sp>
      <p:sp>
        <p:nvSpPr>
          <p:cNvPr id="3" name="Slide Number Placeholder 2">
            <a:extLst>
              <a:ext uri="{FF2B5EF4-FFF2-40B4-BE49-F238E27FC236}">
                <a16:creationId xmlns:a16="http://schemas.microsoft.com/office/drawing/2014/main" id="{113A1190-059B-2E47-A8F1-6349CDCBCB93}"/>
              </a:ext>
            </a:extLst>
          </p:cNvPr>
          <p:cNvSpPr>
            <a:spLocks noGrp="1"/>
          </p:cNvSpPr>
          <p:nvPr>
            <p:ph type="sldNum" sz="quarter" idx="12"/>
          </p:nvPr>
        </p:nvSpPr>
        <p:spPr/>
        <p:txBody>
          <a:bodyPr/>
          <a:lstStyle/>
          <a:p>
            <a:fld id="{591A223C-FA10-BC46-A853-03BA373D023C}" type="slidenum">
              <a:rPr lang="en-US" smtClean="0"/>
              <a:t>9</a:t>
            </a:fld>
            <a:endParaRPr lang="en-US"/>
          </a:p>
        </p:txBody>
      </p:sp>
      <p:sp>
        <p:nvSpPr>
          <p:cNvPr id="7" name="Rounded Rectangle 6">
            <a:extLst>
              <a:ext uri="{FF2B5EF4-FFF2-40B4-BE49-F238E27FC236}">
                <a16:creationId xmlns:a16="http://schemas.microsoft.com/office/drawing/2014/main" id="{9A634B0C-D3FA-9F4F-90ED-9E2A3358A82E}"/>
              </a:ext>
            </a:extLst>
          </p:cNvPr>
          <p:cNvSpPr/>
          <p:nvPr/>
        </p:nvSpPr>
        <p:spPr>
          <a:xfrm>
            <a:off x="4122420" y="1866900"/>
            <a:ext cx="2160000" cy="216000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CC</a:t>
            </a:r>
          </a:p>
        </p:txBody>
      </p:sp>
      <p:sp>
        <p:nvSpPr>
          <p:cNvPr id="19" name="Rounded Rectangle 18">
            <a:extLst>
              <a:ext uri="{FF2B5EF4-FFF2-40B4-BE49-F238E27FC236}">
                <a16:creationId xmlns:a16="http://schemas.microsoft.com/office/drawing/2014/main" id="{C7298603-5DCD-0C4C-8B3C-3583CAACD7BF}"/>
              </a:ext>
            </a:extLst>
          </p:cNvPr>
          <p:cNvSpPr/>
          <p:nvPr/>
        </p:nvSpPr>
        <p:spPr>
          <a:xfrm>
            <a:off x="6408420" y="1866900"/>
            <a:ext cx="2160000" cy="21600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CQ</a:t>
            </a:r>
          </a:p>
        </p:txBody>
      </p:sp>
      <p:sp>
        <p:nvSpPr>
          <p:cNvPr id="20" name="Rounded Rectangle 19">
            <a:extLst>
              <a:ext uri="{FF2B5EF4-FFF2-40B4-BE49-F238E27FC236}">
                <a16:creationId xmlns:a16="http://schemas.microsoft.com/office/drawing/2014/main" id="{6A8A0623-C6E5-1A48-8369-BF898C82C6B7}"/>
              </a:ext>
            </a:extLst>
          </p:cNvPr>
          <p:cNvSpPr/>
          <p:nvPr/>
        </p:nvSpPr>
        <p:spPr>
          <a:xfrm>
            <a:off x="4122420" y="4142375"/>
            <a:ext cx="2160000" cy="2160000"/>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QC</a:t>
            </a:r>
          </a:p>
        </p:txBody>
      </p:sp>
      <p:sp>
        <p:nvSpPr>
          <p:cNvPr id="21" name="Rounded Rectangle 20">
            <a:extLst>
              <a:ext uri="{FF2B5EF4-FFF2-40B4-BE49-F238E27FC236}">
                <a16:creationId xmlns:a16="http://schemas.microsoft.com/office/drawing/2014/main" id="{F00DA8C6-1F4D-AD47-BBB5-69D9377D8B70}"/>
              </a:ext>
            </a:extLst>
          </p:cNvPr>
          <p:cNvSpPr/>
          <p:nvPr/>
        </p:nvSpPr>
        <p:spPr>
          <a:xfrm>
            <a:off x="6408420" y="4142375"/>
            <a:ext cx="2160000" cy="2160000"/>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solidFill>
                  <a:schemeClr val="tx1"/>
                </a:solidFill>
              </a:rPr>
              <a:t>QQ</a:t>
            </a:r>
          </a:p>
        </p:txBody>
      </p:sp>
      <p:sp>
        <p:nvSpPr>
          <p:cNvPr id="11" name="TextBox 10">
            <a:extLst>
              <a:ext uri="{FF2B5EF4-FFF2-40B4-BE49-F238E27FC236}">
                <a16:creationId xmlns:a16="http://schemas.microsoft.com/office/drawing/2014/main" id="{EE5AEB0B-CF4B-BA4F-95D0-64C49524AB06}"/>
              </a:ext>
            </a:extLst>
          </p:cNvPr>
          <p:cNvSpPr txBox="1"/>
          <p:nvPr/>
        </p:nvSpPr>
        <p:spPr>
          <a:xfrm>
            <a:off x="4457700" y="1295400"/>
            <a:ext cx="1509516" cy="584775"/>
          </a:xfrm>
          <a:prstGeom prst="rect">
            <a:avLst/>
          </a:prstGeom>
          <a:noFill/>
        </p:spPr>
        <p:txBody>
          <a:bodyPr wrap="none" rtlCol="0">
            <a:spAutoFit/>
          </a:bodyPr>
          <a:lstStyle/>
          <a:p>
            <a:r>
              <a:rPr lang="en-US" sz="3200" dirty="0">
                <a:latin typeface="+mj-lt"/>
              </a:rPr>
              <a:t>classical</a:t>
            </a:r>
          </a:p>
        </p:txBody>
      </p:sp>
      <p:sp>
        <p:nvSpPr>
          <p:cNvPr id="22" name="TextBox 21">
            <a:extLst>
              <a:ext uri="{FF2B5EF4-FFF2-40B4-BE49-F238E27FC236}">
                <a16:creationId xmlns:a16="http://schemas.microsoft.com/office/drawing/2014/main" id="{0C10DC71-12C8-0C4D-B315-0B4795CBC37E}"/>
              </a:ext>
            </a:extLst>
          </p:cNvPr>
          <p:cNvSpPr txBox="1"/>
          <p:nvPr/>
        </p:nvSpPr>
        <p:spPr>
          <a:xfrm>
            <a:off x="6617700" y="1295400"/>
            <a:ext cx="1687450" cy="584775"/>
          </a:xfrm>
          <a:prstGeom prst="rect">
            <a:avLst/>
          </a:prstGeom>
          <a:noFill/>
        </p:spPr>
        <p:txBody>
          <a:bodyPr wrap="none" rtlCol="0">
            <a:spAutoFit/>
          </a:bodyPr>
          <a:lstStyle/>
          <a:p>
            <a:r>
              <a:rPr lang="en-US" sz="3200" dirty="0">
                <a:latin typeface="+mj-lt"/>
              </a:rPr>
              <a:t>quantum</a:t>
            </a:r>
          </a:p>
        </p:txBody>
      </p:sp>
      <p:sp>
        <p:nvSpPr>
          <p:cNvPr id="23" name="TextBox 22">
            <a:extLst>
              <a:ext uri="{FF2B5EF4-FFF2-40B4-BE49-F238E27FC236}">
                <a16:creationId xmlns:a16="http://schemas.microsoft.com/office/drawing/2014/main" id="{54E4C535-8558-DA46-BBA5-EB74DF357079}"/>
              </a:ext>
            </a:extLst>
          </p:cNvPr>
          <p:cNvSpPr txBox="1"/>
          <p:nvPr/>
        </p:nvSpPr>
        <p:spPr>
          <a:xfrm rot="16200000">
            <a:off x="2719887" y="2654513"/>
            <a:ext cx="1509516" cy="584775"/>
          </a:xfrm>
          <a:prstGeom prst="rect">
            <a:avLst/>
          </a:prstGeom>
          <a:noFill/>
        </p:spPr>
        <p:txBody>
          <a:bodyPr wrap="none" rtlCol="0">
            <a:spAutoFit/>
          </a:bodyPr>
          <a:lstStyle/>
          <a:p>
            <a:r>
              <a:rPr lang="en-US" sz="3200" dirty="0">
                <a:latin typeface="+mj-lt"/>
              </a:rPr>
              <a:t>classical</a:t>
            </a:r>
          </a:p>
        </p:txBody>
      </p:sp>
      <p:sp>
        <p:nvSpPr>
          <p:cNvPr id="25" name="TextBox 24">
            <a:extLst>
              <a:ext uri="{FF2B5EF4-FFF2-40B4-BE49-F238E27FC236}">
                <a16:creationId xmlns:a16="http://schemas.microsoft.com/office/drawing/2014/main" id="{C7C6F345-ACD4-7C43-984F-1404CFA9CD91}"/>
              </a:ext>
            </a:extLst>
          </p:cNvPr>
          <p:cNvSpPr txBox="1"/>
          <p:nvPr/>
        </p:nvSpPr>
        <p:spPr>
          <a:xfrm rot="16200000">
            <a:off x="2630920" y="4929987"/>
            <a:ext cx="1687450" cy="584775"/>
          </a:xfrm>
          <a:prstGeom prst="rect">
            <a:avLst/>
          </a:prstGeom>
          <a:noFill/>
        </p:spPr>
        <p:txBody>
          <a:bodyPr wrap="none" rtlCol="0">
            <a:spAutoFit/>
          </a:bodyPr>
          <a:lstStyle/>
          <a:p>
            <a:r>
              <a:rPr lang="en-US" sz="3200" dirty="0">
                <a:latin typeface="+mj-lt"/>
              </a:rPr>
              <a:t>quantum</a:t>
            </a:r>
          </a:p>
        </p:txBody>
      </p:sp>
      <p:sp>
        <p:nvSpPr>
          <p:cNvPr id="12" name="TextBox 11">
            <a:extLst>
              <a:ext uri="{FF2B5EF4-FFF2-40B4-BE49-F238E27FC236}">
                <a16:creationId xmlns:a16="http://schemas.microsoft.com/office/drawing/2014/main" id="{766BEF37-9448-EB4F-9907-C24B8E9D174C}"/>
              </a:ext>
            </a:extLst>
          </p:cNvPr>
          <p:cNvSpPr txBox="1"/>
          <p:nvPr/>
        </p:nvSpPr>
        <p:spPr>
          <a:xfrm>
            <a:off x="4979210" y="753651"/>
            <a:ext cx="2606419" cy="584775"/>
          </a:xfrm>
          <a:prstGeom prst="rect">
            <a:avLst/>
          </a:prstGeom>
          <a:solidFill>
            <a:srgbClr val="F8F9F9"/>
          </a:solidFill>
        </p:spPr>
        <p:txBody>
          <a:bodyPr wrap="none" rtlCol="0">
            <a:spAutoFit/>
          </a:bodyPr>
          <a:lstStyle/>
          <a:p>
            <a:r>
              <a:rPr lang="en-US" sz="3200" dirty="0">
                <a:latin typeface="+mj-lt"/>
              </a:rPr>
              <a:t>algorithm type</a:t>
            </a:r>
          </a:p>
        </p:txBody>
      </p:sp>
      <p:sp>
        <p:nvSpPr>
          <p:cNvPr id="26" name="TextBox 25">
            <a:extLst>
              <a:ext uri="{FF2B5EF4-FFF2-40B4-BE49-F238E27FC236}">
                <a16:creationId xmlns:a16="http://schemas.microsoft.com/office/drawing/2014/main" id="{F13DA4A4-A251-6948-8492-26AD27F2E3BB}"/>
              </a:ext>
            </a:extLst>
          </p:cNvPr>
          <p:cNvSpPr txBox="1"/>
          <p:nvPr/>
        </p:nvSpPr>
        <p:spPr>
          <a:xfrm rot="16200000">
            <a:off x="2021908" y="3734513"/>
            <a:ext cx="1735924" cy="584775"/>
          </a:xfrm>
          <a:prstGeom prst="rect">
            <a:avLst/>
          </a:prstGeom>
          <a:solidFill>
            <a:srgbClr val="F8F9F9"/>
          </a:solidFill>
        </p:spPr>
        <p:txBody>
          <a:bodyPr wrap="none" rtlCol="0">
            <a:spAutoFit/>
          </a:bodyPr>
          <a:lstStyle/>
          <a:p>
            <a:r>
              <a:rPr lang="en-US" sz="3200" dirty="0">
                <a:latin typeface="+mj-lt"/>
              </a:rPr>
              <a:t>data type</a:t>
            </a:r>
          </a:p>
        </p:txBody>
      </p:sp>
      <p:sp>
        <p:nvSpPr>
          <p:cNvPr id="27" name="TextBox 26">
            <a:extLst>
              <a:ext uri="{FF2B5EF4-FFF2-40B4-BE49-F238E27FC236}">
                <a16:creationId xmlns:a16="http://schemas.microsoft.com/office/drawing/2014/main" id="{3A73CFE9-499B-B741-892D-BA280AB437FC}"/>
              </a:ext>
            </a:extLst>
          </p:cNvPr>
          <p:cNvSpPr txBox="1"/>
          <p:nvPr/>
        </p:nvSpPr>
        <p:spPr>
          <a:xfrm>
            <a:off x="77016" y="6347834"/>
            <a:ext cx="6795258" cy="369332"/>
          </a:xfrm>
          <a:prstGeom prst="rect">
            <a:avLst/>
          </a:prstGeom>
          <a:noFill/>
        </p:spPr>
        <p:txBody>
          <a:bodyPr wrap="none" rtlCol="0">
            <a:spAutoFit/>
          </a:bodyPr>
          <a:lstStyle/>
          <a:p>
            <a:r>
              <a:rPr lang="en-US" dirty="0"/>
              <a:t>https://</a:t>
            </a:r>
            <a:r>
              <a:rPr lang="en-US" dirty="0" err="1"/>
              <a:t>commons.wikimedia.org</a:t>
            </a:r>
            <a:r>
              <a:rPr lang="en-US" dirty="0"/>
              <a:t>/wiki/</a:t>
            </a:r>
            <a:r>
              <a:rPr lang="en-US" dirty="0" err="1"/>
              <a:t>File:Qml_approaches.tif?page</a:t>
            </a:r>
            <a:r>
              <a:rPr lang="en-US" dirty="0"/>
              <a:t>=1</a:t>
            </a:r>
          </a:p>
        </p:txBody>
      </p:sp>
    </p:spTree>
    <p:extLst>
      <p:ext uri="{BB962C8B-B14F-4D97-AF65-F5344CB8AC3E}">
        <p14:creationId xmlns:p14="http://schemas.microsoft.com/office/powerpoint/2010/main" val="2909976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43DEF866-FBF2-7141-B708-5AAC9C545C8C}"/>
              </a:ext>
            </a:extLst>
          </p:cNvPr>
          <p:cNvSpPr/>
          <p:nvPr/>
        </p:nvSpPr>
        <p:spPr>
          <a:xfrm>
            <a:off x="2233275" y="2179161"/>
            <a:ext cx="7523711" cy="2664302"/>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4A8AE4-A7DD-0B47-BACF-048DE9C2D437}"/>
              </a:ext>
            </a:extLst>
          </p:cNvPr>
          <p:cNvSpPr>
            <a:spLocks noGrp="1"/>
          </p:cNvSpPr>
          <p:nvPr>
            <p:ph type="title"/>
          </p:nvPr>
        </p:nvSpPr>
        <p:spPr/>
        <p:txBody>
          <a:bodyPr/>
          <a:lstStyle/>
          <a:p>
            <a:r>
              <a:rPr lang="en-ZA" dirty="0"/>
              <a:t>Three-step QML</a:t>
            </a:r>
            <a:r>
              <a:rPr lang="en-US" dirty="0"/>
              <a:t> Model</a:t>
            </a:r>
          </a:p>
        </p:txBody>
      </p:sp>
      <p:sp>
        <p:nvSpPr>
          <p:cNvPr id="3" name="Slide Number Placeholder 2">
            <a:extLst>
              <a:ext uri="{FF2B5EF4-FFF2-40B4-BE49-F238E27FC236}">
                <a16:creationId xmlns:a16="http://schemas.microsoft.com/office/drawing/2014/main" id="{A80602A4-6E2A-D344-B50B-D3AA4968EB0F}"/>
              </a:ext>
            </a:extLst>
          </p:cNvPr>
          <p:cNvSpPr>
            <a:spLocks noGrp="1"/>
          </p:cNvSpPr>
          <p:nvPr>
            <p:ph type="sldNum" sz="quarter" idx="12"/>
          </p:nvPr>
        </p:nvSpPr>
        <p:spPr/>
        <p:txBody>
          <a:bodyPr/>
          <a:lstStyle/>
          <a:p>
            <a:fld id="{591A223C-FA10-BC46-A853-03BA373D023C}" type="slidenum">
              <a:rPr lang="en-US" smtClean="0"/>
              <a:t>10</a:t>
            </a:fld>
            <a:endParaRPr lang="en-US" dirty="0"/>
          </a:p>
        </p:txBody>
      </p:sp>
      <p:graphicFrame>
        <p:nvGraphicFramePr>
          <p:cNvPr id="5" name="Diagram 4">
            <a:extLst>
              <a:ext uri="{FF2B5EF4-FFF2-40B4-BE49-F238E27FC236}">
                <a16:creationId xmlns:a16="http://schemas.microsoft.com/office/drawing/2014/main" id="{26751D0C-69A6-B441-9369-DD254C1EE0DE}"/>
              </a:ext>
            </a:extLst>
          </p:cNvPr>
          <p:cNvGraphicFramePr/>
          <p:nvPr>
            <p:extLst>
              <p:ext uri="{D42A27DB-BD31-4B8C-83A1-F6EECF244321}">
                <p14:modId xmlns:p14="http://schemas.microsoft.com/office/powerpoint/2010/main" val="2400456434"/>
              </p:ext>
            </p:extLst>
          </p:nvPr>
        </p:nvGraphicFramePr>
        <p:xfrm>
          <a:off x="2285139" y="2407603"/>
          <a:ext cx="7349927" cy="26063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ight Arrow 5">
            <a:extLst>
              <a:ext uri="{FF2B5EF4-FFF2-40B4-BE49-F238E27FC236}">
                <a16:creationId xmlns:a16="http://schemas.microsoft.com/office/drawing/2014/main" id="{597A2C8D-2839-0B4F-B4C8-9CE946BAFDE7}"/>
              </a:ext>
            </a:extLst>
          </p:cNvPr>
          <p:cNvSpPr/>
          <p:nvPr/>
        </p:nvSpPr>
        <p:spPr>
          <a:xfrm>
            <a:off x="1288395" y="3475797"/>
            <a:ext cx="944880" cy="484891"/>
          </a:xfrm>
          <a:prstGeom prs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BEDEC0D8-8DA3-9048-9B41-99CB08A25EB1}"/>
              </a:ext>
            </a:extLst>
          </p:cNvPr>
          <p:cNvSpPr/>
          <p:nvPr/>
        </p:nvSpPr>
        <p:spPr>
          <a:xfrm>
            <a:off x="9756986" y="3475797"/>
            <a:ext cx="944880" cy="484891"/>
          </a:xfrm>
          <a:prstGeom prst="right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066AF74-2A47-7845-9A63-5C785546A7E1}"/>
              </a:ext>
            </a:extLst>
          </p:cNvPr>
          <p:cNvSpPr txBox="1"/>
          <p:nvPr/>
        </p:nvSpPr>
        <p:spPr>
          <a:xfrm>
            <a:off x="4298640" y="2327459"/>
            <a:ext cx="3392980" cy="584775"/>
          </a:xfrm>
          <a:prstGeom prst="rect">
            <a:avLst/>
          </a:prstGeom>
          <a:noFill/>
        </p:spPr>
        <p:txBody>
          <a:bodyPr wrap="none" rtlCol="0">
            <a:spAutoFit/>
          </a:bodyPr>
          <a:lstStyle/>
          <a:p>
            <a:r>
              <a:rPr lang="en-US" sz="3200" dirty="0">
                <a:latin typeface="+mj-lt"/>
              </a:rPr>
              <a:t>quantum computer</a:t>
            </a:r>
          </a:p>
        </p:txBody>
      </p:sp>
      <p:sp>
        <p:nvSpPr>
          <p:cNvPr id="12" name="TextBox 11">
            <a:extLst>
              <a:ext uri="{FF2B5EF4-FFF2-40B4-BE49-F238E27FC236}">
                <a16:creationId xmlns:a16="http://schemas.microsoft.com/office/drawing/2014/main" id="{BB652F41-7B74-9446-8B63-F37A6E37657C}"/>
              </a:ext>
            </a:extLst>
          </p:cNvPr>
          <p:cNvSpPr txBox="1"/>
          <p:nvPr/>
        </p:nvSpPr>
        <p:spPr>
          <a:xfrm>
            <a:off x="92486" y="2993385"/>
            <a:ext cx="1507336" cy="477054"/>
          </a:xfrm>
          <a:prstGeom prst="rect">
            <a:avLst/>
          </a:prstGeom>
          <a:noFill/>
        </p:spPr>
        <p:txBody>
          <a:bodyPr wrap="none" rtlCol="0">
            <a:spAutoFit/>
          </a:bodyPr>
          <a:lstStyle/>
          <a:p>
            <a:r>
              <a:rPr lang="en-US" sz="2500" dirty="0">
                <a:latin typeface="+mj-lt"/>
              </a:rPr>
              <a:t>Input data</a:t>
            </a:r>
          </a:p>
        </p:txBody>
      </p:sp>
      <p:sp>
        <p:nvSpPr>
          <p:cNvPr id="13" name="TextBox 12">
            <a:extLst>
              <a:ext uri="{FF2B5EF4-FFF2-40B4-BE49-F238E27FC236}">
                <a16:creationId xmlns:a16="http://schemas.microsoft.com/office/drawing/2014/main" id="{5F5E93E6-83C6-334E-A6A4-FF33D7EEE92F}"/>
              </a:ext>
            </a:extLst>
          </p:cNvPr>
          <p:cNvSpPr txBox="1"/>
          <p:nvPr/>
        </p:nvSpPr>
        <p:spPr>
          <a:xfrm>
            <a:off x="10411657" y="3000846"/>
            <a:ext cx="1499257" cy="477054"/>
          </a:xfrm>
          <a:prstGeom prst="rect">
            <a:avLst/>
          </a:prstGeom>
          <a:noFill/>
        </p:spPr>
        <p:txBody>
          <a:bodyPr wrap="none" rtlCol="0">
            <a:spAutoFit/>
          </a:bodyPr>
          <a:lstStyle/>
          <a:p>
            <a:r>
              <a:rPr lang="en-US" sz="2500" dirty="0">
                <a:latin typeface="+mj-lt"/>
              </a:rPr>
              <a:t>prediction</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B5B736E7-C7E3-CE45-B9C1-26DC7987F5A9}"/>
                  </a:ext>
                </a:extLst>
              </p:cNvPr>
              <p:cNvSpPr/>
              <p:nvPr/>
            </p:nvSpPr>
            <p:spPr>
              <a:xfrm>
                <a:off x="563125" y="3337674"/>
                <a:ext cx="588110"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𝑥</m:t>
                      </m:r>
                    </m:oMath>
                  </m:oMathPara>
                </a14:m>
                <a:endParaRPr lang="en-US" sz="4000" dirty="0"/>
              </a:p>
            </p:txBody>
          </p:sp>
        </mc:Choice>
        <mc:Fallback xmlns="">
          <p:sp>
            <p:nvSpPr>
              <p:cNvPr id="14" name="Rectangle 13">
                <a:extLst>
                  <a:ext uri="{FF2B5EF4-FFF2-40B4-BE49-F238E27FC236}">
                    <a16:creationId xmlns:a16="http://schemas.microsoft.com/office/drawing/2014/main" id="{B5B736E7-C7E3-CE45-B9C1-26DC7987F5A9}"/>
                  </a:ext>
                </a:extLst>
              </p:cNvPr>
              <p:cNvSpPr>
                <a:spLocks noRot="1" noChangeAspect="1" noMove="1" noResize="1" noEditPoints="1" noAdjustHandles="1" noChangeArrowheads="1" noChangeShapeType="1" noTextEdit="1"/>
              </p:cNvSpPr>
              <p:nvPr/>
            </p:nvSpPr>
            <p:spPr>
              <a:xfrm>
                <a:off x="563125" y="3337674"/>
                <a:ext cx="588110" cy="7078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B0520681-0533-AA48-9C06-4E780A11C819}"/>
                  </a:ext>
                </a:extLst>
              </p:cNvPr>
              <p:cNvSpPr/>
              <p:nvPr/>
            </p:nvSpPr>
            <p:spPr>
              <a:xfrm>
                <a:off x="10940841" y="3364299"/>
                <a:ext cx="595804"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𝑦</m:t>
                      </m:r>
                    </m:oMath>
                  </m:oMathPara>
                </a14:m>
                <a:endParaRPr lang="en-US" sz="4000" dirty="0"/>
              </a:p>
            </p:txBody>
          </p:sp>
        </mc:Choice>
        <mc:Fallback xmlns="">
          <p:sp>
            <p:nvSpPr>
              <p:cNvPr id="15" name="Rectangle 14">
                <a:extLst>
                  <a:ext uri="{FF2B5EF4-FFF2-40B4-BE49-F238E27FC236}">
                    <a16:creationId xmlns:a16="http://schemas.microsoft.com/office/drawing/2014/main" id="{B0520681-0533-AA48-9C06-4E780A11C819}"/>
                  </a:ext>
                </a:extLst>
              </p:cNvPr>
              <p:cNvSpPr>
                <a:spLocks noRot="1" noChangeAspect="1" noMove="1" noResize="1" noEditPoints="1" noAdjustHandles="1" noChangeArrowheads="1" noChangeShapeType="1" noTextEdit="1"/>
              </p:cNvSpPr>
              <p:nvPr/>
            </p:nvSpPr>
            <p:spPr>
              <a:xfrm>
                <a:off x="10940841" y="3364299"/>
                <a:ext cx="595804" cy="707886"/>
              </a:xfrm>
              <a:prstGeom prst="rect">
                <a:avLst/>
              </a:prstGeom>
              <a:blipFill>
                <a:blip r:embed="rId9"/>
                <a:stretch>
                  <a:fillRect l="-2083" r="-4167" b="-14035"/>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9E9FFA9-200C-FB44-8BB2-B70D5999CE96}"/>
              </a:ext>
            </a:extLst>
          </p:cNvPr>
          <p:cNvSpPr/>
          <p:nvPr/>
        </p:nvSpPr>
        <p:spPr>
          <a:xfrm>
            <a:off x="114189" y="5743955"/>
            <a:ext cx="7235232" cy="646331"/>
          </a:xfrm>
          <a:prstGeom prst="rect">
            <a:avLst/>
          </a:prstGeom>
        </p:spPr>
        <p:txBody>
          <a:bodyPr wrap="square">
            <a:spAutoFit/>
          </a:bodyPr>
          <a:lstStyle/>
          <a:p>
            <a:r>
              <a:rPr lang="en-US" dirty="0" err="1"/>
              <a:t>Schuld</a:t>
            </a:r>
            <a:r>
              <a:rPr lang="en-US" dirty="0"/>
              <a:t>, M.: Quantum machine learning models are kernel methods (2021). </a:t>
            </a:r>
            <a:r>
              <a:rPr lang="en-US" dirty="0" err="1"/>
              <a:t>arXiv</a:t>
            </a:r>
            <a:r>
              <a:rPr lang="en-US" dirty="0"/>
              <a:t> preprint arXiv:2101.11020</a:t>
            </a:r>
          </a:p>
        </p:txBody>
      </p:sp>
    </p:spTree>
    <p:extLst>
      <p:ext uri="{BB962C8B-B14F-4D97-AF65-F5344CB8AC3E}">
        <p14:creationId xmlns:p14="http://schemas.microsoft.com/office/powerpoint/2010/main" val="3198136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2E8174-632D-3241-B522-E74AC53CC8DC}"/>
              </a:ext>
            </a:extLst>
          </p:cNvPr>
          <p:cNvPicPr>
            <a:picLocks noChangeAspect="1"/>
          </p:cNvPicPr>
          <p:nvPr/>
        </p:nvPicPr>
        <p:blipFill>
          <a:blip r:embed="rId3"/>
          <a:stretch>
            <a:fillRect/>
          </a:stretch>
        </p:blipFill>
        <p:spPr>
          <a:xfrm>
            <a:off x="4930941" y="1115128"/>
            <a:ext cx="6583726" cy="5606347"/>
          </a:xfrm>
          <a:prstGeom prst="rect">
            <a:avLst/>
          </a:prstGeom>
        </p:spPr>
      </p:pic>
      <p:sp>
        <p:nvSpPr>
          <p:cNvPr id="3" name="Slide Number Placeholder 2">
            <a:extLst>
              <a:ext uri="{FF2B5EF4-FFF2-40B4-BE49-F238E27FC236}">
                <a16:creationId xmlns:a16="http://schemas.microsoft.com/office/drawing/2014/main" id="{2A42F42A-F169-794D-BDB9-C029E1ABBC04}"/>
              </a:ext>
            </a:extLst>
          </p:cNvPr>
          <p:cNvSpPr>
            <a:spLocks noGrp="1"/>
          </p:cNvSpPr>
          <p:nvPr>
            <p:ph type="sldNum" sz="quarter" idx="12"/>
          </p:nvPr>
        </p:nvSpPr>
        <p:spPr/>
        <p:txBody>
          <a:bodyPr/>
          <a:lstStyle/>
          <a:p>
            <a:fld id="{591A223C-FA10-BC46-A853-03BA373D023C}" type="slidenum">
              <a:rPr lang="en-US" smtClean="0"/>
              <a:t>11</a:t>
            </a:fld>
            <a:endParaRPr lang="en-US"/>
          </a:p>
        </p:txBody>
      </p:sp>
      <p:sp>
        <p:nvSpPr>
          <p:cNvPr id="5" name="TextBox 4">
            <a:extLst>
              <a:ext uri="{FF2B5EF4-FFF2-40B4-BE49-F238E27FC236}">
                <a16:creationId xmlns:a16="http://schemas.microsoft.com/office/drawing/2014/main" id="{C5A90BFD-3A58-AB40-BB50-EE429851989E}"/>
              </a:ext>
            </a:extLst>
          </p:cNvPr>
          <p:cNvSpPr txBox="1"/>
          <p:nvPr/>
        </p:nvSpPr>
        <p:spPr>
          <a:xfrm>
            <a:off x="263092" y="751953"/>
            <a:ext cx="4889480" cy="1323439"/>
          </a:xfrm>
          <a:prstGeom prst="rect">
            <a:avLst/>
          </a:prstGeom>
          <a:noFill/>
        </p:spPr>
        <p:txBody>
          <a:bodyPr wrap="none" rtlCol="0">
            <a:spAutoFit/>
          </a:bodyPr>
          <a:lstStyle/>
          <a:p>
            <a:pPr algn="just"/>
            <a:r>
              <a:rPr lang="en-ZA" sz="4000" dirty="0">
                <a:latin typeface="Comic Sans MS" panose="030F0902030302020204" pitchFamily="66" charset="0"/>
              </a:rPr>
              <a:t>Variational quantum</a:t>
            </a:r>
          </a:p>
          <a:p>
            <a:pPr algn="just"/>
            <a:r>
              <a:rPr lang="en-ZA" sz="4000" dirty="0">
                <a:latin typeface="Comic Sans MS" panose="030F0902030302020204" pitchFamily="66" charset="0"/>
              </a:rPr>
              <a:t>algorithms (VQAs)</a:t>
            </a:r>
            <a:endParaRPr lang="en-US" sz="4000" dirty="0">
              <a:latin typeface="Comic Sans MS" panose="030F0902030302020204" pitchFamily="66" charset="0"/>
            </a:endParaRPr>
          </a:p>
        </p:txBody>
      </p:sp>
      <p:pic>
        <p:nvPicPr>
          <p:cNvPr id="6" name="Picture 5">
            <a:extLst>
              <a:ext uri="{FF2B5EF4-FFF2-40B4-BE49-F238E27FC236}">
                <a16:creationId xmlns:a16="http://schemas.microsoft.com/office/drawing/2014/main" id="{1476B93D-BC15-1D47-AFAA-1EB96A3B75CB}"/>
              </a:ext>
            </a:extLst>
          </p:cNvPr>
          <p:cNvPicPr>
            <a:picLocks noChangeAspect="1"/>
          </p:cNvPicPr>
          <p:nvPr/>
        </p:nvPicPr>
        <p:blipFill>
          <a:blip r:embed="rId4"/>
          <a:stretch>
            <a:fillRect/>
          </a:stretch>
        </p:blipFill>
        <p:spPr>
          <a:xfrm rot="500313">
            <a:off x="2316776" y="3773175"/>
            <a:ext cx="4737100" cy="2755900"/>
          </a:xfrm>
          <a:prstGeom prst="rect">
            <a:avLst/>
          </a:prstGeom>
        </p:spPr>
      </p:pic>
    </p:spTree>
    <p:extLst>
      <p:ext uri="{BB962C8B-B14F-4D97-AF65-F5344CB8AC3E}">
        <p14:creationId xmlns:p14="http://schemas.microsoft.com/office/powerpoint/2010/main" val="3869085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Freeform 94">
            <a:extLst>
              <a:ext uri="{FF2B5EF4-FFF2-40B4-BE49-F238E27FC236}">
                <a16:creationId xmlns:a16="http://schemas.microsoft.com/office/drawing/2014/main" id="{631AD5B0-4F8D-A246-A5D1-823CEEA9A06F}"/>
              </a:ext>
            </a:extLst>
          </p:cNvPr>
          <p:cNvSpPr/>
          <p:nvPr/>
        </p:nvSpPr>
        <p:spPr>
          <a:xfrm rot="12679638" flipV="1">
            <a:off x="5991500" y="3721592"/>
            <a:ext cx="3825388" cy="3228322"/>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0"/>
                  <a:lumOff val="100000"/>
                </a:schemeClr>
              </a:gs>
              <a:gs pos="100000">
                <a:schemeClr val="accent1">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ZA" dirty="0"/>
              <a:t>Variational Quantum Model</a:t>
            </a:r>
            <a:endParaRPr lang="en-US" dirty="0"/>
          </a:p>
        </p:txBody>
      </p:sp>
      <p:cxnSp>
        <p:nvCxnSpPr>
          <p:cNvPr id="52" name="Straight Connector 51">
            <a:extLst>
              <a:ext uri="{FF2B5EF4-FFF2-40B4-BE49-F238E27FC236}">
                <a16:creationId xmlns:a16="http://schemas.microsoft.com/office/drawing/2014/main" id="{35D85CAF-9D3B-9449-9149-8966DF21AB52}"/>
              </a:ext>
            </a:extLst>
          </p:cNvPr>
          <p:cNvCxnSpPr>
            <a:cxnSpLocks/>
          </p:cNvCxnSpPr>
          <p:nvPr/>
        </p:nvCxnSpPr>
        <p:spPr>
          <a:xfrm>
            <a:off x="2677716" y="3230959"/>
            <a:ext cx="7012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F16D5D0-A28A-FD45-A13A-0C90C0998E1D}"/>
              </a:ext>
            </a:extLst>
          </p:cNvPr>
          <p:cNvCxnSpPr>
            <a:cxnSpLocks/>
          </p:cNvCxnSpPr>
          <p:nvPr/>
        </p:nvCxnSpPr>
        <p:spPr>
          <a:xfrm>
            <a:off x="2677717" y="3434975"/>
            <a:ext cx="7012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AB56BED8-C2F4-4649-B206-21FCE79ABC89}"/>
                  </a:ext>
                </a:extLst>
              </p:cNvPr>
              <p:cNvSpPr/>
              <p:nvPr/>
            </p:nvSpPr>
            <p:spPr>
              <a:xfrm>
                <a:off x="1963870" y="2962459"/>
                <a:ext cx="756030" cy="5370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49" name="Rectangle 48">
                <a:extLst>
                  <a:ext uri="{FF2B5EF4-FFF2-40B4-BE49-F238E27FC236}">
                    <a16:creationId xmlns:a16="http://schemas.microsoft.com/office/drawing/2014/main" id="{AB56BED8-C2F4-4649-B206-21FCE79ABC89}"/>
                  </a:ext>
                </a:extLst>
              </p:cNvPr>
              <p:cNvSpPr>
                <a:spLocks noRot="1" noChangeAspect="1" noMove="1" noResize="1" noEditPoints="1" noAdjustHandles="1" noChangeArrowheads="1" noChangeShapeType="1" noTextEdit="1"/>
              </p:cNvSpPr>
              <p:nvPr/>
            </p:nvSpPr>
            <p:spPr>
              <a:xfrm>
                <a:off x="1963870" y="2962459"/>
                <a:ext cx="756030" cy="53700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45EE5F0D-90EA-1842-B47B-18C9EBD4308C}"/>
                  </a:ext>
                </a:extLst>
              </p:cNvPr>
              <p:cNvSpPr/>
              <p:nvPr/>
            </p:nvSpPr>
            <p:spPr>
              <a:xfrm>
                <a:off x="1941234" y="3772765"/>
                <a:ext cx="756030" cy="5370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53" name="Rectangle 52">
                <a:extLst>
                  <a:ext uri="{FF2B5EF4-FFF2-40B4-BE49-F238E27FC236}">
                    <a16:creationId xmlns:a16="http://schemas.microsoft.com/office/drawing/2014/main" id="{45EE5F0D-90EA-1842-B47B-18C9EBD4308C}"/>
                  </a:ext>
                </a:extLst>
              </p:cNvPr>
              <p:cNvSpPr>
                <a:spLocks noRot="1" noChangeAspect="1" noMove="1" noResize="1" noEditPoints="1" noAdjustHandles="1" noChangeArrowheads="1" noChangeShapeType="1" noTextEdit="1"/>
              </p:cNvSpPr>
              <p:nvPr/>
            </p:nvSpPr>
            <p:spPr>
              <a:xfrm>
                <a:off x="1941234" y="3772765"/>
                <a:ext cx="756030" cy="537002"/>
              </a:xfrm>
              <a:prstGeom prst="rect">
                <a:avLst/>
              </a:prstGeom>
              <a:blipFill>
                <a:blip r:embed="rId4"/>
                <a:stretch>
                  <a:fillRect/>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2CECC488-2D58-5D4F-A186-EC74F5F7BC63}"/>
              </a:ext>
            </a:extLst>
          </p:cNvPr>
          <p:cNvSpPr/>
          <p:nvPr/>
        </p:nvSpPr>
        <p:spPr>
          <a:xfrm>
            <a:off x="3143704" y="2912601"/>
            <a:ext cx="1466588" cy="188435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67E4A7F2-2010-344E-9E00-EB129CE27241}"/>
                  </a:ext>
                </a:extLst>
              </p:cNvPr>
              <p:cNvSpPr/>
              <p:nvPr/>
            </p:nvSpPr>
            <p:spPr>
              <a:xfrm>
                <a:off x="3272865" y="3179467"/>
                <a:ext cx="1221207" cy="6086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𝑈</m:t>
                      </m:r>
                      <m:r>
                        <a:rPr lang="en-US" sz="2800" i="1" smtClean="0">
                          <a:latin typeface="Cambria Math" panose="02040503050406030204" pitchFamily="18" charset="0"/>
                        </a:rPr>
                        <m:t>(</m:t>
                      </m:r>
                      <m:r>
                        <a:rPr lang="en-US" sz="2800" b="0" i="1" smtClean="0">
                          <a:latin typeface="Cambria Math" panose="02040503050406030204" pitchFamily="18" charset="0"/>
                        </a:rPr>
                        <m:t>𝑥</m:t>
                      </m:r>
                      <m:r>
                        <a:rPr lang="en-US" sz="2800" i="1">
                          <a:latin typeface="Cambria Math" panose="02040503050406030204" pitchFamily="18" charset="0"/>
                        </a:rPr>
                        <m:t>)</m:t>
                      </m:r>
                    </m:oMath>
                  </m:oMathPara>
                </a14:m>
                <a:endParaRPr lang="en-US" sz="2800" dirty="0"/>
              </a:p>
            </p:txBody>
          </p:sp>
        </mc:Choice>
        <mc:Fallback xmlns="">
          <p:sp>
            <p:nvSpPr>
              <p:cNvPr id="57" name="Rectangle 56">
                <a:extLst>
                  <a:ext uri="{FF2B5EF4-FFF2-40B4-BE49-F238E27FC236}">
                    <a16:creationId xmlns:a16="http://schemas.microsoft.com/office/drawing/2014/main" id="{67E4A7F2-2010-344E-9E00-EB129CE27241}"/>
                  </a:ext>
                </a:extLst>
              </p:cNvPr>
              <p:cNvSpPr>
                <a:spLocks noRot="1" noChangeAspect="1" noMove="1" noResize="1" noEditPoints="1" noAdjustHandles="1" noChangeArrowheads="1" noChangeShapeType="1" noTextEdit="1"/>
              </p:cNvSpPr>
              <p:nvPr/>
            </p:nvSpPr>
            <p:spPr>
              <a:xfrm>
                <a:off x="3272865" y="3179467"/>
                <a:ext cx="1221207" cy="608601"/>
              </a:xfrm>
              <a:prstGeom prst="rect">
                <a:avLst/>
              </a:prstGeom>
              <a:blipFill>
                <a:blip r:embed="rId5"/>
                <a:stretch>
                  <a:fillRect b="-2041"/>
                </a:stretch>
              </a:blipFill>
            </p:spPr>
            <p:txBody>
              <a:bodyPr/>
              <a:lstStyle/>
              <a:p>
                <a:r>
                  <a:rPr lang="en-US">
                    <a:noFill/>
                  </a:rPr>
                  <a:t> </a:t>
                </a:r>
              </a:p>
            </p:txBody>
          </p:sp>
        </mc:Fallback>
      </mc:AlternateContent>
      <p:sp>
        <p:nvSpPr>
          <p:cNvPr id="58" name="Rectangle 57">
            <a:extLst>
              <a:ext uri="{FF2B5EF4-FFF2-40B4-BE49-F238E27FC236}">
                <a16:creationId xmlns:a16="http://schemas.microsoft.com/office/drawing/2014/main" id="{8C065C07-9946-5244-86EC-1EBC5405EC36}"/>
              </a:ext>
            </a:extLst>
          </p:cNvPr>
          <p:cNvSpPr/>
          <p:nvPr/>
        </p:nvSpPr>
        <p:spPr>
          <a:xfrm>
            <a:off x="5035477" y="2935234"/>
            <a:ext cx="1497274" cy="1884359"/>
          </a:xfrm>
          <a:prstGeom prst="rect">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0860BD75-30A4-9D45-A45B-471037F09E87}"/>
                  </a:ext>
                </a:extLst>
              </p:cNvPr>
              <p:cNvSpPr/>
              <p:nvPr/>
            </p:nvSpPr>
            <p:spPr>
              <a:xfrm>
                <a:off x="5149798" y="3147690"/>
                <a:ext cx="1212609" cy="6086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𝑉</m:t>
                      </m:r>
                      <m:r>
                        <a:rPr lang="en-US" sz="2800" i="1" smtClean="0">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𝜃</m:t>
                      </m:r>
                      <m:r>
                        <a:rPr lang="en-US" sz="2800" i="1">
                          <a:latin typeface="Cambria Math" panose="02040503050406030204" pitchFamily="18" charset="0"/>
                        </a:rPr>
                        <m:t>)</m:t>
                      </m:r>
                    </m:oMath>
                  </m:oMathPara>
                </a14:m>
                <a:endParaRPr lang="en-US" sz="2800" dirty="0"/>
              </a:p>
            </p:txBody>
          </p:sp>
        </mc:Choice>
        <mc:Fallback xmlns="">
          <p:sp>
            <p:nvSpPr>
              <p:cNvPr id="62" name="Rectangle 61">
                <a:extLst>
                  <a:ext uri="{FF2B5EF4-FFF2-40B4-BE49-F238E27FC236}">
                    <a16:creationId xmlns:a16="http://schemas.microsoft.com/office/drawing/2014/main" id="{0860BD75-30A4-9D45-A45B-471037F09E87}"/>
                  </a:ext>
                </a:extLst>
              </p:cNvPr>
              <p:cNvSpPr>
                <a:spLocks noRot="1" noChangeAspect="1" noMove="1" noResize="1" noEditPoints="1" noAdjustHandles="1" noChangeArrowheads="1" noChangeShapeType="1" noTextEdit="1"/>
              </p:cNvSpPr>
              <p:nvPr/>
            </p:nvSpPr>
            <p:spPr>
              <a:xfrm>
                <a:off x="5149798" y="3147690"/>
                <a:ext cx="1212609" cy="608601"/>
              </a:xfrm>
              <a:prstGeom prst="rect">
                <a:avLst/>
              </a:prstGeom>
              <a:blipFill>
                <a:blip r:embed="rId6"/>
                <a:stretch>
                  <a:fillRect/>
                </a:stretch>
              </a:blipFill>
            </p:spPr>
            <p:txBody>
              <a:bodyPr/>
              <a:lstStyle/>
              <a:p>
                <a:r>
                  <a:rPr lang="en-US">
                    <a:noFill/>
                  </a:rPr>
                  <a:t> </a:t>
                </a:r>
              </a:p>
            </p:txBody>
          </p:sp>
        </mc:Fallback>
      </mc:AlternateContent>
      <p:sp>
        <p:nvSpPr>
          <p:cNvPr id="68" name="TextBox 67">
            <a:extLst>
              <a:ext uri="{FF2B5EF4-FFF2-40B4-BE49-F238E27FC236}">
                <a16:creationId xmlns:a16="http://schemas.microsoft.com/office/drawing/2014/main" id="{7B0F4358-EB2E-3043-AC8C-D8B1164FA500}"/>
              </a:ext>
            </a:extLst>
          </p:cNvPr>
          <p:cNvSpPr txBox="1"/>
          <p:nvPr/>
        </p:nvSpPr>
        <p:spPr>
          <a:xfrm>
            <a:off x="3268140" y="4006410"/>
            <a:ext cx="1230658" cy="769441"/>
          </a:xfrm>
          <a:prstGeom prst="rect">
            <a:avLst/>
          </a:prstGeom>
          <a:noFill/>
        </p:spPr>
        <p:txBody>
          <a:bodyPr wrap="none" rtlCol="0">
            <a:spAutoFit/>
          </a:bodyPr>
          <a:lstStyle/>
          <a:p>
            <a:pPr algn="ctr"/>
            <a:r>
              <a:rPr lang="en-US" sz="2200" dirty="0"/>
              <a:t>encoding</a:t>
            </a:r>
          </a:p>
          <a:p>
            <a:pPr algn="ctr"/>
            <a:r>
              <a:rPr lang="en-US" sz="2200" dirty="0"/>
              <a:t>layer</a:t>
            </a:r>
          </a:p>
        </p:txBody>
      </p:sp>
      <p:sp>
        <p:nvSpPr>
          <p:cNvPr id="69" name="TextBox 68">
            <a:extLst>
              <a:ext uri="{FF2B5EF4-FFF2-40B4-BE49-F238E27FC236}">
                <a16:creationId xmlns:a16="http://schemas.microsoft.com/office/drawing/2014/main" id="{1E8DDBB7-BE4F-BD45-98E5-121F97E5F435}"/>
              </a:ext>
            </a:extLst>
          </p:cNvPr>
          <p:cNvSpPr txBox="1"/>
          <p:nvPr/>
        </p:nvSpPr>
        <p:spPr>
          <a:xfrm>
            <a:off x="5033779" y="4006410"/>
            <a:ext cx="1389804" cy="769441"/>
          </a:xfrm>
          <a:prstGeom prst="rect">
            <a:avLst/>
          </a:prstGeom>
          <a:noFill/>
        </p:spPr>
        <p:txBody>
          <a:bodyPr wrap="none" rtlCol="0">
            <a:spAutoFit/>
          </a:bodyPr>
          <a:lstStyle/>
          <a:p>
            <a:pPr algn="ctr"/>
            <a:r>
              <a:rPr lang="en-US" sz="2200" dirty="0"/>
              <a:t>variational</a:t>
            </a:r>
          </a:p>
          <a:p>
            <a:pPr algn="ctr"/>
            <a:r>
              <a:rPr lang="en-US" sz="2200" dirty="0"/>
              <a:t>layer</a:t>
            </a:r>
          </a:p>
        </p:txBody>
      </p:sp>
      <p:sp>
        <p:nvSpPr>
          <p:cNvPr id="75" name="TextBox 74">
            <a:extLst>
              <a:ext uri="{FF2B5EF4-FFF2-40B4-BE49-F238E27FC236}">
                <a16:creationId xmlns:a16="http://schemas.microsoft.com/office/drawing/2014/main" id="{37B7E55F-1731-A54A-A97E-9D9590C860E9}"/>
              </a:ext>
            </a:extLst>
          </p:cNvPr>
          <p:cNvSpPr txBox="1"/>
          <p:nvPr/>
        </p:nvSpPr>
        <p:spPr>
          <a:xfrm>
            <a:off x="5252365" y="3655217"/>
            <a:ext cx="916212" cy="430887"/>
          </a:xfrm>
          <a:prstGeom prst="rect">
            <a:avLst/>
          </a:prstGeom>
          <a:noFill/>
        </p:spPr>
        <p:txBody>
          <a:bodyPr wrap="none" rtlCol="0">
            <a:spAutoFit/>
          </a:bodyPr>
          <a:lstStyle/>
          <a:p>
            <a:pPr algn="ctr"/>
            <a:r>
              <a:rPr lang="en-ZA" sz="2200" dirty="0"/>
              <a:t>ansatz</a:t>
            </a:r>
            <a:endParaRPr lang="en-US" sz="2200" dirty="0"/>
          </a:p>
        </p:txBody>
      </p:sp>
      <p:grpSp>
        <p:nvGrpSpPr>
          <p:cNvPr id="7" name="Group 6">
            <a:extLst>
              <a:ext uri="{FF2B5EF4-FFF2-40B4-BE49-F238E27FC236}">
                <a16:creationId xmlns:a16="http://schemas.microsoft.com/office/drawing/2014/main" id="{3523E3F9-263C-594E-B77A-0A63A025AFF9}"/>
              </a:ext>
            </a:extLst>
          </p:cNvPr>
          <p:cNvGrpSpPr/>
          <p:nvPr/>
        </p:nvGrpSpPr>
        <p:grpSpPr>
          <a:xfrm>
            <a:off x="2745215" y="3655217"/>
            <a:ext cx="129293" cy="540181"/>
            <a:chOff x="2662428" y="4122162"/>
            <a:chExt cx="108000" cy="464398"/>
          </a:xfrm>
          <a:solidFill>
            <a:schemeClr val="tx1">
              <a:lumMod val="50000"/>
              <a:lumOff val="50000"/>
            </a:schemeClr>
          </a:solidFill>
        </p:grpSpPr>
        <p:sp>
          <p:nvSpPr>
            <p:cNvPr id="76" name="Oval 75">
              <a:extLst>
                <a:ext uri="{FF2B5EF4-FFF2-40B4-BE49-F238E27FC236}">
                  <a16:creationId xmlns:a16="http://schemas.microsoft.com/office/drawing/2014/main" id="{9C96DCB3-5EEF-4649-BB43-5E487E542143}"/>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E177811-E13D-E540-AF93-ACC7DB5162B6}"/>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56B4C9B0-47A4-5848-83FA-FDEC57F772FA}"/>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Rectangle 58">
            <a:extLst>
              <a:ext uri="{FF2B5EF4-FFF2-40B4-BE49-F238E27FC236}">
                <a16:creationId xmlns:a16="http://schemas.microsoft.com/office/drawing/2014/main" id="{7027FC7C-2AD3-7142-8FD7-55AE06156228}"/>
              </a:ext>
            </a:extLst>
          </p:cNvPr>
          <p:cNvSpPr/>
          <p:nvPr/>
        </p:nvSpPr>
        <p:spPr>
          <a:xfrm>
            <a:off x="6957936" y="2930927"/>
            <a:ext cx="991035" cy="1884359"/>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grpSp>
        <p:nvGrpSpPr>
          <p:cNvPr id="6" name="Group 5">
            <a:extLst>
              <a:ext uri="{FF2B5EF4-FFF2-40B4-BE49-F238E27FC236}">
                <a16:creationId xmlns:a16="http://schemas.microsoft.com/office/drawing/2014/main" id="{1990C9E2-8790-DD48-9E7E-09D076AC07B8}"/>
              </a:ext>
            </a:extLst>
          </p:cNvPr>
          <p:cNvGrpSpPr/>
          <p:nvPr/>
        </p:nvGrpSpPr>
        <p:grpSpPr>
          <a:xfrm>
            <a:off x="7109594" y="3284060"/>
            <a:ext cx="668186" cy="593353"/>
            <a:chOff x="10340768" y="4086473"/>
            <a:chExt cx="558143" cy="510111"/>
          </a:xfrm>
        </p:grpSpPr>
        <p:cxnSp>
          <p:nvCxnSpPr>
            <p:cNvPr id="60" name="Straight Connector 59">
              <a:extLst>
                <a:ext uri="{FF2B5EF4-FFF2-40B4-BE49-F238E27FC236}">
                  <a16:creationId xmlns:a16="http://schemas.microsoft.com/office/drawing/2014/main" id="{C69F7611-E845-4D46-876F-2EDA1737BA17}"/>
                </a:ext>
              </a:extLst>
            </p:cNvPr>
            <p:cNvCxnSpPr>
              <a:cxnSpLocks/>
            </p:cNvCxnSpPr>
            <p:nvPr/>
          </p:nvCxnSpPr>
          <p:spPr>
            <a:xfrm flipV="1">
              <a:off x="10618164" y="4086473"/>
              <a:ext cx="189695"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61" name="Arc 60">
              <a:extLst>
                <a:ext uri="{FF2B5EF4-FFF2-40B4-BE49-F238E27FC236}">
                  <a16:creationId xmlns:a16="http://schemas.microsoft.com/office/drawing/2014/main" id="{D281AA2C-9A39-E640-BE14-3C46D5127A12}"/>
                </a:ext>
              </a:extLst>
            </p:cNvPr>
            <p:cNvSpPr/>
            <p:nvPr/>
          </p:nvSpPr>
          <p:spPr>
            <a:xfrm>
              <a:off x="10340768" y="4088183"/>
              <a:ext cx="558143"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2EB2BE95-167F-314F-8A28-8D3522F5BF78}"/>
              </a:ext>
            </a:extLst>
          </p:cNvPr>
          <p:cNvGrpSpPr/>
          <p:nvPr/>
        </p:nvGrpSpPr>
        <p:grpSpPr>
          <a:xfrm>
            <a:off x="6605015" y="3655217"/>
            <a:ext cx="129293" cy="540181"/>
            <a:chOff x="2662428" y="4122162"/>
            <a:chExt cx="108000" cy="464398"/>
          </a:xfrm>
          <a:solidFill>
            <a:schemeClr val="tx1">
              <a:lumMod val="50000"/>
              <a:lumOff val="50000"/>
            </a:schemeClr>
          </a:solidFill>
        </p:grpSpPr>
        <p:sp>
          <p:nvSpPr>
            <p:cNvPr id="71" name="Oval 70">
              <a:extLst>
                <a:ext uri="{FF2B5EF4-FFF2-40B4-BE49-F238E27FC236}">
                  <a16:creationId xmlns:a16="http://schemas.microsoft.com/office/drawing/2014/main" id="{84CE2443-A3A5-8747-A13C-F6DBAABB9001}"/>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93FED6AD-DB15-F547-B616-F185ECC27624}"/>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10E85F47-8A7B-FD45-A941-4B5544919625}"/>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a:extLst>
              <a:ext uri="{FF2B5EF4-FFF2-40B4-BE49-F238E27FC236}">
                <a16:creationId xmlns:a16="http://schemas.microsoft.com/office/drawing/2014/main" id="{31716CB6-05C1-E840-9E84-07F85599BA6C}"/>
              </a:ext>
            </a:extLst>
          </p:cNvPr>
          <p:cNvGrpSpPr/>
          <p:nvPr/>
        </p:nvGrpSpPr>
        <p:grpSpPr>
          <a:xfrm>
            <a:off x="4733199" y="3655217"/>
            <a:ext cx="129293" cy="540181"/>
            <a:chOff x="2662428" y="4122162"/>
            <a:chExt cx="108000" cy="464398"/>
          </a:xfrm>
          <a:solidFill>
            <a:schemeClr val="tx1">
              <a:lumMod val="50000"/>
              <a:lumOff val="50000"/>
            </a:schemeClr>
          </a:solidFill>
        </p:grpSpPr>
        <p:sp>
          <p:nvSpPr>
            <p:cNvPr id="80" name="Oval 79">
              <a:extLst>
                <a:ext uri="{FF2B5EF4-FFF2-40B4-BE49-F238E27FC236}">
                  <a16:creationId xmlns:a16="http://schemas.microsoft.com/office/drawing/2014/main" id="{E678D9D5-FF31-8B4B-AFD6-BF9099BCB919}"/>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34545352-3327-7E4A-ADF1-48C6C5A83213}"/>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7547CEE-B43B-CF4E-BE0E-AAE1AECFBB8B}"/>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ED38E4B8-CC0E-ED4C-BC37-4C4057EF341C}"/>
              </a:ext>
            </a:extLst>
          </p:cNvPr>
          <p:cNvGrpSpPr/>
          <p:nvPr/>
        </p:nvGrpSpPr>
        <p:grpSpPr>
          <a:xfrm>
            <a:off x="8070584" y="3655217"/>
            <a:ext cx="129293" cy="540181"/>
            <a:chOff x="2662428" y="4122162"/>
            <a:chExt cx="108000" cy="464398"/>
          </a:xfrm>
          <a:solidFill>
            <a:schemeClr val="tx1">
              <a:lumMod val="50000"/>
              <a:lumOff val="50000"/>
            </a:schemeClr>
          </a:solidFill>
        </p:grpSpPr>
        <p:sp>
          <p:nvSpPr>
            <p:cNvPr id="84" name="Oval 83">
              <a:extLst>
                <a:ext uri="{FF2B5EF4-FFF2-40B4-BE49-F238E27FC236}">
                  <a16:creationId xmlns:a16="http://schemas.microsoft.com/office/drawing/2014/main" id="{8425ADF4-5BAF-504C-BA35-DE9884B41AAC}"/>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2B918BA9-B7C2-CD40-BB42-720FDBEBA619}"/>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0ABEA086-7838-E944-B613-4E7AACE1FC1C}"/>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3" name="TextBox 92">
            <a:extLst>
              <a:ext uri="{FF2B5EF4-FFF2-40B4-BE49-F238E27FC236}">
                <a16:creationId xmlns:a16="http://schemas.microsoft.com/office/drawing/2014/main" id="{0E1B3556-E382-3941-9F68-3DC68394AF1D}"/>
              </a:ext>
            </a:extLst>
          </p:cNvPr>
          <p:cNvSpPr txBox="1"/>
          <p:nvPr/>
        </p:nvSpPr>
        <p:spPr>
          <a:xfrm>
            <a:off x="6858989" y="4105455"/>
            <a:ext cx="1179617" cy="430887"/>
          </a:xfrm>
          <a:prstGeom prst="rect">
            <a:avLst/>
          </a:prstGeom>
          <a:noFill/>
        </p:spPr>
        <p:txBody>
          <a:bodyPr wrap="none" rtlCol="0">
            <a:spAutoFit/>
          </a:bodyPr>
          <a:lstStyle/>
          <a:p>
            <a:pPr algn="ctr"/>
            <a:r>
              <a:rPr lang="en-US" sz="2100" dirty="0"/>
              <a:t>measure</a:t>
            </a:r>
          </a:p>
        </p:txBody>
      </p: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305E0B5C-06BF-0648-B904-9108F2E0E726}"/>
                  </a:ext>
                </a:extLst>
              </p:cNvPr>
              <p:cNvSpPr/>
              <p:nvPr/>
            </p:nvSpPr>
            <p:spPr>
              <a:xfrm>
                <a:off x="3096025" y="1273147"/>
                <a:ext cx="1484966" cy="55515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Input:  </a:t>
                </a:r>
                <a14:m>
                  <m:oMath xmlns:m="http://schemas.openxmlformats.org/officeDocument/2006/math">
                    <m:r>
                      <a:rPr lang="en-US" sz="2400" b="1" i="1">
                        <a:solidFill>
                          <a:schemeClr val="tx1"/>
                        </a:solidFill>
                        <a:latin typeface="Cambria Math" panose="02040503050406030204" pitchFamily="18" charset="0"/>
                      </a:rPr>
                      <m:t>𝒙</m:t>
                    </m:r>
                  </m:oMath>
                </a14:m>
                <a:endParaRPr lang="en-US" sz="2400" b="1" dirty="0">
                  <a:solidFill>
                    <a:schemeClr val="tx1"/>
                  </a:solidFill>
                </a:endParaRPr>
              </a:p>
            </p:txBody>
          </p:sp>
        </mc:Choice>
        <mc:Fallback xmlns="">
          <p:sp>
            <p:nvSpPr>
              <p:cNvPr id="88" name="Rectangle 87">
                <a:extLst>
                  <a:ext uri="{FF2B5EF4-FFF2-40B4-BE49-F238E27FC236}">
                    <a16:creationId xmlns:a16="http://schemas.microsoft.com/office/drawing/2014/main" id="{305E0B5C-06BF-0648-B904-9108F2E0E726}"/>
                  </a:ext>
                </a:extLst>
              </p:cNvPr>
              <p:cNvSpPr>
                <a:spLocks noRot="1" noChangeAspect="1" noMove="1" noResize="1" noEditPoints="1" noAdjustHandles="1" noChangeArrowheads="1" noChangeShapeType="1" noTextEdit="1"/>
              </p:cNvSpPr>
              <p:nvPr/>
            </p:nvSpPr>
            <p:spPr>
              <a:xfrm>
                <a:off x="3096025" y="1273147"/>
                <a:ext cx="1484966" cy="555152"/>
              </a:xfrm>
              <a:prstGeom prst="rect">
                <a:avLst/>
              </a:prstGeom>
              <a:blipFill>
                <a:blip r:embed="rId7"/>
                <a:stretch>
                  <a:fillRect b="-15556"/>
                </a:stretch>
              </a:blipFill>
              <a:ln>
                <a:noFill/>
              </a:ln>
            </p:spPr>
            <p:txBody>
              <a:bodyPr/>
              <a:lstStyle/>
              <a:p>
                <a:r>
                  <a:rPr lang="en-US">
                    <a:noFill/>
                  </a:rPr>
                  <a:t> </a:t>
                </a:r>
              </a:p>
            </p:txBody>
          </p:sp>
        </mc:Fallback>
      </mc:AlternateContent>
      <p:sp>
        <p:nvSpPr>
          <p:cNvPr id="100" name="Up Arrow 99">
            <a:extLst>
              <a:ext uri="{FF2B5EF4-FFF2-40B4-BE49-F238E27FC236}">
                <a16:creationId xmlns:a16="http://schemas.microsoft.com/office/drawing/2014/main" id="{CE920A8C-C27E-5A41-9E06-DEFD50BB1C7E}"/>
              </a:ext>
            </a:extLst>
          </p:cNvPr>
          <p:cNvSpPr/>
          <p:nvPr/>
        </p:nvSpPr>
        <p:spPr>
          <a:xfrm flipV="1">
            <a:off x="3613921" y="1849408"/>
            <a:ext cx="501103" cy="1008743"/>
          </a:xfrm>
          <a:prstGeom prst="up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Up Arrow 100">
            <a:extLst>
              <a:ext uri="{FF2B5EF4-FFF2-40B4-BE49-F238E27FC236}">
                <a16:creationId xmlns:a16="http://schemas.microsoft.com/office/drawing/2014/main" id="{765191C8-35BD-B642-8904-F284CC35D508}"/>
              </a:ext>
            </a:extLst>
          </p:cNvPr>
          <p:cNvSpPr/>
          <p:nvPr/>
        </p:nvSpPr>
        <p:spPr>
          <a:xfrm flipV="1">
            <a:off x="5478129" y="1849559"/>
            <a:ext cx="501103" cy="1068306"/>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C65F674-B6D4-BA46-9246-2527641F6A27}"/>
                  </a:ext>
                </a:extLst>
              </p:cNvPr>
              <p:cNvSpPr txBox="1"/>
              <p:nvPr/>
            </p:nvSpPr>
            <p:spPr>
              <a:xfrm>
                <a:off x="9887796" y="5083426"/>
                <a:ext cx="44595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ea typeface="Cambria Math" panose="02040503050406030204" pitchFamily="18" charset="0"/>
                        </a:rPr>
                        <m:t>𝜽</m:t>
                      </m:r>
                    </m:oMath>
                  </m:oMathPara>
                </a14:m>
                <a:endParaRPr lang="en-US" sz="2400" b="1" dirty="0"/>
              </a:p>
            </p:txBody>
          </p:sp>
        </mc:Choice>
        <mc:Fallback xmlns="">
          <p:sp>
            <p:nvSpPr>
              <p:cNvPr id="94" name="TextBox 93">
                <a:extLst>
                  <a:ext uri="{FF2B5EF4-FFF2-40B4-BE49-F238E27FC236}">
                    <a16:creationId xmlns:a16="http://schemas.microsoft.com/office/drawing/2014/main" id="{1C65F674-B6D4-BA46-9246-2527641F6A27}"/>
                  </a:ext>
                </a:extLst>
              </p:cNvPr>
              <p:cNvSpPr txBox="1">
                <a:spLocks noRot="1" noChangeAspect="1" noMove="1" noResize="1" noEditPoints="1" noAdjustHandles="1" noChangeArrowheads="1" noChangeShapeType="1" noTextEdit="1"/>
              </p:cNvSpPr>
              <p:nvPr/>
            </p:nvSpPr>
            <p:spPr>
              <a:xfrm>
                <a:off x="9887796" y="5083426"/>
                <a:ext cx="445955"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A1C3B3EF-BB2F-BA40-9935-9697CC0FA5AD}"/>
                  </a:ext>
                </a:extLst>
              </p:cNvPr>
              <p:cNvSpPr/>
              <p:nvPr/>
            </p:nvSpPr>
            <p:spPr>
              <a:xfrm>
                <a:off x="4949742" y="1249814"/>
                <a:ext cx="1521458" cy="555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𝜽</m:t>
                          </m:r>
                        </m:e>
                        <m:sub>
                          <m:r>
                            <a:rPr lang="en-US" sz="2400" b="1" i="1" smtClean="0">
                              <a:solidFill>
                                <a:schemeClr val="tx1"/>
                              </a:solidFill>
                              <a:latin typeface="Cambria Math" panose="02040503050406030204" pitchFamily="18" charset="0"/>
                              <a:ea typeface="Cambria Math" panose="02040503050406030204" pitchFamily="18" charset="0"/>
                            </a:rPr>
                            <m:t>𝟎</m:t>
                          </m:r>
                        </m:sub>
                      </m:sSub>
                    </m:oMath>
                  </m:oMathPara>
                </a14:m>
                <a:endParaRPr lang="en-US" sz="2400" b="1" dirty="0">
                  <a:solidFill>
                    <a:schemeClr val="tx1"/>
                  </a:solidFill>
                </a:endParaRPr>
              </a:p>
            </p:txBody>
          </p:sp>
        </mc:Choice>
        <mc:Fallback xmlns="">
          <p:sp>
            <p:nvSpPr>
              <p:cNvPr id="63" name="Rectangle 62">
                <a:extLst>
                  <a:ext uri="{FF2B5EF4-FFF2-40B4-BE49-F238E27FC236}">
                    <a16:creationId xmlns:a16="http://schemas.microsoft.com/office/drawing/2014/main" id="{A1C3B3EF-BB2F-BA40-9935-9697CC0FA5AD}"/>
                  </a:ext>
                </a:extLst>
              </p:cNvPr>
              <p:cNvSpPr>
                <a:spLocks noRot="1" noChangeAspect="1" noMove="1" noResize="1" noEditPoints="1" noAdjustHandles="1" noChangeArrowheads="1" noChangeShapeType="1" noTextEdit="1"/>
              </p:cNvSpPr>
              <p:nvPr/>
            </p:nvSpPr>
            <p:spPr>
              <a:xfrm>
                <a:off x="4949742" y="1249814"/>
                <a:ext cx="1521458" cy="555152"/>
              </a:xfrm>
              <a:prstGeom prst="rect">
                <a:avLst/>
              </a:prstGeom>
              <a:blipFill>
                <a:blip r:embed="rId9"/>
                <a:stretch>
                  <a:fillRect/>
                </a:stretch>
              </a:blipFill>
              <a:ln>
                <a:noFill/>
              </a:ln>
            </p:spPr>
            <p:txBody>
              <a:bodyPr/>
              <a:lstStyle/>
              <a:p>
                <a:r>
                  <a:rPr lang="en-US">
                    <a:noFill/>
                  </a:rPr>
                  <a:t> </a:t>
                </a:r>
              </a:p>
            </p:txBody>
          </p:sp>
        </mc:Fallback>
      </mc:AlternateContent>
      <p:sp>
        <p:nvSpPr>
          <p:cNvPr id="89" name="Rectangle 88">
            <a:extLst>
              <a:ext uri="{FF2B5EF4-FFF2-40B4-BE49-F238E27FC236}">
                <a16:creationId xmlns:a16="http://schemas.microsoft.com/office/drawing/2014/main" id="{4AAB7625-78D2-9347-B837-1B181ACF4473}"/>
              </a:ext>
            </a:extLst>
          </p:cNvPr>
          <p:cNvSpPr/>
          <p:nvPr/>
        </p:nvSpPr>
        <p:spPr>
          <a:xfrm>
            <a:off x="8374156" y="2928480"/>
            <a:ext cx="891652" cy="1884359"/>
          </a:xfrm>
          <a:prstGeom prst="rect">
            <a:avLst/>
          </a:prstGeom>
          <a:solidFill>
            <a:schemeClr val="accent6">
              <a:lumMod val="20000"/>
              <a:lumOff val="80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latin typeface="Times" pitchFamily="2" charset="0"/>
              </a:rPr>
              <a:t>cost</a:t>
            </a:r>
          </a:p>
        </p:txBody>
      </p:sp>
      <p:sp>
        <p:nvSpPr>
          <p:cNvPr id="47" name="Rectangle 46">
            <a:extLst>
              <a:ext uri="{FF2B5EF4-FFF2-40B4-BE49-F238E27FC236}">
                <a16:creationId xmlns:a16="http://schemas.microsoft.com/office/drawing/2014/main" id="{3131CE71-7A0C-C14B-9634-ADF4D492F869}"/>
              </a:ext>
            </a:extLst>
          </p:cNvPr>
          <p:cNvSpPr/>
          <p:nvPr/>
        </p:nvSpPr>
        <p:spPr>
          <a:xfrm>
            <a:off x="9690994" y="2873271"/>
            <a:ext cx="1265125" cy="1884359"/>
          </a:xfrm>
          <a:prstGeom prst="rect">
            <a:avLst/>
          </a:prstGeom>
          <a:solidFill>
            <a:schemeClr val="accent4">
              <a:lumMod val="20000"/>
              <a:lumOff val="80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optimize</a:t>
            </a:r>
            <a:endParaRPr lang="en-US" sz="2200" dirty="0">
              <a:solidFill>
                <a:schemeClr val="tx1"/>
              </a:solidFill>
              <a:latin typeface="Times" pitchFamily="2" charset="0"/>
            </a:endParaRPr>
          </a:p>
        </p:txBody>
      </p:sp>
      <p:grpSp>
        <p:nvGrpSpPr>
          <p:cNvPr id="50" name="Group 49">
            <a:extLst>
              <a:ext uri="{FF2B5EF4-FFF2-40B4-BE49-F238E27FC236}">
                <a16:creationId xmlns:a16="http://schemas.microsoft.com/office/drawing/2014/main" id="{740EBC91-4249-B145-9852-FC500C7489A2}"/>
              </a:ext>
            </a:extLst>
          </p:cNvPr>
          <p:cNvGrpSpPr/>
          <p:nvPr/>
        </p:nvGrpSpPr>
        <p:grpSpPr>
          <a:xfrm>
            <a:off x="9444013" y="3655217"/>
            <a:ext cx="129293" cy="540181"/>
            <a:chOff x="2662428" y="4122162"/>
            <a:chExt cx="108000" cy="464398"/>
          </a:xfrm>
          <a:solidFill>
            <a:schemeClr val="tx1">
              <a:lumMod val="50000"/>
              <a:lumOff val="50000"/>
            </a:schemeClr>
          </a:solidFill>
        </p:grpSpPr>
        <p:sp>
          <p:nvSpPr>
            <p:cNvPr id="51" name="Oval 50">
              <a:extLst>
                <a:ext uri="{FF2B5EF4-FFF2-40B4-BE49-F238E27FC236}">
                  <a16:creationId xmlns:a16="http://schemas.microsoft.com/office/drawing/2014/main" id="{BD377F4B-86DB-D947-B8DD-DEB38AD1172C}"/>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4F80772F-D682-0942-87BA-DC748FE776AC}"/>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43C1EB5C-3EA0-5248-A06F-DF41EE03E259}"/>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Slide Number Placeholder 2">
            <a:extLst>
              <a:ext uri="{FF2B5EF4-FFF2-40B4-BE49-F238E27FC236}">
                <a16:creationId xmlns:a16="http://schemas.microsoft.com/office/drawing/2014/main" id="{F974375E-D78C-854C-B536-102ED18AA02D}"/>
              </a:ext>
            </a:extLst>
          </p:cNvPr>
          <p:cNvSpPr>
            <a:spLocks noGrp="1"/>
          </p:cNvSpPr>
          <p:nvPr>
            <p:ph type="sldNum" sz="quarter" idx="12"/>
          </p:nvPr>
        </p:nvSpPr>
        <p:spPr>
          <a:xfrm>
            <a:off x="0" y="6492875"/>
            <a:ext cx="789709" cy="365125"/>
          </a:xfrm>
        </p:spPr>
        <p:txBody>
          <a:bodyPr/>
          <a:lstStyle/>
          <a:p>
            <a:fld id="{591A223C-FA10-BC46-A853-03BA373D023C}" type="slidenum">
              <a:rPr lang="en-US" smtClean="0"/>
              <a:t>12</a:t>
            </a:fld>
            <a:endParaRPr lang="en-US" dirty="0"/>
          </a:p>
        </p:txBody>
      </p:sp>
    </p:spTree>
    <p:extLst>
      <p:ext uri="{BB962C8B-B14F-4D97-AF65-F5344CB8AC3E}">
        <p14:creationId xmlns:p14="http://schemas.microsoft.com/office/powerpoint/2010/main" val="2081984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a:xfrm>
            <a:off x="0" y="0"/>
            <a:ext cx="12192000" cy="928688"/>
          </a:xfrm>
        </p:spPr>
        <p:txBody>
          <a:bodyPr/>
          <a:lstStyle/>
          <a:p>
            <a:r>
              <a:rPr lang="en-US" dirty="0"/>
              <a:t>Angle Encoding</a:t>
            </a:r>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13</a:t>
            </a:fld>
            <a:endParaRPr lang="en-US"/>
          </a:p>
        </p:txBody>
      </p:sp>
      <p:sp>
        <p:nvSpPr>
          <p:cNvPr id="63" name="Rounded Rectangle 62">
            <a:extLst>
              <a:ext uri="{FF2B5EF4-FFF2-40B4-BE49-F238E27FC236}">
                <a16:creationId xmlns:a16="http://schemas.microsoft.com/office/drawing/2014/main" id="{21882D85-03D4-DF47-8237-0A5555CAF5B3}"/>
              </a:ext>
            </a:extLst>
          </p:cNvPr>
          <p:cNvSpPr/>
          <p:nvPr/>
        </p:nvSpPr>
        <p:spPr>
          <a:xfrm>
            <a:off x="1563575" y="1175993"/>
            <a:ext cx="3009724" cy="1200559"/>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41D0D50B-C6D6-CC45-B67B-55FF74A54451}"/>
                  </a:ext>
                </a:extLst>
              </p:cNvPr>
              <p:cNvSpPr/>
              <p:nvPr/>
            </p:nvSpPr>
            <p:spPr>
              <a:xfrm>
                <a:off x="1563575" y="1385426"/>
                <a:ext cx="54809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𝑥</m:t>
                      </m:r>
                    </m:oMath>
                  </m:oMathPara>
                </a14:m>
                <a:endParaRPr lang="en-US" sz="3600" dirty="0"/>
              </a:p>
            </p:txBody>
          </p:sp>
        </mc:Choice>
        <mc:Fallback xmlns="">
          <p:sp>
            <p:nvSpPr>
              <p:cNvPr id="49" name="Rectangle 48">
                <a:extLst>
                  <a:ext uri="{FF2B5EF4-FFF2-40B4-BE49-F238E27FC236}">
                    <a16:creationId xmlns:a16="http://schemas.microsoft.com/office/drawing/2014/main" id="{41D0D50B-C6D6-CC45-B67B-55FF74A54451}"/>
                  </a:ext>
                </a:extLst>
              </p:cNvPr>
              <p:cNvSpPr>
                <a:spLocks noRot="1" noChangeAspect="1" noMove="1" noResize="1" noEditPoints="1" noAdjustHandles="1" noChangeArrowheads="1" noChangeShapeType="1" noTextEdit="1"/>
              </p:cNvSpPr>
              <p:nvPr/>
            </p:nvSpPr>
            <p:spPr>
              <a:xfrm>
                <a:off x="1563575" y="1385426"/>
                <a:ext cx="548099" cy="646331"/>
              </a:xfrm>
              <a:prstGeom prst="rect">
                <a:avLst/>
              </a:prstGeom>
              <a:blipFill>
                <a:blip r:embed="rId7"/>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49D3D1B7-B9F8-2D45-8634-9012A7118B14}"/>
              </a:ext>
            </a:extLst>
          </p:cNvPr>
          <p:cNvCxnSpPr>
            <a:cxnSpLocks/>
          </p:cNvCxnSpPr>
          <p:nvPr/>
        </p:nvCxnSpPr>
        <p:spPr>
          <a:xfrm flipV="1">
            <a:off x="2883918" y="2089951"/>
            <a:ext cx="1386395" cy="3601"/>
          </a:xfrm>
          <a:prstGeom prst="line">
            <a:avLst/>
          </a:prstGeom>
          <a:ln w="63500" cap="rnd"/>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58FE0CE-386A-EA4A-8437-940A66E46C79}"/>
              </a:ext>
            </a:extLst>
          </p:cNvPr>
          <p:cNvCxnSpPr>
            <a:cxnSpLocks/>
          </p:cNvCxnSpPr>
          <p:nvPr/>
        </p:nvCxnSpPr>
        <p:spPr>
          <a:xfrm flipV="1">
            <a:off x="2883918" y="1377724"/>
            <a:ext cx="1297495" cy="712228"/>
          </a:xfrm>
          <a:prstGeom prst="line">
            <a:avLst/>
          </a:prstGeom>
          <a:ln w="63500" cap="rnd"/>
        </p:spPr>
        <p:style>
          <a:lnRef idx="1">
            <a:schemeClr val="accent1"/>
          </a:lnRef>
          <a:fillRef idx="0">
            <a:schemeClr val="accent1"/>
          </a:fillRef>
          <a:effectRef idx="0">
            <a:schemeClr val="accent1"/>
          </a:effectRef>
          <a:fontRef idx="minor">
            <a:schemeClr val="tx1"/>
          </a:fontRef>
        </p:style>
      </p:cxnSp>
      <p:sp>
        <p:nvSpPr>
          <p:cNvPr id="59" name="Arc 58">
            <a:extLst>
              <a:ext uri="{FF2B5EF4-FFF2-40B4-BE49-F238E27FC236}">
                <a16:creationId xmlns:a16="http://schemas.microsoft.com/office/drawing/2014/main" id="{8BB2559E-3BCD-414E-86F0-438CE32E8EF5}"/>
              </a:ext>
            </a:extLst>
          </p:cNvPr>
          <p:cNvSpPr/>
          <p:nvPr/>
        </p:nvSpPr>
        <p:spPr>
          <a:xfrm rot="20501575">
            <a:off x="3845456" y="1558479"/>
            <a:ext cx="272182" cy="535016"/>
          </a:xfrm>
          <a:prstGeom prst="arc">
            <a:avLst>
              <a:gd name="adj1" fmla="val 16200000"/>
              <a:gd name="adj2" fmla="val 500212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E40E63A4-3D45-C745-8938-59C6EF11C171}"/>
                  </a:ext>
                </a:extLst>
              </p:cNvPr>
              <p:cNvSpPr/>
              <p:nvPr/>
            </p:nvSpPr>
            <p:spPr>
              <a:xfrm>
                <a:off x="3505158" y="1515687"/>
                <a:ext cx="54809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rPr>
                        <m:t>𝑥</m:t>
                      </m:r>
                    </m:oMath>
                  </m:oMathPara>
                </a14:m>
                <a:endParaRPr lang="en-US" sz="3600" dirty="0"/>
              </a:p>
            </p:txBody>
          </p:sp>
        </mc:Choice>
        <mc:Fallback xmlns="">
          <p:sp>
            <p:nvSpPr>
              <p:cNvPr id="61" name="Rectangle 60">
                <a:extLst>
                  <a:ext uri="{FF2B5EF4-FFF2-40B4-BE49-F238E27FC236}">
                    <a16:creationId xmlns:a16="http://schemas.microsoft.com/office/drawing/2014/main" id="{E40E63A4-3D45-C745-8938-59C6EF11C171}"/>
                  </a:ext>
                </a:extLst>
              </p:cNvPr>
              <p:cNvSpPr>
                <a:spLocks noRot="1" noChangeAspect="1" noMove="1" noResize="1" noEditPoints="1" noAdjustHandles="1" noChangeArrowheads="1" noChangeShapeType="1" noTextEdit="1"/>
              </p:cNvSpPr>
              <p:nvPr/>
            </p:nvSpPr>
            <p:spPr>
              <a:xfrm>
                <a:off x="3505158" y="1515687"/>
                <a:ext cx="548099" cy="646331"/>
              </a:xfrm>
              <a:prstGeom prst="rect">
                <a:avLst/>
              </a:prstGeom>
              <a:blipFill>
                <a:blip r:embed="rId8"/>
                <a:stretch>
                  <a:fillRect/>
                </a:stretch>
              </a:blipFill>
            </p:spPr>
            <p:txBody>
              <a:bodyPr/>
              <a:lstStyle/>
              <a:p>
                <a:r>
                  <a:rPr lang="en-US">
                    <a:noFill/>
                  </a:rPr>
                  <a:t> </a:t>
                </a:r>
              </a:p>
            </p:txBody>
          </p:sp>
        </mc:Fallback>
      </mc:AlternateContent>
      <p:sp>
        <p:nvSpPr>
          <p:cNvPr id="62" name="Right Arrow 61">
            <a:extLst>
              <a:ext uri="{FF2B5EF4-FFF2-40B4-BE49-F238E27FC236}">
                <a16:creationId xmlns:a16="http://schemas.microsoft.com/office/drawing/2014/main" id="{FC5E1CA4-223A-C642-B049-13C644F7D667}"/>
              </a:ext>
            </a:extLst>
          </p:cNvPr>
          <p:cNvSpPr/>
          <p:nvPr/>
        </p:nvSpPr>
        <p:spPr>
          <a:xfrm>
            <a:off x="2278036" y="1531714"/>
            <a:ext cx="510993" cy="409171"/>
          </a:xfrm>
          <a:prstGeom prst="rightArrow">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a:extLst>
              <a:ext uri="{FF2B5EF4-FFF2-40B4-BE49-F238E27FC236}">
                <a16:creationId xmlns:a16="http://schemas.microsoft.com/office/drawing/2014/main" id="{D75852D3-3AAC-4F4D-9DFA-AB19FB024CC6}"/>
              </a:ext>
            </a:extLst>
          </p:cNvPr>
          <p:cNvGrpSpPr/>
          <p:nvPr/>
        </p:nvGrpSpPr>
        <p:grpSpPr>
          <a:xfrm>
            <a:off x="5065260" y="3736414"/>
            <a:ext cx="6787749" cy="2948694"/>
            <a:chOff x="5065260" y="3736414"/>
            <a:chExt cx="6787749" cy="2948694"/>
          </a:xfrm>
        </p:grpSpPr>
        <p:sp>
          <p:nvSpPr>
            <p:cNvPr id="74" name="Rectangle 73">
              <a:extLst>
                <a:ext uri="{FF2B5EF4-FFF2-40B4-BE49-F238E27FC236}">
                  <a16:creationId xmlns:a16="http://schemas.microsoft.com/office/drawing/2014/main" id="{A99F54E8-9793-A549-B34B-2986CF8FC2EF}"/>
                </a:ext>
              </a:extLst>
            </p:cNvPr>
            <p:cNvSpPr/>
            <p:nvPr/>
          </p:nvSpPr>
          <p:spPr>
            <a:xfrm>
              <a:off x="5887232" y="5379313"/>
              <a:ext cx="2297398" cy="1296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Rectangle 72">
              <a:extLst>
                <a:ext uri="{FF2B5EF4-FFF2-40B4-BE49-F238E27FC236}">
                  <a16:creationId xmlns:a16="http://schemas.microsoft.com/office/drawing/2014/main" id="{E2DFD076-6969-C74B-AD6A-823C72F2A39F}"/>
                </a:ext>
              </a:extLst>
            </p:cNvPr>
            <p:cNvSpPr/>
            <p:nvPr/>
          </p:nvSpPr>
          <p:spPr>
            <a:xfrm>
              <a:off x="5887232" y="3736414"/>
              <a:ext cx="2297397" cy="12961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589CC6FA-1919-F64B-9E25-623F05676F65}"/>
                    </a:ext>
                  </a:extLst>
                </p:cNvPr>
                <p:cNvSpPr/>
                <p:nvPr/>
              </p:nvSpPr>
              <p:spPr>
                <a:xfrm>
                  <a:off x="5735373" y="3736414"/>
                  <a:ext cx="6098016" cy="12961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i="1" smtClean="0">
                                <a:solidFill>
                                  <a:schemeClr val="tx1"/>
                                </a:solidFill>
                                <a:latin typeface="Cambria Math" panose="02040503050406030204" pitchFamily="18" charset="0"/>
                              </a:rPr>
                            </m:ctrlPr>
                          </m:dPr>
                          <m:e>
                            <m:m>
                              <m:mPr>
                                <m:mcs>
                                  <m:mc>
                                    <m:mcPr>
                                      <m:count m:val="2"/>
                                      <m:mcJc m:val="center"/>
                                    </m:mcPr>
                                  </m:mc>
                                </m:mcs>
                                <m:ctrlPr>
                                  <a:rPr lang="en-US" sz="2200" i="1" smtClean="0">
                                    <a:solidFill>
                                      <a:schemeClr val="tx1"/>
                                    </a:solidFill>
                                    <a:latin typeface="Cambria Math" panose="02040503050406030204" pitchFamily="18" charset="0"/>
                                  </a:rPr>
                                </m:ctrlPr>
                              </m:mPr>
                              <m:mr>
                                <m:e>
                                  <m:func>
                                    <m:funcPr>
                                      <m:ctrlPr>
                                        <a:rPr lang="en-US" sz="2200" i="1" smtClean="0">
                                          <a:solidFill>
                                            <a:schemeClr val="tx1"/>
                                          </a:solidFill>
                                          <a:latin typeface="Cambria Math" panose="02040503050406030204" pitchFamily="18" charset="0"/>
                                        </a:rPr>
                                      </m:ctrlPr>
                                    </m:funcPr>
                                    <m:fName>
                                      <m:r>
                                        <m:rPr>
                                          <m:brk m:alnAt="7"/>
                                        </m:rPr>
                                        <a:rPr lang="en-US" sz="2200" i="1" smtClean="0">
                                          <a:solidFill>
                                            <a:schemeClr val="tx1"/>
                                          </a:solidFill>
                                          <a:latin typeface="Cambria Math" panose="02040503050406030204" pitchFamily="18" charset="0"/>
                                        </a:rPr>
                                        <m:t>𝑐</m:t>
                                      </m:r>
                                      <m:r>
                                        <a:rPr lang="en-US" sz="2200" i="1" smtClean="0">
                                          <a:solidFill>
                                            <a:schemeClr val="tx1"/>
                                          </a:solidFill>
                                          <a:latin typeface="Cambria Math" panose="02040503050406030204" pitchFamily="18" charset="0"/>
                                        </a:rPr>
                                        <m:t>𝑜𝑠</m:t>
                                      </m:r>
                                    </m:fName>
                                    <m:e>
                                      <m:f>
                                        <m:fPr>
                                          <m:ctrlPr>
                                            <a:rPr lang="en-US" sz="2200" i="1" smtClean="0">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mr>
                              <m:mr>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b="0" i="1" smtClean="0">
                                              <a:solidFill>
                                                <a:schemeClr val="tx1"/>
                                              </a:solidFill>
                                              <a:latin typeface="Cambria Math" panose="02040503050406030204" pitchFamily="18" charset="0"/>
                                            </a:rPr>
                                            <m:t>2</m:t>
                                          </m:r>
                                        </m:den>
                                      </m:f>
                                    </m:e>
                                  </m:func>
                                </m:e>
                              </m:mr>
                            </m:m>
                          </m:e>
                        </m:d>
                        <m:d>
                          <m:dPr>
                            <m:ctrlPr>
                              <a:rPr lang="en-US" sz="2200" i="1" smtClean="0">
                                <a:solidFill>
                                  <a:schemeClr val="tx1"/>
                                </a:solidFill>
                                <a:latin typeface="Cambria Math" panose="02040503050406030204" pitchFamily="18" charset="0"/>
                              </a:rPr>
                            </m:ctrlPr>
                          </m:dPr>
                          <m:e>
                            <m:m>
                              <m:mPr>
                                <m:mcs>
                                  <m:mc>
                                    <m:mcPr>
                                      <m:count m:val="1"/>
                                      <m:mcJc m:val="center"/>
                                    </m:mcPr>
                                  </m:mc>
                                </m:mcs>
                                <m:ctrlPr>
                                  <a:rPr lang="en-US" sz="2200" i="1" smtClean="0">
                                    <a:solidFill>
                                      <a:schemeClr val="tx1"/>
                                    </a:solidFill>
                                    <a:latin typeface="Cambria Math" panose="02040503050406030204" pitchFamily="18" charset="0"/>
                                  </a:rPr>
                                </m:ctrlPr>
                              </m:mPr>
                              <m:mr>
                                <m:e>
                                  <m:r>
                                    <m:rPr>
                                      <m:brk m:alnAt="7"/>
                                    </m:rPr>
                                    <a:rPr lang="en-US" sz="2200" b="0" i="1" smtClean="0">
                                      <a:solidFill>
                                        <a:schemeClr val="tx1"/>
                                      </a:solidFill>
                                      <a:latin typeface="Cambria Math" panose="02040503050406030204" pitchFamily="18" charset="0"/>
                                    </a:rPr>
                                    <m:t>1</m:t>
                                  </m:r>
                                </m:e>
                              </m:mr>
                              <m:mr>
                                <m:e>
                                  <m:r>
                                    <a:rPr lang="en-US" sz="2200" b="0" i="1" smtClean="0">
                                      <a:solidFill>
                                        <a:schemeClr val="tx1"/>
                                      </a:solidFill>
                                      <a:latin typeface="Cambria Math" panose="02040503050406030204" pitchFamily="18" charset="0"/>
                                    </a:rPr>
                                    <m:t>0</m:t>
                                  </m:r>
                                </m:e>
                              </m:mr>
                            </m:m>
                          </m:e>
                        </m:d>
                        <m:r>
                          <a:rPr lang="en-US" sz="2200" b="0" i="1" smtClean="0">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i="1">
                                <a:solidFill>
                                  <a:schemeClr val="tx1"/>
                                </a:solidFill>
                                <a:latin typeface="Cambria Math" panose="02040503050406030204" pitchFamily="18" charset="0"/>
                              </a:rPr>
                              <m:t>0</m:t>
                            </m:r>
                          </m:e>
                        </m:d>
                        <m:r>
                          <a:rPr lang="en-US" sz="2200" b="0" i="1" smtClean="0">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0</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b="0" i="1" smtClean="0">
                                <a:solidFill>
                                  <a:schemeClr val="tx1"/>
                                </a:solidFill>
                                <a:latin typeface="Cambria Math" panose="02040503050406030204" pitchFamily="18" charset="0"/>
                              </a:rPr>
                              <m:t>1</m:t>
                            </m:r>
                          </m:e>
                        </m:d>
                      </m:oMath>
                    </m:oMathPara>
                  </a14:m>
                  <a:endParaRPr lang="en-US" sz="2200" dirty="0">
                    <a:solidFill>
                      <a:schemeClr val="tx1"/>
                    </a:solidFill>
                  </a:endParaRPr>
                </a:p>
              </p:txBody>
            </p:sp>
          </mc:Choice>
          <mc:Fallback xmlns="">
            <p:sp>
              <p:nvSpPr>
                <p:cNvPr id="66" name="Rectangle 65">
                  <a:extLst>
                    <a:ext uri="{FF2B5EF4-FFF2-40B4-BE49-F238E27FC236}">
                      <a16:creationId xmlns:a16="http://schemas.microsoft.com/office/drawing/2014/main" id="{589CC6FA-1919-F64B-9E25-623F05676F65}"/>
                    </a:ext>
                  </a:extLst>
                </p:cNvPr>
                <p:cNvSpPr>
                  <a:spLocks noRot="1" noChangeAspect="1" noMove="1" noResize="1" noEditPoints="1" noAdjustHandles="1" noChangeArrowheads="1" noChangeShapeType="1" noTextEdit="1"/>
                </p:cNvSpPr>
                <p:nvPr/>
              </p:nvSpPr>
              <p:spPr>
                <a:xfrm>
                  <a:off x="5735373" y="3736414"/>
                  <a:ext cx="6098016" cy="1296124"/>
                </a:xfrm>
                <a:prstGeom prst="rect">
                  <a:avLst/>
                </a:prstGeom>
                <a:blipFill>
                  <a:blip r:embed="rId9"/>
                  <a:stretch>
                    <a:fillRect b="-2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16D905ED-78B6-5447-9E21-808C9BD39A56}"/>
                    </a:ext>
                  </a:extLst>
                </p:cNvPr>
                <p:cNvSpPr/>
                <p:nvPr/>
              </p:nvSpPr>
              <p:spPr>
                <a:xfrm>
                  <a:off x="5735373" y="5388984"/>
                  <a:ext cx="6117636" cy="1296124"/>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i="1" smtClean="0">
                                <a:solidFill>
                                  <a:schemeClr val="tx1"/>
                                </a:solidFill>
                                <a:latin typeface="Cambria Math" panose="02040503050406030204" pitchFamily="18" charset="0"/>
                              </a:rPr>
                            </m:ctrlPr>
                          </m:dPr>
                          <m:e>
                            <m:m>
                              <m:mPr>
                                <m:mcs>
                                  <m:mc>
                                    <m:mcPr>
                                      <m:count m:val="2"/>
                                      <m:mcJc m:val="center"/>
                                    </m:mcPr>
                                  </m:mc>
                                </m:mcs>
                                <m:ctrlPr>
                                  <a:rPr lang="en-US" sz="2200" i="1" smtClean="0">
                                    <a:solidFill>
                                      <a:schemeClr val="tx1"/>
                                    </a:solidFill>
                                    <a:latin typeface="Cambria Math" panose="02040503050406030204" pitchFamily="18" charset="0"/>
                                  </a:rPr>
                                </m:ctrlPr>
                              </m:mPr>
                              <m:mr>
                                <m:e>
                                  <m:func>
                                    <m:funcPr>
                                      <m:ctrlPr>
                                        <a:rPr lang="en-US" sz="2200" i="1" smtClean="0">
                                          <a:solidFill>
                                            <a:schemeClr val="tx1"/>
                                          </a:solidFill>
                                          <a:latin typeface="Cambria Math" panose="02040503050406030204" pitchFamily="18" charset="0"/>
                                        </a:rPr>
                                      </m:ctrlPr>
                                    </m:funcPr>
                                    <m:fName>
                                      <m:r>
                                        <m:rPr>
                                          <m:brk m:alnAt="7"/>
                                        </m:rPr>
                                        <a:rPr lang="en-US" sz="2200" i="1" smtClean="0">
                                          <a:solidFill>
                                            <a:schemeClr val="tx1"/>
                                          </a:solidFill>
                                          <a:latin typeface="Cambria Math" panose="02040503050406030204" pitchFamily="18" charset="0"/>
                                        </a:rPr>
                                        <m:t>𝑐</m:t>
                                      </m:r>
                                      <m:r>
                                        <a:rPr lang="en-US" sz="2200" i="1" smtClean="0">
                                          <a:solidFill>
                                            <a:schemeClr val="tx1"/>
                                          </a:solidFill>
                                          <a:latin typeface="Cambria Math" panose="02040503050406030204" pitchFamily="18" charset="0"/>
                                        </a:rPr>
                                        <m:t>𝑜𝑠</m:t>
                                      </m:r>
                                    </m:fName>
                                    <m:e>
                                      <m:f>
                                        <m:fPr>
                                          <m:ctrlPr>
                                            <a:rPr lang="en-US" sz="2200" i="1" smtClean="0">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mr>
                              <m:mr>
                                <m:e>
                                  <m:func>
                                    <m:funcPr>
                                      <m:ctrlPr>
                                        <a:rPr lang="en-US" sz="2200" i="1">
                                          <a:solidFill>
                                            <a:schemeClr val="tx1"/>
                                          </a:solidFill>
                                          <a:latin typeface="Cambria Math" panose="02040503050406030204" pitchFamily="18" charset="0"/>
                                        </a:rPr>
                                      </m:ctrlPr>
                                    </m:funcPr>
                                    <m:fName>
                                      <m:r>
                                        <a:rPr lang="en-US" sz="2200" b="0" i="1" smtClean="0">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e>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b="0" i="1" smtClean="0">
                                              <a:solidFill>
                                                <a:schemeClr val="tx1"/>
                                              </a:solidFill>
                                              <a:latin typeface="Cambria Math" panose="02040503050406030204" pitchFamily="18" charset="0"/>
                                            </a:rPr>
                                            <m:t>2</m:t>
                                          </m:r>
                                        </m:den>
                                      </m:f>
                                    </m:e>
                                  </m:func>
                                </m:e>
                              </m:mr>
                            </m:m>
                          </m:e>
                        </m:d>
                        <m:d>
                          <m:dPr>
                            <m:ctrlPr>
                              <a:rPr lang="en-US" sz="2200" i="1">
                                <a:solidFill>
                                  <a:schemeClr val="tx1"/>
                                </a:solidFill>
                                <a:latin typeface="Cambria Math" panose="02040503050406030204" pitchFamily="18" charset="0"/>
                              </a:rPr>
                            </m:ctrlPr>
                          </m:dPr>
                          <m:e>
                            <m:m>
                              <m:mPr>
                                <m:mcs>
                                  <m:mc>
                                    <m:mcPr>
                                      <m:count m:val="1"/>
                                      <m:mcJc m:val="center"/>
                                    </m:mcPr>
                                  </m:mc>
                                </m:mcs>
                                <m:ctrlPr>
                                  <a:rPr lang="en-US" sz="2200" i="1">
                                    <a:solidFill>
                                      <a:schemeClr val="tx1"/>
                                    </a:solidFill>
                                    <a:latin typeface="Cambria Math" panose="02040503050406030204" pitchFamily="18" charset="0"/>
                                  </a:rPr>
                                </m:ctrlPr>
                              </m:mPr>
                              <m:mr>
                                <m:e>
                                  <m:r>
                                    <m:rPr>
                                      <m:brk m:alnAt="7"/>
                                    </m:rPr>
                                    <a:rPr lang="en-US" sz="2200" i="1">
                                      <a:solidFill>
                                        <a:schemeClr val="tx1"/>
                                      </a:solidFill>
                                      <a:latin typeface="Cambria Math" panose="02040503050406030204" pitchFamily="18" charset="0"/>
                                    </a:rPr>
                                    <m:t>1</m:t>
                                  </m:r>
                                </m:e>
                              </m:mr>
                              <m:mr>
                                <m:e>
                                  <m:r>
                                    <a:rPr lang="en-US" sz="2200" i="1">
                                      <a:solidFill>
                                        <a:schemeClr val="tx1"/>
                                      </a:solidFill>
                                      <a:latin typeface="Cambria Math" panose="02040503050406030204" pitchFamily="18" charset="0"/>
                                    </a:rPr>
                                    <m:t>0</m:t>
                                  </m:r>
                                </m:e>
                              </m:mr>
                            </m:m>
                          </m:e>
                        </m:d>
                        <m:r>
                          <a:rPr lang="en-US" sz="2200" i="1">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m:rPr>
                                <m:brk m:alnAt="7"/>
                              </m:rPr>
                              <a:rPr lang="en-US" sz="2200" i="1">
                                <a:solidFill>
                                  <a:schemeClr val="tx1"/>
                                </a:solidFill>
                                <a:latin typeface="Cambria Math" panose="02040503050406030204" pitchFamily="18" charset="0"/>
                              </a:rPr>
                              <m:t>𝑐</m:t>
                            </m:r>
                            <m:r>
                              <a:rPr lang="en-US" sz="2200" i="1">
                                <a:solidFill>
                                  <a:schemeClr val="tx1"/>
                                </a:solidFill>
                                <a:latin typeface="Cambria Math" panose="02040503050406030204" pitchFamily="18" charset="0"/>
                              </a:rPr>
                              <m:t>𝑜𝑠</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i="1">
                                <a:solidFill>
                                  <a:schemeClr val="tx1"/>
                                </a:solidFill>
                                <a:latin typeface="Cambria Math" panose="02040503050406030204" pitchFamily="18" charset="0"/>
                              </a:rPr>
                              <m:t>0</m:t>
                            </m:r>
                          </m:e>
                        </m:d>
                        <m:r>
                          <a:rPr lang="en-US" sz="2200" i="1">
                            <a:solidFill>
                              <a:schemeClr val="tx1"/>
                            </a:solidFill>
                            <a:latin typeface="Cambria Math" panose="02040503050406030204" pitchFamily="18" charset="0"/>
                          </a:rPr>
                          <m:t>+</m:t>
                        </m:r>
                        <m:func>
                          <m:funcPr>
                            <m:ctrlPr>
                              <a:rPr lang="en-US" sz="2200" i="1">
                                <a:solidFill>
                                  <a:schemeClr val="tx1"/>
                                </a:solidFill>
                                <a:latin typeface="Cambria Math" panose="02040503050406030204" pitchFamily="18" charset="0"/>
                              </a:rPr>
                            </m:ctrlPr>
                          </m:funcPr>
                          <m:fName>
                            <m:r>
                              <a:rPr lang="en-US" sz="2200" i="1">
                                <a:solidFill>
                                  <a:schemeClr val="tx1"/>
                                </a:solidFill>
                                <a:latin typeface="Cambria Math" panose="02040503050406030204" pitchFamily="18" charset="0"/>
                              </a:rPr>
                              <m:t>𝑠𝑖𝑛</m:t>
                            </m:r>
                          </m:fName>
                          <m:e>
                            <m:f>
                              <m:fPr>
                                <m:ctrlPr>
                                  <a:rPr lang="en-US" sz="2200" i="1">
                                    <a:solidFill>
                                      <a:schemeClr val="tx1"/>
                                    </a:solidFill>
                                    <a:latin typeface="Cambria Math" panose="02040503050406030204" pitchFamily="18" charset="0"/>
                                  </a:rPr>
                                </m:ctrlPr>
                              </m:fPr>
                              <m:num>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rPr>
                                      <m:t>𝑥</m:t>
                                    </m:r>
                                  </m:e>
                                  <m:sub>
                                    <m:r>
                                      <a:rPr lang="sr-Latn-RS" sz="2200" b="0" i="1" smtClean="0">
                                        <a:solidFill>
                                          <a:schemeClr val="tx1"/>
                                        </a:solidFill>
                                        <a:latin typeface="Cambria Math" panose="02040503050406030204" pitchFamily="18" charset="0"/>
                                      </a:rPr>
                                      <m:t>1</m:t>
                                    </m:r>
                                  </m:sub>
                                </m:sSub>
                              </m:num>
                              <m:den>
                                <m:r>
                                  <a:rPr lang="en-US" sz="2200" i="1">
                                    <a:solidFill>
                                      <a:schemeClr val="tx1"/>
                                    </a:solidFill>
                                    <a:latin typeface="Cambria Math" panose="02040503050406030204" pitchFamily="18" charset="0"/>
                                  </a:rPr>
                                  <m:t>2</m:t>
                                </m:r>
                              </m:den>
                            </m:f>
                          </m:e>
                        </m:func>
                        <m:d>
                          <m:dPr>
                            <m:begChr m:val="|"/>
                            <m:endChr m:val="⟩"/>
                            <m:ctrlPr>
                              <a:rPr lang="en-US" sz="2200" i="1">
                                <a:solidFill>
                                  <a:schemeClr val="tx1"/>
                                </a:solidFill>
                                <a:latin typeface="Cambria Math" panose="02040503050406030204" pitchFamily="18" charset="0"/>
                              </a:rPr>
                            </m:ctrlPr>
                          </m:dPr>
                          <m:e>
                            <m:r>
                              <a:rPr lang="en-US" sz="2200" i="1">
                                <a:solidFill>
                                  <a:schemeClr val="tx1"/>
                                </a:solidFill>
                                <a:latin typeface="Cambria Math" panose="02040503050406030204" pitchFamily="18" charset="0"/>
                              </a:rPr>
                              <m:t>1</m:t>
                            </m:r>
                          </m:e>
                        </m:d>
                      </m:oMath>
                    </m:oMathPara>
                  </a14:m>
                  <a:endParaRPr lang="en-US" sz="2200" dirty="0">
                    <a:solidFill>
                      <a:schemeClr val="tx1"/>
                    </a:solidFill>
                  </a:endParaRPr>
                </a:p>
              </p:txBody>
            </p:sp>
          </mc:Choice>
          <mc:Fallback xmlns="">
            <p:sp>
              <p:nvSpPr>
                <p:cNvPr id="67" name="Rectangle 66">
                  <a:extLst>
                    <a:ext uri="{FF2B5EF4-FFF2-40B4-BE49-F238E27FC236}">
                      <a16:creationId xmlns:a16="http://schemas.microsoft.com/office/drawing/2014/main" id="{16D905ED-78B6-5447-9E21-808C9BD39A56}"/>
                    </a:ext>
                  </a:extLst>
                </p:cNvPr>
                <p:cNvSpPr>
                  <a:spLocks noRot="1" noChangeAspect="1" noMove="1" noResize="1" noEditPoints="1" noAdjustHandles="1" noChangeArrowheads="1" noChangeShapeType="1" noTextEdit="1"/>
                </p:cNvSpPr>
                <p:nvPr/>
              </p:nvSpPr>
              <p:spPr>
                <a:xfrm>
                  <a:off x="5735373" y="5388984"/>
                  <a:ext cx="6117636" cy="1296124"/>
                </a:xfrm>
                <a:prstGeom prst="rect">
                  <a:avLst/>
                </a:prstGeom>
                <a:blipFill>
                  <a:blip r:embed="rId10"/>
                  <a:stretch>
                    <a:fillRect b="-2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Rectangle 67">
                  <a:extLst>
                    <a:ext uri="{FF2B5EF4-FFF2-40B4-BE49-F238E27FC236}">
                      <a16:creationId xmlns:a16="http://schemas.microsoft.com/office/drawing/2014/main" id="{74914670-0B38-3C48-8B75-B51B01E8DDB1}"/>
                    </a:ext>
                  </a:extLst>
                </p:cNvPr>
                <p:cNvSpPr/>
                <p:nvPr/>
              </p:nvSpPr>
              <p:spPr>
                <a:xfrm>
                  <a:off x="9780157" y="4836033"/>
                  <a:ext cx="63510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ea typeface="Cambria Math" panose="02040503050406030204" pitchFamily="18" charset="0"/>
                          </a:rPr>
                          <m:t>⨂</m:t>
                        </m:r>
                      </m:oMath>
                    </m:oMathPara>
                  </a14:m>
                  <a:endParaRPr lang="en-US" sz="3200" dirty="0"/>
                </a:p>
              </p:txBody>
            </p:sp>
          </mc:Choice>
          <mc:Fallback xmlns="">
            <p:sp>
              <p:nvSpPr>
                <p:cNvPr id="68" name="Rectangle 67">
                  <a:extLst>
                    <a:ext uri="{FF2B5EF4-FFF2-40B4-BE49-F238E27FC236}">
                      <a16:creationId xmlns:a16="http://schemas.microsoft.com/office/drawing/2014/main" id="{74914670-0B38-3C48-8B75-B51B01E8DDB1}"/>
                    </a:ext>
                  </a:extLst>
                </p:cNvPr>
                <p:cNvSpPr>
                  <a:spLocks noRot="1" noChangeAspect="1" noMove="1" noResize="1" noEditPoints="1" noAdjustHandles="1" noChangeArrowheads="1" noChangeShapeType="1" noTextEdit="1"/>
                </p:cNvSpPr>
                <p:nvPr/>
              </p:nvSpPr>
              <p:spPr>
                <a:xfrm>
                  <a:off x="9780157" y="4836033"/>
                  <a:ext cx="635109" cy="584775"/>
                </a:xfrm>
                <a:prstGeom prst="rect">
                  <a:avLst/>
                </a:prstGeom>
                <a:blipFill>
                  <a:blip r:embed="rId12"/>
                  <a:stretch>
                    <a:fillRect l="-1961" r="-1961" b="-4255"/>
                  </a:stretch>
                </a:blipFill>
              </p:spPr>
              <p:txBody>
                <a:bodyPr/>
                <a:lstStyle/>
                <a:p>
                  <a:r>
                    <a:rPr lang="en-US">
                      <a:noFill/>
                    </a:rPr>
                    <a:t> </a:t>
                  </a:r>
                </a:p>
              </p:txBody>
            </p:sp>
          </mc:Fallback>
        </mc:AlternateContent>
        <p:sp>
          <p:nvSpPr>
            <p:cNvPr id="75" name="Right Brace 74">
              <a:extLst>
                <a:ext uri="{FF2B5EF4-FFF2-40B4-BE49-F238E27FC236}">
                  <a16:creationId xmlns:a16="http://schemas.microsoft.com/office/drawing/2014/main" id="{612E37ED-6AC2-8D47-B1F8-4A50C12B2F33}"/>
                </a:ext>
              </a:extLst>
            </p:cNvPr>
            <p:cNvSpPr/>
            <p:nvPr/>
          </p:nvSpPr>
          <p:spPr>
            <a:xfrm>
              <a:off x="5065260" y="4018176"/>
              <a:ext cx="421501" cy="2474699"/>
            </a:xfrm>
            <a:prstGeom prst="rightBrace">
              <a:avLst>
                <a:gd name="adj1" fmla="val 52071"/>
                <a:gd name="adj2" fmla="val 50000"/>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C3843E2C-7D4C-0B46-A09B-872CADCCFC7C}"/>
              </a:ext>
            </a:extLst>
          </p:cNvPr>
          <p:cNvGrpSpPr/>
          <p:nvPr/>
        </p:nvGrpSpPr>
        <p:grpSpPr>
          <a:xfrm>
            <a:off x="546780" y="2959988"/>
            <a:ext cx="3917997" cy="543770"/>
            <a:chOff x="546780" y="2959988"/>
            <a:chExt cx="3917997" cy="543770"/>
          </a:xfrm>
        </p:grpSpPr>
        <p:grpSp>
          <p:nvGrpSpPr>
            <p:cNvPr id="76" name="Group 75">
              <a:extLst>
                <a:ext uri="{FF2B5EF4-FFF2-40B4-BE49-F238E27FC236}">
                  <a16:creationId xmlns:a16="http://schemas.microsoft.com/office/drawing/2014/main" id="{F396249B-240C-8B44-8E96-8A56C92623F9}"/>
                </a:ext>
              </a:extLst>
            </p:cNvPr>
            <p:cNvGrpSpPr/>
            <p:nvPr/>
          </p:nvGrpSpPr>
          <p:grpSpPr>
            <a:xfrm>
              <a:off x="546780" y="2969218"/>
              <a:ext cx="2632268" cy="523220"/>
              <a:chOff x="546780" y="2969218"/>
              <a:chExt cx="2632268" cy="523220"/>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B591EEF-0993-6F47-AF0C-C8136152A186}"/>
                      </a:ext>
                    </a:extLst>
                  </p:cNvPr>
                  <p:cNvSpPr/>
                  <p:nvPr/>
                </p:nvSpPr>
                <p:spPr>
                  <a:xfrm>
                    <a:off x="546780" y="2969218"/>
                    <a:ext cx="2067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sr-Latn-R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sr-Latn-RS" sz="2800" b="0" i="1" smtClean="0">
                                  <a:latin typeface="Cambria Math" panose="02040503050406030204" pitchFamily="18" charset="0"/>
                                </a:rPr>
                                <m:t>1</m:t>
                              </m:r>
                            </m:sub>
                          </m:sSub>
                          <m:r>
                            <a:rPr lang="en-US" sz="2800" b="0" i="1" smtClean="0">
                              <a:latin typeface="Cambria Math" panose="02040503050406030204" pitchFamily="18" charset="0"/>
                            </a:rPr>
                            <m:t>)</m:t>
                          </m:r>
                        </m:oMath>
                      </m:oMathPara>
                    </a14:m>
                    <a:endParaRPr lang="en-US" sz="2800" dirty="0"/>
                  </a:p>
                </p:txBody>
              </p:sp>
            </mc:Choice>
            <mc:Fallback xmlns="">
              <p:sp>
                <p:nvSpPr>
                  <p:cNvPr id="7" name="Rectangle 6">
                    <a:extLst>
                      <a:ext uri="{FF2B5EF4-FFF2-40B4-BE49-F238E27FC236}">
                        <a16:creationId xmlns:a16="http://schemas.microsoft.com/office/drawing/2014/main" id="{1B591EEF-0993-6F47-AF0C-C8136152A186}"/>
                      </a:ext>
                    </a:extLst>
                  </p:cNvPr>
                  <p:cNvSpPr>
                    <a:spLocks noRot="1" noChangeAspect="1" noMove="1" noResize="1" noEditPoints="1" noAdjustHandles="1" noChangeArrowheads="1" noChangeShapeType="1" noTextEdit="1"/>
                  </p:cNvSpPr>
                  <p:nvPr/>
                </p:nvSpPr>
                <p:spPr>
                  <a:xfrm>
                    <a:off x="546780" y="2969218"/>
                    <a:ext cx="2067554" cy="523220"/>
                  </a:xfrm>
                  <a:prstGeom prst="rect">
                    <a:avLst/>
                  </a:prstGeom>
                  <a:blipFill>
                    <a:blip r:embed="rId13"/>
                    <a:stretch>
                      <a:fillRect r="-610" b="-16667"/>
                    </a:stretch>
                  </a:blipFill>
                </p:spPr>
                <p:txBody>
                  <a:bodyPr/>
                  <a:lstStyle/>
                  <a:p>
                    <a:r>
                      <a:rPr lang="en-US">
                        <a:noFill/>
                      </a:rPr>
                      <a:t> </a:t>
                    </a:r>
                  </a:p>
                </p:txBody>
              </p:sp>
            </mc:Fallback>
          </mc:AlternateContent>
          <p:sp>
            <p:nvSpPr>
              <p:cNvPr id="69" name="Right Arrow 68">
                <a:extLst>
                  <a:ext uri="{FF2B5EF4-FFF2-40B4-BE49-F238E27FC236}">
                    <a16:creationId xmlns:a16="http://schemas.microsoft.com/office/drawing/2014/main" id="{40EE0372-BDED-E34B-90C8-8BC4C9494040}"/>
                  </a:ext>
                </a:extLst>
              </p:cNvPr>
              <p:cNvSpPr/>
              <p:nvPr/>
            </p:nvSpPr>
            <p:spPr>
              <a:xfrm>
                <a:off x="2668055" y="3023808"/>
                <a:ext cx="510993" cy="409171"/>
              </a:xfrm>
              <a:prstGeom prst="rightArrow">
                <a:avLst/>
              </a:prstGeom>
              <a:solidFill>
                <a:schemeClr val="accent4">
                  <a:lumMod val="20000"/>
                  <a:lumOff val="8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6ACAFC1-9958-B744-AD87-B7DCC737343F}"/>
                    </a:ext>
                  </a:extLst>
                </p:cNvPr>
                <p:cNvSpPr/>
                <p:nvPr/>
              </p:nvSpPr>
              <p:spPr>
                <a:xfrm>
                  <a:off x="3382684" y="2963758"/>
                  <a:ext cx="540000" cy="540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sr-Latn-RS" sz="2400" b="0" i="1" smtClean="0">
                                <a:solidFill>
                                  <a:schemeClr val="tx1"/>
                                </a:solidFill>
                                <a:latin typeface="Cambria Math" panose="02040503050406030204" pitchFamily="18" charset="0"/>
                              </a:rPr>
                              <m:t>𝑞</m:t>
                            </m:r>
                          </m:e>
                          <m:sub>
                            <m:r>
                              <a:rPr lang="sr-Latn-RS" sz="2400" b="0" i="1" smtClean="0">
                                <a:solidFill>
                                  <a:schemeClr val="tx1"/>
                                </a:solidFill>
                                <a:latin typeface="Cambria Math" panose="02040503050406030204" pitchFamily="18" charset="0"/>
                              </a:rPr>
                              <m:t>0</m:t>
                            </m:r>
                          </m:sub>
                        </m:sSub>
                      </m:oMath>
                    </m:oMathPara>
                  </a14:m>
                  <a:endParaRPr lang="en-US" sz="2400" dirty="0">
                    <a:solidFill>
                      <a:schemeClr val="tx1"/>
                    </a:solidFill>
                  </a:endParaRPr>
                </a:p>
              </p:txBody>
            </p:sp>
          </mc:Choice>
          <mc:Fallback xmlns="">
            <p:sp>
              <p:nvSpPr>
                <p:cNvPr id="4" name="Rectangle 3">
                  <a:extLst>
                    <a:ext uri="{FF2B5EF4-FFF2-40B4-BE49-F238E27FC236}">
                      <a16:creationId xmlns:a16="http://schemas.microsoft.com/office/drawing/2014/main" id="{46ACAFC1-9958-B744-AD87-B7DCC737343F}"/>
                    </a:ext>
                  </a:extLst>
                </p:cNvPr>
                <p:cNvSpPr>
                  <a:spLocks noRot="1" noChangeAspect="1" noMove="1" noResize="1" noEditPoints="1" noAdjustHandles="1" noChangeArrowheads="1" noChangeShapeType="1" noTextEdit="1"/>
                </p:cNvSpPr>
                <p:nvPr/>
              </p:nvSpPr>
              <p:spPr>
                <a:xfrm>
                  <a:off x="3382684" y="2963758"/>
                  <a:ext cx="540000" cy="540000"/>
                </a:xfrm>
                <a:prstGeom prst="rect">
                  <a:avLst/>
                </a:prstGeom>
                <a:blipFill>
                  <a:blip r:embed="rId14"/>
                  <a:stretch>
                    <a:fillRect l="-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E6E8802F-696F-A74E-A7FA-2F3AC0DD597D}"/>
                    </a:ext>
                  </a:extLst>
                </p:cNvPr>
                <p:cNvSpPr/>
                <p:nvPr/>
              </p:nvSpPr>
              <p:spPr>
                <a:xfrm>
                  <a:off x="3924777" y="2959988"/>
                  <a:ext cx="540000" cy="540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sr-Latn-RS" sz="2400" i="1">
                                <a:solidFill>
                                  <a:schemeClr val="tx1"/>
                                </a:solidFill>
                                <a:latin typeface="Cambria Math" panose="02040503050406030204" pitchFamily="18" charset="0"/>
                              </a:rPr>
                              <m:t>𝑞</m:t>
                            </m:r>
                          </m:e>
                          <m:sub>
                            <m:r>
                              <a:rPr lang="sr-Latn-RS" sz="2400" b="0" i="1" smtClean="0">
                                <a:solidFill>
                                  <a:schemeClr val="tx1"/>
                                </a:solidFill>
                                <a:latin typeface="Cambria Math" panose="02040503050406030204" pitchFamily="18" charset="0"/>
                              </a:rPr>
                              <m:t>1</m:t>
                            </m:r>
                          </m:sub>
                        </m:sSub>
                      </m:oMath>
                    </m:oMathPara>
                  </a14:m>
                  <a:endParaRPr lang="en-US" sz="2400" dirty="0">
                    <a:solidFill>
                      <a:schemeClr val="tx1"/>
                    </a:solidFill>
                  </a:endParaRPr>
                </a:p>
              </p:txBody>
            </p:sp>
          </mc:Choice>
          <mc:Fallback xmlns="">
            <p:sp>
              <p:nvSpPr>
                <p:cNvPr id="47" name="Rectangle 46">
                  <a:extLst>
                    <a:ext uri="{FF2B5EF4-FFF2-40B4-BE49-F238E27FC236}">
                      <a16:creationId xmlns:a16="http://schemas.microsoft.com/office/drawing/2014/main" id="{E6E8802F-696F-A74E-A7FA-2F3AC0DD597D}"/>
                    </a:ext>
                  </a:extLst>
                </p:cNvPr>
                <p:cNvSpPr>
                  <a:spLocks noRot="1" noChangeAspect="1" noMove="1" noResize="1" noEditPoints="1" noAdjustHandles="1" noChangeArrowheads="1" noChangeShapeType="1" noTextEdit="1"/>
                </p:cNvSpPr>
                <p:nvPr/>
              </p:nvSpPr>
              <p:spPr>
                <a:xfrm>
                  <a:off x="3924777" y="2959988"/>
                  <a:ext cx="540000" cy="540000"/>
                </a:xfrm>
                <a:prstGeom prst="rect">
                  <a:avLst/>
                </a:prstGeom>
                <a:blipFill>
                  <a:blip r:embed="rId15"/>
                  <a:stretch>
                    <a:fillRect l="-2222"/>
                  </a:stretch>
                </a:blipFill>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6B948AA2-8172-2044-BCB0-AC1C667B9303}"/>
              </a:ext>
            </a:extLst>
          </p:cNvPr>
          <p:cNvGrpSpPr/>
          <p:nvPr/>
        </p:nvGrpSpPr>
        <p:grpSpPr>
          <a:xfrm>
            <a:off x="496086" y="3929386"/>
            <a:ext cx="4472882" cy="2555614"/>
            <a:chOff x="496086" y="3929386"/>
            <a:chExt cx="4472882" cy="2555614"/>
          </a:xfrm>
        </p:grpSpPr>
        <p:grpSp>
          <p:nvGrpSpPr>
            <p:cNvPr id="77" name="Group 76">
              <a:extLst>
                <a:ext uri="{FF2B5EF4-FFF2-40B4-BE49-F238E27FC236}">
                  <a16:creationId xmlns:a16="http://schemas.microsoft.com/office/drawing/2014/main" id="{AE7E7392-0C85-1A45-9F0A-4999BF16B273}"/>
                </a:ext>
              </a:extLst>
            </p:cNvPr>
            <p:cNvGrpSpPr/>
            <p:nvPr/>
          </p:nvGrpSpPr>
          <p:grpSpPr>
            <a:xfrm>
              <a:off x="496086" y="4010301"/>
              <a:ext cx="4472882" cy="2474699"/>
              <a:chOff x="496086" y="4010301"/>
              <a:chExt cx="4472882" cy="2474699"/>
            </a:xfrm>
          </p:grpSpPr>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076505F3-38FE-684A-98D8-6C7DA1BBBE0C}"/>
                      </a:ext>
                    </a:extLst>
                  </p:cNvPr>
                  <p:cNvSpPr/>
                  <p:nvPr/>
                </p:nvSpPr>
                <p:spPr>
                  <a:xfrm>
                    <a:off x="496086" y="4137136"/>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32" name="Rectangle 31">
                    <a:extLst>
                      <a:ext uri="{FF2B5EF4-FFF2-40B4-BE49-F238E27FC236}">
                        <a16:creationId xmlns:a16="http://schemas.microsoft.com/office/drawing/2014/main" id="{076505F3-38FE-684A-98D8-6C7DA1BBBE0C}"/>
                      </a:ext>
                    </a:extLst>
                  </p:cNvPr>
                  <p:cNvSpPr>
                    <a:spLocks noRot="1" noChangeAspect="1" noMove="1" noResize="1" noEditPoints="1" noAdjustHandles="1" noChangeArrowheads="1" noChangeShapeType="1" noTextEdit="1"/>
                  </p:cNvSpPr>
                  <p:nvPr/>
                </p:nvSpPr>
                <p:spPr>
                  <a:xfrm>
                    <a:off x="496086" y="4137136"/>
                    <a:ext cx="707886" cy="523220"/>
                  </a:xfrm>
                  <a:prstGeom prst="rect">
                    <a:avLst/>
                  </a:prstGeom>
                  <a:blipFill>
                    <a:blip r:embed="rId16"/>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821FA675-D54B-DA4B-8DC7-58099A8BEFBA}"/>
                  </a:ext>
                </a:extLst>
              </p:cNvPr>
              <p:cNvCxnSpPr>
                <a:cxnSpLocks/>
              </p:cNvCxnSpPr>
              <p:nvPr/>
            </p:nvCxnSpPr>
            <p:spPr>
              <a:xfrm flipV="1">
                <a:off x="1367646" y="4460301"/>
                <a:ext cx="36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0F41611-DB88-5D41-9127-796E03071F30}"/>
                  </a:ext>
                </a:extLst>
              </p:cNvPr>
              <p:cNvCxnSpPr>
                <a:cxnSpLocks/>
              </p:cNvCxnSpPr>
              <p:nvPr/>
            </p:nvCxnSpPr>
            <p:spPr>
              <a:xfrm>
                <a:off x="1368968" y="6064614"/>
                <a:ext cx="36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A8040F78-EB15-0546-B66F-0C27E474DE20}"/>
                      </a:ext>
                    </a:extLst>
                  </p:cNvPr>
                  <p:cNvSpPr/>
                  <p:nvPr/>
                </p:nvSpPr>
                <p:spPr>
                  <a:xfrm>
                    <a:off x="513221" y="5741448"/>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40" name="Rectangle 39">
                    <a:extLst>
                      <a:ext uri="{FF2B5EF4-FFF2-40B4-BE49-F238E27FC236}">
                        <a16:creationId xmlns:a16="http://schemas.microsoft.com/office/drawing/2014/main" id="{A8040F78-EB15-0546-B66F-0C27E474DE20}"/>
                      </a:ext>
                    </a:extLst>
                  </p:cNvPr>
                  <p:cNvSpPr>
                    <a:spLocks noRot="1" noChangeAspect="1" noMove="1" noResize="1" noEditPoints="1" noAdjustHandles="1" noChangeArrowheads="1" noChangeShapeType="1" noTextEdit="1"/>
                  </p:cNvSpPr>
                  <p:nvPr/>
                </p:nvSpPr>
                <p:spPr>
                  <a:xfrm>
                    <a:off x="513221" y="5741448"/>
                    <a:ext cx="707886" cy="523220"/>
                  </a:xfrm>
                  <a:prstGeom prst="rect">
                    <a:avLst/>
                  </a:prstGeom>
                  <a:blipFill>
                    <a:blip r:embed="rId17"/>
                    <a:stretch>
                      <a:fillRect/>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6DBA325A-FB2D-9F48-927D-35FF19B9D3D7}"/>
                  </a:ext>
                </a:extLst>
              </p:cNvPr>
              <p:cNvSpPr/>
              <p:nvPr/>
            </p:nvSpPr>
            <p:spPr>
              <a:xfrm>
                <a:off x="1857044" y="4010301"/>
                <a:ext cx="252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27ADFD4-64AC-3649-BB87-4CA90F770CE0}"/>
                      </a:ext>
                    </a:extLst>
                  </p:cNvPr>
                  <p:cNvSpPr/>
                  <p:nvPr/>
                </p:nvSpPr>
                <p:spPr>
                  <a:xfrm>
                    <a:off x="2084771" y="4133016"/>
                    <a:ext cx="2110006"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600">
                              <a:solidFill>
                                <a:schemeClr val="bg1"/>
                              </a:solidFill>
                              <a:latin typeface="Cambria Math" panose="02040503050406030204" pitchFamily="18" charset="0"/>
                            </a:rPr>
                            <m:t>RY</m:t>
                          </m:r>
                          <m:d>
                            <m:dPr>
                              <m:ctrlPr>
                                <a:rPr lang="en-US" sz="3600" i="1" smtClean="0">
                                  <a:solidFill>
                                    <a:schemeClr val="bg1"/>
                                  </a:solidFill>
                                  <a:latin typeface="Cambria Math" panose="02040503050406030204" pitchFamily="18" charset="0"/>
                                </a:rPr>
                              </m:ctrlPr>
                            </m:dPr>
                            <m:e>
                              <m:sSub>
                                <m:sSubPr>
                                  <m:ctrlPr>
                                    <a:rPr lang="en-US" sz="3600" i="1">
                                      <a:solidFill>
                                        <a:schemeClr val="bg1"/>
                                      </a:solidFill>
                                      <a:latin typeface="Cambria Math" panose="02040503050406030204" pitchFamily="18" charset="0"/>
                                    </a:rPr>
                                  </m:ctrlPr>
                                </m:sSubPr>
                                <m:e>
                                  <m:r>
                                    <a:rPr lang="en-US" sz="3600" i="1">
                                      <a:solidFill>
                                        <a:schemeClr val="bg1"/>
                                      </a:solidFill>
                                      <a:latin typeface="Cambria Math" panose="02040503050406030204" pitchFamily="18" charset="0"/>
                                    </a:rPr>
                                    <m:t>𝑥</m:t>
                                  </m:r>
                                </m:e>
                                <m:sub>
                                  <m:r>
                                    <a:rPr lang="sr-Latn-RS" sz="3600" b="0" i="1" smtClean="0">
                                      <a:solidFill>
                                        <a:schemeClr val="bg1"/>
                                      </a:solidFill>
                                      <a:latin typeface="Cambria Math" panose="02040503050406030204" pitchFamily="18" charset="0"/>
                                    </a:rPr>
                                    <m:t>0</m:t>
                                  </m:r>
                                </m:sub>
                              </m:sSub>
                            </m:e>
                          </m:d>
                        </m:oMath>
                      </m:oMathPara>
                    </a14:m>
                    <a:endParaRPr lang="en-US" sz="3600" dirty="0">
                      <a:solidFill>
                        <a:schemeClr val="bg1"/>
                      </a:solidFill>
                    </a:endParaRPr>
                  </a:p>
                </p:txBody>
              </p:sp>
            </mc:Choice>
            <mc:Fallback xmlns="">
              <p:sp>
                <p:nvSpPr>
                  <p:cNvPr id="15" name="Rectangle 14">
                    <a:extLst>
                      <a:ext uri="{FF2B5EF4-FFF2-40B4-BE49-F238E27FC236}">
                        <a16:creationId xmlns:a16="http://schemas.microsoft.com/office/drawing/2014/main" id="{927ADFD4-64AC-3649-BB87-4CA90F770CE0}"/>
                      </a:ext>
                    </a:extLst>
                  </p:cNvPr>
                  <p:cNvSpPr>
                    <a:spLocks noRot="1" noChangeAspect="1" noMove="1" noResize="1" noEditPoints="1" noAdjustHandles="1" noChangeArrowheads="1" noChangeShapeType="1" noTextEdit="1"/>
                  </p:cNvSpPr>
                  <p:nvPr/>
                </p:nvSpPr>
                <p:spPr>
                  <a:xfrm>
                    <a:off x="2084771" y="4133016"/>
                    <a:ext cx="2110006" cy="646331"/>
                  </a:xfrm>
                  <a:prstGeom prst="rect">
                    <a:avLst/>
                  </a:prstGeom>
                  <a:blipFill>
                    <a:blip r:embed="rId18"/>
                    <a:stretch>
                      <a:fillRect b="-5769"/>
                    </a:stretch>
                  </a:blipFill>
                </p:spPr>
                <p:txBody>
                  <a:bodyPr/>
                  <a:lstStyle/>
                  <a:p>
                    <a:r>
                      <a:rPr lang="en-US">
                        <a:noFill/>
                      </a:rPr>
                      <a:t> </a:t>
                    </a:r>
                  </a:p>
                </p:txBody>
              </p:sp>
            </mc:Fallback>
          </mc:AlternateContent>
          <p:sp>
            <p:nvSpPr>
              <p:cNvPr id="45" name="Rectangle 44">
                <a:extLst>
                  <a:ext uri="{FF2B5EF4-FFF2-40B4-BE49-F238E27FC236}">
                    <a16:creationId xmlns:a16="http://schemas.microsoft.com/office/drawing/2014/main" id="{794D4D22-1395-5F43-B840-FB530E86ECBB}"/>
                  </a:ext>
                </a:extLst>
              </p:cNvPr>
              <p:cNvSpPr/>
              <p:nvPr/>
            </p:nvSpPr>
            <p:spPr>
              <a:xfrm>
                <a:off x="1857044" y="5585000"/>
                <a:ext cx="252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592D5AE-7AA5-C848-AE4D-5903FFA99DB8}"/>
                      </a:ext>
                    </a:extLst>
                  </p:cNvPr>
                  <p:cNvSpPr/>
                  <p:nvPr/>
                </p:nvSpPr>
                <p:spPr>
                  <a:xfrm>
                    <a:off x="1960685" y="5692465"/>
                    <a:ext cx="2365718" cy="64633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3600">
                              <a:solidFill>
                                <a:schemeClr val="bg1"/>
                              </a:solidFill>
                              <a:latin typeface="Cambria Math" panose="02040503050406030204" pitchFamily="18" charset="0"/>
                            </a:rPr>
                            <m:t>RY</m:t>
                          </m:r>
                          <m:d>
                            <m:dPr>
                              <m:ctrlPr>
                                <a:rPr lang="en-US" sz="3600" i="1" smtClean="0">
                                  <a:solidFill>
                                    <a:schemeClr val="bg1"/>
                                  </a:solidFill>
                                  <a:latin typeface="Cambria Math" panose="02040503050406030204" pitchFamily="18" charset="0"/>
                                </a:rPr>
                              </m:ctrlPr>
                            </m:dPr>
                            <m:e>
                              <m:sSub>
                                <m:sSubPr>
                                  <m:ctrlPr>
                                    <a:rPr lang="en-US" sz="3600" i="1">
                                      <a:solidFill>
                                        <a:schemeClr val="bg1"/>
                                      </a:solidFill>
                                      <a:latin typeface="Cambria Math" panose="02040503050406030204" pitchFamily="18" charset="0"/>
                                    </a:rPr>
                                  </m:ctrlPr>
                                </m:sSubPr>
                                <m:e>
                                  <m:r>
                                    <a:rPr lang="en-US" sz="3600" i="1">
                                      <a:solidFill>
                                        <a:schemeClr val="bg1"/>
                                      </a:solidFill>
                                      <a:latin typeface="Cambria Math" panose="02040503050406030204" pitchFamily="18" charset="0"/>
                                    </a:rPr>
                                    <m:t>𝑥</m:t>
                                  </m:r>
                                </m:e>
                                <m:sub>
                                  <m:r>
                                    <a:rPr lang="sr-Latn-RS" sz="3600" b="0" i="1" smtClean="0">
                                      <a:solidFill>
                                        <a:schemeClr val="bg1"/>
                                      </a:solidFill>
                                      <a:latin typeface="Cambria Math" panose="02040503050406030204" pitchFamily="18" charset="0"/>
                                    </a:rPr>
                                    <m:t>1</m:t>
                                  </m:r>
                                </m:sub>
                              </m:sSub>
                            </m:e>
                          </m:d>
                        </m:oMath>
                      </m:oMathPara>
                    </a14:m>
                    <a:endParaRPr lang="en-US" sz="3600" dirty="0">
                      <a:solidFill>
                        <a:schemeClr val="bg1"/>
                      </a:solidFill>
                    </a:endParaRPr>
                  </a:p>
                </p:txBody>
              </p:sp>
            </mc:Choice>
            <mc:Fallback xmlns="">
              <p:sp>
                <p:nvSpPr>
                  <p:cNvPr id="46" name="Rectangle 45">
                    <a:extLst>
                      <a:ext uri="{FF2B5EF4-FFF2-40B4-BE49-F238E27FC236}">
                        <a16:creationId xmlns:a16="http://schemas.microsoft.com/office/drawing/2014/main" id="{6592D5AE-7AA5-C848-AE4D-5903FFA99DB8}"/>
                      </a:ext>
                    </a:extLst>
                  </p:cNvPr>
                  <p:cNvSpPr>
                    <a:spLocks noRot="1" noChangeAspect="1" noMove="1" noResize="1" noEditPoints="1" noAdjustHandles="1" noChangeArrowheads="1" noChangeShapeType="1" noTextEdit="1"/>
                  </p:cNvSpPr>
                  <p:nvPr/>
                </p:nvSpPr>
                <p:spPr>
                  <a:xfrm>
                    <a:off x="1960685" y="5692465"/>
                    <a:ext cx="2365718" cy="646331"/>
                  </a:xfrm>
                  <a:prstGeom prst="rect">
                    <a:avLst/>
                  </a:prstGeom>
                  <a:blipFill>
                    <a:blip r:embed="rId19"/>
                    <a:stretch>
                      <a:fillRect b="-576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39139F5-16F3-CD40-9EA1-7E193078A7D5}"/>
                    </a:ext>
                  </a:extLst>
                </p:cNvPr>
                <p:cNvSpPr/>
                <p:nvPr/>
              </p:nvSpPr>
              <p:spPr>
                <a:xfrm>
                  <a:off x="1235815" y="3929386"/>
                  <a:ext cx="5552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i="1">
                                <a:latin typeface="Cambria Math" panose="02040503050406030204" pitchFamily="18" charset="0"/>
                              </a:rPr>
                              <m:t>𝑞</m:t>
                            </m:r>
                          </m:e>
                          <m:sub>
                            <m:r>
                              <a:rPr lang="sr-Latn-RS" sz="2400" b="0" i="1" smtClean="0">
                                <a:latin typeface="Cambria Math" panose="02040503050406030204" pitchFamily="18" charset="0"/>
                              </a:rPr>
                              <m:t>0</m:t>
                            </m:r>
                          </m:sub>
                        </m:sSub>
                      </m:oMath>
                    </m:oMathPara>
                  </a14:m>
                  <a:endParaRPr lang="en-US" sz="2400" dirty="0"/>
                </a:p>
              </p:txBody>
            </p:sp>
          </mc:Choice>
          <mc:Fallback xmlns="">
            <p:sp>
              <p:nvSpPr>
                <p:cNvPr id="6" name="Rectangle 5">
                  <a:extLst>
                    <a:ext uri="{FF2B5EF4-FFF2-40B4-BE49-F238E27FC236}">
                      <a16:creationId xmlns:a16="http://schemas.microsoft.com/office/drawing/2014/main" id="{C39139F5-16F3-CD40-9EA1-7E193078A7D5}"/>
                    </a:ext>
                  </a:extLst>
                </p:cNvPr>
                <p:cNvSpPr>
                  <a:spLocks noRot="1" noChangeAspect="1" noMove="1" noResize="1" noEditPoints="1" noAdjustHandles="1" noChangeArrowheads="1" noChangeShapeType="1" noTextEdit="1"/>
                </p:cNvSpPr>
                <p:nvPr/>
              </p:nvSpPr>
              <p:spPr>
                <a:xfrm>
                  <a:off x="1235815" y="3929386"/>
                  <a:ext cx="555280" cy="461665"/>
                </a:xfrm>
                <a:prstGeom prst="rect">
                  <a:avLst/>
                </a:prstGeom>
                <a:blipFill>
                  <a:blip r:embed="rId20"/>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F6FDB4D9-58FB-8F44-B4D8-40E34EA8FB4F}"/>
                    </a:ext>
                  </a:extLst>
                </p:cNvPr>
                <p:cNvSpPr/>
                <p:nvPr/>
              </p:nvSpPr>
              <p:spPr>
                <a:xfrm>
                  <a:off x="1246745" y="5510615"/>
                  <a:ext cx="5481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sr-Latn-RS" sz="2400" i="1">
                                <a:latin typeface="Cambria Math" panose="02040503050406030204" pitchFamily="18" charset="0"/>
                              </a:rPr>
                              <m:t>𝑞</m:t>
                            </m:r>
                          </m:e>
                          <m:sub>
                            <m:r>
                              <a:rPr lang="sr-Latn-RS" sz="2400" b="0" i="1" smtClean="0">
                                <a:latin typeface="Cambria Math" panose="02040503050406030204" pitchFamily="18" charset="0"/>
                              </a:rPr>
                              <m:t>1</m:t>
                            </m:r>
                          </m:sub>
                        </m:sSub>
                      </m:oMath>
                    </m:oMathPara>
                  </a14:m>
                  <a:endParaRPr lang="en-US" sz="2400" dirty="0"/>
                </a:p>
              </p:txBody>
            </p:sp>
          </mc:Choice>
          <mc:Fallback xmlns="">
            <p:sp>
              <p:nvSpPr>
                <p:cNvPr id="48" name="Rectangle 47">
                  <a:extLst>
                    <a:ext uri="{FF2B5EF4-FFF2-40B4-BE49-F238E27FC236}">
                      <a16:creationId xmlns:a16="http://schemas.microsoft.com/office/drawing/2014/main" id="{F6FDB4D9-58FB-8F44-B4D8-40E34EA8FB4F}"/>
                    </a:ext>
                  </a:extLst>
                </p:cNvPr>
                <p:cNvSpPr>
                  <a:spLocks noRot="1" noChangeAspect="1" noMove="1" noResize="1" noEditPoints="1" noAdjustHandles="1" noChangeArrowheads="1" noChangeShapeType="1" noTextEdit="1"/>
                </p:cNvSpPr>
                <p:nvPr/>
              </p:nvSpPr>
              <p:spPr>
                <a:xfrm>
                  <a:off x="1246745" y="5510615"/>
                  <a:ext cx="548163" cy="461665"/>
                </a:xfrm>
                <a:prstGeom prst="rect">
                  <a:avLst/>
                </a:prstGeom>
                <a:blipFill>
                  <a:blip r:embed="rId21"/>
                  <a:stretch>
                    <a:fillRect b="-8108"/>
                  </a:stretch>
                </a:blipFill>
              </p:spPr>
              <p:txBody>
                <a:bodyPr/>
                <a:lstStyle/>
                <a:p>
                  <a:r>
                    <a:rPr lang="en-US">
                      <a:noFill/>
                    </a:rPr>
                    <a:t> </a:t>
                  </a:r>
                </a:p>
              </p:txBody>
            </p:sp>
          </mc:Fallback>
        </mc:AlternateContent>
      </p:grpSp>
      <p:sp>
        <p:nvSpPr>
          <p:cNvPr id="36" name="Oval 35">
            <a:extLst>
              <a:ext uri="{FF2B5EF4-FFF2-40B4-BE49-F238E27FC236}">
                <a16:creationId xmlns:a16="http://schemas.microsoft.com/office/drawing/2014/main" id="{502324D9-0BD9-D449-AF56-07E21AA05045}"/>
              </a:ext>
            </a:extLst>
          </p:cNvPr>
          <p:cNvSpPr/>
          <p:nvPr/>
        </p:nvSpPr>
        <p:spPr>
          <a:xfrm>
            <a:off x="5985258" y="1891449"/>
            <a:ext cx="2208351" cy="839284"/>
          </a:xfrm>
          <a:prstGeom prst="ellipse">
            <a:avLst/>
          </a:prstGeom>
          <a:solidFill>
            <a:schemeClr val="bg1">
              <a:lumMod val="95000"/>
              <a:alpha val="54000"/>
            </a:schemeClr>
          </a:solid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Parallelogram 109">
            <a:extLst>
              <a:ext uri="{FF2B5EF4-FFF2-40B4-BE49-F238E27FC236}">
                <a16:creationId xmlns:a16="http://schemas.microsoft.com/office/drawing/2014/main" id="{438E2D66-0A6A-F043-9F27-CD797B6C2080}"/>
              </a:ext>
            </a:extLst>
          </p:cNvPr>
          <p:cNvSpPr/>
          <p:nvPr/>
        </p:nvSpPr>
        <p:spPr>
          <a:xfrm rot="21030453">
            <a:off x="6898088" y="1059244"/>
            <a:ext cx="569739" cy="1227675"/>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 name="connsiteX0" fmla="*/ 0 w 1279925"/>
              <a:gd name="connsiteY0" fmla="*/ 2165460 h 2165460"/>
              <a:gd name="connsiteX1" fmla="*/ 237691 w 1279925"/>
              <a:gd name="connsiteY1" fmla="*/ 676877 h 2165460"/>
              <a:gd name="connsiteX2" fmla="*/ 1279925 w 1279925"/>
              <a:gd name="connsiteY2" fmla="*/ 0 h 2165460"/>
              <a:gd name="connsiteX3" fmla="*/ 949042 w 1279925"/>
              <a:gd name="connsiteY3" fmla="*/ 1465177 h 2165460"/>
              <a:gd name="connsiteX4" fmla="*/ 0 w 1279925"/>
              <a:gd name="connsiteY4" fmla="*/ 2165460 h 2165460"/>
              <a:gd name="connsiteX0" fmla="*/ 0 w 1286902"/>
              <a:gd name="connsiteY0" fmla="*/ 2148537 h 2148537"/>
              <a:gd name="connsiteX1" fmla="*/ 237691 w 1286902"/>
              <a:gd name="connsiteY1" fmla="*/ 659954 h 2148537"/>
              <a:gd name="connsiteX2" fmla="*/ 1286902 w 1286902"/>
              <a:gd name="connsiteY2" fmla="*/ 0 h 2148537"/>
              <a:gd name="connsiteX3" fmla="*/ 949042 w 1286902"/>
              <a:gd name="connsiteY3" fmla="*/ 1448254 h 2148537"/>
              <a:gd name="connsiteX4" fmla="*/ 0 w 1286902"/>
              <a:gd name="connsiteY4" fmla="*/ 2148537 h 2148537"/>
              <a:gd name="connsiteX0" fmla="*/ 0 w 1295987"/>
              <a:gd name="connsiteY0" fmla="*/ 2111996 h 2111996"/>
              <a:gd name="connsiteX1" fmla="*/ 237691 w 1295987"/>
              <a:gd name="connsiteY1" fmla="*/ 623413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53754 w 1295987"/>
              <a:gd name="connsiteY3" fmla="*/ 1485311 h 2111996"/>
              <a:gd name="connsiteX4" fmla="*/ 0 w 1295987"/>
              <a:gd name="connsiteY4" fmla="*/ 2111996 h 211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987" h="2111996">
                <a:moveTo>
                  <a:pt x="0" y="2111996"/>
                </a:moveTo>
                <a:lnTo>
                  <a:pt x="351973" y="537856"/>
                </a:lnTo>
                <a:lnTo>
                  <a:pt x="1295987" y="0"/>
                </a:lnTo>
                <a:lnTo>
                  <a:pt x="953754" y="1485311"/>
                </a:lnTo>
                <a:lnTo>
                  <a:pt x="0" y="2111996"/>
                </a:lnTo>
                <a:close/>
              </a:path>
            </a:pathLst>
          </a:custGeom>
          <a:solidFill>
            <a:schemeClr val="accent6">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Oval 37">
            <a:extLst>
              <a:ext uri="{FF2B5EF4-FFF2-40B4-BE49-F238E27FC236}">
                <a16:creationId xmlns:a16="http://schemas.microsoft.com/office/drawing/2014/main" id="{9A0E4EAC-8E2E-4B4F-8E28-0FE8F01F29CD}"/>
              </a:ext>
            </a:extLst>
          </p:cNvPr>
          <p:cNvSpPr>
            <a:spLocks noChangeAspect="1"/>
          </p:cNvSpPr>
          <p:nvPr/>
        </p:nvSpPr>
        <p:spPr>
          <a:xfrm>
            <a:off x="5973960" y="1126347"/>
            <a:ext cx="2210669" cy="221066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1" name="Straight Arrow Connector 40">
            <a:extLst>
              <a:ext uri="{FF2B5EF4-FFF2-40B4-BE49-F238E27FC236}">
                <a16:creationId xmlns:a16="http://schemas.microsoft.com/office/drawing/2014/main" id="{D8168B1D-8A0D-D04A-A402-A0FE5565F4C1}"/>
              </a:ext>
            </a:extLst>
          </p:cNvPr>
          <p:cNvCxnSpPr>
            <a:cxnSpLocks/>
          </p:cNvCxnSpPr>
          <p:nvPr/>
        </p:nvCxnSpPr>
        <p:spPr>
          <a:xfrm>
            <a:off x="7079294" y="2203214"/>
            <a:ext cx="1237660" cy="400014"/>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05388A0-B3A9-3F4E-AC82-79D283FC0F62}"/>
              </a:ext>
            </a:extLst>
          </p:cNvPr>
          <p:cNvSpPr/>
          <p:nvPr/>
        </p:nvSpPr>
        <p:spPr>
          <a:xfrm>
            <a:off x="6412783" y="1139957"/>
            <a:ext cx="1350738" cy="669090"/>
          </a:xfrm>
          <a:prstGeom prst="ellipse">
            <a:avLst/>
          </a:prstGeom>
          <a:noFill/>
          <a:ln w="1270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4" name="Arc 43">
            <a:extLst>
              <a:ext uri="{FF2B5EF4-FFF2-40B4-BE49-F238E27FC236}">
                <a16:creationId xmlns:a16="http://schemas.microsoft.com/office/drawing/2014/main" id="{90190765-2688-0646-9237-E4A3CC5C2282}"/>
              </a:ext>
            </a:extLst>
          </p:cNvPr>
          <p:cNvSpPr/>
          <p:nvPr/>
        </p:nvSpPr>
        <p:spPr>
          <a:xfrm rot="9527851" flipH="1">
            <a:off x="6515047" y="1086451"/>
            <a:ext cx="1050195" cy="2254166"/>
          </a:xfrm>
          <a:prstGeom prst="arc">
            <a:avLst>
              <a:gd name="adj1" fmla="val 16079390"/>
              <a:gd name="adj2" fmla="val 4769972"/>
            </a:avLst>
          </a:prstGeom>
          <a:ln w="12700">
            <a:solidFill>
              <a:srgbClr val="7030A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52" name="Oval 51">
            <a:extLst>
              <a:ext uri="{FF2B5EF4-FFF2-40B4-BE49-F238E27FC236}">
                <a16:creationId xmlns:a16="http://schemas.microsoft.com/office/drawing/2014/main" id="{DC14372E-5546-2D48-A579-EAFB9CED000E}"/>
              </a:ext>
            </a:extLst>
          </p:cNvPr>
          <p:cNvSpPr/>
          <p:nvPr/>
        </p:nvSpPr>
        <p:spPr>
          <a:xfrm>
            <a:off x="6996016" y="1276914"/>
            <a:ext cx="183580" cy="111847"/>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Oval 52">
            <a:extLst>
              <a:ext uri="{FF2B5EF4-FFF2-40B4-BE49-F238E27FC236}">
                <a16:creationId xmlns:a16="http://schemas.microsoft.com/office/drawing/2014/main" id="{2DBA87B8-DF8B-AC46-8190-35FDF48A4F62}"/>
              </a:ext>
            </a:extLst>
          </p:cNvPr>
          <p:cNvSpPr/>
          <p:nvPr/>
        </p:nvSpPr>
        <p:spPr>
          <a:xfrm>
            <a:off x="6996227" y="3027045"/>
            <a:ext cx="183580" cy="111847"/>
          </a:xfrm>
          <a:prstGeom prst="ellipse">
            <a:avLst/>
          </a:prstGeom>
          <a:solidFill>
            <a:schemeClr val="bg1">
              <a:lumMod val="6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B1476AA-84E7-6848-BCCA-DB9DF4F1B140}"/>
                  </a:ext>
                </a:extLst>
              </p:cNvPr>
              <p:cNvSpPr txBox="1"/>
              <p:nvPr/>
            </p:nvSpPr>
            <p:spPr>
              <a:xfrm>
                <a:off x="6036506" y="2910392"/>
                <a:ext cx="32637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𝑥</m:t>
                      </m:r>
                    </m:oMath>
                  </m:oMathPara>
                </a14:m>
                <a:endParaRPr lang="en-US" sz="1400" dirty="0"/>
              </a:p>
            </p:txBody>
          </p:sp>
        </mc:Choice>
        <mc:Fallback xmlns="">
          <p:sp>
            <p:nvSpPr>
              <p:cNvPr id="54" name="TextBox 53">
                <a:extLst>
                  <a:ext uri="{FF2B5EF4-FFF2-40B4-BE49-F238E27FC236}">
                    <a16:creationId xmlns:a16="http://schemas.microsoft.com/office/drawing/2014/main" id="{9B1476AA-84E7-6848-BCCA-DB9DF4F1B140}"/>
                  </a:ext>
                </a:extLst>
              </p:cNvPr>
              <p:cNvSpPr txBox="1">
                <a:spLocks noRot="1" noChangeAspect="1" noMove="1" noResize="1" noEditPoints="1" noAdjustHandles="1" noChangeArrowheads="1" noChangeShapeType="1" noTextEdit="1"/>
              </p:cNvSpPr>
              <p:nvPr/>
            </p:nvSpPr>
            <p:spPr>
              <a:xfrm>
                <a:off x="6036506" y="2910392"/>
                <a:ext cx="326371" cy="307777"/>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BAE62A9-2C33-7D43-9D82-A1A99CACAF02}"/>
                  </a:ext>
                </a:extLst>
              </p:cNvPr>
              <p:cNvSpPr txBox="1"/>
              <p:nvPr/>
            </p:nvSpPr>
            <p:spPr>
              <a:xfrm>
                <a:off x="6855422" y="789901"/>
                <a:ext cx="21091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𝑧</m:t>
                      </m:r>
                    </m:oMath>
                  </m:oMathPara>
                </a14:m>
                <a:endParaRPr lang="en-US" sz="1400" dirty="0"/>
              </a:p>
            </p:txBody>
          </p:sp>
        </mc:Choice>
        <mc:Fallback xmlns="">
          <p:sp>
            <p:nvSpPr>
              <p:cNvPr id="56" name="TextBox 55">
                <a:extLst>
                  <a:ext uri="{FF2B5EF4-FFF2-40B4-BE49-F238E27FC236}">
                    <a16:creationId xmlns:a16="http://schemas.microsoft.com/office/drawing/2014/main" id="{BBAE62A9-2C33-7D43-9D82-A1A99CACAF02}"/>
                  </a:ext>
                </a:extLst>
              </p:cNvPr>
              <p:cNvSpPr txBox="1">
                <a:spLocks noRot="1" noChangeAspect="1" noMove="1" noResize="1" noEditPoints="1" noAdjustHandles="1" noChangeArrowheads="1" noChangeShapeType="1" noTextEdit="1"/>
              </p:cNvSpPr>
              <p:nvPr/>
            </p:nvSpPr>
            <p:spPr>
              <a:xfrm>
                <a:off x="6855422" y="789901"/>
                <a:ext cx="210910" cy="307777"/>
              </a:xfrm>
              <a:prstGeom prst="rect">
                <a:avLst/>
              </a:prstGeom>
              <a:blipFill>
                <a:blip r:embed="rId23"/>
                <a:stretch>
                  <a:fillRect r="-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56899BA-EED8-FC4F-A454-53FD6A7E6726}"/>
                  </a:ext>
                </a:extLst>
              </p:cNvPr>
              <p:cNvSpPr txBox="1"/>
              <p:nvPr/>
            </p:nvSpPr>
            <p:spPr>
              <a:xfrm>
                <a:off x="8253938" y="2326219"/>
                <a:ext cx="32880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𝑦</m:t>
                      </m:r>
                    </m:oMath>
                  </m:oMathPara>
                </a14:m>
                <a:endParaRPr lang="en-US" sz="1400" dirty="0"/>
              </a:p>
            </p:txBody>
          </p:sp>
        </mc:Choice>
        <mc:Fallback xmlns="">
          <p:sp>
            <p:nvSpPr>
              <p:cNvPr id="57" name="TextBox 56">
                <a:extLst>
                  <a:ext uri="{FF2B5EF4-FFF2-40B4-BE49-F238E27FC236}">
                    <a16:creationId xmlns:a16="http://schemas.microsoft.com/office/drawing/2014/main" id="{156899BA-EED8-FC4F-A454-53FD6A7E6726}"/>
                  </a:ext>
                </a:extLst>
              </p:cNvPr>
              <p:cNvSpPr txBox="1">
                <a:spLocks noRot="1" noChangeAspect="1" noMove="1" noResize="1" noEditPoints="1" noAdjustHandles="1" noChangeArrowheads="1" noChangeShapeType="1" noTextEdit="1"/>
              </p:cNvSpPr>
              <p:nvPr/>
            </p:nvSpPr>
            <p:spPr>
              <a:xfrm>
                <a:off x="8253938" y="2326219"/>
                <a:ext cx="328808" cy="307777"/>
              </a:xfrm>
              <a:prstGeom prst="rect">
                <a:avLst/>
              </a:prstGeom>
              <a:blipFill>
                <a:blip r:embed="rId24"/>
                <a:stretch>
                  <a:fillRect/>
                </a:stretch>
              </a:blipFill>
            </p:spPr>
            <p:txBody>
              <a:bodyPr/>
              <a:lstStyle/>
              <a:p>
                <a:r>
                  <a:rPr lang="en-US">
                    <a:noFill/>
                  </a:rPr>
                  <a:t> </a:t>
                </a:r>
              </a:p>
            </p:txBody>
          </p:sp>
        </mc:Fallback>
      </mc:AlternateContent>
      <p:cxnSp>
        <p:nvCxnSpPr>
          <p:cNvPr id="58" name="Straight Connector 57">
            <a:extLst>
              <a:ext uri="{FF2B5EF4-FFF2-40B4-BE49-F238E27FC236}">
                <a16:creationId xmlns:a16="http://schemas.microsoft.com/office/drawing/2014/main" id="{0A86B133-64E9-104E-95A8-ACC44EBF7794}"/>
              </a:ext>
            </a:extLst>
          </p:cNvPr>
          <p:cNvCxnSpPr>
            <a:cxnSpLocks/>
          </p:cNvCxnSpPr>
          <p:nvPr/>
        </p:nvCxnSpPr>
        <p:spPr>
          <a:xfrm flipH="1" flipV="1">
            <a:off x="6376766" y="1968298"/>
            <a:ext cx="717885" cy="234917"/>
          </a:xfrm>
          <a:prstGeom prst="line">
            <a:avLst/>
          </a:prstGeom>
          <a:ln w="889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3F4C130B-E92B-0F4B-8920-24271AE4DA59}"/>
                  </a:ext>
                </a:extLst>
              </p:cNvPr>
              <p:cNvSpPr/>
              <p:nvPr/>
            </p:nvSpPr>
            <p:spPr>
              <a:xfrm>
                <a:off x="7055752" y="804855"/>
                <a:ext cx="44544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ea typeface="Cambria Math" panose="02040503050406030204" pitchFamily="18" charset="0"/>
                            </a:rPr>
                          </m:ctrlPr>
                        </m:dPr>
                        <m:e>
                          <m:r>
                            <a:rPr lang="sr-Latn-RS" sz="1400" b="0" i="1" smtClean="0">
                              <a:latin typeface="Cambria Math" panose="02040503050406030204" pitchFamily="18" charset="0"/>
                              <a:ea typeface="Cambria Math" panose="02040503050406030204" pitchFamily="18" charset="0"/>
                            </a:rPr>
                            <m:t>0</m:t>
                          </m:r>
                        </m:e>
                      </m:d>
                    </m:oMath>
                  </m:oMathPara>
                </a14:m>
                <a:endParaRPr lang="en-US" sz="1400" dirty="0"/>
              </a:p>
            </p:txBody>
          </p:sp>
        </mc:Choice>
        <mc:Fallback xmlns="">
          <p:sp>
            <p:nvSpPr>
              <p:cNvPr id="64" name="Rectangle 63">
                <a:extLst>
                  <a:ext uri="{FF2B5EF4-FFF2-40B4-BE49-F238E27FC236}">
                    <a16:creationId xmlns:a16="http://schemas.microsoft.com/office/drawing/2014/main" id="{3F4C130B-E92B-0F4B-8920-24271AE4DA59}"/>
                  </a:ext>
                </a:extLst>
              </p:cNvPr>
              <p:cNvSpPr>
                <a:spLocks noRot="1" noChangeAspect="1" noMove="1" noResize="1" noEditPoints="1" noAdjustHandles="1" noChangeArrowheads="1" noChangeShapeType="1" noTextEdit="1"/>
              </p:cNvSpPr>
              <p:nvPr/>
            </p:nvSpPr>
            <p:spPr>
              <a:xfrm>
                <a:off x="7055752" y="804855"/>
                <a:ext cx="445443" cy="30777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a:extLst>
                  <a:ext uri="{FF2B5EF4-FFF2-40B4-BE49-F238E27FC236}">
                    <a16:creationId xmlns:a16="http://schemas.microsoft.com/office/drawing/2014/main" id="{931DEA63-3C61-0A46-B6B9-671C347D4E35}"/>
                  </a:ext>
                </a:extLst>
              </p:cNvPr>
              <p:cNvSpPr/>
              <p:nvPr/>
            </p:nvSpPr>
            <p:spPr>
              <a:xfrm>
                <a:off x="6911506" y="3146527"/>
                <a:ext cx="44544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400" i="1" smtClean="0">
                              <a:latin typeface="Cambria Math" panose="02040503050406030204" pitchFamily="18" charset="0"/>
                              <a:ea typeface="Cambria Math" panose="02040503050406030204" pitchFamily="18" charset="0"/>
                            </a:rPr>
                          </m:ctrlPr>
                        </m:dPr>
                        <m:e>
                          <m:r>
                            <a:rPr lang="sr-Latn-RS" sz="1400" b="0" i="1" smtClean="0">
                              <a:latin typeface="Cambria Math" panose="02040503050406030204" pitchFamily="18" charset="0"/>
                              <a:ea typeface="Cambria Math" panose="02040503050406030204" pitchFamily="18" charset="0"/>
                            </a:rPr>
                            <m:t>1</m:t>
                          </m:r>
                        </m:e>
                      </m:d>
                    </m:oMath>
                  </m:oMathPara>
                </a14:m>
                <a:endParaRPr lang="en-US" sz="1400" dirty="0"/>
              </a:p>
            </p:txBody>
          </p:sp>
        </mc:Choice>
        <mc:Fallback xmlns="">
          <p:sp>
            <p:nvSpPr>
              <p:cNvPr id="65" name="Rectangle 64">
                <a:extLst>
                  <a:ext uri="{FF2B5EF4-FFF2-40B4-BE49-F238E27FC236}">
                    <a16:creationId xmlns:a16="http://schemas.microsoft.com/office/drawing/2014/main" id="{931DEA63-3C61-0A46-B6B9-671C347D4E35}"/>
                  </a:ext>
                </a:extLst>
              </p:cNvPr>
              <p:cNvSpPr>
                <a:spLocks noRot="1" noChangeAspect="1" noMove="1" noResize="1" noEditPoints="1" noAdjustHandles="1" noChangeArrowheads="1" noChangeShapeType="1" noTextEdit="1"/>
              </p:cNvSpPr>
              <p:nvPr/>
            </p:nvSpPr>
            <p:spPr>
              <a:xfrm>
                <a:off x="6911506" y="3146527"/>
                <a:ext cx="445443" cy="307777"/>
              </a:xfrm>
              <a:prstGeom prst="rect">
                <a:avLst/>
              </a:prstGeom>
              <a:blipFill>
                <a:blip r:embed="rId26"/>
                <a:stretch>
                  <a:fillRect/>
                </a:stretch>
              </a:blipFill>
            </p:spPr>
            <p:txBody>
              <a:bodyPr/>
              <a:lstStyle/>
              <a:p>
                <a:r>
                  <a:rPr lang="en-US">
                    <a:noFill/>
                  </a:rPr>
                  <a:t> </a:t>
                </a:r>
              </a:p>
            </p:txBody>
          </p:sp>
        </mc:Fallback>
      </mc:AlternateContent>
      <p:cxnSp>
        <p:nvCxnSpPr>
          <p:cNvPr id="70" name="Straight Connector 69">
            <a:extLst>
              <a:ext uri="{FF2B5EF4-FFF2-40B4-BE49-F238E27FC236}">
                <a16:creationId xmlns:a16="http://schemas.microsoft.com/office/drawing/2014/main" id="{42B0EA29-87B2-2E4D-91AA-FCF67CC4C50A}"/>
              </a:ext>
            </a:extLst>
          </p:cNvPr>
          <p:cNvCxnSpPr>
            <a:cxnSpLocks/>
          </p:cNvCxnSpPr>
          <p:nvPr/>
        </p:nvCxnSpPr>
        <p:spPr>
          <a:xfrm>
            <a:off x="7114368" y="2242798"/>
            <a:ext cx="387855" cy="34192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B0E238B-E5C1-B745-BD8C-A80DA6697217}"/>
              </a:ext>
            </a:extLst>
          </p:cNvPr>
          <p:cNvCxnSpPr>
            <a:cxnSpLocks/>
          </p:cNvCxnSpPr>
          <p:nvPr/>
        </p:nvCxnSpPr>
        <p:spPr>
          <a:xfrm>
            <a:off x="7496955" y="1936155"/>
            <a:ext cx="0" cy="617721"/>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81" name="Parallelogram 109">
            <a:extLst>
              <a:ext uri="{FF2B5EF4-FFF2-40B4-BE49-F238E27FC236}">
                <a16:creationId xmlns:a16="http://schemas.microsoft.com/office/drawing/2014/main" id="{C35D757D-27F6-B94F-BD64-A2B1AF26B7C4}"/>
              </a:ext>
            </a:extLst>
          </p:cNvPr>
          <p:cNvSpPr/>
          <p:nvPr/>
        </p:nvSpPr>
        <p:spPr>
          <a:xfrm rot="21030453">
            <a:off x="6498559" y="1374640"/>
            <a:ext cx="702067" cy="1279558"/>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933" h="2232511">
                <a:moveTo>
                  <a:pt x="0" y="2232511"/>
                </a:moveTo>
                <a:lnTo>
                  <a:pt x="237691" y="743928"/>
                </a:lnTo>
                <a:lnTo>
                  <a:pt x="1224933" y="0"/>
                </a:lnTo>
                <a:lnTo>
                  <a:pt x="949042" y="1532228"/>
                </a:lnTo>
                <a:lnTo>
                  <a:pt x="0" y="2232511"/>
                </a:lnTo>
                <a:close/>
              </a:path>
            </a:pathLst>
          </a:custGeom>
          <a:solidFill>
            <a:schemeClr val="accent6">
              <a:lumMod val="20000"/>
              <a:lumOff val="8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2" name="Straight Arrow Connector 81">
            <a:extLst>
              <a:ext uri="{FF2B5EF4-FFF2-40B4-BE49-F238E27FC236}">
                <a16:creationId xmlns:a16="http://schemas.microsoft.com/office/drawing/2014/main" id="{C1279462-CB50-924E-BAC4-960E1D85593E}"/>
              </a:ext>
            </a:extLst>
          </p:cNvPr>
          <p:cNvCxnSpPr>
            <a:cxnSpLocks/>
          </p:cNvCxnSpPr>
          <p:nvPr/>
        </p:nvCxnSpPr>
        <p:spPr>
          <a:xfrm flipH="1">
            <a:off x="6235728" y="2203410"/>
            <a:ext cx="847021" cy="934632"/>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03674BEA-74E0-AE41-98B2-80109352B6B7}"/>
              </a:ext>
            </a:extLst>
          </p:cNvPr>
          <p:cNvCxnSpPr>
            <a:cxnSpLocks/>
          </p:cNvCxnSpPr>
          <p:nvPr/>
        </p:nvCxnSpPr>
        <p:spPr>
          <a:xfrm flipV="1">
            <a:off x="7082750" y="939877"/>
            <a:ext cx="0" cy="1268937"/>
          </a:xfrm>
          <a:prstGeom prst="straightConnector1">
            <a:avLst/>
          </a:prstGeom>
          <a:ln w="889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Line Callout 1 (Border and Accent Bar) 86">
            <a:extLst>
              <a:ext uri="{FF2B5EF4-FFF2-40B4-BE49-F238E27FC236}">
                <a16:creationId xmlns:a16="http://schemas.microsoft.com/office/drawing/2014/main" id="{B63D398A-318A-D04E-8D7B-510463156278}"/>
              </a:ext>
            </a:extLst>
          </p:cNvPr>
          <p:cNvSpPr/>
          <p:nvPr/>
        </p:nvSpPr>
        <p:spPr>
          <a:xfrm>
            <a:off x="7729440" y="762460"/>
            <a:ext cx="900715" cy="442900"/>
          </a:xfrm>
          <a:prstGeom prst="accentBorderCallout1">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Real</a:t>
            </a:r>
          </a:p>
          <a:p>
            <a:pPr algn="ctr"/>
            <a:r>
              <a:rPr lang="en-US" sz="1400" dirty="0">
                <a:solidFill>
                  <a:schemeClr val="tx1"/>
                </a:solidFill>
              </a:rPr>
              <a:t>plane</a:t>
            </a:r>
          </a:p>
        </p:txBody>
      </p:sp>
      <p:sp>
        <p:nvSpPr>
          <p:cNvPr id="89" name="Parallelogram 109">
            <a:extLst>
              <a:ext uri="{FF2B5EF4-FFF2-40B4-BE49-F238E27FC236}">
                <a16:creationId xmlns:a16="http://schemas.microsoft.com/office/drawing/2014/main" id="{692D57C5-7784-7445-9AD3-AB776139B657}"/>
              </a:ext>
            </a:extLst>
          </p:cNvPr>
          <p:cNvSpPr/>
          <p:nvPr/>
        </p:nvSpPr>
        <p:spPr>
          <a:xfrm rot="21030453">
            <a:off x="6973014" y="1906357"/>
            <a:ext cx="496206" cy="1161913"/>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 name="connsiteX0" fmla="*/ 0 w 1279925"/>
              <a:gd name="connsiteY0" fmla="*/ 2165460 h 2165460"/>
              <a:gd name="connsiteX1" fmla="*/ 237691 w 1279925"/>
              <a:gd name="connsiteY1" fmla="*/ 676877 h 2165460"/>
              <a:gd name="connsiteX2" fmla="*/ 1279925 w 1279925"/>
              <a:gd name="connsiteY2" fmla="*/ 0 h 2165460"/>
              <a:gd name="connsiteX3" fmla="*/ 949042 w 1279925"/>
              <a:gd name="connsiteY3" fmla="*/ 1465177 h 2165460"/>
              <a:gd name="connsiteX4" fmla="*/ 0 w 1279925"/>
              <a:gd name="connsiteY4" fmla="*/ 2165460 h 2165460"/>
              <a:gd name="connsiteX0" fmla="*/ 0 w 1286902"/>
              <a:gd name="connsiteY0" fmla="*/ 2148537 h 2148537"/>
              <a:gd name="connsiteX1" fmla="*/ 237691 w 1286902"/>
              <a:gd name="connsiteY1" fmla="*/ 659954 h 2148537"/>
              <a:gd name="connsiteX2" fmla="*/ 1286902 w 1286902"/>
              <a:gd name="connsiteY2" fmla="*/ 0 h 2148537"/>
              <a:gd name="connsiteX3" fmla="*/ 949042 w 1286902"/>
              <a:gd name="connsiteY3" fmla="*/ 1448254 h 2148537"/>
              <a:gd name="connsiteX4" fmla="*/ 0 w 1286902"/>
              <a:gd name="connsiteY4" fmla="*/ 2148537 h 2148537"/>
              <a:gd name="connsiteX0" fmla="*/ 0 w 1295987"/>
              <a:gd name="connsiteY0" fmla="*/ 2111996 h 2111996"/>
              <a:gd name="connsiteX1" fmla="*/ 237691 w 1295987"/>
              <a:gd name="connsiteY1" fmla="*/ 623413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49042 w 1295987"/>
              <a:gd name="connsiteY3" fmla="*/ 1411713 h 2111996"/>
              <a:gd name="connsiteX4" fmla="*/ 0 w 1295987"/>
              <a:gd name="connsiteY4" fmla="*/ 2111996 h 2111996"/>
              <a:gd name="connsiteX0" fmla="*/ 0 w 1295987"/>
              <a:gd name="connsiteY0" fmla="*/ 2111996 h 2111996"/>
              <a:gd name="connsiteX1" fmla="*/ 351973 w 1295987"/>
              <a:gd name="connsiteY1" fmla="*/ 537856 h 2111996"/>
              <a:gd name="connsiteX2" fmla="*/ 1295987 w 1295987"/>
              <a:gd name="connsiteY2" fmla="*/ 0 h 2111996"/>
              <a:gd name="connsiteX3" fmla="*/ 953754 w 1295987"/>
              <a:gd name="connsiteY3" fmla="*/ 1485311 h 2111996"/>
              <a:gd name="connsiteX4" fmla="*/ 0 w 1295987"/>
              <a:gd name="connsiteY4" fmla="*/ 2111996 h 2111996"/>
              <a:gd name="connsiteX0" fmla="*/ -1 w 1267890"/>
              <a:gd name="connsiteY0" fmla="*/ 1998864 h 1998864"/>
              <a:gd name="connsiteX1" fmla="*/ 323876 w 1267890"/>
              <a:gd name="connsiteY1" fmla="*/ 537856 h 1998864"/>
              <a:gd name="connsiteX2" fmla="*/ 1267890 w 1267890"/>
              <a:gd name="connsiteY2" fmla="*/ 0 h 1998864"/>
              <a:gd name="connsiteX3" fmla="*/ 925657 w 1267890"/>
              <a:gd name="connsiteY3" fmla="*/ 1485311 h 1998864"/>
              <a:gd name="connsiteX4" fmla="*/ -1 w 1267890"/>
              <a:gd name="connsiteY4" fmla="*/ 1998864 h 1998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7890" h="1998864">
                <a:moveTo>
                  <a:pt x="-1" y="1998864"/>
                </a:moveTo>
                <a:lnTo>
                  <a:pt x="323876" y="537856"/>
                </a:lnTo>
                <a:lnTo>
                  <a:pt x="1267890" y="0"/>
                </a:lnTo>
                <a:lnTo>
                  <a:pt x="925657" y="1485311"/>
                </a:lnTo>
                <a:lnTo>
                  <a:pt x="-1" y="1998864"/>
                </a:lnTo>
                <a:close/>
              </a:path>
            </a:pathLst>
          </a:custGeom>
          <a:solidFill>
            <a:schemeClr val="accent6">
              <a:lumMod val="20000"/>
              <a:lumOff val="80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0" name="Parallelogram 109">
            <a:extLst>
              <a:ext uri="{FF2B5EF4-FFF2-40B4-BE49-F238E27FC236}">
                <a16:creationId xmlns:a16="http://schemas.microsoft.com/office/drawing/2014/main" id="{4EA6C6FC-1A46-0042-9D60-E89C99C914E5}"/>
              </a:ext>
            </a:extLst>
          </p:cNvPr>
          <p:cNvSpPr/>
          <p:nvPr/>
        </p:nvSpPr>
        <p:spPr>
          <a:xfrm rot="21030453">
            <a:off x="6497535" y="2246899"/>
            <a:ext cx="702067" cy="1279558"/>
          </a:xfrm>
          <a:custGeom>
            <a:avLst/>
            <a:gdLst>
              <a:gd name="connsiteX0" fmla="*/ 0 w 1251599"/>
              <a:gd name="connsiteY0" fmla="*/ 1553702 h 1553702"/>
              <a:gd name="connsiteX1" fmla="*/ 279482 w 1251599"/>
              <a:gd name="connsiteY1" fmla="*/ 0 h 1553702"/>
              <a:gd name="connsiteX2" fmla="*/ 1251599 w 1251599"/>
              <a:gd name="connsiteY2" fmla="*/ 0 h 1553702"/>
              <a:gd name="connsiteX3" fmla="*/ 972117 w 1251599"/>
              <a:gd name="connsiteY3" fmla="*/ 1553702 h 1553702"/>
              <a:gd name="connsiteX4" fmla="*/ 0 w 1251599"/>
              <a:gd name="connsiteY4" fmla="*/ 1553702 h 1553702"/>
              <a:gd name="connsiteX0" fmla="*/ 0 w 1584484"/>
              <a:gd name="connsiteY0" fmla="*/ 2497243 h 2497243"/>
              <a:gd name="connsiteX1" fmla="*/ 612367 w 1584484"/>
              <a:gd name="connsiteY1" fmla="*/ 0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36210 w 1584484"/>
              <a:gd name="connsiteY1" fmla="*/ 64787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346472 w 1584484"/>
              <a:gd name="connsiteY1" fmla="*/ 604506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09369 w 1584484"/>
              <a:gd name="connsiteY1" fmla="*/ 870011 h 2497243"/>
              <a:gd name="connsiteX2" fmla="*/ 1584484 w 1584484"/>
              <a:gd name="connsiteY2" fmla="*/ 0 h 2497243"/>
              <a:gd name="connsiteX3" fmla="*/ 1305002 w 1584484"/>
              <a:gd name="connsiteY3" fmla="*/ 1553702 h 2497243"/>
              <a:gd name="connsiteX4" fmla="*/ 0 w 1584484"/>
              <a:gd name="connsiteY4" fmla="*/ 2497243 h 2497243"/>
              <a:gd name="connsiteX0" fmla="*/ 0 w 1584484"/>
              <a:gd name="connsiteY0" fmla="*/ 2497243 h 2497243"/>
              <a:gd name="connsiteX1" fmla="*/ 244459 w 1584484"/>
              <a:gd name="connsiteY1" fmla="*/ 844975 h 2497243"/>
              <a:gd name="connsiteX2" fmla="*/ 1584484 w 1584484"/>
              <a:gd name="connsiteY2" fmla="*/ 0 h 2497243"/>
              <a:gd name="connsiteX3" fmla="*/ 1305002 w 1584484"/>
              <a:gd name="connsiteY3" fmla="*/ 1553702 h 2497243"/>
              <a:gd name="connsiteX4" fmla="*/ 0 w 1584484"/>
              <a:gd name="connsiteY4" fmla="*/ 2497243 h 2497243"/>
              <a:gd name="connsiteX0" fmla="*/ 98089 w 1340025"/>
              <a:gd name="connsiteY0" fmla="*/ 2235187 h 2235187"/>
              <a:gd name="connsiteX1" fmla="*/ 0 w 1340025"/>
              <a:gd name="connsiteY1" fmla="*/ 844975 h 2235187"/>
              <a:gd name="connsiteX2" fmla="*/ 1340025 w 1340025"/>
              <a:gd name="connsiteY2" fmla="*/ 0 h 2235187"/>
              <a:gd name="connsiteX3" fmla="*/ 1060543 w 1340025"/>
              <a:gd name="connsiteY3" fmla="*/ 1553702 h 2235187"/>
              <a:gd name="connsiteX4" fmla="*/ 98089 w 1340025"/>
              <a:gd name="connsiteY4" fmla="*/ 2235187 h 2235187"/>
              <a:gd name="connsiteX0" fmla="*/ 0 w 1241936"/>
              <a:gd name="connsiteY0" fmla="*/ 2235187 h 2235187"/>
              <a:gd name="connsiteX1" fmla="*/ 154206 w 1241936"/>
              <a:gd name="connsiteY1" fmla="*/ 691441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157622 w 1241936"/>
              <a:gd name="connsiteY1" fmla="*/ 547797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11012 w 1241936"/>
              <a:gd name="connsiteY1" fmla="*/ 659735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62454 w 1241936"/>
              <a:gd name="connsiteY3" fmla="*/ 1553702 h 2235187"/>
              <a:gd name="connsiteX4" fmla="*/ 0 w 1241936"/>
              <a:gd name="connsiteY4" fmla="*/ 2235187 h 2235187"/>
              <a:gd name="connsiteX0" fmla="*/ 0 w 1241936"/>
              <a:gd name="connsiteY0" fmla="*/ 2235187 h 2235187"/>
              <a:gd name="connsiteX1" fmla="*/ 237691 w 1241936"/>
              <a:gd name="connsiteY1" fmla="*/ 746604 h 2235187"/>
              <a:gd name="connsiteX2" fmla="*/ 1241936 w 1241936"/>
              <a:gd name="connsiteY2" fmla="*/ 0 h 2235187"/>
              <a:gd name="connsiteX3" fmla="*/ 949042 w 1241936"/>
              <a:gd name="connsiteY3" fmla="*/ 1534904 h 2235187"/>
              <a:gd name="connsiteX4" fmla="*/ 0 w 1241936"/>
              <a:gd name="connsiteY4" fmla="*/ 2235187 h 2235187"/>
              <a:gd name="connsiteX0" fmla="*/ 0 w 1224933"/>
              <a:gd name="connsiteY0" fmla="*/ 2232511 h 2232511"/>
              <a:gd name="connsiteX1" fmla="*/ 237691 w 1224933"/>
              <a:gd name="connsiteY1" fmla="*/ 743928 h 2232511"/>
              <a:gd name="connsiteX2" fmla="*/ 1224933 w 1224933"/>
              <a:gd name="connsiteY2" fmla="*/ 0 h 2232511"/>
              <a:gd name="connsiteX3" fmla="*/ 949042 w 1224933"/>
              <a:gd name="connsiteY3" fmla="*/ 1532228 h 2232511"/>
              <a:gd name="connsiteX4" fmla="*/ 0 w 1224933"/>
              <a:gd name="connsiteY4" fmla="*/ 2232511 h 2232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4933" h="2232511">
                <a:moveTo>
                  <a:pt x="0" y="2232511"/>
                </a:moveTo>
                <a:lnTo>
                  <a:pt x="237691" y="743928"/>
                </a:lnTo>
                <a:lnTo>
                  <a:pt x="1224933" y="0"/>
                </a:lnTo>
                <a:lnTo>
                  <a:pt x="949042" y="1532228"/>
                </a:lnTo>
                <a:lnTo>
                  <a:pt x="0" y="2232511"/>
                </a:lnTo>
                <a:close/>
              </a:path>
            </a:pathLst>
          </a:custGeom>
          <a:solidFill>
            <a:schemeClr val="accent6">
              <a:lumMod val="20000"/>
              <a:lumOff val="8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86" name="Straight Arrow Connector 85">
            <a:extLst>
              <a:ext uri="{FF2B5EF4-FFF2-40B4-BE49-F238E27FC236}">
                <a16:creationId xmlns:a16="http://schemas.microsoft.com/office/drawing/2014/main" id="{1E1325E7-2425-3848-B619-6E0335357378}"/>
              </a:ext>
            </a:extLst>
          </p:cNvPr>
          <p:cNvCxnSpPr>
            <a:cxnSpLocks/>
          </p:cNvCxnSpPr>
          <p:nvPr/>
        </p:nvCxnSpPr>
        <p:spPr>
          <a:xfrm flipH="1" flipV="1">
            <a:off x="6735708" y="1748669"/>
            <a:ext cx="348273" cy="460146"/>
          </a:xfrm>
          <a:prstGeom prst="straightConnector1">
            <a:avLst/>
          </a:prstGeom>
          <a:ln w="38100">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95C1CAC-046D-B148-82C6-40F337CB43F4}"/>
                  </a:ext>
                </a:extLst>
              </p:cNvPr>
              <p:cNvSpPr txBox="1"/>
              <p:nvPr/>
            </p:nvSpPr>
            <p:spPr>
              <a:xfrm>
                <a:off x="6834829" y="1765127"/>
                <a:ext cx="3679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rPr>
                        <m:t>𝑥</m:t>
                      </m:r>
                    </m:oMath>
                  </m:oMathPara>
                </a14:m>
                <a:endParaRPr lang="en-US" dirty="0">
                  <a:solidFill>
                    <a:srgbClr val="FF0000"/>
                  </a:solidFill>
                </a:endParaRPr>
              </a:p>
            </p:txBody>
          </p:sp>
        </mc:Choice>
        <mc:Fallback xmlns="">
          <p:sp>
            <p:nvSpPr>
              <p:cNvPr id="11" name="TextBox 10">
                <a:extLst>
                  <a:ext uri="{FF2B5EF4-FFF2-40B4-BE49-F238E27FC236}">
                    <a16:creationId xmlns:a16="http://schemas.microsoft.com/office/drawing/2014/main" id="{495C1CAC-046D-B148-82C6-40F337CB43F4}"/>
                  </a:ext>
                </a:extLst>
              </p:cNvPr>
              <p:cNvSpPr txBox="1">
                <a:spLocks noRot="1" noChangeAspect="1" noMove="1" noResize="1" noEditPoints="1" noAdjustHandles="1" noChangeArrowheads="1" noChangeShapeType="1" noTextEdit="1"/>
              </p:cNvSpPr>
              <p:nvPr/>
            </p:nvSpPr>
            <p:spPr>
              <a:xfrm>
                <a:off x="6834829" y="1765127"/>
                <a:ext cx="367985" cy="369332"/>
              </a:xfrm>
              <a:prstGeom prst="rect">
                <a:avLst/>
              </a:prstGeom>
              <a:blipFill>
                <a:blip r:embed="rId27"/>
                <a:stretch>
                  <a:fillRect/>
                </a:stretch>
              </a:blipFill>
            </p:spPr>
            <p:txBody>
              <a:bodyPr/>
              <a:lstStyle/>
              <a:p>
                <a:r>
                  <a:rPr lang="en-US">
                    <a:noFill/>
                  </a:rPr>
                  <a:t> </a:t>
                </a:r>
              </a:p>
            </p:txBody>
          </p:sp>
        </mc:Fallback>
      </mc:AlternateContent>
      <p:sp>
        <p:nvSpPr>
          <p:cNvPr id="12" name="Freeform 11">
            <a:extLst>
              <a:ext uri="{FF2B5EF4-FFF2-40B4-BE49-F238E27FC236}">
                <a16:creationId xmlns:a16="http://schemas.microsoft.com/office/drawing/2014/main" id="{1A21C9AB-EE0B-7A47-BA0D-826EA659A40D}"/>
              </a:ext>
            </a:extLst>
          </p:cNvPr>
          <p:cNvSpPr/>
          <p:nvPr/>
        </p:nvSpPr>
        <p:spPr>
          <a:xfrm>
            <a:off x="6899660" y="1841876"/>
            <a:ext cx="193675" cy="91605"/>
          </a:xfrm>
          <a:custGeom>
            <a:avLst/>
            <a:gdLst>
              <a:gd name="connsiteX0" fmla="*/ 0 w 193675"/>
              <a:gd name="connsiteY0" fmla="*/ 91605 h 91605"/>
              <a:gd name="connsiteX1" fmla="*/ 63500 w 193675"/>
              <a:gd name="connsiteY1" fmla="*/ 9055 h 91605"/>
              <a:gd name="connsiteX2" fmla="*/ 193675 w 193675"/>
              <a:gd name="connsiteY2" fmla="*/ 5880 h 91605"/>
            </a:gdLst>
            <a:ahLst/>
            <a:cxnLst>
              <a:cxn ang="0">
                <a:pos x="connsiteX0" y="connsiteY0"/>
              </a:cxn>
              <a:cxn ang="0">
                <a:pos x="connsiteX1" y="connsiteY1"/>
              </a:cxn>
              <a:cxn ang="0">
                <a:pos x="connsiteX2" y="connsiteY2"/>
              </a:cxn>
            </a:cxnLst>
            <a:rect l="l" t="t" r="r" b="b"/>
            <a:pathLst>
              <a:path w="193675" h="91605">
                <a:moveTo>
                  <a:pt x="0" y="91605"/>
                </a:moveTo>
                <a:cubicBezTo>
                  <a:pt x="15610" y="57473"/>
                  <a:pt x="31221" y="23342"/>
                  <a:pt x="63500" y="9055"/>
                </a:cubicBezTo>
                <a:cubicBezTo>
                  <a:pt x="95779" y="-5233"/>
                  <a:pt x="144727" y="323"/>
                  <a:pt x="193675" y="588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a:extLst>
              <a:ext uri="{FF2B5EF4-FFF2-40B4-BE49-F238E27FC236}">
                <a16:creationId xmlns:a16="http://schemas.microsoft.com/office/drawing/2014/main" id="{3A01134C-0C7D-7D47-95DD-1BEFD10DB223}"/>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B6CE4EFE-1A5B-B74D-971C-2610CF6975AB}"/>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80" name="Rectangle 79">
                  <a:extLst>
                    <a:ext uri="{FF2B5EF4-FFF2-40B4-BE49-F238E27FC236}">
                      <a16:creationId xmlns:a16="http://schemas.microsoft.com/office/drawing/2014/main" id="{68F29FF7-4678-4C44-A718-762C9B075B66}"/>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28"/>
                  <a:stretch>
                    <a:fillRect/>
                  </a:stretch>
                </a:blipFill>
              </p:spPr>
              <p:txBody>
                <a:bodyPr/>
                <a:lstStyle/>
                <a:p>
                  <a:r>
                    <a:rPr lang="en-US">
                      <a:noFill/>
                    </a:rPr>
                    <a:t> </a:t>
                  </a:r>
                </a:p>
              </p:txBody>
            </p:sp>
          </mc:Fallback>
        </mc:AlternateContent>
        <p:cxnSp>
          <p:nvCxnSpPr>
            <p:cNvPr id="80" name="Straight Connector 79">
              <a:extLst>
                <a:ext uri="{FF2B5EF4-FFF2-40B4-BE49-F238E27FC236}">
                  <a16:creationId xmlns:a16="http://schemas.microsoft.com/office/drawing/2014/main" id="{D8DED4B6-A712-404C-AC23-A4036B4E44D0}"/>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0604ED7-7259-9443-A986-88974808F269}"/>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E7A6E097-EF07-5D4A-8461-29F643030282}"/>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83" name="Rectangle 82">
                  <a:extLst>
                    <a:ext uri="{FF2B5EF4-FFF2-40B4-BE49-F238E27FC236}">
                      <a16:creationId xmlns:a16="http://schemas.microsoft.com/office/drawing/2014/main" id="{71F50307-6EC6-2045-83C1-8CA93547A910}"/>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29"/>
                  <a:stretch>
                    <a:fillRect/>
                  </a:stretch>
                </a:blipFill>
              </p:spPr>
              <p:txBody>
                <a:bodyPr/>
                <a:lstStyle/>
                <a:p>
                  <a:r>
                    <a:rPr lang="en-US">
                      <a:noFill/>
                    </a:rPr>
                    <a:t> </a:t>
                  </a:r>
                </a:p>
              </p:txBody>
            </p:sp>
          </mc:Fallback>
        </mc:AlternateContent>
        <p:sp>
          <p:nvSpPr>
            <p:cNvPr id="88" name="Rectangle 87">
              <a:extLst>
                <a:ext uri="{FF2B5EF4-FFF2-40B4-BE49-F238E27FC236}">
                  <a16:creationId xmlns:a16="http://schemas.microsoft.com/office/drawing/2014/main" id="{C78F625D-E5C0-F444-BAC8-06CDD5DC1C53}"/>
                </a:ext>
              </a:extLst>
            </p:cNvPr>
            <p:cNvSpPr/>
            <p:nvPr/>
          </p:nvSpPr>
          <p:spPr>
            <a:xfrm>
              <a:off x="8774259" y="818122"/>
              <a:ext cx="539664" cy="720000"/>
            </a:xfrm>
            <a:prstGeom prst="rect">
              <a:avLst/>
            </a:prstGeom>
            <a:solidFill>
              <a:srgbClr val="FFC000"/>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BBD61ABA-0751-7A4E-8871-88D5E4870600}"/>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85" name="Rectangle 84">
                  <a:extLst>
                    <a:ext uri="{FF2B5EF4-FFF2-40B4-BE49-F238E27FC236}">
                      <a16:creationId xmlns:a16="http://schemas.microsoft.com/office/drawing/2014/main" id="{EAD824A9-29A1-DE41-94DC-5746FC97FDBC}"/>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30"/>
                  <a:stretch>
                    <a:fillRect b="-14815"/>
                  </a:stretch>
                </a:blipFill>
              </p:spPr>
              <p:txBody>
                <a:bodyPr/>
                <a:lstStyle/>
                <a:p>
                  <a:r>
                    <a:rPr lang="en-US">
                      <a:noFill/>
                    </a:rPr>
                    <a:t> </a:t>
                  </a:r>
                </a:p>
              </p:txBody>
            </p:sp>
          </mc:Fallback>
        </mc:AlternateContent>
        <p:sp>
          <p:nvSpPr>
            <p:cNvPr id="92" name="Rectangle 91">
              <a:extLst>
                <a:ext uri="{FF2B5EF4-FFF2-40B4-BE49-F238E27FC236}">
                  <a16:creationId xmlns:a16="http://schemas.microsoft.com/office/drawing/2014/main" id="{EDE02A78-76B8-B24F-B0BC-3CD28B919365}"/>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3" name="Rectangle 92">
                  <a:extLst>
                    <a:ext uri="{FF2B5EF4-FFF2-40B4-BE49-F238E27FC236}">
                      <a16:creationId xmlns:a16="http://schemas.microsoft.com/office/drawing/2014/main" id="{976CF0A5-DED4-CD46-86ED-19DB698888F8}"/>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87" name="Rectangle 86">
                  <a:extLst>
                    <a:ext uri="{FF2B5EF4-FFF2-40B4-BE49-F238E27FC236}">
                      <a16:creationId xmlns:a16="http://schemas.microsoft.com/office/drawing/2014/main" id="{AE9B2E87-4611-5840-8C0C-1CB1A3630A2E}"/>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31"/>
                  <a:stretch>
                    <a:fillRect/>
                  </a:stretch>
                </a:blipFill>
              </p:spPr>
              <p:txBody>
                <a:bodyPr/>
                <a:lstStyle/>
                <a:p>
                  <a:r>
                    <a:rPr lang="en-US">
                      <a:noFill/>
                    </a:rPr>
                    <a:t> </a:t>
                  </a:r>
                </a:p>
              </p:txBody>
            </p:sp>
          </mc:Fallback>
        </mc:AlternateContent>
        <p:sp>
          <p:nvSpPr>
            <p:cNvPr id="94" name="Rectangle 93">
              <a:extLst>
                <a:ext uri="{FF2B5EF4-FFF2-40B4-BE49-F238E27FC236}">
                  <a16:creationId xmlns:a16="http://schemas.microsoft.com/office/drawing/2014/main" id="{CA9F0ABC-9C3C-344A-B3A7-BC0E42EC5E27}"/>
                </a:ext>
              </a:extLst>
            </p:cNvPr>
            <p:cNvSpPr/>
            <p:nvPr/>
          </p:nvSpPr>
          <p:spPr>
            <a:xfrm>
              <a:off x="9471016" y="812887"/>
              <a:ext cx="540000" cy="720000"/>
            </a:xfrm>
            <a:prstGeom prst="rect">
              <a:avLst/>
            </a:prstGeom>
            <a:solidFill>
              <a:srgbClr val="30E845"/>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B95187C0-1E74-5D40-84C9-1AB8AD787C5C}"/>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89" name="Rectangle 88">
                  <a:extLst>
                    <a:ext uri="{FF2B5EF4-FFF2-40B4-BE49-F238E27FC236}">
                      <a16:creationId xmlns:a16="http://schemas.microsoft.com/office/drawing/2014/main" id="{7CEFE887-4B29-1C42-8B15-403796DFFB44}"/>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32"/>
                  <a:stretch>
                    <a:fillRect b="-10714"/>
                  </a:stretch>
                </a:blipFill>
              </p:spPr>
              <p:txBody>
                <a:bodyPr/>
                <a:lstStyle/>
                <a:p>
                  <a:r>
                    <a:rPr lang="sr-Latn-RS">
                      <a:noFill/>
                    </a:rPr>
                    <a:t> </a:t>
                  </a:r>
                </a:p>
              </p:txBody>
            </p:sp>
          </mc:Fallback>
        </mc:AlternateContent>
        <p:sp>
          <p:nvSpPr>
            <p:cNvPr id="96" name="Rectangle 95">
              <a:extLst>
                <a:ext uri="{FF2B5EF4-FFF2-40B4-BE49-F238E27FC236}">
                  <a16:creationId xmlns:a16="http://schemas.microsoft.com/office/drawing/2014/main" id="{21371ABA-C421-4C4F-91E4-2FEC2D9CF259}"/>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7" name="Rectangle 96">
                  <a:extLst>
                    <a:ext uri="{FF2B5EF4-FFF2-40B4-BE49-F238E27FC236}">
                      <a16:creationId xmlns:a16="http://schemas.microsoft.com/office/drawing/2014/main" id="{0D5823E3-9FFF-1D46-B8AB-EF493FEF79C6}"/>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91" name="Rectangle 90">
                  <a:extLst>
                    <a:ext uri="{FF2B5EF4-FFF2-40B4-BE49-F238E27FC236}">
                      <a16:creationId xmlns:a16="http://schemas.microsoft.com/office/drawing/2014/main" id="{B9D4F49A-D73C-D948-9DB8-CE954E964CB6}"/>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3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Rectangle 97">
                  <a:extLst>
                    <a:ext uri="{FF2B5EF4-FFF2-40B4-BE49-F238E27FC236}">
                      <a16:creationId xmlns:a16="http://schemas.microsoft.com/office/drawing/2014/main" id="{0CD5A7F1-B940-4841-B8E6-51F364FC1B10}"/>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92" name="Rectangle 91">
                  <a:extLst>
                    <a:ext uri="{FF2B5EF4-FFF2-40B4-BE49-F238E27FC236}">
                      <a16:creationId xmlns:a16="http://schemas.microsoft.com/office/drawing/2014/main" id="{B6215105-DA77-FD4F-8881-AF4DC32D5E8B}"/>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3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086276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blinds(horizontal)">
                                      <p:cBhvr>
                                        <p:cTn id="1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ZA" dirty="0"/>
              <a:t>Higher-order Encoding</a:t>
            </a:r>
            <a:endParaRPr lang="en-US" dirty="0"/>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14</a:t>
            </a:fld>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B591EEF-0993-6F47-AF0C-C8136152A186}"/>
                  </a:ext>
                </a:extLst>
              </p:cNvPr>
              <p:cNvSpPr/>
              <p:nvPr/>
            </p:nvSpPr>
            <p:spPr>
              <a:xfrm>
                <a:off x="631570" y="1320103"/>
                <a:ext cx="2333588"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i="1">
                                  <a:latin typeface="Cambria Math" panose="02040503050406030204" pitchFamily="18" charset="0"/>
                                </a:rPr>
                                <m:t>1</m:t>
                              </m:r>
                            </m:sub>
                          </m:sSub>
                          <m:r>
                            <a:rPr lang="en-US" sz="3200" b="0" i="1" smtClean="0">
                              <a:latin typeface="Cambria Math" panose="02040503050406030204" pitchFamily="18" charset="0"/>
                            </a:rPr>
                            <m:t>,</m:t>
                          </m:r>
                          <m:sSub>
                            <m:sSubPr>
                              <m:ctrlPr>
                                <a:rPr lang="en-US" sz="3200" i="1">
                                  <a:latin typeface="Cambria Math" panose="02040503050406030204" pitchFamily="18" charset="0"/>
                                </a:rPr>
                              </m:ctrlPr>
                            </m:sSubPr>
                            <m:e>
                              <m:r>
                                <a:rPr lang="en-US" sz="3200" i="1">
                                  <a:latin typeface="Cambria Math" panose="02040503050406030204" pitchFamily="18" charset="0"/>
                                </a:rPr>
                                <m:t>𝑥</m:t>
                              </m:r>
                            </m:e>
                            <m:sub>
                              <m:r>
                                <a:rPr lang="en-US" sz="3200" b="0" i="1" smtClean="0">
                                  <a:latin typeface="Cambria Math" panose="02040503050406030204" pitchFamily="18" charset="0"/>
                                </a:rPr>
                                <m:t>2</m:t>
                              </m:r>
                            </m:sub>
                          </m:sSub>
                        </m:e>
                      </m:d>
                    </m:oMath>
                  </m:oMathPara>
                </a14:m>
                <a:endParaRPr lang="en-US" sz="3200" dirty="0"/>
              </a:p>
            </p:txBody>
          </p:sp>
        </mc:Choice>
        <mc:Fallback xmlns="">
          <p:sp>
            <p:nvSpPr>
              <p:cNvPr id="7" name="Rectangle 6">
                <a:extLst>
                  <a:ext uri="{FF2B5EF4-FFF2-40B4-BE49-F238E27FC236}">
                    <a16:creationId xmlns:a16="http://schemas.microsoft.com/office/drawing/2014/main" id="{1B591EEF-0993-6F47-AF0C-C8136152A186}"/>
                  </a:ext>
                </a:extLst>
              </p:cNvPr>
              <p:cNvSpPr>
                <a:spLocks noRot="1" noChangeAspect="1" noMove="1" noResize="1" noEditPoints="1" noAdjustHandles="1" noChangeArrowheads="1" noChangeShapeType="1" noTextEdit="1"/>
              </p:cNvSpPr>
              <p:nvPr/>
            </p:nvSpPr>
            <p:spPr>
              <a:xfrm>
                <a:off x="631570" y="1320103"/>
                <a:ext cx="2333588" cy="584775"/>
              </a:xfrm>
              <a:prstGeom prst="rect">
                <a:avLst/>
              </a:prstGeom>
              <a:blipFill>
                <a:blip r:embed="rId3"/>
                <a:stretch>
                  <a:fillRect b="-2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076505F3-38FE-684A-98D8-6C7DA1BBBE0C}"/>
                  </a:ext>
                </a:extLst>
              </p:cNvPr>
              <p:cNvSpPr/>
              <p:nvPr/>
            </p:nvSpPr>
            <p:spPr>
              <a:xfrm>
                <a:off x="1387941" y="2924528"/>
                <a:ext cx="78258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0</m:t>
                          </m:r>
                        </m:e>
                      </m:d>
                    </m:oMath>
                  </m:oMathPara>
                </a14:m>
                <a:endParaRPr lang="en-US" sz="3200" dirty="0"/>
              </a:p>
            </p:txBody>
          </p:sp>
        </mc:Choice>
        <mc:Fallback xmlns="">
          <p:sp>
            <p:nvSpPr>
              <p:cNvPr id="32" name="Rectangle 31">
                <a:extLst>
                  <a:ext uri="{FF2B5EF4-FFF2-40B4-BE49-F238E27FC236}">
                    <a16:creationId xmlns:a16="http://schemas.microsoft.com/office/drawing/2014/main" id="{076505F3-38FE-684A-98D8-6C7DA1BBBE0C}"/>
                  </a:ext>
                </a:extLst>
              </p:cNvPr>
              <p:cNvSpPr>
                <a:spLocks noRot="1" noChangeAspect="1" noMove="1" noResize="1" noEditPoints="1" noAdjustHandles="1" noChangeArrowheads="1" noChangeShapeType="1" noTextEdit="1"/>
              </p:cNvSpPr>
              <p:nvPr/>
            </p:nvSpPr>
            <p:spPr>
              <a:xfrm>
                <a:off x="1387941" y="2924528"/>
                <a:ext cx="782587" cy="584775"/>
              </a:xfrm>
              <a:prstGeom prst="rect">
                <a:avLst/>
              </a:prstGeom>
              <a:blipFill>
                <a:blip r:embed="rId4"/>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821FA675-D54B-DA4B-8DC7-58099A8BEFBA}"/>
              </a:ext>
            </a:extLst>
          </p:cNvPr>
          <p:cNvCxnSpPr>
            <a:cxnSpLocks/>
          </p:cNvCxnSpPr>
          <p:nvPr/>
        </p:nvCxnSpPr>
        <p:spPr>
          <a:xfrm>
            <a:off x="2114726" y="3240582"/>
            <a:ext cx="79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0F41611-DB88-5D41-9127-796E03071F30}"/>
              </a:ext>
            </a:extLst>
          </p:cNvPr>
          <p:cNvCxnSpPr>
            <a:cxnSpLocks/>
          </p:cNvCxnSpPr>
          <p:nvPr/>
        </p:nvCxnSpPr>
        <p:spPr>
          <a:xfrm flipV="1">
            <a:off x="2085375" y="4454666"/>
            <a:ext cx="7920000" cy="506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A8040F78-EB15-0546-B66F-0C27E474DE20}"/>
                  </a:ext>
                </a:extLst>
              </p:cNvPr>
              <p:cNvSpPr/>
              <p:nvPr/>
            </p:nvSpPr>
            <p:spPr>
              <a:xfrm>
                <a:off x="1387940" y="4187579"/>
                <a:ext cx="782587"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smtClean="0">
                              <a:latin typeface="Cambria Math" panose="02040503050406030204" pitchFamily="18" charset="0"/>
                            </a:rPr>
                          </m:ctrlPr>
                        </m:dPr>
                        <m:e>
                          <m:r>
                            <a:rPr lang="en-US" sz="3200" b="0" i="1" smtClean="0">
                              <a:latin typeface="Cambria Math" panose="02040503050406030204" pitchFamily="18" charset="0"/>
                            </a:rPr>
                            <m:t>0</m:t>
                          </m:r>
                        </m:e>
                      </m:d>
                    </m:oMath>
                  </m:oMathPara>
                </a14:m>
                <a:endParaRPr lang="en-US" sz="3200" dirty="0"/>
              </a:p>
            </p:txBody>
          </p:sp>
        </mc:Choice>
        <mc:Fallback xmlns="">
          <p:sp>
            <p:nvSpPr>
              <p:cNvPr id="40" name="Rectangle 39">
                <a:extLst>
                  <a:ext uri="{FF2B5EF4-FFF2-40B4-BE49-F238E27FC236}">
                    <a16:creationId xmlns:a16="http://schemas.microsoft.com/office/drawing/2014/main" id="{A8040F78-EB15-0546-B66F-0C27E474DE20}"/>
                  </a:ext>
                </a:extLst>
              </p:cNvPr>
              <p:cNvSpPr>
                <a:spLocks noRot="1" noChangeAspect="1" noMove="1" noResize="1" noEditPoints="1" noAdjustHandles="1" noChangeArrowheads="1" noChangeShapeType="1" noTextEdit="1"/>
              </p:cNvSpPr>
              <p:nvPr/>
            </p:nvSpPr>
            <p:spPr>
              <a:xfrm>
                <a:off x="1387940" y="4187579"/>
                <a:ext cx="782587" cy="584775"/>
              </a:xfrm>
              <a:prstGeom prst="rect">
                <a:avLst/>
              </a:prstGeom>
              <a:blipFill>
                <a:blip r:embed="rId5"/>
                <a:stretch>
                  <a:fillRect/>
                </a:stretch>
              </a:blipFill>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EA658793-2A85-B945-8B8C-0FB5A5C396CA}"/>
              </a:ext>
            </a:extLst>
          </p:cNvPr>
          <p:cNvGrpSpPr/>
          <p:nvPr/>
        </p:nvGrpSpPr>
        <p:grpSpPr>
          <a:xfrm>
            <a:off x="2377751" y="2707960"/>
            <a:ext cx="900000" cy="2147776"/>
            <a:chOff x="1839947" y="3286078"/>
            <a:chExt cx="900000" cy="2147776"/>
          </a:xfrm>
        </p:grpSpPr>
        <p:sp>
          <p:nvSpPr>
            <p:cNvPr id="9" name="Rectangle 8">
              <a:extLst>
                <a:ext uri="{FF2B5EF4-FFF2-40B4-BE49-F238E27FC236}">
                  <a16:creationId xmlns:a16="http://schemas.microsoft.com/office/drawing/2014/main" id="{629CB85F-1CC4-6A46-AF57-9FCDEF1250CE}"/>
                </a:ext>
              </a:extLst>
            </p:cNvPr>
            <p:cNvSpPr>
              <a:spLocks noChangeAspect="1"/>
            </p:cNvSpPr>
            <p:nvPr/>
          </p:nvSpPr>
          <p:spPr>
            <a:xfrm>
              <a:off x="1839947" y="3286078"/>
              <a:ext cx="900000" cy="900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New Roman" panose="02020603050405020304" pitchFamily="18" charset="0"/>
                  <a:cs typeface="Times New Roman" panose="02020603050405020304" pitchFamily="18" charset="0"/>
                </a:rPr>
                <a:t>H</a:t>
              </a:r>
            </a:p>
          </p:txBody>
        </p:sp>
        <p:sp>
          <p:nvSpPr>
            <p:cNvPr id="41" name="Rectangle 40">
              <a:extLst>
                <a:ext uri="{FF2B5EF4-FFF2-40B4-BE49-F238E27FC236}">
                  <a16:creationId xmlns:a16="http://schemas.microsoft.com/office/drawing/2014/main" id="{BEED73B1-026F-5545-ADD3-CC57F128E84E}"/>
                </a:ext>
              </a:extLst>
            </p:cNvPr>
            <p:cNvSpPr>
              <a:spLocks noChangeAspect="1"/>
            </p:cNvSpPr>
            <p:nvPr/>
          </p:nvSpPr>
          <p:spPr>
            <a:xfrm>
              <a:off x="1839947" y="4533854"/>
              <a:ext cx="900000" cy="900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Times New Roman" panose="02020603050405020304" pitchFamily="18" charset="0"/>
                  <a:cs typeface="Times New Roman" panose="02020603050405020304" pitchFamily="18" charset="0"/>
                </a:rPr>
                <a:t>H</a:t>
              </a:r>
            </a:p>
          </p:txBody>
        </p:sp>
      </p:grpSp>
      <p:grpSp>
        <p:nvGrpSpPr>
          <p:cNvPr id="5" name="Group 4">
            <a:extLst>
              <a:ext uri="{FF2B5EF4-FFF2-40B4-BE49-F238E27FC236}">
                <a16:creationId xmlns:a16="http://schemas.microsoft.com/office/drawing/2014/main" id="{95910FD7-8316-4642-B4F5-B556D0AB53F4}"/>
              </a:ext>
            </a:extLst>
          </p:cNvPr>
          <p:cNvGrpSpPr/>
          <p:nvPr/>
        </p:nvGrpSpPr>
        <p:grpSpPr>
          <a:xfrm>
            <a:off x="4032353" y="2707960"/>
            <a:ext cx="1260000" cy="900000"/>
            <a:chOff x="3273751" y="2628157"/>
            <a:chExt cx="1260000" cy="900000"/>
          </a:xfrm>
        </p:grpSpPr>
        <p:sp>
          <p:nvSpPr>
            <p:cNvPr id="36" name="Rectangle 35">
              <a:extLst>
                <a:ext uri="{FF2B5EF4-FFF2-40B4-BE49-F238E27FC236}">
                  <a16:creationId xmlns:a16="http://schemas.microsoft.com/office/drawing/2014/main" id="{D7FB6A64-A39D-994B-8DC4-FE5B460FE0D4}"/>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27ADFD4-64AC-3649-BB87-4CA90F770CE0}"/>
                    </a:ext>
                  </a:extLst>
                </p:cNvPr>
                <p:cNvSpPr/>
                <p:nvPr/>
              </p:nvSpPr>
              <p:spPr>
                <a:xfrm>
                  <a:off x="3273751" y="2816547"/>
                  <a:ext cx="1204367"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R</m:t>
                        </m:r>
                        <m:r>
                          <a:rPr lang="en-US" sz="2800" i="1">
                            <a:solidFill>
                              <a:schemeClr val="bg1"/>
                            </a:solidFill>
                            <a:latin typeface="Cambria Math" panose="02040503050406030204" pitchFamily="18" charset="0"/>
                          </a:rPr>
                          <m:t>𝑍</m:t>
                        </m:r>
                        <m:d>
                          <m:dPr>
                            <m:ctrlPr>
                              <a:rPr lang="en-US" sz="2800" i="1" smtClean="0">
                                <a:solidFill>
                                  <a:schemeClr val="bg1"/>
                                </a:solidFill>
                                <a:latin typeface="Cambria Math" panose="02040503050406030204" pitchFamily="18" charset="0"/>
                              </a:rPr>
                            </m:ctrlPr>
                          </m:dPr>
                          <m:e>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𝑥</m:t>
                                </m:r>
                              </m:e>
                              <m:sub>
                                <m:r>
                                  <a:rPr lang="en-US" sz="2800" i="1">
                                    <a:solidFill>
                                      <a:schemeClr val="bg1"/>
                                    </a:solidFill>
                                    <a:latin typeface="Cambria Math" panose="02040503050406030204" pitchFamily="18" charset="0"/>
                                  </a:rPr>
                                  <m:t>1</m:t>
                                </m:r>
                              </m:sub>
                            </m:sSub>
                          </m:e>
                        </m:d>
                      </m:oMath>
                    </m:oMathPara>
                  </a14:m>
                  <a:endParaRPr lang="en-US" sz="2800" dirty="0">
                    <a:solidFill>
                      <a:schemeClr val="bg1"/>
                    </a:solidFill>
                  </a:endParaRPr>
                </a:p>
              </p:txBody>
            </p:sp>
          </mc:Choice>
          <mc:Fallback xmlns="">
            <p:sp>
              <p:nvSpPr>
                <p:cNvPr id="15" name="Rectangle 14">
                  <a:extLst>
                    <a:ext uri="{FF2B5EF4-FFF2-40B4-BE49-F238E27FC236}">
                      <a16:creationId xmlns:a16="http://schemas.microsoft.com/office/drawing/2014/main" id="{927ADFD4-64AC-3649-BB87-4CA90F770CE0}"/>
                    </a:ext>
                  </a:extLst>
                </p:cNvPr>
                <p:cNvSpPr>
                  <a:spLocks noRot="1" noChangeAspect="1" noMove="1" noResize="1" noEditPoints="1" noAdjustHandles="1" noChangeArrowheads="1" noChangeShapeType="1" noTextEdit="1"/>
                </p:cNvSpPr>
                <p:nvPr/>
              </p:nvSpPr>
              <p:spPr>
                <a:xfrm>
                  <a:off x="3273751" y="2816547"/>
                  <a:ext cx="1204367" cy="523220"/>
                </a:xfrm>
                <a:prstGeom prst="rect">
                  <a:avLst/>
                </a:prstGeom>
                <a:blipFill>
                  <a:blip r:embed="rId6"/>
                  <a:stretch>
                    <a:fillRect l="-3158" b="-2439"/>
                  </a:stretch>
                </a:blipFill>
              </p:spPr>
              <p:txBody>
                <a:bodyPr/>
                <a:lstStyle/>
                <a:p>
                  <a:r>
                    <a:rPr lang="en-US">
                      <a:noFill/>
                    </a:rPr>
                    <a:t> </a:t>
                  </a:r>
                </a:p>
              </p:txBody>
            </p:sp>
          </mc:Fallback>
        </mc:AlternateContent>
      </p:grpSp>
      <p:grpSp>
        <p:nvGrpSpPr>
          <p:cNvPr id="42" name="Group 41">
            <a:extLst>
              <a:ext uri="{FF2B5EF4-FFF2-40B4-BE49-F238E27FC236}">
                <a16:creationId xmlns:a16="http://schemas.microsoft.com/office/drawing/2014/main" id="{B13797FF-AF15-504D-B218-9EFFFC1AEDA1}"/>
              </a:ext>
            </a:extLst>
          </p:cNvPr>
          <p:cNvGrpSpPr/>
          <p:nvPr/>
        </p:nvGrpSpPr>
        <p:grpSpPr>
          <a:xfrm>
            <a:off x="4004536" y="3948685"/>
            <a:ext cx="1260000" cy="900000"/>
            <a:chOff x="3273751" y="2628157"/>
            <a:chExt cx="1260000" cy="900000"/>
          </a:xfrm>
        </p:grpSpPr>
        <p:sp>
          <p:nvSpPr>
            <p:cNvPr id="44" name="Rectangle 43">
              <a:extLst>
                <a:ext uri="{FF2B5EF4-FFF2-40B4-BE49-F238E27FC236}">
                  <a16:creationId xmlns:a16="http://schemas.microsoft.com/office/drawing/2014/main" id="{B5E5C8D2-1224-A143-81CC-9F35ABCF1073}"/>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6366545F-3106-164F-8EB0-4457F252AA97}"/>
                    </a:ext>
                  </a:extLst>
                </p:cNvPr>
                <p:cNvSpPr/>
                <p:nvPr/>
              </p:nvSpPr>
              <p:spPr>
                <a:xfrm>
                  <a:off x="3273751" y="2816547"/>
                  <a:ext cx="1204367"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R</m:t>
                        </m:r>
                        <m:r>
                          <a:rPr lang="en-US" sz="2800" i="1">
                            <a:solidFill>
                              <a:schemeClr val="bg1"/>
                            </a:solidFill>
                            <a:latin typeface="Cambria Math" panose="02040503050406030204" pitchFamily="18" charset="0"/>
                          </a:rPr>
                          <m:t>𝑍</m:t>
                        </m:r>
                        <m:d>
                          <m:dPr>
                            <m:ctrlPr>
                              <a:rPr lang="en-US" sz="2800" i="1" smtClean="0">
                                <a:solidFill>
                                  <a:schemeClr val="bg1"/>
                                </a:solidFill>
                                <a:latin typeface="Cambria Math" panose="02040503050406030204" pitchFamily="18" charset="0"/>
                              </a:rPr>
                            </m:ctrlPr>
                          </m:dPr>
                          <m:e>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𝑥</m:t>
                                </m:r>
                              </m:e>
                              <m:sub>
                                <m:r>
                                  <a:rPr lang="en-US" sz="2800" b="0" i="1" smtClean="0">
                                    <a:solidFill>
                                      <a:schemeClr val="bg1"/>
                                    </a:solidFill>
                                    <a:latin typeface="Cambria Math" panose="02040503050406030204" pitchFamily="18" charset="0"/>
                                  </a:rPr>
                                  <m:t>2</m:t>
                                </m:r>
                              </m:sub>
                            </m:sSub>
                          </m:e>
                        </m:d>
                      </m:oMath>
                    </m:oMathPara>
                  </a14:m>
                  <a:endParaRPr lang="en-US" sz="2800" dirty="0">
                    <a:solidFill>
                      <a:schemeClr val="bg1"/>
                    </a:solidFill>
                  </a:endParaRPr>
                </a:p>
              </p:txBody>
            </p:sp>
          </mc:Choice>
          <mc:Fallback xmlns="">
            <p:sp>
              <p:nvSpPr>
                <p:cNvPr id="49" name="Rectangle 48">
                  <a:extLst>
                    <a:ext uri="{FF2B5EF4-FFF2-40B4-BE49-F238E27FC236}">
                      <a16:creationId xmlns:a16="http://schemas.microsoft.com/office/drawing/2014/main" id="{6366545F-3106-164F-8EB0-4457F252AA97}"/>
                    </a:ext>
                  </a:extLst>
                </p:cNvPr>
                <p:cNvSpPr>
                  <a:spLocks noRot="1" noChangeAspect="1" noMove="1" noResize="1" noEditPoints="1" noAdjustHandles="1" noChangeArrowheads="1" noChangeShapeType="1" noTextEdit="1"/>
                </p:cNvSpPr>
                <p:nvPr/>
              </p:nvSpPr>
              <p:spPr>
                <a:xfrm>
                  <a:off x="3273751" y="2816547"/>
                  <a:ext cx="1204367" cy="523220"/>
                </a:xfrm>
                <a:prstGeom prst="rect">
                  <a:avLst/>
                </a:prstGeom>
                <a:blipFill>
                  <a:blip r:embed="rId7"/>
                  <a:stretch>
                    <a:fillRect l="-2083"/>
                  </a:stretch>
                </a:blipFill>
              </p:spPr>
              <p:txBody>
                <a:bodyPr/>
                <a:lstStyle/>
                <a:p>
                  <a:r>
                    <a:rPr lang="en-US">
                      <a:noFill/>
                    </a:rPr>
                    <a:t> </a:t>
                  </a:r>
                </a:p>
              </p:txBody>
            </p:sp>
          </mc:Fallback>
        </mc:AlternateContent>
      </p:grpSp>
      <p:cxnSp>
        <p:nvCxnSpPr>
          <p:cNvPr id="50" name="Straight Connector 49">
            <a:extLst>
              <a:ext uri="{FF2B5EF4-FFF2-40B4-BE49-F238E27FC236}">
                <a16:creationId xmlns:a16="http://schemas.microsoft.com/office/drawing/2014/main" id="{3E9FE325-536B-6342-88A1-E2EEE7CB1EF8}"/>
              </a:ext>
            </a:extLst>
          </p:cNvPr>
          <p:cNvCxnSpPr>
            <a:cxnSpLocks/>
          </p:cNvCxnSpPr>
          <p:nvPr/>
        </p:nvCxnSpPr>
        <p:spPr>
          <a:xfrm flipV="1">
            <a:off x="6349788" y="3240582"/>
            <a:ext cx="0" cy="9252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467DBCA-A2FF-0E4B-B460-91C7D30D8DBC}"/>
              </a:ext>
            </a:extLst>
          </p:cNvPr>
          <p:cNvSpPr/>
          <p:nvPr/>
        </p:nvSpPr>
        <p:spPr>
          <a:xfrm>
            <a:off x="5989788" y="4131524"/>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nvGrpSpPr>
          <p:cNvPr id="52" name="Group 51">
            <a:extLst>
              <a:ext uri="{FF2B5EF4-FFF2-40B4-BE49-F238E27FC236}">
                <a16:creationId xmlns:a16="http://schemas.microsoft.com/office/drawing/2014/main" id="{EC530424-BA50-8F4C-9590-962800464325}"/>
              </a:ext>
            </a:extLst>
          </p:cNvPr>
          <p:cNvGrpSpPr/>
          <p:nvPr/>
        </p:nvGrpSpPr>
        <p:grpSpPr>
          <a:xfrm>
            <a:off x="7407223" y="3986535"/>
            <a:ext cx="1512000" cy="900000"/>
            <a:chOff x="3748491" y="2628157"/>
            <a:chExt cx="1512000" cy="900000"/>
          </a:xfrm>
        </p:grpSpPr>
        <p:sp>
          <p:nvSpPr>
            <p:cNvPr id="53" name="Rectangle 52">
              <a:extLst>
                <a:ext uri="{FF2B5EF4-FFF2-40B4-BE49-F238E27FC236}">
                  <a16:creationId xmlns:a16="http://schemas.microsoft.com/office/drawing/2014/main" id="{6232D6F9-F870-8749-88BD-B40EF57EEE55}"/>
                </a:ext>
              </a:extLst>
            </p:cNvPr>
            <p:cNvSpPr/>
            <p:nvPr/>
          </p:nvSpPr>
          <p:spPr>
            <a:xfrm>
              <a:off x="3748491" y="2628157"/>
              <a:ext cx="1512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9AA8D33C-8FDA-7642-A444-901BDC6B47D0}"/>
                    </a:ext>
                  </a:extLst>
                </p:cNvPr>
                <p:cNvSpPr/>
                <p:nvPr/>
              </p:nvSpPr>
              <p:spPr>
                <a:xfrm>
                  <a:off x="3748491" y="2834678"/>
                  <a:ext cx="1440000"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R</m:t>
                        </m:r>
                        <m:r>
                          <a:rPr lang="en-US" sz="2800" i="1">
                            <a:solidFill>
                              <a:schemeClr val="bg1"/>
                            </a:solidFill>
                            <a:latin typeface="Cambria Math" panose="02040503050406030204" pitchFamily="18" charset="0"/>
                          </a:rPr>
                          <m:t>𝑍</m:t>
                        </m:r>
                        <m:d>
                          <m:dPr>
                            <m:ctrlPr>
                              <a:rPr lang="en-US" sz="2800" i="1" smtClean="0">
                                <a:solidFill>
                                  <a:schemeClr val="bg1"/>
                                </a:solidFill>
                                <a:latin typeface="Cambria Math" panose="02040503050406030204" pitchFamily="18" charset="0"/>
                              </a:rPr>
                            </m:ctrlPr>
                          </m:dPr>
                          <m:e>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𝑥</m:t>
                                </m:r>
                              </m:e>
                              <m:sub>
                                <m:r>
                                  <a:rPr lang="en-US" sz="2800" b="0" i="1" smtClean="0">
                                    <a:solidFill>
                                      <a:schemeClr val="bg1"/>
                                    </a:solidFill>
                                    <a:latin typeface="Cambria Math" panose="02040503050406030204" pitchFamily="18" charset="0"/>
                                  </a:rPr>
                                  <m:t>1</m:t>
                                </m:r>
                              </m:sub>
                            </m:sSub>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rPr>
                                  <m:t>𝑥</m:t>
                                </m:r>
                              </m:e>
                              <m:sub>
                                <m:r>
                                  <a:rPr lang="en-US" sz="2800" b="0" i="1" smtClean="0">
                                    <a:solidFill>
                                      <a:schemeClr val="bg1"/>
                                    </a:solidFill>
                                    <a:latin typeface="Cambria Math" panose="02040503050406030204" pitchFamily="18" charset="0"/>
                                  </a:rPr>
                                  <m:t>2</m:t>
                                </m:r>
                              </m:sub>
                            </m:sSub>
                          </m:e>
                        </m:d>
                      </m:oMath>
                    </m:oMathPara>
                  </a14:m>
                  <a:endParaRPr lang="en-US" sz="2800" dirty="0">
                    <a:solidFill>
                      <a:schemeClr val="bg1"/>
                    </a:solidFill>
                  </a:endParaRPr>
                </a:p>
              </p:txBody>
            </p:sp>
          </mc:Choice>
          <mc:Fallback xmlns="">
            <p:sp>
              <p:nvSpPr>
                <p:cNvPr id="54" name="Rectangle 53">
                  <a:extLst>
                    <a:ext uri="{FF2B5EF4-FFF2-40B4-BE49-F238E27FC236}">
                      <a16:creationId xmlns:a16="http://schemas.microsoft.com/office/drawing/2014/main" id="{9AA8D33C-8FDA-7642-A444-901BDC6B47D0}"/>
                    </a:ext>
                  </a:extLst>
                </p:cNvPr>
                <p:cNvSpPr>
                  <a:spLocks noRot="1" noChangeAspect="1" noMove="1" noResize="1" noEditPoints="1" noAdjustHandles="1" noChangeArrowheads="1" noChangeShapeType="1" noTextEdit="1"/>
                </p:cNvSpPr>
                <p:nvPr/>
              </p:nvSpPr>
              <p:spPr>
                <a:xfrm>
                  <a:off x="3748491" y="2834678"/>
                  <a:ext cx="1440000" cy="523220"/>
                </a:xfrm>
                <a:prstGeom prst="rect">
                  <a:avLst/>
                </a:prstGeom>
                <a:blipFill>
                  <a:blip r:embed="rId8"/>
                  <a:stretch>
                    <a:fillRect l="-1739" r="-2609" b="-2381"/>
                  </a:stretch>
                </a:blipFill>
              </p:spPr>
              <p:txBody>
                <a:bodyPr/>
                <a:lstStyle/>
                <a:p>
                  <a:r>
                    <a:rPr lang="en-US">
                      <a:noFill/>
                    </a:rPr>
                    <a:t> </a:t>
                  </a:r>
                </a:p>
              </p:txBody>
            </p:sp>
          </mc:Fallback>
        </mc:AlternateContent>
      </p:grpSp>
      <p:sp>
        <p:nvSpPr>
          <p:cNvPr id="22" name="TextBox 21">
            <a:extLst>
              <a:ext uri="{FF2B5EF4-FFF2-40B4-BE49-F238E27FC236}">
                <a16:creationId xmlns:a16="http://schemas.microsoft.com/office/drawing/2014/main" id="{EC58D8EE-2D42-274D-96E1-A80B66565857}"/>
              </a:ext>
            </a:extLst>
          </p:cNvPr>
          <p:cNvSpPr txBox="1"/>
          <p:nvPr/>
        </p:nvSpPr>
        <p:spPr>
          <a:xfrm>
            <a:off x="284889" y="6251952"/>
            <a:ext cx="11622221" cy="369332"/>
          </a:xfrm>
          <a:prstGeom prst="rect">
            <a:avLst/>
          </a:prstGeom>
          <a:noFill/>
        </p:spPr>
        <p:txBody>
          <a:bodyPr wrap="none" rtlCol="0">
            <a:spAutoFit/>
          </a:bodyPr>
          <a:lstStyle/>
          <a:p>
            <a:r>
              <a:rPr lang="en-US" dirty="0" err="1">
                <a:latin typeface="+mj-lt"/>
              </a:rPr>
              <a:t>Havlíček</a:t>
            </a:r>
            <a:r>
              <a:rPr lang="en-US" dirty="0">
                <a:latin typeface="+mj-lt"/>
              </a:rPr>
              <a:t> and al. "Supervised learning with quantum-enhanced feature spaces", Nature volume 567, pages 209–212 (2019)</a:t>
            </a:r>
          </a:p>
        </p:txBody>
      </p:sp>
      <p:grpSp>
        <p:nvGrpSpPr>
          <p:cNvPr id="76" name="Group 75">
            <a:extLst>
              <a:ext uri="{FF2B5EF4-FFF2-40B4-BE49-F238E27FC236}">
                <a16:creationId xmlns:a16="http://schemas.microsoft.com/office/drawing/2014/main" id="{15454FD0-717E-0245-8D97-0990D9BD724D}"/>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C4D24DEE-06A5-0B40-842E-0C6A7A2CEEC7}"/>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77" name="Rectangle 76">
                  <a:extLst>
                    <a:ext uri="{FF2B5EF4-FFF2-40B4-BE49-F238E27FC236}">
                      <a16:creationId xmlns:a16="http://schemas.microsoft.com/office/drawing/2014/main" id="{C4D24DEE-06A5-0B40-842E-0C6A7A2CEEC7}"/>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9"/>
                  <a:stretch>
                    <a:fillRect/>
                  </a:stretch>
                </a:blipFill>
              </p:spPr>
              <p:txBody>
                <a:bodyPr/>
                <a:lstStyle/>
                <a:p>
                  <a:r>
                    <a:rPr lang="en-US">
                      <a:noFill/>
                    </a:rPr>
                    <a:t> </a:t>
                  </a:r>
                </a:p>
              </p:txBody>
            </p:sp>
          </mc:Fallback>
        </mc:AlternateContent>
        <p:cxnSp>
          <p:nvCxnSpPr>
            <p:cNvPr id="78" name="Straight Connector 77">
              <a:extLst>
                <a:ext uri="{FF2B5EF4-FFF2-40B4-BE49-F238E27FC236}">
                  <a16:creationId xmlns:a16="http://schemas.microsoft.com/office/drawing/2014/main" id="{44CAD35A-CBAB-7C45-823B-C8ABAEB89352}"/>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D8516A7-15BF-3746-83F3-A26BB3E1CC41}"/>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BD49DEA3-5404-6F4E-8EDF-93F7D37410E1}"/>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80" name="Rectangle 79">
                  <a:extLst>
                    <a:ext uri="{FF2B5EF4-FFF2-40B4-BE49-F238E27FC236}">
                      <a16:creationId xmlns:a16="http://schemas.microsoft.com/office/drawing/2014/main" id="{BD49DEA3-5404-6F4E-8EDF-93F7D37410E1}"/>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0"/>
                  <a:stretch>
                    <a:fillRect/>
                  </a:stretch>
                </a:blipFill>
              </p:spPr>
              <p:txBody>
                <a:bodyPr/>
                <a:lstStyle/>
                <a:p>
                  <a:r>
                    <a:rPr lang="en-US">
                      <a:noFill/>
                    </a:rPr>
                    <a:t> </a:t>
                  </a:r>
                </a:p>
              </p:txBody>
            </p:sp>
          </mc:Fallback>
        </mc:AlternateContent>
        <p:sp>
          <p:nvSpPr>
            <p:cNvPr id="81" name="Rectangle 80">
              <a:extLst>
                <a:ext uri="{FF2B5EF4-FFF2-40B4-BE49-F238E27FC236}">
                  <a16:creationId xmlns:a16="http://schemas.microsoft.com/office/drawing/2014/main" id="{2574C067-1390-3048-8169-BDDE3372C3B9}"/>
                </a:ext>
              </a:extLst>
            </p:cNvPr>
            <p:cNvSpPr/>
            <p:nvPr/>
          </p:nvSpPr>
          <p:spPr>
            <a:xfrm>
              <a:off x="8774259" y="818122"/>
              <a:ext cx="539664" cy="720000"/>
            </a:xfrm>
            <a:prstGeom prst="rect">
              <a:avLst/>
            </a:prstGeom>
            <a:solidFill>
              <a:srgbClr val="FFC000"/>
            </a:solidFill>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4DC51C27-EB06-0F48-B74A-5DD43F5CB3B2}"/>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82" name="Rectangle 81">
                  <a:extLst>
                    <a:ext uri="{FF2B5EF4-FFF2-40B4-BE49-F238E27FC236}">
                      <a16:creationId xmlns:a16="http://schemas.microsoft.com/office/drawing/2014/main" id="{4DC51C27-EB06-0F48-B74A-5DD43F5CB3B2}"/>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1"/>
                  <a:stretch>
                    <a:fillRect b="-14815"/>
                  </a:stretch>
                </a:blipFill>
              </p:spPr>
              <p:txBody>
                <a:bodyPr/>
                <a:lstStyle/>
                <a:p>
                  <a:r>
                    <a:rPr lang="en-US">
                      <a:noFill/>
                    </a:rPr>
                    <a:t> </a:t>
                  </a:r>
                </a:p>
              </p:txBody>
            </p:sp>
          </mc:Fallback>
        </mc:AlternateContent>
        <p:sp>
          <p:nvSpPr>
            <p:cNvPr id="83" name="Rectangle 82">
              <a:extLst>
                <a:ext uri="{FF2B5EF4-FFF2-40B4-BE49-F238E27FC236}">
                  <a16:creationId xmlns:a16="http://schemas.microsoft.com/office/drawing/2014/main" id="{A9AB1077-1C27-0644-BD08-ECB80208A0AF}"/>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82D21272-36A5-C446-887D-0DE7E7301288}"/>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84" name="Rectangle 83">
                  <a:extLst>
                    <a:ext uri="{FF2B5EF4-FFF2-40B4-BE49-F238E27FC236}">
                      <a16:creationId xmlns:a16="http://schemas.microsoft.com/office/drawing/2014/main" id="{82D21272-36A5-C446-887D-0DE7E7301288}"/>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2"/>
                  <a:stretch>
                    <a:fillRect/>
                  </a:stretch>
                </a:blipFill>
              </p:spPr>
              <p:txBody>
                <a:bodyPr/>
                <a:lstStyle/>
                <a:p>
                  <a:r>
                    <a:rPr lang="en-US">
                      <a:noFill/>
                    </a:rPr>
                    <a:t> </a:t>
                  </a:r>
                </a:p>
              </p:txBody>
            </p:sp>
          </mc:Fallback>
        </mc:AlternateContent>
        <p:sp>
          <p:nvSpPr>
            <p:cNvPr id="85" name="Rectangle 84">
              <a:extLst>
                <a:ext uri="{FF2B5EF4-FFF2-40B4-BE49-F238E27FC236}">
                  <a16:creationId xmlns:a16="http://schemas.microsoft.com/office/drawing/2014/main" id="{148837B3-57BE-DE49-A0FD-E1AB4A397578}"/>
                </a:ext>
              </a:extLst>
            </p:cNvPr>
            <p:cNvSpPr/>
            <p:nvPr/>
          </p:nvSpPr>
          <p:spPr>
            <a:xfrm>
              <a:off x="9471016" y="812887"/>
              <a:ext cx="540000" cy="720000"/>
            </a:xfrm>
            <a:prstGeom prst="rect">
              <a:avLst/>
            </a:prstGeom>
            <a:solidFill>
              <a:srgbClr val="30E845"/>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7D2EB990-E825-D741-A068-E17E14436282}"/>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86" name="Rectangle 85">
                  <a:extLst>
                    <a:ext uri="{FF2B5EF4-FFF2-40B4-BE49-F238E27FC236}">
                      <a16:creationId xmlns:a16="http://schemas.microsoft.com/office/drawing/2014/main" id="{7D2EB990-E825-D741-A068-E17E14436282}"/>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3"/>
                  <a:stretch>
                    <a:fillRect b="-10714"/>
                  </a:stretch>
                </a:blipFill>
              </p:spPr>
              <p:txBody>
                <a:bodyPr/>
                <a:lstStyle/>
                <a:p>
                  <a:r>
                    <a:rPr lang="sr-Latn-RS">
                      <a:noFill/>
                    </a:rPr>
                    <a:t> </a:t>
                  </a:r>
                </a:p>
              </p:txBody>
            </p:sp>
          </mc:Fallback>
        </mc:AlternateContent>
        <p:sp>
          <p:nvSpPr>
            <p:cNvPr id="87" name="Rectangle 86">
              <a:extLst>
                <a:ext uri="{FF2B5EF4-FFF2-40B4-BE49-F238E27FC236}">
                  <a16:creationId xmlns:a16="http://schemas.microsoft.com/office/drawing/2014/main" id="{8B7DFC37-A14C-BC4F-8C63-B51C0C39A7B9}"/>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9A9FEABA-B0B5-DD4A-8AE7-F5B607A8F2BE}"/>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88" name="Rectangle 87">
                  <a:extLst>
                    <a:ext uri="{FF2B5EF4-FFF2-40B4-BE49-F238E27FC236}">
                      <a16:creationId xmlns:a16="http://schemas.microsoft.com/office/drawing/2014/main" id="{9A9FEABA-B0B5-DD4A-8AE7-F5B607A8F2BE}"/>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9B49F234-39A5-B448-AF1A-49268A0EC67F}"/>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89" name="Rectangle 88">
                  <a:extLst>
                    <a:ext uri="{FF2B5EF4-FFF2-40B4-BE49-F238E27FC236}">
                      <a16:creationId xmlns:a16="http://schemas.microsoft.com/office/drawing/2014/main" id="{9B49F234-39A5-B448-AF1A-49268A0EC67F}"/>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5"/>
                  <a:stretch>
                    <a:fillRect/>
                  </a:stretch>
                </a:blipFill>
              </p:spPr>
              <p:txBody>
                <a:bodyPr/>
                <a:lstStyle/>
                <a:p>
                  <a:r>
                    <a:rPr lang="en-US">
                      <a:noFill/>
                    </a:rPr>
                    <a:t> </a:t>
                  </a:r>
                </a:p>
              </p:txBody>
            </p:sp>
          </mc:Fallback>
        </mc:AlternateContent>
      </p:grpSp>
      <p:sp>
        <p:nvSpPr>
          <p:cNvPr id="43" name="Oval 42">
            <a:extLst>
              <a:ext uri="{FF2B5EF4-FFF2-40B4-BE49-F238E27FC236}">
                <a16:creationId xmlns:a16="http://schemas.microsoft.com/office/drawing/2014/main" id="{7EA5F078-1541-5D42-A765-28C547BDDAB7}"/>
              </a:ext>
            </a:extLst>
          </p:cNvPr>
          <p:cNvSpPr/>
          <p:nvPr/>
        </p:nvSpPr>
        <p:spPr>
          <a:xfrm>
            <a:off x="6227042" y="3117315"/>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Tree>
    <p:extLst>
      <p:ext uri="{BB962C8B-B14F-4D97-AF65-F5344CB8AC3E}">
        <p14:creationId xmlns:p14="http://schemas.microsoft.com/office/powerpoint/2010/main" val="1175557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3219B-C24E-E644-9EA4-85F6324A8AA5}"/>
              </a:ext>
            </a:extLst>
          </p:cNvPr>
          <p:cNvSpPr>
            <a:spLocks noGrp="1"/>
          </p:cNvSpPr>
          <p:nvPr>
            <p:ph type="title"/>
          </p:nvPr>
        </p:nvSpPr>
        <p:spPr/>
        <p:txBody>
          <a:bodyPr/>
          <a:lstStyle/>
          <a:p>
            <a:r>
              <a:rPr lang="en-ZA" dirty="0"/>
              <a:t>Variational Layer: Ansatz</a:t>
            </a:r>
            <a:endParaRPr lang="en-US" dirty="0"/>
          </a:p>
        </p:txBody>
      </p:sp>
      <p:sp>
        <p:nvSpPr>
          <p:cNvPr id="3" name="Slide Number Placeholder 2">
            <a:extLst>
              <a:ext uri="{FF2B5EF4-FFF2-40B4-BE49-F238E27FC236}">
                <a16:creationId xmlns:a16="http://schemas.microsoft.com/office/drawing/2014/main" id="{6F21B074-2C23-ED49-8F09-91D1257AB231}"/>
              </a:ext>
            </a:extLst>
          </p:cNvPr>
          <p:cNvSpPr>
            <a:spLocks noGrp="1"/>
          </p:cNvSpPr>
          <p:nvPr>
            <p:ph type="sldNum" sz="quarter" idx="12"/>
          </p:nvPr>
        </p:nvSpPr>
        <p:spPr/>
        <p:txBody>
          <a:bodyPr/>
          <a:lstStyle/>
          <a:p>
            <a:fld id="{591A223C-FA10-BC46-A853-03BA373D023C}" type="slidenum">
              <a:rPr lang="en-US" smtClean="0"/>
              <a:t>15</a:t>
            </a:fld>
            <a:endParaRPr lang="en-US"/>
          </a:p>
        </p:txBody>
      </p:sp>
      <p:grpSp>
        <p:nvGrpSpPr>
          <p:cNvPr id="4" name="Group 3">
            <a:extLst>
              <a:ext uri="{FF2B5EF4-FFF2-40B4-BE49-F238E27FC236}">
                <a16:creationId xmlns:a16="http://schemas.microsoft.com/office/drawing/2014/main" id="{8FD6208B-AFD3-5D49-A070-286C2483E73E}"/>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638D820-CA63-9A41-9B71-ADE251A5FC60}"/>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4" name="Rectangle 153">
                  <a:extLst>
                    <a:ext uri="{FF2B5EF4-FFF2-40B4-BE49-F238E27FC236}">
                      <a16:creationId xmlns:a16="http://schemas.microsoft.com/office/drawing/2014/main" id="{11ADD2D3-D169-3943-BB3C-CD31935F9AE0}"/>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3"/>
                  <a:stretch>
                    <a:fillRect/>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F19CB30F-D3A0-344F-94F7-910F81AE08F9}"/>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CA0D501-1092-A74F-B8BE-26DC3D409049}"/>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1A242D5-9649-0F48-B9E1-DA48C49DD4F1}"/>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7" name="Rectangle 156">
                  <a:extLst>
                    <a:ext uri="{FF2B5EF4-FFF2-40B4-BE49-F238E27FC236}">
                      <a16:creationId xmlns:a16="http://schemas.microsoft.com/office/drawing/2014/main" id="{73F24AF4-D0E6-7040-A0A9-D7A982CB0CF3}"/>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4"/>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02FE8EE-4942-D54E-BF28-1CBAAE9140FE}"/>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445C17E-1059-7540-BC0D-C0339C024D69}"/>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159" name="Rectangle 158">
                  <a:extLst>
                    <a:ext uri="{FF2B5EF4-FFF2-40B4-BE49-F238E27FC236}">
                      <a16:creationId xmlns:a16="http://schemas.microsoft.com/office/drawing/2014/main" id="{EDC41B11-34E1-E34C-92E8-07927830789C}"/>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5"/>
                  <a:stretch>
                    <a:fillRect b="-14815"/>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CE2F5300-0920-FF42-B107-6B6842FB03A8}"/>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1326ABA-98D7-1B45-A3CF-C76778BEEB90}"/>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161" name="Rectangle 160">
                  <a:extLst>
                    <a:ext uri="{FF2B5EF4-FFF2-40B4-BE49-F238E27FC236}">
                      <a16:creationId xmlns:a16="http://schemas.microsoft.com/office/drawing/2014/main" id="{DCA4F7B0-C192-B04A-9752-7F69EDE82F4B}"/>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6"/>
                  <a:stretch>
                    <a:fillRect/>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985FF416-2632-4046-BB9E-8669330D9001}"/>
                </a:ext>
              </a:extLst>
            </p:cNvPr>
            <p:cNvSpPr/>
            <p:nvPr/>
          </p:nvSpPr>
          <p:spPr>
            <a:xfrm>
              <a:off x="9471016" y="812887"/>
              <a:ext cx="540000" cy="720000"/>
            </a:xfrm>
            <a:prstGeom prst="rect">
              <a:avLst/>
            </a:prstGeom>
            <a:solidFill>
              <a:srgbClr val="30E845"/>
            </a:solidFill>
            <a:ln>
              <a:solidFill>
                <a:schemeClr val="accent1">
                  <a:shade val="50000"/>
                </a:schemeClr>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BB396B5B-CAC5-784B-9F1D-555A7083E47A}"/>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163" name="Rectangle 162">
                  <a:extLst>
                    <a:ext uri="{FF2B5EF4-FFF2-40B4-BE49-F238E27FC236}">
                      <a16:creationId xmlns:a16="http://schemas.microsoft.com/office/drawing/2014/main" id="{1C2FB8B8-2D65-2D48-A437-2A5212B585FB}"/>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7"/>
                  <a:stretch>
                    <a:fillRect b="-10714"/>
                  </a:stretch>
                </a:blipFill>
              </p:spPr>
              <p:txBody>
                <a:bodyPr/>
                <a:lstStyle/>
                <a:p>
                  <a:r>
                    <a:rPr lang="sr-Latn-RS">
                      <a:noFill/>
                    </a:rPr>
                    <a:t> </a:t>
                  </a:r>
                </a:p>
              </p:txBody>
            </p:sp>
          </mc:Fallback>
        </mc:AlternateContent>
        <p:sp>
          <p:nvSpPr>
            <p:cNvPr id="15" name="Rectangle 14">
              <a:extLst>
                <a:ext uri="{FF2B5EF4-FFF2-40B4-BE49-F238E27FC236}">
                  <a16:creationId xmlns:a16="http://schemas.microsoft.com/office/drawing/2014/main" id="{DBA98A8F-8304-7344-99B8-08FF5F9B68FE}"/>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F643762-1E47-EA49-9BA3-31EF3982E225}"/>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165" name="Rectangle 164">
                  <a:extLst>
                    <a:ext uri="{FF2B5EF4-FFF2-40B4-BE49-F238E27FC236}">
                      <a16:creationId xmlns:a16="http://schemas.microsoft.com/office/drawing/2014/main" id="{DAC8D148-2BEA-DA40-8044-7E2D2066D1A2}"/>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C0FC6AF-F978-874D-95CD-F5DE485F2493}"/>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166" name="Rectangle 165">
                  <a:extLst>
                    <a:ext uri="{FF2B5EF4-FFF2-40B4-BE49-F238E27FC236}">
                      <a16:creationId xmlns:a16="http://schemas.microsoft.com/office/drawing/2014/main" id="{B302ECB5-E617-FF48-A040-38067D469A22}"/>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9"/>
                  <a:stretch>
                    <a:fillRect/>
                  </a:stretch>
                </a:blipFill>
              </p:spPr>
              <p:txBody>
                <a:bodyPr/>
                <a:lstStyle/>
                <a:p>
                  <a:r>
                    <a:rPr lang="en-US">
                      <a:noFill/>
                    </a:rPr>
                    <a:t> </a:t>
                  </a:r>
                </a:p>
              </p:txBody>
            </p:sp>
          </mc:Fallback>
        </mc:AlternateContent>
      </p:grpSp>
      <p:cxnSp>
        <p:nvCxnSpPr>
          <p:cNvPr id="20" name="Straight Connector 19">
            <a:extLst>
              <a:ext uri="{FF2B5EF4-FFF2-40B4-BE49-F238E27FC236}">
                <a16:creationId xmlns:a16="http://schemas.microsoft.com/office/drawing/2014/main" id="{F1E3E530-7133-6E4A-84CF-032A14971A1D}"/>
              </a:ext>
            </a:extLst>
          </p:cNvPr>
          <p:cNvCxnSpPr>
            <a:cxnSpLocks/>
          </p:cNvCxnSpPr>
          <p:nvPr/>
        </p:nvCxnSpPr>
        <p:spPr>
          <a:xfrm>
            <a:off x="906790" y="2345027"/>
            <a:ext cx="64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1ABA74F-DF4F-3641-BA36-23C8B296F193}"/>
              </a:ext>
            </a:extLst>
          </p:cNvPr>
          <p:cNvCxnSpPr>
            <a:cxnSpLocks/>
          </p:cNvCxnSpPr>
          <p:nvPr/>
        </p:nvCxnSpPr>
        <p:spPr>
          <a:xfrm>
            <a:off x="906790" y="3613864"/>
            <a:ext cx="64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A3FD79E-56D8-2843-929F-3CD1C7640CF0}"/>
              </a:ext>
            </a:extLst>
          </p:cNvPr>
          <p:cNvCxnSpPr>
            <a:cxnSpLocks/>
          </p:cNvCxnSpPr>
          <p:nvPr/>
        </p:nvCxnSpPr>
        <p:spPr>
          <a:xfrm>
            <a:off x="906790" y="4840205"/>
            <a:ext cx="648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969459E4-6A8A-7346-A2CD-0ED7B6013281}"/>
              </a:ext>
            </a:extLst>
          </p:cNvPr>
          <p:cNvGrpSpPr/>
          <p:nvPr/>
        </p:nvGrpSpPr>
        <p:grpSpPr>
          <a:xfrm>
            <a:off x="2129753" y="1851198"/>
            <a:ext cx="1294790" cy="3525332"/>
            <a:chOff x="3259095" y="2628157"/>
            <a:chExt cx="1294790" cy="3525332"/>
          </a:xfrm>
        </p:grpSpPr>
        <p:grpSp>
          <p:nvGrpSpPr>
            <p:cNvPr id="28" name="Group 27">
              <a:extLst>
                <a:ext uri="{FF2B5EF4-FFF2-40B4-BE49-F238E27FC236}">
                  <a16:creationId xmlns:a16="http://schemas.microsoft.com/office/drawing/2014/main" id="{7CDA9D5F-9953-D64E-8E00-1E96C43B0930}"/>
                </a:ext>
              </a:extLst>
            </p:cNvPr>
            <p:cNvGrpSpPr/>
            <p:nvPr/>
          </p:nvGrpSpPr>
          <p:grpSpPr>
            <a:xfrm>
              <a:off x="3273751" y="2628157"/>
              <a:ext cx="1280134" cy="900000"/>
              <a:chOff x="3273751" y="2628157"/>
              <a:chExt cx="1280134" cy="900000"/>
            </a:xfrm>
          </p:grpSpPr>
          <p:sp>
            <p:nvSpPr>
              <p:cNvPr id="35" name="Rectangle 34">
                <a:extLst>
                  <a:ext uri="{FF2B5EF4-FFF2-40B4-BE49-F238E27FC236}">
                    <a16:creationId xmlns:a16="http://schemas.microsoft.com/office/drawing/2014/main" id="{4998C87A-4FE2-2F48-96D7-19D2FE5B13A7}"/>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E7372B9A-C8D7-7E40-8B1F-6907E59E4C86}"/>
                      </a:ext>
                    </a:extLst>
                  </p:cNvPr>
                  <p:cNvSpPr/>
                  <p:nvPr/>
                </p:nvSpPr>
                <p:spPr>
                  <a:xfrm>
                    <a:off x="3289563" y="2809401"/>
                    <a:ext cx="126432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R</m:t>
                          </m:r>
                          <m:r>
                            <a:rPr lang="en-US" sz="2800" i="1">
                              <a:solidFill>
                                <a:schemeClr val="bg1"/>
                              </a:solidFill>
                              <a:latin typeface="Cambria Math" panose="02040503050406030204" pitchFamily="18" charset="0"/>
                            </a:rPr>
                            <m:t>𝑌</m:t>
                          </m:r>
                          <m:d>
                            <m:dPr>
                              <m:ctrlPr>
                                <a:rPr lang="en-US" sz="2800" i="1" smtClean="0">
                                  <a:solidFill>
                                    <a:schemeClr val="bg1"/>
                                  </a:solidFill>
                                  <a:latin typeface="Cambria Math" panose="02040503050406030204" pitchFamily="18" charset="0"/>
                                </a:rPr>
                              </m:ctrlPr>
                            </m:dPr>
                            <m:e>
                              <m:sSub>
                                <m:sSubPr>
                                  <m:ctrlPr>
                                    <a:rPr lang="en-US" sz="2800" i="1" smtClean="0">
                                      <a:solidFill>
                                        <a:schemeClr val="bg1"/>
                                      </a:solidFill>
                                      <a:latin typeface="Cambria Math" panose="02040503050406030204" pitchFamily="18" charset="0"/>
                                    </a:rPr>
                                  </m:ctrlPr>
                                </m:sSubPr>
                                <m:e>
                                  <m:r>
                                    <a:rPr lang="en-US" sz="2800" i="1" smtClean="0">
                                      <a:solidFill>
                                        <a:schemeClr val="bg1"/>
                                      </a:solidFill>
                                      <a:latin typeface="Cambria Math" panose="02040503050406030204" pitchFamily="18" charset="0"/>
                                      <a:ea typeface="Cambria Math" panose="02040503050406030204" pitchFamily="18" charset="0"/>
                                    </a:rPr>
                                    <m:t>𝜃</m:t>
                                  </m:r>
                                </m:e>
                                <m:sub>
                                  <m:r>
                                    <a:rPr lang="en-US" sz="2800" b="0" i="1" smtClean="0">
                                      <a:solidFill>
                                        <a:schemeClr val="bg1"/>
                                      </a:solidFill>
                                      <a:latin typeface="Cambria Math" panose="02040503050406030204" pitchFamily="18" charset="0"/>
                                    </a:rPr>
                                    <m:t>1</m:t>
                                  </m:r>
                                </m:sub>
                              </m:sSub>
                            </m:e>
                          </m:d>
                        </m:oMath>
                      </m:oMathPara>
                    </a14:m>
                    <a:endParaRPr lang="en-US" sz="2800" dirty="0">
                      <a:solidFill>
                        <a:schemeClr val="bg1"/>
                      </a:solidFill>
                    </a:endParaRPr>
                  </a:p>
                </p:txBody>
              </p:sp>
            </mc:Choice>
            <mc:Fallback xmlns="">
              <p:sp>
                <p:nvSpPr>
                  <p:cNvPr id="36" name="Rectangle 35">
                    <a:extLst>
                      <a:ext uri="{FF2B5EF4-FFF2-40B4-BE49-F238E27FC236}">
                        <a16:creationId xmlns:a16="http://schemas.microsoft.com/office/drawing/2014/main" id="{E7372B9A-C8D7-7E40-8B1F-6907E59E4C86}"/>
                      </a:ext>
                    </a:extLst>
                  </p:cNvPr>
                  <p:cNvSpPr>
                    <a:spLocks noRot="1" noChangeAspect="1" noMove="1" noResize="1" noEditPoints="1" noAdjustHandles="1" noChangeArrowheads="1" noChangeShapeType="1" noTextEdit="1"/>
                  </p:cNvSpPr>
                  <p:nvPr/>
                </p:nvSpPr>
                <p:spPr>
                  <a:xfrm>
                    <a:off x="3289563" y="2809401"/>
                    <a:ext cx="1264322" cy="523220"/>
                  </a:xfrm>
                  <a:prstGeom prst="rect">
                    <a:avLst/>
                  </a:prstGeom>
                  <a:blipFill>
                    <a:blip r:embed="rId20"/>
                    <a:stretch>
                      <a:fillRect l="-1980" b="-2381"/>
                    </a:stretch>
                  </a:blipFill>
                </p:spPr>
                <p:txBody>
                  <a:bodyPr/>
                  <a:lstStyle/>
                  <a:p>
                    <a:r>
                      <a:rPr lang="en-US">
                        <a:noFill/>
                      </a:rPr>
                      <a:t> </a:t>
                    </a:r>
                  </a:p>
                </p:txBody>
              </p:sp>
            </mc:Fallback>
          </mc:AlternateContent>
        </p:grpSp>
        <p:grpSp>
          <p:nvGrpSpPr>
            <p:cNvPr id="29" name="Group 28">
              <a:extLst>
                <a:ext uri="{FF2B5EF4-FFF2-40B4-BE49-F238E27FC236}">
                  <a16:creationId xmlns:a16="http://schemas.microsoft.com/office/drawing/2014/main" id="{9FEF7FD9-8B49-1C46-8CC2-21A7D7331F59}"/>
                </a:ext>
              </a:extLst>
            </p:cNvPr>
            <p:cNvGrpSpPr/>
            <p:nvPr/>
          </p:nvGrpSpPr>
          <p:grpSpPr>
            <a:xfrm>
              <a:off x="3266423" y="3940823"/>
              <a:ext cx="1280134" cy="900000"/>
              <a:chOff x="3273751" y="2628157"/>
              <a:chExt cx="1280134" cy="900000"/>
            </a:xfrm>
          </p:grpSpPr>
          <p:sp>
            <p:nvSpPr>
              <p:cNvPr id="33" name="Rectangle 32">
                <a:extLst>
                  <a:ext uri="{FF2B5EF4-FFF2-40B4-BE49-F238E27FC236}">
                    <a16:creationId xmlns:a16="http://schemas.microsoft.com/office/drawing/2014/main" id="{C1DEDDB0-BC83-3B42-8AA2-DE55920CEC4A}"/>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314ABAB9-A4D4-CA45-AAAC-CEE366849281}"/>
                      </a:ext>
                    </a:extLst>
                  </p:cNvPr>
                  <p:cNvSpPr/>
                  <p:nvPr/>
                </p:nvSpPr>
                <p:spPr>
                  <a:xfrm>
                    <a:off x="3289563" y="2809401"/>
                    <a:ext cx="126432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R</m:t>
                          </m:r>
                          <m:r>
                            <a:rPr lang="en-US" sz="2800" i="1">
                              <a:solidFill>
                                <a:schemeClr val="bg1"/>
                              </a:solidFill>
                              <a:latin typeface="Cambria Math" panose="02040503050406030204" pitchFamily="18" charset="0"/>
                            </a:rPr>
                            <m:t>𝑌</m:t>
                          </m:r>
                          <m:d>
                            <m:dPr>
                              <m:ctrlPr>
                                <a:rPr lang="en-US" sz="2800" i="1" smtClean="0">
                                  <a:solidFill>
                                    <a:schemeClr val="bg1"/>
                                  </a:solidFill>
                                  <a:latin typeface="Cambria Math" panose="02040503050406030204" pitchFamily="18" charset="0"/>
                                </a:rPr>
                              </m:ctrlPr>
                            </m:dPr>
                            <m:e>
                              <m:sSub>
                                <m:sSubPr>
                                  <m:ctrlPr>
                                    <a:rPr lang="en-US" sz="2800" i="1" smtClean="0">
                                      <a:solidFill>
                                        <a:schemeClr val="bg1"/>
                                      </a:solidFill>
                                      <a:latin typeface="Cambria Math" panose="02040503050406030204" pitchFamily="18" charset="0"/>
                                    </a:rPr>
                                  </m:ctrlPr>
                                </m:sSubPr>
                                <m:e>
                                  <m:r>
                                    <a:rPr lang="en-US" sz="2800" i="1" smtClean="0">
                                      <a:solidFill>
                                        <a:schemeClr val="bg1"/>
                                      </a:solidFill>
                                      <a:latin typeface="Cambria Math" panose="02040503050406030204" pitchFamily="18" charset="0"/>
                                      <a:ea typeface="Cambria Math" panose="02040503050406030204" pitchFamily="18" charset="0"/>
                                    </a:rPr>
                                    <m:t>𝜃</m:t>
                                  </m:r>
                                </m:e>
                                <m:sub>
                                  <m:r>
                                    <a:rPr lang="en-US" sz="2800" b="0" i="1" smtClean="0">
                                      <a:solidFill>
                                        <a:schemeClr val="bg1"/>
                                      </a:solidFill>
                                      <a:latin typeface="Cambria Math" panose="02040503050406030204" pitchFamily="18" charset="0"/>
                                    </a:rPr>
                                    <m:t>2</m:t>
                                  </m:r>
                                </m:sub>
                              </m:sSub>
                            </m:e>
                          </m:d>
                        </m:oMath>
                      </m:oMathPara>
                    </a14:m>
                    <a:endParaRPr lang="en-US" sz="2800" dirty="0">
                      <a:solidFill>
                        <a:schemeClr val="bg1"/>
                      </a:solidFill>
                    </a:endParaRPr>
                  </a:p>
                </p:txBody>
              </p:sp>
            </mc:Choice>
            <mc:Fallback xmlns="">
              <p:sp>
                <p:nvSpPr>
                  <p:cNvPr id="34" name="Rectangle 33">
                    <a:extLst>
                      <a:ext uri="{FF2B5EF4-FFF2-40B4-BE49-F238E27FC236}">
                        <a16:creationId xmlns:a16="http://schemas.microsoft.com/office/drawing/2014/main" id="{314ABAB9-A4D4-CA45-AAAC-CEE366849281}"/>
                      </a:ext>
                    </a:extLst>
                  </p:cNvPr>
                  <p:cNvSpPr>
                    <a:spLocks noRot="1" noChangeAspect="1" noMove="1" noResize="1" noEditPoints="1" noAdjustHandles="1" noChangeArrowheads="1" noChangeShapeType="1" noTextEdit="1"/>
                  </p:cNvSpPr>
                  <p:nvPr/>
                </p:nvSpPr>
                <p:spPr>
                  <a:xfrm>
                    <a:off x="3289563" y="2809401"/>
                    <a:ext cx="1264322" cy="523220"/>
                  </a:xfrm>
                  <a:prstGeom prst="rect">
                    <a:avLst/>
                  </a:prstGeom>
                  <a:blipFill>
                    <a:blip r:embed="rId21"/>
                    <a:stretch>
                      <a:fillRect l="-2000"/>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149AA530-33C9-E943-BA9B-F609993BC0E4}"/>
                </a:ext>
              </a:extLst>
            </p:cNvPr>
            <p:cNvGrpSpPr/>
            <p:nvPr/>
          </p:nvGrpSpPr>
          <p:grpSpPr>
            <a:xfrm>
              <a:off x="3259095" y="5253489"/>
              <a:ext cx="1280134" cy="900000"/>
              <a:chOff x="3273751" y="2628157"/>
              <a:chExt cx="1280134" cy="900000"/>
            </a:xfrm>
          </p:grpSpPr>
          <p:sp>
            <p:nvSpPr>
              <p:cNvPr id="31" name="Rectangle 30">
                <a:extLst>
                  <a:ext uri="{FF2B5EF4-FFF2-40B4-BE49-F238E27FC236}">
                    <a16:creationId xmlns:a16="http://schemas.microsoft.com/office/drawing/2014/main" id="{157618ED-8AFA-5A44-BCAF-A7DBDB24C0EF}"/>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FF78765B-34F9-4C43-B3B1-6BE71AC89A39}"/>
                      </a:ext>
                    </a:extLst>
                  </p:cNvPr>
                  <p:cNvSpPr/>
                  <p:nvPr/>
                </p:nvSpPr>
                <p:spPr>
                  <a:xfrm>
                    <a:off x="3289563" y="2809401"/>
                    <a:ext cx="1264322" cy="52322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chemeClr val="bg1"/>
                              </a:solidFill>
                              <a:latin typeface="Cambria Math" panose="02040503050406030204" pitchFamily="18" charset="0"/>
                            </a:rPr>
                            <m:t>R</m:t>
                          </m:r>
                          <m:r>
                            <a:rPr lang="en-US" sz="2800" i="1">
                              <a:solidFill>
                                <a:schemeClr val="bg1"/>
                              </a:solidFill>
                              <a:latin typeface="Cambria Math" panose="02040503050406030204" pitchFamily="18" charset="0"/>
                            </a:rPr>
                            <m:t>𝑌</m:t>
                          </m:r>
                          <m:d>
                            <m:dPr>
                              <m:ctrlPr>
                                <a:rPr lang="en-US" sz="2800" i="1" smtClean="0">
                                  <a:solidFill>
                                    <a:schemeClr val="bg1"/>
                                  </a:solidFill>
                                  <a:latin typeface="Cambria Math" panose="02040503050406030204" pitchFamily="18" charset="0"/>
                                </a:rPr>
                              </m:ctrlPr>
                            </m:dPr>
                            <m:e>
                              <m:sSub>
                                <m:sSubPr>
                                  <m:ctrlPr>
                                    <a:rPr lang="en-US" sz="2800" i="1" smtClean="0">
                                      <a:solidFill>
                                        <a:schemeClr val="bg1"/>
                                      </a:solidFill>
                                      <a:latin typeface="Cambria Math" panose="02040503050406030204" pitchFamily="18" charset="0"/>
                                    </a:rPr>
                                  </m:ctrlPr>
                                </m:sSubPr>
                                <m:e>
                                  <m:r>
                                    <a:rPr lang="en-US" sz="2800" i="1" smtClean="0">
                                      <a:solidFill>
                                        <a:schemeClr val="bg1"/>
                                      </a:solidFill>
                                      <a:latin typeface="Cambria Math" panose="02040503050406030204" pitchFamily="18" charset="0"/>
                                      <a:ea typeface="Cambria Math" panose="02040503050406030204" pitchFamily="18" charset="0"/>
                                    </a:rPr>
                                    <m:t>𝜃</m:t>
                                  </m:r>
                                </m:e>
                                <m:sub>
                                  <m:r>
                                    <a:rPr lang="en-US" sz="2800" b="0" i="1" smtClean="0">
                                      <a:solidFill>
                                        <a:schemeClr val="bg1"/>
                                      </a:solidFill>
                                      <a:latin typeface="Cambria Math" panose="02040503050406030204" pitchFamily="18" charset="0"/>
                                    </a:rPr>
                                    <m:t>3</m:t>
                                  </m:r>
                                </m:sub>
                              </m:sSub>
                            </m:e>
                          </m:d>
                        </m:oMath>
                      </m:oMathPara>
                    </a14:m>
                    <a:endParaRPr lang="en-US" sz="2800" dirty="0">
                      <a:solidFill>
                        <a:schemeClr val="bg1"/>
                      </a:solidFill>
                    </a:endParaRPr>
                  </a:p>
                </p:txBody>
              </p:sp>
            </mc:Choice>
            <mc:Fallback xmlns="">
              <p:sp>
                <p:nvSpPr>
                  <p:cNvPr id="32" name="Rectangle 31">
                    <a:extLst>
                      <a:ext uri="{FF2B5EF4-FFF2-40B4-BE49-F238E27FC236}">
                        <a16:creationId xmlns:a16="http://schemas.microsoft.com/office/drawing/2014/main" id="{FF78765B-34F9-4C43-B3B1-6BE71AC89A39}"/>
                      </a:ext>
                    </a:extLst>
                  </p:cNvPr>
                  <p:cNvSpPr>
                    <a:spLocks noRot="1" noChangeAspect="1" noMove="1" noResize="1" noEditPoints="1" noAdjustHandles="1" noChangeArrowheads="1" noChangeShapeType="1" noTextEdit="1"/>
                  </p:cNvSpPr>
                  <p:nvPr/>
                </p:nvSpPr>
                <p:spPr>
                  <a:xfrm>
                    <a:off x="3289563" y="2809401"/>
                    <a:ext cx="1264322" cy="523220"/>
                  </a:xfrm>
                  <a:prstGeom prst="rect">
                    <a:avLst/>
                  </a:prstGeom>
                  <a:blipFill>
                    <a:blip r:embed="rId22"/>
                    <a:stretch>
                      <a:fillRect l="-2000"/>
                    </a:stretch>
                  </a:blipFill>
                </p:spPr>
                <p:txBody>
                  <a:bodyPr/>
                  <a:lstStyle/>
                  <a:p>
                    <a:r>
                      <a:rPr lang="en-US">
                        <a:noFill/>
                      </a:rPr>
                      <a:t> </a:t>
                    </a:r>
                  </a:p>
                </p:txBody>
              </p:sp>
            </mc:Fallback>
          </mc:AlternateContent>
        </p:grpSp>
      </p:grpSp>
      <p:grpSp>
        <p:nvGrpSpPr>
          <p:cNvPr id="37" name="Group 36">
            <a:extLst>
              <a:ext uri="{FF2B5EF4-FFF2-40B4-BE49-F238E27FC236}">
                <a16:creationId xmlns:a16="http://schemas.microsoft.com/office/drawing/2014/main" id="{9263074C-8243-3B46-AF10-D56030436BDE}"/>
              </a:ext>
            </a:extLst>
          </p:cNvPr>
          <p:cNvGrpSpPr/>
          <p:nvPr/>
        </p:nvGrpSpPr>
        <p:grpSpPr>
          <a:xfrm>
            <a:off x="4897732" y="2247534"/>
            <a:ext cx="1510521" cy="2952153"/>
            <a:chOff x="5156280" y="2889058"/>
            <a:chExt cx="1510521" cy="2952153"/>
          </a:xfrm>
        </p:grpSpPr>
        <p:grpSp>
          <p:nvGrpSpPr>
            <p:cNvPr id="38" name="Group 37">
              <a:extLst>
                <a:ext uri="{FF2B5EF4-FFF2-40B4-BE49-F238E27FC236}">
                  <a16:creationId xmlns:a16="http://schemas.microsoft.com/office/drawing/2014/main" id="{C12E88AD-48AE-6E4E-8E9A-E3A5086796E4}"/>
                </a:ext>
              </a:extLst>
            </p:cNvPr>
            <p:cNvGrpSpPr/>
            <p:nvPr/>
          </p:nvGrpSpPr>
          <p:grpSpPr>
            <a:xfrm>
              <a:off x="5156280" y="3032722"/>
              <a:ext cx="1510521" cy="2808489"/>
              <a:chOff x="5156280" y="3185119"/>
              <a:chExt cx="1510521" cy="2808489"/>
            </a:xfrm>
          </p:grpSpPr>
          <p:grpSp>
            <p:nvGrpSpPr>
              <p:cNvPr id="41" name="Group 40">
                <a:extLst>
                  <a:ext uri="{FF2B5EF4-FFF2-40B4-BE49-F238E27FC236}">
                    <a16:creationId xmlns:a16="http://schemas.microsoft.com/office/drawing/2014/main" id="{E86D4987-0D9B-124F-BED5-82F4FE10106C}"/>
                  </a:ext>
                </a:extLst>
              </p:cNvPr>
              <p:cNvGrpSpPr/>
              <p:nvPr/>
            </p:nvGrpSpPr>
            <p:grpSpPr>
              <a:xfrm>
                <a:off x="5156280" y="3185119"/>
                <a:ext cx="720000" cy="1584640"/>
                <a:chOff x="4889101" y="3147408"/>
                <a:chExt cx="720000" cy="1584640"/>
              </a:xfrm>
            </p:grpSpPr>
            <p:cxnSp>
              <p:nvCxnSpPr>
                <p:cNvPr id="45" name="Straight Connector 44">
                  <a:extLst>
                    <a:ext uri="{FF2B5EF4-FFF2-40B4-BE49-F238E27FC236}">
                      <a16:creationId xmlns:a16="http://schemas.microsoft.com/office/drawing/2014/main" id="{98213424-C03D-A44E-A9C0-64A9DEA395C2}"/>
                    </a:ext>
                  </a:extLst>
                </p:cNvPr>
                <p:cNvCxnSpPr>
                  <a:cxnSpLocks/>
                </p:cNvCxnSpPr>
                <p:nvPr/>
              </p:nvCxnSpPr>
              <p:spPr>
                <a:xfrm flipV="1">
                  <a:off x="5249101" y="3147408"/>
                  <a:ext cx="0" cy="89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7B2C3975-F3F8-764A-AA58-B660A0EA495A}"/>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42" name="Group 41">
                <a:extLst>
                  <a:ext uri="{FF2B5EF4-FFF2-40B4-BE49-F238E27FC236}">
                    <a16:creationId xmlns:a16="http://schemas.microsoft.com/office/drawing/2014/main" id="{8D698334-6E4D-9840-B7E4-085F80E62965}"/>
                  </a:ext>
                </a:extLst>
              </p:cNvPr>
              <p:cNvGrpSpPr/>
              <p:nvPr/>
            </p:nvGrpSpPr>
            <p:grpSpPr>
              <a:xfrm>
                <a:off x="5946801" y="4429630"/>
                <a:ext cx="720000" cy="1563978"/>
                <a:chOff x="4889101" y="3168070"/>
                <a:chExt cx="720000" cy="1563978"/>
              </a:xfrm>
            </p:grpSpPr>
            <p:cxnSp>
              <p:nvCxnSpPr>
                <p:cNvPr id="43" name="Straight Connector 42">
                  <a:extLst>
                    <a:ext uri="{FF2B5EF4-FFF2-40B4-BE49-F238E27FC236}">
                      <a16:creationId xmlns:a16="http://schemas.microsoft.com/office/drawing/2014/main" id="{B324990C-7373-5843-A360-AAE9DBEA1E01}"/>
                    </a:ext>
                  </a:extLst>
                </p:cNvPr>
                <p:cNvCxnSpPr>
                  <a:cxnSpLocks/>
                </p:cNvCxnSpPr>
                <p:nvPr/>
              </p:nvCxnSpPr>
              <p:spPr>
                <a:xfrm flipV="1">
                  <a:off x="5249101" y="3168070"/>
                  <a:ext cx="0" cy="878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4E33219-8AD8-064A-85A5-644B6599296A}"/>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sp>
          <p:nvSpPr>
            <p:cNvPr id="39" name="Oval 38">
              <a:extLst>
                <a:ext uri="{FF2B5EF4-FFF2-40B4-BE49-F238E27FC236}">
                  <a16:creationId xmlns:a16="http://schemas.microsoft.com/office/drawing/2014/main" id="{50B7A1C6-4C15-B444-B318-30EB3E65B359}"/>
                </a:ext>
              </a:extLst>
            </p:cNvPr>
            <p:cNvSpPr/>
            <p:nvPr/>
          </p:nvSpPr>
          <p:spPr>
            <a:xfrm>
              <a:off x="5390280" y="2889058"/>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40" name="Oval 39">
              <a:extLst>
                <a:ext uri="{FF2B5EF4-FFF2-40B4-BE49-F238E27FC236}">
                  <a16:creationId xmlns:a16="http://schemas.microsoft.com/office/drawing/2014/main" id="{4634E381-D6F4-DD49-97E4-6653D52D4F89}"/>
                </a:ext>
              </a:extLst>
            </p:cNvPr>
            <p:cNvSpPr/>
            <p:nvPr/>
          </p:nvSpPr>
          <p:spPr>
            <a:xfrm>
              <a:off x="6180801" y="4130925"/>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grpSp>
      <p:sp>
        <p:nvSpPr>
          <p:cNvPr id="73" name="Right Brace 72">
            <a:extLst>
              <a:ext uri="{FF2B5EF4-FFF2-40B4-BE49-F238E27FC236}">
                <a16:creationId xmlns:a16="http://schemas.microsoft.com/office/drawing/2014/main" id="{F8E54A42-4F70-EB42-94B7-7249EF239E27}"/>
              </a:ext>
            </a:extLst>
          </p:cNvPr>
          <p:cNvSpPr/>
          <p:nvPr/>
        </p:nvSpPr>
        <p:spPr>
          <a:xfrm>
            <a:off x="8749917" y="2247534"/>
            <a:ext cx="575416" cy="2495178"/>
          </a:xfrm>
          <a:prstGeom prst="rightBrace">
            <a:avLst>
              <a:gd name="adj1" fmla="val 4733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768AF637-74DA-D34F-943F-6ACDC643B7D5}"/>
                  </a:ext>
                </a:extLst>
              </p:cNvPr>
              <p:cNvSpPr/>
              <p:nvPr/>
            </p:nvSpPr>
            <p:spPr>
              <a:xfrm>
                <a:off x="662593" y="1693777"/>
                <a:ext cx="146168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𝑥</m:t>
                          </m:r>
                        </m:e>
                        <m:sub>
                          <m:r>
                            <a:rPr lang="en-US" sz="2800" i="1">
                              <a:solidFill>
                                <a:schemeClr val="tx1"/>
                              </a:solidFill>
                              <a:latin typeface="Cambria Math" panose="02040503050406030204" pitchFamily="18" charset="0"/>
                              <a:ea typeface="Cambria Math" panose="02040503050406030204" pitchFamily="18" charset="0"/>
                            </a:rPr>
                            <m:t>1</m:t>
                          </m:r>
                        </m:sub>
                      </m:sSub>
                      <m:r>
                        <a:rPr lang="en-US" sz="2800" i="1" smtClean="0">
                          <a:solidFill>
                            <a:schemeClr val="tx1"/>
                          </a:solidFill>
                          <a:latin typeface="Cambria Math" panose="02040503050406030204" pitchFamily="18" charset="0"/>
                          <a:ea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𝜃</m:t>
                          </m:r>
                        </m:e>
                        <m:sub>
                          <m:r>
                            <a:rPr lang="en-US" sz="280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78" name="Rectangle 77">
                <a:extLst>
                  <a:ext uri="{FF2B5EF4-FFF2-40B4-BE49-F238E27FC236}">
                    <a16:creationId xmlns:a16="http://schemas.microsoft.com/office/drawing/2014/main" id="{768AF637-74DA-D34F-943F-6ACDC643B7D5}"/>
                  </a:ext>
                </a:extLst>
              </p:cNvPr>
              <p:cNvSpPr>
                <a:spLocks noRot="1" noChangeAspect="1" noMove="1" noResize="1" noEditPoints="1" noAdjustHandles="1" noChangeArrowheads="1" noChangeShapeType="1" noTextEdit="1"/>
              </p:cNvSpPr>
              <p:nvPr/>
            </p:nvSpPr>
            <p:spPr>
              <a:xfrm>
                <a:off x="662593" y="1693777"/>
                <a:ext cx="1461682" cy="523220"/>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D8B652A3-B8B7-104E-9CC2-A694A13D9AEE}"/>
                  </a:ext>
                </a:extLst>
              </p:cNvPr>
              <p:cNvSpPr txBox="1"/>
              <p:nvPr/>
            </p:nvSpPr>
            <p:spPr>
              <a:xfrm>
                <a:off x="9446415" y="3290100"/>
                <a:ext cx="1098442"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𝑓</m:t>
                      </m:r>
                      <m:r>
                        <a:rPr lang="en-US" sz="3200" b="0" i="1" smtClean="0">
                          <a:latin typeface="Cambria Math" panose="02040503050406030204" pitchFamily="18" charset="0"/>
                        </a:rPr>
                        <m:t>(</m:t>
                      </m:r>
                      <m:r>
                        <a:rPr lang="el-GR" sz="3200" b="0" i="1" smtClean="0">
                          <a:latin typeface="Cambria Math" panose="02040503050406030204" pitchFamily="18" charset="0"/>
                          <a:ea typeface="Cambria Math" panose="02040503050406030204" pitchFamily="18" charset="0"/>
                        </a:rPr>
                        <m:t>𝜃</m:t>
                      </m:r>
                      <m:r>
                        <a:rPr lang="en-US" sz="3200" b="0" i="0" smtClean="0">
                          <a:latin typeface="Cambria Math" panose="02040503050406030204" pitchFamily="18" charset="0"/>
                        </a:rPr>
                        <m:t>)</m:t>
                      </m:r>
                    </m:oMath>
                  </m:oMathPara>
                </a14:m>
                <a:endParaRPr lang="en-US" sz="3200" dirty="0">
                  <a:solidFill>
                    <a:schemeClr val="tx1"/>
                  </a:solidFill>
                </a:endParaRPr>
              </a:p>
            </p:txBody>
          </p:sp>
        </mc:Choice>
        <mc:Fallback xmlns="">
          <p:sp>
            <p:nvSpPr>
              <p:cNvPr id="80" name="TextBox 79">
                <a:extLst>
                  <a:ext uri="{FF2B5EF4-FFF2-40B4-BE49-F238E27FC236}">
                    <a16:creationId xmlns:a16="http://schemas.microsoft.com/office/drawing/2014/main" id="{D8B652A3-B8B7-104E-9CC2-A694A13D9AEE}"/>
                  </a:ext>
                </a:extLst>
              </p:cNvPr>
              <p:cNvSpPr txBox="1">
                <a:spLocks noRot="1" noChangeAspect="1" noMove="1" noResize="1" noEditPoints="1" noAdjustHandles="1" noChangeArrowheads="1" noChangeShapeType="1" noTextEdit="1"/>
              </p:cNvSpPr>
              <p:nvPr/>
            </p:nvSpPr>
            <p:spPr>
              <a:xfrm>
                <a:off x="9446415" y="3290100"/>
                <a:ext cx="1098442" cy="584775"/>
              </a:xfrm>
              <a:prstGeom prst="rect">
                <a:avLst/>
              </a:prstGeom>
              <a:blipFill>
                <a:blip r:embed="rId24"/>
                <a:stretch>
                  <a:fillRect l="-4651" r="-4651" b="-19149"/>
                </a:stretch>
              </a:blipFill>
            </p:spPr>
            <p:txBody>
              <a:bodyPr/>
              <a:lstStyle/>
              <a:p>
                <a:r>
                  <a:rPr lang="en-US">
                    <a:noFill/>
                  </a:rPr>
                  <a:t> </a:t>
                </a:r>
              </a:p>
            </p:txBody>
          </p:sp>
        </mc:Fallback>
      </mc:AlternateContent>
      <p:sp>
        <p:nvSpPr>
          <p:cNvPr id="83" name="Arc 82">
            <a:extLst>
              <a:ext uri="{FF2B5EF4-FFF2-40B4-BE49-F238E27FC236}">
                <a16:creationId xmlns:a16="http://schemas.microsoft.com/office/drawing/2014/main" id="{E0176CAF-D715-B54E-9516-6378F14634A9}"/>
              </a:ext>
            </a:extLst>
          </p:cNvPr>
          <p:cNvSpPr/>
          <p:nvPr/>
        </p:nvSpPr>
        <p:spPr>
          <a:xfrm rot="4984262">
            <a:off x="5335381" y="1176711"/>
            <a:ext cx="2486527" cy="7565992"/>
          </a:xfrm>
          <a:prstGeom prst="arc">
            <a:avLst>
              <a:gd name="adj1" fmla="val 16465844"/>
              <a:gd name="adj2" fmla="val 5116104"/>
            </a:avLst>
          </a:prstGeom>
          <a:ln w="38100" cap="rnd">
            <a:solidFill>
              <a:schemeClr val="accent6">
                <a:lumMod val="75000"/>
              </a:schemeClr>
            </a:solidFill>
            <a:tailEnd type="arrow"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7DAFF174-AB5B-8541-A70A-F1D58D7AC5FF}"/>
                  </a:ext>
                </a:extLst>
              </p:cNvPr>
              <p:cNvSpPr/>
              <p:nvPr/>
            </p:nvSpPr>
            <p:spPr>
              <a:xfrm>
                <a:off x="646050" y="2971428"/>
                <a:ext cx="147822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𝑥</m:t>
                          </m:r>
                        </m:e>
                        <m:sub>
                          <m:r>
                            <a:rPr lang="en-US" sz="2800" b="0" i="1" smtClean="0">
                              <a:solidFill>
                                <a:schemeClr val="tx1"/>
                              </a:solidFill>
                              <a:latin typeface="Cambria Math" panose="02040503050406030204" pitchFamily="18" charset="0"/>
                            </a:rPr>
                            <m:t>2</m:t>
                          </m:r>
                        </m:sub>
                      </m:sSub>
                      <m:r>
                        <a:rPr lang="en-US" sz="2800" i="1" smtClean="0">
                          <a:solidFill>
                            <a:schemeClr val="tx1"/>
                          </a:solidFill>
                          <a:latin typeface="Cambria Math" panose="02040503050406030204" pitchFamily="18" charset="0"/>
                          <a:ea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𝜃</m:t>
                          </m:r>
                        </m:e>
                        <m:sub>
                          <m:r>
                            <a:rPr lang="en-US" sz="2800" b="0" i="1" smtClean="0">
                              <a:solidFill>
                                <a:schemeClr val="tx1"/>
                              </a:solidFill>
                              <a:latin typeface="Cambria Math" panose="02040503050406030204" pitchFamily="18" charset="0"/>
                              <a:ea typeface="Cambria Math" panose="02040503050406030204" pitchFamily="18" charset="0"/>
                            </a:rPr>
                            <m:t>2</m:t>
                          </m:r>
                        </m:sub>
                      </m:sSub>
                    </m:oMath>
                  </m:oMathPara>
                </a14:m>
                <a:endParaRPr lang="en-US" sz="2800" dirty="0">
                  <a:solidFill>
                    <a:schemeClr val="tx1"/>
                  </a:solidFill>
                </a:endParaRPr>
              </a:p>
            </p:txBody>
          </p:sp>
        </mc:Choice>
        <mc:Fallback xmlns="">
          <p:sp>
            <p:nvSpPr>
              <p:cNvPr id="48" name="Rectangle 47">
                <a:extLst>
                  <a:ext uri="{FF2B5EF4-FFF2-40B4-BE49-F238E27FC236}">
                    <a16:creationId xmlns:a16="http://schemas.microsoft.com/office/drawing/2014/main" id="{7DAFF174-AB5B-8541-A70A-F1D58D7AC5FF}"/>
                  </a:ext>
                </a:extLst>
              </p:cNvPr>
              <p:cNvSpPr>
                <a:spLocks noRot="1" noChangeAspect="1" noMove="1" noResize="1" noEditPoints="1" noAdjustHandles="1" noChangeArrowheads="1" noChangeShapeType="1" noTextEdit="1"/>
              </p:cNvSpPr>
              <p:nvPr/>
            </p:nvSpPr>
            <p:spPr>
              <a:xfrm>
                <a:off x="646050" y="2971428"/>
                <a:ext cx="1478225" cy="523220"/>
              </a:xfrm>
              <a:prstGeom prst="rect">
                <a:avLst/>
              </a:prstGeom>
              <a:blipFill>
                <a:blip r:embed="rId25"/>
                <a:stretch>
                  <a:fillRect b="-23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AE3EEEAB-5DE3-9A49-88D5-BFD41B7D7FED}"/>
                  </a:ext>
                </a:extLst>
              </p:cNvPr>
              <p:cNvSpPr/>
              <p:nvPr/>
            </p:nvSpPr>
            <p:spPr>
              <a:xfrm>
                <a:off x="652453" y="4284945"/>
                <a:ext cx="147822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𝑥</m:t>
                          </m:r>
                        </m:e>
                        <m:sub>
                          <m:r>
                            <a:rPr lang="en-US" sz="2800" b="0" i="1" smtClean="0">
                              <a:solidFill>
                                <a:schemeClr val="tx1"/>
                              </a:solidFill>
                              <a:latin typeface="Cambria Math" panose="02040503050406030204" pitchFamily="18" charset="0"/>
                            </a:rPr>
                            <m:t>3</m:t>
                          </m:r>
                        </m:sub>
                      </m:sSub>
                      <m:r>
                        <a:rPr lang="en-US" sz="2800" i="1" smtClean="0">
                          <a:solidFill>
                            <a:schemeClr val="tx1"/>
                          </a:solidFill>
                          <a:latin typeface="Cambria Math" panose="02040503050406030204" pitchFamily="18" charset="0"/>
                          <a:ea typeface="Cambria Math" panose="02040503050406030204" pitchFamily="18" charset="0"/>
                        </a:rPr>
                        <m:t>→</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ea typeface="Cambria Math" panose="02040503050406030204" pitchFamily="18" charset="0"/>
                            </a:rPr>
                            <m:t>𝜃</m:t>
                          </m:r>
                        </m:e>
                        <m:sub>
                          <m:r>
                            <a:rPr lang="en-US" sz="2800" b="0" i="1" smtClean="0">
                              <a:solidFill>
                                <a:schemeClr val="tx1"/>
                              </a:solidFill>
                              <a:latin typeface="Cambria Math" panose="02040503050406030204" pitchFamily="18" charset="0"/>
                              <a:ea typeface="Cambria Math" panose="02040503050406030204" pitchFamily="18" charset="0"/>
                            </a:rPr>
                            <m:t>3</m:t>
                          </m:r>
                        </m:sub>
                      </m:sSub>
                    </m:oMath>
                  </m:oMathPara>
                </a14:m>
                <a:endParaRPr lang="en-US" sz="2800" dirty="0">
                  <a:solidFill>
                    <a:schemeClr val="tx1"/>
                  </a:solidFill>
                </a:endParaRPr>
              </a:p>
            </p:txBody>
          </p:sp>
        </mc:Choice>
        <mc:Fallback xmlns="">
          <p:sp>
            <p:nvSpPr>
              <p:cNvPr id="49" name="Rectangle 48">
                <a:extLst>
                  <a:ext uri="{FF2B5EF4-FFF2-40B4-BE49-F238E27FC236}">
                    <a16:creationId xmlns:a16="http://schemas.microsoft.com/office/drawing/2014/main" id="{AE3EEEAB-5DE3-9A49-88D5-BFD41B7D7FED}"/>
                  </a:ext>
                </a:extLst>
              </p:cNvPr>
              <p:cNvSpPr>
                <a:spLocks noRot="1" noChangeAspect="1" noMove="1" noResize="1" noEditPoints="1" noAdjustHandles="1" noChangeArrowheads="1" noChangeShapeType="1" noTextEdit="1"/>
              </p:cNvSpPr>
              <p:nvPr/>
            </p:nvSpPr>
            <p:spPr>
              <a:xfrm>
                <a:off x="652453" y="4284945"/>
                <a:ext cx="1478225" cy="523220"/>
              </a:xfrm>
              <a:prstGeom prst="rect">
                <a:avLst/>
              </a:prstGeom>
              <a:blipFill>
                <a:blip r:embed="rId26"/>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F2773F82-0C37-2147-B48F-677E0E5BD6D7}"/>
              </a:ext>
            </a:extLst>
          </p:cNvPr>
          <p:cNvCxnSpPr>
            <a:cxnSpLocks/>
          </p:cNvCxnSpPr>
          <p:nvPr/>
        </p:nvCxnSpPr>
        <p:spPr>
          <a:xfrm flipH="1">
            <a:off x="4091385" y="1815546"/>
            <a:ext cx="18325" cy="3875942"/>
          </a:xfrm>
          <a:prstGeom prst="line">
            <a:avLst/>
          </a:prstGeom>
          <a:ln w="254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E51959D3-A480-6545-9C6B-2C8A8A53C112}"/>
              </a:ext>
            </a:extLst>
          </p:cNvPr>
          <p:cNvSpPr txBox="1"/>
          <p:nvPr/>
        </p:nvSpPr>
        <p:spPr>
          <a:xfrm>
            <a:off x="1233518" y="1190507"/>
            <a:ext cx="1726627" cy="430887"/>
          </a:xfrm>
          <a:prstGeom prst="rect">
            <a:avLst/>
          </a:prstGeom>
          <a:noFill/>
        </p:spPr>
        <p:txBody>
          <a:bodyPr wrap="none" rtlCol="0">
            <a:spAutoFit/>
          </a:bodyPr>
          <a:lstStyle/>
          <a:p>
            <a:r>
              <a:rPr lang="en-ZA" sz="2200" dirty="0"/>
              <a:t>rotation layer</a:t>
            </a:r>
            <a:endParaRPr lang="en-US" sz="2200" dirty="0"/>
          </a:p>
        </p:txBody>
      </p:sp>
      <p:sp>
        <p:nvSpPr>
          <p:cNvPr id="51" name="Rectangle 50">
            <a:extLst>
              <a:ext uri="{FF2B5EF4-FFF2-40B4-BE49-F238E27FC236}">
                <a16:creationId xmlns:a16="http://schemas.microsoft.com/office/drawing/2014/main" id="{E6929A24-1C35-1A4D-B370-C34FE6123F37}"/>
              </a:ext>
            </a:extLst>
          </p:cNvPr>
          <p:cNvSpPr/>
          <p:nvPr/>
        </p:nvSpPr>
        <p:spPr>
          <a:xfrm>
            <a:off x="4642627" y="1233809"/>
            <a:ext cx="2006896" cy="430887"/>
          </a:xfrm>
          <a:prstGeom prst="rect">
            <a:avLst/>
          </a:prstGeom>
        </p:spPr>
        <p:txBody>
          <a:bodyPr wrap="none">
            <a:spAutoFit/>
          </a:bodyPr>
          <a:lstStyle/>
          <a:p>
            <a:r>
              <a:rPr lang="en-ZA" sz="2200" dirty="0"/>
              <a:t>entangling layer</a:t>
            </a:r>
            <a:endParaRPr lang="en-US" sz="2200" dirty="0"/>
          </a:p>
        </p:txBody>
      </p:sp>
      <p:cxnSp>
        <p:nvCxnSpPr>
          <p:cNvPr id="57" name="Straight Connector 56">
            <a:extLst>
              <a:ext uri="{FF2B5EF4-FFF2-40B4-BE49-F238E27FC236}">
                <a16:creationId xmlns:a16="http://schemas.microsoft.com/office/drawing/2014/main" id="{C98570F2-990A-A24E-A9BD-65A31026CB8C}"/>
              </a:ext>
            </a:extLst>
          </p:cNvPr>
          <p:cNvCxnSpPr>
            <a:cxnSpLocks/>
          </p:cNvCxnSpPr>
          <p:nvPr/>
        </p:nvCxnSpPr>
        <p:spPr>
          <a:xfrm>
            <a:off x="7580400" y="2345027"/>
            <a:ext cx="1031872"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A07D9C8-A623-9048-B16C-7349821B1103}"/>
              </a:ext>
            </a:extLst>
          </p:cNvPr>
          <p:cNvCxnSpPr>
            <a:cxnSpLocks/>
          </p:cNvCxnSpPr>
          <p:nvPr/>
        </p:nvCxnSpPr>
        <p:spPr>
          <a:xfrm>
            <a:off x="7605646" y="3623710"/>
            <a:ext cx="1031872"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2BC410E-875D-2B49-B219-28A80E599374}"/>
              </a:ext>
            </a:extLst>
          </p:cNvPr>
          <p:cNvCxnSpPr>
            <a:cxnSpLocks/>
          </p:cNvCxnSpPr>
          <p:nvPr/>
        </p:nvCxnSpPr>
        <p:spPr>
          <a:xfrm>
            <a:off x="7605646" y="4839687"/>
            <a:ext cx="1031872"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321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ZA" dirty="0"/>
              <a:t>IBM’s Real Amplitudes Model</a:t>
            </a:r>
            <a:endParaRPr lang="en-US" dirty="0"/>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16</a:t>
            </a:fld>
            <a:endParaRPr lang="en-US"/>
          </a:p>
        </p:txBody>
      </p:sp>
      <p:grpSp>
        <p:nvGrpSpPr>
          <p:cNvPr id="153" name="Group 152">
            <a:extLst>
              <a:ext uri="{FF2B5EF4-FFF2-40B4-BE49-F238E27FC236}">
                <a16:creationId xmlns:a16="http://schemas.microsoft.com/office/drawing/2014/main" id="{4AC32B42-09F4-0640-B807-AE6D1F455887}"/>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154" name="Rectangle 153">
                  <a:extLst>
                    <a:ext uri="{FF2B5EF4-FFF2-40B4-BE49-F238E27FC236}">
                      <a16:creationId xmlns:a16="http://schemas.microsoft.com/office/drawing/2014/main" id="{11ADD2D3-D169-3943-BB3C-CD31935F9AE0}"/>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4" name="Rectangle 153">
                  <a:extLst>
                    <a:ext uri="{FF2B5EF4-FFF2-40B4-BE49-F238E27FC236}">
                      <a16:creationId xmlns:a16="http://schemas.microsoft.com/office/drawing/2014/main" id="{11ADD2D3-D169-3943-BB3C-CD31935F9AE0}"/>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3"/>
                  <a:stretch>
                    <a:fillRect/>
                  </a:stretch>
                </a:blipFill>
              </p:spPr>
              <p:txBody>
                <a:bodyPr/>
                <a:lstStyle/>
                <a:p>
                  <a:r>
                    <a:rPr lang="en-US">
                      <a:noFill/>
                    </a:rPr>
                    <a:t> </a:t>
                  </a:r>
                </a:p>
              </p:txBody>
            </p:sp>
          </mc:Fallback>
        </mc:AlternateContent>
        <p:cxnSp>
          <p:nvCxnSpPr>
            <p:cNvPr id="155" name="Straight Connector 154">
              <a:extLst>
                <a:ext uri="{FF2B5EF4-FFF2-40B4-BE49-F238E27FC236}">
                  <a16:creationId xmlns:a16="http://schemas.microsoft.com/office/drawing/2014/main" id="{1A9E6B03-4A21-6A41-8117-C2AEF6A73569}"/>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A6E5D77F-FF6B-B547-8041-ADA3059ADF8B}"/>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Rectangle 156">
                  <a:extLst>
                    <a:ext uri="{FF2B5EF4-FFF2-40B4-BE49-F238E27FC236}">
                      <a16:creationId xmlns:a16="http://schemas.microsoft.com/office/drawing/2014/main" id="{73F24AF4-D0E6-7040-A0A9-D7A982CB0CF3}"/>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7" name="Rectangle 156">
                  <a:extLst>
                    <a:ext uri="{FF2B5EF4-FFF2-40B4-BE49-F238E27FC236}">
                      <a16:creationId xmlns:a16="http://schemas.microsoft.com/office/drawing/2014/main" id="{73F24AF4-D0E6-7040-A0A9-D7A982CB0CF3}"/>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4"/>
                  <a:stretch>
                    <a:fillRect/>
                  </a:stretch>
                </a:blipFill>
              </p:spPr>
              <p:txBody>
                <a:bodyPr/>
                <a:lstStyle/>
                <a:p>
                  <a:r>
                    <a:rPr lang="en-US">
                      <a:noFill/>
                    </a:rPr>
                    <a:t> </a:t>
                  </a:r>
                </a:p>
              </p:txBody>
            </p:sp>
          </mc:Fallback>
        </mc:AlternateContent>
        <p:sp>
          <p:nvSpPr>
            <p:cNvPr id="158" name="Rectangle 157">
              <a:extLst>
                <a:ext uri="{FF2B5EF4-FFF2-40B4-BE49-F238E27FC236}">
                  <a16:creationId xmlns:a16="http://schemas.microsoft.com/office/drawing/2014/main" id="{2ED39EAA-F1AB-804B-86DB-335D2A4FE495}"/>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9" name="Rectangle 158">
                  <a:extLst>
                    <a:ext uri="{FF2B5EF4-FFF2-40B4-BE49-F238E27FC236}">
                      <a16:creationId xmlns:a16="http://schemas.microsoft.com/office/drawing/2014/main" id="{EDC41B11-34E1-E34C-92E8-07927830789C}"/>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159" name="Rectangle 158">
                  <a:extLst>
                    <a:ext uri="{FF2B5EF4-FFF2-40B4-BE49-F238E27FC236}">
                      <a16:creationId xmlns:a16="http://schemas.microsoft.com/office/drawing/2014/main" id="{EDC41B11-34E1-E34C-92E8-07927830789C}"/>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5"/>
                  <a:stretch>
                    <a:fillRect b="-14815"/>
                  </a:stretch>
                </a:blipFill>
              </p:spPr>
              <p:txBody>
                <a:bodyPr/>
                <a:lstStyle/>
                <a:p>
                  <a:r>
                    <a:rPr lang="en-US">
                      <a:noFill/>
                    </a:rPr>
                    <a:t> </a:t>
                  </a:r>
                </a:p>
              </p:txBody>
            </p:sp>
          </mc:Fallback>
        </mc:AlternateContent>
        <p:sp>
          <p:nvSpPr>
            <p:cNvPr id="160" name="Rectangle 159">
              <a:extLst>
                <a:ext uri="{FF2B5EF4-FFF2-40B4-BE49-F238E27FC236}">
                  <a16:creationId xmlns:a16="http://schemas.microsoft.com/office/drawing/2014/main" id="{506AA609-4B15-9740-A894-515823BBF48C}"/>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1" name="Rectangle 160">
                  <a:extLst>
                    <a:ext uri="{FF2B5EF4-FFF2-40B4-BE49-F238E27FC236}">
                      <a16:creationId xmlns:a16="http://schemas.microsoft.com/office/drawing/2014/main" id="{DCA4F7B0-C192-B04A-9752-7F69EDE82F4B}"/>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161" name="Rectangle 160">
                  <a:extLst>
                    <a:ext uri="{FF2B5EF4-FFF2-40B4-BE49-F238E27FC236}">
                      <a16:creationId xmlns:a16="http://schemas.microsoft.com/office/drawing/2014/main" id="{DCA4F7B0-C192-B04A-9752-7F69EDE82F4B}"/>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6"/>
                  <a:stretch>
                    <a:fillRect/>
                  </a:stretch>
                </a:blipFill>
              </p:spPr>
              <p:txBody>
                <a:bodyPr/>
                <a:lstStyle/>
                <a:p>
                  <a:r>
                    <a:rPr lang="en-US">
                      <a:noFill/>
                    </a:rPr>
                    <a:t> </a:t>
                  </a:r>
                </a:p>
              </p:txBody>
            </p:sp>
          </mc:Fallback>
        </mc:AlternateContent>
        <p:sp>
          <p:nvSpPr>
            <p:cNvPr id="162" name="Rectangle 161">
              <a:extLst>
                <a:ext uri="{FF2B5EF4-FFF2-40B4-BE49-F238E27FC236}">
                  <a16:creationId xmlns:a16="http://schemas.microsoft.com/office/drawing/2014/main" id="{8B7B5F69-BDEA-414B-B392-8AA015180E3E}"/>
                </a:ext>
              </a:extLst>
            </p:cNvPr>
            <p:cNvSpPr/>
            <p:nvPr/>
          </p:nvSpPr>
          <p:spPr>
            <a:xfrm>
              <a:off x="9471016" y="812887"/>
              <a:ext cx="540000" cy="720000"/>
            </a:xfrm>
            <a:prstGeom prst="rect">
              <a:avLst/>
            </a:prstGeom>
            <a:solidFill>
              <a:srgbClr val="30E845"/>
            </a:solidFill>
            <a:ln>
              <a:solidFill>
                <a:schemeClr val="accent1">
                  <a:shade val="50000"/>
                </a:schemeClr>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3" name="Rectangle 162">
                  <a:extLst>
                    <a:ext uri="{FF2B5EF4-FFF2-40B4-BE49-F238E27FC236}">
                      <a16:creationId xmlns:a16="http://schemas.microsoft.com/office/drawing/2014/main" id="{1C2FB8B8-2D65-2D48-A437-2A5212B585FB}"/>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163" name="Rectangle 162">
                  <a:extLst>
                    <a:ext uri="{FF2B5EF4-FFF2-40B4-BE49-F238E27FC236}">
                      <a16:creationId xmlns:a16="http://schemas.microsoft.com/office/drawing/2014/main" id="{1C2FB8B8-2D65-2D48-A437-2A5212B585FB}"/>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7"/>
                  <a:stretch>
                    <a:fillRect b="-10714"/>
                  </a:stretch>
                </a:blipFill>
              </p:spPr>
              <p:txBody>
                <a:bodyPr/>
                <a:lstStyle/>
                <a:p>
                  <a:r>
                    <a:rPr lang="sr-Latn-RS">
                      <a:noFill/>
                    </a:rPr>
                    <a:t> </a:t>
                  </a:r>
                </a:p>
              </p:txBody>
            </p:sp>
          </mc:Fallback>
        </mc:AlternateContent>
        <p:sp>
          <p:nvSpPr>
            <p:cNvPr id="164" name="Rectangle 163">
              <a:extLst>
                <a:ext uri="{FF2B5EF4-FFF2-40B4-BE49-F238E27FC236}">
                  <a16:creationId xmlns:a16="http://schemas.microsoft.com/office/drawing/2014/main" id="{B4357F67-AEAB-2C40-B23C-743BF629F1FF}"/>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65" name="Rectangle 164">
                  <a:extLst>
                    <a:ext uri="{FF2B5EF4-FFF2-40B4-BE49-F238E27FC236}">
                      <a16:creationId xmlns:a16="http://schemas.microsoft.com/office/drawing/2014/main" id="{DAC8D148-2BEA-DA40-8044-7E2D2066D1A2}"/>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165" name="Rectangle 164">
                  <a:extLst>
                    <a:ext uri="{FF2B5EF4-FFF2-40B4-BE49-F238E27FC236}">
                      <a16:creationId xmlns:a16="http://schemas.microsoft.com/office/drawing/2014/main" id="{DAC8D148-2BEA-DA40-8044-7E2D2066D1A2}"/>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6" name="Rectangle 165">
                  <a:extLst>
                    <a:ext uri="{FF2B5EF4-FFF2-40B4-BE49-F238E27FC236}">
                      <a16:creationId xmlns:a16="http://schemas.microsoft.com/office/drawing/2014/main" id="{B302ECB5-E617-FF48-A040-38067D469A22}"/>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166" name="Rectangle 165">
                  <a:extLst>
                    <a:ext uri="{FF2B5EF4-FFF2-40B4-BE49-F238E27FC236}">
                      <a16:creationId xmlns:a16="http://schemas.microsoft.com/office/drawing/2014/main" id="{B302ECB5-E617-FF48-A040-38067D469A22}"/>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9"/>
                  <a:stretch>
                    <a:fillRect/>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218C7FF1-604E-474C-BDB6-0BACF7FDC259}"/>
              </a:ext>
            </a:extLst>
          </p:cNvPr>
          <p:cNvGrpSpPr/>
          <p:nvPr/>
        </p:nvGrpSpPr>
        <p:grpSpPr>
          <a:xfrm>
            <a:off x="595764" y="2366961"/>
            <a:ext cx="8853036" cy="3027384"/>
            <a:chOff x="95344" y="2474378"/>
            <a:chExt cx="10591560" cy="3621890"/>
          </a:xfrm>
        </p:grpSpPr>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644EEBE8-D3FD-604B-AB4B-F4721A0FE22B}"/>
                    </a:ext>
                  </a:extLst>
                </p:cNvPr>
                <p:cNvSpPr/>
                <p:nvPr/>
              </p:nvSpPr>
              <p:spPr>
                <a:xfrm>
                  <a:off x="95344" y="2746319"/>
                  <a:ext cx="755535" cy="5523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83" name="Rectangle 82">
                  <a:extLst>
                    <a:ext uri="{FF2B5EF4-FFF2-40B4-BE49-F238E27FC236}">
                      <a16:creationId xmlns:a16="http://schemas.microsoft.com/office/drawing/2014/main" id="{644EEBE8-D3FD-604B-AB4B-F4721A0FE22B}"/>
                    </a:ext>
                  </a:extLst>
                </p:cNvPr>
                <p:cNvSpPr>
                  <a:spLocks noRot="1" noChangeAspect="1" noMove="1" noResize="1" noEditPoints="1" noAdjustHandles="1" noChangeArrowheads="1" noChangeShapeType="1" noTextEdit="1"/>
                </p:cNvSpPr>
                <p:nvPr/>
              </p:nvSpPr>
              <p:spPr>
                <a:xfrm>
                  <a:off x="95344" y="2746319"/>
                  <a:ext cx="755535" cy="552325"/>
                </a:xfrm>
                <a:prstGeom prst="rect">
                  <a:avLst/>
                </a:prstGeom>
                <a:blipFill>
                  <a:blip r:embed="rId20"/>
                  <a:stretch>
                    <a:fillRect/>
                  </a:stretch>
                </a:blipFill>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3B71A04A-94BC-2B43-92E0-34560DEC97FF}"/>
                </a:ext>
              </a:extLst>
            </p:cNvPr>
            <p:cNvCxnSpPr>
              <a:cxnSpLocks/>
            </p:cNvCxnSpPr>
            <p:nvPr/>
          </p:nvCxnSpPr>
          <p:spPr>
            <a:xfrm>
              <a:off x="966904" y="3015760"/>
              <a:ext cx="9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50B9D9D-7141-B14F-8548-98A8A2CB5E7D}"/>
                </a:ext>
              </a:extLst>
            </p:cNvPr>
            <p:cNvCxnSpPr>
              <a:cxnSpLocks/>
            </p:cNvCxnSpPr>
            <p:nvPr/>
          </p:nvCxnSpPr>
          <p:spPr>
            <a:xfrm>
              <a:off x="951092" y="4256486"/>
              <a:ext cx="9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F06B508A-D424-0F4D-9487-B3EEF1AE08A9}"/>
                    </a:ext>
                  </a:extLst>
                </p:cNvPr>
                <p:cNvSpPr/>
                <p:nvPr/>
              </p:nvSpPr>
              <p:spPr>
                <a:xfrm>
                  <a:off x="95345" y="3994096"/>
                  <a:ext cx="755535" cy="5523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82" name="Rectangle 81">
                  <a:extLst>
                    <a:ext uri="{FF2B5EF4-FFF2-40B4-BE49-F238E27FC236}">
                      <a16:creationId xmlns:a16="http://schemas.microsoft.com/office/drawing/2014/main" id="{F06B508A-D424-0F4D-9487-B3EEF1AE08A9}"/>
                    </a:ext>
                  </a:extLst>
                </p:cNvPr>
                <p:cNvSpPr>
                  <a:spLocks noRot="1" noChangeAspect="1" noMove="1" noResize="1" noEditPoints="1" noAdjustHandles="1" noChangeArrowheads="1" noChangeShapeType="1" noTextEdit="1"/>
                </p:cNvSpPr>
                <p:nvPr/>
              </p:nvSpPr>
              <p:spPr>
                <a:xfrm>
                  <a:off x="95345" y="3994096"/>
                  <a:ext cx="755535" cy="552325"/>
                </a:xfrm>
                <a:prstGeom prst="rect">
                  <a:avLst/>
                </a:prstGeom>
                <a:blipFill>
                  <a:blip r:embed="rId21"/>
                  <a:stretch>
                    <a:fillRect/>
                  </a:stretch>
                </a:blipFill>
              </p:spPr>
              <p:txBody>
                <a:bodyPr/>
                <a:lstStyle/>
                <a:p>
                  <a:r>
                    <a:rPr lang="en-US">
                      <a:noFill/>
                    </a:rPr>
                    <a:t> </a:t>
                  </a:r>
                </a:p>
              </p:txBody>
            </p:sp>
          </mc:Fallback>
        </mc:AlternateContent>
        <p:cxnSp>
          <p:nvCxnSpPr>
            <p:cNvPr id="94" name="Straight Connector 93">
              <a:extLst>
                <a:ext uri="{FF2B5EF4-FFF2-40B4-BE49-F238E27FC236}">
                  <a16:creationId xmlns:a16="http://schemas.microsoft.com/office/drawing/2014/main" id="{C8FE0635-7BEA-9044-8D2A-01E05405D9D2}"/>
                </a:ext>
              </a:extLst>
            </p:cNvPr>
            <p:cNvCxnSpPr>
              <a:cxnSpLocks/>
            </p:cNvCxnSpPr>
            <p:nvPr/>
          </p:nvCxnSpPr>
          <p:spPr>
            <a:xfrm>
              <a:off x="951091" y="5510938"/>
              <a:ext cx="97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C7966FA0-A07C-2D4B-866D-E8D1C639BC1D}"/>
                    </a:ext>
                  </a:extLst>
                </p:cNvPr>
                <p:cNvSpPr/>
                <p:nvPr/>
              </p:nvSpPr>
              <p:spPr>
                <a:xfrm>
                  <a:off x="95344" y="5248548"/>
                  <a:ext cx="755535" cy="5523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95" name="Rectangle 94">
                  <a:extLst>
                    <a:ext uri="{FF2B5EF4-FFF2-40B4-BE49-F238E27FC236}">
                      <a16:creationId xmlns:a16="http://schemas.microsoft.com/office/drawing/2014/main" id="{C7966FA0-A07C-2D4B-866D-E8D1C639BC1D}"/>
                    </a:ext>
                  </a:extLst>
                </p:cNvPr>
                <p:cNvSpPr>
                  <a:spLocks noRot="1" noChangeAspect="1" noMove="1" noResize="1" noEditPoints="1" noAdjustHandles="1" noChangeArrowheads="1" noChangeShapeType="1" noTextEdit="1"/>
                </p:cNvSpPr>
                <p:nvPr/>
              </p:nvSpPr>
              <p:spPr>
                <a:xfrm>
                  <a:off x="95344" y="5248548"/>
                  <a:ext cx="755535" cy="55232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Rectangle 96">
                  <a:extLst>
                    <a:ext uri="{FF2B5EF4-FFF2-40B4-BE49-F238E27FC236}">
                      <a16:creationId xmlns:a16="http://schemas.microsoft.com/office/drawing/2014/main" id="{7DA9D2E7-639A-6F4B-8873-497D67A4D6C6}"/>
                    </a:ext>
                  </a:extLst>
                </p:cNvPr>
                <p:cNvSpPr/>
                <p:nvPr/>
              </p:nvSpPr>
              <p:spPr>
                <a:xfrm>
                  <a:off x="1236312" y="2474378"/>
                  <a:ext cx="1768031" cy="362189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i="1" smtClean="0">
                            <a:solidFill>
                              <a:schemeClr val="tx1"/>
                            </a:solidFill>
                            <a:latin typeface="Cambria Math" panose="02040503050406030204" pitchFamily="18" charset="0"/>
                          </a:rPr>
                          <m:t>𝑈</m:t>
                        </m:r>
                        <m:r>
                          <a:rPr lang="en-US" sz="3200" i="1" smtClean="0">
                            <a:solidFill>
                              <a:schemeClr val="tx1"/>
                            </a:solidFill>
                            <a:latin typeface="Cambria Math" panose="02040503050406030204" pitchFamily="18" charset="0"/>
                          </a:rPr>
                          <m:t>(</m:t>
                        </m:r>
                        <m:r>
                          <a:rPr lang="en-US" sz="3200" i="1" smtClean="0">
                            <a:solidFill>
                              <a:schemeClr val="tx1"/>
                            </a:solidFill>
                            <a:latin typeface="Cambria Math" panose="02040503050406030204" pitchFamily="18" charset="0"/>
                          </a:rPr>
                          <m:t>𝑥</m:t>
                        </m:r>
                        <m:r>
                          <a:rPr lang="en-US" sz="3200" i="1">
                            <a:solidFill>
                              <a:schemeClr val="tx1"/>
                            </a:solidFill>
                            <a:latin typeface="Cambria Math" panose="02040503050406030204" pitchFamily="18" charset="0"/>
                          </a:rPr>
                          <m:t>)</m:t>
                        </m:r>
                      </m:oMath>
                    </m:oMathPara>
                  </a14:m>
                  <a:endParaRPr lang="en-US" sz="3200" dirty="0">
                    <a:solidFill>
                      <a:schemeClr val="tx1"/>
                    </a:solidFill>
                  </a:endParaRPr>
                </a:p>
              </p:txBody>
            </p:sp>
          </mc:Choice>
          <mc:Fallback xmlns="">
            <p:sp>
              <p:nvSpPr>
                <p:cNvPr id="97" name="Rectangle 96">
                  <a:extLst>
                    <a:ext uri="{FF2B5EF4-FFF2-40B4-BE49-F238E27FC236}">
                      <a16:creationId xmlns:a16="http://schemas.microsoft.com/office/drawing/2014/main" id="{7DA9D2E7-639A-6F4B-8873-497D67A4D6C6}"/>
                    </a:ext>
                  </a:extLst>
                </p:cNvPr>
                <p:cNvSpPr>
                  <a:spLocks noRot="1" noChangeAspect="1" noMove="1" noResize="1" noEditPoints="1" noAdjustHandles="1" noChangeArrowheads="1" noChangeShapeType="1" noTextEdit="1"/>
                </p:cNvSpPr>
                <p:nvPr/>
              </p:nvSpPr>
              <p:spPr>
                <a:xfrm>
                  <a:off x="1236312" y="2474378"/>
                  <a:ext cx="1768031" cy="3621890"/>
                </a:xfrm>
                <a:prstGeom prst="rect">
                  <a:avLst/>
                </a:prstGeom>
                <a:blipFill>
                  <a:blip r:embed="rId23"/>
                  <a:stretch>
                    <a:fillRect/>
                  </a:stretch>
                </a:blipFill>
              </p:spPr>
              <p:txBody>
                <a:bodyPr/>
                <a:lstStyle/>
                <a:p>
                  <a:r>
                    <a:rPr lang="en-US">
                      <a:noFill/>
                    </a:rPr>
                    <a:t> </a:t>
                  </a:r>
                </a:p>
              </p:txBody>
            </p:sp>
          </mc:Fallback>
        </mc:AlternateContent>
        <p:sp>
          <p:nvSpPr>
            <p:cNvPr id="98" name="Rectangle 97">
              <a:extLst>
                <a:ext uri="{FF2B5EF4-FFF2-40B4-BE49-F238E27FC236}">
                  <a16:creationId xmlns:a16="http://schemas.microsoft.com/office/drawing/2014/main" id="{5C68C25F-A1BA-D64D-BF65-62B8560285C2}"/>
                </a:ext>
              </a:extLst>
            </p:cNvPr>
            <p:cNvSpPr/>
            <p:nvPr/>
          </p:nvSpPr>
          <p:spPr>
            <a:xfrm>
              <a:off x="1431741" y="3893912"/>
              <a:ext cx="221008" cy="846898"/>
            </a:xfrm>
            <a:prstGeom prst="rect">
              <a:avLst/>
            </a:prstGeom>
          </p:spPr>
          <p:txBody>
            <a:bodyPr wrap="none">
              <a:spAutoFit/>
            </a:bodyPr>
            <a:lstStyle/>
            <a:p>
              <a:endParaRPr lang="en-US" sz="4000" dirty="0"/>
            </a:p>
          </p:txBody>
        </p:sp>
      </p:grpSp>
      <p:grpSp>
        <p:nvGrpSpPr>
          <p:cNvPr id="21" name="Group 20">
            <a:extLst>
              <a:ext uri="{FF2B5EF4-FFF2-40B4-BE49-F238E27FC236}">
                <a16:creationId xmlns:a16="http://schemas.microsoft.com/office/drawing/2014/main" id="{66B8C3CA-B99B-E942-A9E6-12C1E6FE8DA1}"/>
              </a:ext>
            </a:extLst>
          </p:cNvPr>
          <p:cNvGrpSpPr/>
          <p:nvPr/>
        </p:nvGrpSpPr>
        <p:grpSpPr>
          <a:xfrm>
            <a:off x="3547618" y="2382294"/>
            <a:ext cx="1070010" cy="752272"/>
            <a:chOff x="3273751" y="2628157"/>
            <a:chExt cx="1280134" cy="900000"/>
          </a:xfrm>
        </p:grpSpPr>
        <p:sp>
          <p:nvSpPr>
            <p:cNvPr id="89" name="Rectangle 88">
              <a:extLst>
                <a:ext uri="{FF2B5EF4-FFF2-40B4-BE49-F238E27FC236}">
                  <a16:creationId xmlns:a16="http://schemas.microsoft.com/office/drawing/2014/main" id="{B3B63ED0-C9BA-D843-8FDE-360C7D0D23BE}"/>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DDB575AE-A999-6D4E-94D1-B3D391E9908C}"/>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0</m:t>
                                </m:r>
                              </m:sub>
                            </m:sSub>
                          </m:e>
                        </m:d>
                      </m:oMath>
                    </m:oMathPara>
                  </a14:m>
                  <a:endParaRPr lang="en-US" sz="2400" dirty="0">
                    <a:solidFill>
                      <a:schemeClr val="bg1"/>
                    </a:solidFill>
                  </a:endParaRPr>
                </a:p>
              </p:txBody>
            </p:sp>
          </mc:Choice>
          <mc:Fallback xmlns="">
            <p:sp>
              <p:nvSpPr>
                <p:cNvPr id="90" name="Rectangle 89">
                  <a:extLst>
                    <a:ext uri="{FF2B5EF4-FFF2-40B4-BE49-F238E27FC236}">
                      <a16:creationId xmlns:a16="http://schemas.microsoft.com/office/drawing/2014/main" id="{DDB575AE-A999-6D4E-94D1-B3D391E9908C}"/>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24"/>
                  <a:stretch>
                    <a:fillRect/>
                  </a:stretch>
                </a:blipFill>
              </p:spPr>
              <p:txBody>
                <a:bodyPr/>
                <a:lstStyle/>
                <a:p>
                  <a:r>
                    <a:rPr lang="en-US">
                      <a:noFill/>
                    </a:rPr>
                    <a:t> </a:t>
                  </a:r>
                </a:p>
              </p:txBody>
            </p:sp>
          </mc:Fallback>
        </mc:AlternateContent>
      </p:grpSp>
      <p:grpSp>
        <p:nvGrpSpPr>
          <p:cNvPr id="144" name="Group 143">
            <a:extLst>
              <a:ext uri="{FF2B5EF4-FFF2-40B4-BE49-F238E27FC236}">
                <a16:creationId xmlns:a16="http://schemas.microsoft.com/office/drawing/2014/main" id="{CA9ECB48-D1B6-1A42-9697-E0B3F6E68193}"/>
              </a:ext>
            </a:extLst>
          </p:cNvPr>
          <p:cNvGrpSpPr/>
          <p:nvPr/>
        </p:nvGrpSpPr>
        <p:grpSpPr>
          <a:xfrm>
            <a:off x="3541493" y="3479496"/>
            <a:ext cx="1070010" cy="752272"/>
            <a:chOff x="3273751" y="2628157"/>
            <a:chExt cx="1280134" cy="900000"/>
          </a:xfrm>
        </p:grpSpPr>
        <p:sp>
          <p:nvSpPr>
            <p:cNvPr id="145" name="Rectangle 144">
              <a:extLst>
                <a:ext uri="{FF2B5EF4-FFF2-40B4-BE49-F238E27FC236}">
                  <a16:creationId xmlns:a16="http://schemas.microsoft.com/office/drawing/2014/main" id="{87F56443-5D29-0A40-AF46-5C208DBD6AF9}"/>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6" name="Rectangle 145">
                  <a:extLst>
                    <a:ext uri="{FF2B5EF4-FFF2-40B4-BE49-F238E27FC236}">
                      <a16:creationId xmlns:a16="http://schemas.microsoft.com/office/drawing/2014/main" id="{796F10BA-0282-8A49-B26F-05FA863A7B99}"/>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1</m:t>
                                </m:r>
                              </m:sub>
                            </m:sSub>
                          </m:e>
                        </m:d>
                      </m:oMath>
                    </m:oMathPara>
                  </a14:m>
                  <a:endParaRPr lang="en-US" sz="2400" dirty="0">
                    <a:solidFill>
                      <a:schemeClr val="bg1"/>
                    </a:solidFill>
                  </a:endParaRPr>
                </a:p>
              </p:txBody>
            </p:sp>
          </mc:Choice>
          <mc:Fallback xmlns="">
            <p:sp>
              <p:nvSpPr>
                <p:cNvPr id="146" name="Rectangle 145">
                  <a:extLst>
                    <a:ext uri="{FF2B5EF4-FFF2-40B4-BE49-F238E27FC236}">
                      <a16:creationId xmlns:a16="http://schemas.microsoft.com/office/drawing/2014/main" id="{796F10BA-0282-8A49-B26F-05FA863A7B99}"/>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25"/>
                  <a:stretch>
                    <a:fillRect l="-1190" b="-2703"/>
                  </a:stretch>
                </a:blipFill>
              </p:spPr>
              <p:txBody>
                <a:bodyPr/>
                <a:lstStyle/>
                <a:p>
                  <a:r>
                    <a:rPr lang="en-US">
                      <a:noFill/>
                    </a:rPr>
                    <a:t> </a:t>
                  </a:r>
                </a:p>
              </p:txBody>
            </p:sp>
          </mc:Fallback>
        </mc:AlternateContent>
      </p:grpSp>
      <p:grpSp>
        <p:nvGrpSpPr>
          <p:cNvPr id="147" name="Group 146">
            <a:extLst>
              <a:ext uri="{FF2B5EF4-FFF2-40B4-BE49-F238E27FC236}">
                <a16:creationId xmlns:a16="http://schemas.microsoft.com/office/drawing/2014/main" id="{D0859FAF-AAD2-854C-8EEA-8478855D3221}"/>
              </a:ext>
            </a:extLst>
          </p:cNvPr>
          <p:cNvGrpSpPr/>
          <p:nvPr/>
        </p:nvGrpSpPr>
        <p:grpSpPr>
          <a:xfrm>
            <a:off x="3535368" y="4576698"/>
            <a:ext cx="1070010" cy="752272"/>
            <a:chOff x="3273751" y="2628157"/>
            <a:chExt cx="1280134" cy="900000"/>
          </a:xfrm>
        </p:grpSpPr>
        <p:sp>
          <p:nvSpPr>
            <p:cNvPr id="148" name="Rectangle 147">
              <a:extLst>
                <a:ext uri="{FF2B5EF4-FFF2-40B4-BE49-F238E27FC236}">
                  <a16:creationId xmlns:a16="http://schemas.microsoft.com/office/drawing/2014/main" id="{44E74D5A-AD71-4247-A7A9-0814F0230AF9}"/>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9" name="Rectangle 148">
                  <a:extLst>
                    <a:ext uri="{FF2B5EF4-FFF2-40B4-BE49-F238E27FC236}">
                      <a16:creationId xmlns:a16="http://schemas.microsoft.com/office/drawing/2014/main" id="{F51D6642-8BDF-8642-B372-9062EE87EDB1}"/>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2</m:t>
                                </m:r>
                              </m:sub>
                            </m:sSub>
                          </m:e>
                        </m:d>
                      </m:oMath>
                    </m:oMathPara>
                  </a14:m>
                  <a:endParaRPr lang="en-US" sz="2400" dirty="0">
                    <a:solidFill>
                      <a:schemeClr val="bg1"/>
                    </a:solidFill>
                  </a:endParaRPr>
                </a:p>
              </p:txBody>
            </p:sp>
          </mc:Choice>
          <mc:Fallback xmlns="">
            <p:sp>
              <p:nvSpPr>
                <p:cNvPr id="149" name="Rectangle 148">
                  <a:extLst>
                    <a:ext uri="{FF2B5EF4-FFF2-40B4-BE49-F238E27FC236}">
                      <a16:creationId xmlns:a16="http://schemas.microsoft.com/office/drawing/2014/main" id="{F51D6642-8BDF-8642-B372-9062EE87EDB1}"/>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26"/>
                  <a:stretch>
                    <a:fillRect/>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3A161F20-C073-0B42-8BB9-FD993A5DB662}"/>
              </a:ext>
            </a:extLst>
          </p:cNvPr>
          <p:cNvGrpSpPr/>
          <p:nvPr/>
        </p:nvGrpSpPr>
        <p:grpSpPr>
          <a:xfrm>
            <a:off x="4825986" y="2713574"/>
            <a:ext cx="1262580" cy="2467580"/>
            <a:chOff x="5156280" y="2889058"/>
            <a:chExt cx="1510521" cy="2952153"/>
          </a:xfrm>
        </p:grpSpPr>
        <p:grpSp>
          <p:nvGrpSpPr>
            <p:cNvPr id="151" name="Group 150">
              <a:extLst>
                <a:ext uri="{FF2B5EF4-FFF2-40B4-BE49-F238E27FC236}">
                  <a16:creationId xmlns:a16="http://schemas.microsoft.com/office/drawing/2014/main" id="{BBE0D25B-52CD-644E-8234-C5469E1DD2E8}"/>
                </a:ext>
              </a:extLst>
            </p:cNvPr>
            <p:cNvGrpSpPr/>
            <p:nvPr/>
          </p:nvGrpSpPr>
          <p:grpSpPr>
            <a:xfrm>
              <a:off x="5156280" y="3032722"/>
              <a:ext cx="1510521" cy="2808489"/>
              <a:chOff x="5156280" y="3185119"/>
              <a:chExt cx="1510521" cy="2808489"/>
            </a:xfrm>
          </p:grpSpPr>
          <p:grpSp>
            <p:nvGrpSpPr>
              <p:cNvPr id="22" name="Group 21">
                <a:extLst>
                  <a:ext uri="{FF2B5EF4-FFF2-40B4-BE49-F238E27FC236}">
                    <a16:creationId xmlns:a16="http://schemas.microsoft.com/office/drawing/2014/main" id="{B932B607-B603-8D4A-88A6-BE8399759B5A}"/>
                  </a:ext>
                </a:extLst>
              </p:cNvPr>
              <p:cNvGrpSpPr/>
              <p:nvPr/>
            </p:nvGrpSpPr>
            <p:grpSpPr>
              <a:xfrm>
                <a:off x="5156280" y="3185119"/>
                <a:ext cx="720000" cy="1584640"/>
                <a:chOff x="4889101" y="3147408"/>
                <a:chExt cx="720000" cy="1584640"/>
              </a:xfrm>
            </p:grpSpPr>
            <p:cxnSp>
              <p:nvCxnSpPr>
                <p:cNvPr id="19" name="Straight Connector 18">
                  <a:extLst>
                    <a:ext uri="{FF2B5EF4-FFF2-40B4-BE49-F238E27FC236}">
                      <a16:creationId xmlns:a16="http://schemas.microsoft.com/office/drawing/2014/main" id="{D708DD59-4BC2-CA4D-A8AC-FD29F5972D98}"/>
                    </a:ext>
                  </a:extLst>
                </p:cNvPr>
                <p:cNvCxnSpPr>
                  <a:cxnSpLocks/>
                </p:cNvCxnSpPr>
                <p:nvPr/>
              </p:nvCxnSpPr>
              <p:spPr>
                <a:xfrm flipV="1">
                  <a:off x="5249101" y="3147408"/>
                  <a:ext cx="0" cy="89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1A16FC4D-1054-6F43-9484-5D72F47946DD}"/>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117" name="Group 116">
                <a:extLst>
                  <a:ext uri="{FF2B5EF4-FFF2-40B4-BE49-F238E27FC236}">
                    <a16:creationId xmlns:a16="http://schemas.microsoft.com/office/drawing/2014/main" id="{0A34CAA0-FE4D-1E40-8410-AE6B63ECC260}"/>
                  </a:ext>
                </a:extLst>
              </p:cNvPr>
              <p:cNvGrpSpPr/>
              <p:nvPr/>
            </p:nvGrpSpPr>
            <p:grpSpPr>
              <a:xfrm>
                <a:off x="5946801" y="4429630"/>
                <a:ext cx="720000" cy="1563978"/>
                <a:chOff x="4889101" y="3168070"/>
                <a:chExt cx="720000" cy="1563978"/>
              </a:xfrm>
            </p:grpSpPr>
            <p:cxnSp>
              <p:nvCxnSpPr>
                <p:cNvPr id="119" name="Straight Connector 118">
                  <a:extLst>
                    <a:ext uri="{FF2B5EF4-FFF2-40B4-BE49-F238E27FC236}">
                      <a16:creationId xmlns:a16="http://schemas.microsoft.com/office/drawing/2014/main" id="{E513894C-3401-D547-99BD-1B6EA4B764D7}"/>
                    </a:ext>
                  </a:extLst>
                </p:cNvPr>
                <p:cNvCxnSpPr>
                  <a:cxnSpLocks/>
                </p:cNvCxnSpPr>
                <p:nvPr/>
              </p:nvCxnSpPr>
              <p:spPr>
                <a:xfrm flipV="1">
                  <a:off x="5249101" y="3168070"/>
                  <a:ext cx="0" cy="878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Oval 117">
                  <a:extLst>
                    <a:ext uri="{FF2B5EF4-FFF2-40B4-BE49-F238E27FC236}">
                      <a16:creationId xmlns:a16="http://schemas.microsoft.com/office/drawing/2014/main" id="{D5118FC2-944C-664C-A3B5-E15A0ABB14C9}"/>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sp>
          <p:nvSpPr>
            <p:cNvPr id="59" name="Oval 58">
              <a:extLst>
                <a:ext uri="{FF2B5EF4-FFF2-40B4-BE49-F238E27FC236}">
                  <a16:creationId xmlns:a16="http://schemas.microsoft.com/office/drawing/2014/main" id="{8C31FD3E-4887-FA4D-A44F-5F3FCA20F6E7}"/>
                </a:ext>
              </a:extLst>
            </p:cNvPr>
            <p:cNvSpPr/>
            <p:nvPr/>
          </p:nvSpPr>
          <p:spPr>
            <a:xfrm>
              <a:off x="5390280" y="2889058"/>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60" name="Oval 59">
              <a:extLst>
                <a:ext uri="{FF2B5EF4-FFF2-40B4-BE49-F238E27FC236}">
                  <a16:creationId xmlns:a16="http://schemas.microsoft.com/office/drawing/2014/main" id="{76F14A3C-47F9-1046-9F59-63D1A33C908D}"/>
                </a:ext>
              </a:extLst>
            </p:cNvPr>
            <p:cNvSpPr/>
            <p:nvPr/>
          </p:nvSpPr>
          <p:spPr>
            <a:xfrm>
              <a:off x="6180801" y="4130925"/>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grpSp>
      <p:sp>
        <p:nvSpPr>
          <p:cNvPr id="7" name="Rectangle 6">
            <a:extLst>
              <a:ext uri="{FF2B5EF4-FFF2-40B4-BE49-F238E27FC236}">
                <a16:creationId xmlns:a16="http://schemas.microsoft.com/office/drawing/2014/main" id="{E1DD8D18-B6FF-8745-B40D-DBD00A4205D4}"/>
              </a:ext>
            </a:extLst>
          </p:cNvPr>
          <p:cNvSpPr/>
          <p:nvPr/>
        </p:nvSpPr>
        <p:spPr>
          <a:xfrm>
            <a:off x="3382226" y="1954734"/>
            <a:ext cx="2834310" cy="3771118"/>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1A190EDD-F477-A64E-B1B0-9CF5EC220732}"/>
              </a:ext>
            </a:extLst>
          </p:cNvPr>
          <p:cNvSpPr/>
          <p:nvPr/>
        </p:nvSpPr>
        <p:spPr>
          <a:xfrm>
            <a:off x="6375803" y="1954734"/>
            <a:ext cx="2834310" cy="3771118"/>
          </a:xfrm>
          <a:prstGeom prst="rect">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A8D11FA9-F013-2A4B-877F-0D0B0B89A248}"/>
              </a:ext>
            </a:extLst>
          </p:cNvPr>
          <p:cNvGrpSpPr/>
          <p:nvPr/>
        </p:nvGrpSpPr>
        <p:grpSpPr>
          <a:xfrm>
            <a:off x="6554868" y="2403890"/>
            <a:ext cx="1070010" cy="752272"/>
            <a:chOff x="3273751" y="2628157"/>
            <a:chExt cx="1280134" cy="900000"/>
          </a:xfrm>
        </p:grpSpPr>
        <p:sp>
          <p:nvSpPr>
            <p:cNvPr id="76" name="Rectangle 75">
              <a:extLst>
                <a:ext uri="{FF2B5EF4-FFF2-40B4-BE49-F238E27FC236}">
                  <a16:creationId xmlns:a16="http://schemas.microsoft.com/office/drawing/2014/main" id="{0B473136-785C-2F41-8E30-00ACBE8C5904}"/>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00ED4A2A-D58D-BD4D-800E-33414A27C2B8}"/>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3</m:t>
                                </m:r>
                              </m:sub>
                            </m:sSub>
                          </m:e>
                        </m:d>
                      </m:oMath>
                    </m:oMathPara>
                  </a14:m>
                  <a:endParaRPr lang="en-US" sz="2400" dirty="0">
                    <a:solidFill>
                      <a:schemeClr val="bg1"/>
                    </a:solidFill>
                  </a:endParaRPr>
                </a:p>
              </p:txBody>
            </p:sp>
          </mc:Choice>
          <mc:Fallback xmlns="">
            <p:sp>
              <p:nvSpPr>
                <p:cNvPr id="77" name="Rectangle 76">
                  <a:extLst>
                    <a:ext uri="{FF2B5EF4-FFF2-40B4-BE49-F238E27FC236}">
                      <a16:creationId xmlns:a16="http://schemas.microsoft.com/office/drawing/2014/main" id="{00ED4A2A-D58D-BD4D-800E-33414A27C2B8}"/>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27"/>
                  <a:stretch>
                    <a:fillRect/>
                  </a:stretch>
                </a:blipFill>
              </p:spPr>
              <p:txBody>
                <a:bodyPr/>
                <a:lstStyle/>
                <a:p>
                  <a:r>
                    <a:rPr lang="en-US">
                      <a:noFill/>
                    </a:rPr>
                    <a:t> </a:t>
                  </a:r>
                </a:p>
              </p:txBody>
            </p:sp>
          </mc:Fallback>
        </mc:AlternateContent>
      </p:grpSp>
      <p:grpSp>
        <p:nvGrpSpPr>
          <p:cNvPr id="70" name="Group 69">
            <a:extLst>
              <a:ext uri="{FF2B5EF4-FFF2-40B4-BE49-F238E27FC236}">
                <a16:creationId xmlns:a16="http://schemas.microsoft.com/office/drawing/2014/main" id="{D535D581-FE10-3E46-A47D-03576A097DA6}"/>
              </a:ext>
            </a:extLst>
          </p:cNvPr>
          <p:cNvGrpSpPr/>
          <p:nvPr/>
        </p:nvGrpSpPr>
        <p:grpSpPr>
          <a:xfrm>
            <a:off x="6548743" y="3501092"/>
            <a:ext cx="1070010" cy="752272"/>
            <a:chOff x="3273751" y="2628157"/>
            <a:chExt cx="1280134" cy="900000"/>
          </a:xfrm>
        </p:grpSpPr>
        <p:sp>
          <p:nvSpPr>
            <p:cNvPr id="74" name="Rectangle 73">
              <a:extLst>
                <a:ext uri="{FF2B5EF4-FFF2-40B4-BE49-F238E27FC236}">
                  <a16:creationId xmlns:a16="http://schemas.microsoft.com/office/drawing/2014/main" id="{B283C7C1-B160-A946-9D23-7D396C922E6E}"/>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988914CF-7107-EB48-8567-4733712B3052}"/>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4</m:t>
                                </m:r>
                              </m:sub>
                            </m:sSub>
                          </m:e>
                        </m:d>
                      </m:oMath>
                    </m:oMathPara>
                  </a14:m>
                  <a:endParaRPr lang="en-US" sz="2400" dirty="0">
                    <a:solidFill>
                      <a:schemeClr val="bg1"/>
                    </a:solidFill>
                  </a:endParaRPr>
                </a:p>
              </p:txBody>
            </p:sp>
          </mc:Choice>
          <mc:Fallback xmlns="">
            <p:sp>
              <p:nvSpPr>
                <p:cNvPr id="75" name="Rectangle 74">
                  <a:extLst>
                    <a:ext uri="{FF2B5EF4-FFF2-40B4-BE49-F238E27FC236}">
                      <a16:creationId xmlns:a16="http://schemas.microsoft.com/office/drawing/2014/main" id="{988914CF-7107-EB48-8567-4733712B3052}"/>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28"/>
                  <a:stretch>
                    <a:fillRect l="-1190"/>
                  </a:stretch>
                </a:blipFill>
              </p:spPr>
              <p:txBody>
                <a:bodyPr/>
                <a:lstStyle/>
                <a:p>
                  <a:r>
                    <a:rPr lang="en-US">
                      <a:noFill/>
                    </a:rPr>
                    <a:t> </a:t>
                  </a:r>
                </a:p>
              </p:txBody>
            </p:sp>
          </mc:Fallback>
        </mc:AlternateContent>
      </p:grpSp>
      <p:grpSp>
        <p:nvGrpSpPr>
          <p:cNvPr id="71" name="Group 70">
            <a:extLst>
              <a:ext uri="{FF2B5EF4-FFF2-40B4-BE49-F238E27FC236}">
                <a16:creationId xmlns:a16="http://schemas.microsoft.com/office/drawing/2014/main" id="{3508BBE3-FBC1-5B4E-B80A-8019D32C2011}"/>
              </a:ext>
            </a:extLst>
          </p:cNvPr>
          <p:cNvGrpSpPr/>
          <p:nvPr/>
        </p:nvGrpSpPr>
        <p:grpSpPr>
          <a:xfrm>
            <a:off x="6542618" y="4598294"/>
            <a:ext cx="1070010" cy="752272"/>
            <a:chOff x="3273751" y="2628157"/>
            <a:chExt cx="1280134" cy="900000"/>
          </a:xfrm>
        </p:grpSpPr>
        <p:sp>
          <p:nvSpPr>
            <p:cNvPr id="72" name="Rectangle 71">
              <a:extLst>
                <a:ext uri="{FF2B5EF4-FFF2-40B4-BE49-F238E27FC236}">
                  <a16:creationId xmlns:a16="http://schemas.microsoft.com/office/drawing/2014/main" id="{85603752-1C7C-1D40-9296-DED5D31D506C}"/>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9D1C0C95-97AD-2C4F-86A3-490DBBD6ADE9}"/>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5</m:t>
                                </m:r>
                              </m:sub>
                            </m:sSub>
                          </m:e>
                        </m:d>
                      </m:oMath>
                    </m:oMathPara>
                  </a14:m>
                  <a:endParaRPr lang="en-US" sz="2400" dirty="0">
                    <a:solidFill>
                      <a:schemeClr val="bg1"/>
                    </a:solidFill>
                  </a:endParaRPr>
                </a:p>
              </p:txBody>
            </p:sp>
          </mc:Choice>
          <mc:Fallback xmlns="">
            <p:sp>
              <p:nvSpPr>
                <p:cNvPr id="73" name="Rectangle 72">
                  <a:extLst>
                    <a:ext uri="{FF2B5EF4-FFF2-40B4-BE49-F238E27FC236}">
                      <a16:creationId xmlns:a16="http://schemas.microsoft.com/office/drawing/2014/main" id="{9D1C0C95-97AD-2C4F-86A3-490DBBD6ADE9}"/>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29"/>
                  <a:stretch>
                    <a:fillRect l="-1205" b="-2703"/>
                  </a:stretch>
                </a:blipFill>
              </p:spPr>
              <p:txBody>
                <a:bodyPr/>
                <a:lstStyle/>
                <a:p>
                  <a:r>
                    <a:rPr lang="en-US">
                      <a:noFill/>
                    </a:rPr>
                    <a:t> </a:t>
                  </a:r>
                </a:p>
              </p:txBody>
            </p:sp>
          </mc:Fallback>
        </mc:AlternateContent>
      </p:grpSp>
      <p:grpSp>
        <p:nvGrpSpPr>
          <p:cNvPr id="78" name="Group 77">
            <a:extLst>
              <a:ext uri="{FF2B5EF4-FFF2-40B4-BE49-F238E27FC236}">
                <a16:creationId xmlns:a16="http://schemas.microsoft.com/office/drawing/2014/main" id="{2EC0D671-985B-074E-BDDC-DCD6349A4367}"/>
              </a:ext>
            </a:extLst>
          </p:cNvPr>
          <p:cNvGrpSpPr/>
          <p:nvPr/>
        </p:nvGrpSpPr>
        <p:grpSpPr>
          <a:xfrm>
            <a:off x="7833235" y="2735170"/>
            <a:ext cx="1262580" cy="2467580"/>
            <a:chOff x="5156280" y="2889058"/>
            <a:chExt cx="1510521" cy="2952153"/>
          </a:xfrm>
        </p:grpSpPr>
        <p:grpSp>
          <p:nvGrpSpPr>
            <p:cNvPr id="79" name="Group 78">
              <a:extLst>
                <a:ext uri="{FF2B5EF4-FFF2-40B4-BE49-F238E27FC236}">
                  <a16:creationId xmlns:a16="http://schemas.microsoft.com/office/drawing/2014/main" id="{0B80DE80-40A2-7D46-9A35-43A37FE17A89}"/>
                </a:ext>
              </a:extLst>
            </p:cNvPr>
            <p:cNvGrpSpPr/>
            <p:nvPr/>
          </p:nvGrpSpPr>
          <p:grpSpPr>
            <a:xfrm>
              <a:off x="5156280" y="3032722"/>
              <a:ext cx="1510521" cy="2808489"/>
              <a:chOff x="5156280" y="3185119"/>
              <a:chExt cx="1510521" cy="2808489"/>
            </a:xfrm>
          </p:grpSpPr>
          <p:grpSp>
            <p:nvGrpSpPr>
              <p:cNvPr id="86" name="Group 85">
                <a:extLst>
                  <a:ext uri="{FF2B5EF4-FFF2-40B4-BE49-F238E27FC236}">
                    <a16:creationId xmlns:a16="http://schemas.microsoft.com/office/drawing/2014/main" id="{5B0E324B-21EF-8C4F-AA92-EBE4A8A43EA9}"/>
                  </a:ext>
                </a:extLst>
              </p:cNvPr>
              <p:cNvGrpSpPr/>
              <p:nvPr/>
            </p:nvGrpSpPr>
            <p:grpSpPr>
              <a:xfrm>
                <a:off x="5156280" y="3185119"/>
                <a:ext cx="720000" cy="1584640"/>
                <a:chOff x="4889101" y="3147408"/>
                <a:chExt cx="720000" cy="1584640"/>
              </a:xfrm>
            </p:grpSpPr>
            <p:cxnSp>
              <p:nvCxnSpPr>
                <p:cNvPr id="92" name="Straight Connector 91">
                  <a:extLst>
                    <a:ext uri="{FF2B5EF4-FFF2-40B4-BE49-F238E27FC236}">
                      <a16:creationId xmlns:a16="http://schemas.microsoft.com/office/drawing/2014/main" id="{9B49ADEC-85EA-E142-9D90-E48745BC5844}"/>
                    </a:ext>
                  </a:extLst>
                </p:cNvPr>
                <p:cNvCxnSpPr>
                  <a:cxnSpLocks/>
                </p:cNvCxnSpPr>
                <p:nvPr/>
              </p:nvCxnSpPr>
              <p:spPr>
                <a:xfrm flipV="1">
                  <a:off x="5249101" y="3147408"/>
                  <a:ext cx="0" cy="89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Oval 92">
                  <a:extLst>
                    <a:ext uri="{FF2B5EF4-FFF2-40B4-BE49-F238E27FC236}">
                      <a16:creationId xmlns:a16="http://schemas.microsoft.com/office/drawing/2014/main" id="{583CF47A-4270-0940-9968-297C365A3784}"/>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nvGrpSpPr>
              <p:cNvPr id="87" name="Group 86">
                <a:extLst>
                  <a:ext uri="{FF2B5EF4-FFF2-40B4-BE49-F238E27FC236}">
                    <a16:creationId xmlns:a16="http://schemas.microsoft.com/office/drawing/2014/main" id="{FDEBA593-E303-9D46-8F5B-149B154704AC}"/>
                  </a:ext>
                </a:extLst>
              </p:cNvPr>
              <p:cNvGrpSpPr/>
              <p:nvPr/>
            </p:nvGrpSpPr>
            <p:grpSpPr>
              <a:xfrm>
                <a:off x="5946801" y="4429630"/>
                <a:ext cx="720000" cy="1563978"/>
                <a:chOff x="4889101" y="3168070"/>
                <a:chExt cx="720000" cy="1563978"/>
              </a:xfrm>
            </p:grpSpPr>
            <p:cxnSp>
              <p:nvCxnSpPr>
                <p:cNvPr id="88" name="Straight Connector 87">
                  <a:extLst>
                    <a:ext uri="{FF2B5EF4-FFF2-40B4-BE49-F238E27FC236}">
                      <a16:creationId xmlns:a16="http://schemas.microsoft.com/office/drawing/2014/main" id="{2109A250-2076-BA43-8883-02FBC34A4A58}"/>
                    </a:ext>
                  </a:extLst>
                </p:cNvPr>
                <p:cNvCxnSpPr>
                  <a:cxnSpLocks/>
                </p:cNvCxnSpPr>
                <p:nvPr/>
              </p:nvCxnSpPr>
              <p:spPr>
                <a:xfrm flipV="1">
                  <a:off x="5249101" y="3168070"/>
                  <a:ext cx="0" cy="878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8508A421-BDFD-6C41-9C2E-89EF8EEA5025}"/>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grpSp>
        </p:grpSp>
        <p:sp>
          <p:nvSpPr>
            <p:cNvPr id="80" name="Oval 79">
              <a:extLst>
                <a:ext uri="{FF2B5EF4-FFF2-40B4-BE49-F238E27FC236}">
                  <a16:creationId xmlns:a16="http://schemas.microsoft.com/office/drawing/2014/main" id="{42DFD3DE-B44E-D441-B9C0-8A157CA730FB}"/>
                </a:ext>
              </a:extLst>
            </p:cNvPr>
            <p:cNvSpPr/>
            <p:nvPr/>
          </p:nvSpPr>
          <p:spPr>
            <a:xfrm>
              <a:off x="5390280" y="2889058"/>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sp>
          <p:nvSpPr>
            <p:cNvPr id="85" name="Oval 84">
              <a:extLst>
                <a:ext uri="{FF2B5EF4-FFF2-40B4-BE49-F238E27FC236}">
                  <a16:creationId xmlns:a16="http://schemas.microsoft.com/office/drawing/2014/main" id="{25F1F578-A3C6-1442-894B-1690DA1A3F87}"/>
                </a:ext>
              </a:extLst>
            </p:cNvPr>
            <p:cNvSpPr/>
            <p:nvPr/>
          </p:nvSpPr>
          <p:spPr>
            <a:xfrm>
              <a:off x="6180801" y="4130925"/>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grpSp>
      <p:sp>
        <p:nvSpPr>
          <p:cNvPr id="8" name="TextBox 7">
            <a:extLst>
              <a:ext uri="{FF2B5EF4-FFF2-40B4-BE49-F238E27FC236}">
                <a16:creationId xmlns:a16="http://schemas.microsoft.com/office/drawing/2014/main" id="{A76C4160-11C8-724C-9621-3B530852CE48}"/>
              </a:ext>
            </a:extLst>
          </p:cNvPr>
          <p:cNvSpPr txBox="1"/>
          <p:nvPr/>
        </p:nvSpPr>
        <p:spPr>
          <a:xfrm>
            <a:off x="4417528" y="1557187"/>
            <a:ext cx="900776" cy="385886"/>
          </a:xfrm>
          <a:prstGeom prst="rect">
            <a:avLst/>
          </a:prstGeom>
          <a:noFill/>
        </p:spPr>
        <p:txBody>
          <a:bodyPr wrap="none" rtlCol="0">
            <a:spAutoFit/>
          </a:bodyPr>
          <a:lstStyle/>
          <a:p>
            <a:r>
              <a:rPr lang="en-US" sz="2400" dirty="0"/>
              <a:t>Layer 1</a:t>
            </a:r>
          </a:p>
        </p:txBody>
      </p:sp>
      <p:sp>
        <p:nvSpPr>
          <p:cNvPr id="96" name="TextBox 95">
            <a:extLst>
              <a:ext uri="{FF2B5EF4-FFF2-40B4-BE49-F238E27FC236}">
                <a16:creationId xmlns:a16="http://schemas.microsoft.com/office/drawing/2014/main" id="{852FA671-F15E-D340-9058-5502CA67C88C}"/>
              </a:ext>
            </a:extLst>
          </p:cNvPr>
          <p:cNvSpPr txBox="1"/>
          <p:nvPr/>
        </p:nvSpPr>
        <p:spPr>
          <a:xfrm>
            <a:off x="7342569" y="1554671"/>
            <a:ext cx="1077667" cy="461665"/>
          </a:xfrm>
          <a:prstGeom prst="rect">
            <a:avLst/>
          </a:prstGeom>
          <a:noFill/>
        </p:spPr>
        <p:txBody>
          <a:bodyPr wrap="none" rtlCol="0">
            <a:spAutoFit/>
          </a:bodyPr>
          <a:lstStyle/>
          <a:p>
            <a:r>
              <a:rPr lang="en-US" sz="2400" dirty="0"/>
              <a:t>Layer 2</a:t>
            </a:r>
          </a:p>
        </p:txBody>
      </p:sp>
      <p:grpSp>
        <p:nvGrpSpPr>
          <p:cNvPr id="100" name="Group 99">
            <a:extLst>
              <a:ext uri="{FF2B5EF4-FFF2-40B4-BE49-F238E27FC236}">
                <a16:creationId xmlns:a16="http://schemas.microsoft.com/office/drawing/2014/main" id="{5431C965-E52E-A040-A15B-02B50E5139F0}"/>
              </a:ext>
            </a:extLst>
          </p:cNvPr>
          <p:cNvGrpSpPr/>
          <p:nvPr/>
        </p:nvGrpSpPr>
        <p:grpSpPr>
          <a:xfrm>
            <a:off x="9480778" y="2407315"/>
            <a:ext cx="1070010" cy="752272"/>
            <a:chOff x="3273751" y="2628157"/>
            <a:chExt cx="1280134" cy="900000"/>
          </a:xfrm>
        </p:grpSpPr>
        <p:sp>
          <p:nvSpPr>
            <p:cNvPr id="108" name="Rectangle 107">
              <a:extLst>
                <a:ext uri="{FF2B5EF4-FFF2-40B4-BE49-F238E27FC236}">
                  <a16:creationId xmlns:a16="http://schemas.microsoft.com/office/drawing/2014/main" id="{56EF83A8-698B-784B-B3B6-E10F42661B8B}"/>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AA87B024-4D78-1648-AEE4-7D53E491794E}"/>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6</m:t>
                                </m:r>
                              </m:sub>
                            </m:sSub>
                          </m:e>
                        </m:d>
                      </m:oMath>
                    </m:oMathPara>
                  </a14:m>
                  <a:endParaRPr lang="en-US" sz="2400" dirty="0">
                    <a:solidFill>
                      <a:schemeClr val="bg1"/>
                    </a:solidFill>
                  </a:endParaRPr>
                </a:p>
              </p:txBody>
            </p:sp>
          </mc:Choice>
          <mc:Fallback xmlns="">
            <p:sp>
              <p:nvSpPr>
                <p:cNvPr id="109" name="Rectangle 108">
                  <a:extLst>
                    <a:ext uri="{FF2B5EF4-FFF2-40B4-BE49-F238E27FC236}">
                      <a16:creationId xmlns:a16="http://schemas.microsoft.com/office/drawing/2014/main" id="{AA87B024-4D78-1648-AEE4-7D53E491794E}"/>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30"/>
                  <a:stretch>
                    <a:fillRect l="-1190"/>
                  </a:stretch>
                </a:blipFill>
              </p:spPr>
              <p:txBody>
                <a:bodyPr/>
                <a:lstStyle/>
                <a:p>
                  <a:r>
                    <a:rPr lang="en-US">
                      <a:noFill/>
                    </a:rPr>
                    <a:t> </a:t>
                  </a:r>
                </a:p>
              </p:txBody>
            </p:sp>
          </mc:Fallback>
        </mc:AlternateContent>
      </p:grpSp>
      <p:grpSp>
        <p:nvGrpSpPr>
          <p:cNvPr id="101" name="Group 100">
            <a:extLst>
              <a:ext uri="{FF2B5EF4-FFF2-40B4-BE49-F238E27FC236}">
                <a16:creationId xmlns:a16="http://schemas.microsoft.com/office/drawing/2014/main" id="{DDF6F693-5B59-4C4D-83C4-4E87F31EED3C}"/>
              </a:ext>
            </a:extLst>
          </p:cNvPr>
          <p:cNvGrpSpPr/>
          <p:nvPr/>
        </p:nvGrpSpPr>
        <p:grpSpPr>
          <a:xfrm>
            <a:off x="9474653" y="3504517"/>
            <a:ext cx="1070010" cy="752272"/>
            <a:chOff x="3273751" y="2628157"/>
            <a:chExt cx="1280134" cy="900000"/>
          </a:xfrm>
        </p:grpSpPr>
        <p:sp>
          <p:nvSpPr>
            <p:cNvPr id="106" name="Rectangle 105">
              <a:extLst>
                <a:ext uri="{FF2B5EF4-FFF2-40B4-BE49-F238E27FC236}">
                  <a16:creationId xmlns:a16="http://schemas.microsoft.com/office/drawing/2014/main" id="{ACD6D723-7C34-654B-9C07-1ABEFA16F2F2}"/>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7" name="Rectangle 106">
                  <a:extLst>
                    <a:ext uri="{FF2B5EF4-FFF2-40B4-BE49-F238E27FC236}">
                      <a16:creationId xmlns:a16="http://schemas.microsoft.com/office/drawing/2014/main" id="{43155F86-1773-0545-9E7C-7836ABF92FED}"/>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7</m:t>
                                </m:r>
                              </m:sub>
                            </m:sSub>
                          </m:e>
                        </m:d>
                      </m:oMath>
                    </m:oMathPara>
                  </a14:m>
                  <a:endParaRPr lang="en-US" sz="2400" dirty="0">
                    <a:solidFill>
                      <a:schemeClr val="bg1"/>
                    </a:solidFill>
                  </a:endParaRPr>
                </a:p>
              </p:txBody>
            </p:sp>
          </mc:Choice>
          <mc:Fallback xmlns="">
            <p:sp>
              <p:nvSpPr>
                <p:cNvPr id="107" name="Rectangle 106">
                  <a:extLst>
                    <a:ext uri="{FF2B5EF4-FFF2-40B4-BE49-F238E27FC236}">
                      <a16:creationId xmlns:a16="http://schemas.microsoft.com/office/drawing/2014/main" id="{43155F86-1773-0545-9E7C-7836ABF92FED}"/>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31"/>
                  <a:stretch>
                    <a:fillRect l="-1190"/>
                  </a:stretch>
                </a:blipFill>
              </p:spPr>
              <p:txBody>
                <a:bodyPr/>
                <a:lstStyle/>
                <a:p>
                  <a:r>
                    <a:rPr lang="en-US">
                      <a:noFill/>
                    </a:rPr>
                    <a:t> </a:t>
                  </a:r>
                </a:p>
              </p:txBody>
            </p:sp>
          </mc:Fallback>
        </mc:AlternateContent>
      </p:grpSp>
      <p:grpSp>
        <p:nvGrpSpPr>
          <p:cNvPr id="102" name="Group 101">
            <a:extLst>
              <a:ext uri="{FF2B5EF4-FFF2-40B4-BE49-F238E27FC236}">
                <a16:creationId xmlns:a16="http://schemas.microsoft.com/office/drawing/2014/main" id="{6B06EADA-9940-E646-A2CD-923CD7F0489E}"/>
              </a:ext>
            </a:extLst>
          </p:cNvPr>
          <p:cNvGrpSpPr/>
          <p:nvPr/>
        </p:nvGrpSpPr>
        <p:grpSpPr>
          <a:xfrm>
            <a:off x="9468528" y="4601719"/>
            <a:ext cx="1070010" cy="752272"/>
            <a:chOff x="3273751" y="2628157"/>
            <a:chExt cx="1280134" cy="900000"/>
          </a:xfrm>
        </p:grpSpPr>
        <p:sp>
          <p:nvSpPr>
            <p:cNvPr id="103" name="Rectangle 102">
              <a:extLst>
                <a:ext uri="{FF2B5EF4-FFF2-40B4-BE49-F238E27FC236}">
                  <a16:creationId xmlns:a16="http://schemas.microsoft.com/office/drawing/2014/main" id="{307C9858-3439-7940-AE23-4841520B37B2}"/>
                </a:ext>
              </a:extLst>
            </p:cNvPr>
            <p:cNvSpPr/>
            <p:nvPr/>
          </p:nvSpPr>
          <p:spPr>
            <a:xfrm>
              <a:off x="3273751" y="2628157"/>
              <a:ext cx="1260000" cy="900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4" name="Rectangle 103">
                  <a:extLst>
                    <a:ext uri="{FF2B5EF4-FFF2-40B4-BE49-F238E27FC236}">
                      <a16:creationId xmlns:a16="http://schemas.microsoft.com/office/drawing/2014/main" id="{F8D8CA7B-A5F7-3C47-815D-3D46E2DDC828}"/>
                    </a:ext>
                  </a:extLst>
                </p:cNvPr>
                <p:cNvSpPr/>
                <p:nvPr/>
              </p:nvSpPr>
              <p:spPr>
                <a:xfrm>
                  <a:off x="3289563" y="2809401"/>
                  <a:ext cx="1264322" cy="55232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a:solidFill>
                              <a:schemeClr val="bg1"/>
                            </a:solidFill>
                            <a:latin typeface="Cambria Math" panose="02040503050406030204" pitchFamily="18" charset="0"/>
                          </a:rPr>
                          <m:t>R</m:t>
                        </m:r>
                        <m:r>
                          <a:rPr lang="en-US" sz="2400" i="1">
                            <a:solidFill>
                              <a:schemeClr val="bg1"/>
                            </a:solidFill>
                            <a:latin typeface="Cambria Math" panose="02040503050406030204" pitchFamily="18" charset="0"/>
                          </a:rPr>
                          <m:t>𝑌</m:t>
                        </m:r>
                        <m:d>
                          <m:dPr>
                            <m:ctrlPr>
                              <a:rPr lang="en-US" sz="2400" i="1" smtClean="0">
                                <a:solidFill>
                                  <a:schemeClr val="bg1"/>
                                </a:solidFill>
                                <a:latin typeface="Cambria Math" panose="02040503050406030204" pitchFamily="18" charset="0"/>
                              </a:rPr>
                            </m:ctrlPr>
                          </m:dPr>
                          <m:e>
                            <m:sSub>
                              <m:sSubPr>
                                <m:ctrlPr>
                                  <a:rPr lang="en-US" sz="2400" i="1" smtClean="0">
                                    <a:solidFill>
                                      <a:schemeClr val="bg1"/>
                                    </a:solidFill>
                                    <a:latin typeface="Cambria Math" panose="02040503050406030204" pitchFamily="18" charset="0"/>
                                  </a:rPr>
                                </m:ctrlPr>
                              </m:sSubPr>
                              <m:e>
                                <m:r>
                                  <a:rPr lang="en-US" sz="2400" i="1" smtClean="0">
                                    <a:solidFill>
                                      <a:schemeClr val="bg1"/>
                                    </a:solidFill>
                                    <a:latin typeface="Cambria Math" panose="02040503050406030204" pitchFamily="18" charset="0"/>
                                    <a:ea typeface="Cambria Math" panose="02040503050406030204" pitchFamily="18" charset="0"/>
                                  </a:rPr>
                                  <m:t>𝜃</m:t>
                                </m:r>
                              </m:e>
                              <m:sub>
                                <m:r>
                                  <a:rPr lang="en-US" sz="2400" b="0" i="1" smtClean="0">
                                    <a:solidFill>
                                      <a:schemeClr val="bg1"/>
                                    </a:solidFill>
                                    <a:latin typeface="Cambria Math" panose="02040503050406030204" pitchFamily="18" charset="0"/>
                                    <a:ea typeface="Cambria Math" panose="02040503050406030204" pitchFamily="18" charset="0"/>
                                  </a:rPr>
                                  <m:t>8</m:t>
                                </m:r>
                              </m:sub>
                            </m:sSub>
                          </m:e>
                        </m:d>
                      </m:oMath>
                    </m:oMathPara>
                  </a14:m>
                  <a:endParaRPr lang="en-US" sz="2400" dirty="0">
                    <a:solidFill>
                      <a:schemeClr val="bg1"/>
                    </a:solidFill>
                  </a:endParaRPr>
                </a:p>
              </p:txBody>
            </p:sp>
          </mc:Choice>
          <mc:Fallback xmlns="">
            <p:sp>
              <p:nvSpPr>
                <p:cNvPr id="104" name="Rectangle 103">
                  <a:extLst>
                    <a:ext uri="{FF2B5EF4-FFF2-40B4-BE49-F238E27FC236}">
                      <a16:creationId xmlns:a16="http://schemas.microsoft.com/office/drawing/2014/main" id="{F8D8CA7B-A5F7-3C47-815D-3D46E2DDC828}"/>
                    </a:ext>
                  </a:extLst>
                </p:cNvPr>
                <p:cNvSpPr>
                  <a:spLocks noRot="1" noChangeAspect="1" noMove="1" noResize="1" noEditPoints="1" noAdjustHandles="1" noChangeArrowheads="1" noChangeShapeType="1" noTextEdit="1"/>
                </p:cNvSpPr>
                <p:nvPr/>
              </p:nvSpPr>
              <p:spPr>
                <a:xfrm>
                  <a:off x="3289563" y="2809401"/>
                  <a:ext cx="1264322" cy="552325"/>
                </a:xfrm>
                <a:prstGeom prst="rect">
                  <a:avLst/>
                </a:prstGeom>
                <a:blipFill>
                  <a:blip r:embed="rId32"/>
                  <a:stretch>
                    <a:fillRect l="-1190"/>
                  </a:stretch>
                </a:blipFill>
              </p:spPr>
              <p:txBody>
                <a:bodyPr/>
                <a:lstStyle/>
                <a:p>
                  <a:r>
                    <a:rPr lang="en-US">
                      <a:noFill/>
                    </a:rPr>
                    <a:t> </a:t>
                  </a:r>
                </a:p>
              </p:txBody>
            </p:sp>
          </mc:Fallback>
        </mc:AlternateContent>
      </p:grpSp>
    </p:spTree>
    <p:extLst>
      <p:ext uri="{BB962C8B-B14F-4D97-AF65-F5344CB8AC3E}">
        <p14:creationId xmlns:p14="http://schemas.microsoft.com/office/powerpoint/2010/main" val="2701625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ZA" dirty="0"/>
              <a:t>Examples of Variational Quantum Circuits</a:t>
            </a:r>
            <a:endParaRPr lang="en-US" dirty="0"/>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17</a:t>
            </a:fld>
            <a:endParaRPr lang="en-US"/>
          </a:p>
        </p:txBody>
      </p:sp>
      <p:sp>
        <p:nvSpPr>
          <p:cNvPr id="9" name="Rectangle 8">
            <a:extLst>
              <a:ext uri="{FF2B5EF4-FFF2-40B4-BE49-F238E27FC236}">
                <a16:creationId xmlns:a16="http://schemas.microsoft.com/office/drawing/2014/main" id="{4860080C-EE93-214C-9C73-FCD83D9019B0}"/>
              </a:ext>
            </a:extLst>
          </p:cNvPr>
          <p:cNvSpPr/>
          <p:nvPr/>
        </p:nvSpPr>
        <p:spPr>
          <a:xfrm>
            <a:off x="230535" y="5520655"/>
            <a:ext cx="11306574" cy="923330"/>
          </a:xfrm>
          <a:prstGeom prst="rect">
            <a:avLst/>
          </a:prstGeom>
        </p:spPr>
        <p:txBody>
          <a:bodyPr wrap="square">
            <a:spAutoFit/>
          </a:bodyPr>
          <a:lstStyle/>
          <a:p>
            <a:r>
              <a:rPr lang="en-US" dirty="0"/>
              <a:t>Sim, S., Johnson, P.D. and </a:t>
            </a:r>
            <a:r>
              <a:rPr lang="en-US" dirty="0" err="1"/>
              <a:t>Aspuru-Guzik</a:t>
            </a:r>
            <a:r>
              <a:rPr lang="en-US" dirty="0"/>
              <a:t>, A. (2019),</a:t>
            </a:r>
          </a:p>
          <a:p>
            <a:r>
              <a:rPr lang="en-US" dirty="0" err="1"/>
              <a:t>Expressibility</a:t>
            </a:r>
            <a:r>
              <a:rPr lang="en-US" dirty="0"/>
              <a:t> and Entangling Capability of Parameterized Quantum Circuits for Hybrid Quantum-Classical Algorithms.</a:t>
            </a:r>
          </a:p>
          <a:p>
            <a:r>
              <a:rPr lang="en-US" dirty="0"/>
              <a:t>Adv. Quantum Technol., 2: 1900070. https://</a:t>
            </a:r>
            <a:r>
              <a:rPr lang="en-US" dirty="0" err="1"/>
              <a:t>doi.org</a:t>
            </a:r>
            <a:r>
              <a:rPr lang="en-US" dirty="0"/>
              <a:t>/10.1002/qute.201900070</a:t>
            </a:r>
          </a:p>
        </p:txBody>
      </p:sp>
      <p:pic>
        <p:nvPicPr>
          <p:cNvPr id="10" name="Picture 9">
            <a:extLst>
              <a:ext uri="{FF2B5EF4-FFF2-40B4-BE49-F238E27FC236}">
                <a16:creationId xmlns:a16="http://schemas.microsoft.com/office/drawing/2014/main" id="{96951B99-0E08-F241-B547-6634F2BF5813}"/>
              </a:ext>
            </a:extLst>
          </p:cNvPr>
          <p:cNvPicPr>
            <a:picLocks noChangeAspect="1"/>
          </p:cNvPicPr>
          <p:nvPr/>
        </p:nvPicPr>
        <p:blipFill>
          <a:blip r:embed="rId3"/>
          <a:stretch>
            <a:fillRect/>
          </a:stretch>
        </p:blipFill>
        <p:spPr>
          <a:xfrm>
            <a:off x="120650" y="2316075"/>
            <a:ext cx="11950700" cy="2225850"/>
          </a:xfrm>
          <a:prstGeom prst="rect">
            <a:avLst/>
          </a:prstGeom>
        </p:spPr>
      </p:pic>
      <p:grpSp>
        <p:nvGrpSpPr>
          <p:cNvPr id="25" name="Group 24">
            <a:extLst>
              <a:ext uri="{FF2B5EF4-FFF2-40B4-BE49-F238E27FC236}">
                <a16:creationId xmlns:a16="http://schemas.microsoft.com/office/drawing/2014/main" id="{93DA63EE-934E-FE47-9398-5C65803DAD9F}"/>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549B488B-00A6-9948-BA43-DDC8A1CB9023}"/>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4" name="Rectangle 153">
                  <a:extLst>
                    <a:ext uri="{FF2B5EF4-FFF2-40B4-BE49-F238E27FC236}">
                      <a16:creationId xmlns:a16="http://schemas.microsoft.com/office/drawing/2014/main" id="{11ADD2D3-D169-3943-BB3C-CD31935F9AE0}"/>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6"/>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46E2283D-FDEE-154E-8FA9-C5AC70B3E420}"/>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7A9186C-4881-3448-AFCB-7B4CBDEB5DB7}"/>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8F429224-72B1-7547-AACB-D07F8DE42D7A}"/>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7" name="Rectangle 156">
                  <a:extLst>
                    <a:ext uri="{FF2B5EF4-FFF2-40B4-BE49-F238E27FC236}">
                      <a16:creationId xmlns:a16="http://schemas.microsoft.com/office/drawing/2014/main" id="{73F24AF4-D0E6-7040-A0A9-D7A982CB0CF3}"/>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7"/>
                  <a:stretch>
                    <a:fillRect/>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5697E43B-B5C8-D440-B114-44FED7082919}"/>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7C5673FD-8951-8548-AE3D-B2823A88B88A}"/>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159" name="Rectangle 158">
                  <a:extLst>
                    <a:ext uri="{FF2B5EF4-FFF2-40B4-BE49-F238E27FC236}">
                      <a16:creationId xmlns:a16="http://schemas.microsoft.com/office/drawing/2014/main" id="{EDC41B11-34E1-E34C-92E8-07927830789C}"/>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8"/>
                  <a:stretch>
                    <a:fillRect b="-14815"/>
                  </a:stretch>
                </a:blipFill>
              </p:spPr>
              <p:txBody>
                <a:bodyPr/>
                <a:lstStyle/>
                <a:p>
                  <a:r>
                    <a:rPr lang="en-US">
                      <a:noFill/>
                    </a:rPr>
                    <a:t> </a:t>
                  </a:r>
                </a:p>
              </p:txBody>
            </p:sp>
          </mc:Fallback>
        </mc:AlternateContent>
        <p:sp>
          <p:nvSpPr>
            <p:cNvPr id="32" name="Rectangle 31">
              <a:extLst>
                <a:ext uri="{FF2B5EF4-FFF2-40B4-BE49-F238E27FC236}">
                  <a16:creationId xmlns:a16="http://schemas.microsoft.com/office/drawing/2014/main" id="{7D8D412F-68DB-3442-A25E-3DFA4B417669}"/>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0F5A28-11D8-E04C-BE63-3D4037D3E0F0}"/>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161" name="Rectangle 160">
                  <a:extLst>
                    <a:ext uri="{FF2B5EF4-FFF2-40B4-BE49-F238E27FC236}">
                      <a16:creationId xmlns:a16="http://schemas.microsoft.com/office/drawing/2014/main" id="{DCA4F7B0-C192-B04A-9752-7F69EDE82F4B}"/>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9"/>
                  <a:stretch>
                    <a:fillRect/>
                  </a:stretch>
                </a:blipFill>
              </p:spPr>
              <p:txBody>
                <a:bodyPr/>
                <a:lstStyle/>
                <a:p>
                  <a:r>
                    <a:rPr lang="en-US">
                      <a:noFill/>
                    </a:rPr>
                    <a:t> </a:t>
                  </a:r>
                </a:p>
              </p:txBody>
            </p:sp>
          </mc:Fallback>
        </mc:AlternateContent>
        <p:sp>
          <p:nvSpPr>
            <p:cNvPr id="34" name="Rectangle 33">
              <a:extLst>
                <a:ext uri="{FF2B5EF4-FFF2-40B4-BE49-F238E27FC236}">
                  <a16:creationId xmlns:a16="http://schemas.microsoft.com/office/drawing/2014/main" id="{7AC91A1E-1AD1-484B-AB1F-CCF30AA13366}"/>
                </a:ext>
              </a:extLst>
            </p:cNvPr>
            <p:cNvSpPr/>
            <p:nvPr/>
          </p:nvSpPr>
          <p:spPr>
            <a:xfrm>
              <a:off x="9471016" y="812887"/>
              <a:ext cx="540000" cy="720000"/>
            </a:xfrm>
            <a:prstGeom prst="rect">
              <a:avLst/>
            </a:prstGeom>
            <a:solidFill>
              <a:srgbClr val="30E845"/>
            </a:solidFill>
            <a:ln>
              <a:solidFill>
                <a:schemeClr val="accent1">
                  <a:shade val="50000"/>
                </a:schemeClr>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97A0D713-CC42-A345-83C1-52643C42835C}"/>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35" name="Rectangle 34">
                  <a:extLst>
                    <a:ext uri="{FF2B5EF4-FFF2-40B4-BE49-F238E27FC236}">
                      <a16:creationId xmlns:a16="http://schemas.microsoft.com/office/drawing/2014/main" id="{97A0D713-CC42-A345-83C1-52643C42835C}"/>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20"/>
                  <a:stretch>
                    <a:fillRect b="-10714"/>
                  </a:stretch>
                </a:blipFill>
              </p:spPr>
              <p:txBody>
                <a:bodyPr/>
                <a:lstStyle/>
                <a:p>
                  <a:r>
                    <a:rPr lang="sr-Latn-RS">
                      <a:noFill/>
                    </a:rPr>
                    <a:t> </a:t>
                  </a:r>
                </a:p>
              </p:txBody>
            </p:sp>
          </mc:Fallback>
        </mc:AlternateContent>
        <p:sp>
          <p:nvSpPr>
            <p:cNvPr id="36" name="Rectangle 35">
              <a:extLst>
                <a:ext uri="{FF2B5EF4-FFF2-40B4-BE49-F238E27FC236}">
                  <a16:creationId xmlns:a16="http://schemas.microsoft.com/office/drawing/2014/main" id="{4056E67A-5DEC-1C48-AB26-276CD06E63BE}"/>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F061FB46-DC0D-914D-9411-1E5C846A0EC8}"/>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165" name="Rectangle 164">
                  <a:extLst>
                    <a:ext uri="{FF2B5EF4-FFF2-40B4-BE49-F238E27FC236}">
                      <a16:creationId xmlns:a16="http://schemas.microsoft.com/office/drawing/2014/main" id="{DAC8D148-2BEA-DA40-8044-7E2D2066D1A2}"/>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E8BE012B-AA29-8D42-8311-46982AF3F85F}"/>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166" name="Rectangle 165">
                  <a:extLst>
                    <a:ext uri="{FF2B5EF4-FFF2-40B4-BE49-F238E27FC236}">
                      <a16:creationId xmlns:a16="http://schemas.microsoft.com/office/drawing/2014/main" id="{B302ECB5-E617-FF48-A040-38067D469A22}"/>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2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623015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ZA" dirty="0"/>
              <a:t>Entanglement Topologies</a:t>
            </a:r>
            <a:endParaRPr lang="en-US" dirty="0"/>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18</a:t>
            </a:fld>
            <a:endParaRPr lang="en-US"/>
          </a:p>
        </p:txBody>
      </p:sp>
      <p:cxnSp>
        <p:nvCxnSpPr>
          <p:cNvPr id="5" name="Straight Connector 4">
            <a:extLst>
              <a:ext uri="{FF2B5EF4-FFF2-40B4-BE49-F238E27FC236}">
                <a16:creationId xmlns:a16="http://schemas.microsoft.com/office/drawing/2014/main" id="{5A8A7D22-8FD6-A24E-B8B6-4993FB90ADE3}"/>
              </a:ext>
            </a:extLst>
          </p:cNvPr>
          <p:cNvCxnSpPr>
            <a:cxnSpLocks/>
          </p:cNvCxnSpPr>
          <p:nvPr/>
        </p:nvCxnSpPr>
        <p:spPr>
          <a:xfrm>
            <a:off x="424142" y="1777080"/>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0B7B94C-110C-3E49-BDFF-582AE1B13C87}"/>
              </a:ext>
            </a:extLst>
          </p:cNvPr>
          <p:cNvCxnSpPr>
            <a:cxnSpLocks/>
          </p:cNvCxnSpPr>
          <p:nvPr/>
        </p:nvCxnSpPr>
        <p:spPr>
          <a:xfrm>
            <a:off x="424142" y="2354504"/>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EA977A4-989F-D548-B5DC-9FEF8392BA9F}"/>
              </a:ext>
            </a:extLst>
          </p:cNvPr>
          <p:cNvCxnSpPr>
            <a:cxnSpLocks/>
          </p:cNvCxnSpPr>
          <p:nvPr/>
        </p:nvCxnSpPr>
        <p:spPr>
          <a:xfrm>
            <a:off x="424142" y="3509352"/>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C0A0132-88E2-2047-A3A9-9F36C76A2759}"/>
              </a:ext>
            </a:extLst>
          </p:cNvPr>
          <p:cNvCxnSpPr>
            <a:cxnSpLocks/>
          </p:cNvCxnSpPr>
          <p:nvPr/>
        </p:nvCxnSpPr>
        <p:spPr>
          <a:xfrm>
            <a:off x="424142" y="2931928"/>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60298D8-BB73-2D46-BBC0-EBA7BB668E9C}"/>
              </a:ext>
            </a:extLst>
          </p:cNvPr>
          <p:cNvSpPr/>
          <p:nvPr/>
        </p:nvSpPr>
        <p:spPr>
          <a:xfrm>
            <a:off x="757817" y="1507080"/>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8E07ED0-ED46-914F-932E-BFF8E2B33A09}"/>
              </a:ext>
            </a:extLst>
          </p:cNvPr>
          <p:cNvSpPr/>
          <p:nvPr/>
        </p:nvSpPr>
        <p:spPr>
          <a:xfrm>
            <a:off x="757817" y="2084504"/>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565480C-D9D6-9F4A-A6E1-0F417037ABA3}"/>
              </a:ext>
            </a:extLst>
          </p:cNvPr>
          <p:cNvSpPr/>
          <p:nvPr/>
        </p:nvSpPr>
        <p:spPr>
          <a:xfrm>
            <a:off x="757817" y="2661928"/>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D2DD4CE-DFC1-3745-BFF5-C837D63A1D2B}"/>
              </a:ext>
            </a:extLst>
          </p:cNvPr>
          <p:cNvSpPr/>
          <p:nvPr/>
        </p:nvSpPr>
        <p:spPr>
          <a:xfrm>
            <a:off x="757817" y="3239352"/>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C22BE7D-7C9A-AF40-AA2B-0D615C2691EE}"/>
              </a:ext>
            </a:extLst>
          </p:cNvPr>
          <p:cNvSpPr/>
          <p:nvPr/>
        </p:nvSpPr>
        <p:spPr>
          <a:xfrm>
            <a:off x="1558894" y="1507080"/>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D6158C4-C2BC-5646-90E9-0CD5BF739962}"/>
              </a:ext>
            </a:extLst>
          </p:cNvPr>
          <p:cNvSpPr/>
          <p:nvPr/>
        </p:nvSpPr>
        <p:spPr>
          <a:xfrm>
            <a:off x="1558894" y="2084504"/>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6B7D99C-75EF-5C42-9189-DA5F6D61B0F2}"/>
              </a:ext>
            </a:extLst>
          </p:cNvPr>
          <p:cNvSpPr/>
          <p:nvPr/>
        </p:nvSpPr>
        <p:spPr>
          <a:xfrm>
            <a:off x="1558894" y="2661928"/>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7775C7A-9A38-9040-B058-DB95FAE1A814}"/>
              </a:ext>
            </a:extLst>
          </p:cNvPr>
          <p:cNvSpPr/>
          <p:nvPr/>
        </p:nvSpPr>
        <p:spPr>
          <a:xfrm>
            <a:off x="1558894" y="3239352"/>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3C868A1-D70E-B54A-A14A-177F8FA0E5B1}"/>
              </a:ext>
            </a:extLst>
          </p:cNvPr>
          <p:cNvSpPr/>
          <p:nvPr/>
        </p:nvSpPr>
        <p:spPr>
          <a:xfrm>
            <a:off x="2359971" y="1507080"/>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sp>
        <p:nvSpPr>
          <p:cNvPr id="42" name="Rectangle 41">
            <a:extLst>
              <a:ext uri="{FF2B5EF4-FFF2-40B4-BE49-F238E27FC236}">
                <a16:creationId xmlns:a16="http://schemas.microsoft.com/office/drawing/2014/main" id="{4510BB3B-680D-1346-B22A-2E4D23BF2731}"/>
              </a:ext>
            </a:extLst>
          </p:cNvPr>
          <p:cNvSpPr/>
          <p:nvPr/>
        </p:nvSpPr>
        <p:spPr>
          <a:xfrm>
            <a:off x="3161048" y="1507080"/>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C1590C62-633A-2B42-B594-277BE5F0CE97}"/>
              </a:ext>
            </a:extLst>
          </p:cNvPr>
          <p:cNvSpPr/>
          <p:nvPr/>
        </p:nvSpPr>
        <p:spPr>
          <a:xfrm>
            <a:off x="3962125" y="1507080"/>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4FF44CE9-E196-0B47-8F0E-0E729BE0D1FB}"/>
              </a:ext>
            </a:extLst>
          </p:cNvPr>
          <p:cNvGrpSpPr/>
          <p:nvPr/>
        </p:nvGrpSpPr>
        <p:grpSpPr>
          <a:xfrm>
            <a:off x="2503971" y="2047080"/>
            <a:ext cx="251999" cy="433423"/>
            <a:chOff x="2441098" y="2590591"/>
            <a:chExt cx="251999" cy="433423"/>
          </a:xfrm>
          <a:solidFill>
            <a:schemeClr val="tx1"/>
          </a:solidFill>
        </p:grpSpPr>
        <p:sp>
          <p:nvSpPr>
            <p:cNvPr id="44" name="Oval 43">
              <a:extLst>
                <a:ext uri="{FF2B5EF4-FFF2-40B4-BE49-F238E27FC236}">
                  <a16:creationId xmlns:a16="http://schemas.microsoft.com/office/drawing/2014/main" id="{EE1FA582-F05A-1040-8451-5E1B0F9ADDAA}"/>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1" name="Straight Connector 10">
              <a:extLst>
                <a:ext uri="{FF2B5EF4-FFF2-40B4-BE49-F238E27FC236}">
                  <a16:creationId xmlns:a16="http://schemas.microsoft.com/office/drawing/2014/main" id="{E9C5857B-8671-BA4E-B257-FD55A3B125D6}"/>
                </a:ext>
              </a:extLst>
            </p:cNvPr>
            <p:cNvCxnSpPr>
              <a:cxnSpLocks/>
              <a:stCxn id="44" idx="0"/>
              <a:endCxn id="41" idx="2"/>
            </p:cNvCxnSpPr>
            <p:nvPr/>
          </p:nvCxnSpPr>
          <p:spPr>
            <a:xfrm flipV="1">
              <a:off x="2567098" y="2590591"/>
              <a:ext cx="0" cy="181424"/>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352C414B-9F15-784E-961E-34F3E252EEA5}"/>
              </a:ext>
            </a:extLst>
          </p:cNvPr>
          <p:cNvGrpSpPr/>
          <p:nvPr/>
        </p:nvGrpSpPr>
        <p:grpSpPr>
          <a:xfrm>
            <a:off x="3305048" y="2047080"/>
            <a:ext cx="251999" cy="1019261"/>
            <a:chOff x="2441098" y="2004753"/>
            <a:chExt cx="251999" cy="1019261"/>
          </a:xfrm>
          <a:solidFill>
            <a:schemeClr val="tx1"/>
          </a:solidFill>
        </p:grpSpPr>
        <p:sp>
          <p:nvSpPr>
            <p:cNvPr id="50" name="Oval 49">
              <a:extLst>
                <a:ext uri="{FF2B5EF4-FFF2-40B4-BE49-F238E27FC236}">
                  <a16:creationId xmlns:a16="http://schemas.microsoft.com/office/drawing/2014/main" id="{1D91C93D-6527-374E-A57A-C7805400CF2E}"/>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1" name="Straight Connector 50">
              <a:extLst>
                <a:ext uri="{FF2B5EF4-FFF2-40B4-BE49-F238E27FC236}">
                  <a16:creationId xmlns:a16="http://schemas.microsoft.com/office/drawing/2014/main" id="{E465573D-AFDA-8C44-B13D-054502B2DE08}"/>
                </a:ext>
              </a:extLst>
            </p:cNvPr>
            <p:cNvCxnSpPr>
              <a:cxnSpLocks/>
              <a:stCxn id="50" idx="0"/>
              <a:endCxn id="42" idx="2"/>
            </p:cNvCxnSpPr>
            <p:nvPr/>
          </p:nvCxnSpPr>
          <p:spPr>
            <a:xfrm flipV="1">
              <a:off x="2567098" y="2004753"/>
              <a:ext cx="0" cy="76726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E35197F3-227F-0C4B-B056-A56D0FAAB20E}"/>
              </a:ext>
            </a:extLst>
          </p:cNvPr>
          <p:cNvGrpSpPr/>
          <p:nvPr/>
        </p:nvGrpSpPr>
        <p:grpSpPr>
          <a:xfrm>
            <a:off x="4105136" y="2047080"/>
            <a:ext cx="251999" cy="1588273"/>
            <a:chOff x="2426112" y="1495123"/>
            <a:chExt cx="251999" cy="1588273"/>
          </a:xfrm>
          <a:solidFill>
            <a:schemeClr val="tx1"/>
          </a:solidFill>
        </p:grpSpPr>
        <p:sp>
          <p:nvSpPr>
            <p:cNvPr id="54" name="Oval 53">
              <a:extLst>
                <a:ext uri="{FF2B5EF4-FFF2-40B4-BE49-F238E27FC236}">
                  <a16:creationId xmlns:a16="http://schemas.microsoft.com/office/drawing/2014/main" id="{C00873A9-40C3-FC42-89C0-9BF0962F1439}"/>
                </a:ext>
              </a:extLst>
            </p:cNvPr>
            <p:cNvSpPr/>
            <p:nvPr/>
          </p:nvSpPr>
          <p:spPr>
            <a:xfrm>
              <a:off x="2426112" y="2831397"/>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55" name="Straight Connector 54">
              <a:extLst>
                <a:ext uri="{FF2B5EF4-FFF2-40B4-BE49-F238E27FC236}">
                  <a16:creationId xmlns:a16="http://schemas.microsoft.com/office/drawing/2014/main" id="{6372C4A8-3CBB-1349-B211-E25F503EB875}"/>
                </a:ext>
              </a:extLst>
            </p:cNvPr>
            <p:cNvCxnSpPr>
              <a:cxnSpLocks/>
              <a:stCxn id="54" idx="0"/>
              <a:endCxn id="43" idx="2"/>
            </p:cNvCxnSpPr>
            <p:nvPr/>
          </p:nvCxnSpPr>
          <p:spPr>
            <a:xfrm flipV="1">
              <a:off x="2552112" y="1495123"/>
              <a:ext cx="989" cy="1336274"/>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D7522192-16FF-D141-902C-489A68C6AA28}"/>
              </a:ext>
            </a:extLst>
          </p:cNvPr>
          <p:cNvSpPr txBox="1"/>
          <p:nvPr/>
        </p:nvSpPr>
        <p:spPr>
          <a:xfrm>
            <a:off x="2194681" y="3765690"/>
            <a:ext cx="1825500" cy="461665"/>
          </a:xfrm>
          <a:prstGeom prst="rect">
            <a:avLst/>
          </a:prstGeom>
          <a:noFill/>
        </p:spPr>
        <p:txBody>
          <a:bodyPr wrap="none" rtlCol="0">
            <a:spAutoFit/>
          </a:bodyPr>
          <a:lstStyle/>
          <a:p>
            <a:r>
              <a:rPr lang="en-ZA" sz="2400" dirty="0"/>
              <a:t>star topology</a:t>
            </a:r>
            <a:endParaRPr lang="en-US" sz="2400" dirty="0"/>
          </a:p>
        </p:txBody>
      </p:sp>
      <p:cxnSp>
        <p:nvCxnSpPr>
          <p:cNvPr id="121" name="Straight Connector 120">
            <a:extLst>
              <a:ext uri="{FF2B5EF4-FFF2-40B4-BE49-F238E27FC236}">
                <a16:creationId xmlns:a16="http://schemas.microsoft.com/office/drawing/2014/main" id="{DA52CFE9-A5EA-C145-8DB9-5B5CECDCE4C3}"/>
              </a:ext>
            </a:extLst>
          </p:cNvPr>
          <p:cNvCxnSpPr>
            <a:cxnSpLocks/>
          </p:cNvCxnSpPr>
          <p:nvPr/>
        </p:nvCxnSpPr>
        <p:spPr>
          <a:xfrm>
            <a:off x="7056384" y="1633081"/>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D84EEE55-30C3-684A-A8EA-0E2792C9124C}"/>
              </a:ext>
            </a:extLst>
          </p:cNvPr>
          <p:cNvCxnSpPr>
            <a:cxnSpLocks/>
          </p:cNvCxnSpPr>
          <p:nvPr/>
        </p:nvCxnSpPr>
        <p:spPr>
          <a:xfrm>
            <a:off x="7056384" y="2210505"/>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1955B90-FEB2-BC4B-8225-D17469C992B2}"/>
              </a:ext>
            </a:extLst>
          </p:cNvPr>
          <p:cNvCxnSpPr>
            <a:cxnSpLocks/>
          </p:cNvCxnSpPr>
          <p:nvPr/>
        </p:nvCxnSpPr>
        <p:spPr>
          <a:xfrm>
            <a:off x="7056384" y="3365353"/>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D1A78F50-3279-4B4C-A416-1E4F07DF5F47}"/>
              </a:ext>
            </a:extLst>
          </p:cNvPr>
          <p:cNvCxnSpPr>
            <a:cxnSpLocks/>
          </p:cNvCxnSpPr>
          <p:nvPr/>
        </p:nvCxnSpPr>
        <p:spPr>
          <a:xfrm>
            <a:off x="7056384" y="2787929"/>
            <a:ext cx="45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C2E2EC22-16EF-0C4E-ACEC-10F49D1AA9E4}"/>
              </a:ext>
            </a:extLst>
          </p:cNvPr>
          <p:cNvSpPr/>
          <p:nvPr/>
        </p:nvSpPr>
        <p:spPr>
          <a:xfrm>
            <a:off x="7390059" y="1363081"/>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E804798A-F253-BD48-90BD-BA1C8DEF990D}"/>
              </a:ext>
            </a:extLst>
          </p:cNvPr>
          <p:cNvSpPr/>
          <p:nvPr/>
        </p:nvSpPr>
        <p:spPr>
          <a:xfrm>
            <a:off x="7390059" y="1940505"/>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D69D6F57-68F6-F84A-AF6A-FA543908322F}"/>
              </a:ext>
            </a:extLst>
          </p:cNvPr>
          <p:cNvSpPr/>
          <p:nvPr/>
        </p:nvSpPr>
        <p:spPr>
          <a:xfrm>
            <a:off x="7390059" y="2517929"/>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70E79696-EC52-D648-90C0-ECDEC3CD1C10}"/>
              </a:ext>
            </a:extLst>
          </p:cNvPr>
          <p:cNvSpPr/>
          <p:nvPr/>
        </p:nvSpPr>
        <p:spPr>
          <a:xfrm>
            <a:off x="7390059" y="3095353"/>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5969D4C4-B6B9-F140-AEE6-CE7AE7E3914F}"/>
              </a:ext>
            </a:extLst>
          </p:cNvPr>
          <p:cNvSpPr/>
          <p:nvPr/>
        </p:nvSpPr>
        <p:spPr>
          <a:xfrm>
            <a:off x="8191136" y="1363081"/>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E09F369F-7950-3545-A8AA-B582EC478ED0}"/>
              </a:ext>
            </a:extLst>
          </p:cNvPr>
          <p:cNvSpPr/>
          <p:nvPr/>
        </p:nvSpPr>
        <p:spPr>
          <a:xfrm>
            <a:off x="8191136" y="1940505"/>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CA4B5BBE-C666-5541-9EA8-690DF6602931}"/>
              </a:ext>
            </a:extLst>
          </p:cNvPr>
          <p:cNvSpPr/>
          <p:nvPr/>
        </p:nvSpPr>
        <p:spPr>
          <a:xfrm>
            <a:off x="8191136" y="2517929"/>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18DEFF67-C405-D647-8BF8-587921B8BD3C}"/>
              </a:ext>
            </a:extLst>
          </p:cNvPr>
          <p:cNvSpPr/>
          <p:nvPr/>
        </p:nvSpPr>
        <p:spPr>
          <a:xfrm>
            <a:off x="8191136" y="3095353"/>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872322C6-B9E7-BE47-9C62-23BD8D4EAF95}"/>
              </a:ext>
            </a:extLst>
          </p:cNvPr>
          <p:cNvSpPr/>
          <p:nvPr/>
        </p:nvSpPr>
        <p:spPr>
          <a:xfrm>
            <a:off x="8992213" y="1363081"/>
            <a:ext cx="540000" cy="540000"/>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sp>
        <p:nvSpPr>
          <p:cNvPr id="134" name="Rectangle 133">
            <a:extLst>
              <a:ext uri="{FF2B5EF4-FFF2-40B4-BE49-F238E27FC236}">
                <a16:creationId xmlns:a16="http://schemas.microsoft.com/office/drawing/2014/main" id="{160C2DF5-6260-4440-871D-246531D6C841}"/>
              </a:ext>
            </a:extLst>
          </p:cNvPr>
          <p:cNvSpPr/>
          <p:nvPr/>
        </p:nvSpPr>
        <p:spPr>
          <a:xfrm>
            <a:off x="9802748" y="1937328"/>
            <a:ext cx="540000" cy="540000"/>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sp>
        <p:nvSpPr>
          <p:cNvPr id="135" name="Rectangle 134">
            <a:extLst>
              <a:ext uri="{FF2B5EF4-FFF2-40B4-BE49-F238E27FC236}">
                <a16:creationId xmlns:a16="http://schemas.microsoft.com/office/drawing/2014/main" id="{E3F792A8-7F1F-2F4A-9D46-FD110630CD0D}"/>
              </a:ext>
            </a:extLst>
          </p:cNvPr>
          <p:cNvSpPr/>
          <p:nvPr/>
        </p:nvSpPr>
        <p:spPr>
          <a:xfrm>
            <a:off x="10593377" y="2520432"/>
            <a:ext cx="540000" cy="540000"/>
          </a:xfrm>
          <a:prstGeom prst="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36" name="Group 135">
            <a:extLst>
              <a:ext uri="{FF2B5EF4-FFF2-40B4-BE49-F238E27FC236}">
                <a16:creationId xmlns:a16="http://schemas.microsoft.com/office/drawing/2014/main" id="{7EA207B8-37CB-0249-A0B0-5E48B4741E05}"/>
              </a:ext>
            </a:extLst>
          </p:cNvPr>
          <p:cNvGrpSpPr/>
          <p:nvPr/>
        </p:nvGrpSpPr>
        <p:grpSpPr>
          <a:xfrm>
            <a:off x="9136213" y="1903081"/>
            <a:ext cx="251999" cy="433423"/>
            <a:chOff x="2441098" y="2590591"/>
            <a:chExt cx="251999" cy="433423"/>
          </a:xfrm>
          <a:solidFill>
            <a:schemeClr val="tx1"/>
          </a:solidFill>
        </p:grpSpPr>
        <p:sp>
          <p:nvSpPr>
            <p:cNvPr id="143" name="Oval 142">
              <a:extLst>
                <a:ext uri="{FF2B5EF4-FFF2-40B4-BE49-F238E27FC236}">
                  <a16:creationId xmlns:a16="http://schemas.microsoft.com/office/drawing/2014/main" id="{1EE2E975-760E-E543-A6F8-B2AF02E099A2}"/>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44" name="Straight Connector 143">
              <a:extLst>
                <a:ext uri="{FF2B5EF4-FFF2-40B4-BE49-F238E27FC236}">
                  <a16:creationId xmlns:a16="http://schemas.microsoft.com/office/drawing/2014/main" id="{BA13C7AF-1FB5-7843-97E4-4064380CCCB2}"/>
                </a:ext>
              </a:extLst>
            </p:cNvPr>
            <p:cNvCxnSpPr>
              <a:cxnSpLocks/>
              <a:stCxn id="143" idx="0"/>
              <a:endCxn id="133" idx="2"/>
            </p:cNvCxnSpPr>
            <p:nvPr/>
          </p:nvCxnSpPr>
          <p:spPr>
            <a:xfrm flipV="1">
              <a:off x="2567098" y="2590591"/>
              <a:ext cx="0" cy="181424"/>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7" name="Group 136">
            <a:extLst>
              <a:ext uri="{FF2B5EF4-FFF2-40B4-BE49-F238E27FC236}">
                <a16:creationId xmlns:a16="http://schemas.microsoft.com/office/drawing/2014/main" id="{D1FFE494-E94F-7541-9BA0-E7D0060ADDC6}"/>
              </a:ext>
            </a:extLst>
          </p:cNvPr>
          <p:cNvGrpSpPr/>
          <p:nvPr/>
        </p:nvGrpSpPr>
        <p:grpSpPr>
          <a:xfrm>
            <a:off x="9946748" y="2477328"/>
            <a:ext cx="251999" cy="445014"/>
            <a:chOff x="2441098" y="2579000"/>
            <a:chExt cx="251999" cy="445014"/>
          </a:xfrm>
          <a:solidFill>
            <a:schemeClr val="tx1"/>
          </a:solidFill>
        </p:grpSpPr>
        <p:sp>
          <p:nvSpPr>
            <p:cNvPr id="141" name="Oval 140">
              <a:extLst>
                <a:ext uri="{FF2B5EF4-FFF2-40B4-BE49-F238E27FC236}">
                  <a16:creationId xmlns:a16="http://schemas.microsoft.com/office/drawing/2014/main" id="{F6B9ACFE-7580-3B4A-90E3-F7D0A2173BA3}"/>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42" name="Straight Connector 141">
              <a:extLst>
                <a:ext uri="{FF2B5EF4-FFF2-40B4-BE49-F238E27FC236}">
                  <a16:creationId xmlns:a16="http://schemas.microsoft.com/office/drawing/2014/main" id="{E1AED547-8D2C-3649-BE66-F9572F0B2E7B}"/>
                </a:ext>
              </a:extLst>
            </p:cNvPr>
            <p:cNvCxnSpPr>
              <a:cxnSpLocks/>
              <a:stCxn id="141" idx="0"/>
              <a:endCxn id="134" idx="2"/>
            </p:cNvCxnSpPr>
            <p:nvPr/>
          </p:nvCxnSpPr>
          <p:spPr>
            <a:xfrm flipV="1">
              <a:off x="2567098" y="2579000"/>
              <a:ext cx="0" cy="193015"/>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8" name="Group 137">
            <a:extLst>
              <a:ext uri="{FF2B5EF4-FFF2-40B4-BE49-F238E27FC236}">
                <a16:creationId xmlns:a16="http://schemas.microsoft.com/office/drawing/2014/main" id="{5D992EB9-9127-1146-BFC7-F91139BE4250}"/>
              </a:ext>
            </a:extLst>
          </p:cNvPr>
          <p:cNvGrpSpPr/>
          <p:nvPr/>
        </p:nvGrpSpPr>
        <p:grpSpPr>
          <a:xfrm>
            <a:off x="10737378" y="3060432"/>
            <a:ext cx="251999" cy="430922"/>
            <a:chOff x="2426112" y="2652474"/>
            <a:chExt cx="251999" cy="430922"/>
          </a:xfrm>
          <a:solidFill>
            <a:schemeClr val="tx1"/>
          </a:solidFill>
        </p:grpSpPr>
        <p:sp>
          <p:nvSpPr>
            <p:cNvPr id="139" name="Oval 138">
              <a:extLst>
                <a:ext uri="{FF2B5EF4-FFF2-40B4-BE49-F238E27FC236}">
                  <a16:creationId xmlns:a16="http://schemas.microsoft.com/office/drawing/2014/main" id="{461460F9-DB5F-344D-A218-9E97A727C3DE}"/>
                </a:ext>
              </a:extLst>
            </p:cNvPr>
            <p:cNvSpPr/>
            <p:nvPr/>
          </p:nvSpPr>
          <p:spPr>
            <a:xfrm>
              <a:off x="2426112" y="2831397"/>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40" name="Straight Connector 139">
              <a:extLst>
                <a:ext uri="{FF2B5EF4-FFF2-40B4-BE49-F238E27FC236}">
                  <a16:creationId xmlns:a16="http://schemas.microsoft.com/office/drawing/2014/main" id="{649B8CD3-4166-FF42-BA0C-583F95825FF7}"/>
                </a:ext>
              </a:extLst>
            </p:cNvPr>
            <p:cNvCxnSpPr>
              <a:cxnSpLocks/>
              <a:stCxn id="139" idx="0"/>
              <a:endCxn id="135" idx="2"/>
            </p:cNvCxnSpPr>
            <p:nvPr/>
          </p:nvCxnSpPr>
          <p:spPr>
            <a:xfrm flipH="1" flipV="1">
              <a:off x="2552111" y="2652474"/>
              <a:ext cx="1" cy="178923"/>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9" name="TextBox 118">
            <a:extLst>
              <a:ext uri="{FF2B5EF4-FFF2-40B4-BE49-F238E27FC236}">
                <a16:creationId xmlns:a16="http://schemas.microsoft.com/office/drawing/2014/main" id="{BB5245CC-34FE-BA42-A06A-22830229C1DA}"/>
              </a:ext>
            </a:extLst>
          </p:cNvPr>
          <p:cNvSpPr txBox="1"/>
          <p:nvPr/>
        </p:nvSpPr>
        <p:spPr>
          <a:xfrm>
            <a:off x="8731136" y="3765690"/>
            <a:ext cx="2066784" cy="461665"/>
          </a:xfrm>
          <a:prstGeom prst="rect">
            <a:avLst/>
          </a:prstGeom>
          <a:noFill/>
        </p:spPr>
        <p:txBody>
          <a:bodyPr wrap="none" rtlCol="0">
            <a:spAutoFit/>
          </a:bodyPr>
          <a:lstStyle/>
          <a:p>
            <a:r>
              <a:rPr lang="en-ZA" sz="2400" dirty="0"/>
              <a:t>linear topology</a:t>
            </a:r>
            <a:endParaRPr lang="en-US" sz="2400" dirty="0"/>
          </a:p>
        </p:txBody>
      </p:sp>
      <p:cxnSp>
        <p:nvCxnSpPr>
          <p:cNvPr id="151" name="Straight Connector 150">
            <a:extLst>
              <a:ext uri="{FF2B5EF4-FFF2-40B4-BE49-F238E27FC236}">
                <a16:creationId xmlns:a16="http://schemas.microsoft.com/office/drawing/2014/main" id="{6B5B7C2A-6CBC-5A43-9379-B90387B3C989}"/>
              </a:ext>
            </a:extLst>
          </p:cNvPr>
          <p:cNvCxnSpPr>
            <a:cxnSpLocks/>
          </p:cNvCxnSpPr>
          <p:nvPr/>
        </p:nvCxnSpPr>
        <p:spPr>
          <a:xfrm>
            <a:off x="443097" y="4718861"/>
            <a:ext cx="72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1A4B2487-98FD-F84A-9FC5-107CFB2F7AC5}"/>
              </a:ext>
            </a:extLst>
          </p:cNvPr>
          <p:cNvCxnSpPr>
            <a:cxnSpLocks/>
          </p:cNvCxnSpPr>
          <p:nvPr/>
        </p:nvCxnSpPr>
        <p:spPr>
          <a:xfrm>
            <a:off x="443097" y="5296285"/>
            <a:ext cx="72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ECC2D261-C66A-2F43-9872-365BBC41D69F}"/>
              </a:ext>
            </a:extLst>
          </p:cNvPr>
          <p:cNvCxnSpPr>
            <a:cxnSpLocks/>
          </p:cNvCxnSpPr>
          <p:nvPr/>
        </p:nvCxnSpPr>
        <p:spPr>
          <a:xfrm>
            <a:off x="443097" y="6451133"/>
            <a:ext cx="72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73114A3-EBAA-CA41-8132-664ABA866C5F}"/>
              </a:ext>
            </a:extLst>
          </p:cNvPr>
          <p:cNvCxnSpPr>
            <a:cxnSpLocks/>
          </p:cNvCxnSpPr>
          <p:nvPr/>
        </p:nvCxnSpPr>
        <p:spPr>
          <a:xfrm>
            <a:off x="443097" y="5873709"/>
            <a:ext cx="720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B34541BB-1996-3347-92B8-2C2913F5623C}"/>
              </a:ext>
            </a:extLst>
          </p:cNvPr>
          <p:cNvSpPr/>
          <p:nvPr/>
        </p:nvSpPr>
        <p:spPr>
          <a:xfrm>
            <a:off x="776772" y="4448861"/>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DFC20C8D-2626-2347-8CF5-A55361EA2641}"/>
              </a:ext>
            </a:extLst>
          </p:cNvPr>
          <p:cNvSpPr/>
          <p:nvPr/>
        </p:nvSpPr>
        <p:spPr>
          <a:xfrm>
            <a:off x="776772" y="5026285"/>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B4B8FABC-8AD3-2344-9085-1514F69C1580}"/>
              </a:ext>
            </a:extLst>
          </p:cNvPr>
          <p:cNvSpPr/>
          <p:nvPr/>
        </p:nvSpPr>
        <p:spPr>
          <a:xfrm>
            <a:off x="776772" y="5603709"/>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0206AA85-8127-0F41-B068-5D6113DAE126}"/>
              </a:ext>
            </a:extLst>
          </p:cNvPr>
          <p:cNvSpPr/>
          <p:nvPr/>
        </p:nvSpPr>
        <p:spPr>
          <a:xfrm>
            <a:off x="776772" y="6181133"/>
            <a:ext cx="540000" cy="54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75463AD9-77F7-0C47-BC4D-FC5727C36EEA}"/>
              </a:ext>
            </a:extLst>
          </p:cNvPr>
          <p:cNvSpPr/>
          <p:nvPr/>
        </p:nvSpPr>
        <p:spPr>
          <a:xfrm>
            <a:off x="1577849" y="4448861"/>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083CFE71-3AA6-0F47-8FFB-F00172BCC163}"/>
              </a:ext>
            </a:extLst>
          </p:cNvPr>
          <p:cNvSpPr/>
          <p:nvPr/>
        </p:nvSpPr>
        <p:spPr>
          <a:xfrm>
            <a:off x="1577849" y="5026285"/>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7A24FCC5-4AC6-3240-A1C5-22BE3F62B89E}"/>
              </a:ext>
            </a:extLst>
          </p:cNvPr>
          <p:cNvSpPr/>
          <p:nvPr/>
        </p:nvSpPr>
        <p:spPr>
          <a:xfrm>
            <a:off x="1577849" y="5603709"/>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549D72C7-2BE2-C244-8408-75035514DED2}"/>
              </a:ext>
            </a:extLst>
          </p:cNvPr>
          <p:cNvSpPr/>
          <p:nvPr/>
        </p:nvSpPr>
        <p:spPr>
          <a:xfrm>
            <a:off x="1577849" y="6181133"/>
            <a:ext cx="540000" cy="540000"/>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F3CD576F-9E95-5C4C-847D-E6E224B27D20}"/>
              </a:ext>
            </a:extLst>
          </p:cNvPr>
          <p:cNvSpPr/>
          <p:nvPr/>
        </p:nvSpPr>
        <p:spPr>
          <a:xfrm>
            <a:off x="2378926" y="4448861"/>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66" name="Group 165">
            <a:extLst>
              <a:ext uri="{FF2B5EF4-FFF2-40B4-BE49-F238E27FC236}">
                <a16:creationId xmlns:a16="http://schemas.microsoft.com/office/drawing/2014/main" id="{C88E7C65-BDBC-3047-88A7-2BCEA89C43C7}"/>
              </a:ext>
            </a:extLst>
          </p:cNvPr>
          <p:cNvGrpSpPr/>
          <p:nvPr/>
        </p:nvGrpSpPr>
        <p:grpSpPr>
          <a:xfrm>
            <a:off x="2522926" y="4988861"/>
            <a:ext cx="251999" cy="433423"/>
            <a:chOff x="2441098" y="2590591"/>
            <a:chExt cx="251999" cy="433423"/>
          </a:xfrm>
          <a:solidFill>
            <a:schemeClr val="tx1"/>
          </a:solidFill>
        </p:grpSpPr>
        <p:sp>
          <p:nvSpPr>
            <p:cNvPr id="173" name="Oval 172">
              <a:extLst>
                <a:ext uri="{FF2B5EF4-FFF2-40B4-BE49-F238E27FC236}">
                  <a16:creationId xmlns:a16="http://schemas.microsoft.com/office/drawing/2014/main" id="{11616FDF-B5AB-1D46-AB1C-97BEF0CEEF14}"/>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74" name="Straight Connector 173">
              <a:extLst>
                <a:ext uri="{FF2B5EF4-FFF2-40B4-BE49-F238E27FC236}">
                  <a16:creationId xmlns:a16="http://schemas.microsoft.com/office/drawing/2014/main" id="{73FF57E0-859D-A341-AF1B-530A4CEFA43F}"/>
                </a:ext>
              </a:extLst>
            </p:cNvPr>
            <p:cNvCxnSpPr>
              <a:cxnSpLocks/>
              <a:stCxn id="173" idx="0"/>
              <a:endCxn id="163" idx="2"/>
            </p:cNvCxnSpPr>
            <p:nvPr/>
          </p:nvCxnSpPr>
          <p:spPr>
            <a:xfrm flipV="1">
              <a:off x="2567098" y="2590591"/>
              <a:ext cx="0" cy="181424"/>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4" name="Rectangle 163">
            <a:extLst>
              <a:ext uri="{FF2B5EF4-FFF2-40B4-BE49-F238E27FC236}">
                <a16:creationId xmlns:a16="http://schemas.microsoft.com/office/drawing/2014/main" id="{C2AD295C-B81B-0444-8685-87379A477D33}"/>
              </a:ext>
            </a:extLst>
          </p:cNvPr>
          <p:cNvSpPr/>
          <p:nvPr/>
        </p:nvSpPr>
        <p:spPr>
          <a:xfrm>
            <a:off x="3234787" y="4448861"/>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67" name="Group 166">
            <a:extLst>
              <a:ext uri="{FF2B5EF4-FFF2-40B4-BE49-F238E27FC236}">
                <a16:creationId xmlns:a16="http://schemas.microsoft.com/office/drawing/2014/main" id="{6E9DC089-C714-9B41-99A4-BB03019EC7C7}"/>
              </a:ext>
            </a:extLst>
          </p:cNvPr>
          <p:cNvGrpSpPr/>
          <p:nvPr/>
        </p:nvGrpSpPr>
        <p:grpSpPr>
          <a:xfrm>
            <a:off x="3378787" y="4988861"/>
            <a:ext cx="251999" cy="1019261"/>
            <a:chOff x="2441098" y="2004753"/>
            <a:chExt cx="251999" cy="1019261"/>
          </a:xfrm>
          <a:solidFill>
            <a:schemeClr val="tx1"/>
          </a:solidFill>
        </p:grpSpPr>
        <p:sp>
          <p:nvSpPr>
            <p:cNvPr id="171" name="Oval 170">
              <a:extLst>
                <a:ext uri="{FF2B5EF4-FFF2-40B4-BE49-F238E27FC236}">
                  <a16:creationId xmlns:a16="http://schemas.microsoft.com/office/drawing/2014/main" id="{16C24EA5-C1F3-5845-B289-E3D45DDACEB2}"/>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72" name="Straight Connector 171">
              <a:extLst>
                <a:ext uri="{FF2B5EF4-FFF2-40B4-BE49-F238E27FC236}">
                  <a16:creationId xmlns:a16="http://schemas.microsoft.com/office/drawing/2014/main" id="{524803CE-867A-F145-A87E-6BE9A1025DB4}"/>
                </a:ext>
              </a:extLst>
            </p:cNvPr>
            <p:cNvCxnSpPr>
              <a:cxnSpLocks/>
              <a:stCxn id="171" idx="0"/>
              <a:endCxn id="164" idx="2"/>
            </p:cNvCxnSpPr>
            <p:nvPr/>
          </p:nvCxnSpPr>
          <p:spPr>
            <a:xfrm flipV="1">
              <a:off x="2567098" y="2004753"/>
              <a:ext cx="0" cy="767262"/>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5" name="Rectangle 164">
            <a:extLst>
              <a:ext uri="{FF2B5EF4-FFF2-40B4-BE49-F238E27FC236}">
                <a16:creationId xmlns:a16="http://schemas.microsoft.com/office/drawing/2014/main" id="{95BD6648-BD0D-CB4F-B51D-039C56FA3480}"/>
              </a:ext>
            </a:extLst>
          </p:cNvPr>
          <p:cNvSpPr/>
          <p:nvPr/>
        </p:nvSpPr>
        <p:spPr>
          <a:xfrm>
            <a:off x="4090648" y="4448861"/>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68" name="Group 167">
            <a:extLst>
              <a:ext uri="{FF2B5EF4-FFF2-40B4-BE49-F238E27FC236}">
                <a16:creationId xmlns:a16="http://schemas.microsoft.com/office/drawing/2014/main" id="{EDF0FAD7-8B87-9942-A655-331584FE08AC}"/>
              </a:ext>
            </a:extLst>
          </p:cNvPr>
          <p:cNvGrpSpPr/>
          <p:nvPr/>
        </p:nvGrpSpPr>
        <p:grpSpPr>
          <a:xfrm>
            <a:off x="4233659" y="4988861"/>
            <a:ext cx="251999" cy="1588273"/>
            <a:chOff x="2426112" y="1495123"/>
            <a:chExt cx="251999" cy="1588273"/>
          </a:xfrm>
          <a:solidFill>
            <a:schemeClr val="tx1"/>
          </a:solidFill>
        </p:grpSpPr>
        <p:sp>
          <p:nvSpPr>
            <p:cNvPr id="169" name="Oval 168">
              <a:extLst>
                <a:ext uri="{FF2B5EF4-FFF2-40B4-BE49-F238E27FC236}">
                  <a16:creationId xmlns:a16="http://schemas.microsoft.com/office/drawing/2014/main" id="{3B6A9008-49B1-174B-8D9A-356A841DAD30}"/>
                </a:ext>
              </a:extLst>
            </p:cNvPr>
            <p:cNvSpPr/>
            <p:nvPr/>
          </p:nvSpPr>
          <p:spPr>
            <a:xfrm>
              <a:off x="2426112" y="2831397"/>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70" name="Straight Connector 169">
              <a:extLst>
                <a:ext uri="{FF2B5EF4-FFF2-40B4-BE49-F238E27FC236}">
                  <a16:creationId xmlns:a16="http://schemas.microsoft.com/office/drawing/2014/main" id="{355F193D-6B47-D34C-AF1B-DD667234CEE8}"/>
                </a:ext>
              </a:extLst>
            </p:cNvPr>
            <p:cNvCxnSpPr>
              <a:cxnSpLocks/>
              <a:stCxn id="169" idx="0"/>
              <a:endCxn id="165" idx="2"/>
            </p:cNvCxnSpPr>
            <p:nvPr/>
          </p:nvCxnSpPr>
          <p:spPr>
            <a:xfrm flipV="1">
              <a:off x="2552112" y="1495123"/>
              <a:ext cx="989" cy="1336274"/>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1" name="Rectangle 100">
            <a:extLst>
              <a:ext uri="{FF2B5EF4-FFF2-40B4-BE49-F238E27FC236}">
                <a16:creationId xmlns:a16="http://schemas.microsoft.com/office/drawing/2014/main" id="{085AB1C8-66E7-374A-AEFD-ED6568901FC4}"/>
              </a:ext>
            </a:extLst>
          </p:cNvPr>
          <p:cNvSpPr/>
          <p:nvPr/>
        </p:nvSpPr>
        <p:spPr>
          <a:xfrm>
            <a:off x="4946509" y="5027353"/>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02" name="Group 101">
            <a:extLst>
              <a:ext uri="{FF2B5EF4-FFF2-40B4-BE49-F238E27FC236}">
                <a16:creationId xmlns:a16="http://schemas.microsoft.com/office/drawing/2014/main" id="{AAD8ECA4-D74C-CF43-8011-147E5AA58556}"/>
              </a:ext>
            </a:extLst>
          </p:cNvPr>
          <p:cNvGrpSpPr/>
          <p:nvPr/>
        </p:nvGrpSpPr>
        <p:grpSpPr>
          <a:xfrm>
            <a:off x="5090509" y="5567353"/>
            <a:ext cx="251999" cy="450355"/>
            <a:chOff x="2441098" y="2573659"/>
            <a:chExt cx="251999" cy="450355"/>
          </a:xfrm>
          <a:solidFill>
            <a:schemeClr val="tx1"/>
          </a:solidFill>
        </p:grpSpPr>
        <p:sp>
          <p:nvSpPr>
            <p:cNvPr id="103" name="Oval 102">
              <a:extLst>
                <a:ext uri="{FF2B5EF4-FFF2-40B4-BE49-F238E27FC236}">
                  <a16:creationId xmlns:a16="http://schemas.microsoft.com/office/drawing/2014/main" id="{0B42B776-659D-194A-89E7-F607BD1E00FC}"/>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04" name="Straight Connector 103">
              <a:extLst>
                <a:ext uri="{FF2B5EF4-FFF2-40B4-BE49-F238E27FC236}">
                  <a16:creationId xmlns:a16="http://schemas.microsoft.com/office/drawing/2014/main" id="{3CA128C1-F3CD-5740-914B-DDD7E15664CB}"/>
                </a:ext>
              </a:extLst>
            </p:cNvPr>
            <p:cNvCxnSpPr>
              <a:cxnSpLocks/>
              <a:stCxn id="103" idx="0"/>
              <a:endCxn id="101" idx="2"/>
            </p:cNvCxnSpPr>
            <p:nvPr/>
          </p:nvCxnSpPr>
          <p:spPr>
            <a:xfrm flipV="1">
              <a:off x="2567098" y="2573659"/>
              <a:ext cx="0" cy="198356"/>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6" name="Rectangle 105">
            <a:extLst>
              <a:ext uri="{FF2B5EF4-FFF2-40B4-BE49-F238E27FC236}">
                <a16:creationId xmlns:a16="http://schemas.microsoft.com/office/drawing/2014/main" id="{42FAB37D-F7A4-A641-913C-EBAF2531BEB5}"/>
              </a:ext>
            </a:extLst>
          </p:cNvPr>
          <p:cNvSpPr/>
          <p:nvPr/>
        </p:nvSpPr>
        <p:spPr>
          <a:xfrm>
            <a:off x="5802370" y="5025061"/>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07" name="Group 106">
            <a:extLst>
              <a:ext uri="{FF2B5EF4-FFF2-40B4-BE49-F238E27FC236}">
                <a16:creationId xmlns:a16="http://schemas.microsoft.com/office/drawing/2014/main" id="{579D97F6-9EB8-CC49-AC30-1985196C2BC4}"/>
              </a:ext>
            </a:extLst>
          </p:cNvPr>
          <p:cNvGrpSpPr/>
          <p:nvPr/>
        </p:nvGrpSpPr>
        <p:grpSpPr>
          <a:xfrm>
            <a:off x="5946370" y="5565061"/>
            <a:ext cx="251999" cy="1012070"/>
            <a:chOff x="2441098" y="2590591"/>
            <a:chExt cx="251999" cy="1012070"/>
          </a:xfrm>
          <a:solidFill>
            <a:schemeClr val="tx1"/>
          </a:solidFill>
        </p:grpSpPr>
        <p:sp>
          <p:nvSpPr>
            <p:cNvPr id="108" name="Oval 107">
              <a:extLst>
                <a:ext uri="{FF2B5EF4-FFF2-40B4-BE49-F238E27FC236}">
                  <a16:creationId xmlns:a16="http://schemas.microsoft.com/office/drawing/2014/main" id="{122E2916-5B56-3C47-BD0A-1DA862AD6DCE}"/>
                </a:ext>
              </a:extLst>
            </p:cNvPr>
            <p:cNvSpPr/>
            <p:nvPr/>
          </p:nvSpPr>
          <p:spPr>
            <a:xfrm>
              <a:off x="2441098" y="3350662"/>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09" name="Straight Connector 108">
              <a:extLst>
                <a:ext uri="{FF2B5EF4-FFF2-40B4-BE49-F238E27FC236}">
                  <a16:creationId xmlns:a16="http://schemas.microsoft.com/office/drawing/2014/main" id="{08D156C8-F6BC-434B-91A3-125BA7A274CA}"/>
                </a:ext>
              </a:extLst>
            </p:cNvPr>
            <p:cNvCxnSpPr>
              <a:cxnSpLocks/>
              <a:stCxn id="108" idx="0"/>
              <a:endCxn id="106" idx="2"/>
            </p:cNvCxnSpPr>
            <p:nvPr/>
          </p:nvCxnSpPr>
          <p:spPr>
            <a:xfrm flipV="1">
              <a:off x="2567098" y="2590591"/>
              <a:ext cx="0" cy="760071"/>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Rectangle 110">
            <a:extLst>
              <a:ext uri="{FF2B5EF4-FFF2-40B4-BE49-F238E27FC236}">
                <a16:creationId xmlns:a16="http://schemas.microsoft.com/office/drawing/2014/main" id="{3728E992-B779-4349-B415-B3781A94BC8B}"/>
              </a:ext>
            </a:extLst>
          </p:cNvPr>
          <p:cNvSpPr/>
          <p:nvPr/>
        </p:nvSpPr>
        <p:spPr>
          <a:xfrm>
            <a:off x="6658233" y="5603709"/>
            <a:ext cx="540000" cy="540000"/>
          </a:xfrm>
          <a:prstGeom prst="rect">
            <a:avLst/>
          </a:prstGeom>
          <a:solidFill>
            <a:schemeClr val="accent5">
              <a:lumMod val="75000"/>
            </a:schemeClr>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tx1"/>
              </a:solidFill>
              <a:latin typeface="Times New Roman" panose="02020603050405020304" pitchFamily="18" charset="0"/>
              <a:cs typeface="Times New Roman" panose="02020603050405020304" pitchFamily="18" charset="0"/>
            </a:endParaRPr>
          </a:p>
        </p:txBody>
      </p:sp>
      <p:grpSp>
        <p:nvGrpSpPr>
          <p:cNvPr id="112" name="Group 111">
            <a:extLst>
              <a:ext uri="{FF2B5EF4-FFF2-40B4-BE49-F238E27FC236}">
                <a16:creationId xmlns:a16="http://schemas.microsoft.com/office/drawing/2014/main" id="{3A3F7184-EB1A-8245-BE65-663535ABFB70}"/>
              </a:ext>
            </a:extLst>
          </p:cNvPr>
          <p:cNvGrpSpPr/>
          <p:nvPr/>
        </p:nvGrpSpPr>
        <p:grpSpPr>
          <a:xfrm>
            <a:off x="6802233" y="6143709"/>
            <a:ext cx="251999" cy="433423"/>
            <a:chOff x="2441098" y="2590591"/>
            <a:chExt cx="251999" cy="433423"/>
          </a:xfrm>
          <a:solidFill>
            <a:schemeClr val="tx1"/>
          </a:solidFill>
        </p:grpSpPr>
        <p:sp>
          <p:nvSpPr>
            <p:cNvPr id="113" name="Oval 112">
              <a:extLst>
                <a:ext uri="{FF2B5EF4-FFF2-40B4-BE49-F238E27FC236}">
                  <a16:creationId xmlns:a16="http://schemas.microsoft.com/office/drawing/2014/main" id="{2C5164A3-B5CD-0040-8AF4-597E3F8BE0BD}"/>
                </a:ext>
              </a:extLst>
            </p:cNvPr>
            <p:cNvSpPr/>
            <p:nvPr/>
          </p:nvSpPr>
          <p:spPr>
            <a:xfrm>
              <a:off x="2441098" y="2772015"/>
              <a:ext cx="251999" cy="251999"/>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Times" pitchFamily="2" charset="0"/>
              </a:endParaRPr>
            </a:p>
          </p:txBody>
        </p:sp>
        <p:cxnSp>
          <p:nvCxnSpPr>
            <p:cNvPr id="114" name="Straight Connector 113">
              <a:extLst>
                <a:ext uri="{FF2B5EF4-FFF2-40B4-BE49-F238E27FC236}">
                  <a16:creationId xmlns:a16="http://schemas.microsoft.com/office/drawing/2014/main" id="{EA90C59A-54EE-454D-9D98-C32C9687C587}"/>
                </a:ext>
              </a:extLst>
            </p:cNvPr>
            <p:cNvCxnSpPr>
              <a:cxnSpLocks/>
              <a:stCxn id="113" idx="0"/>
              <a:endCxn id="111" idx="2"/>
            </p:cNvCxnSpPr>
            <p:nvPr/>
          </p:nvCxnSpPr>
          <p:spPr>
            <a:xfrm flipV="1">
              <a:off x="2567098" y="2590591"/>
              <a:ext cx="0" cy="181424"/>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5" name="TextBox 144">
            <a:extLst>
              <a:ext uri="{FF2B5EF4-FFF2-40B4-BE49-F238E27FC236}">
                <a16:creationId xmlns:a16="http://schemas.microsoft.com/office/drawing/2014/main" id="{FABD24EF-AF1E-A44E-8214-DCF8F450B7ED}"/>
              </a:ext>
            </a:extLst>
          </p:cNvPr>
          <p:cNvSpPr txBox="1"/>
          <p:nvPr/>
        </p:nvSpPr>
        <p:spPr>
          <a:xfrm>
            <a:off x="8297230" y="6076471"/>
            <a:ext cx="1752596" cy="461665"/>
          </a:xfrm>
          <a:prstGeom prst="rect">
            <a:avLst/>
          </a:prstGeom>
          <a:noFill/>
        </p:spPr>
        <p:txBody>
          <a:bodyPr wrap="none" rtlCol="0">
            <a:spAutoFit/>
          </a:bodyPr>
          <a:lstStyle/>
          <a:p>
            <a:r>
              <a:rPr lang="en-ZA" sz="2400" dirty="0"/>
              <a:t>full topology</a:t>
            </a:r>
            <a:endParaRPr lang="en-US" sz="2400" dirty="0"/>
          </a:p>
        </p:txBody>
      </p:sp>
      <p:grpSp>
        <p:nvGrpSpPr>
          <p:cNvPr id="115" name="Group 114">
            <a:extLst>
              <a:ext uri="{FF2B5EF4-FFF2-40B4-BE49-F238E27FC236}">
                <a16:creationId xmlns:a16="http://schemas.microsoft.com/office/drawing/2014/main" id="{5CB8339D-FEA4-9A44-8FC6-432DCB610556}"/>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116" name="Rectangle 115">
                  <a:extLst>
                    <a:ext uri="{FF2B5EF4-FFF2-40B4-BE49-F238E27FC236}">
                      <a16:creationId xmlns:a16="http://schemas.microsoft.com/office/drawing/2014/main" id="{99BF993B-6075-234A-8922-89A385A01C8C}"/>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4" name="Rectangle 153">
                  <a:extLst>
                    <a:ext uri="{FF2B5EF4-FFF2-40B4-BE49-F238E27FC236}">
                      <a16:creationId xmlns:a16="http://schemas.microsoft.com/office/drawing/2014/main" id="{11ADD2D3-D169-3943-BB3C-CD31935F9AE0}"/>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3"/>
                  <a:stretch>
                    <a:fillRect/>
                  </a:stretch>
                </a:blipFill>
              </p:spPr>
              <p:txBody>
                <a:bodyPr/>
                <a:lstStyle/>
                <a:p>
                  <a:r>
                    <a:rPr lang="en-US">
                      <a:noFill/>
                    </a:rPr>
                    <a:t> </a:t>
                  </a:r>
                </a:p>
              </p:txBody>
            </p:sp>
          </mc:Fallback>
        </mc:AlternateContent>
        <p:cxnSp>
          <p:nvCxnSpPr>
            <p:cNvPr id="117" name="Straight Connector 116">
              <a:extLst>
                <a:ext uri="{FF2B5EF4-FFF2-40B4-BE49-F238E27FC236}">
                  <a16:creationId xmlns:a16="http://schemas.microsoft.com/office/drawing/2014/main" id="{EECAE5A3-EE63-CF49-889D-E9184ADB29A0}"/>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2B7EC1B1-1798-6242-BFA5-41FF9EFBBAE3}"/>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Rectangle 119">
                  <a:extLst>
                    <a:ext uri="{FF2B5EF4-FFF2-40B4-BE49-F238E27FC236}">
                      <a16:creationId xmlns:a16="http://schemas.microsoft.com/office/drawing/2014/main" id="{12573453-4E73-EB4B-9C74-016CA3AA20DF}"/>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7" name="Rectangle 156">
                  <a:extLst>
                    <a:ext uri="{FF2B5EF4-FFF2-40B4-BE49-F238E27FC236}">
                      <a16:creationId xmlns:a16="http://schemas.microsoft.com/office/drawing/2014/main" id="{73F24AF4-D0E6-7040-A0A9-D7A982CB0CF3}"/>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4"/>
                  <a:stretch>
                    <a:fillRect/>
                  </a:stretch>
                </a:blipFill>
              </p:spPr>
              <p:txBody>
                <a:bodyPr/>
                <a:lstStyle/>
                <a:p>
                  <a:r>
                    <a:rPr lang="en-US">
                      <a:noFill/>
                    </a:rPr>
                    <a:t> </a:t>
                  </a:r>
                </a:p>
              </p:txBody>
            </p:sp>
          </mc:Fallback>
        </mc:AlternateContent>
        <p:sp>
          <p:nvSpPr>
            <p:cNvPr id="146" name="Rectangle 145">
              <a:extLst>
                <a:ext uri="{FF2B5EF4-FFF2-40B4-BE49-F238E27FC236}">
                  <a16:creationId xmlns:a16="http://schemas.microsoft.com/office/drawing/2014/main" id="{6C505726-06BC-C349-BABF-DB3F2B6255E6}"/>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25946568-5636-A144-8A82-298B81E5C945}"/>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159" name="Rectangle 158">
                  <a:extLst>
                    <a:ext uri="{FF2B5EF4-FFF2-40B4-BE49-F238E27FC236}">
                      <a16:creationId xmlns:a16="http://schemas.microsoft.com/office/drawing/2014/main" id="{EDC41B11-34E1-E34C-92E8-07927830789C}"/>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5"/>
                  <a:stretch>
                    <a:fillRect b="-14815"/>
                  </a:stretch>
                </a:blipFill>
              </p:spPr>
              <p:txBody>
                <a:bodyPr/>
                <a:lstStyle/>
                <a:p>
                  <a:r>
                    <a:rPr lang="en-US">
                      <a:noFill/>
                    </a:rPr>
                    <a:t> </a:t>
                  </a:r>
                </a:p>
              </p:txBody>
            </p:sp>
          </mc:Fallback>
        </mc:AlternateContent>
        <p:sp>
          <p:nvSpPr>
            <p:cNvPr id="148" name="Rectangle 147">
              <a:extLst>
                <a:ext uri="{FF2B5EF4-FFF2-40B4-BE49-F238E27FC236}">
                  <a16:creationId xmlns:a16="http://schemas.microsoft.com/office/drawing/2014/main" id="{1F877F91-8B7C-524A-8407-34A0BE40B8A5}"/>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9" name="Rectangle 148">
                  <a:extLst>
                    <a:ext uri="{FF2B5EF4-FFF2-40B4-BE49-F238E27FC236}">
                      <a16:creationId xmlns:a16="http://schemas.microsoft.com/office/drawing/2014/main" id="{58CB2930-9010-6D44-AE13-60F8793D2C85}"/>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161" name="Rectangle 160">
                  <a:extLst>
                    <a:ext uri="{FF2B5EF4-FFF2-40B4-BE49-F238E27FC236}">
                      <a16:creationId xmlns:a16="http://schemas.microsoft.com/office/drawing/2014/main" id="{DCA4F7B0-C192-B04A-9752-7F69EDE82F4B}"/>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6"/>
                  <a:stretch>
                    <a:fillRect/>
                  </a:stretch>
                </a:blipFill>
              </p:spPr>
              <p:txBody>
                <a:bodyPr/>
                <a:lstStyle/>
                <a:p>
                  <a:r>
                    <a:rPr lang="en-US">
                      <a:noFill/>
                    </a:rPr>
                    <a:t> </a:t>
                  </a:r>
                </a:p>
              </p:txBody>
            </p:sp>
          </mc:Fallback>
        </mc:AlternateContent>
        <p:sp>
          <p:nvSpPr>
            <p:cNvPr id="150" name="Rectangle 149">
              <a:extLst>
                <a:ext uri="{FF2B5EF4-FFF2-40B4-BE49-F238E27FC236}">
                  <a16:creationId xmlns:a16="http://schemas.microsoft.com/office/drawing/2014/main" id="{592C47E9-54C7-2243-9D38-F28A7D87B301}"/>
                </a:ext>
              </a:extLst>
            </p:cNvPr>
            <p:cNvSpPr/>
            <p:nvPr/>
          </p:nvSpPr>
          <p:spPr>
            <a:xfrm>
              <a:off x="9471016" y="812887"/>
              <a:ext cx="540000" cy="720000"/>
            </a:xfrm>
            <a:prstGeom prst="rect">
              <a:avLst/>
            </a:prstGeom>
            <a:solidFill>
              <a:srgbClr val="30E845"/>
            </a:solidFill>
            <a:ln>
              <a:solidFill>
                <a:schemeClr val="accent1">
                  <a:shade val="50000"/>
                </a:schemeClr>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6" name="Rectangle 175">
                  <a:extLst>
                    <a:ext uri="{FF2B5EF4-FFF2-40B4-BE49-F238E27FC236}">
                      <a16:creationId xmlns:a16="http://schemas.microsoft.com/office/drawing/2014/main" id="{DD514827-53C3-E146-9F02-C465F39EA6B8}"/>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176" name="Rectangle 175">
                  <a:extLst>
                    <a:ext uri="{FF2B5EF4-FFF2-40B4-BE49-F238E27FC236}">
                      <a16:creationId xmlns:a16="http://schemas.microsoft.com/office/drawing/2014/main" id="{DD514827-53C3-E146-9F02-C465F39EA6B8}"/>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7"/>
                  <a:stretch>
                    <a:fillRect b="-10714"/>
                  </a:stretch>
                </a:blipFill>
              </p:spPr>
              <p:txBody>
                <a:bodyPr/>
                <a:lstStyle/>
                <a:p>
                  <a:r>
                    <a:rPr lang="sr-Latn-RS">
                      <a:noFill/>
                    </a:rPr>
                    <a:t> </a:t>
                  </a:r>
                </a:p>
              </p:txBody>
            </p:sp>
          </mc:Fallback>
        </mc:AlternateContent>
        <p:sp>
          <p:nvSpPr>
            <p:cNvPr id="177" name="Rectangle 176">
              <a:extLst>
                <a:ext uri="{FF2B5EF4-FFF2-40B4-BE49-F238E27FC236}">
                  <a16:creationId xmlns:a16="http://schemas.microsoft.com/office/drawing/2014/main" id="{EE550B92-5990-B940-8A27-4F099A4F8001}"/>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8" name="Rectangle 177">
                  <a:extLst>
                    <a:ext uri="{FF2B5EF4-FFF2-40B4-BE49-F238E27FC236}">
                      <a16:creationId xmlns:a16="http://schemas.microsoft.com/office/drawing/2014/main" id="{C1FAD033-FAEA-A342-A65B-931E12DD09C8}"/>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165" name="Rectangle 164">
                  <a:extLst>
                    <a:ext uri="{FF2B5EF4-FFF2-40B4-BE49-F238E27FC236}">
                      <a16:creationId xmlns:a16="http://schemas.microsoft.com/office/drawing/2014/main" id="{DAC8D148-2BEA-DA40-8044-7E2D2066D1A2}"/>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Rectangle 178">
                  <a:extLst>
                    <a:ext uri="{FF2B5EF4-FFF2-40B4-BE49-F238E27FC236}">
                      <a16:creationId xmlns:a16="http://schemas.microsoft.com/office/drawing/2014/main" id="{DB92C5AC-D044-944F-88E0-2A2F799C525D}"/>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166" name="Rectangle 165">
                  <a:extLst>
                    <a:ext uri="{FF2B5EF4-FFF2-40B4-BE49-F238E27FC236}">
                      <a16:creationId xmlns:a16="http://schemas.microsoft.com/office/drawing/2014/main" id="{B302ECB5-E617-FF48-A040-38067D469A22}"/>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848877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B0C73F8A-CFA1-1044-835C-E79FA7C404C1}"/>
              </a:ext>
            </a:extLst>
          </p:cNvPr>
          <p:cNvPicPr>
            <a:picLocks noChangeAspect="1"/>
          </p:cNvPicPr>
          <p:nvPr/>
        </p:nvPicPr>
        <p:blipFill>
          <a:blip r:embed="rId3"/>
          <a:stretch>
            <a:fillRect/>
          </a:stretch>
        </p:blipFill>
        <p:spPr>
          <a:xfrm>
            <a:off x="8428890" y="2662600"/>
            <a:ext cx="2520559" cy="3640807"/>
          </a:xfrm>
          <a:prstGeom prst="rect">
            <a:avLst/>
          </a:prstGeom>
        </p:spPr>
      </p:pic>
      <p:sp>
        <p:nvSpPr>
          <p:cNvPr id="2" name="Title 1">
            <a:extLst>
              <a:ext uri="{FF2B5EF4-FFF2-40B4-BE49-F238E27FC236}">
                <a16:creationId xmlns:a16="http://schemas.microsoft.com/office/drawing/2014/main" id="{A5253531-2CA3-474E-8785-00DF52F30EFD}"/>
              </a:ext>
            </a:extLst>
          </p:cNvPr>
          <p:cNvSpPr>
            <a:spLocks noGrp="1"/>
          </p:cNvSpPr>
          <p:nvPr>
            <p:ph type="title"/>
          </p:nvPr>
        </p:nvSpPr>
        <p:spPr/>
        <p:txBody>
          <a:bodyPr/>
          <a:lstStyle/>
          <a:p>
            <a:r>
              <a:rPr lang="en-ZA" dirty="0"/>
              <a:t>Measurement and Readout in VQC</a:t>
            </a:r>
          </a:p>
        </p:txBody>
      </p:sp>
      <p:sp>
        <p:nvSpPr>
          <p:cNvPr id="3" name="Slide Number Placeholder 2">
            <a:extLst>
              <a:ext uri="{FF2B5EF4-FFF2-40B4-BE49-F238E27FC236}">
                <a16:creationId xmlns:a16="http://schemas.microsoft.com/office/drawing/2014/main" id="{274CE28A-1D25-3146-8B0E-3B66BA3100BF}"/>
              </a:ext>
            </a:extLst>
          </p:cNvPr>
          <p:cNvSpPr>
            <a:spLocks noGrp="1"/>
          </p:cNvSpPr>
          <p:nvPr>
            <p:ph type="sldNum" sz="quarter" idx="12"/>
          </p:nvPr>
        </p:nvSpPr>
        <p:spPr/>
        <p:txBody>
          <a:bodyPr/>
          <a:lstStyle/>
          <a:p>
            <a:fld id="{591A223C-FA10-BC46-A853-03BA373D023C}" type="slidenum">
              <a:rPr lang="en-US" smtClean="0"/>
              <a:t>19</a:t>
            </a:fld>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188EBFF-8716-EC47-9A05-0D881AA0D97A}"/>
                  </a:ext>
                </a:extLst>
              </p:cNvPr>
              <p:cNvSpPr/>
              <p:nvPr/>
            </p:nvSpPr>
            <p:spPr>
              <a:xfrm>
                <a:off x="338426" y="2609481"/>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0" name="Rectangle 19">
                <a:extLst>
                  <a:ext uri="{FF2B5EF4-FFF2-40B4-BE49-F238E27FC236}">
                    <a16:creationId xmlns:a16="http://schemas.microsoft.com/office/drawing/2014/main" id="{5188EBFF-8716-EC47-9A05-0D881AA0D97A}"/>
                  </a:ext>
                </a:extLst>
              </p:cNvPr>
              <p:cNvSpPr>
                <a:spLocks noRot="1" noChangeAspect="1" noMove="1" noResize="1" noEditPoints="1" noAdjustHandles="1" noChangeArrowheads="1" noChangeShapeType="1" noTextEdit="1"/>
              </p:cNvSpPr>
              <p:nvPr/>
            </p:nvSpPr>
            <p:spPr>
              <a:xfrm>
                <a:off x="338426" y="2609481"/>
                <a:ext cx="707886" cy="523220"/>
              </a:xfrm>
              <a:prstGeom prst="rect">
                <a:avLst/>
              </a:prstGeom>
              <a:blipFill>
                <a:blip r:embed="rId4"/>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D30DA8A1-0771-5046-9316-DE118B3E0306}"/>
              </a:ext>
            </a:extLst>
          </p:cNvPr>
          <p:cNvCxnSpPr>
            <a:cxnSpLocks/>
          </p:cNvCxnSpPr>
          <p:nvPr/>
        </p:nvCxnSpPr>
        <p:spPr>
          <a:xfrm>
            <a:off x="1046312" y="2890290"/>
            <a:ext cx="61334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7FA3FBC-508D-E74E-8CF1-BCBA03584A81}"/>
              </a:ext>
            </a:extLst>
          </p:cNvPr>
          <p:cNvCxnSpPr>
            <a:cxnSpLocks/>
          </p:cNvCxnSpPr>
          <p:nvPr/>
        </p:nvCxnSpPr>
        <p:spPr>
          <a:xfrm>
            <a:off x="1046312" y="3511320"/>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C911DDF-7416-5647-B0D9-D8F78566DA5E}"/>
              </a:ext>
            </a:extLst>
          </p:cNvPr>
          <p:cNvCxnSpPr>
            <a:cxnSpLocks/>
          </p:cNvCxnSpPr>
          <p:nvPr/>
        </p:nvCxnSpPr>
        <p:spPr>
          <a:xfrm>
            <a:off x="1046312" y="4132350"/>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9EB5A1B-3724-9142-946D-ED0BD94A1436}"/>
              </a:ext>
            </a:extLst>
          </p:cNvPr>
          <p:cNvCxnSpPr>
            <a:cxnSpLocks/>
          </p:cNvCxnSpPr>
          <p:nvPr/>
        </p:nvCxnSpPr>
        <p:spPr>
          <a:xfrm>
            <a:off x="1046312" y="5916255"/>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E44E7A0-439A-CF46-A331-47AD0D14C958}"/>
                  </a:ext>
                </a:extLst>
              </p:cNvPr>
              <p:cNvSpPr/>
              <p:nvPr/>
            </p:nvSpPr>
            <p:spPr>
              <a:xfrm>
                <a:off x="338426" y="3268760"/>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5" name="Rectangle 24">
                <a:extLst>
                  <a:ext uri="{FF2B5EF4-FFF2-40B4-BE49-F238E27FC236}">
                    <a16:creationId xmlns:a16="http://schemas.microsoft.com/office/drawing/2014/main" id="{EE44E7A0-439A-CF46-A331-47AD0D14C958}"/>
                  </a:ext>
                </a:extLst>
              </p:cNvPr>
              <p:cNvSpPr>
                <a:spLocks noRot="1" noChangeAspect="1" noMove="1" noResize="1" noEditPoints="1" noAdjustHandles="1" noChangeArrowheads="1" noChangeShapeType="1" noTextEdit="1"/>
              </p:cNvSpPr>
              <p:nvPr/>
            </p:nvSpPr>
            <p:spPr>
              <a:xfrm>
                <a:off x="338426" y="3268760"/>
                <a:ext cx="707886"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D077E42-1671-2547-A842-917B91D97CCE}"/>
                  </a:ext>
                </a:extLst>
              </p:cNvPr>
              <p:cNvSpPr/>
              <p:nvPr/>
            </p:nvSpPr>
            <p:spPr>
              <a:xfrm>
                <a:off x="338426" y="3928039"/>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6" name="Rectangle 25">
                <a:extLst>
                  <a:ext uri="{FF2B5EF4-FFF2-40B4-BE49-F238E27FC236}">
                    <a16:creationId xmlns:a16="http://schemas.microsoft.com/office/drawing/2014/main" id="{4D077E42-1671-2547-A842-917B91D97CCE}"/>
                  </a:ext>
                </a:extLst>
              </p:cNvPr>
              <p:cNvSpPr>
                <a:spLocks noRot="1" noChangeAspect="1" noMove="1" noResize="1" noEditPoints="1" noAdjustHandles="1" noChangeArrowheads="1" noChangeShapeType="1" noTextEdit="1"/>
              </p:cNvSpPr>
              <p:nvPr/>
            </p:nvSpPr>
            <p:spPr>
              <a:xfrm>
                <a:off x="338426" y="3928039"/>
                <a:ext cx="707886"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B9FEE06A-3D7C-8F42-85B3-DBA88FDEA53E}"/>
                  </a:ext>
                </a:extLst>
              </p:cNvPr>
              <p:cNvSpPr/>
              <p:nvPr/>
            </p:nvSpPr>
            <p:spPr>
              <a:xfrm>
                <a:off x="338426" y="5633183"/>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7" name="Rectangle 26">
                <a:extLst>
                  <a:ext uri="{FF2B5EF4-FFF2-40B4-BE49-F238E27FC236}">
                    <a16:creationId xmlns:a16="http://schemas.microsoft.com/office/drawing/2014/main" id="{B9FEE06A-3D7C-8F42-85B3-DBA88FDEA53E}"/>
                  </a:ext>
                </a:extLst>
              </p:cNvPr>
              <p:cNvSpPr>
                <a:spLocks noRot="1" noChangeAspect="1" noMove="1" noResize="1" noEditPoints="1" noAdjustHandles="1" noChangeArrowheads="1" noChangeShapeType="1" noTextEdit="1"/>
              </p:cNvSpPr>
              <p:nvPr/>
            </p:nvSpPr>
            <p:spPr>
              <a:xfrm>
                <a:off x="338426" y="5633183"/>
                <a:ext cx="707886" cy="523220"/>
              </a:xfrm>
              <a:prstGeom prst="rect">
                <a:avLst/>
              </a:prstGeom>
              <a:blipFill>
                <a:blip r:embed="rId7"/>
                <a:stretch>
                  <a:fillRect/>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DF9427F0-7D25-4D43-8348-F083C8994DE7}"/>
              </a:ext>
            </a:extLst>
          </p:cNvPr>
          <p:cNvSpPr/>
          <p:nvPr/>
        </p:nvSpPr>
        <p:spPr>
          <a:xfrm>
            <a:off x="554350" y="4349724"/>
            <a:ext cx="276038" cy="1384995"/>
          </a:xfrm>
          <a:prstGeom prst="rect">
            <a:avLst/>
          </a:prstGeom>
        </p:spPr>
        <p:txBody>
          <a:bodyPr wrap="none">
            <a:spAutoFit/>
          </a:bodyPr>
          <a:lstStyle/>
          <a:p>
            <a:r>
              <a:rPr lang="en-US" sz="2800" dirty="0"/>
              <a:t>.</a:t>
            </a:r>
          </a:p>
          <a:p>
            <a:r>
              <a:rPr lang="en-US" sz="2800" dirty="0"/>
              <a:t>.</a:t>
            </a:r>
          </a:p>
          <a:p>
            <a:r>
              <a:rPr lang="en-US" sz="2800" dirty="0"/>
              <a:t>.</a:t>
            </a:r>
          </a:p>
        </p:txBody>
      </p:sp>
      <p:grpSp>
        <p:nvGrpSpPr>
          <p:cNvPr id="29" name="Group 28">
            <a:extLst>
              <a:ext uri="{FF2B5EF4-FFF2-40B4-BE49-F238E27FC236}">
                <a16:creationId xmlns:a16="http://schemas.microsoft.com/office/drawing/2014/main" id="{63F170BE-22D9-834F-8FCE-04D72CF6E6E7}"/>
              </a:ext>
            </a:extLst>
          </p:cNvPr>
          <p:cNvGrpSpPr/>
          <p:nvPr/>
        </p:nvGrpSpPr>
        <p:grpSpPr>
          <a:xfrm>
            <a:off x="1538273" y="2527774"/>
            <a:ext cx="1768031" cy="3846969"/>
            <a:chOff x="1508568" y="1984444"/>
            <a:chExt cx="1768031" cy="3846969"/>
          </a:xfrm>
        </p:grpSpPr>
        <p:sp>
          <p:nvSpPr>
            <p:cNvPr id="30" name="Rectangle 29">
              <a:extLst>
                <a:ext uri="{FF2B5EF4-FFF2-40B4-BE49-F238E27FC236}">
                  <a16:creationId xmlns:a16="http://schemas.microsoft.com/office/drawing/2014/main" id="{60EB9E5A-62C8-A049-805B-22A60E738652}"/>
                </a:ext>
              </a:extLst>
            </p:cNvPr>
            <p:cNvSpPr/>
            <p:nvPr/>
          </p:nvSpPr>
          <p:spPr>
            <a:xfrm>
              <a:off x="1508568" y="1984444"/>
              <a:ext cx="1768031" cy="384696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A1783104-833D-8144-81E4-C5F0C02EF9D4}"/>
                    </a:ext>
                  </a:extLst>
                </p:cNvPr>
                <p:cNvSpPr/>
                <p:nvPr/>
              </p:nvSpPr>
              <p:spPr>
                <a:xfrm>
                  <a:off x="1703997" y="3536837"/>
                  <a:ext cx="1377172"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𝑈</m:t>
                        </m:r>
                        <m:r>
                          <a:rPr lang="en-US" sz="4000" i="1" smtClean="0">
                            <a:latin typeface="Cambria Math" panose="02040503050406030204" pitchFamily="18" charset="0"/>
                          </a:rPr>
                          <m:t>(</m:t>
                        </m:r>
                        <m:r>
                          <a:rPr lang="en-US" sz="4000" b="0" i="1" smtClean="0">
                            <a:latin typeface="Cambria Math" panose="02040503050406030204" pitchFamily="18" charset="0"/>
                          </a:rPr>
                          <m:t>𝑥</m:t>
                        </m:r>
                        <m:r>
                          <a:rPr lang="en-US" sz="4000" i="1">
                            <a:latin typeface="Cambria Math" panose="02040503050406030204" pitchFamily="18" charset="0"/>
                          </a:rPr>
                          <m:t>)</m:t>
                        </m:r>
                      </m:oMath>
                    </m:oMathPara>
                  </a14:m>
                  <a:endParaRPr lang="en-US" sz="4000" dirty="0"/>
                </a:p>
              </p:txBody>
            </p:sp>
          </mc:Choice>
          <mc:Fallback xmlns="">
            <p:sp>
              <p:nvSpPr>
                <p:cNvPr id="31" name="Rectangle 30">
                  <a:extLst>
                    <a:ext uri="{FF2B5EF4-FFF2-40B4-BE49-F238E27FC236}">
                      <a16:creationId xmlns:a16="http://schemas.microsoft.com/office/drawing/2014/main" id="{A1783104-833D-8144-81E4-C5F0C02EF9D4}"/>
                    </a:ext>
                  </a:extLst>
                </p:cNvPr>
                <p:cNvSpPr>
                  <a:spLocks noRot="1" noChangeAspect="1" noMove="1" noResize="1" noEditPoints="1" noAdjustHandles="1" noChangeArrowheads="1" noChangeShapeType="1" noTextEdit="1"/>
                </p:cNvSpPr>
                <p:nvPr/>
              </p:nvSpPr>
              <p:spPr>
                <a:xfrm>
                  <a:off x="1703997" y="3536837"/>
                  <a:ext cx="1377172" cy="707886"/>
                </a:xfrm>
                <a:prstGeom prst="rect">
                  <a:avLst/>
                </a:prstGeom>
                <a:blipFill>
                  <a:blip r:embed="rId8"/>
                  <a:stretch>
                    <a:fillRect l="-1835" r="-5505" b="-22807"/>
                  </a:stretch>
                </a:blipFill>
              </p:spPr>
              <p:txBody>
                <a:bodyPr/>
                <a:lstStyle/>
                <a:p>
                  <a:r>
                    <a:rPr lang="en-US">
                      <a:noFill/>
                    </a:rPr>
                    <a:t> </a:t>
                  </a:r>
                </a:p>
              </p:txBody>
            </p:sp>
          </mc:Fallback>
        </mc:AlternateContent>
      </p:grpSp>
      <p:grpSp>
        <p:nvGrpSpPr>
          <p:cNvPr id="32" name="Group 31">
            <a:extLst>
              <a:ext uri="{FF2B5EF4-FFF2-40B4-BE49-F238E27FC236}">
                <a16:creationId xmlns:a16="http://schemas.microsoft.com/office/drawing/2014/main" id="{3C0D00D7-62DC-6F4C-AF40-808A3E7C805A}"/>
              </a:ext>
            </a:extLst>
          </p:cNvPr>
          <p:cNvGrpSpPr/>
          <p:nvPr/>
        </p:nvGrpSpPr>
        <p:grpSpPr>
          <a:xfrm>
            <a:off x="3750357" y="2510625"/>
            <a:ext cx="1768031" cy="3846969"/>
            <a:chOff x="4067873" y="1962409"/>
            <a:chExt cx="1768031" cy="3846969"/>
          </a:xfrm>
        </p:grpSpPr>
        <p:sp>
          <p:nvSpPr>
            <p:cNvPr id="33" name="Rectangle 32">
              <a:extLst>
                <a:ext uri="{FF2B5EF4-FFF2-40B4-BE49-F238E27FC236}">
                  <a16:creationId xmlns:a16="http://schemas.microsoft.com/office/drawing/2014/main" id="{0C12EF7F-6591-844C-84C9-5E149367C049}"/>
                </a:ext>
              </a:extLst>
            </p:cNvPr>
            <p:cNvSpPr/>
            <p:nvPr/>
          </p:nvSpPr>
          <p:spPr>
            <a:xfrm>
              <a:off x="4067873" y="1962409"/>
              <a:ext cx="1768031" cy="3846969"/>
            </a:xfrm>
            <a:prstGeom prst="rect">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EBB7C09-8327-2948-9EC8-632F41A5CC75}"/>
                    </a:ext>
                  </a:extLst>
                </p:cNvPr>
                <p:cNvSpPr/>
                <p:nvPr/>
              </p:nvSpPr>
              <p:spPr>
                <a:xfrm>
                  <a:off x="4209122" y="3549099"/>
                  <a:ext cx="136691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𝑉</m:t>
                        </m:r>
                        <m:r>
                          <a:rPr lang="en-US" sz="4000" i="1" smtClean="0">
                            <a:latin typeface="Cambria Math" panose="02040503050406030204" pitchFamily="18" charset="0"/>
                          </a:rPr>
                          <m:t>(</m:t>
                        </m:r>
                        <m:r>
                          <a:rPr lang="en-US" sz="4000" i="1">
                            <a:latin typeface="Cambria Math" panose="02040503050406030204" pitchFamily="18" charset="0"/>
                            <a:ea typeface="Cambria Math" panose="02040503050406030204" pitchFamily="18" charset="0"/>
                          </a:rPr>
                          <m:t>𝜃</m:t>
                        </m:r>
                        <m:r>
                          <a:rPr lang="en-US" sz="4000" i="1">
                            <a:latin typeface="Cambria Math" panose="02040503050406030204" pitchFamily="18" charset="0"/>
                          </a:rPr>
                          <m:t>)</m:t>
                        </m:r>
                      </m:oMath>
                    </m:oMathPara>
                  </a14:m>
                  <a:endParaRPr lang="en-US" sz="4000" dirty="0"/>
                </a:p>
              </p:txBody>
            </p:sp>
          </mc:Choice>
          <mc:Fallback xmlns="">
            <p:sp>
              <p:nvSpPr>
                <p:cNvPr id="34" name="Rectangle 33">
                  <a:extLst>
                    <a:ext uri="{FF2B5EF4-FFF2-40B4-BE49-F238E27FC236}">
                      <a16:creationId xmlns:a16="http://schemas.microsoft.com/office/drawing/2014/main" id="{2EBB7C09-8327-2948-9EC8-632F41A5CC75}"/>
                    </a:ext>
                  </a:extLst>
                </p:cNvPr>
                <p:cNvSpPr>
                  <a:spLocks noRot="1" noChangeAspect="1" noMove="1" noResize="1" noEditPoints="1" noAdjustHandles="1" noChangeArrowheads="1" noChangeShapeType="1" noTextEdit="1"/>
                </p:cNvSpPr>
                <p:nvPr/>
              </p:nvSpPr>
              <p:spPr>
                <a:xfrm>
                  <a:off x="4209122" y="3549099"/>
                  <a:ext cx="1366913" cy="707886"/>
                </a:xfrm>
                <a:prstGeom prst="rect">
                  <a:avLst/>
                </a:prstGeom>
                <a:blipFill>
                  <a:blip r:embed="rId9"/>
                  <a:stretch>
                    <a:fillRect l="-917" r="-5505" b="-25000"/>
                  </a:stretch>
                </a:blipFill>
              </p:spPr>
              <p:txBody>
                <a:bodyPr/>
                <a:lstStyle/>
                <a:p>
                  <a:r>
                    <a:rPr lang="sr-Latn-RS">
                      <a:noFill/>
                    </a:rPr>
                    <a:t> </a:t>
                  </a:r>
                </a:p>
              </p:txBody>
            </p:sp>
          </mc:Fallback>
        </mc:AlternateContent>
      </p:gr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4FCC5799-72ED-4A4D-AC31-526D761D74AB}"/>
                  </a:ext>
                </a:extLst>
              </p:cNvPr>
              <p:cNvSpPr/>
              <p:nvPr/>
            </p:nvSpPr>
            <p:spPr>
              <a:xfrm>
                <a:off x="7179714" y="2640257"/>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7" name="Rectangle 46">
                <a:extLst>
                  <a:ext uri="{FF2B5EF4-FFF2-40B4-BE49-F238E27FC236}">
                    <a16:creationId xmlns:a16="http://schemas.microsoft.com/office/drawing/2014/main" id="{4FCC5799-72ED-4A4D-AC31-526D761D74AB}"/>
                  </a:ext>
                </a:extLst>
              </p:cNvPr>
              <p:cNvSpPr>
                <a:spLocks noRot="1" noChangeAspect="1" noMove="1" noResize="1" noEditPoints="1" noAdjustHandles="1" noChangeArrowheads="1" noChangeShapeType="1" noTextEdit="1"/>
              </p:cNvSpPr>
              <p:nvPr/>
            </p:nvSpPr>
            <p:spPr>
              <a:xfrm>
                <a:off x="7179714" y="2640257"/>
                <a:ext cx="430374" cy="461665"/>
              </a:xfrm>
              <a:prstGeom prst="rect">
                <a:avLst/>
              </a:prstGeom>
              <a:blipFill>
                <a:blip r:embed="rId10"/>
                <a:stretch>
                  <a:fillRect b="-8108"/>
                </a:stretch>
              </a:blipFill>
            </p:spPr>
            <p:txBody>
              <a:bodyPr/>
              <a:lstStyle/>
              <a:p>
                <a:r>
                  <a:rPr lang="en-US">
                    <a:noFill/>
                  </a:rPr>
                  <a:t> </a:t>
                </a:r>
              </a:p>
            </p:txBody>
          </p:sp>
        </mc:Fallback>
      </mc:AlternateContent>
      <p:pic>
        <p:nvPicPr>
          <p:cNvPr id="57" name="Picture 56">
            <a:extLst>
              <a:ext uri="{FF2B5EF4-FFF2-40B4-BE49-F238E27FC236}">
                <a16:creationId xmlns:a16="http://schemas.microsoft.com/office/drawing/2014/main" id="{31EE5155-2B79-BC46-B3EA-FE78FCD29255}"/>
              </a:ext>
            </a:extLst>
          </p:cNvPr>
          <p:cNvPicPr>
            <a:picLocks noChangeAspect="1"/>
          </p:cNvPicPr>
          <p:nvPr/>
        </p:nvPicPr>
        <p:blipFill>
          <a:blip r:embed="rId11"/>
          <a:stretch>
            <a:fillRect/>
          </a:stretch>
        </p:blipFill>
        <p:spPr>
          <a:xfrm>
            <a:off x="9000598" y="1850077"/>
            <a:ext cx="675000" cy="900000"/>
          </a:xfrm>
          <a:prstGeom prst="rect">
            <a:avLst/>
          </a:prstGeom>
        </p:spPr>
      </p:pic>
      <p:pic>
        <p:nvPicPr>
          <p:cNvPr id="59" name="Picture 58">
            <a:extLst>
              <a:ext uri="{FF2B5EF4-FFF2-40B4-BE49-F238E27FC236}">
                <a16:creationId xmlns:a16="http://schemas.microsoft.com/office/drawing/2014/main" id="{2ACF373D-865A-9346-A19F-701046E81C39}"/>
              </a:ext>
            </a:extLst>
          </p:cNvPr>
          <p:cNvPicPr>
            <a:picLocks noChangeAspect="1"/>
          </p:cNvPicPr>
          <p:nvPr/>
        </p:nvPicPr>
        <p:blipFill>
          <a:blip r:embed="rId12"/>
          <a:stretch>
            <a:fillRect/>
          </a:stretch>
        </p:blipFill>
        <p:spPr>
          <a:xfrm>
            <a:off x="9810147" y="1606262"/>
            <a:ext cx="987428" cy="1080000"/>
          </a:xfrm>
          <a:prstGeom prst="rect">
            <a:avLst/>
          </a:prstGeom>
        </p:spPr>
      </p:pic>
      <p:sp>
        <p:nvSpPr>
          <p:cNvPr id="61" name="TextBox 60">
            <a:extLst>
              <a:ext uri="{FF2B5EF4-FFF2-40B4-BE49-F238E27FC236}">
                <a16:creationId xmlns:a16="http://schemas.microsoft.com/office/drawing/2014/main" id="{61C26B70-BA9A-7243-B01E-5C310297E742}"/>
              </a:ext>
            </a:extLst>
          </p:cNvPr>
          <p:cNvSpPr txBox="1"/>
          <p:nvPr/>
        </p:nvSpPr>
        <p:spPr>
          <a:xfrm>
            <a:off x="8244784" y="6293283"/>
            <a:ext cx="2400016" cy="461665"/>
          </a:xfrm>
          <a:prstGeom prst="rect">
            <a:avLst/>
          </a:prstGeom>
          <a:noFill/>
        </p:spPr>
        <p:txBody>
          <a:bodyPr wrap="none" rtlCol="0">
            <a:spAutoFit/>
          </a:bodyPr>
          <a:lstStyle/>
          <a:p>
            <a:r>
              <a:rPr lang="en-US" sz="2400" i="1" dirty="0">
                <a:latin typeface="+mj-lt"/>
              </a:rPr>
              <a:t>class y</a:t>
            </a:r>
            <a:r>
              <a:rPr lang="en-US" sz="2400" dirty="0">
                <a:latin typeface="+mj-lt"/>
              </a:rPr>
              <a:t>:   </a:t>
            </a:r>
            <a:r>
              <a:rPr lang="en-US" sz="2400" dirty="0"/>
              <a:t>0            1</a:t>
            </a:r>
          </a:p>
        </p:txBody>
      </p:sp>
      <p:pic>
        <p:nvPicPr>
          <p:cNvPr id="64" name="Picture 63">
            <a:extLst>
              <a:ext uri="{FF2B5EF4-FFF2-40B4-BE49-F238E27FC236}">
                <a16:creationId xmlns:a16="http://schemas.microsoft.com/office/drawing/2014/main" id="{298C1F06-22E5-0343-91E9-BEF65EF2E89B}"/>
              </a:ext>
            </a:extLst>
          </p:cNvPr>
          <p:cNvPicPr>
            <a:picLocks noChangeAspect="1"/>
          </p:cNvPicPr>
          <p:nvPr/>
        </p:nvPicPr>
        <p:blipFill>
          <a:blip r:embed="rId13"/>
          <a:stretch>
            <a:fillRect/>
          </a:stretch>
        </p:blipFill>
        <p:spPr>
          <a:xfrm>
            <a:off x="6032500" y="3416300"/>
            <a:ext cx="127000" cy="25400"/>
          </a:xfrm>
          <a:prstGeom prst="rect">
            <a:avLst/>
          </a:prstGeom>
        </p:spPr>
      </p:pic>
      <p:grpSp>
        <p:nvGrpSpPr>
          <p:cNvPr id="65" name="Group 64">
            <a:extLst>
              <a:ext uri="{FF2B5EF4-FFF2-40B4-BE49-F238E27FC236}">
                <a16:creationId xmlns:a16="http://schemas.microsoft.com/office/drawing/2014/main" id="{20213664-F2BE-664B-9549-95B514BE171D}"/>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A59C704C-D37B-724E-AE09-45BD9796B362}"/>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66" name="Rectangle 65">
                  <a:extLst>
                    <a:ext uri="{FF2B5EF4-FFF2-40B4-BE49-F238E27FC236}">
                      <a16:creationId xmlns:a16="http://schemas.microsoft.com/office/drawing/2014/main" id="{A59C704C-D37B-724E-AE09-45BD9796B362}"/>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5"/>
                  <a:stretch>
                    <a:fillRect/>
                  </a:stretch>
                </a:blipFill>
              </p:spPr>
              <p:txBody>
                <a:bodyPr/>
                <a:lstStyle/>
                <a:p>
                  <a:r>
                    <a:rPr lang="en-US">
                      <a:noFill/>
                    </a:rPr>
                    <a:t> </a:t>
                  </a:r>
                </a:p>
              </p:txBody>
            </p:sp>
          </mc:Fallback>
        </mc:AlternateContent>
        <p:cxnSp>
          <p:nvCxnSpPr>
            <p:cNvPr id="67" name="Straight Connector 66">
              <a:extLst>
                <a:ext uri="{FF2B5EF4-FFF2-40B4-BE49-F238E27FC236}">
                  <a16:creationId xmlns:a16="http://schemas.microsoft.com/office/drawing/2014/main" id="{EB9C0BA7-EBB9-E942-944A-AC4A030B4709}"/>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C60FFE3-D541-EE44-8587-0087BEF3BDDA}"/>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BD1AF95D-E0ED-8847-8AB4-088B82EAB178}"/>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69" name="Rectangle 68">
                  <a:extLst>
                    <a:ext uri="{FF2B5EF4-FFF2-40B4-BE49-F238E27FC236}">
                      <a16:creationId xmlns:a16="http://schemas.microsoft.com/office/drawing/2014/main" id="{BD1AF95D-E0ED-8847-8AB4-088B82EAB178}"/>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6"/>
                  <a:stretch>
                    <a:fillRect/>
                  </a:stretch>
                </a:blipFill>
              </p:spPr>
              <p:txBody>
                <a:bodyPr/>
                <a:lstStyle/>
                <a:p>
                  <a:r>
                    <a:rPr lang="en-US">
                      <a:noFill/>
                    </a:rPr>
                    <a:t> </a:t>
                  </a:r>
                </a:p>
              </p:txBody>
            </p:sp>
          </mc:Fallback>
        </mc:AlternateContent>
        <p:sp>
          <p:nvSpPr>
            <p:cNvPr id="70" name="Rectangle 69">
              <a:extLst>
                <a:ext uri="{FF2B5EF4-FFF2-40B4-BE49-F238E27FC236}">
                  <a16:creationId xmlns:a16="http://schemas.microsoft.com/office/drawing/2014/main" id="{CDD1A5C2-CAD3-7D48-A451-22CA72AE3788}"/>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EC9C998C-7A5D-AF47-83C1-39C815C4D986}"/>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71" name="Rectangle 70">
                  <a:extLst>
                    <a:ext uri="{FF2B5EF4-FFF2-40B4-BE49-F238E27FC236}">
                      <a16:creationId xmlns:a16="http://schemas.microsoft.com/office/drawing/2014/main" id="{EC9C998C-7A5D-AF47-83C1-39C815C4D986}"/>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7"/>
                  <a:stretch>
                    <a:fillRect b="-14815"/>
                  </a:stretch>
                </a:blipFill>
              </p:spPr>
              <p:txBody>
                <a:bodyPr/>
                <a:lstStyle/>
                <a:p>
                  <a:r>
                    <a:rPr lang="en-US">
                      <a:noFill/>
                    </a:rPr>
                    <a:t> </a:t>
                  </a:r>
                </a:p>
              </p:txBody>
            </p:sp>
          </mc:Fallback>
        </mc:AlternateContent>
        <p:sp>
          <p:nvSpPr>
            <p:cNvPr id="72" name="Rectangle 71">
              <a:extLst>
                <a:ext uri="{FF2B5EF4-FFF2-40B4-BE49-F238E27FC236}">
                  <a16:creationId xmlns:a16="http://schemas.microsoft.com/office/drawing/2014/main" id="{2DE86E20-B02B-C246-AB14-19D21D077167}"/>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04AC6424-F576-BA4E-9D46-24639455DC4E}"/>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73" name="Rectangle 72">
                  <a:extLst>
                    <a:ext uri="{FF2B5EF4-FFF2-40B4-BE49-F238E27FC236}">
                      <a16:creationId xmlns:a16="http://schemas.microsoft.com/office/drawing/2014/main" id="{04AC6424-F576-BA4E-9D46-24639455DC4E}"/>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8"/>
                  <a:stretch>
                    <a:fillRect/>
                  </a:stretch>
                </a:blipFill>
              </p:spPr>
              <p:txBody>
                <a:bodyPr/>
                <a:lstStyle/>
                <a:p>
                  <a:r>
                    <a:rPr lang="en-US">
                      <a:noFill/>
                    </a:rPr>
                    <a:t> </a:t>
                  </a:r>
                </a:p>
              </p:txBody>
            </p:sp>
          </mc:Fallback>
        </mc:AlternateContent>
        <p:sp>
          <p:nvSpPr>
            <p:cNvPr id="74" name="Rectangle 73">
              <a:extLst>
                <a:ext uri="{FF2B5EF4-FFF2-40B4-BE49-F238E27FC236}">
                  <a16:creationId xmlns:a16="http://schemas.microsoft.com/office/drawing/2014/main" id="{9772E836-F1D3-E24F-B610-A902A874E93F}"/>
                </a:ext>
              </a:extLst>
            </p:cNvPr>
            <p:cNvSpPr/>
            <p:nvPr/>
          </p:nvSpPr>
          <p:spPr>
            <a:xfrm>
              <a:off x="9471016" y="812887"/>
              <a:ext cx="540000" cy="720000"/>
            </a:xfrm>
            <a:prstGeom prst="rect">
              <a:avLst/>
            </a:prstGeom>
            <a:solidFill>
              <a:srgbClr val="30E845"/>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483C01B0-53A4-F641-893B-4372A3482589}"/>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75" name="Rectangle 74">
                  <a:extLst>
                    <a:ext uri="{FF2B5EF4-FFF2-40B4-BE49-F238E27FC236}">
                      <a16:creationId xmlns:a16="http://schemas.microsoft.com/office/drawing/2014/main" id="{483C01B0-53A4-F641-893B-4372A3482589}"/>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9"/>
                  <a:stretch>
                    <a:fillRect b="-10714"/>
                  </a:stretch>
                </a:blipFill>
              </p:spPr>
              <p:txBody>
                <a:bodyPr/>
                <a:lstStyle/>
                <a:p>
                  <a:r>
                    <a:rPr lang="sr-Latn-RS">
                      <a:noFill/>
                    </a:rPr>
                    <a:t> </a:t>
                  </a:r>
                </a:p>
              </p:txBody>
            </p:sp>
          </mc:Fallback>
        </mc:AlternateContent>
        <p:sp>
          <p:nvSpPr>
            <p:cNvPr id="76" name="Rectangle 75">
              <a:extLst>
                <a:ext uri="{FF2B5EF4-FFF2-40B4-BE49-F238E27FC236}">
                  <a16:creationId xmlns:a16="http://schemas.microsoft.com/office/drawing/2014/main" id="{7ED176F8-F953-024B-81FA-9961BC23ACE7}"/>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E66432AD-27BD-1643-B365-2763A8F7B3AC}"/>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77" name="Rectangle 76">
                  <a:extLst>
                    <a:ext uri="{FF2B5EF4-FFF2-40B4-BE49-F238E27FC236}">
                      <a16:creationId xmlns:a16="http://schemas.microsoft.com/office/drawing/2014/main" id="{E66432AD-27BD-1643-B365-2763A8F7B3AC}"/>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D8466CA4-9445-3643-AA71-D0CCD3EB28D6}"/>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78" name="Rectangle 77">
                  <a:extLst>
                    <a:ext uri="{FF2B5EF4-FFF2-40B4-BE49-F238E27FC236}">
                      <a16:creationId xmlns:a16="http://schemas.microsoft.com/office/drawing/2014/main" id="{D8466CA4-9445-3643-AA71-D0CCD3EB28D6}"/>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21"/>
                  <a:stretch>
                    <a:fillRect/>
                  </a:stretch>
                </a:blipFill>
              </p:spPr>
              <p:txBody>
                <a:bodyPr/>
                <a:lstStyle/>
                <a:p>
                  <a:r>
                    <a:rPr lang="en-US">
                      <a:noFill/>
                    </a:rPr>
                    <a:t> </a:t>
                  </a:r>
                </a:p>
              </p:txBody>
            </p:sp>
          </mc:Fallback>
        </mc:AlternateContent>
      </p:grpSp>
      <p:grpSp>
        <p:nvGrpSpPr>
          <p:cNvPr id="42" name="Group 41">
            <a:extLst>
              <a:ext uri="{FF2B5EF4-FFF2-40B4-BE49-F238E27FC236}">
                <a16:creationId xmlns:a16="http://schemas.microsoft.com/office/drawing/2014/main" id="{8C306748-65BA-9E4C-852A-08764998052B}"/>
              </a:ext>
            </a:extLst>
          </p:cNvPr>
          <p:cNvGrpSpPr>
            <a:grpSpLocks noChangeAspect="1"/>
          </p:cNvGrpSpPr>
          <p:nvPr/>
        </p:nvGrpSpPr>
        <p:grpSpPr>
          <a:xfrm>
            <a:off x="6073947" y="2417014"/>
            <a:ext cx="825698" cy="827999"/>
            <a:chOff x="8665028" y="854706"/>
            <a:chExt cx="720000" cy="720000"/>
          </a:xfrm>
        </p:grpSpPr>
        <p:sp>
          <p:nvSpPr>
            <p:cNvPr id="43" name="Rectangle 42">
              <a:extLst>
                <a:ext uri="{FF2B5EF4-FFF2-40B4-BE49-F238E27FC236}">
                  <a16:creationId xmlns:a16="http://schemas.microsoft.com/office/drawing/2014/main" id="{B8C0FFEC-40D6-E543-B15B-88E274973D1F}"/>
                </a:ext>
              </a:extLst>
            </p:cNvPr>
            <p:cNvSpPr/>
            <p:nvPr/>
          </p:nvSpPr>
          <p:spPr>
            <a:xfrm>
              <a:off x="8665028" y="854706"/>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44" name="Straight Connector 43">
              <a:extLst>
                <a:ext uri="{FF2B5EF4-FFF2-40B4-BE49-F238E27FC236}">
                  <a16:creationId xmlns:a16="http://schemas.microsoft.com/office/drawing/2014/main" id="{2784959C-BC1E-9A42-B92E-613C48EFE4B2}"/>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F577B089-4F50-714F-8470-1A97EC96E20E}"/>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 name="Rectangle 4">
            <a:extLst>
              <a:ext uri="{FF2B5EF4-FFF2-40B4-BE49-F238E27FC236}">
                <a16:creationId xmlns:a16="http://schemas.microsoft.com/office/drawing/2014/main" id="{357314FB-F9A9-7E46-9E35-EC19A4886E4B}"/>
              </a:ext>
            </a:extLst>
          </p:cNvPr>
          <p:cNvSpPr/>
          <p:nvPr/>
        </p:nvSpPr>
        <p:spPr>
          <a:xfrm>
            <a:off x="10079803" y="3118262"/>
            <a:ext cx="720000" cy="316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DA02EBB-9A6B-FA44-A5E8-D44254C0098F}"/>
              </a:ext>
            </a:extLst>
          </p:cNvPr>
          <p:cNvSpPr/>
          <p:nvPr/>
        </p:nvSpPr>
        <p:spPr>
          <a:xfrm>
            <a:off x="9151731" y="5854262"/>
            <a:ext cx="720000" cy="432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3FB5E11-AD7C-1642-940E-586017C6D842}"/>
              </a:ext>
            </a:extLst>
          </p:cNvPr>
          <p:cNvSpPr/>
          <p:nvPr/>
        </p:nvSpPr>
        <p:spPr>
          <a:xfrm>
            <a:off x="9151731" y="4651780"/>
            <a:ext cx="720000" cy="1202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0FA433-8905-B149-B92B-2393343AE931}"/>
              </a:ext>
            </a:extLst>
          </p:cNvPr>
          <p:cNvSpPr txBox="1"/>
          <p:nvPr/>
        </p:nvSpPr>
        <p:spPr>
          <a:xfrm>
            <a:off x="10084819" y="2780692"/>
            <a:ext cx="636713"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rPr>
              <a:t>0.88</a:t>
            </a:r>
          </a:p>
        </p:txBody>
      </p:sp>
      <p:sp>
        <p:nvSpPr>
          <p:cNvPr id="51" name="TextBox 50">
            <a:extLst>
              <a:ext uri="{FF2B5EF4-FFF2-40B4-BE49-F238E27FC236}">
                <a16:creationId xmlns:a16="http://schemas.microsoft.com/office/drawing/2014/main" id="{26644966-1812-9C42-91B5-4C6145862CF6}"/>
              </a:ext>
            </a:extLst>
          </p:cNvPr>
          <p:cNvSpPr txBox="1"/>
          <p:nvPr/>
        </p:nvSpPr>
        <p:spPr>
          <a:xfrm>
            <a:off x="9148877" y="5402721"/>
            <a:ext cx="636713" cy="369332"/>
          </a:xfrm>
          <a:prstGeom prst="rect">
            <a:avLst/>
          </a:prstGeom>
          <a:noFill/>
        </p:spPr>
        <p:txBody>
          <a:bodyPr wrap="none" rtlCol="0">
            <a:spAutoFit/>
          </a:bodyPr>
          <a:lstStyle/>
          <a:p>
            <a:r>
              <a:rPr lang="en-US" dirty="0">
                <a:latin typeface="Roboto" panose="02000000000000000000" pitchFamily="2" charset="0"/>
                <a:ea typeface="Roboto" panose="02000000000000000000" pitchFamily="2" charset="0"/>
              </a:rPr>
              <a:t>0.12</a:t>
            </a:r>
          </a:p>
        </p:txBody>
      </p:sp>
    </p:spTree>
    <p:extLst>
      <p:ext uri="{BB962C8B-B14F-4D97-AF65-F5344CB8AC3E}">
        <p14:creationId xmlns:p14="http://schemas.microsoft.com/office/powerpoint/2010/main" val="3233113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3531-2CA3-474E-8785-00DF52F30EFD}"/>
              </a:ext>
            </a:extLst>
          </p:cNvPr>
          <p:cNvSpPr>
            <a:spLocks noGrp="1"/>
          </p:cNvSpPr>
          <p:nvPr>
            <p:ph type="title"/>
          </p:nvPr>
        </p:nvSpPr>
        <p:spPr/>
        <p:txBody>
          <a:bodyPr/>
          <a:lstStyle/>
          <a:p>
            <a:r>
              <a:rPr lang="en-ZA" dirty="0"/>
              <a:t>Parity Classification</a:t>
            </a:r>
            <a:endParaRPr lang="en-US" dirty="0"/>
          </a:p>
        </p:txBody>
      </p:sp>
      <p:sp>
        <p:nvSpPr>
          <p:cNvPr id="3" name="Slide Number Placeholder 2">
            <a:extLst>
              <a:ext uri="{FF2B5EF4-FFF2-40B4-BE49-F238E27FC236}">
                <a16:creationId xmlns:a16="http://schemas.microsoft.com/office/drawing/2014/main" id="{274CE28A-1D25-3146-8B0E-3B66BA3100BF}"/>
              </a:ext>
            </a:extLst>
          </p:cNvPr>
          <p:cNvSpPr>
            <a:spLocks noGrp="1"/>
          </p:cNvSpPr>
          <p:nvPr>
            <p:ph type="sldNum" sz="quarter" idx="12"/>
          </p:nvPr>
        </p:nvSpPr>
        <p:spPr/>
        <p:txBody>
          <a:bodyPr/>
          <a:lstStyle/>
          <a:p>
            <a:fld id="{591A223C-FA10-BC46-A853-03BA373D023C}" type="slidenum">
              <a:rPr lang="en-US" smtClean="0"/>
              <a:t>20</a:t>
            </a:fld>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188EBFF-8716-EC47-9A05-0D881AA0D97A}"/>
                  </a:ext>
                </a:extLst>
              </p:cNvPr>
              <p:cNvSpPr/>
              <p:nvPr/>
            </p:nvSpPr>
            <p:spPr>
              <a:xfrm>
                <a:off x="664998" y="2709130"/>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0" name="Rectangle 19">
                <a:extLst>
                  <a:ext uri="{FF2B5EF4-FFF2-40B4-BE49-F238E27FC236}">
                    <a16:creationId xmlns:a16="http://schemas.microsoft.com/office/drawing/2014/main" id="{5188EBFF-8716-EC47-9A05-0D881AA0D97A}"/>
                  </a:ext>
                </a:extLst>
              </p:cNvPr>
              <p:cNvSpPr>
                <a:spLocks noRot="1" noChangeAspect="1" noMove="1" noResize="1" noEditPoints="1" noAdjustHandles="1" noChangeArrowheads="1" noChangeShapeType="1" noTextEdit="1"/>
              </p:cNvSpPr>
              <p:nvPr/>
            </p:nvSpPr>
            <p:spPr>
              <a:xfrm>
                <a:off x="664998" y="2709130"/>
                <a:ext cx="707886" cy="523220"/>
              </a:xfrm>
              <a:prstGeom prst="rect">
                <a:avLst/>
              </a:prstGeom>
              <a:blipFill>
                <a:blip r:embed="rId3"/>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D30DA8A1-0771-5046-9316-DE118B3E0306}"/>
              </a:ext>
            </a:extLst>
          </p:cNvPr>
          <p:cNvCxnSpPr>
            <a:cxnSpLocks/>
          </p:cNvCxnSpPr>
          <p:nvPr/>
        </p:nvCxnSpPr>
        <p:spPr>
          <a:xfrm>
            <a:off x="1372884" y="2989939"/>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7FA3FBC-508D-E74E-8CF1-BCBA03584A81}"/>
              </a:ext>
            </a:extLst>
          </p:cNvPr>
          <p:cNvCxnSpPr>
            <a:cxnSpLocks/>
          </p:cNvCxnSpPr>
          <p:nvPr/>
        </p:nvCxnSpPr>
        <p:spPr>
          <a:xfrm>
            <a:off x="1372884" y="3728409"/>
            <a:ext cx="540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E44E7A0-439A-CF46-A331-47AD0D14C958}"/>
                  </a:ext>
                </a:extLst>
              </p:cNvPr>
              <p:cNvSpPr/>
              <p:nvPr/>
            </p:nvSpPr>
            <p:spPr>
              <a:xfrm>
                <a:off x="664998" y="3466799"/>
                <a:ext cx="7078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b="0" i="1" smtClean="0">
                              <a:latin typeface="Cambria Math" panose="02040503050406030204" pitchFamily="18" charset="0"/>
                            </a:rPr>
                            <m:t>0</m:t>
                          </m:r>
                        </m:e>
                      </m:d>
                    </m:oMath>
                  </m:oMathPara>
                </a14:m>
                <a:endParaRPr lang="en-US" sz="2800" dirty="0"/>
              </a:p>
            </p:txBody>
          </p:sp>
        </mc:Choice>
        <mc:Fallback xmlns="">
          <p:sp>
            <p:nvSpPr>
              <p:cNvPr id="25" name="Rectangle 24">
                <a:extLst>
                  <a:ext uri="{FF2B5EF4-FFF2-40B4-BE49-F238E27FC236}">
                    <a16:creationId xmlns:a16="http://schemas.microsoft.com/office/drawing/2014/main" id="{EE44E7A0-439A-CF46-A331-47AD0D14C958}"/>
                  </a:ext>
                </a:extLst>
              </p:cNvPr>
              <p:cNvSpPr>
                <a:spLocks noRot="1" noChangeAspect="1" noMove="1" noResize="1" noEditPoints="1" noAdjustHandles="1" noChangeArrowheads="1" noChangeShapeType="1" noTextEdit="1"/>
              </p:cNvSpPr>
              <p:nvPr/>
            </p:nvSpPr>
            <p:spPr>
              <a:xfrm>
                <a:off x="664998" y="3466799"/>
                <a:ext cx="707886" cy="523220"/>
              </a:xfrm>
              <a:prstGeom prst="rect">
                <a:avLst/>
              </a:prstGeom>
              <a:blipFill>
                <a:blip r:embed="rId4"/>
                <a:stretch>
                  <a:fillRect/>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63F170BE-22D9-834F-8FCE-04D72CF6E6E7}"/>
              </a:ext>
            </a:extLst>
          </p:cNvPr>
          <p:cNvGrpSpPr/>
          <p:nvPr/>
        </p:nvGrpSpPr>
        <p:grpSpPr>
          <a:xfrm>
            <a:off x="1864845" y="2627424"/>
            <a:ext cx="1768031" cy="1401808"/>
            <a:chOff x="1508568" y="1984444"/>
            <a:chExt cx="1768031" cy="3846969"/>
          </a:xfrm>
        </p:grpSpPr>
        <p:sp>
          <p:nvSpPr>
            <p:cNvPr id="30" name="Rectangle 29">
              <a:extLst>
                <a:ext uri="{FF2B5EF4-FFF2-40B4-BE49-F238E27FC236}">
                  <a16:creationId xmlns:a16="http://schemas.microsoft.com/office/drawing/2014/main" id="{60EB9E5A-62C8-A049-805B-22A60E738652}"/>
                </a:ext>
              </a:extLst>
            </p:cNvPr>
            <p:cNvSpPr/>
            <p:nvPr/>
          </p:nvSpPr>
          <p:spPr>
            <a:xfrm>
              <a:off x="1508568" y="1984444"/>
              <a:ext cx="1768031" cy="384696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A1783104-833D-8144-81E4-C5F0C02EF9D4}"/>
                    </a:ext>
                  </a:extLst>
                </p:cNvPr>
                <p:cNvSpPr/>
                <p:nvPr/>
              </p:nvSpPr>
              <p:spPr>
                <a:xfrm>
                  <a:off x="1800856" y="3171742"/>
                  <a:ext cx="1138068" cy="16047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𝑈</m:t>
                        </m:r>
                        <m:r>
                          <a:rPr lang="en-US" sz="3200" i="1" smtClean="0">
                            <a:latin typeface="Cambria Math" panose="02040503050406030204" pitchFamily="18" charset="0"/>
                          </a:rPr>
                          <m:t>(</m:t>
                        </m:r>
                        <m:r>
                          <a:rPr lang="en-US" sz="3200" b="0" i="1" smtClean="0">
                            <a:latin typeface="Cambria Math" panose="02040503050406030204" pitchFamily="18" charset="0"/>
                          </a:rPr>
                          <m:t>𝑥</m:t>
                        </m:r>
                        <m:r>
                          <a:rPr lang="en-US" sz="3200" i="1">
                            <a:latin typeface="Cambria Math" panose="02040503050406030204" pitchFamily="18" charset="0"/>
                          </a:rPr>
                          <m:t>)</m:t>
                        </m:r>
                      </m:oMath>
                    </m:oMathPara>
                  </a14:m>
                  <a:endParaRPr lang="en-US" sz="3200" dirty="0"/>
                </a:p>
              </p:txBody>
            </p:sp>
          </mc:Choice>
          <mc:Fallback xmlns="">
            <p:sp>
              <p:nvSpPr>
                <p:cNvPr id="31" name="Rectangle 30">
                  <a:extLst>
                    <a:ext uri="{FF2B5EF4-FFF2-40B4-BE49-F238E27FC236}">
                      <a16:creationId xmlns:a16="http://schemas.microsoft.com/office/drawing/2014/main" id="{A1783104-833D-8144-81E4-C5F0C02EF9D4}"/>
                    </a:ext>
                  </a:extLst>
                </p:cNvPr>
                <p:cNvSpPr>
                  <a:spLocks noRot="1" noChangeAspect="1" noMove="1" noResize="1" noEditPoints="1" noAdjustHandles="1" noChangeArrowheads="1" noChangeShapeType="1" noTextEdit="1"/>
                </p:cNvSpPr>
                <p:nvPr/>
              </p:nvSpPr>
              <p:spPr>
                <a:xfrm>
                  <a:off x="1800856" y="3171742"/>
                  <a:ext cx="1138068" cy="1604793"/>
                </a:xfrm>
                <a:prstGeom prst="rect">
                  <a:avLst/>
                </a:prstGeom>
                <a:blipFill>
                  <a:blip r:embed="rId5"/>
                  <a:stretch>
                    <a:fillRect r="-4444" b="-19149"/>
                  </a:stretch>
                </a:blipFill>
              </p:spPr>
              <p:txBody>
                <a:bodyPr/>
                <a:lstStyle/>
                <a:p>
                  <a:r>
                    <a:rPr lang="en-US">
                      <a:noFill/>
                    </a:rPr>
                    <a:t> </a:t>
                  </a:r>
                </a:p>
              </p:txBody>
            </p:sp>
          </mc:Fallback>
        </mc:AlternateContent>
      </p:grpSp>
      <p:grpSp>
        <p:nvGrpSpPr>
          <p:cNvPr id="32" name="Group 31">
            <a:extLst>
              <a:ext uri="{FF2B5EF4-FFF2-40B4-BE49-F238E27FC236}">
                <a16:creationId xmlns:a16="http://schemas.microsoft.com/office/drawing/2014/main" id="{3C0D00D7-62DC-6F4C-AF40-808A3E7C805A}"/>
              </a:ext>
            </a:extLst>
          </p:cNvPr>
          <p:cNvGrpSpPr/>
          <p:nvPr/>
        </p:nvGrpSpPr>
        <p:grpSpPr>
          <a:xfrm>
            <a:off x="4076929" y="2610275"/>
            <a:ext cx="1768031" cy="1401808"/>
            <a:chOff x="4067873" y="1962409"/>
            <a:chExt cx="1768031" cy="3846969"/>
          </a:xfrm>
        </p:grpSpPr>
        <p:sp>
          <p:nvSpPr>
            <p:cNvPr id="33" name="Rectangle 32">
              <a:extLst>
                <a:ext uri="{FF2B5EF4-FFF2-40B4-BE49-F238E27FC236}">
                  <a16:creationId xmlns:a16="http://schemas.microsoft.com/office/drawing/2014/main" id="{0C12EF7F-6591-844C-84C9-5E149367C049}"/>
                </a:ext>
              </a:extLst>
            </p:cNvPr>
            <p:cNvSpPr/>
            <p:nvPr/>
          </p:nvSpPr>
          <p:spPr>
            <a:xfrm>
              <a:off x="4067873" y="1962409"/>
              <a:ext cx="1768031" cy="3846969"/>
            </a:xfrm>
            <a:prstGeom prst="rect">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EBB7C09-8327-2948-9EC8-632F41A5CC75}"/>
                    </a:ext>
                  </a:extLst>
                </p:cNvPr>
                <p:cNvSpPr/>
                <p:nvPr/>
              </p:nvSpPr>
              <p:spPr>
                <a:xfrm>
                  <a:off x="4360491" y="3130558"/>
                  <a:ext cx="1129860" cy="16047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𝑉</m:t>
                        </m:r>
                        <m:r>
                          <a:rPr lang="en-US" sz="3200" i="1" smtClean="0">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𝜃</m:t>
                        </m:r>
                        <m:r>
                          <a:rPr lang="en-US" sz="3200" i="1">
                            <a:latin typeface="Cambria Math" panose="02040503050406030204" pitchFamily="18" charset="0"/>
                          </a:rPr>
                          <m:t>)</m:t>
                        </m:r>
                      </m:oMath>
                    </m:oMathPara>
                  </a14:m>
                  <a:endParaRPr lang="en-US" sz="3200" dirty="0"/>
                </a:p>
              </p:txBody>
            </p:sp>
          </mc:Choice>
          <mc:Fallback xmlns="">
            <p:sp>
              <p:nvSpPr>
                <p:cNvPr id="34" name="Rectangle 33">
                  <a:extLst>
                    <a:ext uri="{FF2B5EF4-FFF2-40B4-BE49-F238E27FC236}">
                      <a16:creationId xmlns:a16="http://schemas.microsoft.com/office/drawing/2014/main" id="{2EBB7C09-8327-2948-9EC8-632F41A5CC75}"/>
                    </a:ext>
                  </a:extLst>
                </p:cNvPr>
                <p:cNvSpPr>
                  <a:spLocks noRot="1" noChangeAspect="1" noMove="1" noResize="1" noEditPoints="1" noAdjustHandles="1" noChangeArrowheads="1" noChangeShapeType="1" noTextEdit="1"/>
                </p:cNvSpPr>
                <p:nvPr/>
              </p:nvSpPr>
              <p:spPr>
                <a:xfrm>
                  <a:off x="4360491" y="3130558"/>
                  <a:ext cx="1129860" cy="1604793"/>
                </a:xfrm>
                <a:prstGeom prst="rect">
                  <a:avLst/>
                </a:prstGeom>
                <a:blipFill>
                  <a:blip r:embed="rId6"/>
                  <a:stretch>
                    <a:fillRect r="-3333" b="-19149"/>
                  </a:stretch>
                </a:blipFill>
              </p:spPr>
              <p:txBody>
                <a:bodyPr/>
                <a:lstStyle/>
                <a:p>
                  <a:r>
                    <a:rPr lang="sr-Latn-RS">
                      <a:noFill/>
                    </a:rPr>
                    <a:t> </a:t>
                  </a:r>
                </a:p>
              </p:txBody>
            </p:sp>
          </mc:Fallback>
        </mc:AlternateContent>
      </p:grpSp>
      <p:pic>
        <p:nvPicPr>
          <p:cNvPr id="64" name="Picture 63">
            <a:extLst>
              <a:ext uri="{FF2B5EF4-FFF2-40B4-BE49-F238E27FC236}">
                <a16:creationId xmlns:a16="http://schemas.microsoft.com/office/drawing/2014/main" id="{298C1F06-22E5-0343-91E9-BEF65EF2E89B}"/>
              </a:ext>
            </a:extLst>
          </p:cNvPr>
          <p:cNvPicPr>
            <a:picLocks noChangeAspect="1"/>
          </p:cNvPicPr>
          <p:nvPr/>
        </p:nvPicPr>
        <p:blipFill>
          <a:blip r:embed="rId7"/>
          <a:stretch>
            <a:fillRect/>
          </a:stretch>
        </p:blipFill>
        <p:spPr>
          <a:xfrm>
            <a:off x="6359072" y="3515949"/>
            <a:ext cx="127000" cy="25400"/>
          </a:xfrm>
          <a:prstGeom prst="rect">
            <a:avLst/>
          </a:prstGeom>
        </p:spPr>
      </p:pic>
      <p:sp>
        <p:nvSpPr>
          <p:cNvPr id="36" name="Right Brace 35">
            <a:extLst>
              <a:ext uri="{FF2B5EF4-FFF2-40B4-BE49-F238E27FC236}">
                <a16:creationId xmlns:a16="http://schemas.microsoft.com/office/drawing/2014/main" id="{F003B819-3C58-F545-BB15-B3004E6F66D5}"/>
              </a:ext>
            </a:extLst>
          </p:cNvPr>
          <p:cNvSpPr/>
          <p:nvPr/>
        </p:nvSpPr>
        <p:spPr>
          <a:xfrm>
            <a:off x="7396353" y="2627424"/>
            <a:ext cx="404734" cy="1460985"/>
          </a:xfrm>
          <a:prstGeom prst="rightBrace">
            <a:avLst>
              <a:gd name="adj1" fmla="val 4464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7D9B5171-CC12-C947-867A-61AFF9C07C12}"/>
                  </a:ext>
                </a:extLst>
              </p:cNvPr>
              <p:cNvSpPr/>
              <p:nvPr/>
            </p:nvSpPr>
            <p:spPr>
              <a:xfrm>
                <a:off x="8498674" y="2495717"/>
                <a:ext cx="2435282" cy="18725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sz="3200" b="0" i="1" smtClean="0">
                              <a:latin typeface="Cambria Math" panose="02040503050406030204" pitchFamily="18" charset="0"/>
                              <a:ea typeface="Cambria Math" panose="02040503050406030204" pitchFamily="18" charset="0"/>
                            </a:rPr>
                          </m:ctrlPr>
                        </m:mPr>
                        <m:mr>
                          <m:e>
                            <m:r>
                              <a:rPr lang="en-US" sz="3200" i="1" smtClean="0">
                                <a:solidFill>
                                  <a:srgbClr val="FF0000"/>
                                </a:solidFill>
                                <a:latin typeface="Cambria Math" panose="02040503050406030204" pitchFamily="18" charset="0"/>
                              </a:rPr>
                              <m:t>00</m:t>
                            </m:r>
                          </m:e>
                          <m:e>
                            <m:r>
                              <a:rPr lang="en-US" sz="3200" i="1">
                                <a:latin typeface="Cambria Math" panose="02040503050406030204" pitchFamily="18" charset="0"/>
                                <a:ea typeface="Cambria Math" panose="02040503050406030204" pitchFamily="18" charset="0"/>
                              </a:rPr>
                              <m:t>→</m:t>
                            </m:r>
                          </m:e>
                          <m:e>
                            <m:r>
                              <a:rPr lang="en-US" sz="3200" b="0" i="1" smtClean="0">
                                <a:solidFill>
                                  <a:srgbClr val="FF0000"/>
                                </a:solidFill>
                                <a:latin typeface="Cambria Math" panose="02040503050406030204" pitchFamily="18" charset="0"/>
                                <a:ea typeface="Cambria Math" panose="02040503050406030204" pitchFamily="18" charset="0"/>
                              </a:rPr>
                              <m:t>0.1</m:t>
                            </m:r>
                          </m:e>
                        </m:mr>
                        <m:mr>
                          <m:e>
                            <m:r>
                              <a:rPr lang="en-US" sz="3200" b="0" i="1" smtClean="0">
                                <a:solidFill>
                                  <a:srgbClr val="0000FF"/>
                                </a:solidFill>
                                <a:latin typeface="Cambria Math" panose="02040503050406030204" pitchFamily="18" charset="0"/>
                                <a:ea typeface="Cambria Math" panose="02040503050406030204" pitchFamily="18" charset="0"/>
                              </a:rPr>
                              <m:t>01</m:t>
                            </m:r>
                          </m:e>
                          <m:e>
                            <m:r>
                              <a:rPr lang="en-US" sz="3200" i="1">
                                <a:latin typeface="Cambria Math" panose="02040503050406030204" pitchFamily="18" charset="0"/>
                                <a:ea typeface="Cambria Math" panose="02040503050406030204" pitchFamily="18" charset="0"/>
                              </a:rPr>
                              <m:t>→</m:t>
                            </m:r>
                          </m:e>
                          <m:e>
                            <m:r>
                              <a:rPr lang="en-US" sz="3200" b="0" i="1" smtClean="0">
                                <a:solidFill>
                                  <a:srgbClr val="0000FF"/>
                                </a:solidFill>
                                <a:latin typeface="Cambria Math" panose="02040503050406030204" pitchFamily="18" charset="0"/>
                                <a:ea typeface="Cambria Math" panose="02040503050406030204" pitchFamily="18" charset="0"/>
                              </a:rPr>
                              <m:t>0.7</m:t>
                            </m:r>
                          </m:e>
                        </m:mr>
                        <m:mr>
                          <m:e>
                            <m:r>
                              <a:rPr lang="en-US" sz="3200" b="0" i="1" smtClean="0">
                                <a:solidFill>
                                  <a:srgbClr val="0000FF"/>
                                </a:solidFill>
                                <a:latin typeface="Cambria Math" panose="02040503050406030204" pitchFamily="18" charset="0"/>
                                <a:ea typeface="Cambria Math" panose="02040503050406030204" pitchFamily="18" charset="0"/>
                              </a:rPr>
                              <m:t>10</m:t>
                            </m:r>
                          </m:e>
                          <m:e>
                            <m:r>
                              <a:rPr lang="en-US" sz="3200" i="1">
                                <a:latin typeface="Cambria Math" panose="02040503050406030204" pitchFamily="18" charset="0"/>
                                <a:ea typeface="Cambria Math" panose="02040503050406030204" pitchFamily="18" charset="0"/>
                              </a:rPr>
                              <m:t>→</m:t>
                            </m:r>
                          </m:e>
                          <m:e>
                            <m:r>
                              <a:rPr lang="en-US" sz="3200" b="0" i="1" smtClean="0">
                                <a:solidFill>
                                  <a:srgbClr val="0000FF"/>
                                </a:solidFill>
                                <a:latin typeface="Cambria Math" panose="02040503050406030204" pitchFamily="18" charset="0"/>
                                <a:ea typeface="Cambria Math" panose="02040503050406030204" pitchFamily="18" charset="0"/>
                              </a:rPr>
                              <m:t>0.2</m:t>
                            </m:r>
                          </m:e>
                        </m:mr>
                        <m:mr>
                          <m:e>
                            <m:r>
                              <a:rPr lang="en-US" sz="3200" b="0" i="1" smtClean="0">
                                <a:solidFill>
                                  <a:srgbClr val="FF0000"/>
                                </a:solidFill>
                                <a:latin typeface="Cambria Math" panose="02040503050406030204" pitchFamily="18" charset="0"/>
                                <a:ea typeface="Cambria Math" panose="02040503050406030204" pitchFamily="18" charset="0"/>
                              </a:rPr>
                              <m:t>11</m:t>
                            </m:r>
                          </m:e>
                          <m:e>
                            <m:r>
                              <a:rPr lang="en-US" sz="3200" i="1">
                                <a:latin typeface="Cambria Math" panose="02040503050406030204" pitchFamily="18" charset="0"/>
                                <a:ea typeface="Cambria Math" panose="02040503050406030204" pitchFamily="18" charset="0"/>
                              </a:rPr>
                              <m:t>→</m:t>
                            </m:r>
                          </m:e>
                          <m:e>
                            <m:r>
                              <a:rPr lang="en-US" sz="3200" b="0" i="1" smtClean="0">
                                <a:solidFill>
                                  <a:srgbClr val="FF0000"/>
                                </a:solidFill>
                                <a:latin typeface="Cambria Math" panose="02040503050406030204" pitchFamily="18" charset="0"/>
                                <a:ea typeface="Cambria Math" panose="02040503050406030204" pitchFamily="18" charset="0"/>
                              </a:rPr>
                              <m:t>0.0</m:t>
                            </m:r>
                          </m:e>
                        </m:mr>
                      </m:m>
                    </m:oMath>
                  </m:oMathPara>
                </a14:m>
                <a:endParaRPr lang="en-US" sz="3200" dirty="0"/>
              </a:p>
            </p:txBody>
          </p:sp>
        </mc:Choice>
        <mc:Fallback xmlns="">
          <p:sp>
            <p:nvSpPr>
              <p:cNvPr id="37" name="Rectangle 36">
                <a:extLst>
                  <a:ext uri="{FF2B5EF4-FFF2-40B4-BE49-F238E27FC236}">
                    <a16:creationId xmlns:a16="http://schemas.microsoft.com/office/drawing/2014/main" id="{7D9B5171-CC12-C947-867A-61AFF9C07C12}"/>
                  </a:ext>
                </a:extLst>
              </p:cNvPr>
              <p:cNvSpPr>
                <a:spLocks noRot="1" noChangeAspect="1" noMove="1" noResize="1" noEditPoints="1" noAdjustHandles="1" noChangeArrowheads="1" noChangeShapeType="1" noTextEdit="1"/>
              </p:cNvSpPr>
              <p:nvPr/>
            </p:nvSpPr>
            <p:spPr>
              <a:xfrm>
                <a:off x="8498674" y="2495717"/>
                <a:ext cx="2435282" cy="1872500"/>
              </a:xfrm>
              <a:prstGeom prst="rect">
                <a:avLst/>
              </a:prstGeom>
              <a:blipFill>
                <a:blip r:embed="rId9"/>
                <a:stretch>
                  <a:fillRect b="-3378"/>
                </a:stretch>
              </a:blipFill>
            </p:spPr>
            <p:txBody>
              <a:bodyPr/>
              <a:lstStyle/>
              <a:p>
                <a:r>
                  <a:rPr lang="en-US">
                    <a:noFill/>
                  </a:rPr>
                  <a:t> </a:t>
                </a:r>
              </a:p>
            </p:txBody>
          </p:sp>
        </mc:Fallback>
      </mc:AlternateContent>
      <p:grpSp>
        <p:nvGrpSpPr>
          <p:cNvPr id="42" name="Group 41">
            <a:extLst>
              <a:ext uri="{FF2B5EF4-FFF2-40B4-BE49-F238E27FC236}">
                <a16:creationId xmlns:a16="http://schemas.microsoft.com/office/drawing/2014/main" id="{FB57CFA6-3BAD-6F48-A2C3-6073D2DD1CC2}"/>
              </a:ext>
            </a:extLst>
          </p:cNvPr>
          <p:cNvGrpSpPr/>
          <p:nvPr/>
        </p:nvGrpSpPr>
        <p:grpSpPr>
          <a:xfrm>
            <a:off x="5844960" y="4941793"/>
            <a:ext cx="3497689" cy="1291309"/>
            <a:chOff x="4113846" y="4926455"/>
            <a:chExt cx="3497689" cy="1291309"/>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A0D129CA-8108-8C47-B47F-B0BAFF6CE11D}"/>
                    </a:ext>
                  </a:extLst>
                </p:cNvPr>
                <p:cNvSpPr/>
                <p:nvPr/>
              </p:nvSpPr>
              <p:spPr>
                <a:xfrm>
                  <a:off x="4118928" y="4926455"/>
                  <a:ext cx="339811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𝑝</m:t>
                            </m:r>
                          </m:e>
                          <m:sub>
                            <m:r>
                              <a:rPr lang="en-US" sz="2800" i="1">
                                <a:latin typeface="Cambria Math" panose="02040503050406030204" pitchFamily="18" charset="0"/>
                                <a:ea typeface="Cambria Math" panose="02040503050406030204" pitchFamily="18" charset="0"/>
                              </a:rPr>
                              <m:t>0</m:t>
                            </m:r>
                          </m:sub>
                        </m:sSub>
                        <m:r>
                          <a:rPr lang="en-US" sz="2800" b="0" i="1" smtClean="0">
                            <a:latin typeface="Cambria Math" panose="02040503050406030204" pitchFamily="18" charset="0"/>
                            <a:ea typeface="Cambria Math" panose="02040503050406030204" pitchFamily="18" charset="0"/>
                          </a:rPr>
                          <m:t>=0.1+0.0=0.1</m:t>
                        </m:r>
                      </m:oMath>
                    </m:oMathPara>
                  </a14:m>
                  <a:endParaRPr lang="en-US" sz="2800" dirty="0">
                    <a:solidFill>
                      <a:schemeClr val="tx1"/>
                    </a:solidFill>
                  </a:endParaRPr>
                </a:p>
              </p:txBody>
            </p:sp>
          </mc:Choice>
          <mc:Fallback xmlns="">
            <p:sp>
              <p:nvSpPr>
                <p:cNvPr id="39" name="Rectangle 38">
                  <a:extLst>
                    <a:ext uri="{FF2B5EF4-FFF2-40B4-BE49-F238E27FC236}">
                      <a16:creationId xmlns:a16="http://schemas.microsoft.com/office/drawing/2014/main" id="{A0D129CA-8108-8C47-B47F-B0BAFF6CE11D}"/>
                    </a:ext>
                  </a:extLst>
                </p:cNvPr>
                <p:cNvSpPr>
                  <a:spLocks noRot="1" noChangeAspect="1" noMove="1" noResize="1" noEditPoints="1" noAdjustHandles="1" noChangeArrowheads="1" noChangeShapeType="1" noTextEdit="1"/>
                </p:cNvSpPr>
                <p:nvPr/>
              </p:nvSpPr>
              <p:spPr>
                <a:xfrm>
                  <a:off x="4118928" y="4926455"/>
                  <a:ext cx="3398110" cy="523220"/>
                </a:xfrm>
                <a:prstGeom prst="rect">
                  <a:avLst/>
                </a:prstGeom>
                <a:blipFill>
                  <a:blip r:embed="rId10"/>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C78BB38B-2D4C-ED4C-A1D2-9F91996D6CF0}"/>
                    </a:ext>
                  </a:extLst>
                </p:cNvPr>
                <p:cNvSpPr/>
                <p:nvPr/>
              </p:nvSpPr>
              <p:spPr>
                <a:xfrm>
                  <a:off x="4113846" y="5694544"/>
                  <a:ext cx="349768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𝑝</m:t>
                            </m:r>
                          </m:e>
                          <m:sub>
                            <m:r>
                              <a:rPr lang="en-US" sz="2800" b="0" i="1" smtClean="0">
                                <a:latin typeface="Cambria Math" panose="02040503050406030204" pitchFamily="18" charset="0"/>
                                <a:ea typeface="Cambria Math" panose="02040503050406030204" pitchFamily="18" charset="0"/>
                              </a:rPr>
                              <m:t>1</m:t>
                            </m:r>
                          </m:sub>
                        </m:sSub>
                        <m:r>
                          <a:rPr lang="en-US" sz="2800" b="0" i="1" smtClean="0">
                            <a:latin typeface="Cambria Math" panose="02040503050406030204" pitchFamily="18" charset="0"/>
                            <a:ea typeface="Cambria Math" panose="02040503050406030204" pitchFamily="18" charset="0"/>
                          </a:rPr>
                          <m:t>=0.7+0.2=0.9</m:t>
                        </m:r>
                      </m:oMath>
                    </m:oMathPara>
                  </a14:m>
                  <a:endParaRPr lang="en-US" sz="2800" dirty="0">
                    <a:solidFill>
                      <a:schemeClr val="tx1"/>
                    </a:solidFill>
                  </a:endParaRPr>
                </a:p>
              </p:txBody>
            </p:sp>
          </mc:Choice>
          <mc:Fallback xmlns="">
            <p:sp>
              <p:nvSpPr>
                <p:cNvPr id="52" name="Rectangle 51">
                  <a:extLst>
                    <a:ext uri="{FF2B5EF4-FFF2-40B4-BE49-F238E27FC236}">
                      <a16:creationId xmlns:a16="http://schemas.microsoft.com/office/drawing/2014/main" id="{C78BB38B-2D4C-ED4C-A1D2-9F91996D6CF0}"/>
                    </a:ext>
                  </a:extLst>
                </p:cNvPr>
                <p:cNvSpPr>
                  <a:spLocks noRot="1" noChangeAspect="1" noMove="1" noResize="1" noEditPoints="1" noAdjustHandles="1" noChangeArrowheads="1" noChangeShapeType="1" noTextEdit="1"/>
                </p:cNvSpPr>
                <p:nvPr/>
              </p:nvSpPr>
              <p:spPr>
                <a:xfrm>
                  <a:off x="4113846" y="5694544"/>
                  <a:ext cx="3497689" cy="523220"/>
                </a:xfrm>
                <a:prstGeom prst="rect">
                  <a:avLst/>
                </a:prstGeom>
                <a:blipFill>
                  <a:blip r:embed="rId11"/>
                  <a:stretch>
                    <a:fillRect b="-7143"/>
                  </a:stretch>
                </a:blipFill>
              </p:spPr>
              <p:txBody>
                <a:bodyPr/>
                <a:lstStyle/>
                <a:p>
                  <a:r>
                    <a:rPr lang="en-US">
                      <a:noFill/>
                    </a:rPr>
                    <a:t> </a:t>
                  </a:r>
                </a:p>
              </p:txBody>
            </p:sp>
          </mc:Fallback>
        </mc:AlternateContent>
      </p:grpSp>
      <p:sp>
        <p:nvSpPr>
          <p:cNvPr id="38" name="TextBox 37">
            <a:extLst>
              <a:ext uri="{FF2B5EF4-FFF2-40B4-BE49-F238E27FC236}">
                <a16:creationId xmlns:a16="http://schemas.microsoft.com/office/drawing/2014/main" id="{604A2615-4BBF-7243-9897-7DBB4A798EC4}"/>
              </a:ext>
            </a:extLst>
          </p:cNvPr>
          <p:cNvSpPr txBox="1"/>
          <p:nvPr/>
        </p:nvSpPr>
        <p:spPr>
          <a:xfrm>
            <a:off x="2465900" y="4913909"/>
            <a:ext cx="2016449" cy="523220"/>
          </a:xfrm>
          <a:prstGeom prst="rect">
            <a:avLst/>
          </a:prstGeom>
          <a:noFill/>
        </p:spPr>
        <p:txBody>
          <a:bodyPr wrap="none" rtlCol="0">
            <a:spAutoFit/>
          </a:bodyPr>
          <a:lstStyle/>
          <a:p>
            <a:r>
              <a:rPr lang="en-US" sz="2800" dirty="0">
                <a:solidFill>
                  <a:srgbClr val="FF0000"/>
                </a:solidFill>
              </a:rPr>
              <a:t>even</a:t>
            </a:r>
            <a:r>
              <a:rPr lang="en-US" sz="2800" dirty="0"/>
              <a:t>: class 0</a:t>
            </a:r>
          </a:p>
        </p:txBody>
      </p:sp>
      <p:sp>
        <p:nvSpPr>
          <p:cNvPr id="40" name="Rectangle 39">
            <a:extLst>
              <a:ext uri="{FF2B5EF4-FFF2-40B4-BE49-F238E27FC236}">
                <a16:creationId xmlns:a16="http://schemas.microsoft.com/office/drawing/2014/main" id="{95A7A35F-0295-BA41-AFDA-F3EB0A382C5D}"/>
              </a:ext>
            </a:extLst>
          </p:cNvPr>
          <p:cNvSpPr/>
          <p:nvPr/>
        </p:nvSpPr>
        <p:spPr>
          <a:xfrm>
            <a:off x="2470003" y="5693670"/>
            <a:ext cx="1963999" cy="523220"/>
          </a:xfrm>
          <a:prstGeom prst="rect">
            <a:avLst/>
          </a:prstGeom>
        </p:spPr>
        <p:txBody>
          <a:bodyPr wrap="none">
            <a:spAutoFit/>
          </a:bodyPr>
          <a:lstStyle/>
          <a:p>
            <a:r>
              <a:rPr lang="en-US" sz="2800" dirty="0">
                <a:solidFill>
                  <a:srgbClr val="0000FF"/>
                </a:solidFill>
              </a:rPr>
              <a:t>odd</a:t>
            </a:r>
            <a:r>
              <a:rPr lang="en-US" sz="2800" dirty="0"/>
              <a:t>:  class 1</a:t>
            </a:r>
          </a:p>
        </p:txBody>
      </p:sp>
      <p:pic>
        <p:nvPicPr>
          <p:cNvPr id="58" name="Picture 57">
            <a:extLst>
              <a:ext uri="{FF2B5EF4-FFF2-40B4-BE49-F238E27FC236}">
                <a16:creationId xmlns:a16="http://schemas.microsoft.com/office/drawing/2014/main" id="{BAB6292B-F4AB-744F-BB21-A60AE271D338}"/>
              </a:ext>
            </a:extLst>
          </p:cNvPr>
          <p:cNvPicPr>
            <a:picLocks noChangeAspect="1"/>
          </p:cNvPicPr>
          <p:nvPr/>
        </p:nvPicPr>
        <p:blipFill>
          <a:blip r:embed="rId12"/>
          <a:stretch>
            <a:fillRect/>
          </a:stretch>
        </p:blipFill>
        <p:spPr>
          <a:xfrm>
            <a:off x="1952382" y="4780322"/>
            <a:ext cx="513518" cy="684691"/>
          </a:xfrm>
          <a:prstGeom prst="rect">
            <a:avLst/>
          </a:prstGeom>
        </p:spPr>
      </p:pic>
      <p:grpSp>
        <p:nvGrpSpPr>
          <p:cNvPr id="65" name="Group 64">
            <a:extLst>
              <a:ext uri="{FF2B5EF4-FFF2-40B4-BE49-F238E27FC236}">
                <a16:creationId xmlns:a16="http://schemas.microsoft.com/office/drawing/2014/main" id="{C9115324-273D-C947-A6D8-8EC4F6AA4415}"/>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10EA094A-0BA5-644D-BD1A-25476A7D226F}"/>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66" name="Rectangle 65">
                  <a:extLst>
                    <a:ext uri="{FF2B5EF4-FFF2-40B4-BE49-F238E27FC236}">
                      <a16:creationId xmlns:a16="http://schemas.microsoft.com/office/drawing/2014/main" id="{10EA094A-0BA5-644D-BD1A-25476A7D226F}"/>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4"/>
                  <a:stretch>
                    <a:fillRect/>
                  </a:stretch>
                </a:blipFill>
              </p:spPr>
              <p:txBody>
                <a:bodyPr/>
                <a:lstStyle/>
                <a:p>
                  <a:r>
                    <a:rPr lang="en-US">
                      <a:noFill/>
                    </a:rPr>
                    <a:t> </a:t>
                  </a:r>
                </a:p>
              </p:txBody>
            </p:sp>
          </mc:Fallback>
        </mc:AlternateContent>
        <p:cxnSp>
          <p:nvCxnSpPr>
            <p:cNvPr id="67" name="Straight Connector 66">
              <a:extLst>
                <a:ext uri="{FF2B5EF4-FFF2-40B4-BE49-F238E27FC236}">
                  <a16:creationId xmlns:a16="http://schemas.microsoft.com/office/drawing/2014/main" id="{61E7AA21-7A90-A643-B827-07C754C0D39E}"/>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993B436-E68F-3049-9C36-26F530941770}"/>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AC0B4079-DD4F-E04C-8427-DFCC585051D0}"/>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69" name="Rectangle 68">
                  <a:extLst>
                    <a:ext uri="{FF2B5EF4-FFF2-40B4-BE49-F238E27FC236}">
                      <a16:creationId xmlns:a16="http://schemas.microsoft.com/office/drawing/2014/main" id="{AC0B4079-DD4F-E04C-8427-DFCC585051D0}"/>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5"/>
                  <a:stretch>
                    <a:fillRect/>
                  </a:stretch>
                </a:blipFill>
              </p:spPr>
              <p:txBody>
                <a:bodyPr/>
                <a:lstStyle/>
                <a:p>
                  <a:r>
                    <a:rPr lang="en-US">
                      <a:noFill/>
                    </a:rPr>
                    <a:t> </a:t>
                  </a:r>
                </a:p>
              </p:txBody>
            </p:sp>
          </mc:Fallback>
        </mc:AlternateContent>
        <p:sp>
          <p:nvSpPr>
            <p:cNvPr id="70" name="Rectangle 69">
              <a:extLst>
                <a:ext uri="{FF2B5EF4-FFF2-40B4-BE49-F238E27FC236}">
                  <a16:creationId xmlns:a16="http://schemas.microsoft.com/office/drawing/2014/main" id="{E218FB28-E2BD-C843-A404-EB55453FC570}"/>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239333C4-58D9-C945-9C4A-C67A75983538}"/>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71" name="Rectangle 70">
                  <a:extLst>
                    <a:ext uri="{FF2B5EF4-FFF2-40B4-BE49-F238E27FC236}">
                      <a16:creationId xmlns:a16="http://schemas.microsoft.com/office/drawing/2014/main" id="{239333C4-58D9-C945-9C4A-C67A75983538}"/>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6"/>
                  <a:stretch>
                    <a:fillRect b="-14815"/>
                  </a:stretch>
                </a:blipFill>
              </p:spPr>
              <p:txBody>
                <a:bodyPr/>
                <a:lstStyle/>
                <a:p>
                  <a:r>
                    <a:rPr lang="en-US">
                      <a:noFill/>
                    </a:rPr>
                    <a:t> </a:t>
                  </a:r>
                </a:p>
              </p:txBody>
            </p:sp>
          </mc:Fallback>
        </mc:AlternateContent>
        <p:sp>
          <p:nvSpPr>
            <p:cNvPr id="72" name="Rectangle 71">
              <a:extLst>
                <a:ext uri="{FF2B5EF4-FFF2-40B4-BE49-F238E27FC236}">
                  <a16:creationId xmlns:a16="http://schemas.microsoft.com/office/drawing/2014/main" id="{0456290E-6226-2B46-99E3-30222D6B136B}"/>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3" name="Rectangle 72">
                  <a:extLst>
                    <a:ext uri="{FF2B5EF4-FFF2-40B4-BE49-F238E27FC236}">
                      <a16:creationId xmlns:a16="http://schemas.microsoft.com/office/drawing/2014/main" id="{57F88DF6-31DE-F447-B5DF-65650BA37101}"/>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73" name="Rectangle 72">
                  <a:extLst>
                    <a:ext uri="{FF2B5EF4-FFF2-40B4-BE49-F238E27FC236}">
                      <a16:creationId xmlns:a16="http://schemas.microsoft.com/office/drawing/2014/main" id="{57F88DF6-31DE-F447-B5DF-65650BA37101}"/>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7"/>
                  <a:stretch>
                    <a:fillRect/>
                  </a:stretch>
                </a:blipFill>
              </p:spPr>
              <p:txBody>
                <a:bodyPr/>
                <a:lstStyle/>
                <a:p>
                  <a:r>
                    <a:rPr lang="en-US">
                      <a:noFill/>
                    </a:rPr>
                    <a:t> </a:t>
                  </a:r>
                </a:p>
              </p:txBody>
            </p:sp>
          </mc:Fallback>
        </mc:AlternateContent>
        <p:sp>
          <p:nvSpPr>
            <p:cNvPr id="74" name="Rectangle 73">
              <a:extLst>
                <a:ext uri="{FF2B5EF4-FFF2-40B4-BE49-F238E27FC236}">
                  <a16:creationId xmlns:a16="http://schemas.microsoft.com/office/drawing/2014/main" id="{C03BE8FA-976D-4B40-8E82-D77B14A3618D}"/>
                </a:ext>
              </a:extLst>
            </p:cNvPr>
            <p:cNvSpPr/>
            <p:nvPr/>
          </p:nvSpPr>
          <p:spPr>
            <a:xfrm>
              <a:off x="9471016" y="812887"/>
              <a:ext cx="540000" cy="720000"/>
            </a:xfrm>
            <a:prstGeom prst="rect">
              <a:avLst/>
            </a:prstGeom>
            <a:solidFill>
              <a:srgbClr val="30E845"/>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CC002474-E07F-484A-A59D-215DA94F616D}"/>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75" name="Rectangle 74">
                  <a:extLst>
                    <a:ext uri="{FF2B5EF4-FFF2-40B4-BE49-F238E27FC236}">
                      <a16:creationId xmlns:a16="http://schemas.microsoft.com/office/drawing/2014/main" id="{CC002474-E07F-484A-A59D-215DA94F616D}"/>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8"/>
                  <a:stretch>
                    <a:fillRect b="-10714"/>
                  </a:stretch>
                </a:blipFill>
              </p:spPr>
              <p:txBody>
                <a:bodyPr/>
                <a:lstStyle/>
                <a:p>
                  <a:r>
                    <a:rPr lang="sr-Latn-RS">
                      <a:noFill/>
                    </a:rPr>
                    <a:t> </a:t>
                  </a:r>
                </a:p>
              </p:txBody>
            </p:sp>
          </mc:Fallback>
        </mc:AlternateContent>
        <p:sp>
          <p:nvSpPr>
            <p:cNvPr id="76" name="Rectangle 75">
              <a:extLst>
                <a:ext uri="{FF2B5EF4-FFF2-40B4-BE49-F238E27FC236}">
                  <a16:creationId xmlns:a16="http://schemas.microsoft.com/office/drawing/2014/main" id="{077084F7-6443-F048-80BE-DF3BAE51BDB3}"/>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9891344B-1398-F544-AFB0-A83728CE8C0A}"/>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77" name="Rectangle 76">
                  <a:extLst>
                    <a:ext uri="{FF2B5EF4-FFF2-40B4-BE49-F238E27FC236}">
                      <a16:creationId xmlns:a16="http://schemas.microsoft.com/office/drawing/2014/main" id="{9891344B-1398-F544-AFB0-A83728CE8C0A}"/>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E9924B6C-73BD-8C43-B5A6-FCBD29A77458}"/>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78" name="Rectangle 77">
                  <a:extLst>
                    <a:ext uri="{FF2B5EF4-FFF2-40B4-BE49-F238E27FC236}">
                      <a16:creationId xmlns:a16="http://schemas.microsoft.com/office/drawing/2014/main" id="{E9924B6C-73BD-8C43-B5A6-FCBD29A77458}"/>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20"/>
                  <a:stretch>
                    <a:fillRect/>
                  </a:stretch>
                </a:blipFill>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32DBCD16-F2A4-4D4A-A77D-1B8AA5E561B6}"/>
              </a:ext>
            </a:extLst>
          </p:cNvPr>
          <p:cNvGrpSpPr>
            <a:grpSpLocks noChangeAspect="1"/>
          </p:cNvGrpSpPr>
          <p:nvPr/>
        </p:nvGrpSpPr>
        <p:grpSpPr>
          <a:xfrm>
            <a:off x="6413884" y="2637916"/>
            <a:ext cx="717999" cy="720000"/>
            <a:chOff x="8665028" y="854706"/>
            <a:chExt cx="720000" cy="720000"/>
          </a:xfrm>
        </p:grpSpPr>
        <p:sp>
          <p:nvSpPr>
            <p:cNvPr id="47" name="Rectangle 46">
              <a:extLst>
                <a:ext uri="{FF2B5EF4-FFF2-40B4-BE49-F238E27FC236}">
                  <a16:creationId xmlns:a16="http://schemas.microsoft.com/office/drawing/2014/main" id="{82F04C06-F772-0246-867B-517D1C207F70}"/>
                </a:ext>
              </a:extLst>
            </p:cNvPr>
            <p:cNvSpPr/>
            <p:nvPr/>
          </p:nvSpPr>
          <p:spPr>
            <a:xfrm>
              <a:off x="8665028" y="854706"/>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48" name="Straight Connector 47">
              <a:extLst>
                <a:ext uri="{FF2B5EF4-FFF2-40B4-BE49-F238E27FC236}">
                  <a16:creationId xmlns:a16="http://schemas.microsoft.com/office/drawing/2014/main" id="{3126169C-2BB7-5243-A71B-A1D40DF3402F}"/>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49" name="Arc 48">
              <a:extLst>
                <a:ext uri="{FF2B5EF4-FFF2-40B4-BE49-F238E27FC236}">
                  <a16:creationId xmlns:a16="http://schemas.microsoft.com/office/drawing/2014/main" id="{FE9047BF-88D7-A54C-98E9-B915B8DD1AE6}"/>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BF96D0B1-897A-DF47-8513-19FFAFD08C0D}"/>
              </a:ext>
            </a:extLst>
          </p:cNvPr>
          <p:cNvGrpSpPr>
            <a:grpSpLocks noChangeAspect="1"/>
          </p:cNvGrpSpPr>
          <p:nvPr/>
        </p:nvGrpSpPr>
        <p:grpSpPr>
          <a:xfrm>
            <a:off x="6407338" y="3413393"/>
            <a:ext cx="717999" cy="720000"/>
            <a:chOff x="8665028" y="854706"/>
            <a:chExt cx="720000" cy="720000"/>
          </a:xfrm>
        </p:grpSpPr>
        <p:sp>
          <p:nvSpPr>
            <p:cNvPr id="51" name="Rectangle 50">
              <a:extLst>
                <a:ext uri="{FF2B5EF4-FFF2-40B4-BE49-F238E27FC236}">
                  <a16:creationId xmlns:a16="http://schemas.microsoft.com/office/drawing/2014/main" id="{736AD27A-1032-994F-856D-55A667E5FC40}"/>
                </a:ext>
              </a:extLst>
            </p:cNvPr>
            <p:cNvSpPr/>
            <p:nvPr/>
          </p:nvSpPr>
          <p:spPr>
            <a:xfrm>
              <a:off x="8665028" y="854706"/>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cxnSp>
          <p:nvCxnSpPr>
            <p:cNvPr id="53" name="Straight Connector 52">
              <a:extLst>
                <a:ext uri="{FF2B5EF4-FFF2-40B4-BE49-F238E27FC236}">
                  <a16:creationId xmlns:a16="http://schemas.microsoft.com/office/drawing/2014/main" id="{BACA0D9A-9D03-B14B-9C63-00D7F5F7FDE4}"/>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54" name="Arc 53">
              <a:extLst>
                <a:ext uri="{FF2B5EF4-FFF2-40B4-BE49-F238E27FC236}">
                  <a16:creationId xmlns:a16="http://schemas.microsoft.com/office/drawing/2014/main" id="{514370D6-71C1-9B4A-8137-851F38039123}"/>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71405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linds(horizontal)">
                                      <p:cBhvr>
                                        <p:cTn id="1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Rectangle 302">
            <a:extLst>
              <a:ext uri="{FF2B5EF4-FFF2-40B4-BE49-F238E27FC236}">
                <a16:creationId xmlns:a16="http://schemas.microsoft.com/office/drawing/2014/main" id="{F0EFC1C5-9E82-4441-ABDD-9A5DBA217721}"/>
              </a:ext>
            </a:extLst>
          </p:cNvPr>
          <p:cNvSpPr/>
          <p:nvPr/>
        </p:nvSpPr>
        <p:spPr>
          <a:xfrm>
            <a:off x="7383875" y="2542239"/>
            <a:ext cx="2762656" cy="1866936"/>
          </a:xfrm>
          <a:prstGeom prst="rect">
            <a:avLst/>
          </a:prstGeom>
          <a:solidFill>
            <a:srgbClr val="FFF2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US" dirty="0"/>
              <a:t>Generative QML - Quantum Circuit Born Machine</a:t>
            </a:r>
          </a:p>
        </p:txBody>
      </p:sp>
      <p:sp>
        <p:nvSpPr>
          <p:cNvPr id="3" name="Slide Number Placeholder 2">
            <a:extLst>
              <a:ext uri="{FF2B5EF4-FFF2-40B4-BE49-F238E27FC236}">
                <a16:creationId xmlns:a16="http://schemas.microsoft.com/office/drawing/2014/main" id="{64B25291-D941-294E-B656-CE4EE08F0396}"/>
              </a:ext>
            </a:extLst>
          </p:cNvPr>
          <p:cNvSpPr>
            <a:spLocks noGrp="1"/>
          </p:cNvSpPr>
          <p:nvPr>
            <p:ph type="sldNum" sz="quarter" idx="12"/>
          </p:nvPr>
        </p:nvSpPr>
        <p:spPr/>
        <p:txBody>
          <a:bodyPr/>
          <a:lstStyle/>
          <a:p>
            <a:fld id="{591A223C-FA10-BC46-A853-03BA373D023C}" type="slidenum">
              <a:rPr lang="en-US" smtClean="0"/>
              <a:t>21</a:t>
            </a:fld>
            <a:endParaRPr lang="en-US" dirty="0"/>
          </a:p>
        </p:txBody>
      </p:sp>
      <p:grpSp>
        <p:nvGrpSpPr>
          <p:cNvPr id="99" name="Group 98">
            <a:extLst>
              <a:ext uri="{FF2B5EF4-FFF2-40B4-BE49-F238E27FC236}">
                <a16:creationId xmlns:a16="http://schemas.microsoft.com/office/drawing/2014/main" id="{43ACCB3F-B6C3-FE4B-8D86-F266A3E422DA}"/>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84B50DB6-3143-114C-AF85-73BD85E9FE92}"/>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4" name="Rectangle 153">
                  <a:extLst>
                    <a:ext uri="{FF2B5EF4-FFF2-40B4-BE49-F238E27FC236}">
                      <a16:creationId xmlns:a16="http://schemas.microsoft.com/office/drawing/2014/main" id="{11ADD2D3-D169-3943-BB3C-CD31935F9AE0}"/>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3"/>
                  <a:stretch>
                    <a:fillRect/>
                  </a:stretch>
                </a:blipFill>
              </p:spPr>
              <p:txBody>
                <a:bodyPr/>
                <a:lstStyle/>
                <a:p>
                  <a:r>
                    <a:rPr lang="en-US">
                      <a:noFill/>
                    </a:rPr>
                    <a:t> </a:t>
                  </a:r>
                </a:p>
              </p:txBody>
            </p:sp>
          </mc:Fallback>
        </mc:AlternateContent>
        <p:cxnSp>
          <p:nvCxnSpPr>
            <p:cNvPr id="101" name="Straight Connector 100">
              <a:extLst>
                <a:ext uri="{FF2B5EF4-FFF2-40B4-BE49-F238E27FC236}">
                  <a16:creationId xmlns:a16="http://schemas.microsoft.com/office/drawing/2014/main" id="{EFA5E841-8057-3B47-AE07-90775F318337}"/>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3AEE8F7-DA17-5A45-81F2-EFC94C1C261C}"/>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36EE473F-813B-7D4B-A9BB-C79833001A48}"/>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157" name="Rectangle 156">
                  <a:extLst>
                    <a:ext uri="{FF2B5EF4-FFF2-40B4-BE49-F238E27FC236}">
                      <a16:creationId xmlns:a16="http://schemas.microsoft.com/office/drawing/2014/main" id="{73F24AF4-D0E6-7040-A0A9-D7A982CB0CF3}"/>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4"/>
                  <a:stretch>
                    <a:fillRect/>
                  </a:stretch>
                </a:blipFill>
              </p:spPr>
              <p:txBody>
                <a:bodyPr/>
                <a:lstStyle/>
                <a:p>
                  <a:r>
                    <a:rPr lang="en-US">
                      <a:noFill/>
                    </a:rPr>
                    <a:t> </a:t>
                  </a:r>
                </a:p>
              </p:txBody>
            </p:sp>
          </mc:Fallback>
        </mc:AlternateContent>
        <p:sp>
          <p:nvSpPr>
            <p:cNvPr id="104" name="Rectangle 103">
              <a:extLst>
                <a:ext uri="{FF2B5EF4-FFF2-40B4-BE49-F238E27FC236}">
                  <a16:creationId xmlns:a16="http://schemas.microsoft.com/office/drawing/2014/main" id="{098E0B50-E2E7-8543-B827-407CFDF6D595}"/>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867CEC5A-4353-D744-B2AA-DC4EF4D39DCF}"/>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159" name="Rectangle 158">
                  <a:extLst>
                    <a:ext uri="{FF2B5EF4-FFF2-40B4-BE49-F238E27FC236}">
                      <a16:creationId xmlns:a16="http://schemas.microsoft.com/office/drawing/2014/main" id="{EDC41B11-34E1-E34C-92E8-07927830789C}"/>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5"/>
                  <a:stretch>
                    <a:fillRect b="-14815"/>
                  </a:stretch>
                </a:blipFill>
              </p:spPr>
              <p:txBody>
                <a:bodyPr/>
                <a:lstStyle/>
                <a:p>
                  <a:r>
                    <a:rPr lang="en-US">
                      <a:noFill/>
                    </a:rPr>
                    <a:t> </a:t>
                  </a:r>
                </a:p>
              </p:txBody>
            </p:sp>
          </mc:Fallback>
        </mc:AlternateContent>
        <p:sp>
          <p:nvSpPr>
            <p:cNvPr id="106" name="Rectangle 105">
              <a:extLst>
                <a:ext uri="{FF2B5EF4-FFF2-40B4-BE49-F238E27FC236}">
                  <a16:creationId xmlns:a16="http://schemas.microsoft.com/office/drawing/2014/main" id="{8BAE37C8-8D4F-5C4E-9FBB-2B33AC228A4A}"/>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7" name="Rectangle 106">
                  <a:extLst>
                    <a:ext uri="{FF2B5EF4-FFF2-40B4-BE49-F238E27FC236}">
                      <a16:creationId xmlns:a16="http://schemas.microsoft.com/office/drawing/2014/main" id="{E0D5F57B-7A42-7842-BDB6-E4F7BD9A2EC3}"/>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161" name="Rectangle 160">
                  <a:extLst>
                    <a:ext uri="{FF2B5EF4-FFF2-40B4-BE49-F238E27FC236}">
                      <a16:creationId xmlns:a16="http://schemas.microsoft.com/office/drawing/2014/main" id="{DCA4F7B0-C192-B04A-9752-7F69EDE82F4B}"/>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6"/>
                  <a:stretch>
                    <a:fillRect/>
                  </a:stretch>
                </a:blipFill>
              </p:spPr>
              <p:txBody>
                <a:bodyPr/>
                <a:lstStyle/>
                <a:p>
                  <a:r>
                    <a:rPr lang="en-US">
                      <a:noFill/>
                    </a:rPr>
                    <a:t> </a:t>
                  </a:r>
                </a:p>
              </p:txBody>
            </p:sp>
          </mc:Fallback>
        </mc:AlternateContent>
        <p:sp>
          <p:nvSpPr>
            <p:cNvPr id="108" name="Rectangle 107">
              <a:extLst>
                <a:ext uri="{FF2B5EF4-FFF2-40B4-BE49-F238E27FC236}">
                  <a16:creationId xmlns:a16="http://schemas.microsoft.com/office/drawing/2014/main" id="{4A720A4B-52E2-2241-9F5B-A340A0C8D07C}"/>
                </a:ext>
              </a:extLst>
            </p:cNvPr>
            <p:cNvSpPr/>
            <p:nvPr/>
          </p:nvSpPr>
          <p:spPr>
            <a:xfrm>
              <a:off x="9471016" y="812887"/>
              <a:ext cx="540000" cy="720000"/>
            </a:xfrm>
            <a:prstGeom prst="rect">
              <a:avLst/>
            </a:prstGeom>
            <a:solidFill>
              <a:srgbClr val="30E845"/>
            </a:solidFill>
            <a:ln>
              <a:solidFill>
                <a:schemeClr val="accent1">
                  <a:shade val="50000"/>
                </a:schemeClr>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FF1BE63B-46CF-CD49-9D87-216809EB0AEC}"/>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109" name="Rectangle 108">
                  <a:extLst>
                    <a:ext uri="{FF2B5EF4-FFF2-40B4-BE49-F238E27FC236}">
                      <a16:creationId xmlns:a16="http://schemas.microsoft.com/office/drawing/2014/main" id="{FF1BE63B-46CF-CD49-9D87-216809EB0AEC}"/>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7"/>
                  <a:stretch>
                    <a:fillRect b="-10714"/>
                  </a:stretch>
                </a:blipFill>
              </p:spPr>
              <p:txBody>
                <a:bodyPr/>
                <a:lstStyle/>
                <a:p>
                  <a:r>
                    <a:rPr lang="sr-Latn-RS">
                      <a:noFill/>
                    </a:rPr>
                    <a:t> </a:t>
                  </a:r>
                </a:p>
              </p:txBody>
            </p:sp>
          </mc:Fallback>
        </mc:AlternateContent>
        <p:sp>
          <p:nvSpPr>
            <p:cNvPr id="110" name="Rectangle 109">
              <a:extLst>
                <a:ext uri="{FF2B5EF4-FFF2-40B4-BE49-F238E27FC236}">
                  <a16:creationId xmlns:a16="http://schemas.microsoft.com/office/drawing/2014/main" id="{C4FF8613-78D3-4A48-A428-AA56B5958A25}"/>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1" name="Rectangle 110">
                  <a:extLst>
                    <a:ext uri="{FF2B5EF4-FFF2-40B4-BE49-F238E27FC236}">
                      <a16:creationId xmlns:a16="http://schemas.microsoft.com/office/drawing/2014/main" id="{C2EC7DFD-A951-8C4D-8E98-CCDDA69F4135}"/>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165" name="Rectangle 164">
                  <a:extLst>
                    <a:ext uri="{FF2B5EF4-FFF2-40B4-BE49-F238E27FC236}">
                      <a16:creationId xmlns:a16="http://schemas.microsoft.com/office/drawing/2014/main" id="{DAC8D148-2BEA-DA40-8044-7E2D2066D1A2}"/>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0860EE87-C622-904A-8899-4F95F64B3920}"/>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166" name="Rectangle 165">
                  <a:extLst>
                    <a:ext uri="{FF2B5EF4-FFF2-40B4-BE49-F238E27FC236}">
                      <a16:creationId xmlns:a16="http://schemas.microsoft.com/office/drawing/2014/main" id="{B302ECB5-E617-FF48-A040-38067D469A22}"/>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9"/>
                  <a:stretch>
                    <a:fillRect/>
                  </a:stretch>
                </a:blipFill>
              </p:spPr>
              <p:txBody>
                <a:bodyPr/>
                <a:lstStyle/>
                <a:p>
                  <a:r>
                    <a:rPr lang="en-US">
                      <a:noFill/>
                    </a:rPr>
                    <a:t> </a:t>
                  </a:r>
                </a:p>
              </p:txBody>
            </p:sp>
          </mc:Fallback>
        </mc:AlternateContent>
      </p:grpSp>
      <p:sp>
        <p:nvSpPr>
          <p:cNvPr id="284" name="Rectangle 283">
            <a:extLst>
              <a:ext uri="{FF2B5EF4-FFF2-40B4-BE49-F238E27FC236}">
                <a16:creationId xmlns:a16="http://schemas.microsoft.com/office/drawing/2014/main" id="{A6FF42FE-3932-D248-AB07-817C99DC726C}"/>
              </a:ext>
            </a:extLst>
          </p:cNvPr>
          <p:cNvSpPr/>
          <p:nvPr/>
        </p:nvSpPr>
        <p:spPr>
          <a:xfrm>
            <a:off x="7662786" y="3989881"/>
            <a:ext cx="180000" cy="251999"/>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366A60A6-8F6E-3340-988E-0C6E4F4AC50F}"/>
              </a:ext>
            </a:extLst>
          </p:cNvPr>
          <p:cNvSpPr/>
          <p:nvPr/>
        </p:nvSpPr>
        <p:spPr>
          <a:xfrm>
            <a:off x="7932786" y="3809880"/>
            <a:ext cx="180000" cy="432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7E508F38-0F50-8D4E-8D3C-C8A2D43333FC}"/>
              </a:ext>
            </a:extLst>
          </p:cNvPr>
          <p:cNvSpPr/>
          <p:nvPr/>
        </p:nvSpPr>
        <p:spPr>
          <a:xfrm>
            <a:off x="8202786" y="3701880"/>
            <a:ext cx="180000" cy="540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6C7FE7F9-90A3-EF42-A570-8741629D2D96}"/>
              </a:ext>
            </a:extLst>
          </p:cNvPr>
          <p:cNvSpPr/>
          <p:nvPr/>
        </p:nvSpPr>
        <p:spPr>
          <a:xfrm>
            <a:off x="8472786" y="3521880"/>
            <a:ext cx="180000" cy="720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CE5A645A-E982-404E-9448-4D0AC6FD9A5A}"/>
              </a:ext>
            </a:extLst>
          </p:cNvPr>
          <p:cNvSpPr/>
          <p:nvPr/>
        </p:nvSpPr>
        <p:spPr>
          <a:xfrm>
            <a:off x="8742786" y="2837880"/>
            <a:ext cx="180000" cy="1404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00FE207D-0ECC-EB48-AE9B-0EB9E0E59FEF}"/>
              </a:ext>
            </a:extLst>
          </p:cNvPr>
          <p:cNvSpPr/>
          <p:nvPr/>
        </p:nvSpPr>
        <p:spPr>
          <a:xfrm>
            <a:off x="9012786" y="3161880"/>
            <a:ext cx="180000" cy="1080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E093D879-812F-E043-95D0-FCC5C7248683}"/>
              </a:ext>
            </a:extLst>
          </p:cNvPr>
          <p:cNvSpPr/>
          <p:nvPr/>
        </p:nvSpPr>
        <p:spPr>
          <a:xfrm>
            <a:off x="9282786" y="2981880"/>
            <a:ext cx="180000" cy="1260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B7E74181-A1D8-DD41-8D62-884634F0D697}"/>
              </a:ext>
            </a:extLst>
          </p:cNvPr>
          <p:cNvSpPr/>
          <p:nvPr/>
        </p:nvSpPr>
        <p:spPr>
          <a:xfrm>
            <a:off x="9552786" y="3269880"/>
            <a:ext cx="180000" cy="9720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TextBox 303">
            <a:extLst>
              <a:ext uri="{FF2B5EF4-FFF2-40B4-BE49-F238E27FC236}">
                <a16:creationId xmlns:a16="http://schemas.microsoft.com/office/drawing/2014/main" id="{2DEB475C-7D33-6042-AA40-DC927CEC1D10}"/>
              </a:ext>
            </a:extLst>
          </p:cNvPr>
          <p:cNvSpPr txBox="1"/>
          <p:nvPr/>
        </p:nvSpPr>
        <p:spPr>
          <a:xfrm>
            <a:off x="7420708" y="4957150"/>
            <a:ext cx="3004156" cy="461665"/>
          </a:xfrm>
          <a:prstGeom prst="rect">
            <a:avLst/>
          </a:prstGeom>
          <a:noFill/>
        </p:spPr>
        <p:txBody>
          <a:bodyPr wrap="none" rtlCol="0">
            <a:spAutoFit/>
          </a:bodyPr>
          <a:lstStyle/>
          <a:p>
            <a:pPr algn="ctr"/>
            <a:r>
              <a:rPr lang="en-US" sz="2400" dirty="0">
                <a:latin typeface="+mj-lt"/>
              </a:rPr>
              <a:t>probability distribution</a:t>
            </a:r>
          </a:p>
        </p:txBody>
      </p:sp>
      <p:sp>
        <p:nvSpPr>
          <p:cNvPr id="4" name="Right Arrow 3">
            <a:extLst>
              <a:ext uri="{FF2B5EF4-FFF2-40B4-BE49-F238E27FC236}">
                <a16:creationId xmlns:a16="http://schemas.microsoft.com/office/drawing/2014/main" id="{187EEB59-D184-484A-9865-871C4FE5BFC7}"/>
              </a:ext>
            </a:extLst>
          </p:cNvPr>
          <p:cNvSpPr/>
          <p:nvPr/>
        </p:nvSpPr>
        <p:spPr>
          <a:xfrm>
            <a:off x="6314284" y="3323452"/>
            <a:ext cx="842075" cy="5165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70">
            <a:extLst>
              <a:ext uri="{FF2B5EF4-FFF2-40B4-BE49-F238E27FC236}">
                <a16:creationId xmlns:a16="http://schemas.microsoft.com/office/drawing/2014/main" id="{A782284C-52DD-034D-8B40-883373A5F4B8}"/>
              </a:ext>
            </a:extLst>
          </p:cNvPr>
          <p:cNvSpPr/>
          <p:nvPr/>
        </p:nvSpPr>
        <p:spPr>
          <a:xfrm>
            <a:off x="1334342" y="2133318"/>
            <a:ext cx="4761658" cy="2702081"/>
          </a:xfrm>
          <a:prstGeom prst="roundRect">
            <a:avLst>
              <a:gd name="adj" fmla="val 9152"/>
            </a:avLst>
          </a:pr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065F8AA-1F0A-BD4F-9736-D8649A1D6994}"/>
              </a:ext>
            </a:extLst>
          </p:cNvPr>
          <p:cNvSpPr/>
          <p:nvPr/>
        </p:nvSpPr>
        <p:spPr>
          <a:xfrm>
            <a:off x="5141345" y="2227239"/>
            <a:ext cx="805665" cy="24575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884D6618-69F7-2341-AEDA-F66AC57FD045}"/>
              </a:ext>
            </a:extLst>
          </p:cNvPr>
          <p:cNvSpPr/>
          <p:nvPr/>
        </p:nvSpPr>
        <p:spPr>
          <a:xfrm>
            <a:off x="2874016" y="2227239"/>
            <a:ext cx="2056460" cy="245754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A3A4772-CA1A-2C46-A25A-18A2FAE7B8F9}"/>
              </a:ext>
            </a:extLst>
          </p:cNvPr>
          <p:cNvSpPr/>
          <p:nvPr/>
        </p:nvSpPr>
        <p:spPr>
          <a:xfrm>
            <a:off x="1615670" y="2227239"/>
            <a:ext cx="1036467" cy="2457543"/>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C9DF01BE-E59D-B84A-856B-CAAA1A3703D4}"/>
              </a:ext>
            </a:extLst>
          </p:cNvPr>
          <p:cNvCxnSpPr>
            <a:cxnSpLocks/>
          </p:cNvCxnSpPr>
          <p:nvPr/>
        </p:nvCxnSpPr>
        <p:spPr>
          <a:xfrm>
            <a:off x="1424342" y="2697547"/>
            <a:ext cx="43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3FAE5F8-6457-804F-AAC8-F175C2BD42B9}"/>
              </a:ext>
            </a:extLst>
          </p:cNvPr>
          <p:cNvCxnSpPr>
            <a:cxnSpLocks/>
          </p:cNvCxnSpPr>
          <p:nvPr/>
        </p:nvCxnSpPr>
        <p:spPr>
          <a:xfrm>
            <a:off x="1424342" y="3462243"/>
            <a:ext cx="432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BF9536A-BCB4-1A4B-84EE-EA12321A40A4}"/>
              </a:ext>
            </a:extLst>
          </p:cNvPr>
          <p:cNvCxnSpPr>
            <a:cxnSpLocks/>
            <a:endCxn id="123" idx="3"/>
          </p:cNvCxnSpPr>
          <p:nvPr/>
        </p:nvCxnSpPr>
        <p:spPr>
          <a:xfrm flipV="1">
            <a:off x="1424341" y="4230162"/>
            <a:ext cx="4320000" cy="523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662B928B-5032-3549-95B1-E070A2D4A5AF}"/>
              </a:ext>
            </a:extLst>
          </p:cNvPr>
          <p:cNvSpPr/>
          <p:nvPr/>
        </p:nvSpPr>
        <p:spPr>
          <a:xfrm>
            <a:off x="3002404" y="2375860"/>
            <a:ext cx="776575" cy="5546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C20E5A0B-CE32-B14C-8636-F198AA5957C5}"/>
                  </a:ext>
                </a:extLst>
              </p:cNvPr>
              <p:cNvSpPr/>
              <p:nvPr/>
            </p:nvSpPr>
            <p:spPr>
              <a:xfrm>
                <a:off x="2969117" y="2487566"/>
                <a:ext cx="779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solidFill>
                            <a:schemeClr val="bg1"/>
                          </a:solidFill>
                          <a:latin typeface="Cambria Math" panose="02040503050406030204" pitchFamily="18" charset="0"/>
                        </a:rPr>
                        <m:t>RY</m:t>
                      </m:r>
                      <m:d>
                        <m:dPr>
                          <m:ctrlPr>
                            <a:rPr lang="en-US" i="1" smtClean="0">
                              <a:solidFill>
                                <a:schemeClr val="bg1"/>
                              </a:solidFill>
                              <a:latin typeface="Cambria Math" panose="02040503050406030204" pitchFamily="18" charset="0"/>
                            </a:rPr>
                          </m:ctrlPr>
                        </m:dPr>
                        <m:e>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ea typeface="Cambria Math" panose="02040503050406030204" pitchFamily="18" charset="0"/>
                                </a:rPr>
                                <m:t>𝜃</m:t>
                              </m:r>
                            </m:e>
                            <m:sub>
                              <m:r>
                                <a:rPr lang="en-US" b="0" i="1" smtClean="0">
                                  <a:solidFill>
                                    <a:schemeClr val="bg1"/>
                                  </a:solidFill>
                                  <a:latin typeface="Cambria Math" panose="02040503050406030204" pitchFamily="18" charset="0"/>
                                  <a:ea typeface="Cambria Math" panose="02040503050406030204" pitchFamily="18" charset="0"/>
                                </a:rPr>
                                <m:t>0</m:t>
                              </m:r>
                            </m:sub>
                          </m:sSub>
                        </m:e>
                      </m:d>
                    </m:oMath>
                  </m:oMathPara>
                </a14:m>
                <a:endParaRPr lang="en-US" dirty="0">
                  <a:solidFill>
                    <a:schemeClr val="bg1"/>
                  </a:solidFill>
                </a:endParaRPr>
              </a:p>
            </p:txBody>
          </p:sp>
        </mc:Choice>
        <mc:Fallback xmlns="">
          <p:sp>
            <p:nvSpPr>
              <p:cNvPr id="79" name="Rectangle 78">
                <a:extLst>
                  <a:ext uri="{FF2B5EF4-FFF2-40B4-BE49-F238E27FC236}">
                    <a16:creationId xmlns:a16="http://schemas.microsoft.com/office/drawing/2014/main" id="{C20E5A0B-CE32-B14C-8636-F198AA5957C5}"/>
                  </a:ext>
                </a:extLst>
              </p:cNvPr>
              <p:cNvSpPr>
                <a:spLocks noRot="1" noChangeAspect="1" noMove="1" noResize="1" noEditPoints="1" noAdjustHandles="1" noChangeArrowheads="1" noChangeShapeType="1" noTextEdit="1"/>
              </p:cNvSpPr>
              <p:nvPr/>
            </p:nvSpPr>
            <p:spPr>
              <a:xfrm>
                <a:off x="2969117" y="2487566"/>
                <a:ext cx="779239" cy="369332"/>
              </a:xfrm>
              <a:prstGeom prst="rect">
                <a:avLst/>
              </a:prstGeom>
              <a:blipFill>
                <a:blip r:embed="rId20"/>
                <a:stretch>
                  <a:fillRect/>
                </a:stretch>
              </a:blipFill>
            </p:spPr>
            <p:txBody>
              <a:bodyPr/>
              <a:lstStyle/>
              <a:p>
                <a:r>
                  <a:rPr lang="en-US">
                    <a:noFill/>
                  </a:rPr>
                  <a:t> </a:t>
                </a:r>
              </a:p>
            </p:txBody>
          </p:sp>
        </mc:Fallback>
      </mc:AlternateContent>
      <p:sp>
        <p:nvSpPr>
          <p:cNvPr id="80" name="Rectangle 79">
            <a:extLst>
              <a:ext uri="{FF2B5EF4-FFF2-40B4-BE49-F238E27FC236}">
                <a16:creationId xmlns:a16="http://schemas.microsoft.com/office/drawing/2014/main" id="{CF8DAACF-E35C-8B4D-9EA5-25D3F4846030}"/>
              </a:ext>
            </a:extLst>
          </p:cNvPr>
          <p:cNvSpPr/>
          <p:nvPr/>
        </p:nvSpPr>
        <p:spPr>
          <a:xfrm>
            <a:off x="2997887" y="3184895"/>
            <a:ext cx="776575" cy="5546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9B30B235-1C3F-9D47-8921-EC16BBCE080F}"/>
                  </a:ext>
                </a:extLst>
              </p:cNvPr>
              <p:cNvSpPr/>
              <p:nvPr/>
            </p:nvSpPr>
            <p:spPr>
              <a:xfrm>
                <a:off x="2964600" y="3296601"/>
                <a:ext cx="779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solidFill>
                            <a:schemeClr val="bg1"/>
                          </a:solidFill>
                          <a:latin typeface="Cambria Math" panose="02040503050406030204" pitchFamily="18" charset="0"/>
                        </a:rPr>
                        <m:t>RY</m:t>
                      </m:r>
                      <m:d>
                        <m:dPr>
                          <m:ctrlPr>
                            <a:rPr lang="en-US" i="1" smtClean="0">
                              <a:solidFill>
                                <a:schemeClr val="bg1"/>
                              </a:solidFill>
                              <a:latin typeface="Cambria Math" panose="02040503050406030204" pitchFamily="18" charset="0"/>
                            </a:rPr>
                          </m:ctrlPr>
                        </m:dPr>
                        <m:e>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ea typeface="Cambria Math" panose="02040503050406030204" pitchFamily="18" charset="0"/>
                                </a:rPr>
                                <m:t>𝜃</m:t>
                              </m:r>
                            </m:e>
                            <m:sub>
                              <m:r>
                                <a:rPr lang="en-US" b="0" i="1" smtClean="0">
                                  <a:solidFill>
                                    <a:schemeClr val="bg1"/>
                                  </a:solidFill>
                                  <a:latin typeface="Cambria Math" panose="02040503050406030204" pitchFamily="18" charset="0"/>
                                  <a:ea typeface="Cambria Math" panose="02040503050406030204" pitchFamily="18" charset="0"/>
                                </a:rPr>
                                <m:t>1</m:t>
                              </m:r>
                            </m:sub>
                          </m:sSub>
                        </m:e>
                      </m:d>
                    </m:oMath>
                  </m:oMathPara>
                </a14:m>
                <a:endParaRPr lang="en-US" dirty="0">
                  <a:solidFill>
                    <a:schemeClr val="bg1"/>
                  </a:solidFill>
                </a:endParaRPr>
              </a:p>
            </p:txBody>
          </p:sp>
        </mc:Choice>
        <mc:Fallback xmlns="">
          <p:sp>
            <p:nvSpPr>
              <p:cNvPr id="81" name="Rectangle 80">
                <a:extLst>
                  <a:ext uri="{FF2B5EF4-FFF2-40B4-BE49-F238E27FC236}">
                    <a16:creationId xmlns:a16="http://schemas.microsoft.com/office/drawing/2014/main" id="{9B30B235-1C3F-9D47-8921-EC16BBCE080F}"/>
                  </a:ext>
                </a:extLst>
              </p:cNvPr>
              <p:cNvSpPr>
                <a:spLocks noRot="1" noChangeAspect="1" noMove="1" noResize="1" noEditPoints="1" noAdjustHandles="1" noChangeArrowheads="1" noChangeShapeType="1" noTextEdit="1"/>
              </p:cNvSpPr>
              <p:nvPr/>
            </p:nvSpPr>
            <p:spPr>
              <a:xfrm>
                <a:off x="2964600" y="3296601"/>
                <a:ext cx="779239" cy="369332"/>
              </a:xfrm>
              <a:prstGeom prst="rect">
                <a:avLst/>
              </a:prstGeom>
              <a:blipFill>
                <a:blip r:embed="rId21"/>
                <a:stretch>
                  <a:fillRect/>
                </a:stretch>
              </a:blipFill>
            </p:spPr>
            <p:txBody>
              <a:bodyPr/>
              <a:lstStyle/>
              <a:p>
                <a:r>
                  <a:rPr lang="en-US">
                    <a:noFill/>
                  </a:rPr>
                  <a:t> </a:t>
                </a:r>
              </a:p>
            </p:txBody>
          </p:sp>
        </mc:Fallback>
      </mc:AlternateContent>
      <p:sp>
        <p:nvSpPr>
          <p:cNvPr id="82" name="Rectangle 81">
            <a:extLst>
              <a:ext uri="{FF2B5EF4-FFF2-40B4-BE49-F238E27FC236}">
                <a16:creationId xmlns:a16="http://schemas.microsoft.com/office/drawing/2014/main" id="{1E8FD8B5-A708-5C45-8B2C-DA2D868832B0}"/>
              </a:ext>
            </a:extLst>
          </p:cNvPr>
          <p:cNvSpPr/>
          <p:nvPr/>
        </p:nvSpPr>
        <p:spPr>
          <a:xfrm>
            <a:off x="2993371" y="3993929"/>
            <a:ext cx="776575" cy="5546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4D6DA964-112F-FD4E-AF7C-BAF54FE2ABDE}"/>
                  </a:ext>
                </a:extLst>
              </p:cNvPr>
              <p:cNvSpPr/>
              <p:nvPr/>
            </p:nvSpPr>
            <p:spPr>
              <a:xfrm>
                <a:off x="2960084" y="4105635"/>
                <a:ext cx="779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solidFill>
                            <a:schemeClr val="bg1"/>
                          </a:solidFill>
                          <a:latin typeface="Cambria Math" panose="02040503050406030204" pitchFamily="18" charset="0"/>
                        </a:rPr>
                        <m:t>RY</m:t>
                      </m:r>
                      <m:d>
                        <m:dPr>
                          <m:ctrlPr>
                            <a:rPr lang="en-US" i="1" smtClean="0">
                              <a:solidFill>
                                <a:schemeClr val="bg1"/>
                              </a:solidFill>
                              <a:latin typeface="Cambria Math" panose="02040503050406030204" pitchFamily="18" charset="0"/>
                            </a:rPr>
                          </m:ctrlPr>
                        </m:dPr>
                        <m:e>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ea typeface="Cambria Math" panose="02040503050406030204" pitchFamily="18" charset="0"/>
                                </a:rPr>
                                <m:t>𝜃</m:t>
                              </m:r>
                            </m:e>
                            <m:sub>
                              <m:r>
                                <a:rPr lang="en-US" b="0" i="1" smtClean="0">
                                  <a:solidFill>
                                    <a:schemeClr val="bg1"/>
                                  </a:solidFill>
                                  <a:latin typeface="Cambria Math" panose="02040503050406030204" pitchFamily="18" charset="0"/>
                                  <a:ea typeface="Cambria Math" panose="02040503050406030204" pitchFamily="18" charset="0"/>
                                </a:rPr>
                                <m:t>2</m:t>
                              </m:r>
                            </m:sub>
                          </m:sSub>
                        </m:e>
                      </m:d>
                    </m:oMath>
                  </m:oMathPara>
                </a14:m>
                <a:endParaRPr lang="en-US" dirty="0">
                  <a:solidFill>
                    <a:schemeClr val="bg1"/>
                  </a:solidFill>
                </a:endParaRPr>
              </a:p>
            </p:txBody>
          </p:sp>
        </mc:Choice>
        <mc:Fallback xmlns="">
          <p:sp>
            <p:nvSpPr>
              <p:cNvPr id="83" name="Rectangle 82">
                <a:extLst>
                  <a:ext uri="{FF2B5EF4-FFF2-40B4-BE49-F238E27FC236}">
                    <a16:creationId xmlns:a16="http://schemas.microsoft.com/office/drawing/2014/main" id="{4D6DA964-112F-FD4E-AF7C-BAF54FE2ABDE}"/>
                  </a:ext>
                </a:extLst>
              </p:cNvPr>
              <p:cNvSpPr>
                <a:spLocks noRot="1" noChangeAspect="1" noMove="1" noResize="1" noEditPoints="1" noAdjustHandles="1" noChangeArrowheads="1" noChangeShapeType="1" noTextEdit="1"/>
              </p:cNvSpPr>
              <p:nvPr/>
            </p:nvSpPr>
            <p:spPr>
              <a:xfrm>
                <a:off x="2960084" y="4105635"/>
                <a:ext cx="779239" cy="369332"/>
              </a:xfrm>
              <a:prstGeom prst="rect">
                <a:avLst/>
              </a:prstGeom>
              <a:blipFill>
                <a:blip r:embed="rId22"/>
                <a:stretch>
                  <a:fillRect/>
                </a:stretch>
              </a:blipFill>
            </p:spPr>
            <p:txBody>
              <a:bodyPr/>
              <a:lstStyle/>
              <a:p>
                <a:r>
                  <a:rPr lang="en-US">
                    <a:noFill/>
                  </a:rPr>
                  <a:t> </a:t>
                </a:r>
              </a:p>
            </p:txBody>
          </p:sp>
        </mc:Fallback>
      </mc:AlternateContent>
      <p:grpSp>
        <p:nvGrpSpPr>
          <p:cNvPr id="84" name="Group 83">
            <a:extLst>
              <a:ext uri="{FF2B5EF4-FFF2-40B4-BE49-F238E27FC236}">
                <a16:creationId xmlns:a16="http://schemas.microsoft.com/office/drawing/2014/main" id="{4BEFDF9C-B6F6-5C42-BEA8-967362E8F418}"/>
              </a:ext>
            </a:extLst>
          </p:cNvPr>
          <p:cNvGrpSpPr/>
          <p:nvPr/>
        </p:nvGrpSpPr>
        <p:grpSpPr>
          <a:xfrm>
            <a:off x="3945023" y="2620134"/>
            <a:ext cx="930979" cy="1819499"/>
            <a:chOff x="5156280" y="2889058"/>
            <a:chExt cx="1510521" cy="2952153"/>
          </a:xfrm>
        </p:grpSpPr>
        <p:grpSp>
          <p:nvGrpSpPr>
            <p:cNvPr id="85" name="Group 84">
              <a:extLst>
                <a:ext uri="{FF2B5EF4-FFF2-40B4-BE49-F238E27FC236}">
                  <a16:creationId xmlns:a16="http://schemas.microsoft.com/office/drawing/2014/main" id="{A97C84ED-0F0C-6948-8DCA-4B930B0E9CE3}"/>
                </a:ext>
              </a:extLst>
            </p:cNvPr>
            <p:cNvGrpSpPr/>
            <p:nvPr/>
          </p:nvGrpSpPr>
          <p:grpSpPr>
            <a:xfrm>
              <a:off x="5156280" y="3032722"/>
              <a:ext cx="1510521" cy="2808489"/>
              <a:chOff x="5156280" y="3185119"/>
              <a:chExt cx="1510521" cy="2808489"/>
            </a:xfrm>
          </p:grpSpPr>
          <p:grpSp>
            <p:nvGrpSpPr>
              <p:cNvPr id="88" name="Group 87">
                <a:extLst>
                  <a:ext uri="{FF2B5EF4-FFF2-40B4-BE49-F238E27FC236}">
                    <a16:creationId xmlns:a16="http://schemas.microsoft.com/office/drawing/2014/main" id="{1FF99980-6ACB-9847-93FE-67C196ACB0DD}"/>
                  </a:ext>
                </a:extLst>
              </p:cNvPr>
              <p:cNvGrpSpPr/>
              <p:nvPr/>
            </p:nvGrpSpPr>
            <p:grpSpPr>
              <a:xfrm>
                <a:off x="5156280" y="3185119"/>
                <a:ext cx="720000" cy="1584640"/>
                <a:chOff x="4889101" y="3147408"/>
                <a:chExt cx="720000" cy="1584640"/>
              </a:xfrm>
            </p:grpSpPr>
            <p:cxnSp>
              <p:nvCxnSpPr>
                <p:cNvPr id="92" name="Straight Connector 91">
                  <a:extLst>
                    <a:ext uri="{FF2B5EF4-FFF2-40B4-BE49-F238E27FC236}">
                      <a16:creationId xmlns:a16="http://schemas.microsoft.com/office/drawing/2014/main" id="{8F53CFAF-8C93-6B4D-9101-F809730984C1}"/>
                    </a:ext>
                  </a:extLst>
                </p:cNvPr>
                <p:cNvCxnSpPr>
                  <a:cxnSpLocks/>
                </p:cNvCxnSpPr>
                <p:nvPr/>
              </p:nvCxnSpPr>
              <p:spPr>
                <a:xfrm flipV="1">
                  <a:off x="5249101" y="3147408"/>
                  <a:ext cx="0" cy="89890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Oval 92">
                  <a:extLst>
                    <a:ext uri="{FF2B5EF4-FFF2-40B4-BE49-F238E27FC236}">
                      <a16:creationId xmlns:a16="http://schemas.microsoft.com/office/drawing/2014/main" id="{4B4CD473-A712-844B-AEAA-59F7C0E04277}"/>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a:t>
                  </a:r>
                </a:p>
              </p:txBody>
            </p:sp>
          </p:grpSp>
          <p:grpSp>
            <p:nvGrpSpPr>
              <p:cNvPr id="89" name="Group 88">
                <a:extLst>
                  <a:ext uri="{FF2B5EF4-FFF2-40B4-BE49-F238E27FC236}">
                    <a16:creationId xmlns:a16="http://schemas.microsoft.com/office/drawing/2014/main" id="{3AB3BE10-5CBA-004F-B64A-DE20B9189A9A}"/>
                  </a:ext>
                </a:extLst>
              </p:cNvPr>
              <p:cNvGrpSpPr/>
              <p:nvPr/>
            </p:nvGrpSpPr>
            <p:grpSpPr>
              <a:xfrm>
                <a:off x="5946801" y="4429630"/>
                <a:ext cx="720000" cy="1563978"/>
                <a:chOff x="4889101" y="3168070"/>
                <a:chExt cx="720000" cy="1563978"/>
              </a:xfrm>
            </p:grpSpPr>
            <p:cxnSp>
              <p:nvCxnSpPr>
                <p:cNvPr id="90" name="Straight Connector 89">
                  <a:extLst>
                    <a:ext uri="{FF2B5EF4-FFF2-40B4-BE49-F238E27FC236}">
                      <a16:creationId xmlns:a16="http://schemas.microsoft.com/office/drawing/2014/main" id="{B7170C99-A297-8244-8519-D50B81A183E9}"/>
                    </a:ext>
                  </a:extLst>
                </p:cNvPr>
                <p:cNvCxnSpPr>
                  <a:cxnSpLocks/>
                </p:cNvCxnSpPr>
                <p:nvPr/>
              </p:nvCxnSpPr>
              <p:spPr>
                <a:xfrm flipV="1">
                  <a:off x="5249101" y="3168070"/>
                  <a:ext cx="0" cy="878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35ED6541-23AB-054D-B476-38E8DAC01F00}"/>
                    </a:ext>
                  </a:extLst>
                </p:cNvPr>
                <p:cNvSpPr/>
                <p:nvPr/>
              </p:nvSpPr>
              <p:spPr>
                <a:xfrm>
                  <a:off x="4889101" y="401204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Times" pitchFamily="2" charset="0"/>
                    </a:rPr>
                    <a:t>+</a:t>
                  </a:r>
                </a:p>
              </p:txBody>
            </p:sp>
          </p:grpSp>
        </p:grpSp>
        <p:sp>
          <p:nvSpPr>
            <p:cNvPr id="86" name="Oval 85">
              <a:extLst>
                <a:ext uri="{FF2B5EF4-FFF2-40B4-BE49-F238E27FC236}">
                  <a16:creationId xmlns:a16="http://schemas.microsoft.com/office/drawing/2014/main" id="{8192469A-D8C5-A543-8B08-BB1139610DBE}"/>
                </a:ext>
              </a:extLst>
            </p:cNvPr>
            <p:cNvSpPr/>
            <p:nvPr/>
          </p:nvSpPr>
          <p:spPr>
            <a:xfrm>
              <a:off x="5390280" y="2889058"/>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pitchFamily="2" charset="0"/>
              </a:endParaRPr>
            </a:p>
          </p:txBody>
        </p:sp>
        <p:sp>
          <p:nvSpPr>
            <p:cNvPr id="87" name="Oval 86">
              <a:extLst>
                <a:ext uri="{FF2B5EF4-FFF2-40B4-BE49-F238E27FC236}">
                  <a16:creationId xmlns:a16="http://schemas.microsoft.com/office/drawing/2014/main" id="{466078DA-4165-1A4E-9157-39FF448EE35F}"/>
                </a:ext>
              </a:extLst>
            </p:cNvPr>
            <p:cNvSpPr/>
            <p:nvPr/>
          </p:nvSpPr>
          <p:spPr>
            <a:xfrm>
              <a:off x="6180801" y="4130925"/>
              <a:ext cx="251999" cy="251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pitchFamily="2" charset="0"/>
              </a:endParaRPr>
            </a:p>
          </p:txBody>
        </p:sp>
      </p:grpSp>
      <p:sp>
        <p:nvSpPr>
          <p:cNvPr id="94" name="Rectangle 93">
            <a:extLst>
              <a:ext uri="{FF2B5EF4-FFF2-40B4-BE49-F238E27FC236}">
                <a16:creationId xmlns:a16="http://schemas.microsoft.com/office/drawing/2014/main" id="{AE035AB7-CDDA-6643-8F84-C0711F45B81B}"/>
              </a:ext>
            </a:extLst>
          </p:cNvPr>
          <p:cNvSpPr/>
          <p:nvPr/>
        </p:nvSpPr>
        <p:spPr>
          <a:xfrm>
            <a:off x="1734359" y="2389324"/>
            <a:ext cx="776575" cy="5546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A7CF7D43-F330-9B49-9EFB-046F029FCD49}"/>
                  </a:ext>
                </a:extLst>
              </p:cNvPr>
              <p:cNvSpPr/>
              <p:nvPr/>
            </p:nvSpPr>
            <p:spPr>
              <a:xfrm>
                <a:off x="1701072" y="2501030"/>
                <a:ext cx="779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i="0" smtClean="0">
                          <a:solidFill>
                            <a:schemeClr val="bg1"/>
                          </a:solidFill>
                          <a:latin typeface="Cambria Math" panose="02040503050406030204" pitchFamily="18" charset="0"/>
                        </a:rPr>
                        <m:t>R</m:t>
                      </m:r>
                      <m:r>
                        <m:rPr>
                          <m:sty m:val="p"/>
                        </m:rPr>
                        <a:rPr lang="en-US" b="0" i="0" smtClean="0">
                          <a:solidFill>
                            <a:schemeClr val="bg1"/>
                          </a:solidFill>
                          <a:latin typeface="Cambria Math" panose="02040503050406030204" pitchFamily="18" charset="0"/>
                        </a:rPr>
                        <m:t>Y</m:t>
                      </m:r>
                      <m:d>
                        <m:dPr>
                          <m:ctrlPr>
                            <a:rPr lang="en-US" i="1" smtClean="0">
                              <a:solidFill>
                                <a:schemeClr val="bg1"/>
                              </a:solidFill>
                              <a:latin typeface="Cambria Math" panose="02040503050406030204" pitchFamily="18" charset="0"/>
                            </a:rPr>
                          </m:ctrlPr>
                        </m:dPr>
                        <m:e>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𝑥</m:t>
                              </m:r>
                            </m:e>
                            <m:sub>
                              <m:r>
                                <a:rPr lang="en-US" b="0" i="1" smtClean="0">
                                  <a:solidFill>
                                    <a:schemeClr val="bg1"/>
                                  </a:solidFill>
                                  <a:latin typeface="Cambria Math" panose="02040503050406030204" pitchFamily="18" charset="0"/>
                                  <a:ea typeface="Cambria Math" panose="02040503050406030204" pitchFamily="18" charset="0"/>
                                </a:rPr>
                                <m:t>0</m:t>
                              </m:r>
                            </m:sub>
                          </m:sSub>
                        </m:e>
                      </m:d>
                    </m:oMath>
                  </m:oMathPara>
                </a14:m>
                <a:endParaRPr lang="en-US" dirty="0">
                  <a:solidFill>
                    <a:schemeClr val="bg1"/>
                  </a:solidFill>
                </a:endParaRPr>
              </a:p>
            </p:txBody>
          </p:sp>
        </mc:Choice>
        <mc:Fallback xmlns="">
          <p:sp>
            <p:nvSpPr>
              <p:cNvPr id="95" name="Rectangle 94">
                <a:extLst>
                  <a:ext uri="{FF2B5EF4-FFF2-40B4-BE49-F238E27FC236}">
                    <a16:creationId xmlns:a16="http://schemas.microsoft.com/office/drawing/2014/main" id="{A7CF7D43-F330-9B49-9EFB-046F029FCD49}"/>
                  </a:ext>
                </a:extLst>
              </p:cNvPr>
              <p:cNvSpPr>
                <a:spLocks noRot="1" noChangeAspect="1" noMove="1" noResize="1" noEditPoints="1" noAdjustHandles="1" noChangeArrowheads="1" noChangeShapeType="1" noTextEdit="1"/>
              </p:cNvSpPr>
              <p:nvPr/>
            </p:nvSpPr>
            <p:spPr>
              <a:xfrm>
                <a:off x="1701072" y="2501030"/>
                <a:ext cx="779239" cy="369332"/>
              </a:xfrm>
              <a:prstGeom prst="rect">
                <a:avLst/>
              </a:prstGeom>
              <a:blipFill>
                <a:blip r:embed="rId23"/>
                <a:stretch>
                  <a:fillRect/>
                </a:stretch>
              </a:blipFill>
            </p:spPr>
            <p:txBody>
              <a:bodyPr/>
              <a:lstStyle/>
              <a:p>
                <a:r>
                  <a:rPr lang="en-US">
                    <a:noFill/>
                  </a:rPr>
                  <a:t> </a:t>
                </a:r>
              </a:p>
            </p:txBody>
          </p:sp>
        </mc:Fallback>
      </mc:AlternateContent>
      <p:sp>
        <p:nvSpPr>
          <p:cNvPr id="96" name="Rectangle 95">
            <a:extLst>
              <a:ext uri="{FF2B5EF4-FFF2-40B4-BE49-F238E27FC236}">
                <a16:creationId xmlns:a16="http://schemas.microsoft.com/office/drawing/2014/main" id="{7F69BC38-7CB2-0347-AA69-68C1BDAAB317}"/>
              </a:ext>
            </a:extLst>
          </p:cNvPr>
          <p:cNvSpPr/>
          <p:nvPr/>
        </p:nvSpPr>
        <p:spPr>
          <a:xfrm>
            <a:off x="1729842" y="3198359"/>
            <a:ext cx="776575" cy="5546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7" name="Rectangle 96">
                <a:extLst>
                  <a:ext uri="{FF2B5EF4-FFF2-40B4-BE49-F238E27FC236}">
                    <a16:creationId xmlns:a16="http://schemas.microsoft.com/office/drawing/2014/main" id="{B699177E-E3E1-5F46-9DED-EA8CD3F35DB3}"/>
                  </a:ext>
                </a:extLst>
              </p:cNvPr>
              <p:cNvSpPr/>
              <p:nvPr/>
            </p:nvSpPr>
            <p:spPr>
              <a:xfrm>
                <a:off x="1696555" y="3310065"/>
                <a:ext cx="779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solidFill>
                            <a:schemeClr val="bg1"/>
                          </a:solidFill>
                          <a:latin typeface="Cambria Math" panose="02040503050406030204" pitchFamily="18" charset="0"/>
                        </a:rPr>
                        <m:t>RY</m:t>
                      </m:r>
                      <m:d>
                        <m:dPr>
                          <m:ctrlPr>
                            <a:rPr lang="en-US" i="1" smtClean="0">
                              <a:solidFill>
                                <a:schemeClr val="bg1"/>
                              </a:solidFill>
                              <a:latin typeface="Cambria Math" panose="02040503050406030204" pitchFamily="18" charset="0"/>
                            </a:rPr>
                          </m:ctrlPr>
                        </m:dPr>
                        <m:e>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𝑥</m:t>
                              </m:r>
                            </m:e>
                            <m:sub>
                              <m:r>
                                <a:rPr lang="en-US" b="0" i="1" smtClean="0">
                                  <a:solidFill>
                                    <a:schemeClr val="bg1"/>
                                  </a:solidFill>
                                  <a:latin typeface="Cambria Math" panose="02040503050406030204" pitchFamily="18" charset="0"/>
                                  <a:ea typeface="Cambria Math" panose="02040503050406030204" pitchFamily="18" charset="0"/>
                                </a:rPr>
                                <m:t>1</m:t>
                              </m:r>
                            </m:sub>
                          </m:sSub>
                        </m:e>
                      </m:d>
                    </m:oMath>
                  </m:oMathPara>
                </a14:m>
                <a:endParaRPr lang="en-US" dirty="0">
                  <a:solidFill>
                    <a:schemeClr val="bg1"/>
                  </a:solidFill>
                </a:endParaRPr>
              </a:p>
            </p:txBody>
          </p:sp>
        </mc:Choice>
        <mc:Fallback xmlns="">
          <p:sp>
            <p:nvSpPr>
              <p:cNvPr id="97" name="Rectangle 96">
                <a:extLst>
                  <a:ext uri="{FF2B5EF4-FFF2-40B4-BE49-F238E27FC236}">
                    <a16:creationId xmlns:a16="http://schemas.microsoft.com/office/drawing/2014/main" id="{B699177E-E3E1-5F46-9DED-EA8CD3F35DB3}"/>
                  </a:ext>
                </a:extLst>
              </p:cNvPr>
              <p:cNvSpPr>
                <a:spLocks noRot="1" noChangeAspect="1" noMove="1" noResize="1" noEditPoints="1" noAdjustHandles="1" noChangeArrowheads="1" noChangeShapeType="1" noTextEdit="1"/>
              </p:cNvSpPr>
              <p:nvPr/>
            </p:nvSpPr>
            <p:spPr>
              <a:xfrm>
                <a:off x="1696555" y="3310065"/>
                <a:ext cx="779239" cy="369332"/>
              </a:xfrm>
              <a:prstGeom prst="rect">
                <a:avLst/>
              </a:prstGeom>
              <a:blipFill>
                <a:blip r:embed="rId24"/>
                <a:stretch>
                  <a:fillRect/>
                </a:stretch>
              </a:blipFill>
            </p:spPr>
            <p:txBody>
              <a:bodyPr/>
              <a:lstStyle/>
              <a:p>
                <a:r>
                  <a:rPr lang="en-US">
                    <a:noFill/>
                  </a:rPr>
                  <a:t> </a:t>
                </a:r>
              </a:p>
            </p:txBody>
          </p:sp>
        </mc:Fallback>
      </mc:AlternateContent>
      <p:sp>
        <p:nvSpPr>
          <p:cNvPr id="98" name="Rectangle 97">
            <a:extLst>
              <a:ext uri="{FF2B5EF4-FFF2-40B4-BE49-F238E27FC236}">
                <a16:creationId xmlns:a16="http://schemas.microsoft.com/office/drawing/2014/main" id="{81334496-DFDC-914E-A5AB-B35426D35499}"/>
              </a:ext>
            </a:extLst>
          </p:cNvPr>
          <p:cNvSpPr/>
          <p:nvPr/>
        </p:nvSpPr>
        <p:spPr>
          <a:xfrm>
            <a:off x="1725326" y="4007393"/>
            <a:ext cx="776575" cy="55469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3" name="Rectangle 112">
                <a:extLst>
                  <a:ext uri="{FF2B5EF4-FFF2-40B4-BE49-F238E27FC236}">
                    <a16:creationId xmlns:a16="http://schemas.microsoft.com/office/drawing/2014/main" id="{3A1F33F8-986F-A747-8D23-F298666FD141}"/>
                  </a:ext>
                </a:extLst>
              </p:cNvPr>
              <p:cNvSpPr/>
              <p:nvPr/>
            </p:nvSpPr>
            <p:spPr>
              <a:xfrm>
                <a:off x="1692039" y="4119099"/>
                <a:ext cx="77923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solidFill>
                            <a:schemeClr val="bg1"/>
                          </a:solidFill>
                          <a:latin typeface="Cambria Math" panose="02040503050406030204" pitchFamily="18" charset="0"/>
                        </a:rPr>
                        <m:t>RY</m:t>
                      </m:r>
                      <m:d>
                        <m:dPr>
                          <m:ctrlPr>
                            <a:rPr lang="en-US" i="1" smtClean="0">
                              <a:solidFill>
                                <a:schemeClr val="bg1"/>
                              </a:solidFill>
                              <a:latin typeface="Cambria Math" panose="02040503050406030204" pitchFamily="18" charset="0"/>
                            </a:rPr>
                          </m:ctrlPr>
                        </m:dPr>
                        <m:e>
                          <m:sSub>
                            <m:sSubPr>
                              <m:ctrlPr>
                                <a:rPr lang="en-US"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𝑥</m:t>
                              </m:r>
                            </m:e>
                            <m:sub>
                              <m:r>
                                <a:rPr lang="en-US" b="0" i="1" smtClean="0">
                                  <a:solidFill>
                                    <a:schemeClr val="bg1"/>
                                  </a:solidFill>
                                  <a:latin typeface="Cambria Math" panose="02040503050406030204" pitchFamily="18" charset="0"/>
                                  <a:ea typeface="Cambria Math" panose="02040503050406030204" pitchFamily="18" charset="0"/>
                                </a:rPr>
                                <m:t>2</m:t>
                              </m:r>
                            </m:sub>
                          </m:sSub>
                        </m:e>
                      </m:d>
                    </m:oMath>
                  </m:oMathPara>
                </a14:m>
                <a:endParaRPr lang="en-US" dirty="0">
                  <a:solidFill>
                    <a:schemeClr val="bg1"/>
                  </a:solidFill>
                </a:endParaRPr>
              </a:p>
            </p:txBody>
          </p:sp>
        </mc:Choice>
        <mc:Fallback xmlns="">
          <p:sp>
            <p:nvSpPr>
              <p:cNvPr id="113" name="Rectangle 112">
                <a:extLst>
                  <a:ext uri="{FF2B5EF4-FFF2-40B4-BE49-F238E27FC236}">
                    <a16:creationId xmlns:a16="http://schemas.microsoft.com/office/drawing/2014/main" id="{3A1F33F8-986F-A747-8D23-F298666FD141}"/>
                  </a:ext>
                </a:extLst>
              </p:cNvPr>
              <p:cNvSpPr>
                <a:spLocks noRot="1" noChangeAspect="1" noMove="1" noResize="1" noEditPoints="1" noAdjustHandles="1" noChangeArrowheads="1" noChangeShapeType="1" noTextEdit="1"/>
              </p:cNvSpPr>
              <p:nvPr/>
            </p:nvSpPr>
            <p:spPr>
              <a:xfrm>
                <a:off x="1692039" y="4119099"/>
                <a:ext cx="779239" cy="369332"/>
              </a:xfrm>
              <a:prstGeom prst="rect">
                <a:avLst/>
              </a:prstGeom>
              <a:blipFill>
                <a:blip r:embed="rId25"/>
                <a:stretch>
                  <a:fillRect/>
                </a:stretch>
              </a:blipFill>
            </p:spPr>
            <p:txBody>
              <a:bodyPr/>
              <a:lstStyle/>
              <a:p>
                <a:r>
                  <a:rPr lang="en-US">
                    <a:noFill/>
                  </a:rPr>
                  <a:t> </a:t>
                </a:r>
              </a:p>
            </p:txBody>
          </p:sp>
        </mc:Fallback>
      </mc:AlternateContent>
      <p:grpSp>
        <p:nvGrpSpPr>
          <p:cNvPr id="114" name="Group 113">
            <a:extLst>
              <a:ext uri="{FF2B5EF4-FFF2-40B4-BE49-F238E27FC236}">
                <a16:creationId xmlns:a16="http://schemas.microsoft.com/office/drawing/2014/main" id="{29A2ED23-D6DC-B94F-BD3F-1F23E547C80C}"/>
              </a:ext>
            </a:extLst>
          </p:cNvPr>
          <p:cNvGrpSpPr>
            <a:grpSpLocks noChangeAspect="1"/>
          </p:cNvGrpSpPr>
          <p:nvPr/>
        </p:nvGrpSpPr>
        <p:grpSpPr>
          <a:xfrm>
            <a:off x="5249200" y="2443939"/>
            <a:ext cx="508902" cy="510320"/>
            <a:chOff x="8665028" y="884158"/>
            <a:chExt cx="720000" cy="720000"/>
          </a:xfrm>
        </p:grpSpPr>
        <p:sp>
          <p:nvSpPr>
            <p:cNvPr id="115" name="Rectangle 114">
              <a:extLst>
                <a:ext uri="{FF2B5EF4-FFF2-40B4-BE49-F238E27FC236}">
                  <a16:creationId xmlns:a16="http://schemas.microsoft.com/office/drawing/2014/main" id="{371925C8-9EA3-0D4C-A531-8E204622E2AB}"/>
                </a:ext>
              </a:extLst>
            </p:cNvPr>
            <p:cNvSpPr/>
            <p:nvPr/>
          </p:nvSpPr>
          <p:spPr>
            <a:xfrm>
              <a:off x="8665028" y="884158"/>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pitchFamily="2" charset="0"/>
              </a:endParaRPr>
            </a:p>
          </p:txBody>
        </p:sp>
        <p:cxnSp>
          <p:nvCxnSpPr>
            <p:cNvPr id="116" name="Straight Connector 115">
              <a:extLst>
                <a:ext uri="{FF2B5EF4-FFF2-40B4-BE49-F238E27FC236}">
                  <a16:creationId xmlns:a16="http://schemas.microsoft.com/office/drawing/2014/main" id="{F6BC7802-F67A-1F41-8C2E-5A4A91F9709A}"/>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17" name="Arc 116">
              <a:extLst>
                <a:ext uri="{FF2B5EF4-FFF2-40B4-BE49-F238E27FC236}">
                  <a16:creationId xmlns:a16="http://schemas.microsoft.com/office/drawing/2014/main" id="{80D5A408-C2C0-354D-9AF6-8D2D8F37F179}"/>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8" name="Group 117">
            <a:extLst>
              <a:ext uri="{FF2B5EF4-FFF2-40B4-BE49-F238E27FC236}">
                <a16:creationId xmlns:a16="http://schemas.microsoft.com/office/drawing/2014/main" id="{6D34B265-BACF-DA4D-B4C8-5B8535E2EFDB}"/>
              </a:ext>
            </a:extLst>
          </p:cNvPr>
          <p:cNvGrpSpPr>
            <a:grpSpLocks noChangeAspect="1"/>
          </p:cNvGrpSpPr>
          <p:nvPr/>
        </p:nvGrpSpPr>
        <p:grpSpPr>
          <a:xfrm>
            <a:off x="5249200" y="3199001"/>
            <a:ext cx="508902" cy="510320"/>
            <a:chOff x="8665028" y="891521"/>
            <a:chExt cx="720000" cy="720000"/>
          </a:xfrm>
        </p:grpSpPr>
        <p:sp>
          <p:nvSpPr>
            <p:cNvPr id="119" name="Rectangle 118">
              <a:extLst>
                <a:ext uri="{FF2B5EF4-FFF2-40B4-BE49-F238E27FC236}">
                  <a16:creationId xmlns:a16="http://schemas.microsoft.com/office/drawing/2014/main" id="{EE7110ED-BD0E-FD49-ABAF-FA3021A61836}"/>
                </a:ext>
              </a:extLst>
            </p:cNvPr>
            <p:cNvSpPr/>
            <p:nvPr/>
          </p:nvSpPr>
          <p:spPr>
            <a:xfrm>
              <a:off x="8665028" y="891521"/>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pitchFamily="2" charset="0"/>
              </a:endParaRPr>
            </a:p>
          </p:txBody>
        </p:sp>
        <p:cxnSp>
          <p:nvCxnSpPr>
            <p:cNvPr id="120" name="Straight Connector 119">
              <a:extLst>
                <a:ext uri="{FF2B5EF4-FFF2-40B4-BE49-F238E27FC236}">
                  <a16:creationId xmlns:a16="http://schemas.microsoft.com/office/drawing/2014/main" id="{00841BC4-242B-0441-8273-20342E3F734B}"/>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21" name="Arc 120">
              <a:extLst>
                <a:ext uri="{FF2B5EF4-FFF2-40B4-BE49-F238E27FC236}">
                  <a16:creationId xmlns:a16="http://schemas.microsoft.com/office/drawing/2014/main" id="{CD240D04-7906-494B-88A4-891ED40E6471}"/>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2" name="Group 121">
            <a:extLst>
              <a:ext uri="{FF2B5EF4-FFF2-40B4-BE49-F238E27FC236}">
                <a16:creationId xmlns:a16="http://schemas.microsoft.com/office/drawing/2014/main" id="{262AB4E5-AF5E-4941-9544-7A2D8A19AD2C}"/>
              </a:ext>
            </a:extLst>
          </p:cNvPr>
          <p:cNvGrpSpPr>
            <a:grpSpLocks noChangeAspect="1"/>
          </p:cNvGrpSpPr>
          <p:nvPr/>
        </p:nvGrpSpPr>
        <p:grpSpPr>
          <a:xfrm>
            <a:off x="5249200" y="3975002"/>
            <a:ext cx="508902" cy="510320"/>
            <a:chOff x="8665028" y="825254"/>
            <a:chExt cx="720000" cy="720000"/>
          </a:xfrm>
        </p:grpSpPr>
        <p:sp>
          <p:nvSpPr>
            <p:cNvPr id="123" name="Rectangle 122">
              <a:extLst>
                <a:ext uri="{FF2B5EF4-FFF2-40B4-BE49-F238E27FC236}">
                  <a16:creationId xmlns:a16="http://schemas.microsoft.com/office/drawing/2014/main" id="{97F66766-61EA-0D4C-B446-8F0AF8474840}"/>
                </a:ext>
              </a:extLst>
            </p:cNvPr>
            <p:cNvSpPr/>
            <p:nvPr/>
          </p:nvSpPr>
          <p:spPr>
            <a:xfrm>
              <a:off x="8665028" y="825254"/>
              <a:ext cx="720000" cy="720000"/>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pitchFamily="2" charset="0"/>
              </a:endParaRPr>
            </a:p>
          </p:txBody>
        </p:sp>
        <p:cxnSp>
          <p:nvCxnSpPr>
            <p:cNvPr id="124" name="Straight Connector 123">
              <a:extLst>
                <a:ext uri="{FF2B5EF4-FFF2-40B4-BE49-F238E27FC236}">
                  <a16:creationId xmlns:a16="http://schemas.microsoft.com/office/drawing/2014/main" id="{3C67CE64-A192-D54F-AA00-B9D0A0F14474}"/>
                </a:ext>
              </a:extLst>
            </p:cNvPr>
            <p:cNvCxnSpPr>
              <a:cxnSpLocks/>
            </p:cNvCxnSpPr>
            <p:nvPr/>
          </p:nvCxnSpPr>
          <p:spPr>
            <a:xfrm flipV="1">
              <a:off x="9023348" y="979487"/>
              <a:ext cx="190224"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25" name="Arc 124">
              <a:extLst>
                <a:ext uri="{FF2B5EF4-FFF2-40B4-BE49-F238E27FC236}">
                  <a16:creationId xmlns:a16="http://schemas.microsoft.com/office/drawing/2014/main" id="{C17B0221-2558-0A4C-9130-02BB24D65C1E}"/>
                </a:ext>
              </a:extLst>
            </p:cNvPr>
            <p:cNvSpPr/>
            <p:nvPr/>
          </p:nvSpPr>
          <p:spPr>
            <a:xfrm>
              <a:off x="8745179" y="981197"/>
              <a:ext cx="559698"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26" name="TextBox 125">
            <a:extLst>
              <a:ext uri="{FF2B5EF4-FFF2-40B4-BE49-F238E27FC236}">
                <a16:creationId xmlns:a16="http://schemas.microsoft.com/office/drawing/2014/main" id="{F1A85BC2-2FDA-2D40-AF1E-017131C5F49C}"/>
              </a:ext>
            </a:extLst>
          </p:cNvPr>
          <p:cNvSpPr txBox="1"/>
          <p:nvPr/>
        </p:nvSpPr>
        <p:spPr>
          <a:xfrm>
            <a:off x="3222888" y="4957150"/>
            <a:ext cx="984565" cy="461665"/>
          </a:xfrm>
          <a:prstGeom prst="rect">
            <a:avLst/>
          </a:prstGeom>
          <a:noFill/>
        </p:spPr>
        <p:txBody>
          <a:bodyPr wrap="none" rtlCol="0">
            <a:spAutoFit/>
          </a:bodyPr>
          <a:lstStyle/>
          <a:p>
            <a:r>
              <a:rPr lang="en-US" sz="2400" dirty="0"/>
              <a:t>QCBM</a:t>
            </a:r>
          </a:p>
        </p:txBody>
      </p:sp>
    </p:spTree>
    <p:extLst>
      <p:ext uri="{BB962C8B-B14F-4D97-AF65-F5344CB8AC3E}">
        <p14:creationId xmlns:p14="http://schemas.microsoft.com/office/powerpoint/2010/main" val="1990471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45767A-7911-9A4D-872A-5B7EECAFD36F}"/>
              </a:ext>
            </a:extLst>
          </p:cNvPr>
          <p:cNvSpPr/>
          <p:nvPr/>
        </p:nvSpPr>
        <p:spPr>
          <a:xfrm>
            <a:off x="7064676" y="2877998"/>
            <a:ext cx="3104090" cy="234596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1C41B90-FA45-D14A-95B9-5FD1066C13D9}"/>
              </a:ext>
            </a:extLst>
          </p:cNvPr>
          <p:cNvPicPr>
            <a:picLocks noChangeAspect="1"/>
          </p:cNvPicPr>
          <p:nvPr/>
        </p:nvPicPr>
        <p:blipFill>
          <a:blip r:embed="rId3">
            <a:lum bright="70000" contrast="-70000"/>
          </a:blip>
          <a:stretch>
            <a:fillRect/>
          </a:stretch>
        </p:blipFill>
        <p:spPr>
          <a:xfrm rot="8414821" flipV="1">
            <a:off x="5084840" y="3951037"/>
            <a:ext cx="3834584" cy="2801693"/>
          </a:xfrm>
          <a:prstGeom prst="rect">
            <a:avLst/>
          </a:prstGeom>
        </p:spPr>
      </p:pic>
      <p:sp>
        <p:nvSpPr>
          <p:cNvPr id="67" name="Rectangle 66">
            <a:extLst>
              <a:ext uri="{FF2B5EF4-FFF2-40B4-BE49-F238E27FC236}">
                <a16:creationId xmlns:a16="http://schemas.microsoft.com/office/drawing/2014/main" id="{19BCA603-ECA6-7E4B-AC7C-20EF82B070DF}"/>
              </a:ext>
            </a:extLst>
          </p:cNvPr>
          <p:cNvSpPr/>
          <p:nvPr/>
        </p:nvSpPr>
        <p:spPr>
          <a:xfrm>
            <a:off x="8611026" y="3244174"/>
            <a:ext cx="1438998" cy="1884359"/>
          </a:xfrm>
          <a:prstGeom prst="rect">
            <a:avLst/>
          </a:prstGeom>
          <a:solidFill>
            <a:srgbClr val="F8F9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BBB20-76E8-614C-AA41-E2DAA6C4F492}"/>
              </a:ext>
            </a:extLst>
          </p:cNvPr>
          <p:cNvSpPr>
            <a:spLocks noGrp="1"/>
          </p:cNvSpPr>
          <p:nvPr>
            <p:ph type="title"/>
          </p:nvPr>
        </p:nvSpPr>
        <p:spPr/>
        <p:txBody>
          <a:bodyPr/>
          <a:lstStyle/>
          <a:p>
            <a:r>
              <a:rPr lang="en-ZA" dirty="0"/>
              <a:t>Training a Variational Quantum Model</a:t>
            </a:r>
            <a:endParaRPr lang="en-US" dirty="0"/>
          </a:p>
        </p:txBody>
      </p:sp>
      <p:sp>
        <p:nvSpPr>
          <p:cNvPr id="85" name="Rectangle 84">
            <a:extLst>
              <a:ext uri="{FF2B5EF4-FFF2-40B4-BE49-F238E27FC236}">
                <a16:creationId xmlns:a16="http://schemas.microsoft.com/office/drawing/2014/main" id="{9B68FC85-2EA5-654A-9108-9A2BD97080CA}"/>
              </a:ext>
            </a:extLst>
          </p:cNvPr>
          <p:cNvSpPr/>
          <p:nvPr/>
        </p:nvSpPr>
        <p:spPr>
          <a:xfrm>
            <a:off x="920692" y="2877998"/>
            <a:ext cx="6079402" cy="23459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35D85CAF-9D3B-9449-9149-8966DF21AB52}"/>
              </a:ext>
            </a:extLst>
          </p:cNvPr>
          <p:cNvCxnSpPr>
            <a:cxnSpLocks/>
          </p:cNvCxnSpPr>
          <p:nvPr/>
        </p:nvCxnSpPr>
        <p:spPr>
          <a:xfrm>
            <a:off x="1634539" y="3490420"/>
            <a:ext cx="55006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F16D5D0-A28A-FD45-A13A-0C90C0998E1D}"/>
              </a:ext>
            </a:extLst>
          </p:cNvPr>
          <p:cNvCxnSpPr>
            <a:cxnSpLocks/>
          </p:cNvCxnSpPr>
          <p:nvPr/>
        </p:nvCxnSpPr>
        <p:spPr>
          <a:xfrm>
            <a:off x="1634539" y="3694436"/>
            <a:ext cx="550067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AB56BED8-C2F4-4649-B206-21FCE79ABC89}"/>
                  </a:ext>
                </a:extLst>
              </p:cNvPr>
              <p:cNvSpPr/>
              <p:nvPr/>
            </p:nvSpPr>
            <p:spPr>
              <a:xfrm>
                <a:off x="920692" y="3221920"/>
                <a:ext cx="756030" cy="5370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49" name="Rectangle 48">
                <a:extLst>
                  <a:ext uri="{FF2B5EF4-FFF2-40B4-BE49-F238E27FC236}">
                    <a16:creationId xmlns:a16="http://schemas.microsoft.com/office/drawing/2014/main" id="{AB56BED8-C2F4-4649-B206-21FCE79ABC89}"/>
                  </a:ext>
                </a:extLst>
              </p:cNvPr>
              <p:cNvSpPr>
                <a:spLocks noRot="1" noChangeAspect="1" noMove="1" noResize="1" noEditPoints="1" noAdjustHandles="1" noChangeArrowheads="1" noChangeShapeType="1" noTextEdit="1"/>
              </p:cNvSpPr>
              <p:nvPr/>
            </p:nvSpPr>
            <p:spPr>
              <a:xfrm>
                <a:off x="920692" y="3221920"/>
                <a:ext cx="756030" cy="53700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45EE5F0D-90EA-1842-B47B-18C9EBD4308C}"/>
                  </a:ext>
                </a:extLst>
              </p:cNvPr>
              <p:cNvSpPr/>
              <p:nvPr/>
            </p:nvSpPr>
            <p:spPr>
              <a:xfrm>
                <a:off x="898056" y="4032226"/>
                <a:ext cx="756030" cy="5370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0</m:t>
                          </m:r>
                        </m:e>
                      </m:d>
                    </m:oMath>
                  </m:oMathPara>
                </a14:m>
                <a:endParaRPr lang="en-US" sz="2400" dirty="0"/>
              </a:p>
            </p:txBody>
          </p:sp>
        </mc:Choice>
        <mc:Fallback xmlns="">
          <p:sp>
            <p:nvSpPr>
              <p:cNvPr id="53" name="Rectangle 52">
                <a:extLst>
                  <a:ext uri="{FF2B5EF4-FFF2-40B4-BE49-F238E27FC236}">
                    <a16:creationId xmlns:a16="http://schemas.microsoft.com/office/drawing/2014/main" id="{45EE5F0D-90EA-1842-B47B-18C9EBD4308C}"/>
                  </a:ext>
                </a:extLst>
              </p:cNvPr>
              <p:cNvSpPr>
                <a:spLocks noRot="1" noChangeAspect="1" noMove="1" noResize="1" noEditPoints="1" noAdjustHandles="1" noChangeArrowheads="1" noChangeShapeType="1" noTextEdit="1"/>
              </p:cNvSpPr>
              <p:nvPr/>
            </p:nvSpPr>
            <p:spPr>
              <a:xfrm>
                <a:off x="898056" y="4032226"/>
                <a:ext cx="756030" cy="537002"/>
              </a:xfrm>
              <a:prstGeom prst="rect">
                <a:avLst/>
              </a:prstGeom>
              <a:blipFill>
                <a:blip r:embed="rId5"/>
                <a:stretch>
                  <a:fillRect/>
                </a:stretch>
              </a:blipFill>
            </p:spPr>
            <p:txBody>
              <a:bodyPr/>
              <a:lstStyle/>
              <a:p>
                <a:r>
                  <a:rPr lang="en-US">
                    <a:noFill/>
                  </a:rPr>
                  <a:t> </a:t>
                </a:r>
              </a:p>
            </p:txBody>
          </p:sp>
        </mc:Fallback>
      </mc:AlternateContent>
      <p:sp>
        <p:nvSpPr>
          <p:cNvPr id="56" name="Rectangle 55">
            <a:extLst>
              <a:ext uri="{FF2B5EF4-FFF2-40B4-BE49-F238E27FC236}">
                <a16:creationId xmlns:a16="http://schemas.microsoft.com/office/drawing/2014/main" id="{2CECC488-2D58-5D4F-A186-EC74F5F7BC63}"/>
              </a:ext>
            </a:extLst>
          </p:cNvPr>
          <p:cNvSpPr/>
          <p:nvPr/>
        </p:nvSpPr>
        <p:spPr>
          <a:xfrm>
            <a:off x="2100526" y="3172062"/>
            <a:ext cx="1466588" cy="188435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67E4A7F2-2010-344E-9E00-EB129CE27241}"/>
                  </a:ext>
                </a:extLst>
              </p:cNvPr>
              <p:cNvSpPr/>
              <p:nvPr/>
            </p:nvSpPr>
            <p:spPr>
              <a:xfrm>
                <a:off x="2191587" y="3438928"/>
                <a:ext cx="1221207" cy="6086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𝑈</m:t>
                      </m:r>
                      <m:r>
                        <a:rPr lang="en-US" sz="2800" i="1" smtClean="0">
                          <a:latin typeface="Cambria Math" panose="02040503050406030204" pitchFamily="18" charset="0"/>
                        </a:rPr>
                        <m:t>(</m:t>
                      </m:r>
                      <m:r>
                        <a:rPr lang="en-US" sz="2800" b="0" i="1" smtClean="0">
                          <a:latin typeface="Cambria Math" panose="02040503050406030204" pitchFamily="18" charset="0"/>
                        </a:rPr>
                        <m:t>𝑥</m:t>
                      </m:r>
                      <m:r>
                        <a:rPr lang="en-US" sz="2800" i="1">
                          <a:latin typeface="Cambria Math" panose="02040503050406030204" pitchFamily="18" charset="0"/>
                        </a:rPr>
                        <m:t>)</m:t>
                      </m:r>
                    </m:oMath>
                  </m:oMathPara>
                </a14:m>
                <a:endParaRPr lang="en-US" sz="2800" dirty="0"/>
              </a:p>
            </p:txBody>
          </p:sp>
        </mc:Choice>
        <mc:Fallback xmlns="">
          <p:sp>
            <p:nvSpPr>
              <p:cNvPr id="57" name="Rectangle 56">
                <a:extLst>
                  <a:ext uri="{FF2B5EF4-FFF2-40B4-BE49-F238E27FC236}">
                    <a16:creationId xmlns:a16="http://schemas.microsoft.com/office/drawing/2014/main" id="{67E4A7F2-2010-344E-9E00-EB129CE27241}"/>
                  </a:ext>
                </a:extLst>
              </p:cNvPr>
              <p:cNvSpPr>
                <a:spLocks noRot="1" noChangeAspect="1" noMove="1" noResize="1" noEditPoints="1" noAdjustHandles="1" noChangeArrowheads="1" noChangeShapeType="1" noTextEdit="1"/>
              </p:cNvSpPr>
              <p:nvPr/>
            </p:nvSpPr>
            <p:spPr>
              <a:xfrm>
                <a:off x="2191587" y="3438928"/>
                <a:ext cx="1221207" cy="608601"/>
              </a:xfrm>
              <a:prstGeom prst="rect">
                <a:avLst/>
              </a:prstGeom>
              <a:blipFill>
                <a:blip r:embed="rId6"/>
                <a:stretch>
                  <a:fillRect/>
                </a:stretch>
              </a:blipFill>
            </p:spPr>
            <p:txBody>
              <a:bodyPr/>
              <a:lstStyle/>
              <a:p>
                <a:r>
                  <a:rPr lang="en-US">
                    <a:noFill/>
                  </a:rPr>
                  <a:t> </a:t>
                </a:r>
              </a:p>
            </p:txBody>
          </p:sp>
        </mc:Fallback>
      </mc:AlternateContent>
      <p:sp>
        <p:nvSpPr>
          <p:cNvPr id="58" name="Rectangle 57">
            <a:extLst>
              <a:ext uri="{FF2B5EF4-FFF2-40B4-BE49-F238E27FC236}">
                <a16:creationId xmlns:a16="http://schemas.microsoft.com/office/drawing/2014/main" id="{8C065C07-9946-5244-86EC-1EBC5405EC36}"/>
              </a:ext>
            </a:extLst>
          </p:cNvPr>
          <p:cNvSpPr/>
          <p:nvPr/>
        </p:nvSpPr>
        <p:spPr>
          <a:xfrm>
            <a:off x="3835498" y="3194695"/>
            <a:ext cx="1497274" cy="1884359"/>
          </a:xfrm>
          <a:prstGeom prst="rect">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0860BD75-30A4-9D45-A45B-471037F09E87}"/>
                  </a:ext>
                </a:extLst>
              </p:cNvPr>
              <p:cNvSpPr/>
              <p:nvPr/>
            </p:nvSpPr>
            <p:spPr>
              <a:xfrm>
                <a:off x="3979620" y="3407151"/>
                <a:ext cx="1212609" cy="6086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𝑉</m:t>
                      </m:r>
                      <m:r>
                        <a:rPr lang="en-US" sz="2800" i="1" smtClean="0">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𝜃</m:t>
                      </m:r>
                      <m:r>
                        <a:rPr lang="en-US" sz="2800" i="1">
                          <a:latin typeface="Cambria Math" panose="02040503050406030204" pitchFamily="18" charset="0"/>
                        </a:rPr>
                        <m:t>)</m:t>
                      </m:r>
                    </m:oMath>
                  </m:oMathPara>
                </a14:m>
                <a:endParaRPr lang="en-US" sz="2800" dirty="0"/>
              </a:p>
            </p:txBody>
          </p:sp>
        </mc:Choice>
        <mc:Fallback xmlns="">
          <p:sp>
            <p:nvSpPr>
              <p:cNvPr id="62" name="Rectangle 61">
                <a:extLst>
                  <a:ext uri="{FF2B5EF4-FFF2-40B4-BE49-F238E27FC236}">
                    <a16:creationId xmlns:a16="http://schemas.microsoft.com/office/drawing/2014/main" id="{0860BD75-30A4-9D45-A45B-471037F09E87}"/>
                  </a:ext>
                </a:extLst>
              </p:cNvPr>
              <p:cNvSpPr>
                <a:spLocks noRot="1" noChangeAspect="1" noMove="1" noResize="1" noEditPoints="1" noAdjustHandles="1" noChangeArrowheads="1" noChangeShapeType="1" noTextEdit="1"/>
              </p:cNvSpPr>
              <p:nvPr/>
            </p:nvSpPr>
            <p:spPr>
              <a:xfrm>
                <a:off x="3979620" y="3407151"/>
                <a:ext cx="1212609" cy="608601"/>
              </a:xfrm>
              <a:prstGeom prst="rect">
                <a:avLst/>
              </a:prstGeom>
              <a:blipFill>
                <a:blip r:embed="rId7"/>
                <a:stretch>
                  <a:fillRect b="-2041"/>
                </a:stretch>
              </a:blipFill>
            </p:spPr>
            <p:txBody>
              <a:bodyPr/>
              <a:lstStyle/>
              <a:p>
                <a:r>
                  <a:rPr lang="en-US">
                    <a:noFill/>
                  </a:rPr>
                  <a:t> </a:t>
                </a:r>
              </a:p>
            </p:txBody>
          </p:sp>
        </mc:Fallback>
      </mc:AlternateContent>
      <p:sp>
        <p:nvSpPr>
          <p:cNvPr id="68" name="TextBox 67">
            <a:extLst>
              <a:ext uri="{FF2B5EF4-FFF2-40B4-BE49-F238E27FC236}">
                <a16:creationId xmlns:a16="http://schemas.microsoft.com/office/drawing/2014/main" id="{7B0F4358-EB2E-3043-AC8C-D8B1164FA500}"/>
              </a:ext>
            </a:extLst>
          </p:cNvPr>
          <p:cNvSpPr txBox="1"/>
          <p:nvPr/>
        </p:nvSpPr>
        <p:spPr>
          <a:xfrm>
            <a:off x="2186862" y="4265871"/>
            <a:ext cx="1230658" cy="769441"/>
          </a:xfrm>
          <a:prstGeom prst="rect">
            <a:avLst/>
          </a:prstGeom>
          <a:noFill/>
        </p:spPr>
        <p:txBody>
          <a:bodyPr wrap="none" rtlCol="0">
            <a:spAutoFit/>
          </a:bodyPr>
          <a:lstStyle/>
          <a:p>
            <a:pPr algn="ctr"/>
            <a:r>
              <a:rPr lang="en-US" sz="2200" dirty="0"/>
              <a:t>encoding</a:t>
            </a:r>
          </a:p>
          <a:p>
            <a:pPr algn="ctr"/>
            <a:r>
              <a:rPr lang="en-US" sz="2200" dirty="0"/>
              <a:t>layer</a:t>
            </a:r>
          </a:p>
        </p:txBody>
      </p:sp>
      <p:sp>
        <p:nvSpPr>
          <p:cNvPr id="69" name="TextBox 68">
            <a:extLst>
              <a:ext uri="{FF2B5EF4-FFF2-40B4-BE49-F238E27FC236}">
                <a16:creationId xmlns:a16="http://schemas.microsoft.com/office/drawing/2014/main" id="{1E8DDBB7-BE4F-BD45-98E5-121F97E5F435}"/>
              </a:ext>
            </a:extLst>
          </p:cNvPr>
          <p:cNvSpPr txBox="1"/>
          <p:nvPr/>
        </p:nvSpPr>
        <p:spPr>
          <a:xfrm>
            <a:off x="3863601" y="4265871"/>
            <a:ext cx="1389804" cy="769441"/>
          </a:xfrm>
          <a:prstGeom prst="rect">
            <a:avLst/>
          </a:prstGeom>
          <a:noFill/>
        </p:spPr>
        <p:txBody>
          <a:bodyPr wrap="none" rtlCol="0">
            <a:spAutoFit/>
          </a:bodyPr>
          <a:lstStyle/>
          <a:p>
            <a:pPr algn="ctr"/>
            <a:r>
              <a:rPr lang="en-US" sz="2200" dirty="0"/>
              <a:t>variational</a:t>
            </a:r>
          </a:p>
          <a:p>
            <a:pPr algn="ctr"/>
            <a:r>
              <a:rPr lang="en-US" sz="2200" dirty="0"/>
              <a:t>layer</a:t>
            </a:r>
          </a:p>
        </p:txBody>
      </p:sp>
      <p:sp>
        <p:nvSpPr>
          <p:cNvPr id="75" name="TextBox 74">
            <a:extLst>
              <a:ext uri="{FF2B5EF4-FFF2-40B4-BE49-F238E27FC236}">
                <a16:creationId xmlns:a16="http://schemas.microsoft.com/office/drawing/2014/main" id="{37B7E55F-1731-A54A-A97E-9D9590C860E9}"/>
              </a:ext>
            </a:extLst>
          </p:cNvPr>
          <p:cNvSpPr txBox="1"/>
          <p:nvPr/>
        </p:nvSpPr>
        <p:spPr>
          <a:xfrm>
            <a:off x="4107587" y="3914678"/>
            <a:ext cx="916212" cy="430887"/>
          </a:xfrm>
          <a:prstGeom prst="rect">
            <a:avLst/>
          </a:prstGeom>
          <a:noFill/>
        </p:spPr>
        <p:txBody>
          <a:bodyPr wrap="none" rtlCol="0">
            <a:spAutoFit/>
          </a:bodyPr>
          <a:lstStyle/>
          <a:p>
            <a:pPr algn="ctr"/>
            <a:r>
              <a:rPr lang="en-ZA" sz="2200" dirty="0"/>
              <a:t>ansatz</a:t>
            </a:r>
            <a:endParaRPr lang="en-US" sz="2200" dirty="0"/>
          </a:p>
        </p:txBody>
      </p:sp>
      <p:grpSp>
        <p:nvGrpSpPr>
          <p:cNvPr id="7" name="Group 6">
            <a:extLst>
              <a:ext uri="{FF2B5EF4-FFF2-40B4-BE49-F238E27FC236}">
                <a16:creationId xmlns:a16="http://schemas.microsoft.com/office/drawing/2014/main" id="{3523E3F9-263C-594E-B77A-0A63A025AFF9}"/>
              </a:ext>
            </a:extLst>
          </p:cNvPr>
          <p:cNvGrpSpPr/>
          <p:nvPr/>
        </p:nvGrpSpPr>
        <p:grpSpPr>
          <a:xfrm>
            <a:off x="1702849" y="3868196"/>
            <a:ext cx="129293" cy="540181"/>
            <a:chOff x="2662428" y="4122162"/>
            <a:chExt cx="108000" cy="464398"/>
          </a:xfrm>
          <a:solidFill>
            <a:schemeClr val="tx1">
              <a:lumMod val="50000"/>
              <a:lumOff val="50000"/>
            </a:schemeClr>
          </a:solidFill>
        </p:grpSpPr>
        <p:sp>
          <p:nvSpPr>
            <p:cNvPr id="76" name="Oval 75">
              <a:extLst>
                <a:ext uri="{FF2B5EF4-FFF2-40B4-BE49-F238E27FC236}">
                  <a16:creationId xmlns:a16="http://schemas.microsoft.com/office/drawing/2014/main" id="{9C96DCB3-5EEF-4649-BB43-5E487E542143}"/>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E177811-E13D-E540-AF93-ACC7DB5162B6}"/>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56B4C9B0-47A4-5848-83FA-FDEC57F772FA}"/>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Rectangle 58">
            <a:extLst>
              <a:ext uri="{FF2B5EF4-FFF2-40B4-BE49-F238E27FC236}">
                <a16:creationId xmlns:a16="http://schemas.microsoft.com/office/drawing/2014/main" id="{7027FC7C-2AD3-7142-8FD7-55AE06156228}"/>
              </a:ext>
            </a:extLst>
          </p:cNvPr>
          <p:cNvSpPr/>
          <p:nvPr/>
        </p:nvSpPr>
        <p:spPr>
          <a:xfrm>
            <a:off x="5631037" y="3190388"/>
            <a:ext cx="991035" cy="1884359"/>
          </a:xfrm>
          <a:prstGeom prst="rect">
            <a:avLst/>
          </a:prstGeom>
          <a:solidFill>
            <a:schemeClr val="bg1">
              <a:lumMod val="95000"/>
            </a:schemeClr>
          </a:solidFill>
          <a:ln w="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300" dirty="0">
              <a:latin typeface="Times" pitchFamily="2" charset="0"/>
            </a:endParaRPr>
          </a:p>
        </p:txBody>
      </p:sp>
      <p:grpSp>
        <p:nvGrpSpPr>
          <p:cNvPr id="6" name="Group 5">
            <a:extLst>
              <a:ext uri="{FF2B5EF4-FFF2-40B4-BE49-F238E27FC236}">
                <a16:creationId xmlns:a16="http://schemas.microsoft.com/office/drawing/2014/main" id="{1990C9E2-8790-DD48-9E7E-09D076AC07B8}"/>
              </a:ext>
            </a:extLst>
          </p:cNvPr>
          <p:cNvGrpSpPr/>
          <p:nvPr/>
        </p:nvGrpSpPr>
        <p:grpSpPr>
          <a:xfrm>
            <a:off x="5761261" y="3771563"/>
            <a:ext cx="668186" cy="593353"/>
            <a:chOff x="10340768" y="4086473"/>
            <a:chExt cx="558143" cy="510111"/>
          </a:xfrm>
        </p:grpSpPr>
        <p:cxnSp>
          <p:nvCxnSpPr>
            <p:cNvPr id="60" name="Straight Connector 59">
              <a:extLst>
                <a:ext uri="{FF2B5EF4-FFF2-40B4-BE49-F238E27FC236}">
                  <a16:creationId xmlns:a16="http://schemas.microsoft.com/office/drawing/2014/main" id="{C69F7611-E845-4D46-876F-2EDA1737BA17}"/>
                </a:ext>
              </a:extLst>
            </p:cNvPr>
            <p:cNvCxnSpPr>
              <a:cxnSpLocks/>
            </p:cNvCxnSpPr>
            <p:nvPr/>
          </p:nvCxnSpPr>
          <p:spPr>
            <a:xfrm flipV="1">
              <a:off x="10618164" y="4086473"/>
              <a:ext cx="189695" cy="370131"/>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61" name="Arc 60">
              <a:extLst>
                <a:ext uri="{FF2B5EF4-FFF2-40B4-BE49-F238E27FC236}">
                  <a16:creationId xmlns:a16="http://schemas.microsoft.com/office/drawing/2014/main" id="{D281AA2C-9A39-E640-BE14-3C46D5127A12}"/>
                </a:ext>
              </a:extLst>
            </p:cNvPr>
            <p:cNvSpPr/>
            <p:nvPr/>
          </p:nvSpPr>
          <p:spPr>
            <a:xfrm>
              <a:off x="10340768" y="4088183"/>
              <a:ext cx="558143" cy="508401"/>
            </a:xfrm>
            <a:prstGeom prst="arc">
              <a:avLst>
                <a:gd name="adj1" fmla="val 10673269"/>
                <a:gd name="adj2" fmla="val 3562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2EB2BE95-167F-314F-8A28-8D3522F5BF78}"/>
              </a:ext>
            </a:extLst>
          </p:cNvPr>
          <p:cNvGrpSpPr/>
          <p:nvPr/>
        </p:nvGrpSpPr>
        <p:grpSpPr>
          <a:xfrm>
            <a:off x="5431732" y="3868196"/>
            <a:ext cx="129293" cy="540181"/>
            <a:chOff x="2662428" y="4122162"/>
            <a:chExt cx="108000" cy="464398"/>
          </a:xfrm>
          <a:solidFill>
            <a:schemeClr val="tx1">
              <a:lumMod val="50000"/>
              <a:lumOff val="50000"/>
            </a:schemeClr>
          </a:solidFill>
        </p:grpSpPr>
        <p:sp>
          <p:nvSpPr>
            <p:cNvPr id="71" name="Oval 70">
              <a:extLst>
                <a:ext uri="{FF2B5EF4-FFF2-40B4-BE49-F238E27FC236}">
                  <a16:creationId xmlns:a16="http://schemas.microsoft.com/office/drawing/2014/main" id="{84CE2443-A3A5-8747-A13C-F6DBAABB9001}"/>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93FED6AD-DB15-F547-B616-F185ECC27624}"/>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10E85F47-8A7B-FD45-A941-4B5544919625}"/>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a:extLst>
              <a:ext uri="{FF2B5EF4-FFF2-40B4-BE49-F238E27FC236}">
                <a16:creationId xmlns:a16="http://schemas.microsoft.com/office/drawing/2014/main" id="{31716CB6-05C1-E840-9E84-07F85599BA6C}"/>
              </a:ext>
            </a:extLst>
          </p:cNvPr>
          <p:cNvGrpSpPr/>
          <p:nvPr/>
        </p:nvGrpSpPr>
        <p:grpSpPr>
          <a:xfrm>
            <a:off x="3631916" y="3868196"/>
            <a:ext cx="129293" cy="540181"/>
            <a:chOff x="2662428" y="4122162"/>
            <a:chExt cx="108000" cy="464398"/>
          </a:xfrm>
          <a:solidFill>
            <a:schemeClr val="tx1">
              <a:lumMod val="50000"/>
              <a:lumOff val="50000"/>
            </a:schemeClr>
          </a:solidFill>
        </p:grpSpPr>
        <p:sp>
          <p:nvSpPr>
            <p:cNvPr id="80" name="Oval 79">
              <a:extLst>
                <a:ext uri="{FF2B5EF4-FFF2-40B4-BE49-F238E27FC236}">
                  <a16:creationId xmlns:a16="http://schemas.microsoft.com/office/drawing/2014/main" id="{E678D9D5-FF31-8B4B-AFD6-BF9099BCB919}"/>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34545352-3327-7E4A-ADF1-48C6C5A83213}"/>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7547CEE-B43B-CF4E-BE0E-AAE1AECFBB8B}"/>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ED38E4B8-CC0E-ED4C-BC37-4C4057EF341C}"/>
              </a:ext>
            </a:extLst>
          </p:cNvPr>
          <p:cNvGrpSpPr/>
          <p:nvPr/>
        </p:nvGrpSpPr>
        <p:grpSpPr>
          <a:xfrm>
            <a:off x="6721865" y="3868196"/>
            <a:ext cx="129293" cy="540181"/>
            <a:chOff x="2662428" y="4122162"/>
            <a:chExt cx="108000" cy="464398"/>
          </a:xfrm>
          <a:solidFill>
            <a:schemeClr val="tx1">
              <a:lumMod val="50000"/>
              <a:lumOff val="50000"/>
            </a:schemeClr>
          </a:solidFill>
        </p:grpSpPr>
        <p:sp>
          <p:nvSpPr>
            <p:cNvPr id="84" name="Oval 83">
              <a:extLst>
                <a:ext uri="{FF2B5EF4-FFF2-40B4-BE49-F238E27FC236}">
                  <a16:creationId xmlns:a16="http://schemas.microsoft.com/office/drawing/2014/main" id="{8425ADF4-5BAF-504C-BA35-DE9884B41AAC}"/>
                </a:ext>
              </a:extLst>
            </p:cNvPr>
            <p:cNvSpPr/>
            <p:nvPr/>
          </p:nvSpPr>
          <p:spPr>
            <a:xfrm>
              <a:off x="2662428" y="4122162"/>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2B918BA9-B7C2-CD40-BB42-720FDBEBA619}"/>
                </a:ext>
              </a:extLst>
            </p:cNvPr>
            <p:cNvSpPr/>
            <p:nvPr/>
          </p:nvSpPr>
          <p:spPr>
            <a:xfrm>
              <a:off x="2662428" y="4300361"/>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0ABEA086-7838-E944-B613-4E7AACE1FC1C}"/>
                </a:ext>
              </a:extLst>
            </p:cNvPr>
            <p:cNvSpPr/>
            <p:nvPr/>
          </p:nvSpPr>
          <p:spPr>
            <a:xfrm>
              <a:off x="2662428" y="4478560"/>
              <a:ext cx="108000" cy="10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3" name="TextBox 92">
            <a:extLst>
              <a:ext uri="{FF2B5EF4-FFF2-40B4-BE49-F238E27FC236}">
                <a16:creationId xmlns:a16="http://schemas.microsoft.com/office/drawing/2014/main" id="{0E1B3556-E382-3941-9F68-3DC68394AF1D}"/>
              </a:ext>
            </a:extLst>
          </p:cNvPr>
          <p:cNvSpPr txBox="1"/>
          <p:nvPr/>
        </p:nvSpPr>
        <p:spPr>
          <a:xfrm>
            <a:off x="5696679" y="4265871"/>
            <a:ext cx="867545" cy="769441"/>
          </a:xfrm>
          <a:prstGeom prst="rect">
            <a:avLst/>
          </a:prstGeom>
          <a:noFill/>
        </p:spPr>
        <p:txBody>
          <a:bodyPr wrap="none" rtlCol="0">
            <a:spAutoFit/>
          </a:bodyPr>
          <a:lstStyle/>
          <a:p>
            <a:pPr algn="ctr"/>
            <a:r>
              <a:rPr lang="en-US" sz="2200" dirty="0"/>
              <a:t>meas.</a:t>
            </a:r>
          </a:p>
          <a:p>
            <a:pPr algn="ctr"/>
            <a:r>
              <a:rPr lang="en-US" sz="2200" dirty="0"/>
              <a:t>layer</a:t>
            </a:r>
          </a:p>
        </p:txBody>
      </p:sp>
      <p:sp>
        <p:nvSpPr>
          <p:cNvPr id="88" name="Rectangle 87">
            <a:extLst>
              <a:ext uri="{FF2B5EF4-FFF2-40B4-BE49-F238E27FC236}">
                <a16:creationId xmlns:a16="http://schemas.microsoft.com/office/drawing/2014/main" id="{305E0B5C-06BF-0648-B904-9108F2E0E726}"/>
              </a:ext>
            </a:extLst>
          </p:cNvPr>
          <p:cNvSpPr/>
          <p:nvPr/>
        </p:nvSpPr>
        <p:spPr>
          <a:xfrm>
            <a:off x="2144517" y="1532502"/>
            <a:ext cx="1268277" cy="555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0669C220-AA02-4B4F-B02D-50948C8B613F}"/>
              </a:ext>
            </a:extLst>
          </p:cNvPr>
          <p:cNvSpPr/>
          <p:nvPr/>
        </p:nvSpPr>
        <p:spPr>
          <a:xfrm>
            <a:off x="7152746" y="3189319"/>
            <a:ext cx="1027182" cy="1884359"/>
          </a:xfrm>
          <a:prstGeom prst="rect">
            <a:avLst/>
          </a:prstGeom>
          <a:solidFill>
            <a:srgbClr val="F8F9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82D27AA-C0FA-5E48-887D-C6BA56F2E0E3}"/>
              </a:ext>
            </a:extLst>
          </p:cNvPr>
          <p:cNvSpPr txBox="1"/>
          <p:nvPr/>
        </p:nvSpPr>
        <p:spPr>
          <a:xfrm>
            <a:off x="7101552" y="3722286"/>
            <a:ext cx="1140056" cy="769441"/>
          </a:xfrm>
          <a:prstGeom prst="rect">
            <a:avLst/>
          </a:prstGeom>
          <a:noFill/>
        </p:spPr>
        <p:txBody>
          <a:bodyPr wrap="none" rtlCol="0">
            <a:spAutoFit/>
          </a:bodyPr>
          <a:lstStyle/>
          <a:p>
            <a:pPr algn="ctr"/>
            <a:r>
              <a:rPr lang="en-ZA" sz="2200" dirty="0"/>
              <a:t>loss</a:t>
            </a:r>
          </a:p>
          <a:p>
            <a:pPr algn="ctr"/>
            <a:r>
              <a:rPr lang="en-ZA" sz="2200" dirty="0"/>
              <a:t>function</a:t>
            </a:r>
            <a:endParaRPr lang="en-US" sz="2200" dirty="0"/>
          </a:p>
        </p:txBody>
      </p: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A8FECF8A-0B75-6142-9082-DF3E14D581ED}"/>
                  </a:ext>
                </a:extLst>
              </p:cNvPr>
              <p:cNvSpPr txBox="1"/>
              <p:nvPr/>
            </p:nvSpPr>
            <p:spPr>
              <a:xfrm>
                <a:off x="2144517" y="1579427"/>
                <a:ext cx="1154996" cy="430887"/>
              </a:xfrm>
              <a:prstGeom prst="rect">
                <a:avLst/>
              </a:prstGeom>
              <a:noFill/>
            </p:spPr>
            <p:txBody>
              <a:bodyPr wrap="none" rtlCol="0">
                <a:spAutoFit/>
              </a:bodyPr>
              <a:lstStyle/>
              <a:p>
                <a:pPr algn="ctr"/>
                <a:r>
                  <a:rPr lang="en-US" sz="2200" dirty="0"/>
                  <a:t>Input:  </a:t>
                </a:r>
                <a14:m>
                  <m:oMath xmlns:m="http://schemas.openxmlformats.org/officeDocument/2006/math">
                    <m:r>
                      <a:rPr lang="en-US" sz="2200" i="1">
                        <a:latin typeface="Cambria Math" panose="02040503050406030204" pitchFamily="18" charset="0"/>
                      </a:rPr>
                      <m:t>𝑥</m:t>
                    </m:r>
                  </m:oMath>
                </a14:m>
                <a:endParaRPr lang="en-US" sz="2200" dirty="0"/>
              </a:p>
            </p:txBody>
          </p:sp>
        </mc:Choice>
        <mc:Fallback xmlns="">
          <p:sp>
            <p:nvSpPr>
              <p:cNvPr id="98" name="TextBox 97">
                <a:extLst>
                  <a:ext uri="{FF2B5EF4-FFF2-40B4-BE49-F238E27FC236}">
                    <a16:creationId xmlns:a16="http://schemas.microsoft.com/office/drawing/2014/main" id="{A8FECF8A-0B75-6142-9082-DF3E14D581ED}"/>
                  </a:ext>
                </a:extLst>
              </p:cNvPr>
              <p:cNvSpPr txBox="1">
                <a:spLocks noRot="1" noChangeAspect="1" noMove="1" noResize="1" noEditPoints="1" noAdjustHandles="1" noChangeArrowheads="1" noChangeShapeType="1" noTextEdit="1"/>
              </p:cNvSpPr>
              <p:nvPr/>
            </p:nvSpPr>
            <p:spPr>
              <a:xfrm>
                <a:off x="2144517" y="1579427"/>
                <a:ext cx="1154996" cy="430887"/>
              </a:xfrm>
              <a:prstGeom prst="rect">
                <a:avLst/>
              </a:prstGeom>
              <a:blipFill>
                <a:blip r:embed="rId8"/>
                <a:stretch>
                  <a:fillRect l="-5435" t="-5714" b="-28571"/>
                </a:stretch>
              </a:blipFill>
            </p:spPr>
            <p:txBody>
              <a:bodyPr/>
              <a:lstStyle/>
              <a:p>
                <a:r>
                  <a:rPr lang="en-US">
                    <a:noFill/>
                  </a:rPr>
                  <a:t> </a:t>
                </a:r>
              </a:p>
            </p:txBody>
          </p:sp>
        </mc:Fallback>
      </mc:AlternateContent>
      <p:sp>
        <p:nvSpPr>
          <p:cNvPr id="100" name="Up Arrow 99">
            <a:extLst>
              <a:ext uri="{FF2B5EF4-FFF2-40B4-BE49-F238E27FC236}">
                <a16:creationId xmlns:a16="http://schemas.microsoft.com/office/drawing/2014/main" id="{CE920A8C-C27E-5A41-9E06-DEFD50BB1C7E}"/>
              </a:ext>
            </a:extLst>
          </p:cNvPr>
          <p:cNvSpPr/>
          <p:nvPr/>
        </p:nvSpPr>
        <p:spPr>
          <a:xfrm flipV="1">
            <a:off x="2570743" y="2108869"/>
            <a:ext cx="501103" cy="1008743"/>
          </a:xfrm>
          <a:prstGeom prst="upArrow">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Up Arrow 100">
            <a:extLst>
              <a:ext uri="{FF2B5EF4-FFF2-40B4-BE49-F238E27FC236}">
                <a16:creationId xmlns:a16="http://schemas.microsoft.com/office/drawing/2014/main" id="{765191C8-35BD-B642-8904-F284CC35D508}"/>
              </a:ext>
            </a:extLst>
          </p:cNvPr>
          <p:cNvSpPr/>
          <p:nvPr/>
        </p:nvSpPr>
        <p:spPr>
          <a:xfrm flipV="1">
            <a:off x="4331183" y="2108870"/>
            <a:ext cx="501103" cy="1068306"/>
          </a:xfrm>
          <a:prstGeom prst="up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C65F674-B6D4-BA46-9246-2527641F6A27}"/>
                  </a:ext>
                </a:extLst>
              </p:cNvPr>
              <p:cNvSpPr txBox="1"/>
              <p:nvPr/>
            </p:nvSpPr>
            <p:spPr>
              <a:xfrm>
                <a:off x="6297019" y="5583748"/>
                <a:ext cx="1319207" cy="461665"/>
              </a:xfrm>
              <a:prstGeom prst="rect">
                <a:avLst/>
              </a:prstGeom>
              <a:noFill/>
            </p:spPr>
            <p:txBody>
              <a:bodyPr wrap="none" rtlCol="0">
                <a:spAutoFit/>
              </a:bodyPr>
              <a:lstStyle/>
              <a:p>
                <a:r>
                  <a:rPr lang="en-US" sz="2400" dirty="0">
                    <a:ea typeface="Cambria Math" panose="02040503050406030204" pitchFamily="18" charset="0"/>
                  </a:rPr>
                  <a:t>update </a:t>
                </a:r>
                <a14:m>
                  <m:oMath xmlns:m="http://schemas.openxmlformats.org/officeDocument/2006/math">
                    <m:r>
                      <a:rPr lang="en-US" sz="2400" i="1">
                        <a:latin typeface="Cambria Math" panose="02040503050406030204" pitchFamily="18" charset="0"/>
                        <a:ea typeface="Cambria Math" panose="02040503050406030204" pitchFamily="18" charset="0"/>
                      </a:rPr>
                      <m:t>𝜃</m:t>
                    </m:r>
                  </m:oMath>
                </a14:m>
                <a:endParaRPr lang="en-US" sz="2400" dirty="0"/>
              </a:p>
            </p:txBody>
          </p:sp>
        </mc:Choice>
        <mc:Fallback xmlns="">
          <p:sp>
            <p:nvSpPr>
              <p:cNvPr id="94" name="TextBox 93">
                <a:extLst>
                  <a:ext uri="{FF2B5EF4-FFF2-40B4-BE49-F238E27FC236}">
                    <a16:creationId xmlns:a16="http://schemas.microsoft.com/office/drawing/2014/main" id="{1C65F674-B6D4-BA46-9246-2527641F6A27}"/>
                  </a:ext>
                </a:extLst>
              </p:cNvPr>
              <p:cNvSpPr txBox="1">
                <a:spLocks noRot="1" noChangeAspect="1" noMove="1" noResize="1" noEditPoints="1" noAdjustHandles="1" noChangeArrowheads="1" noChangeShapeType="1" noTextEdit="1"/>
              </p:cNvSpPr>
              <p:nvPr/>
            </p:nvSpPr>
            <p:spPr>
              <a:xfrm>
                <a:off x="6297019" y="5583748"/>
                <a:ext cx="1319207" cy="461665"/>
              </a:xfrm>
              <a:prstGeom prst="rect">
                <a:avLst/>
              </a:prstGeom>
              <a:blipFill>
                <a:blip r:embed="rId9"/>
                <a:stretch>
                  <a:fillRect l="-6667"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A1C3B3EF-BB2F-BA40-9935-9697CC0FA5AD}"/>
                  </a:ext>
                </a:extLst>
              </p:cNvPr>
              <p:cNvSpPr/>
              <p:nvPr/>
            </p:nvSpPr>
            <p:spPr>
              <a:xfrm>
                <a:off x="3811314" y="1528195"/>
                <a:ext cx="1521458" cy="55515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200" i="1" smtClean="0">
                              <a:solidFill>
                                <a:schemeClr val="tx1"/>
                              </a:solidFill>
                              <a:latin typeface="Cambria Math" panose="02040503050406030204" pitchFamily="18" charset="0"/>
                              <a:ea typeface="Cambria Math" panose="02040503050406030204" pitchFamily="18" charset="0"/>
                            </a:rPr>
                          </m:ctrlPr>
                        </m:sSubPr>
                        <m:e>
                          <m:r>
                            <a:rPr lang="en-US" sz="2200" i="1">
                              <a:solidFill>
                                <a:schemeClr val="tx1"/>
                              </a:solidFill>
                              <a:latin typeface="Cambria Math" panose="02040503050406030204" pitchFamily="18" charset="0"/>
                              <a:ea typeface="Cambria Math" panose="02040503050406030204" pitchFamily="18" charset="0"/>
                            </a:rPr>
                            <m:t>𝜃</m:t>
                          </m:r>
                        </m:e>
                        <m:sub>
                          <m:r>
                            <a:rPr lang="en-US" sz="22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2200" dirty="0">
                  <a:solidFill>
                    <a:schemeClr val="tx1"/>
                  </a:solidFill>
                </a:endParaRPr>
              </a:p>
            </p:txBody>
          </p:sp>
        </mc:Choice>
        <mc:Fallback xmlns="">
          <p:sp>
            <p:nvSpPr>
              <p:cNvPr id="63" name="Rectangle 62">
                <a:extLst>
                  <a:ext uri="{FF2B5EF4-FFF2-40B4-BE49-F238E27FC236}">
                    <a16:creationId xmlns:a16="http://schemas.microsoft.com/office/drawing/2014/main" id="{A1C3B3EF-BB2F-BA40-9935-9697CC0FA5AD}"/>
                  </a:ext>
                </a:extLst>
              </p:cNvPr>
              <p:cNvSpPr>
                <a:spLocks noRot="1" noChangeAspect="1" noMove="1" noResize="1" noEditPoints="1" noAdjustHandles="1" noChangeArrowheads="1" noChangeShapeType="1" noTextEdit="1"/>
              </p:cNvSpPr>
              <p:nvPr/>
            </p:nvSpPr>
            <p:spPr>
              <a:xfrm>
                <a:off x="3811314" y="1528195"/>
                <a:ext cx="1521458" cy="555152"/>
              </a:xfrm>
              <a:prstGeom prst="rect">
                <a:avLst/>
              </a:prstGeom>
              <a:blipFill>
                <a:blip r:embed="rId10"/>
                <a:stretch>
                  <a:fillRect/>
                </a:stretch>
              </a:blipFill>
              <a:ln>
                <a:noFill/>
              </a:ln>
            </p:spPr>
            <p:txBody>
              <a:bodyPr/>
              <a:lstStyle/>
              <a:p>
                <a:r>
                  <a:rPr lang="en-US">
                    <a:noFill/>
                  </a:rPr>
                  <a:t> </a:t>
                </a:r>
              </a:p>
            </p:txBody>
          </p:sp>
        </mc:Fallback>
      </mc:AlternateContent>
      <p:sp>
        <p:nvSpPr>
          <p:cNvPr id="38" name="TextBox 37">
            <a:extLst>
              <a:ext uri="{FF2B5EF4-FFF2-40B4-BE49-F238E27FC236}">
                <a16:creationId xmlns:a16="http://schemas.microsoft.com/office/drawing/2014/main" id="{EA99DB76-720A-FD4C-8DCE-B6A9D8443854}"/>
              </a:ext>
            </a:extLst>
          </p:cNvPr>
          <p:cNvSpPr txBox="1"/>
          <p:nvPr/>
        </p:nvSpPr>
        <p:spPr>
          <a:xfrm>
            <a:off x="8727777" y="3891562"/>
            <a:ext cx="1273554" cy="430887"/>
          </a:xfrm>
          <a:prstGeom prst="rect">
            <a:avLst/>
          </a:prstGeom>
          <a:noFill/>
        </p:spPr>
        <p:txBody>
          <a:bodyPr wrap="none" rtlCol="0">
            <a:spAutoFit/>
          </a:bodyPr>
          <a:lstStyle/>
          <a:p>
            <a:r>
              <a:rPr lang="en-US" sz="2200" dirty="0"/>
              <a:t>optimizer</a:t>
            </a:r>
          </a:p>
        </p:txBody>
      </p:sp>
      <p:sp>
        <p:nvSpPr>
          <p:cNvPr id="66" name="Up Arrow 65">
            <a:extLst>
              <a:ext uri="{FF2B5EF4-FFF2-40B4-BE49-F238E27FC236}">
                <a16:creationId xmlns:a16="http://schemas.microsoft.com/office/drawing/2014/main" id="{5821E266-BF32-674A-9A9D-45030102AE84}"/>
              </a:ext>
            </a:extLst>
          </p:cNvPr>
          <p:cNvSpPr/>
          <p:nvPr/>
        </p:nvSpPr>
        <p:spPr>
          <a:xfrm rot="16200000" flipV="1">
            <a:off x="8189728" y="3904877"/>
            <a:ext cx="418746" cy="438348"/>
          </a:xfrm>
          <a:prstGeom prst="up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F090D07D-4CAF-DE4F-9D3F-60AF21BEFAC8}"/>
              </a:ext>
            </a:extLst>
          </p:cNvPr>
          <p:cNvGrpSpPr/>
          <p:nvPr/>
        </p:nvGrpSpPr>
        <p:grpSpPr>
          <a:xfrm>
            <a:off x="8612272" y="324018"/>
            <a:ext cx="3220573" cy="745710"/>
            <a:chOff x="8287987" y="792412"/>
            <a:chExt cx="3220573" cy="745710"/>
          </a:xfrm>
        </p:grpSpPr>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DA451748-43B3-6240-8BF9-7665BB8D7F2B}"/>
                    </a:ext>
                  </a:extLst>
                </p:cNvPr>
                <p:cNvSpPr/>
                <p:nvPr/>
              </p:nvSpPr>
              <p:spPr>
                <a:xfrm>
                  <a:off x="8294228" y="792412"/>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21" name="Rectangle 20">
                  <a:extLst>
                    <a:ext uri="{FF2B5EF4-FFF2-40B4-BE49-F238E27FC236}">
                      <a16:creationId xmlns:a16="http://schemas.microsoft.com/office/drawing/2014/main" id="{F842DF58-E9C9-3143-92FC-3BC3ACE12440}"/>
                    </a:ext>
                  </a:extLst>
                </p:cNvPr>
                <p:cNvSpPr>
                  <a:spLocks noRot="1" noChangeAspect="1" noMove="1" noResize="1" noEditPoints="1" noAdjustHandles="1" noChangeArrowheads="1" noChangeShapeType="1" noTextEdit="1"/>
                </p:cNvSpPr>
                <p:nvPr/>
              </p:nvSpPr>
              <p:spPr>
                <a:xfrm>
                  <a:off x="8294228" y="792412"/>
                  <a:ext cx="408893" cy="276999"/>
                </a:xfrm>
                <a:prstGeom prst="rect">
                  <a:avLst/>
                </a:prstGeom>
                <a:blipFill>
                  <a:blip r:embed="rId12"/>
                  <a:stretch>
                    <a:fillRect/>
                  </a:stretch>
                </a:blipFill>
              </p:spPr>
              <p:txBody>
                <a:bodyPr/>
                <a:lstStyle/>
                <a:p>
                  <a:r>
                    <a:rPr lang="en-US">
                      <a:noFill/>
                    </a:rPr>
                    <a:t> </a:t>
                  </a:r>
                </a:p>
              </p:txBody>
            </p:sp>
          </mc:Fallback>
        </mc:AlternateContent>
        <p:cxnSp>
          <p:nvCxnSpPr>
            <p:cNvPr id="79" name="Straight Connector 78">
              <a:extLst>
                <a:ext uri="{FF2B5EF4-FFF2-40B4-BE49-F238E27FC236}">
                  <a16:creationId xmlns:a16="http://schemas.microsoft.com/office/drawing/2014/main" id="{FCEF564B-BD0A-D04B-8742-876883D309DD}"/>
                </a:ext>
              </a:extLst>
            </p:cNvPr>
            <p:cNvCxnSpPr>
              <a:cxnSpLocks/>
            </p:cNvCxnSpPr>
            <p:nvPr/>
          </p:nvCxnSpPr>
          <p:spPr>
            <a:xfrm>
              <a:off x="8624095" y="928774"/>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F890AAA-794B-D64F-9CC8-03E7877AED30}"/>
                </a:ext>
              </a:extLst>
            </p:cNvPr>
            <p:cNvCxnSpPr>
              <a:cxnSpLocks/>
            </p:cNvCxnSpPr>
            <p:nvPr/>
          </p:nvCxnSpPr>
          <p:spPr>
            <a:xfrm>
              <a:off x="8594938" y="1393433"/>
              <a:ext cx="288446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Rectangle 89">
                  <a:extLst>
                    <a:ext uri="{FF2B5EF4-FFF2-40B4-BE49-F238E27FC236}">
                      <a16:creationId xmlns:a16="http://schemas.microsoft.com/office/drawing/2014/main" id="{7E016874-1EF8-FA44-937C-53103B1B8D6C}"/>
                    </a:ext>
                  </a:extLst>
                </p:cNvPr>
                <p:cNvSpPr/>
                <p:nvPr/>
              </p:nvSpPr>
              <p:spPr>
                <a:xfrm>
                  <a:off x="8287987" y="1254933"/>
                  <a:ext cx="408893"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0</m:t>
                            </m:r>
                          </m:e>
                        </m:d>
                      </m:oMath>
                    </m:oMathPara>
                  </a14:m>
                  <a:endParaRPr lang="en-US" sz="1200" dirty="0"/>
                </a:p>
              </p:txBody>
            </p:sp>
          </mc:Choice>
          <mc:Fallback xmlns="">
            <p:sp>
              <p:nvSpPr>
                <p:cNvPr id="24" name="Rectangle 23">
                  <a:extLst>
                    <a:ext uri="{FF2B5EF4-FFF2-40B4-BE49-F238E27FC236}">
                      <a16:creationId xmlns:a16="http://schemas.microsoft.com/office/drawing/2014/main" id="{DF753BC2-4743-F242-B988-6E37C18DAECF}"/>
                    </a:ext>
                  </a:extLst>
                </p:cNvPr>
                <p:cNvSpPr>
                  <a:spLocks noRot="1" noChangeAspect="1" noMove="1" noResize="1" noEditPoints="1" noAdjustHandles="1" noChangeArrowheads="1" noChangeShapeType="1" noTextEdit="1"/>
                </p:cNvSpPr>
                <p:nvPr/>
              </p:nvSpPr>
              <p:spPr>
                <a:xfrm>
                  <a:off x="8287987" y="1254933"/>
                  <a:ext cx="408893" cy="276999"/>
                </a:xfrm>
                <a:prstGeom prst="rect">
                  <a:avLst/>
                </a:prstGeom>
                <a:blipFill>
                  <a:blip r:embed="rId13"/>
                  <a:stretch>
                    <a:fillRect/>
                  </a:stretch>
                </a:blipFill>
              </p:spPr>
              <p:txBody>
                <a:bodyPr/>
                <a:lstStyle/>
                <a:p>
                  <a:r>
                    <a:rPr lang="en-US">
                      <a:noFill/>
                    </a:rPr>
                    <a:t> </a:t>
                  </a:r>
                </a:p>
              </p:txBody>
            </p:sp>
          </mc:Fallback>
        </mc:AlternateContent>
        <p:sp>
          <p:nvSpPr>
            <p:cNvPr id="91" name="Rectangle 90">
              <a:extLst>
                <a:ext uri="{FF2B5EF4-FFF2-40B4-BE49-F238E27FC236}">
                  <a16:creationId xmlns:a16="http://schemas.microsoft.com/office/drawing/2014/main" id="{ABF5CB94-DDF5-1943-B7A4-6A4E45553E1E}"/>
                </a:ext>
              </a:extLst>
            </p:cNvPr>
            <p:cNvSpPr/>
            <p:nvPr/>
          </p:nvSpPr>
          <p:spPr>
            <a:xfrm>
              <a:off x="8774259" y="818122"/>
              <a:ext cx="539664" cy="720000"/>
            </a:xfrm>
            <a:prstGeom prst="rect">
              <a:avLst/>
            </a:prstGeom>
            <a:solidFill>
              <a:srgbClr val="FFC000"/>
            </a:soli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29CE35C2-E2B8-E244-A13E-5A2848D308F1}"/>
                    </a:ext>
                  </a:extLst>
                </p:cNvPr>
                <p:cNvSpPr/>
                <p:nvPr/>
              </p:nvSpPr>
              <p:spPr>
                <a:xfrm>
                  <a:off x="8709569" y="998718"/>
                  <a:ext cx="661400"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𝑈</m:t>
                        </m:r>
                        <m:r>
                          <a:rPr lang="en-US" sz="1600" i="1" smtClean="0">
                            <a:latin typeface="Cambria Math" panose="02040503050406030204" pitchFamily="18" charset="0"/>
                          </a:rPr>
                          <m:t>(</m:t>
                        </m:r>
                        <m:r>
                          <a:rPr lang="en-US" sz="1600" b="0" i="1" smtClean="0">
                            <a:latin typeface="Cambria Math" panose="02040503050406030204" pitchFamily="18" charset="0"/>
                          </a:rPr>
                          <m:t>𝑥</m:t>
                        </m:r>
                        <m:r>
                          <a:rPr lang="en-US" sz="1600" i="1">
                            <a:latin typeface="Cambria Math" panose="02040503050406030204" pitchFamily="18" charset="0"/>
                          </a:rPr>
                          <m:t>)</m:t>
                        </m:r>
                      </m:oMath>
                    </m:oMathPara>
                  </a14:m>
                  <a:endParaRPr lang="en-US" sz="1600" dirty="0"/>
                </a:p>
              </p:txBody>
            </p:sp>
          </mc:Choice>
          <mc:Fallback xmlns="">
            <p:sp>
              <p:nvSpPr>
                <p:cNvPr id="26" name="Rectangle 25">
                  <a:extLst>
                    <a:ext uri="{FF2B5EF4-FFF2-40B4-BE49-F238E27FC236}">
                      <a16:creationId xmlns:a16="http://schemas.microsoft.com/office/drawing/2014/main" id="{06E89A98-13DC-734E-9943-AB2A6C81DD25}"/>
                    </a:ext>
                  </a:extLst>
                </p:cNvPr>
                <p:cNvSpPr>
                  <a:spLocks noRot="1" noChangeAspect="1" noMove="1" noResize="1" noEditPoints="1" noAdjustHandles="1" noChangeArrowheads="1" noChangeShapeType="1" noTextEdit="1"/>
                </p:cNvSpPr>
                <p:nvPr/>
              </p:nvSpPr>
              <p:spPr>
                <a:xfrm>
                  <a:off x="8709569" y="998718"/>
                  <a:ext cx="661400" cy="338554"/>
                </a:xfrm>
                <a:prstGeom prst="rect">
                  <a:avLst/>
                </a:prstGeom>
                <a:blipFill>
                  <a:blip r:embed="rId14"/>
                  <a:stretch>
                    <a:fillRect b="-14815"/>
                  </a:stretch>
                </a:blipFill>
              </p:spPr>
              <p:txBody>
                <a:bodyPr/>
                <a:lstStyle/>
                <a:p>
                  <a:r>
                    <a:rPr lang="en-US">
                      <a:noFill/>
                    </a:rPr>
                    <a:t> </a:t>
                  </a:r>
                </a:p>
              </p:txBody>
            </p:sp>
          </mc:Fallback>
        </mc:AlternateContent>
        <p:sp>
          <p:nvSpPr>
            <p:cNvPr id="95" name="Rectangle 94">
              <a:extLst>
                <a:ext uri="{FF2B5EF4-FFF2-40B4-BE49-F238E27FC236}">
                  <a16:creationId xmlns:a16="http://schemas.microsoft.com/office/drawing/2014/main" id="{56D2BD68-2708-2041-A748-71E91A77FF1C}"/>
                </a:ext>
              </a:extLst>
            </p:cNvPr>
            <p:cNvSpPr/>
            <p:nvPr/>
          </p:nvSpPr>
          <p:spPr>
            <a:xfrm>
              <a:off x="10118903" y="807995"/>
              <a:ext cx="539664" cy="720000"/>
            </a:xfrm>
            <a:prstGeom prst="rect">
              <a:avLst/>
            </a:prstGeom>
            <a:solidFill>
              <a:schemeClr val="bg1">
                <a:lumMod val="85000"/>
              </a:schemeClr>
            </a:solidFill>
            <a:ln>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EFECC958-4037-D041-94B4-22C754E71A6E}"/>
                    </a:ext>
                  </a:extLst>
                </p:cNvPr>
                <p:cNvSpPr/>
                <p:nvPr/>
              </p:nvSpPr>
              <p:spPr>
                <a:xfrm>
                  <a:off x="10165888" y="1008913"/>
                  <a:ext cx="410882"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m:t>
                        </m:r>
                      </m:oMath>
                    </m:oMathPara>
                  </a14:m>
                  <a:endParaRPr lang="en-US" sz="1600" dirty="0"/>
                </a:p>
              </p:txBody>
            </p:sp>
          </mc:Choice>
          <mc:Fallback xmlns="">
            <p:sp>
              <p:nvSpPr>
                <p:cNvPr id="28" name="Rectangle 27">
                  <a:extLst>
                    <a:ext uri="{FF2B5EF4-FFF2-40B4-BE49-F238E27FC236}">
                      <a16:creationId xmlns:a16="http://schemas.microsoft.com/office/drawing/2014/main" id="{1AF1F4A8-9CF0-2F44-BE2D-1C8BE2A7B5DE}"/>
                    </a:ext>
                  </a:extLst>
                </p:cNvPr>
                <p:cNvSpPr>
                  <a:spLocks noRot="1" noChangeAspect="1" noMove="1" noResize="1" noEditPoints="1" noAdjustHandles="1" noChangeArrowheads="1" noChangeShapeType="1" noTextEdit="1"/>
                </p:cNvSpPr>
                <p:nvPr/>
              </p:nvSpPr>
              <p:spPr>
                <a:xfrm>
                  <a:off x="10165888" y="1008913"/>
                  <a:ext cx="410882" cy="338554"/>
                </a:xfrm>
                <a:prstGeom prst="rect">
                  <a:avLst/>
                </a:prstGeom>
                <a:blipFill>
                  <a:blip r:embed="rId15"/>
                  <a:stretch>
                    <a:fillRect/>
                  </a:stretch>
                </a:blipFill>
              </p:spPr>
              <p:txBody>
                <a:bodyPr/>
                <a:lstStyle/>
                <a:p>
                  <a:r>
                    <a:rPr lang="en-US">
                      <a:noFill/>
                    </a:rPr>
                    <a:t> </a:t>
                  </a:r>
                </a:p>
              </p:txBody>
            </p:sp>
          </mc:Fallback>
        </mc:AlternateContent>
        <p:sp>
          <p:nvSpPr>
            <p:cNvPr id="102" name="Rectangle 101">
              <a:extLst>
                <a:ext uri="{FF2B5EF4-FFF2-40B4-BE49-F238E27FC236}">
                  <a16:creationId xmlns:a16="http://schemas.microsoft.com/office/drawing/2014/main" id="{20F99D3E-9058-2840-BDF8-5EE6E6CFBB7A}"/>
                </a:ext>
              </a:extLst>
            </p:cNvPr>
            <p:cNvSpPr/>
            <p:nvPr/>
          </p:nvSpPr>
          <p:spPr>
            <a:xfrm>
              <a:off x="9471016" y="812887"/>
              <a:ext cx="540000" cy="720000"/>
            </a:xfrm>
            <a:prstGeom prst="rect">
              <a:avLst/>
            </a:prstGeom>
            <a:solidFill>
              <a:srgbClr val="30E845"/>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C422B26B-C436-DA42-90D8-04BA1C067C22}"/>
                    </a:ext>
                  </a:extLst>
                </p:cNvPr>
                <p:cNvSpPr/>
                <p:nvPr/>
              </p:nvSpPr>
              <p:spPr>
                <a:xfrm>
                  <a:off x="9409723" y="1033434"/>
                  <a:ext cx="65729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𝑉</m:t>
                        </m:r>
                        <m:r>
                          <a:rPr lang="en-US" sz="1600" i="1" smtClean="0">
                            <a:latin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𝜃</m:t>
                        </m:r>
                        <m:r>
                          <a:rPr lang="en-US" sz="1600" i="1">
                            <a:latin typeface="Cambria Math" panose="02040503050406030204" pitchFamily="18" charset="0"/>
                          </a:rPr>
                          <m:t>)</m:t>
                        </m:r>
                      </m:oMath>
                    </m:oMathPara>
                  </a14:m>
                  <a:endParaRPr lang="en-US" sz="1600" dirty="0"/>
                </a:p>
              </p:txBody>
            </p:sp>
          </mc:Choice>
          <mc:Fallback xmlns="">
            <p:sp>
              <p:nvSpPr>
                <p:cNvPr id="30" name="Rectangle 29">
                  <a:extLst>
                    <a:ext uri="{FF2B5EF4-FFF2-40B4-BE49-F238E27FC236}">
                      <a16:creationId xmlns:a16="http://schemas.microsoft.com/office/drawing/2014/main" id="{94BD478F-4DE7-C14E-ADDB-21DC0FD383EE}"/>
                    </a:ext>
                  </a:extLst>
                </p:cNvPr>
                <p:cNvSpPr>
                  <a:spLocks noRot="1" noChangeAspect="1" noMove="1" noResize="1" noEditPoints="1" noAdjustHandles="1" noChangeArrowheads="1" noChangeShapeType="1" noTextEdit="1"/>
                </p:cNvSpPr>
                <p:nvPr/>
              </p:nvSpPr>
              <p:spPr>
                <a:xfrm>
                  <a:off x="9409723" y="1033434"/>
                  <a:ext cx="657296" cy="338554"/>
                </a:xfrm>
                <a:prstGeom prst="rect">
                  <a:avLst/>
                </a:prstGeom>
                <a:blipFill>
                  <a:blip r:embed="rId16"/>
                  <a:stretch>
                    <a:fillRect b="-10714"/>
                  </a:stretch>
                </a:blipFill>
              </p:spPr>
              <p:txBody>
                <a:bodyPr/>
                <a:lstStyle/>
                <a:p>
                  <a:r>
                    <a:rPr lang="sr-Latn-RS">
                      <a:noFill/>
                    </a:rPr>
                    <a:t> </a:t>
                  </a:r>
                </a:p>
              </p:txBody>
            </p:sp>
          </mc:Fallback>
        </mc:AlternateContent>
        <p:sp>
          <p:nvSpPr>
            <p:cNvPr id="104" name="Rectangle 103">
              <a:extLst>
                <a:ext uri="{FF2B5EF4-FFF2-40B4-BE49-F238E27FC236}">
                  <a16:creationId xmlns:a16="http://schemas.microsoft.com/office/drawing/2014/main" id="{36B38166-00E4-5841-9D33-1529730993D6}"/>
                </a:ext>
              </a:extLst>
            </p:cNvPr>
            <p:cNvSpPr/>
            <p:nvPr/>
          </p:nvSpPr>
          <p:spPr>
            <a:xfrm>
              <a:off x="10778911" y="813038"/>
              <a:ext cx="539664" cy="720000"/>
            </a:xfrm>
            <a:prstGeom prst="rect">
              <a:avLst/>
            </a:prstGeom>
            <a:solidFill>
              <a:schemeClr val="accent4">
                <a:lumMod val="20000"/>
                <a:lumOff val="80000"/>
              </a:schemeClr>
            </a:solidFill>
            <a:ln>
              <a:solidFill>
                <a:schemeClr val="accent1">
                  <a:shade val="50000"/>
                </a:schemeClr>
              </a:solidFill>
              <a:prstDash val="solid"/>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C31E24AF-44B1-6A40-97B5-F03144F9714F}"/>
                    </a:ext>
                  </a:extLst>
                </p:cNvPr>
                <p:cNvSpPr/>
                <p:nvPr/>
              </p:nvSpPr>
              <p:spPr>
                <a:xfrm>
                  <a:off x="8356553" y="1021749"/>
                  <a:ext cx="26802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rPr>
                          <m:t>⋮</m:t>
                        </m:r>
                      </m:oMath>
                    </m:oMathPara>
                  </a14:m>
                  <a:endParaRPr lang="en-US" sz="1200" dirty="0"/>
                </a:p>
              </p:txBody>
            </p:sp>
          </mc:Choice>
          <mc:Fallback xmlns="">
            <p:sp>
              <p:nvSpPr>
                <p:cNvPr id="32" name="Rectangle 31">
                  <a:extLst>
                    <a:ext uri="{FF2B5EF4-FFF2-40B4-BE49-F238E27FC236}">
                      <a16:creationId xmlns:a16="http://schemas.microsoft.com/office/drawing/2014/main" id="{429F0626-1358-F043-9502-58785C2B0048}"/>
                    </a:ext>
                  </a:extLst>
                </p:cNvPr>
                <p:cNvSpPr>
                  <a:spLocks noRot="1" noChangeAspect="1" noMove="1" noResize="1" noEditPoints="1" noAdjustHandles="1" noChangeArrowheads="1" noChangeShapeType="1" noTextEdit="1"/>
                </p:cNvSpPr>
                <p:nvPr/>
              </p:nvSpPr>
              <p:spPr>
                <a:xfrm>
                  <a:off x="8356553" y="1021749"/>
                  <a:ext cx="268022" cy="276999"/>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Rectangle 105">
                  <a:extLst>
                    <a:ext uri="{FF2B5EF4-FFF2-40B4-BE49-F238E27FC236}">
                      <a16:creationId xmlns:a16="http://schemas.microsoft.com/office/drawing/2014/main" id="{D4B210B0-8C4C-E04C-A5D5-77CA6BA991A9}"/>
                    </a:ext>
                  </a:extLst>
                </p:cNvPr>
                <p:cNvSpPr/>
                <p:nvPr/>
              </p:nvSpPr>
              <p:spPr>
                <a:xfrm>
                  <a:off x="10856483" y="995093"/>
                  <a:ext cx="375616"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𝑂</m:t>
                        </m:r>
                      </m:oMath>
                    </m:oMathPara>
                  </a14:m>
                  <a:endParaRPr lang="en-US" sz="1600" dirty="0"/>
                </a:p>
              </p:txBody>
            </p:sp>
          </mc:Choice>
          <mc:Fallback xmlns="">
            <p:sp>
              <p:nvSpPr>
                <p:cNvPr id="33" name="Rectangle 32">
                  <a:extLst>
                    <a:ext uri="{FF2B5EF4-FFF2-40B4-BE49-F238E27FC236}">
                      <a16:creationId xmlns:a16="http://schemas.microsoft.com/office/drawing/2014/main" id="{9E83AF3C-B102-4140-8B47-F0EBDBA91276}"/>
                    </a:ext>
                  </a:extLst>
                </p:cNvPr>
                <p:cNvSpPr>
                  <a:spLocks noRot="1" noChangeAspect="1" noMove="1" noResize="1" noEditPoints="1" noAdjustHandles="1" noChangeArrowheads="1" noChangeShapeType="1" noTextEdit="1"/>
                </p:cNvSpPr>
                <p:nvPr/>
              </p:nvSpPr>
              <p:spPr>
                <a:xfrm>
                  <a:off x="10856483" y="995093"/>
                  <a:ext cx="375616" cy="338554"/>
                </a:xfrm>
                <a:prstGeom prst="rect">
                  <a:avLst/>
                </a:prstGeom>
                <a:blipFill>
                  <a:blip r:embed="rId18"/>
                  <a:stretch>
                    <a:fillRect/>
                  </a:stretch>
                </a:blipFill>
              </p:spPr>
              <p:txBody>
                <a:bodyPr/>
                <a:lstStyle/>
                <a:p>
                  <a:r>
                    <a:rPr lang="en-US">
                      <a:noFill/>
                    </a:rPr>
                    <a:t> </a:t>
                  </a:r>
                </a:p>
              </p:txBody>
            </p:sp>
          </mc:Fallback>
        </mc:AlternateContent>
      </p:grpSp>
      <p:sp>
        <p:nvSpPr>
          <p:cNvPr id="4" name="TextBox 3">
            <a:extLst>
              <a:ext uri="{FF2B5EF4-FFF2-40B4-BE49-F238E27FC236}">
                <a16:creationId xmlns:a16="http://schemas.microsoft.com/office/drawing/2014/main" id="{89E59893-2B8F-E74C-AE06-4388250EEBAC}"/>
              </a:ext>
            </a:extLst>
          </p:cNvPr>
          <p:cNvSpPr txBox="1"/>
          <p:nvPr/>
        </p:nvSpPr>
        <p:spPr>
          <a:xfrm>
            <a:off x="7533330" y="2438090"/>
            <a:ext cx="2169889" cy="369332"/>
          </a:xfrm>
          <a:prstGeom prst="rect">
            <a:avLst/>
          </a:prstGeom>
          <a:noFill/>
        </p:spPr>
        <p:txBody>
          <a:bodyPr wrap="none" rtlCol="0">
            <a:spAutoFit/>
          </a:bodyPr>
          <a:lstStyle/>
          <a:p>
            <a:r>
              <a:rPr lang="en-US" dirty="0"/>
              <a:t>classical optimization</a:t>
            </a:r>
          </a:p>
        </p:txBody>
      </p:sp>
      <p:sp>
        <p:nvSpPr>
          <p:cNvPr id="65" name="Slide Number Placeholder 2">
            <a:extLst>
              <a:ext uri="{FF2B5EF4-FFF2-40B4-BE49-F238E27FC236}">
                <a16:creationId xmlns:a16="http://schemas.microsoft.com/office/drawing/2014/main" id="{1A692CF5-169C-F94B-A2DE-E656E285A167}"/>
              </a:ext>
            </a:extLst>
          </p:cNvPr>
          <p:cNvSpPr>
            <a:spLocks noGrp="1"/>
          </p:cNvSpPr>
          <p:nvPr>
            <p:ph type="sldNum" sz="quarter" idx="12"/>
          </p:nvPr>
        </p:nvSpPr>
        <p:spPr>
          <a:xfrm>
            <a:off x="0" y="6492875"/>
            <a:ext cx="789709" cy="365125"/>
          </a:xfrm>
        </p:spPr>
        <p:txBody>
          <a:bodyPr/>
          <a:lstStyle/>
          <a:p>
            <a:fld id="{591A223C-FA10-BC46-A853-03BA373D023C}" type="slidenum">
              <a:rPr lang="en-US" smtClean="0"/>
              <a:t>22</a:t>
            </a:fld>
            <a:endParaRPr lang="en-US" dirty="0"/>
          </a:p>
        </p:txBody>
      </p:sp>
    </p:spTree>
    <p:extLst>
      <p:ext uri="{BB962C8B-B14F-4D97-AF65-F5344CB8AC3E}">
        <p14:creationId xmlns:p14="http://schemas.microsoft.com/office/powerpoint/2010/main" val="2861789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6A7C3-35FB-CF46-BDC5-309ADB90E31B}"/>
              </a:ext>
            </a:extLst>
          </p:cNvPr>
          <p:cNvSpPr>
            <a:spLocks noGrp="1"/>
          </p:cNvSpPr>
          <p:nvPr>
            <p:ph type="title"/>
          </p:nvPr>
        </p:nvSpPr>
        <p:spPr/>
        <p:txBody>
          <a:bodyPr/>
          <a:lstStyle/>
          <a:p>
            <a:r>
              <a:rPr lang="en-US" dirty="0"/>
              <a:t>The Optimization Loop in VQC</a:t>
            </a:r>
          </a:p>
        </p:txBody>
      </p:sp>
      <p:sp>
        <p:nvSpPr>
          <p:cNvPr id="3" name="Slide Number Placeholder 2">
            <a:extLst>
              <a:ext uri="{FF2B5EF4-FFF2-40B4-BE49-F238E27FC236}">
                <a16:creationId xmlns:a16="http://schemas.microsoft.com/office/drawing/2014/main" id="{5F65BF85-DA18-2143-AFD4-85B8ECC1B6DA}"/>
              </a:ext>
            </a:extLst>
          </p:cNvPr>
          <p:cNvSpPr>
            <a:spLocks noGrp="1"/>
          </p:cNvSpPr>
          <p:nvPr>
            <p:ph type="sldNum" sz="quarter" idx="12"/>
          </p:nvPr>
        </p:nvSpPr>
        <p:spPr/>
        <p:txBody>
          <a:bodyPr/>
          <a:lstStyle/>
          <a:p>
            <a:fld id="{591A223C-FA10-BC46-A853-03BA373D023C}" type="slidenum">
              <a:rPr lang="en-US" smtClean="0"/>
              <a:t>23</a:t>
            </a:fld>
            <a:endParaRPr lang="en-US"/>
          </a:p>
        </p:txBody>
      </p:sp>
      <p:pic>
        <p:nvPicPr>
          <p:cNvPr id="4" name="Picture 3">
            <a:extLst>
              <a:ext uri="{FF2B5EF4-FFF2-40B4-BE49-F238E27FC236}">
                <a16:creationId xmlns:a16="http://schemas.microsoft.com/office/drawing/2014/main" id="{585C7525-4990-C84E-9465-3F63FFFDD292}"/>
              </a:ext>
            </a:extLst>
          </p:cNvPr>
          <p:cNvPicPr>
            <a:picLocks noChangeAspect="1"/>
          </p:cNvPicPr>
          <p:nvPr/>
        </p:nvPicPr>
        <p:blipFill>
          <a:blip r:embed="rId3"/>
          <a:stretch>
            <a:fillRect/>
          </a:stretch>
        </p:blipFill>
        <p:spPr>
          <a:xfrm>
            <a:off x="1219200" y="884237"/>
            <a:ext cx="9753600" cy="5791200"/>
          </a:xfrm>
          <a:prstGeom prst="rect">
            <a:avLst/>
          </a:prstGeom>
        </p:spPr>
      </p:pic>
    </p:spTree>
    <p:extLst>
      <p:ext uri="{BB962C8B-B14F-4D97-AF65-F5344CB8AC3E}">
        <p14:creationId xmlns:p14="http://schemas.microsoft.com/office/powerpoint/2010/main" val="3198732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4" name="TextBox 3">
            <a:extLst>
              <a:ext uri="{FF2B5EF4-FFF2-40B4-BE49-F238E27FC236}">
                <a16:creationId xmlns:a16="http://schemas.microsoft.com/office/drawing/2014/main" id="{472519DD-9FFE-0047-9453-5A2889BD2B59}"/>
              </a:ext>
            </a:extLst>
          </p:cNvPr>
          <p:cNvSpPr txBox="1"/>
          <p:nvPr/>
        </p:nvSpPr>
        <p:spPr>
          <a:xfrm>
            <a:off x="-2" y="1836540"/>
            <a:ext cx="12191999" cy="1200329"/>
          </a:xfrm>
          <a:prstGeom prst="rect">
            <a:avLst/>
          </a:prstGeom>
          <a:noFill/>
        </p:spPr>
        <p:txBody>
          <a:bodyPr wrap="square" rtlCol="0">
            <a:spAutoFit/>
          </a:bodyPr>
          <a:lstStyle/>
          <a:p>
            <a:pPr algn="ctr"/>
            <a:r>
              <a:rPr lang="en-US" sz="7200" b="1" dirty="0">
                <a:solidFill>
                  <a:schemeClr val="bg1"/>
                </a:solidFill>
              </a:rPr>
              <a:t>Quantum-Native AI</a:t>
            </a:r>
            <a:endParaRPr lang="en-US" sz="5400" b="1" dirty="0">
              <a:solidFill>
                <a:schemeClr val="bg1"/>
              </a:solidFill>
            </a:endParaRPr>
          </a:p>
        </p:txBody>
      </p:sp>
      <p:sp>
        <p:nvSpPr>
          <p:cNvPr id="2" name="TextBox 1">
            <a:extLst>
              <a:ext uri="{FF2B5EF4-FFF2-40B4-BE49-F238E27FC236}">
                <a16:creationId xmlns:a16="http://schemas.microsoft.com/office/drawing/2014/main" id="{F963F606-5F46-164E-AE33-1E7EDE42C5CE}"/>
              </a:ext>
            </a:extLst>
          </p:cNvPr>
          <p:cNvSpPr txBox="1"/>
          <p:nvPr/>
        </p:nvSpPr>
        <p:spPr>
          <a:xfrm>
            <a:off x="-2" y="3417690"/>
            <a:ext cx="12192000" cy="584775"/>
          </a:xfrm>
          <a:prstGeom prst="rect">
            <a:avLst/>
          </a:prstGeom>
          <a:noFill/>
        </p:spPr>
        <p:txBody>
          <a:bodyPr wrap="square" rtlCol="0">
            <a:spAutoFit/>
          </a:bodyPr>
          <a:lstStyle/>
          <a:p>
            <a:pPr algn="ctr"/>
            <a:r>
              <a:rPr lang="en-ZA" sz="3200" dirty="0">
                <a:solidFill>
                  <a:schemeClr val="bg1"/>
                </a:solidFill>
              </a:rPr>
              <a:t>intelligence emerges from quantum processes</a:t>
            </a:r>
            <a:endParaRPr lang="en-US" sz="3200" dirty="0">
              <a:solidFill>
                <a:schemeClr val="bg1"/>
              </a:solidFill>
              <a:latin typeface="+mj-lt"/>
            </a:endParaRPr>
          </a:p>
        </p:txBody>
      </p:sp>
    </p:spTree>
    <p:extLst>
      <p:ext uri="{BB962C8B-B14F-4D97-AF65-F5344CB8AC3E}">
        <p14:creationId xmlns:p14="http://schemas.microsoft.com/office/powerpoint/2010/main" val="2330195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8765CDDB-F928-5544-A46D-392189691FF3}"/>
              </a:ext>
            </a:extLst>
          </p:cNvPr>
          <p:cNvGraphicFramePr/>
          <p:nvPr>
            <p:extLst/>
          </p:nvPr>
        </p:nvGraphicFramePr>
        <p:xfrm>
          <a:off x="171449" y="1100138"/>
          <a:ext cx="11917631" cy="2157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a:extLst>
              <a:ext uri="{FF2B5EF4-FFF2-40B4-BE49-F238E27FC236}">
                <a16:creationId xmlns:a16="http://schemas.microsoft.com/office/drawing/2014/main" id="{6BCFA9D6-A11C-8744-B652-E68326525D82}"/>
              </a:ext>
            </a:extLst>
          </p:cNvPr>
          <p:cNvSpPr>
            <a:spLocks noGrp="1"/>
          </p:cNvSpPr>
          <p:nvPr>
            <p:ph type="title"/>
          </p:nvPr>
        </p:nvSpPr>
        <p:spPr>
          <a:xfrm>
            <a:off x="-19050" y="15853"/>
            <a:ext cx="12192000" cy="928688"/>
          </a:xfrm>
        </p:spPr>
        <p:txBody>
          <a:bodyPr/>
          <a:lstStyle/>
          <a:p>
            <a:r>
              <a:rPr lang="en-US" dirty="0"/>
              <a:t>Quantum AI Roadmap</a:t>
            </a:r>
          </a:p>
        </p:txBody>
      </p:sp>
      <p:grpSp>
        <p:nvGrpSpPr>
          <p:cNvPr id="20" name="Group 19">
            <a:extLst>
              <a:ext uri="{FF2B5EF4-FFF2-40B4-BE49-F238E27FC236}">
                <a16:creationId xmlns:a16="http://schemas.microsoft.com/office/drawing/2014/main" id="{AEF6B342-585F-5B4E-98FC-6158CE5C6449}"/>
              </a:ext>
            </a:extLst>
          </p:cNvPr>
          <p:cNvGrpSpPr/>
          <p:nvPr/>
        </p:nvGrpSpPr>
        <p:grpSpPr>
          <a:xfrm>
            <a:off x="1356502" y="2667067"/>
            <a:ext cx="216000" cy="660006"/>
            <a:chOff x="1492199" y="2642094"/>
            <a:chExt cx="216000" cy="660006"/>
          </a:xfrm>
        </p:grpSpPr>
        <p:sp>
          <p:nvSpPr>
            <p:cNvPr id="14" name="Oval 13">
              <a:extLst>
                <a:ext uri="{FF2B5EF4-FFF2-40B4-BE49-F238E27FC236}">
                  <a16:creationId xmlns:a16="http://schemas.microsoft.com/office/drawing/2014/main" id="{607BC732-A1DE-B94F-BB76-225EDE8F6765}"/>
                </a:ext>
              </a:extLst>
            </p:cNvPr>
            <p:cNvSpPr/>
            <p:nvPr/>
          </p:nvSpPr>
          <p:spPr>
            <a:xfrm>
              <a:off x="1492199" y="2642094"/>
              <a:ext cx="216000" cy="216000"/>
            </a:xfrm>
            <a:prstGeom prst="ellipse">
              <a:avLst/>
            </a:prstGeom>
            <a:noFill/>
            <a:ln w="889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D91D8AD8-74D4-FF41-A4E8-D4D23336F548}"/>
                </a:ext>
              </a:extLst>
            </p:cNvPr>
            <p:cNvCxnSpPr>
              <a:cxnSpLocks/>
            </p:cNvCxnSpPr>
            <p:nvPr/>
          </p:nvCxnSpPr>
          <p:spPr>
            <a:xfrm flipH="1">
              <a:off x="1600199" y="2858094"/>
              <a:ext cx="0" cy="44400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D97337F5-86EB-C74F-8F4E-37525F6C4282}"/>
              </a:ext>
            </a:extLst>
          </p:cNvPr>
          <p:cNvGrpSpPr/>
          <p:nvPr/>
        </p:nvGrpSpPr>
        <p:grpSpPr>
          <a:xfrm>
            <a:off x="5957185" y="2686644"/>
            <a:ext cx="216000" cy="615456"/>
            <a:chOff x="1492199" y="2642094"/>
            <a:chExt cx="216000" cy="615456"/>
          </a:xfrm>
        </p:grpSpPr>
        <p:sp>
          <p:nvSpPr>
            <p:cNvPr id="37" name="Oval 36">
              <a:extLst>
                <a:ext uri="{FF2B5EF4-FFF2-40B4-BE49-F238E27FC236}">
                  <a16:creationId xmlns:a16="http://schemas.microsoft.com/office/drawing/2014/main" id="{E65330A9-F69F-F54F-A9BC-3412F60AADAA}"/>
                </a:ext>
              </a:extLst>
            </p:cNvPr>
            <p:cNvSpPr/>
            <p:nvPr/>
          </p:nvSpPr>
          <p:spPr>
            <a:xfrm>
              <a:off x="1492199" y="2642094"/>
              <a:ext cx="216000" cy="216000"/>
            </a:xfrm>
            <a:prstGeom prst="ellipse">
              <a:avLst/>
            </a:prstGeom>
            <a:noFill/>
            <a:ln w="889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BF84B9CD-804E-AA40-861B-71720A8B9C84}"/>
                </a:ext>
              </a:extLst>
            </p:cNvPr>
            <p:cNvCxnSpPr>
              <a:cxnSpLocks/>
            </p:cNvCxnSpPr>
            <p:nvPr/>
          </p:nvCxnSpPr>
          <p:spPr>
            <a:xfrm>
              <a:off x="1600199" y="2813544"/>
              <a:ext cx="1" cy="44400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E0189AF5-0DB5-F644-8BA2-C60840336EC0}"/>
              </a:ext>
            </a:extLst>
          </p:cNvPr>
          <p:cNvGrpSpPr/>
          <p:nvPr/>
        </p:nvGrpSpPr>
        <p:grpSpPr>
          <a:xfrm>
            <a:off x="8192481" y="2686644"/>
            <a:ext cx="216000" cy="615456"/>
            <a:chOff x="1492199" y="2642094"/>
            <a:chExt cx="216000" cy="615456"/>
          </a:xfrm>
        </p:grpSpPr>
        <p:sp>
          <p:nvSpPr>
            <p:cNvPr id="40" name="Oval 39">
              <a:extLst>
                <a:ext uri="{FF2B5EF4-FFF2-40B4-BE49-F238E27FC236}">
                  <a16:creationId xmlns:a16="http://schemas.microsoft.com/office/drawing/2014/main" id="{291342DD-0C5D-4945-A1EF-982EE0DEFFCC}"/>
                </a:ext>
              </a:extLst>
            </p:cNvPr>
            <p:cNvSpPr/>
            <p:nvPr/>
          </p:nvSpPr>
          <p:spPr>
            <a:xfrm>
              <a:off x="1492199" y="2642094"/>
              <a:ext cx="216000" cy="216000"/>
            </a:xfrm>
            <a:prstGeom prst="ellipse">
              <a:avLst/>
            </a:prstGeom>
            <a:noFill/>
            <a:ln w="889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D1AD34C-727B-7549-BC2A-D8183563FD49}"/>
                </a:ext>
              </a:extLst>
            </p:cNvPr>
            <p:cNvCxnSpPr>
              <a:cxnSpLocks/>
            </p:cNvCxnSpPr>
            <p:nvPr/>
          </p:nvCxnSpPr>
          <p:spPr>
            <a:xfrm>
              <a:off x="1600199" y="2813544"/>
              <a:ext cx="1" cy="44400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3733F75A-1A95-024F-B103-73695E50E001}"/>
              </a:ext>
            </a:extLst>
          </p:cNvPr>
          <p:cNvGrpSpPr/>
          <p:nvPr/>
        </p:nvGrpSpPr>
        <p:grpSpPr>
          <a:xfrm>
            <a:off x="10524713" y="2642094"/>
            <a:ext cx="216000" cy="615456"/>
            <a:chOff x="1492199" y="2642094"/>
            <a:chExt cx="216000" cy="615456"/>
          </a:xfrm>
        </p:grpSpPr>
        <p:sp>
          <p:nvSpPr>
            <p:cNvPr id="28" name="Oval 27">
              <a:extLst>
                <a:ext uri="{FF2B5EF4-FFF2-40B4-BE49-F238E27FC236}">
                  <a16:creationId xmlns:a16="http://schemas.microsoft.com/office/drawing/2014/main" id="{95DAF59D-A740-5D42-8D13-E6E587EA6DF2}"/>
                </a:ext>
              </a:extLst>
            </p:cNvPr>
            <p:cNvSpPr/>
            <p:nvPr/>
          </p:nvSpPr>
          <p:spPr>
            <a:xfrm>
              <a:off x="1492199" y="2642094"/>
              <a:ext cx="216000" cy="216000"/>
            </a:xfrm>
            <a:prstGeom prst="ellipse">
              <a:avLst/>
            </a:prstGeom>
            <a:noFill/>
            <a:ln w="889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99E75F48-EE1B-2147-8B01-3EED611A6EAA}"/>
                </a:ext>
              </a:extLst>
            </p:cNvPr>
            <p:cNvCxnSpPr>
              <a:cxnSpLocks/>
            </p:cNvCxnSpPr>
            <p:nvPr/>
          </p:nvCxnSpPr>
          <p:spPr>
            <a:xfrm>
              <a:off x="1600199" y="2813544"/>
              <a:ext cx="1" cy="44400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2BDF7154-F5CD-4A49-9FE0-B22FCA325ED7}"/>
              </a:ext>
            </a:extLst>
          </p:cNvPr>
          <p:cNvGrpSpPr/>
          <p:nvPr/>
        </p:nvGrpSpPr>
        <p:grpSpPr>
          <a:xfrm>
            <a:off x="3657359" y="2664369"/>
            <a:ext cx="216000" cy="615456"/>
            <a:chOff x="1492199" y="2642094"/>
            <a:chExt cx="216000" cy="615456"/>
          </a:xfrm>
        </p:grpSpPr>
        <p:sp>
          <p:nvSpPr>
            <p:cNvPr id="34" name="Oval 33">
              <a:extLst>
                <a:ext uri="{FF2B5EF4-FFF2-40B4-BE49-F238E27FC236}">
                  <a16:creationId xmlns:a16="http://schemas.microsoft.com/office/drawing/2014/main" id="{0F6892BB-069C-6746-9A3F-F88A9C7BA0D7}"/>
                </a:ext>
              </a:extLst>
            </p:cNvPr>
            <p:cNvSpPr/>
            <p:nvPr/>
          </p:nvSpPr>
          <p:spPr>
            <a:xfrm>
              <a:off x="1492199" y="2642094"/>
              <a:ext cx="216000" cy="216000"/>
            </a:xfrm>
            <a:prstGeom prst="ellipse">
              <a:avLst/>
            </a:prstGeom>
            <a:noFill/>
            <a:ln w="889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0CFB0547-0EB4-8A4B-A74C-3D7E013ADBD3}"/>
                </a:ext>
              </a:extLst>
            </p:cNvPr>
            <p:cNvCxnSpPr>
              <a:cxnSpLocks/>
            </p:cNvCxnSpPr>
            <p:nvPr/>
          </p:nvCxnSpPr>
          <p:spPr>
            <a:xfrm>
              <a:off x="1600199" y="2813544"/>
              <a:ext cx="1" cy="444006"/>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1FF3CE66-79CE-DB4A-95BD-D8DB5783ABD6}"/>
              </a:ext>
            </a:extLst>
          </p:cNvPr>
          <p:cNvSpPr>
            <a:spLocks noGrp="1"/>
          </p:cNvSpPr>
          <p:nvPr>
            <p:ph type="sldNum" sz="quarter" idx="12"/>
          </p:nvPr>
        </p:nvSpPr>
        <p:spPr/>
        <p:txBody>
          <a:bodyPr/>
          <a:lstStyle/>
          <a:p>
            <a:fld id="{591A223C-FA10-BC46-A853-03BA373D023C}" type="slidenum">
              <a:rPr lang="en-US" smtClean="0"/>
              <a:t>25</a:t>
            </a:fld>
            <a:endParaRPr lang="en-US"/>
          </a:p>
        </p:txBody>
      </p:sp>
      <p:sp>
        <p:nvSpPr>
          <p:cNvPr id="10" name="Rectangle 9">
            <a:extLst>
              <a:ext uri="{FF2B5EF4-FFF2-40B4-BE49-F238E27FC236}">
                <a16:creationId xmlns:a16="http://schemas.microsoft.com/office/drawing/2014/main" id="{05F299F4-D7A9-5140-894F-79E44A565AB0}"/>
              </a:ext>
            </a:extLst>
          </p:cNvPr>
          <p:cNvSpPr/>
          <p:nvPr/>
        </p:nvSpPr>
        <p:spPr>
          <a:xfrm>
            <a:off x="552680" y="3279825"/>
            <a:ext cx="1800000" cy="2880000"/>
          </a:xfrm>
          <a:prstGeom prst="rect">
            <a:avLst/>
          </a:prstGeom>
          <a:solidFill>
            <a:schemeClr val="accent5">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The model runs on a quantum computer, but the optimization is classical.</a:t>
            </a:r>
            <a:endParaRPr lang="en-US" dirty="0">
              <a:solidFill>
                <a:schemeClr val="tx1"/>
              </a:solidFill>
            </a:endParaRPr>
          </a:p>
        </p:txBody>
      </p:sp>
      <p:sp>
        <p:nvSpPr>
          <p:cNvPr id="11" name="Rectangle 10">
            <a:extLst>
              <a:ext uri="{FF2B5EF4-FFF2-40B4-BE49-F238E27FC236}">
                <a16:creationId xmlns:a16="http://schemas.microsoft.com/office/drawing/2014/main" id="{6E41AA0A-EF1B-A644-B625-01E2C9C2EC84}"/>
              </a:ext>
            </a:extLst>
          </p:cNvPr>
          <p:cNvSpPr/>
          <p:nvPr/>
        </p:nvSpPr>
        <p:spPr>
          <a:xfrm>
            <a:off x="2854306" y="3257550"/>
            <a:ext cx="1800000" cy="2880000"/>
          </a:xfrm>
          <a:prstGeom prst="rect">
            <a:avLst/>
          </a:prstGeom>
          <a:solidFill>
            <a:schemeClr val="accent6">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All stages, from  data encoding, processing, and optimization  take place within quantum systems.</a:t>
            </a:r>
            <a:endParaRPr lang="en-US" dirty="0">
              <a:solidFill>
                <a:schemeClr val="tx1"/>
              </a:solidFill>
            </a:endParaRPr>
          </a:p>
        </p:txBody>
      </p:sp>
      <p:sp>
        <p:nvSpPr>
          <p:cNvPr id="12" name="Rectangle 11">
            <a:extLst>
              <a:ext uri="{FF2B5EF4-FFF2-40B4-BE49-F238E27FC236}">
                <a16:creationId xmlns:a16="http://schemas.microsoft.com/office/drawing/2014/main" id="{B472CC60-9FA0-F843-B65D-335ADF0ACBA4}"/>
              </a:ext>
            </a:extLst>
          </p:cNvPr>
          <p:cNvSpPr/>
          <p:nvPr/>
        </p:nvSpPr>
        <p:spPr>
          <a:xfrm>
            <a:off x="5155932" y="3257550"/>
            <a:ext cx="1800000" cy="2880000"/>
          </a:xfrm>
          <a:prstGeom prst="rect">
            <a:avLst/>
          </a:prstGeom>
          <a:solidFill>
            <a:schemeClr val="accent2">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Treats cognition as a quantum process, opening new ways to model reasoning.</a:t>
            </a:r>
            <a:endParaRPr lang="en-US" dirty="0">
              <a:solidFill>
                <a:schemeClr val="tx1"/>
              </a:solidFill>
            </a:endParaRPr>
          </a:p>
        </p:txBody>
      </p:sp>
      <p:sp>
        <p:nvSpPr>
          <p:cNvPr id="13" name="Rectangle 12">
            <a:extLst>
              <a:ext uri="{FF2B5EF4-FFF2-40B4-BE49-F238E27FC236}">
                <a16:creationId xmlns:a16="http://schemas.microsoft.com/office/drawing/2014/main" id="{7CEAE794-697C-6048-AEBA-C1F6A309DCE9}"/>
              </a:ext>
            </a:extLst>
          </p:cNvPr>
          <p:cNvSpPr/>
          <p:nvPr/>
        </p:nvSpPr>
        <p:spPr>
          <a:xfrm>
            <a:off x="7457558" y="3257550"/>
            <a:ext cx="1800000" cy="2880000"/>
          </a:xfrm>
          <a:prstGeom prst="rect">
            <a:avLst/>
          </a:prstGeom>
          <a:solidFill>
            <a:schemeClr val="tx2">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A theoretical horizon where learning, cognition, and possibly awareness arise from quantum processes.</a:t>
            </a:r>
            <a:endParaRPr lang="en-US" dirty="0">
              <a:solidFill>
                <a:schemeClr val="tx1"/>
              </a:solidFill>
            </a:endParaRPr>
          </a:p>
        </p:txBody>
      </p:sp>
      <p:sp>
        <p:nvSpPr>
          <p:cNvPr id="46" name="Pentagon 45">
            <a:extLst>
              <a:ext uri="{FF2B5EF4-FFF2-40B4-BE49-F238E27FC236}">
                <a16:creationId xmlns:a16="http://schemas.microsoft.com/office/drawing/2014/main" id="{F165BBBE-3803-A844-AF4D-33C58C0320A0}"/>
              </a:ext>
            </a:extLst>
          </p:cNvPr>
          <p:cNvSpPr/>
          <p:nvPr/>
        </p:nvSpPr>
        <p:spPr>
          <a:xfrm>
            <a:off x="3245758" y="1096151"/>
            <a:ext cx="1097280" cy="399456"/>
          </a:xfrm>
          <a:prstGeom prst="homePlat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2027</a:t>
            </a:r>
          </a:p>
        </p:txBody>
      </p:sp>
      <p:sp>
        <p:nvSpPr>
          <p:cNvPr id="26" name="Rectangle 25">
            <a:extLst>
              <a:ext uri="{FF2B5EF4-FFF2-40B4-BE49-F238E27FC236}">
                <a16:creationId xmlns:a16="http://schemas.microsoft.com/office/drawing/2014/main" id="{71880FD9-D149-9443-8B71-42C90C3A1ED9}"/>
              </a:ext>
            </a:extLst>
          </p:cNvPr>
          <p:cNvSpPr/>
          <p:nvPr/>
        </p:nvSpPr>
        <p:spPr>
          <a:xfrm>
            <a:off x="9745736" y="3257550"/>
            <a:ext cx="1800000" cy="2880000"/>
          </a:xfrm>
          <a:prstGeom prst="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tx1"/>
                </a:solidFill>
              </a:rPr>
              <a:t>Quantum-powered superintelligence that goes far beyond human abilities.</a:t>
            </a:r>
            <a:endParaRPr lang="en-US" dirty="0">
              <a:solidFill>
                <a:schemeClr val="tx1"/>
              </a:solidFill>
            </a:endParaRPr>
          </a:p>
        </p:txBody>
      </p:sp>
      <p:sp>
        <p:nvSpPr>
          <p:cNvPr id="30" name="Pentagon 29">
            <a:extLst>
              <a:ext uri="{FF2B5EF4-FFF2-40B4-BE49-F238E27FC236}">
                <a16:creationId xmlns:a16="http://schemas.microsoft.com/office/drawing/2014/main" id="{B58EEC5C-A396-B344-A6E2-419C3C035733}"/>
              </a:ext>
            </a:extLst>
          </p:cNvPr>
          <p:cNvSpPr/>
          <p:nvPr/>
        </p:nvSpPr>
        <p:spPr>
          <a:xfrm>
            <a:off x="5507292" y="1096151"/>
            <a:ext cx="1097280" cy="399456"/>
          </a:xfrm>
          <a:prstGeom prst="homePlat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2030</a:t>
            </a:r>
          </a:p>
        </p:txBody>
      </p:sp>
      <p:sp>
        <p:nvSpPr>
          <p:cNvPr id="31" name="Pentagon 30">
            <a:extLst>
              <a:ext uri="{FF2B5EF4-FFF2-40B4-BE49-F238E27FC236}">
                <a16:creationId xmlns:a16="http://schemas.microsoft.com/office/drawing/2014/main" id="{21407985-D046-AB4C-9160-28631AAC8C37}"/>
              </a:ext>
            </a:extLst>
          </p:cNvPr>
          <p:cNvSpPr/>
          <p:nvPr/>
        </p:nvSpPr>
        <p:spPr>
          <a:xfrm>
            <a:off x="7751730" y="1096151"/>
            <a:ext cx="1097280" cy="399456"/>
          </a:xfrm>
          <a:prstGeom prst="homePlat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2040</a:t>
            </a:r>
          </a:p>
        </p:txBody>
      </p:sp>
      <p:sp>
        <p:nvSpPr>
          <p:cNvPr id="32" name="Pentagon 31">
            <a:extLst>
              <a:ext uri="{FF2B5EF4-FFF2-40B4-BE49-F238E27FC236}">
                <a16:creationId xmlns:a16="http://schemas.microsoft.com/office/drawing/2014/main" id="{29850F24-8029-894C-B4FE-DC05674E8468}"/>
              </a:ext>
            </a:extLst>
          </p:cNvPr>
          <p:cNvSpPr/>
          <p:nvPr/>
        </p:nvSpPr>
        <p:spPr>
          <a:xfrm>
            <a:off x="10097096" y="1096151"/>
            <a:ext cx="1097280" cy="399456"/>
          </a:xfrm>
          <a:prstGeom prst="homePlat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2050</a:t>
            </a:r>
          </a:p>
        </p:txBody>
      </p:sp>
      <p:sp>
        <p:nvSpPr>
          <p:cNvPr id="45" name="Pentagon 44">
            <a:extLst>
              <a:ext uri="{FF2B5EF4-FFF2-40B4-BE49-F238E27FC236}">
                <a16:creationId xmlns:a16="http://schemas.microsoft.com/office/drawing/2014/main" id="{D3E57DC2-3C22-9D42-A0F5-CCB32DEE023E}"/>
              </a:ext>
            </a:extLst>
          </p:cNvPr>
          <p:cNvSpPr/>
          <p:nvPr/>
        </p:nvSpPr>
        <p:spPr>
          <a:xfrm>
            <a:off x="915862" y="1096151"/>
            <a:ext cx="1097280" cy="399456"/>
          </a:xfrm>
          <a:prstGeom prst="homePlat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2026</a:t>
            </a:r>
          </a:p>
        </p:txBody>
      </p:sp>
    </p:spTree>
    <p:extLst>
      <p:ext uri="{BB962C8B-B14F-4D97-AF65-F5344CB8AC3E}">
        <p14:creationId xmlns:p14="http://schemas.microsoft.com/office/powerpoint/2010/main" val="2727779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95AD8F-DB84-C14C-82E0-907EAB897785}"/>
              </a:ext>
            </a:extLst>
          </p:cNvPr>
          <p:cNvSpPr>
            <a:spLocks noGrp="1"/>
          </p:cNvSpPr>
          <p:nvPr>
            <p:ph type="sldNum" sz="quarter" idx="12"/>
          </p:nvPr>
        </p:nvSpPr>
        <p:spPr/>
        <p:txBody>
          <a:bodyPr/>
          <a:lstStyle/>
          <a:p>
            <a:fld id="{F9755F1A-B9A0-4847-95B6-A26175A266D6}" type="slidenum">
              <a:rPr lang="en-US" smtClean="0"/>
              <a:t>26</a:t>
            </a:fld>
            <a:endParaRPr lang="en-US"/>
          </a:p>
        </p:txBody>
      </p:sp>
      <p:sp>
        <p:nvSpPr>
          <p:cNvPr id="3" name="Title 2">
            <a:extLst>
              <a:ext uri="{FF2B5EF4-FFF2-40B4-BE49-F238E27FC236}">
                <a16:creationId xmlns:a16="http://schemas.microsoft.com/office/drawing/2014/main" id="{BF94F768-CCB0-1845-A93C-D808E99BDCAE}"/>
              </a:ext>
            </a:extLst>
          </p:cNvPr>
          <p:cNvSpPr>
            <a:spLocks noGrp="1"/>
          </p:cNvSpPr>
          <p:nvPr>
            <p:ph type="title"/>
          </p:nvPr>
        </p:nvSpPr>
        <p:spPr/>
        <p:txBody>
          <a:bodyPr/>
          <a:lstStyle/>
          <a:p>
            <a:r>
              <a:rPr lang="en-ZA" dirty="0"/>
              <a:t>Gödel and the Question of AGI</a:t>
            </a:r>
            <a:endParaRPr lang="en-US" dirty="0"/>
          </a:p>
        </p:txBody>
      </p:sp>
      <p:sp>
        <p:nvSpPr>
          <p:cNvPr id="6" name="TextBox 5">
            <a:extLst>
              <a:ext uri="{FF2B5EF4-FFF2-40B4-BE49-F238E27FC236}">
                <a16:creationId xmlns:a16="http://schemas.microsoft.com/office/drawing/2014/main" id="{F08FA818-BE03-4C4B-A038-DA2FAF9DA592}"/>
              </a:ext>
            </a:extLst>
          </p:cNvPr>
          <p:cNvSpPr txBox="1"/>
          <p:nvPr/>
        </p:nvSpPr>
        <p:spPr>
          <a:xfrm>
            <a:off x="8958061" y="5489499"/>
            <a:ext cx="2553007" cy="369332"/>
          </a:xfrm>
          <a:prstGeom prst="rect">
            <a:avLst/>
          </a:prstGeom>
          <a:noFill/>
        </p:spPr>
        <p:txBody>
          <a:bodyPr wrap="none" rtlCol="0">
            <a:spAutoFit/>
          </a:bodyPr>
          <a:lstStyle/>
          <a:p>
            <a:r>
              <a:rPr lang="en-ZA" dirty="0"/>
              <a:t>Kurt Gödel (1906—1978)</a:t>
            </a:r>
            <a:endParaRPr lang="en-US" dirty="0"/>
          </a:p>
        </p:txBody>
      </p:sp>
      <p:sp>
        <p:nvSpPr>
          <p:cNvPr id="7" name="TextBox 6">
            <a:extLst>
              <a:ext uri="{FF2B5EF4-FFF2-40B4-BE49-F238E27FC236}">
                <a16:creationId xmlns:a16="http://schemas.microsoft.com/office/drawing/2014/main" id="{134254D8-E2AE-074F-96AD-83358C03A080}"/>
              </a:ext>
            </a:extLst>
          </p:cNvPr>
          <p:cNvSpPr txBox="1"/>
          <p:nvPr/>
        </p:nvSpPr>
        <p:spPr>
          <a:xfrm>
            <a:off x="185153" y="1691925"/>
            <a:ext cx="8679419" cy="2123658"/>
          </a:xfrm>
          <a:prstGeom prst="rect">
            <a:avLst/>
          </a:prstGeom>
          <a:noFill/>
        </p:spPr>
        <p:txBody>
          <a:bodyPr wrap="square" rtlCol="0">
            <a:spAutoFit/>
          </a:bodyPr>
          <a:lstStyle/>
          <a:p>
            <a:pPr marL="457200" indent="-457200">
              <a:buFont typeface="+mj-lt"/>
              <a:buAutoNum type="arabicPeriod"/>
            </a:pPr>
            <a:r>
              <a:rPr lang="en-ZA" sz="2200" dirty="0"/>
              <a:t>In any consistent formal system that is sufficiently expressive to include basic arithmetic, there exist true statements about natural numbers that cannot be proven within the system itself.</a:t>
            </a:r>
          </a:p>
          <a:p>
            <a:pPr marL="342900" indent="-342900">
              <a:buFont typeface="+mj-lt"/>
              <a:buAutoNum type="arabicPeriod"/>
            </a:pPr>
            <a:endParaRPr lang="en-ZA" sz="2200" i="1" dirty="0"/>
          </a:p>
          <a:p>
            <a:pPr marL="342900" indent="-342900">
              <a:buFont typeface="+mj-lt"/>
              <a:buAutoNum type="arabicPeriod"/>
            </a:pPr>
            <a:r>
              <a:rPr lang="en-ZA" sz="2200" dirty="0"/>
              <a:t>No consistent formal system that is sufficiently expressive to include basic arithmetic can prove its own consistency.</a:t>
            </a:r>
            <a:endParaRPr lang="en-ZA" sz="2200" i="1" dirty="0"/>
          </a:p>
        </p:txBody>
      </p:sp>
      <p:pic>
        <p:nvPicPr>
          <p:cNvPr id="10" name="Picture 9">
            <a:extLst>
              <a:ext uri="{FF2B5EF4-FFF2-40B4-BE49-F238E27FC236}">
                <a16:creationId xmlns:a16="http://schemas.microsoft.com/office/drawing/2014/main" id="{B5AE50B4-F31E-0E49-B296-C9F4AE3DA786}"/>
              </a:ext>
            </a:extLst>
          </p:cNvPr>
          <p:cNvPicPr>
            <a:picLocks noChangeAspect="1"/>
          </p:cNvPicPr>
          <p:nvPr/>
        </p:nvPicPr>
        <p:blipFill>
          <a:blip r:embed="rId3"/>
          <a:stretch>
            <a:fillRect/>
          </a:stretch>
        </p:blipFill>
        <p:spPr>
          <a:xfrm>
            <a:off x="8634085" y="561406"/>
            <a:ext cx="3200964" cy="3938686"/>
          </a:xfrm>
          <a:prstGeom prst="rect">
            <a:avLst/>
          </a:prstGeom>
        </p:spPr>
      </p:pic>
      <p:sp>
        <p:nvSpPr>
          <p:cNvPr id="5" name="TextBox 4">
            <a:extLst>
              <a:ext uri="{FF2B5EF4-FFF2-40B4-BE49-F238E27FC236}">
                <a16:creationId xmlns:a16="http://schemas.microsoft.com/office/drawing/2014/main" id="{252AF949-D32F-8146-9C1B-3AC45118C894}"/>
              </a:ext>
            </a:extLst>
          </p:cNvPr>
          <p:cNvSpPr txBox="1"/>
          <p:nvPr/>
        </p:nvSpPr>
        <p:spPr>
          <a:xfrm>
            <a:off x="8628391" y="4500092"/>
            <a:ext cx="3426156" cy="923330"/>
          </a:xfrm>
          <a:prstGeom prst="rect">
            <a:avLst/>
          </a:prstGeom>
          <a:noFill/>
        </p:spPr>
        <p:txBody>
          <a:bodyPr wrap="square" rtlCol="0">
            <a:spAutoFit/>
          </a:bodyPr>
          <a:lstStyle/>
          <a:p>
            <a:pPr algn="just"/>
            <a:r>
              <a:rPr lang="en-US" dirty="0"/>
              <a:t>“Either mathematics is too big for the human mind or the human mind is more than a machine.</a:t>
            </a:r>
          </a:p>
        </p:txBody>
      </p:sp>
      <p:sp>
        <p:nvSpPr>
          <p:cNvPr id="4" name="TextBox 3">
            <a:extLst>
              <a:ext uri="{FF2B5EF4-FFF2-40B4-BE49-F238E27FC236}">
                <a16:creationId xmlns:a16="http://schemas.microsoft.com/office/drawing/2014/main" id="{7B7ADD20-8D98-5D45-A91A-56B422A333EB}"/>
              </a:ext>
            </a:extLst>
          </p:cNvPr>
          <p:cNvSpPr txBox="1"/>
          <p:nvPr/>
        </p:nvSpPr>
        <p:spPr>
          <a:xfrm>
            <a:off x="226182" y="1052489"/>
            <a:ext cx="5465342" cy="461665"/>
          </a:xfrm>
          <a:prstGeom prst="rect">
            <a:avLst/>
          </a:prstGeom>
          <a:noFill/>
        </p:spPr>
        <p:txBody>
          <a:bodyPr wrap="none" rtlCol="0">
            <a:spAutoFit/>
          </a:bodyPr>
          <a:lstStyle/>
          <a:p>
            <a:r>
              <a:rPr lang="en-ZA" sz="2400" b="1" dirty="0"/>
              <a:t>Gödel's incompleteness theorems (1931)</a:t>
            </a:r>
          </a:p>
        </p:txBody>
      </p:sp>
      <p:sp>
        <p:nvSpPr>
          <p:cNvPr id="8" name="TextBox 7">
            <a:extLst>
              <a:ext uri="{FF2B5EF4-FFF2-40B4-BE49-F238E27FC236}">
                <a16:creationId xmlns:a16="http://schemas.microsoft.com/office/drawing/2014/main" id="{B373D86E-0FC9-2546-A73A-6A91236AA738}"/>
              </a:ext>
            </a:extLst>
          </p:cNvPr>
          <p:cNvSpPr txBox="1"/>
          <p:nvPr/>
        </p:nvSpPr>
        <p:spPr>
          <a:xfrm>
            <a:off x="226182" y="1640615"/>
            <a:ext cx="8409709" cy="2431435"/>
          </a:xfrm>
          <a:prstGeom prst="rect">
            <a:avLst/>
          </a:prstGeom>
          <a:solidFill>
            <a:srgbClr val="E5F3E6"/>
          </a:solidFill>
        </p:spPr>
        <p:txBody>
          <a:bodyPr wrap="square" rtlCol="0">
            <a:spAutoFit/>
          </a:bodyPr>
          <a:lstStyle/>
          <a:p>
            <a:pPr marL="342900" indent="-342900">
              <a:buFont typeface="+mj-lt"/>
              <a:buAutoNum type="arabicPeriod"/>
            </a:pPr>
            <a:r>
              <a:rPr lang="en-ZA" sz="2200" dirty="0"/>
              <a:t>Any formal system capable of basic arithmetic contains true statements it cannot prove.</a:t>
            </a:r>
            <a:br>
              <a:rPr lang="en-ZA" sz="2200" dirty="0"/>
            </a:br>
            <a:br>
              <a:rPr lang="en-ZA" sz="1000" dirty="0"/>
            </a:br>
            <a:r>
              <a:rPr lang="en-ZA" sz="2200" dirty="0"/>
              <a:t>	Example: </a:t>
            </a:r>
            <a:r>
              <a:rPr lang="en-ZA" sz="2200" i="1" dirty="0"/>
              <a:t>This statement is false</a:t>
            </a:r>
            <a:r>
              <a:rPr lang="sr-Latn-RS" sz="2200" b="1" dirty="0"/>
              <a:t>.</a:t>
            </a:r>
          </a:p>
          <a:p>
            <a:pPr marL="342900" indent="-342900">
              <a:buFont typeface="+mj-lt"/>
              <a:buAutoNum type="arabicPeriod"/>
            </a:pPr>
            <a:endParaRPr lang="en-ZA" sz="2200" dirty="0"/>
          </a:p>
          <a:p>
            <a:pPr marL="457200" indent="-457200">
              <a:buFont typeface="+mj-lt"/>
              <a:buAutoNum type="arabicPeriod"/>
            </a:pPr>
            <a:r>
              <a:rPr lang="en-ZA" sz="2200" dirty="0"/>
              <a:t>No such system can prove its own consistency.</a:t>
            </a:r>
            <a:br>
              <a:rPr lang="en-ZA" sz="2200" dirty="0"/>
            </a:br>
            <a:r>
              <a:rPr lang="en-ZA" sz="1000" dirty="0"/>
              <a:t>	</a:t>
            </a:r>
            <a:br>
              <a:rPr lang="en-ZA" sz="2200" dirty="0"/>
            </a:br>
            <a:r>
              <a:rPr lang="en-ZA" sz="2200" dirty="0"/>
              <a:t>Example: A map can’t verify its own accuracy.</a:t>
            </a:r>
          </a:p>
        </p:txBody>
      </p:sp>
      <p:grpSp>
        <p:nvGrpSpPr>
          <p:cNvPr id="19" name="Group 18">
            <a:extLst>
              <a:ext uri="{FF2B5EF4-FFF2-40B4-BE49-F238E27FC236}">
                <a16:creationId xmlns:a16="http://schemas.microsoft.com/office/drawing/2014/main" id="{F749E5EB-3C7D-4E4F-B537-05C0F7F364FC}"/>
              </a:ext>
            </a:extLst>
          </p:cNvPr>
          <p:cNvGrpSpPr/>
          <p:nvPr/>
        </p:nvGrpSpPr>
        <p:grpSpPr>
          <a:xfrm>
            <a:off x="597199" y="5480308"/>
            <a:ext cx="7188431" cy="1122198"/>
            <a:chOff x="597199" y="5480308"/>
            <a:chExt cx="7188431" cy="1122198"/>
          </a:xfrm>
        </p:grpSpPr>
        <p:sp>
          <p:nvSpPr>
            <p:cNvPr id="15" name="Rounded Rectangle 14">
              <a:extLst>
                <a:ext uri="{FF2B5EF4-FFF2-40B4-BE49-F238E27FC236}">
                  <a16:creationId xmlns:a16="http://schemas.microsoft.com/office/drawing/2014/main" id="{C341D604-5817-1346-B668-C9588B1B64D2}"/>
                </a:ext>
              </a:extLst>
            </p:cNvPr>
            <p:cNvSpPr/>
            <p:nvPr/>
          </p:nvSpPr>
          <p:spPr>
            <a:xfrm>
              <a:off x="597199" y="5480308"/>
              <a:ext cx="7176654" cy="1122198"/>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B20824C-582B-1247-80B8-453E3E7DAB11}"/>
                </a:ext>
              </a:extLst>
            </p:cNvPr>
            <p:cNvSpPr txBox="1"/>
            <p:nvPr/>
          </p:nvSpPr>
          <p:spPr>
            <a:xfrm>
              <a:off x="597199" y="5686192"/>
              <a:ext cx="7188431" cy="769441"/>
            </a:xfrm>
            <a:prstGeom prst="rect">
              <a:avLst/>
            </a:prstGeom>
            <a:noFill/>
          </p:spPr>
          <p:txBody>
            <a:bodyPr wrap="square" rtlCol="0">
              <a:spAutoFit/>
            </a:bodyPr>
            <a:lstStyle/>
            <a:p>
              <a:pPr algn="ctr"/>
              <a:r>
                <a:rPr lang="en-ZA" sz="2200" dirty="0"/>
                <a:t>For true AGI, we may need inputs that lie outside classical logic — possibly using quantum processes.</a:t>
              </a:r>
              <a:endParaRPr lang="en-US" sz="2200" dirty="0"/>
            </a:p>
          </p:txBody>
        </p:sp>
      </p:grpSp>
      <p:grpSp>
        <p:nvGrpSpPr>
          <p:cNvPr id="18" name="Group 17">
            <a:extLst>
              <a:ext uri="{FF2B5EF4-FFF2-40B4-BE49-F238E27FC236}">
                <a16:creationId xmlns:a16="http://schemas.microsoft.com/office/drawing/2014/main" id="{C847B30A-34F9-E743-B5C2-F7AD99CACD03}"/>
              </a:ext>
            </a:extLst>
          </p:cNvPr>
          <p:cNvGrpSpPr/>
          <p:nvPr/>
        </p:nvGrpSpPr>
        <p:grpSpPr>
          <a:xfrm>
            <a:off x="597199" y="4083948"/>
            <a:ext cx="7188431" cy="1262529"/>
            <a:chOff x="597199" y="4083948"/>
            <a:chExt cx="7188431" cy="1262529"/>
          </a:xfrm>
        </p:grpSpPr>
        <p:sp>
          <p:nvSpPr>
            <p:cNvPr id="13" name="Rounded Rectangle 12">
              <a:extLst>
                <a:ext uri="{FF2B5EF4-FFF2-40B4-BE49-F238E27FC236}">
                  <a16:creationId xmlns:a16="http://schemas.microsoft.com/office/drawing/2014/main" id="{AB59F20D-6FFC-7B4C-AF72-9B50E5831384}"/>
                </a:ext>
              </a:extLst>
            </p:cNvPr>
            <p:cNvSpPr/>
            <p:nvPr/>
          </p:nvSpPr>
          <p:spPr>
            <a:xfrm>
              <a:off x="608976" y="4500092"/>
              <a:ext cx="7176654" cy="846385"/>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A173EA01-CBD0-B645-9119-098AE0849F11}"/>
                </a:ext>
              </a:extLst>
            </p:cNvPr>
            <p:cNvSpPr/>
            <p:nvPr/>
          </p:nvSpPr>
          <p:spPr>
            <a:xfrm>
              <a:off x="3659053" y="4083948"/>
              <a:ext cx="1052945" cy="416144"/>
            </a:xfrm>
            <a:prstGeom prst="down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DC8429B-6590-A943-87B5-02E91690E740}"/>
                </a:ext>
              </a:extLst>
            </p:cNvPr>
            <p:cNvSpPr txBox="1"/>
            <p:nvPr/>
          </p:nvSpPr>
          <p:spPr>
            <a:xfrm>
              <a:off x="597199" y="4577036"/>
              <a:ext cx="7188431" cy="769441"/>
            </a:xfrm>
            <a:prstGeom prst="rect">
              <a:avLst/>
            </a:prstGeom>
            <a:noFill/>
          </p:spPr>
          <p:txBody>
            <a:bodyPr wrap="square" rtlCol="0">
              <a:spAutoFit/>
            </a:bodyPr>
            <a:lstStyle/>
            <a:p>
              <a:pPr algn="ctr"/>
              <a:r>
                <a:rPr lang="en-US" sz="2200" dirty="0"/>
                <a:t>All formal systems, including programming languages and classical AI models, have </a:t>
              </a:r>
              <a:r>
                <a:rPr lang="en-ZA" sz="2200" dirty="0"/>
                <a:t>built-in</a:t>
              </a:r>
              <a:r>
                <a:rPr lang="en-US" sz="2200" dirty="0"/>
                <a:t> limits.</a:t>
              </a:r>
            </a:p>
          </p:txBody>
        </p:sp>
      </p:grpSp>
    </p:spTree>
    <p:extLst>
      <p:ext uri="{BB962C8B-B14F-4D97-AF65-F5344CB8AC3E}">
        <p14:creationId xmlns:p14="http://schemas.microsoft.com/office/powerpoint/2010/main" val="29145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dissolve">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dissolve">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D042A-91C9-5C4D-82F4-3A0DE834BD5F}"/>
              </a:ext>
            </a:extLst>
          </p:cNvPr>
          <p:cNvSpPr>
            <a:spLocks noGrp="1"/>
          </p:cNvSpPr>
          <p:nvPr>
            <p:ph type="title"/>
          </p:nvPr>
        </p:nvSpPr>
        <p:spPr/>
        <p:txBody>
          <a:bodyPr/>
          <a:lstStyle/>
          <a:p>
            <a:r>
              <a:rPr lang="en-ZA" dirty="0"/>
              <a:t>Penrose </a:t>
            </a:r>
            <a:r>
              <a:rPr lang="en-ZA" dirty="0" err="1"/>
              <a:t>Hameroff</a:t>
            </a:r>
            <a:r>
              <a:rPr lang="en-US" dirty="0"/>
              <a:t>: </a:t>
            </a:r>
            <a:r>
              <a:rPr lang="en-ZA" dirty="0"/>
              <a:t>Orchestrated Objective Reduction</a:t>
            </a:r>
            <a:r>
              <a:rPr lang="en-US" dirty="0"/>
              <a:t> (</a:t>
            </a:r>
            <a:r>
              <a:rPr lang="en-ZA" dirty="0" err="1"/>
              <a:t>Orch</a:t>
            </a:r>
            <a:r>
              <a:rPr lang="en-ZA" dirty="0"/>
              <a:t>-OR</a:t>
            </a:r>
            <a:r>
              <a:rPr lang="en-US" dirty="0"/>
              <a:t>)</a:t>
            </a:r>
          </a:p>
        </p:txBody>
      </p:sp>
      <p:sp>
        <p:nvSpPr>
          <p:cNvPr id="3" name="Slide Number Placeholder 2">
            <a:extLst>
              <a:ext uri="{FF2B5EF4-FFF2-40B4-BE49-F238E27FC236}">
                <a16:creationId xmlns:a16="http://schemas.microsoft.com/office/drawing/2014/main" id="{4A7C76DB-349B-B64A-925F-4C3C8E3CA348}"/>
              </a:ext>
            </a:extLst>
          </p:cNvPr>
          <p:cNvSpPr>
            <a:spLocks noGrp="1"/>
          </p:cNvSpPr>
          <p:nvPr>
            <p:ph type="sldNum" sz="quarter" idx="12"/>
          </p:nvPr>
        </p:nvSpPr>
        <p:spPr/>
        <p:txBody>
          <a:bodyPr/>
          <a:lstStyle/>
          <a:p>
            <a:fld id="{591A223C-FA10-BC46-A853-03BA373D023C}" type="slidenum">
              <a:rPr lang="en-US" smtClean="0"/>
              <a:t>27</a:t>
            </a:fld>
            <a:endParaRPr lang="en-US"/>
          </a:p>
        </p:txBody>
      </p:sp>
      <p:sp>
        <p:nvSpPr>
          <p:cNvPr id="4" name="TextBox 3">
            <a:extLst>
              <a:ext uri="{FF2B5EF4-FFF2-40B4-BE49-F238E27FC236}">
                <a16:creationId xmlns:a16="http://schemas.microsoft.com/office/drawing/2014/main" id="{9B63EEA1-491B-4E4F-BDCA-3C1E049E984E}"/>
              </a:ext>
            </a:extLst>
          </p:cNvPr>
          <p:cNvSpPr txBox="1"/>
          <p:nvPr/>
        </p:nvSpPr>
        <p:spPr>
          <a:xfrm>
            <a:off x="0" y="6481761"/>
            <a:ext cx="11735200" cy="338554"/>
          </a:xfrm>
          <a:prstGeom prst="rect">
            <a:avLst/>
          </a:prstGeom>
          <a:noFill/>
        </p:spPr>
        <p:txBody>
          <a:bodyPr wrap="none" rtlCol="0">
            <a:spAutoFit/>
          </a:bodyPr>
          <a:lstStyle/>
          <a:p>
            <a:r>
              <a:rPr lang="en-ZA" sz="1600" dirty="0"/>
              <a:t>Stuart R. </a:t>
            </a:r>
            <a:r>
              <a:rPr lang="en-ZA" sz="1600" dirty="0" err="1"/>
              <a:t>Hameroff</a:t>
            </a:r>
            <a:r>
              <a:rPr lang="en-ZA" sz="1600" dirty="0"/>
              <a:t>, Roger Penrose, Consciousness in the universe: A review of the ‘</a:t>
            </a:r>
            <a:r>
              <a:rPr lang="en-ZA" sz="1600" dirty="0" err="1"/>
              <a:t>Orch</a:t>
            </a:r>
            <a:r>
              <a:rPr lang="en-ZA" sz="1600" dirty="0"/>
              <a:t> OR’ theory, Physics of Life Reviews 11: 39-78, 2014</a:t>
            </a:r>
            <a:endParaRPr lang="en-US" sz="1600" dirty="0"/>
          </a:p>
        </p:txBody>
      </p:sp>
      <p:grpSp>
        <p:nvGrpSpPr>
          <p:cNvPr id="35" name="Group 34">
            <a:extLst>
              <a:ext uri="{FF2B5EF4-FFF2-40B4-BE49-F238E27FC236}">
                <a16:creationId xmlns:a16="http://schemas.microsoft.com/office/drawing/2014/main" id="{6D5921AF-B01B-314B-8100-CD5FF7A90918}"/>
              </a:ext>
            </a:extLst>
          </p:cNvPr>
          <p:cNvGrpSpPr/>
          <p:nvPr/>
        </p:nvGrpSpPr>
        <p:grpSpPr>
          <a:xfrm>
            <a:off x="266939" y="770024"/>
            <a:ext cx="1785425" cy="4849654"/>
            <a:chOff x="10136115" y="735175"/>
            <a:chExt cx="1785425" cy="4849654"/>
          </a:xfrm>
        </p:grpSpPr>
        <p:pic>
          <p:nvPicPr>
            <p:cNvPr id="10" name="Picture 9">
              <a:extLst>
                <a:ext uri="{FF2B5EF4-FFF2-40B4-BE49-F238E27FC236}">
                  <a16:creationId xmlns:a16="http://schemas.microsoft.com/office/drawing/2014/main" id="{D50781B1-800C-A64D-9CE1-AE4B46F0692D}"/>
                </a:ext>
              </a:extLst>
            </p:cNvPr>
            <p:cNvPicPr>
              <a:picLocks noChangeAspect="1"/>
            </p:cNvPicPr>
            <p:nvPr/>
          </p:nvPicPr>
          <p:blipFill>
            <a:blip r:embed="rId3"/>
            <a:stretch>
              <a:fillRect/>
            </a:stretch>
          </p:blipFill>
          <p:spPr>
            <a:xfrm>
              <a:off x="10319885" y="3187999"/>
              <a:ext cx="1485091" cy="2027498"/>
            </a:xfrm>
            <a:prstGeom prst="rect">
              <a:avLst/>
            </a:prstGeom>
          </p:spPr>
        </p:pic>
        <p:sp>
          <p:nvSpPr>
            <p:cNvPr id="5" name="TextBox 4">
              <a:extLst>
                <a:ext uri="{FF2B5EF4-FFF2-40B4-BE49-F238E27FC236}">
                  <a16:creationId xmlns:a16="http://schemas.microsoft.com/office/drawing/2014/main" id="{AB842F02-13FE-9D4F-99C6-3E6C3D736286}"/>
                </a:ext>
              </a:extLst>
            </p:cNvPr>
            <p:cNvSpPr txBox="1"/>
            <p:nvPr/>
          </p:nvSpPr>
          <p:spPr>
            <a:xfrm>
              <a:off x="10184502" y="2730178"/>
              <a:ext cx="1737038" cy="369332"/>
            </a:xfrm>
            <a:prstGeom prst="rect">
              <a:avLst/>
            </a:prstGeom>
            <a:noFill/>
          </p:spPr>
          <p:txBody>
            <a:bodyPr wrap="square" rtlCol="0">
              <a:spAutoFit/>
            </a:bodyPr>
            <a:lstStyle/>
            <a:p>
              <a:pPr algn="ctr"/>
              <a:r>
                <a:rPr lang="en-ZA" dirty="0">
                  <a:latin typeface="+mj-lt"/>
                </a:rPr>
                <a:t>Roger Penrose</a:t>
              </a:r>
            </a:p>
          </p:txBody>
        </p:sp>
        <p:pic>
          <p:nvPicPr>
            <p:cNvPr id="22" name="Picture 21">
              <a:extLst>
                <a:ext uri="{FF2B5EF4-FFF2-40B4-BE49-F238E27FC236}">
                  <a16:creationId xmlns:a16="http://schemas.microsoft.com/office/drawing/2014/main" id="{EEE95539-281E-5E4D-9B72-D6788C65424E}"/>
                </a:ext>
              </a:extLst>
            </p:cNvPr>
            <p:cNvPicPr>
              <a:picLocks noChangeAspect="1"/>
            </p:cNvPicPr>
            <p:nvPr/>
          </p:nvPicPr>
          <p:blipFill>
            <a:blip r:embed="rId4"/>
            <a:stretch>
              <a:fillRect/>
            </a:stretch>
          </p:blipFill>
          <p:spPr>
            <a:xfrm>
              <a:off x="10319885" y="735175"/>
              <a:ext cx="1461611" cy="2024432"/>
            </a:xfrm>
            <a:prstGeom prst="rect">
              <a:avLst/>
            </a:prstGeom>
          </p:spPr>
        </p:pic>
        <p:sp>
          <p:nvSpPr>
            <p:cNvPr id="12" name="TextBox 11">
              <a:extLst>
                <a:ext uri="{FF2B5EF4-FFF2-40B4-BE49-F238E27FC236}">
                  <a16:creationId xmlns:a16="http://schemas.microsoft.com/office/drawing/2014/main" id="{7A5AFDF6-88F7-3B4F-9404-7D9F122019F9}"/>
                </a:ext>
              </a:extLst>
            </p:cNvPr>
            <p:cNvSpPr txBox="1"/>
            <p:nvPr/>
          </p:nvSpPr>
          <p:spPr>
            <a:xfrm>
              <a:off x="10136115" y="5215497"/>
              <a:ext cx="1785425" cy="369332"/>
            </a:xfrm>
            <a:prstGeom prst="rect">
              <a:avLst/>
            </a:prstGeom>
            <a:noFill/>
          </p:spPr>
          <p:txBody>
            <a:bodyPr wrap="square" rtlCol="0">
              <a:spAutoFit/>
            </a:bodyPr>
            <a:lstStyle/>
            <a:p>
              <a:pPr algn="ctr"/>
              <a:r>
                <a:rPr lang="en-ZA" dirty="0">
                  <a:latin typeface="+mj-lt"/>
                </a:rPr>
                <a:t>Stuart  </a:t>
              </a:r>
              <a:r>
                <a:rPr lang="en-ZA" dirty="0" err="1">
                  <a:latin typeface="+mj-lt"/>
                </a:rPr>
                <a:t>Hameroff</a:t>
              </a:r>
              <a:endParaRPr lang="en-US" dirty="0">
                <a:latin typeface="+mj-lt"/>
              </a:endParaRPr>
            </a:p>
          </p:txBody>
        </p:sp>
      </p:grpSp>
      <p:grpSp>
        <p:nvGrpSpPr>
          <p:cNvPr id="6" name="Group 5">
            <a:extLst>
              <a:ext uri="{FF2B5EF4-FFF2-40B4-BE49-F238E27FC236}">
                <a16:creationId xmlns:a16="http://schemas.microsoft.com/office/drawing/2014/main" id="{CC4AC18F-4FDE-F846-81D4-0E8B05F62801}"/>
              </a:ext>
            </a:extLst>
          </p:cNvPr>
          <p:cNvGrpSpPr/>
          <p:nvPr/>
        </p:nvGrpSpPr>
        <p:grpSpPr>
          <a:xfrm>
            <a:off x="1030495" y="5647908"/>
            <a:ext cx="10942455" cy="813379"/>
            <a:chOff x="-269355" y="5485141"/>
            <a:chExt cx="10942455" cy="813379"/>
          </a:xfrm>
        </p:grpSpPr>
        <p:sp>
          <p:nvSpPr>
            <p:cNvPr id="9" name="TextBox 8">
              <a:extLst>
                <a:ext uri="{FF2B5EF4-FFF2-40B4-BE49-F238E27FC236}">
                  <a16:creationId xmlns:a16="http://schemas.microsoft.com/office/drawing/2014/main" id="{7B3A7FDC-E29A-CC45-918E-1EED7D447BA0}"/>
                </a:ext>
              </a:extLst>
            </p:cNvPr>
            <p:cNvSpPr txBox="1"/>
            <p:nvPr/>
          </p:nvSpPr>
          <p:spPr>
            <a:xfrm>
              <a:off x="-269355" y="5485141"/>
              <a:ext cx="1634230" cy="400110"/>
            </a:xfrm>
            <a:prstGeom prst="rect">
              <a:avLst/>
            </a:prstGeom>
            <a:solidFill>
              <a:schemeClr val="accent5">
                <a:lumMod val="75000"/>
              </a:schemeClr>
            </a:solidFill>
          </p:spPr>
          <p:txBody>
            <a:bodyPr wrap="none" rtlCol="0">
              <a:spAutoFit/>
            </a:bodyPr>
            <a:lstStyle/>
            <a:p>
              <a:r>
                <a:rPr lang="en-ZA" sz="2000" dirty="0">
                  <a:solidFill>
                    <a:schemeClr val="bg1"/>
                  </a:solidFill>
                </a:rPr>
                <a:t>Classical view</a:t>
              </a:r>
            </a:p>
          </p:txBody>
        </p:sp>
        <p:sp>
          <p:nvSpPr>
            <p:cNvPr id="14" name="TextBox 13">
              <a:extLst>
                <a:ext uri="{FF2B5EF4-FFF2-40B4-BE49-F238E27FC236}">
                  <a16:creationId xmlns:a16="http://schemas.microsoft.com/office/drawing/2014/main" id="{AD34A44F-147A-134C-8F31-23D34006FD16}"/>
                </a:ext>
              </a:extLst>
            </p:cNvPr>
            <p:cNvSpPr txBox="1"/>
            <p:nvPr/>
          </p:nvSpPr>
          <p:spPr>
            <a:xfrm>
              <a:off x="5412236" y="5529078"/>
              <a:ext cx="1648208" cy="400110"/>
            </a:xfrm>
            <a:prstGeom prst="rect">
              <a:avLst/>
            </a:prstGeom>
            <a:solidFill>
              <a:srgbClr val="C00000"/>
            </a:solidFill>
          </p:spPr>
          <p:txBody>
            <a:bodyPr wrap="none" rtlCol="0">
              <a:spAutoFit/>
            </a:bodyPr>
            <a:lstStyle/>
            <a:p>
              <a:r>
                <a:rPr lang="en-ZA" sz="2000" dirty="0" err="1">
                  <a:solidFill>
                    <a:schemeClr val="bg1"/>
                  </a:solidFill>
                </a:rPr>
                <a:t>Orch</a:t>
              </a:r>
              <a:r>
                <a:rPr lang="en-ZA" sz="2000" dirty="0">
                  <a:solidFill>
                    <a:schemeClr val="bg1"/>
                  </a:solidFill>
                </a:rPr>
                <a:t>-OR view</a:t>
              </a:r>
            </a:p>
          </p:txBody>
        </p:sp>
        <p:sp>
          <p:nvSpPr>
            <p:cNvPr id="13" name="TextBox 12">
              <a:extLst>
                <a:ext uri="{FF2B5EF4-FFF2-40B4-BE49-F238E27FC236}">
                  <a16:creationId xmlns:a16="http://schemas.microsoft.com/office/drawing/2014/main" id="{0EF311A5-0855-D44F-A29E-CCBCA3C45DB8}"/>
                </a:ext>
              </a:extLst>
            </p:cNvPr>
            <p:cNvSpPr txBox="1"/>
            <p:nvPr/>
          </p:nvSpPr>
          <p:spPr>
            <a:xfrm>
              <a:off x="-262338" y="5889683"/>
              <a:ext cx="5185330" cy="400110"/>
            </a:xfrm>
            <a:prstGeom prst="rect">
              <a:avLst/>
            </a:prstGeom>
            <a:noFill/>
            <a:ln>
              <a:solidFill>
                <a:schemeClr val="accent5">
                  <a:lumMod val="75000"/>
                </a:schemeClr>
              </a:solidFill>
            </a:ln>
          </p:spPr>
          <p:txBody>
            <a:bodyPr wrap="none" rtlCol="0">
              <a:spAutoFit/>
            </a:bodyPr>
            <a:lstStyle/>
            <a:p>
              <a:r>
                <a:rPr lang="en-ZA" sz="2000" dirty="0">
                  <a:latin typeface="+mj-lt"/>
                </a:rPr>
                <a:t>Brain power comes from neurons: ~10¹⁶ ops/sec.</a:t>
              </a:r>
              <a:endParaRPr lang="en-US" sz="2000" dirty="0">
                <a:latin typeface="+mj-lt"/>
              </a:endParaRPr>
            </a:p>
          </p:txBody>
        </p:sp>
        <p:sp>
          <p:nvSpPr>
            <p:cNvPr id="16" name="TextBox 15">
              <a:extLst>
                <a:ext uri="{FF2B5EF4-FFF2-40B4-BE49-F238E27FC236}">
                  <a16:creationId xmlns:a16="http://schemas.microsoft.com/office/drawing/2014/main" id="{40F215EB-13A2-BC43-9BA8-2702650EA37D}"/>
                </a:ext>
              </a:extLst>
            </p:cNvPr>
            <p:cNvSpPr txBox="1"/>
            <p:nvPr/>
          </p:nvSpPr>
          <p:spPr>
            <a:xfrm>
              <a:off x="5412236" y="5898410"/>
              <a:ext cx="5260864" cy="400110"/>
            </a:xfrm>
            <a:prstGeom prst="rect">
              <a:avLst/>
            </a:prstGeom>
            <a:noFill/>
            <a:ln>
              <a:solidFill>
                <a:srgbClr val="C00000"/>
              </a:solidFill>
            </a:ln>
          </p:spPr>
          <p:txBody>
            <a:bodyPr wrap="none" rtlCol="0">
              <a:spAutoFit/>
            </a:bodyPr>
            <a:lstStyle/>
            <a:p>
              <a:r>
                <a:rPr lang="en-ZA" sz="2000" dirty="0">
                  <a:latin typeface="+mj-lt"/>
                </a:rPr>
                <a:t>Brain power comes from tubulin: ~10²⁷ ops/sec.   </a:t>
              </a:r>
            </a:p>
          </p:txBody>
        </p:sp>
      </p:grpSp>
      <p:grpSp>
        <p:nvGrpSpPr>
          <p:cNvPr id="29" name="Group 28">
            <a:extLst>
              <a:ext uri="{FF2B5EF4-FFF2-40B4-BE49-F238E27FC236}">
                <a16:creationId xmlns:a16="http://schemas.microsoft.com/office/drawing/2014/main" id="{03DA4CC1-8CE8-6C45-9EB6-67D3244AC996}"/>
              </a:ext>
            </a:extLst>
          </p:cNvPr>
          <p:cNvGrpSpPr/>
          <p:nvPr/>
        </p:nvGrpSpPr>
        <p:grpSpPr>
          <a:xfrm>
            <a:off x="7213901" y="1286950"/>
            <a:ext cx="4341179" cy="2056955"/>
            <a:chOff x="104897" y="1244544"/>
            <a:chExt cx="4341179" cy="2056955"/>
          </a:xfrm>
        </p:grpSpPr>
        <p:pic>
          <p:nvPicPr>
            <p:cNvPr id="21" name="Picture 20">
              <a:extLst>
                <a:ext uri="{FF2B5EF4-FFF2-40B4-BE49-F238E27FC236}">
                  <a16:creationId xmlns:a16="http://schemas.microsoft.com/office/drawing/2014/main" id="{51EC9A1C-4684-054A-B7F4-4F62CE0B4B93}"/>
                </a:ext>
              </a:extLst>
            </p:cNvPr>
            <p:cNvPicPr>
              <a:picLocks noChangeAspect="1"/>
            </p:cNvPicPr>
            <p:nvPr/>
          </p:nvPicPr>
          <p:blipFill>
            <a:blip r:embed="rId5"/>
            <a:stretch>
              <a:fillRect/>
            </a:stretch>
          </p:blipFill>
          <p:spPr>
            <a:xfrm>
              <a:off x="104897" y="1483190"/>
              <a:ext cx="3495298" cy="1818309"/>
            </a:xfrm>
            <a:prstGeom prst="rect">
              <a:avLst/>
            </a:prstGeom>
          </p:spPr>
        </p:pic>
        <p:sp>
          <p:nvSpPr>
            <p:cNvPr id="18" name="TextBox 17">
              <a:extLst>
                <a:ext uri="{FF2B5EF4-FFF2-40B4-BE49-F238E27FC236}">
                  <a16:creationId xmlns:a16="http://schemas.microsoft.com/office/drawing/2014/main" id="{6046A15F-8295-A843-B560-2E2F2B600832}"/>
                </a:ext>
              </a:extLst>
            </p:cNvPr>
            <p:cNvSpPr txBox="1"/>
            <p:nvPr/>
          </p:nvSpPr>
          <p:spPr>
            <a:xfrm rot="2382819">
              <a:off x="119481" y="2877874"/>
              <a:ext cx="660758" cy="400110"/>
            </a:xfrm>
            <a:prstGeom prst="rect">
              <a:avLst/>
            </a:prstGeom>
            <a:noFill/>
          </p:spPr>
          <p:txBody>
            <a:bodyPr wrap="none" rtlCol="0">
              <a:spAutoFit/>
            </a:bodyPr>
            <a:lstStyle/>
            <a:p>
              <a:r>
                <a:rPr lang="en-US" sz="2000" dirty="0"/>
                <a:t>time</a:t>
              </a:r>
            </a:p>
          </p:txBody>
        </p:sp>
        <p:sp>
          <p:nvSpPr>
            <p:cNvPr id="19" name="TextBox 18">
              <a:extLst>
                <a:ext uri="{FF2B5EF4-FFF2-40B4-BE49-F238E27FC236}">
                  <a16:creationId xmlns:a16="http://schemas.microsoft.com/office/drawing/2014/main" id="{811C6562-E16B-1E45-AA7D-88E4CA281E98}"/>
                </a:ext>
              </a:extLst>
            </p:cNvPr>
            <p:cNvSpPr txBox="1"/>
            <p:nvPr/>
          </p:nvSpPr>
          <p:spPr>
            <a:xfrm rot="20101535">
              <a:off x="149633" y="1752826"/>
              <a:ext cx="780983" cy="400110"/>
            </a:xfrm>
            <a:prstGeom prst="rect">
              <a:avLst/>
            </a:prstGeom>
            <a:noFill/>
          </p:spPr>
          <p:txBody>
            <a:bodyPr wrap="none" rtlCol="0">
              <a:spAutoFit/>
            </a:bodyPr>
            <a:lstStyle/>
            <a:p>
              <a:r>
                <a:rPr lang="en-US" sz="2000" dirty="0"/>
                <a:t>space</a:t>
              </a:r>
            </a:p>
          </p:txBody>
        </p:sp>
        <p:sp>
          <p:nvSpPr>
            <p:cNvPr id="20" name="TextBox 19">
              <a:extLst>
                <a:ext uri="{FF2B5EF4-FFF2-40B4-BE49-F238E27FC236}">
                  <a16:creationId xmlns:a16="http://schemas.microsoft.com/office/drawing/2014/main" id="{049275A2-7FB2-924F-9D32-18A8DCAFA4D5}"/>
                </a:ext>
              </a:extLst>
            </p:cNvPr>
            <p:cNvSpPr txBox="1"/>
            <p:nvPr/>
          </p:nvSpPr>
          <p:spPr>
            <a:xfrm>
              <a:off x="2828325" y="1244544"/>
              <a:ext cx="1617751" cy="400110"/>
            </a:xfrm>
            <a:prstGeom prst="rect">
              <a:avLst/>
            </a:prstGeom>
            <a:noFill/>
          </p:spPr>
          <p:txBody>
            <a:bodyPr wrap="none" rtlCol="0">
              <a:spAutoFit/>
            </a:bodyPr>
            <a:lstStyle/>
            <a:p>
              <a:r>
                <a:rPr lang="en-US" sz="2000" dirty="0"/>
                <a:t>superposition</a:t>
              </a:r>
            </a:p>
          </p:txBody>
        </p:sp>
      </p:grpSp>
      <p:grpSp>
        <p:nvGrpSpPr>
          <p:cNvPr id="15" name="Group 14">
            <a:extLst>
              <a:ext uri="{FF2B5EF4-FFF2-40B4-BE49-F238E27FC236}">
                <a16:creationId xmlns:a16="http://schemas.microsoft.com/office/drawing/2014/main" id="{1255C023-235A-994F-8093-F937F915DCBD}"/>
              </a:ext>
            </a:extLst>
          </p:cNvPr>
          <p:cNvGrpSpPr/>
          <p:nvPr/>
        </p:nvGrpSpPr>
        <p:grpSpPr>
          <a:xfrm>
            <a:off x="7542796" y="2536731"/>
            <a:ext cx="4159705" cy="2769805"/>
            <a:chOff x="409518" y="2817294"/>
            <a:chExt cx="4159705" cy="2769805"/>
          </a:xfrm>
        </p:grpSpPr>
        <p:pic>
          <p:nvPicPr>
            <p:cNvPr id="24" name="Picture 23">
              <a:extLst>
                <a:ext uri="{FF2B5EF4-FFF2-40B4-BE49-F238E27FC236}">
                  <a16:creationId xmlns:a16="http://schemas.microsoft.com/office/drawing/2014/main" id="{F3D5D865-3AA7-0942-9C5B-501F2A7FF498}"/>
                </a:ext>
              </a:extLst>
            </p:cNvPr>
            <p:cNvPicPr>
              <a:picLocks noChangeAspect="1"/>
            </p:cNvPicPr>
            <p:nvPr/>
          </p:nvPicPr>
          <p:blipFill>
            <a:blip r:embed="rId6"/>
            <a:stretch>
              <a:fillRect/>
            </a:stretch>
          </p:blipFill>
          <p:spPr>
            <a:xfrm rot="193902">
              <a:off x="409518" y="3358567"/>
              <a:ext cx="4159705" cy="1972700"/>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A154A63-2487-7B45-BE5C-9634F6252E63}"/>
                    </a:ext>
                  </a:extLst>
                </p:cNvPr>
                <p:cNvSpPr txBox="1"/>
                <p:nvPr/>
              </p:nvSpPr>
              <p:spPr>
                <a:xfrm>
                  <a:off x="466451" y="5186989"/>
                  <a:ext cx="130529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≈25</m:t>
                        </m:r>
                        <m:r>
                          <a:rPr lang="en-US" sz="2000" b="0" i="1" smtClean="0">
                            <a:latin typeface="Cambria Math" panose="02040503050406030204" pitchFamily="18" charset="0"/>
                            <a:ea typeface="Cambria Math" panose="02040503050406030204" pitchFamily="18" charset="0"/>
                          </a:rPr>
                          <m:t>𝑚𝑠</m:t>
                        </m:r>
                      </m:oMath>
                    </m:oMathPara>
                  </a14:m>
                  <a:endParaRPr lang="en-US" sz="2000" dirty="0"/>
                </a:p>
              </p:txBody>
            </p:sp>
          </mc:Choice>
          <mc:Fallback xmlns="">
            <p:sp>
              <p:nvSpPr>
                <p:cNvPr id="25" name="TextBox 24">
                  <a:extLst>
                    <a:ext uri="{FF2B5EF4-FFF2-40B4-BE49-F238E27FC236}">
                      <a16:creationId xmlns:a16="http://schemas.microsoft.com/office/drawing/2014/main" id="{FA154A63-2487-7B45-BE5C-9634F6252E63}"/>
                    </a:ext>
                  </a:extLst>
                </p:cNvPr>
                <p:cNvSpPr txBox="1">
                  <a:spLocks noRot="1" noChangeAspect="1" noMove="1" noResize="1" noEditPoints="1" noAdjustHandles="1" noChangeArrowheads="1" noChangeShapeType="1" noTextEdit="1"/>
                </p:cNvSpPr>
                <p:nvPr/>
              </p:nvSpPr>
              <p:spPr>
                <a:xfrm>
                  <a:off x="466451" y="5186989"/>
                  <a:ext cx="1305294" cy="400110"/>
                </a:xfrm>
                <a:prstGeom prst="rect">
                  <a:avLst/>
                </a:prstGeom>
                <a:blipFill>
                  <a:blip r:embed="rId7"/>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B4E7C10F-00B9-6640-817E-E95197808D68}"/>
                </a:ext>
              </a:extLst>
            </p:cNvPr>
            <p:cNvSpPr txBox="1"/>
            <p:nvPr/>
          </p:nvSpPr>
          <p:spPr>
            <a:xfrm>
              <a:off x="3293534" y="4633090"/>
              <a:ext cx="1192762" cy="707886"/>
            </a:xfrm>
            <a:prstGeom prst="rect">
              <a:avLst/>
            </a:prstGeom>
            <a:noFill/>
          </p:spPr>
          <p:txBody>
            <a:bodyPr wrap="none" rtlCol="0">
              <a:spAutoFit/>
            </a:bodyPr>
            <a:lstStyle/>
            <a:p>
              <a:r>
                <a:rPr lang="en-US" sz="2000" dirty="0"/>
                <a:t>objective</a:t>
              </a:r>
            </a:p>
            <a:p>
              <a:r>
                <a:rPr lang="en-US" sz="2000" dirty="0"/>
                <a:t>reduction</a:t>
              </a:r>
            </a:p>
          </p:txBody>
        </p:sp>
        <p:sp>
          <p:nvSpPr>
            <p:cNvPr id="27" name="Freeform 26">
              <a:extLst>
                <a:ext uri="{FF2B5EF4-FFF2-40B4-BE49-F238E27FC236}">
                  <a16:creationId xmlns:a16="http://schemas.microsoft.com/office/drawing/2014/main" id="{BC76590C-8CDB-6344-8891-547018F99A01}"/>
                </a:ext>
              </a:extLst>
            </p:cNvPr>
            <p:cNvSpPr/>
            <p:nvPr/>
          </p:nvSpPr>
          <p:spPr>
            <a:xfrm rot="4879583" flipV="1">
              <a:off x="2972607" y="2902258"/>
              <a:ext cx="1037920" cy="867991"/>
            </a:xfrm>
            <a:custGeom>
              <a:avLst/>
              <a:gdLst>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03436"/>
                <a:gd name="connsiteY0" fmla="*/ 0 h 5775648"/>
                <a:gd name="connsiteX1" fmla="*/ 5057192 w 6503436"/>
                <a:gd name="connsiteY1" fmla="*/ 3610946 h 5775648"/>
                <a:gd name="connsiteX2" fmla="*/ 5057192 w 6503436"/>
                <a:gd name="connsiteY2" fmla="*/ 2883159 h 5775648"/>
                <a:gd name="connsiteX3" fmla="*/ 6503436 w 6503436"/>
                <a:gd name="connsiteY3" fmla="*/ 4348065 h 5775648"/>
                <a:gd name="connsiteX4" fmla="*/ 5057192 w 6503436"/>
                <a:gd name="connsiteY4" fmla="*/ 5775648 h 5775648"/>
                <a:gd name="connsiteX5" fmla="*/ 5066522 w 6503436"/>
                <a:gd name="connsiteY5" fmla="*/ 5038530 h 5775648"/>
                <a:gd name="connsiteX6" fmla="*/ 0 w 6503436"/>
                <a:gd name="connsiteY6" fmla="*/ 0 h 5775648"/>
                <a:gd name="connsiteX0" fmla="*/ 0 w 6512767"/>
                <a:gd name="connsiteY0" fmla="*/ 0 h 5775648"/>
                <a:gd name="connsiteX1" fmla="*/ 5057192 w 6512767"/>
                <a:gd name="connsiteY1" fmla="*/ 3610946 h 5775648"/>
                <a:gd name="connsiteX2" fmla="*/ 5057192 w 6512767"/>
                <a:gd name="connsiteY2" fmla="*/ 2883159 h 5775648"/>
                <a:gd name="connsiteX3" fmla="*/ 6512767 w 6512767"/>
                <a:gd name="connsiteY3" fmla="*/ 4198775 h 5775648"/>
                <a:gd name="connsiteX4" fmla="*/ 5057192 w 6512767"/>
                <a:gd name="connsiteY4" fmla="*/ 5775648 h 5775648"/>
                <a:gd name="connsiteX5" fmla="*/ 5066522 w 6512767"/>
                <a:gd name="connsiteY5" fmla="*/ 5038530 h 5775648"/>
                <a:gd name="connsiteX6" fmla="*/ 0 w 6512767"/>
                <a:gd name="connsiteY6" fmla="*/ 0 h 5775648"/>
                <a:gd name="connsiteX0" fmla="*/ 0 w 6904653"/>
                <a:gd name="connsiteY0" fmla="*/ 0 h 5775648"/>
                <a:gd name="connsiteX1" fmla="*/ 5057192 w 6904653"/>
                <a:gd name="connsiteY1" fmla="*/ 3610946 h 5775648"/>
                <a:gd name="connsiteX2" fmla="*/ 5057192 w 6904653"/>
                <a:gd name="connsiteY2" fmla="*/ 2883159 h 5775648"/>
                <a:gd name="connsiteX3" fmla="*/ 6904653 w 6904653"/>
                <a:gd name="connsiteY3" fmla="*/ 4320073 h 5775648"/>
                <a:gd name="connsiteX4" fmla="*/ 5057192 w 6904653"/>
                <a:gd name="connsiteY4" fmla="*/ 5775648 h 5775648"/>
                <a:gd name="connsiteX5" fmla="*/ 5066522 w 6904653"/>
                <a:gd name="connsiteY5" fmla="*/ 5038530 h 5775648"/>
                <a:gd name="connsiteX6" fmla="*/ 0 w 6904653"/>
                <a:gd name="connsiteY6" fmla="*/ 0 h 5775648"/>
                <a:gd name="connsiteX0" fmla="*/ 0 w 6885992"/>
                <a:gd name="connsiteY0" fmla="*/ 0 h 5775648"/>
                <a:gd name="connsiteX1" fmla="*/ 5057192 w 6885992"/>
                <a:gd name="connsiteY1" fmla="*/ 3610946 h 5775648"/>
                <a:gd name="connsiteX2" fmla="*/ 5057192 w 6885992"/>
                <a:gd name="connsiteY2" fmla="*/ 2883159 h 5775648"/>
                <a:gd name="connsiteX3" fmla="*/ 6885992 w 6885992"/>
                <a:gd name="connsiteY3" fmla="*/ 4245428 h 5775648"/>
                <a:gd name="connsiteX4" fmla="*/ 5057192 w 6885992"/>
                <a:gd name="connsiteY4" fmla="*/ 5775648 h 5775648"/>
                <a:gd name="connsiteX5" fmla="*/ 5066522 w 6885992"/>
                <a:gd name="connsiteY5" fmla="*/ 5038530 h 5775648"/>
                <a:gd name="connsiteX6" fmla="*/ 0 w 6885992"/>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 name="connsiteX0" fmla="*/ 0 w 6867331"/>
                <a:gd name="connsiteY0" fmla="*/ 0 h 5775648"/>
                <a:gd name="connsiteX1" fmla="*/ 5057192 w 6867331"/>
                <a:gd name="connsiteY1" fmla="*/ 3610946 h 5775648"/>
                <a:gd name="connsiteX2" fmla="*/ 5057192 w 6867331"/>
                <a:gd name="connsiteY2" fmla="*/ 2883159 h 5775648"/>
                <a:gd name="connsiteX3" fmla="*/ 6867331 w 6867331"/>
                <a:gd name="connsiteY3" fmla="*/ 4329404 h 5775648"/>
                <a:gd name="connsiteX4" fmla="*/ 5057192 w 6867331"/>
                <a:gd name="connsiteY4" fmla="*/ 5775648 h 5775648"/>
                <a:gd name="connsiteX5" fmla="*/ 5066522 w 6867331"/>
                <a:gd name="connsiteY5" fmla="*/ 5038530 h 5775648"/>
                <a:gd name="connsiteX6" fmla="*/ 0 w 6867331"/>
                <a:gd name="connsiteY6" fmla="*/ 0 h 577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67331" h="5775648">
                  <a:moveTo>
                    <a:pt x="0" y="0"/>
                  </a:moveTo>
                  <a:cubicBezTo>
                    <a:pt x="1461796" y="2192694"/>
                    <a:pt x="2503715" y="3592285"/>
                    <a:pt x="5057192" y="3610946"/>
                  </a:cubicBezTo>
                  <a:lnTo>
                    <a:pt x="5057192" y="2883159"/>
                  </a:lnTo>
                  <a:lnTo>
                    <a:pt x="6867331" y="4329404"/>
                  </a:lnTo>
                  <a:lnTo>
                    <a:pt x="5057192" y="5775648"/>
                  </a:lnTo>
                  <a:lnTo>
                    <a:pt x="5066522" y="5038530"/>
                  </a:lnTo>
                  <a:cubicBezTo>
                    <a:pt x="1903443" y="5057192"/>
                    <a:pt x="1091682" y="2677885"/>
                    <a:pt x="0" y="0"/>
                  </a:cubicBez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36" name="Group 35">
            <a:extLst>
              <a:ext uri="{FF2B5EF4-FFF2-40B4-BE49-F238E27FC236}">
                <a16:creationId xmlns:a16="http://schemas.microsoft.com/office/drawing/2014/main" id="{40213787-B55E-2040-8EFF-F37AF816B92B}"/>
              </a:ext>
            </a:extLst>
          </p:cNvPr>
          <p:cNvGrpSpPr/>
          <p:nvPr/>
        </p:nvGrpSpPr>
        <p:grpSpPr>
          <a:xfrm>
            <a:off x="2767923" y="951426"/>
            <a:ext cx="4449196" cy="4577324"/>
            <a:chOff x="3661299" y="990904"/>
            <a:chExt cx="4449196" cy="4577324"/>
          </a:xfrm>
        </p:grpSpPr>
        <p:pic>
          <p:nvPicPr>
            <p:cNvPr id="31" name="Picture 30">
              <a:extLst>
                <a:ext uri="{FF2B5EF4-FFF2-40B4-BE49-F238E27FC236}">
                  <a16:creationId xmlns:a16="http://schemas.microsoft.com/office/drawing/2014/main" id="{2F5C1027-A7D1-7E45-B30B-521CDE9DDE6D}"/>
                </a:ext>
              </a:extLst>
            </p:cNvPr>
            <p:cNvPicPr>
              <a:picLocks noChangeAspect="1"/>
            </p:cNvPicPr>
            <p:nvPr/>
          </p:nvPicPr>
          <p:blipFill>
            <a:blip r:embed="rId8"/>
            <a:stretch>
              <a:fillRect/>
            </a:stretch>
          </p:blipFill>
          <p:spPr>
            <a:xfrm>
              <a:off x="3661299" y="1326428"/>
              <a:ext cx="3733800" cy="4241800"/>
            </a:xfrm>
            <a:prstGeom prst="rect">
              <a:avLst/>
            </a:prstGeom>
          </p:spPr>
        </p:pic>
        <p:sp>
          <p:nvSpPr>
            <p:cNvPr id="7" name="TextBox 6">
              <a:extLst>
                <a:ext uri="{FF2B5EF4-FFF2-40B4-BE49-F238E27FC236}">
                  <a16:creationId xmlns:a16="http://schemas.microsoft.com/office/drawing/2014/main" id="{30232FF0-A3A8-7449-AD88-65FC99B7ADBC}"/>
                </a:ext>
              </a:extLst>
            </p:cNvPr>
            <p:cNvSpPr txBox="1"/>
            <p:nvPr/>
          </p:nvSpPr>
          <p:spPr>
            <a:xfrm>
              <a:off x="5315403" y="990904"/>
              <a:ext cx="1143262" cy="707886"/>
            </a:xfrm>
            <a:prstGeom prst="rect">
              <a:avLst/>
            </a:prstGeom>
            <a:noFill/>
          </p:spPr>
          <p:txBody>
            <a:bodyPr wrap="none" rtlCol="0">
              <a:spAutoFit/>
            </a:bodyPr>
            <a:lstStyle/>
            <a:p>
              <a:pPr algn="ctr"/>
              <a:r>
                <a:rPr lang="en-ZA" sz="2000" dirty="0"/>
                <a:t>tubulin</a:t>
              </a:r>
            </a:p>
            <a:p>
              <a:pPr algn="ctr"/>
              <a:r>
                <a:rPr lang="en-ZA" sz="2000" dirty="0"/>
                <a:t>molecule</a:t>
              </a:r>
              <a:endParaRPr lang="en-US" sz="2000" dirty="0"/>
            </a:p>
          </p:txBody>
        </p:sp>
        <p:sp>
          <p:nvSpPr>
            <p:cNvPr id="8" name="TextBox 7">
              <a:extLst>
                <a:ext uri="{FF2B5EF4-FFF2-40B4-BE49-F238E27FC236}">
                  <a16:creationId xmlns:a16="http://schemas.microsoft.com/office/drawing/2014/main" id="{6DF762D4-8FFA-AB42-B042-1B77AB492488}"/>
                </a:ext>
              </a:extLst>
            </p:cNvPr>
            <p:cNvSpPr txBox="1"/>
            <p:nvPr/>
          </p:nvSpPr>
          <p:spPr>
            <a:xfrm>
              <a:off x="4674145" y="3225023"/>
              <a:ext cx="2077300" cy="707886"/>
            </a:xfrm>
            <a:prstGeom prst="rect">
              <a:avLst/>
            </a:prstGeom>
            <a:noFill/>
          </p:spPr>
          <p:txBody>
            <a:bodyPr wrap="none" rtlCol="0">
              <a:spAutoFit/>
            </a:bodyPr>
            <a:lstStyle/>
            <a:p>
              <a:pPr algn="ctr"/>
              <a:r>
                <a:rPr lang="en-ZA" sz="2000" dirty="0"/>
                <a:t>microtubule</a:t>
              </a:r>
            </a:p>
            <a:p>
              <a:r>
                <a:rPr lang="en-ZA" sz="2000" dirty="0"/>
                <a:t>(cell cytoskeleton)</a:t>
              </a:r>
              <a:endParaRPr lang="en-US" sz="2000"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A66DE358-B89A-4A46-9969-ACF2498505B8}"/>
                    </a:ext>
                  </a:extLst>
                </p:cNvPr>
                <p:cNvSpPr/>
                <p:nvPr/>
              </p:nvSpPr>
              <p:spPr>
                <a:xfrm>
                  <a:off x="6929659" y="1844135"/>
                  <a:ext cx="55842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a:latin typeface="Cambria Math" panose="02040503050406030204" pitchFamily="18" charset="0"/>
                              </a:rPr>
                            </m:ctrlPr>
                          </m:dPr>
                          <m:e>
                            <m:r>
                              <a:rPr lang="en-US" sz="2000" i="1">
                                <a:latin typeface="Cambria Math" panose="02040503050406030204" pitchFamily="18" charset="0"/>
                              </a:rPr>
                              <m:t>0</m:t>
                            </m:r>
                          </m:e>
                        </m:d>
                      </m:oMath>
                    </m:oMathPara>
                  </a14:m>
                  <a:endParaRPr lang="en-US" sz="2000" dirty="0"/>
                </a:p>
              </p:txBody>
            </p:sp>
          </mc:Choice>
          <mc:Fallback xmlns="">
            <p:sp>
              <p:nvSpPr>
                <p:cNvPr id="32" name="Rectangle 31">
                  <a:extLst>
                    <a:ext uri="{FF2B5EF4-FFF2-40B4-BE49-F238E27FC236}">
                      <a16:creationId xmlns:a16="http://schemas.microsoft.com/office/drawing/2014/main" id="{A66DE358-B89A-4A46-9969-ACF2498505B8}"/>
                    </a:ext>
                  </a:extLst>
                </p:cNvPr>
                <p:cNvSpPr>
                  <a:spLocks noRot="1" noChangeAspect="1" noMove="1" noResize="1" noEditPoints="1" noAdjustHandles="1" noChangeArrowheads="1" noChangeShapeType="1" noTextEdit="1"/>
                </p:cNvSpPr>
                <p:nvPr/>
              </p:nvSpPr>
              <p:spPr>
                <a:xfrm>
                  <a:off x="6929659" y="1844135"/>
                  <a:ext cx="558423" cy="40011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A1D563F4-557E-C544-9A14-A69E53B3CD28}"/>
                    </a:ext>
                  </a:extLst>
                </p:cNvPr>
                <p:cNvSpPr/>
                <p:nvPr/>
              </p:nvSpPr>
              <p:spPr>
                <a:xfrm>
                  <a:off x="6929659" y="2376140"/>
                  <a:ext cx="55842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1</m:t>
                            </m:r>
                          </m:e>
                        </m:d>
                      </m:oMath>
                    </m:oMathPara>
                  </a14:m>
                  <a:endParaRPr lang="en-US" sz="2000" dirty="0"/>
                </a:p>
              </p:txBody>
            </p:sp>
          </mc:Choice>
          <mc:Fallback xmlns="">
            <p:sp>
              <p:nvSpPr>
                <p:cNvPr id="33" name="Rectangle 32">
                  <a:extLst>
                    <a:ext uri="{FF2B5EF4-FFF2-40B4-BE49-F238E27FC236}">
                      <a16:creationId xmlns:a16="http://schemas.microsoft.com/office/drawing/2014/main" id="{A1D563F4-557E-C544-9A14-A69E53B3CD28}"/>
                    </a:ext>
                  </a:extLst>
                </p:cNvPr>
                <p:cNvSpPr>
                  <a:spLocks noRot="1" noChangeAspect="1" noMove="1" noResize="1" noEditPoints="1" noAdjustHandles="1" noChangeArrowheads="1" noChangeShapeType="1" noTextEdit="1"/>
                </p:cNvSpPr>
                <p:nvPr/>
              </p:nvSpPr>
              <p:spPr>
                <a:xfrm>
                  <a:off x="6929659" y="2376140"/>
                  <a:ext cx="558422" cy="40011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50F2342C-01DA-6B4D-AD47-90F43D7AFD6E}"/>
                    </a:ext>
                  </a:extLst>
                </p:cNvPr>
                <p:cNvSpPr/>
                <p:nvPr/>
              </p:nvSpPr>
              <p:spPr>
                <a:xfrm>
                  <a:off x="6929659" y="3036586"/>
                  <a:ext cx="118083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0</m:t>
                            </m:r>
                          </m:e>
                        </m:d>
                        <m:r>
                          <a:rPr lang="en-US" sz="2000" b="0" i="0" smtClean="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1</m:t>
                            </m:r>
                          </m:e>
                        </m:d>
                      </m:oMath>
                    </m:oMathPara>
                  </a14:m>
                  <a:endParaRPr lang="en-US" sz="2000" dirty="0"/>
                </a:p>
              </p:txBody>
            </p:sp>
          </mc:Choice>
          <mc:Fallback xmlns="">
            <p:sp>
              <p:nvSpPr>
                <p:cNvPr id="34" name="Rectangle 33">
                  <a:extLst>
                    <a:ext uri="{FF2B5EF4-FFF2-40B4-BE49-F238E27FC236}">
                      <a16:creationId xmlns:a16="http://schemas.microsoft.com/office/drawing/2014/main" id="{50F2342C-01DA-6B4D-AD47-90F43D7AFD6E}"/>
                    </a:ext>
                  </a:extLst>
                </p:cNvPr>
                <p:cNvSpPr>
                  <a:spLocks noRot="1" noChangeAspect="1" noMove="1" noResize="1" noEditPoints="1" noAdjustHandles="1" noChangeArrowheads="1" noChangeShapeType="1" noTextEdit="1"/>
                </p:cNvSpPr>
                <p:nvPr/>
              </p:nvSpPr>
              <p:spPr>
                <a:xfrm>
                  <a:off x="6929659" y="3036586"/>
                  <a:ext cx="1180836" cy="400110"/>
                </a:xfrm>
                <a:prstGeom prst="rect">
                  <a:avLst/>
                </a:prstGeom>
                <a:blipFill>
                  <a:blip r:embed="rId1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594316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14E80D-541B-2B4C-B10A-6758D265241B}"/>
              </a:ext>
            </a:extLst>
          </p:cNvPr>
          <p:cNvSpPr>
            <a:spLocks noGrp="1"/>
          </p:cNvSpPr>
          <p:nvPr>
            <p:ph type="sldNum" sz="quarter" idx="12"/>
          </p:nvPr>
        </p:nvSpPr>
        <p:spPr/>
        <p:txBody>
          <a:bodyPr/>
          <a:lstStyle/>
          <a:p>
            <a:fld id="{591A223C-FA10-BC46-A853-03BA373D023C}" type="slidenum">
              <a:rPr lang="en-US" smtClean="0"/>
              <a:t>28</a:t>
            </a:fld>
            <a:endParaRPr lang="en-US"/>
          </a:p>
        </p:txBody>
      </p:sp>
      <p:sp>
        <p:nvSpPr>
          <p:cNvPr id="3" name="Title 2">
            <a:extLst>
              <a:ext uri="{FF2B5EF4-FFF2-40B4-BE49-F238E27FC236}">
                <a16:creationId xmlns:a16="http://schemas.microsoft.com/office/drawing/2014/main" id="{3C127709-0A78-954F-88DB-3D4596B56EED}"/>
              </a:ext>
            </a:extLst>
          </p:cNvPr>
          <p:cNvSpPr>
            <a:spLocks noGrp="1"/>
          </p:cNvSpPr>
          <p:nvPr>
            <p:ph type="title"/>
          </p:nvPr>
        </p:nvSpPr>
        <p:spPr/>
        <p:txBody>
          <a:bodyPr>
            <a:normAutofit/>
          </a:bodyPr>
          <a:lstStyle/>
          <a:p>
            <a:r>
              <a:rPr lang="en-ZA" b="1" dirty="0"/>
              <a:t>A Stochastic Quantum Neural Network Model for AI  (QNNS)</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0C7E262-26F9-C346-B9D1-5A8680162DB1}"/>
                  </a:ext>
                </a:extLst>
              </p:cNvPr>
              <p:cNvSpPr txBox="1"/>
              <p:nvPr/>
            </p:nvSpPr>
            <p:spPr>
              <a:xfrm>
                <a:off x="124251" y="1023055"/>
                <a:ext cx="6924219" cy="830997"/>
              </a:xfrm>
              <a:prstGeom prst="rect">
                <a:avLst/>
              </a:prstGeom>
              <a:solidFill>
                <a:schemeClr val="bg1">
                  <a:lumMod val="95000"/>
                </a:schemeClr>
              </a:solidFill>
            </p:spPr>
            <p:txBody>
              <a:bodyPr wrap="square" rtlCol="0">
                <a:spAutoFit/>
              </a:bodyPr>
              <a:lstStyle/>
              <a:p>
                <a:r>
                  <a:rPr lang="en-US" sz="2400" dirty="0"/>
                  <a:t>Neuron as a qubit: </a:t>
                </a:r>
              </a:p>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𝜓</m:t>
                          </m:r>
                        </m:e>
                      </m:d>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𝛽</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𝑃</m:t>
                          </m:r>
                        </m:e>
                        <m:sub>
                          <m:r>
                            <a:rPr lang="en-US" sz="2400" b="0" i="1" smtClean="0">
                              <a:latin typeface="Cambria Math" panose="02040503050406030204" pitchFamily="18" charset="0"/>
                              <a:ea typeface="Cambria Math" panose="02040503050406030204" pitchFamily="18" charset="0"/>
                            </a:rPr>
                            <m:t>𝑎𝑐𝑡</m:t>
                          </m:r>
                        </m:sub>
                      </m:sSub>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𝛽</m:t>
                          </m:r>
                          <m:r>
                            <a:rPr lang="en-US" sz="2400" b="0" i="1" smtClean="0">
                              <a:latin typeface="Cambria Math" panose="02040503050406030204" pitchFamily="18" charset="0"/>
                              <a:ea typeface="Cambria Math" panose="02040503050406030204" pitchFamily="18" charset="0"/>
                            </a:rPr>
                            <m:t>|</m:t>
                          </m:r>
                        </m:e>
                        <m:sup>
                          <m:r>
                            <a:rPr lang="en-US" sz="2400" b="0" i="1" smtClean="0">
                              <a:latin typeface="Cambria Math" panose="02040503050406030204" pitchFamily="18" charset="0"/>
                              <a:ea typeface="Cambria Math" panose="02040503050406030204" pitchFamily="18" charset="0"/>
                            </a:rPr>
                            <m:t>2</m:t>
                          </m:r>
                        </m:sup>
                      </m:sSup>
                    </m:oMath>
                  </m:oMathPara>
                </a14:m>
                <a:endParaRPr lang="en-US" sz="2400" dirty="0"/>
              </a:p>
            </p:txBody>
          </p:sp>
        </mc:Choice>
        <mc:Fallback xmlns="">
          <p:sp>
            <p:nvSpPr>
              <p:cNvPr id="6" name="TextBox 5">
                <a:extLst>
                  <a:ext uri="{FF2B5EF4-FFF2-40B4-BE49-F238E27FC236}">
                    <a16:creationId xmlns:a16="http://schemas.microsoft.com/office/drawing/2014/main" id="{B0C7E262-26F9-C346-B9D1-5A8680162DB1}"/>
                  </a:ext>
                </a:extLst>
              </p:cNvPr>
              <p:cNvSpPr txBox="1">
                <a:spLocks noRot="1" noChangeAspect="1" noMove="1" noResize="1" noEditPoints="1" noAdjustHandles="1" noChangeArrowheads="1" noChangeShapeType="1" noTextEdit="1"/>
              </p:cNvSpPr>
              <p:nvPr/>
            </p:nvSpPr>
            <p:spPr>
              <a:xfrm>
                <a:off x="124251" y="1023055"/>
                <a:ext cx="6924219" cy="830997"/>
              </a:xfrm>
              <a:prstGeom prst="rect">
                <a:avLst/>
              </a:prstGeom>
              <a:blipFill>
                <a:blip r:embed="rId3"/>
                <a:stretch>
                  <a:fillRect l="-1282" t="-6061" b="-7576"/>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2DB9A663-BEE2-0341-886A-289F131835A0}"/>
              </a:ext>
            </a:extLst>
          </p:cNvPr>
          <p:cNvGrpSpPr>
            <a:grpSpLocks noChangeAspect="1"/>
          </p:cNvGrpSpPr>
          <p:nvPr/>
        </p:nvGrpSpPr>
        <p:grpSpPr>
          <a:xfrm>
            <a:off x="6096000" y="1145122"/>
            <a:ext cx="673063" cy="673063"/>
            <a:chOff x="8137195" y="1042580"/>
            <a:chExt cx="1105642" cy="1105642"/>
          </a:xfrm>
        </p:grpSpPr>
        <p:sp>
          <p:nvSpPr>
            <p:cNvPr id="9" name="Oval 8">
              <a:extLst>
                <a:ext uri="{FF2B5EF4-FFF2-40B4-BE49-F238E27FC236}">
                  <a16:creationId xmlns:a16="http://schemas.microsoft.com/office/drawing/2014/main" id="{776F9938-789E-5242-A90C-5BD661F595EB}"/>
                </a:ext>
              </a:extLst>
            </p:cNvPr>
            <p:cNvSpPr/>
            <p:nvPr/>
          </p:nvSpPr>
          <p:spPr>
            <a:xfrm>
              <a:off x="8137195" y="1042580"/>
              <a:ext cx="1105642" cy="1105642"/>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82194CF-7477-C14F-967D-823C1598A0BB}"/>
                </a:ext>
              </a:extLst>
            </p:cNvPr>
            <p:cNvSpPr/>
            <p:nvPr/>
          </p:nvSpPr>
          <p:spPr>
            <a:xfrm>
              <a:off x="8137195" y="1394527"/>
              <a:ext cx="1105642" cy="401747"/>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F572DBDA-F808-1945-8773-57DEFF4D2C2B}"/>
                </a:ext>
              </a:extLst>
            </p:cNvPr>
            <p:cNvCxnSpPr>
              <a:cxnSpLocks/>
            </p:cNvCxnSpPr>
            <p:nvPr/>
          </p:nvCxnSpPr>
          <p:spPr>
            <a:xfrm flipV="1">
              <a:off x="8690016" y="1099649"/>
              <a:ext cx="0" cy="495752"/>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67F2997-5DDA-F14E-AA13-74F8F47CD09C}"/>
                </a:ext>
              </a:extLst>
            </p:cNvPr>
            <p:cNvCxnSpPr>
              <a:cxnSpLocks/>
              <a:endCxn id="9" idx="6"/>
            </p:cNvCxnSpPr>
            <p:nvPr/>
          </p:nvCxnSpPr>
          <p:spPr>
            <a:xfrm>
              <a:off x="8690016" y="1595401"/>
              <a:ext cx="552821"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65D41A4-C4F0-6340-A1B8-857758E926F9}"/>
                </a:ext>
              </a:extLst>
            </p:cNvPr>
            <p:cNvCxnSpPr>
              <a:cxnSpLocks/>
            </p:cNvCxnSpPr>
            <p:nvPr/>
          </p:nvCxnSpPr>
          <p:spPr>
            <a:xfrm flipH="1">
              <a:off x="8527891" y="1595401"/>
              <a:ext cx="162125" cy="19202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CF6B497-2FD8-814E-A79D-5B359912F01F}"/>
                </a:ext>
              </a:extLst>
            </p:cNvPr>
            <p:cNvCxnSpPr>
              <a:cxnSpLocks/>
            </p:cNvCxnSpPr>
            <p:nvPr/>
          </p:nvCxnSpPr>
          <p:spPr>
            <a:xfrm flipV="1">
              <a:off x="8690016" y="1294084"/>
              <a:ext cx="187559" cy="301317"/>
            </a:xfrm>
            <a:prstGeom prst="straightConnector1">
              <a:avLst/>
            </a:prstGeom>
            <a:ln w="254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FD1C19-1961-C048-B1CA-C9D13DC072FA}"/>
                </a:ext>
              </a:extLst>
            </p:cNvPr>
            <p:cNvCxnSpPr>
              <a:cxnSpLocks/>
            </p:cNvCxnSpPr>
            <p:nvPr/>
          </p:nvCxnSpPr>
          <p:spPr>
            <a:xfrm>
              <a:off x="8877575" y="1294084"/>
              <a:ext cx="0" cy="397331"/>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1D47C3F-F3DE-104B-9FC9-F76CC8E049A2}"/>
                </a:ext>
              </a:extLst>
            </p:cNvPr>
            <p:cNvCxnSpPr>
              <a:cxnSpLocks/>
            </p:cNvCxnSpPr>
            <p:nvPr/>
          </p:nvCxnSpPr>
          <p:spPr>
            <a:xfrm>
              <a:off x="8690016" y="1595401"/>
              <a:ext cx="187559" cy="96014"/>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grpSp>
      <p:grpSp>
        <p:nvGrpSpPr>
          <p:cNvPr id="54" name="Group 53">
            <a:extLst>
              <a:ext uri="{FF2B5EF4-FFF2-40B4-BE49-F238E27FC236}">
                <a16:creationId xmlns:a16="http://schemas.microsoft.com/office/drawing/2014/main" id="{0803BFB9-9781-574E-8E80-A68C5B9EF0D2}"/>
              </a:ext>
            </a:extLst>
          </p:cNvPr>
          <p:cNvGrpSpPr/>
          <p:nvPr/>
        </p:nvGrpSpPr>
        <p:grpSpPr>
          <a:xfrm>
            <a:off x="124251" y="2241132"/>
            <a:ext cx="7036157" cy="1255514"/>
            <a:chOff x="124251" y="2241132"/>
            <a:chExt cx="7036157" cy="1255514"/>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26A3326-D768-F541-8210-267F4135B3B1}"/>
                    </a:ext>
                  </a:extLst>
                </p:cNvPr>
                <p:cNvSpPr txBox="1"/>
                <p:nvPr/>
              </p:nvSpPr>
              <p:spPr>
                <a:xfrm>
                  <a:off x="124251" y="2490921"/>
                  <a:ext cx="7036157" cy="1005725"/>
                </a:xfrm>
                <a:prstGeom prst="rect">
                  <a:avLst/>
                </a:prstGeom>
                <a:solidFill>
                  <a:schemeClr val="accent5">
                    <a:lumMod val="20000"/>
                    <a:lumOff val="80000"/>
                  </a:schemeClr>
                </a:solidFill>
              </p:spPr>
              <p:txBody>
                <a:bodyPr wrap="none" rtlCol="0">
                  <a:spAutoFit/>
                </a:bodyPr>
                <a:lstStyle/>
                <a:p>
                  <a:r>
                    <a:rPr lang="en-US" sz="2400" dirty="0"/>
                    <a:t>Entanglement: </a:t>
                  </a:r>
                </a:p>
                <a:p>
                  <a14:m>
                    <m:oMath xmlns:m="http://schemas.openxmlformats.org/officeDocument/2006/math">
                      <m:sSub>
                        <m:sSubPr>
                          <m:ctrlPr>
                            <a:rPr lang="en-US" sz="2400" i="1" smtClean="0">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𝜓</m:t>
                              </m:r>
                            </m:e>
                          </m:d>
                        </m:e>
                        <m:sub>
                          <m:r>
                            <a:rPr lang="en-US" sz="2400" b="0" i="1" smtClean="0">
                              <a:latin typeface="Cambria Math" panose="02040503050406030204" pitchFamily="18" charset="0"/>
                            </a:rPr>
                            <m:t>𝐴𝐵</m:t>
                          </m:r>
                        </m:sub>
                      </m:sSub>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𝑖</m:t>
                          </m:r>
                          <m:r>
                            <a:rPr lang="en-US" sz="2400" b="0" i="1" smtClean="0">
                              <a:latin typeface="Cambria Math" panose="02040503050406030204" pitchFamily="18" charset="0"/>
                            </a:rPr>
                            <m:t>𝑗</m:t>
                          </m:r>
                        </m:sub>
                        <m:sup/>
                        <m:e>
                          <m:sSub>
                            <m:sSubPr>
                              <m:ctrlPr>
                                <a:rPr lang="en-US" sz="2400" i="1">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𝑖𝑗</m:t>
                              </m:r>
                            </m:sub>
                          </m:sSub>
                        </m:e>
                      </m:nary>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𝑖</m:t>
                              </m:r>
                            </m:e>
                          </m:d>
                        </m:e>
                        <m:sub>
                          <m:r>
                            <a:rPr lang="en-US" sz="2400" i="1">
                              <a:latin typeface="Cambria Math" panose="02040503050406030204" pitchFamily="18" charset="0"/>
                            </a:rPr>
                            <m:t>𝐴</m:t>
                          </m:r>
                        </m:sub>
                      </m:sSub>
                    </m:oMath>
                  </a14:m>
                  <a:r>
                    <a:rPr lang="en-US" sz="2400" dirty="0"/>
                    <a:t> </a:t>
                  </a:r>
                  <a14:m>
                    <m:oMath xmlns:m="http://schemas.openxmlformats.org/officeDocument/2006/math">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𝑗</m:t>
                              </m:r>
                            </m:e>
                          </m:d>
                        </m:e>
                        <m:sub>
                          <m:r>
                            <a:rPr lang="en-US" sz="2400" b="0" i="1" smtClean="0">
                              <a:latin typeface="Cambria Math" panose="02040503050406030204" pitchFamily="18" charset="0"/>
                            </a:rPr>
                            <m:t>𝑏</m:t>
                          </m:r>
                        </m:sub>
                      </m:sSub>
                      <m:r>
                        <a:rPr lang="en-US" sz="2400" b="0" i="1" smtClean="0">
                          <a:latin typeface="Cambria Math" panose="02040503050406030204" pitchFamily="18" charset="0"/>
                        </a:rPr>
                        <m:t>,  </m:t>
                      </m:r>
                      <m:r>
                        <m:rPr>
                          <m:sty m:val="p"/>
                        </m:rPr>
                        <a:rPr lang="en-US" sz="2400" b="0" i="0" smtClean="0">
                          <a:latin typeface="Cambria Math" panose="02040503050406030204" pitchFamily="18" charset="0"/>
                        </a:rPr>
                        <m:t>e</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g</m:t>
                      </m:r>
                      <m:r>
                        <a:rPr lang="en-US" sz="2400" b="0" i="0" smtClean="0">
                          <a:latin typeface="Cambria Math" panose="02040503050406030204" pitchFamily="18" charset="0"/>
                        </a:rPr>
                        <m:t>.</m:t>
                      </m:r>
                      <m:d>
                        <m:dPr>
                          <m:begChr m:val="|"/>
                          <m:endChr m:val="⟩"/>
                          <m:ctrlPr>
                            <a:rPr lang="en-US" sz="2400" i="1">
                              <a:latin typeface="Cambria Math" panose="02040503050406030204" pitchFamily="18" charset="0"/>
                            </a:rPr>
                          </m:ctrlPr>
                        </m:dPr>
                        <m:e>
                          <m:sSup>
                            <m:sSupPr>
                              <m:ctrlPr>
                                <a:rPr lang="en-US" sz="2400" i="1" smtClean="0">
                                  <a:latin typeface="Cambria Math" panose="02040503050406030204" pitchFamily="18" charset="0"/>
                                </a:rPr>
                              </m:ctrlPr>
                            </m:sSupPr>
                            <m:e>
                              <m:r>
                                <m:rPr>
                                  <m:sty m:val="p"/>
                                </m:rPr>
                                <a:rPr lang="el-GR" sz="2400" i="1" smtClean="0">
                                  <a:latin typeface="Cambria Math" panose="02040503050406030204" pitchFamily="18" charset="0"/>
                                  <a:ea typeface="Cambria Math" panose="02040503050406030204" pitchFamily="18" charset="0"/>
                                </a:rPr>
                                <m:t>Φ</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ad>
                            <m:radPr>
                              <m:degHide m:val="on"/>
                              <m:ctrlPr>
                                <a:rPr lang="en-US" sz="2400" b="0" i="1" smtClean="0">
                                  <a:latin typeface="Cambria Math" panose="02040503050406030204" pitchFamily="18" charset="0"/>
                                  <a:ea typeface="Cambria Math" panose="02040503050406030204" pitchFamily="18" charset="0"/>
                                </a:rPr>
                              </m:ctrlPr>
                            </m:radPr>
                            <m:deg/>
                            <m:e>
                              <m:r>
                                <a:rPr lang="en-US" sz="2400" b="0" i="1" smtClean="0">
                                  <a:latin typeface="Cambria Math" panose="02040503050406030204" pitchFamily="18" charset="0"/>
                                  <a:ea typeface="Cambria Math" panose="02040503050406030204" pitchFamily="18" charset="0"/>
                                </a:rPr>
                                <m:t>2</m:t>
                              </m:r>
                            </m:e>
                          </m:rad>
                        </m:den>
                      </m:f>
                      <m:d>
                        <m:dPr>
                          <m:ctrlPr>
                            <a:rPr lang="en-US" sz="2400" b="0" i="1" smtClean="0">
                              <a:latin typeface="Cambria Math" panose="02040503050406030204" pitchFamily="18" charset="0"/>
                              <a:ea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m:t>
                              </m:r>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11</m:t>
                              </m:r>
                            </m:e>
                          </m:d>
                        </m:e>
                      </m:d>
                    </m:oMath>
                  </a14:m>
                  <a:endParaRPr lang="en-US" sz="2400" dirty="0"/>
                </a:p>
              </p:txBody>
            </p:sp>
          </mc:Choice>
          <mc:Fallback xmlns="">
            <p:sp>
              <p:nvSpPr>
                <p:cNvPr id="18" name="TextBox 17">
                  <a:extLst>
                    <a:ext uri="{FF2B5EF4-FFF2-40B4-BE49-F238E27FC236}">
                      <a16:creationId xmlns:a16="http://schemas.microsoft.com/office/drawing/2014/main" id="{D26A3326-D768-F541-8210-267F4135B3B1}"/>
                    </a:ext>
                  </a:extLst>
                </p:cNvPr>
                <p:cNvSpPr txBox="1">
                  <a:spLocks noRot="1" noChangeAspect="1" noMove="1" noResize="1" noEditPoints="1" noAdjustHandles="1" noChangeArrowheads="1" noChangeShapeType="1" noTextEdit="1"/>
                </p:cNvSpPr>
                <p:nvPr/>
              </p:nvSpPr>
              <p:spPr>
                <a:xfrm>
                  <a:off x="124251" y="2490921"/>
                  <a:ext cx="7036157" cy="1005725"/>
                </a:xfrm>
                <a:prstGeom prst="rect">
                  <a:avLst/>
                </a:prstGeom>
                <a:blipFill>
                  <a:blip r:embed="rId4"/>
                  <a:stretch>
                    <a:fillRect l="-1261" t="-15000" b="-77500"/>
                  </a:stretch>
                </a:blipFill>
              </p:spPr>
              <p:txBody>
                <a:bodyPr/>
                <a:lstStyle/>
                <a:p>
                  <a:r>
                    <a:rPr lang="en-US">
                      <a:noFill/>
                    </a:rPr>
                    <a:t> </a:t>
                  </a:r>
                </a:p>
              </p:txBody>
            </p:sp>
          </mc:Fallback>
        </mc:AlternateContent>
        <p:grpSp>
          <p:nvGrpSpPr>
            <p:cNvPr id="48" name="Group 47">
              <a:extLst>
                <a:ext uri="{FF2B5EF4-FFF2-40B4-BE49-F238E27FC236}">
                  <a16:creationId xmlns:a16="http://schemas.microsoft.com/office/drawing/2014/main" id="{5999AC8E-03C0-C549-B7C4-DBA016FAB748}"/>
                </a:ext>
              </a:extLst>
            </p:cNvPr>
            <p:cNvGrpSpPr>
              <a:grpSpLocks noChangeAspect="1"/>
            </p:cNvGrpSpPr>
            <p:nvPr/>
          </p:nvGrpSpPr>
          <p:grpSpPr>
            <a:xfrm>
              <a:off x="2503740" y="2241132"/>
              <a:ext cx="1760854" cy="673064"/>
              <a:chOff x="3356303" y="5138636"/>
              <a:chExt cx="2334450" cy="892314"/>
            </a:xfrm>
          </p:grpSpPr>
          <p:grpSp>
            <p:nvGrpSpPr>
              <p:cNvPr id="39" name="Group 38">
                <a:extLst>
                  <a:ext uri="{FF2B5EF4-FFF2-40B4-BE49-F238E27FC236}">
                    <a16:creationId xmlns:a16="http://schemas.microsoft.com/office/drawing/2014/main" id="{A8B5A942-45E4-564B-8CF5-2EB197C97C4B}"/>
                  </a:ext>
                </a:extLst>
              </p:cNvPr>
              <p:cNvGrpSpPr/>
              <p:nvPr/>
            </p:nvGrpSpPr>
            <p:grpSpPr>
              <a:xfrm>
                <a:off x="3356303" y="5138637"/>
                <a:ext cx="892314" cy="892313"/>
                <a:chOff x="3356303" y="5138637"/>
                <a:chExt cx="892314" cy="892313"/>
              </a:xfrm>
            </p:grpSpPr>
            <p:sp>
              <p:nvSpPr>
                <p:cNvPr id="21" name="Oval 20">
                  <a:extLst>
                    <a:ext uri="{FF2B5EF4-FFF2-40B4-BE49-F238E27FC236}">
                      <a16:creationId xmlns:a16="http://schemas.microsoft.com/office/drawing/2014/main" id="{3AADFF46-A413-3D47-9052-F91B5CEE2508}"/>
                    </a:ext>
                  </a:extLst>
                </p:cNvPr>
                <p:cNvSpPr/>
                <p:nvPr/>
              </p:nvSpPr>
              <p:spPr>
                <a:xfrm>
                  <a:off x="3356303" y="5138637"/>
                  <a:ext cx="892313" cy="892313"/>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7E5DA1C-20F1-BB49-943F-1CB39D75B1BF}"/>
                    </a:ext>
                  </a:extLst>
                </p:cNvPr>
                <p:cNvSpPr/>
                <p:nvPr/>
              </p:nvSpPr>
              <p:spPr>
                <a:xfrm>
                  <a:off x="3356303" y="5422677"/>
                  <a:ext cx="892313" cy="324232"/>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0BECC477-5DBA-674F-8A5E-24174F266075}"/>
                    </a:ext>
                  </a:extLst>
                </p:cNvPr>
                <p:cNvCxnSpPr>
                  <a:cxnSpLocks/>
                </p:cNvCxnSpPr>
                <p:nvPr/>
              </p:nvCxnSpPr>
              <p:spPr>
                <a:xfrm flipV="1">
                  <a:off x="3802460" y="5184695"/>
                  <a:ext cx="0" cy="40009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6EAE9D6-800C-1E49-9314-351DC34A3DB1}"/>
                    </a:ext>
                  </a:extLst>
                </p:cNvPr>
                <p:cNvCxnSpPr>
                  <a:cxnSpLocks/>
                  <a:endCxn id="21" idx="6"/>
                </p:cNvCxnSpPr>
                <p:nvPr/>
              </p:nvCxnSpPr>
              <p:spPr>
                <a:xfrm>
                  <a:off x="3802460" y="5584794"/>
                  <a:ext cx="446157"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F082782-9FBF-1B4A-8830-E77110B06901}"/>
                    </a:ext>
                  </a:extLst>
                </p:cNvPr>
                <p:cNvCxnSpPr>
                  <a:cxnSpLocks/>
                </p:cNvCxnSpPr>
                <p:nvPr/>
              </p:nvCxnSpPr>
              <p:spPr>
                <a:xfrm flipH="1">
                  <a:off x="3671616" y="5584794"/>
                  <a:ext cx="130844" cy="154978"/>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D658695E-2500-5E40-A088-96327188DE8B}"/>
                    </a:ext>
                  </a:extLst>
                </p:cNvPr>
                <p:cNvSpPr/>
                <p:nvPr/>
              </p:nvSpPr>
              <p:spPr>
                <a:xfrm>
                  <a:off x="3762705" y="5539793"/>
                  <a:ext cx="90000" cy="9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E882F7F6-72BA-BA41-AA82-0ED821FC109A}"/>
                  </a:ext>
                </a:extLst>
              </p:cNvPr>
              <p:cNvGrpSpPr/>
              <p:nvPr/>
            </p:nvGrpSpPr>
            <p:grpSpPr>
              <a:xfrm>
                <a:off x="4798439" y="5138636"/>
                <a:ext cx="892314" cy="892313"/>
                <a:chOff x="3356303" y="5138637"/>
                <a:chExt cx="892314" cy="892313"/>
              </a:xfrm>
            </p:grpSpPr>
            <p:sp>
              <p:nvSpPr>
                <p:cNvPr id="41" name="Oval 40">
                  <a:extLst>
                    <a:ext uri="{FF2B5EF4-FFF2-40B4-BE49-F238E27FC236}">
                      <a16:creationId xmlns:a16="http://schemas.microsoft.com/office/drawing/2014/main" id="{139C5D6E-F133-1D46-8A08-499E8ACF3048}"/>
                    </a:ext>
                  </a:extLst>
                </p:cNvPr>
                <p:cNvSpPr/>
                <p:nvPr/>
              </p:nvSpPr>
              <p:spPr>
                <a:xfrm>
                  <a:off x="3356303" y="5138637"/>
                  <a:ext cx="892313" cy="892313"/>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462CE8E-66E8-024C-93F1-5A262B58AC1F}"/>
                    </a:ext>
                  </a:extLst>
                </p:cNvPr>
                <p:cNvSpPr/>
                <p:nvPr/>
              </p:nvSpPr>
              <p:spPr>
                <a:xfrm>
                  <a:off x="3356303" y="5422677"/>
                  <a:ext cx="892313" cy="324232"/>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27883674-030B-784B-A872-092888D8A3BD}"/>
                    </a:ext>
                  </a:extLst>
                </p:cNvPr>
                <p:cNvCxnSpPr>
                  <a:cxnSpLocks/>
                </p:cNvCxnSpPr>
                <p:nvPr/>
              </p:nvCxnSpPr>
              <p:spPr>
                <a:xfrm flipV="1">
                  <a:off x="3802460" y="5184695"/>
                  <a:ext cx="0" cy="40009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C88988B-8B9B-554F-BE5E-0CADB4FDB984}"/>
                    </a:ext>
                  </a:extLst>
                </p:cNvPr>
                <p:cNvCxnSpPr>
                  <a:cxnSpLocks/>
                  <a:endCxn id="41" idx="6"/>
                </p:cNvCxnSpPr>
                <p:nvPr/>
              </p:nvCxnSpPr>
              <p:spPr>
                <a:xfrm>
                  <a:off x="3802460" y="5584794"/>
                  <a:ext cx="446157"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0F7765B-A61A-3D4F-8A9E-C7B2A1D62FC4}"/>
                    </a:ext>
                  </a:extLst>
                </p:cNvPr>
                <p:cNvCxnSpPr>
                  <a:cxnSpLocks/>
                </p:cNvCxnSpPr>
                <p:nvPr/>
              </p:nvCxnSpPr>
              <p:spPr>
                <a:xfrm flipH="1">
                  <a:off x="3671616" y="5584794"/>
                  <a:ext cx="130844" cy="154978"/>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4F4FB34C-1E04-A24E-B63C-9EFAE8124EC7}"/>
                    </a:ext>
                  </a:extLst>
                </p:cNvPr>
                <p:cNvSpPr/>
                <p:nvPr/>
              </p:nvSpPr>
              <p:spPr>
                <a:xfrm>
                  <a:off x="3762705" y="5539793"/>
                  <a:ext cx="90000" cy="90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7" name="Straight Arrow Connector 46">
                <a:extLst>
                  <a:ext uri="{FF2B5EF4-FFF2-40B4-BE49-F238E27FC236}">
                    <a16:creationId xmlns:a16="http://schemas.microsoft.com/office/drawing/2014/main" id="{BDF446AA-3F9A-7441-9068-8A6426282271}"/>
                  </a:ext>
                </a:extLst>
              </p:cNvPr>
              <p:cNvCxnSpPr>
                <a:cxnSpLocks/>
              </p:cNvCxnSpPr>
              <p:nvPr/>
            </p:nvCxnSpPr>
            <p:spPr>
              <a:xfrm flipV="1">
                <a:off x="4264269" y="5584793"/>
                <a:ext cx="518518" cy="1"/>
              </a:xfrm>
              <a:prstGeom prst="straightConnector1">
                <a:avLst/>
              </a:prstGeom>
              <a:ln>
                <a:solidFill>
                  <a:schemeClr val="accent5">
                    <a:lumMod val="75000"/>
                  </a:schemeClr>
                </a:solidFill>
                <a:headEnd type="triangle"/>
                <a:tailEnd type="triangle"/>
              </a:ln>
              <a:effectLst>
                <a:glow rad="635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grpSp>
      </p:grpSp>
      <p:grpSp>
        <p:nvGrpSpPr>
          <p:cNvPr id="55" name="Group 54">
            <a:extLst>
              <a:ext uri="{FF2B5EF4-FFF2-40B4-BE49-F238E27FC236}">
                <a16:creationId xmlns:a16="http://schemas.microsoft.com/office/drawing/2014/main" id="{3AC24B3F-13F2-CF46-ABDB-9E98A7A66D0F}"/>
              </a:ext>
            </a:extLst>
          </p:cNvPr>
          <p:cNvGrpSpPr/>
          <p:nvPr/>
        </p:nvGrpSpPr>
        <p:grpSpPr>
          <a:xfrm>
            <a:off x="124250" y="3637339"/>
            <a:ext cx="7036157" cy="1333776"/>
            <a:chOff x="124250" y="3637339"/>
            <a:chExt cx="7036157" cy="1333776"/>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3CC98DD-00E5-4442-B129-3C1859BEFF50}"/>
                    </a:ext>
                  </a:extLst>
                </p:cNvPr>
                <p:cNvSpPr txBox="1"/>
                <p:nvPr/>
              </p:nvSpPr>
              <p:spPr>
                <a:xfrm>
                  <a:off x="124250" y="3808233"/>
                  <a:ext cx="7036157" cy="1162882"/>
                </a:xfrm>
                <a:prstGeom prst="rect">
                  <a:avLst/>
                </a:prstGeom>
                <a:solidFill>
                  <a:schemeClr val="accent6">
                    <a:lumMod val="20000"/>
                    <a:lumOff val="80000"/>
                  </a:schemeClr>
                </a:solidFill>
              </p:spPr>
              <p:txBody>
                <a:bodyPr wrap="square" rtlCol="0">
                  <a:spAutoFit/>
                </a:bodyPr>
                <a:lstStyle/>
                <a:p>
                  <a:r>
                    <a:rPr lang="en-US" sz="2400" dirty="0"/>
                    <a:t>Time evolution (</a:t>
                  </a:r>
                  <a:r>
                    <a:rPr lang="en-ZA" sz="2400" dirty="0" err="1"/>
                    <a:t>Schrödinger</a:t>
                  </a:r>
                  <a:r>
                    <a:rPr lang="en-US" sz="2400" dirty="0"/>
                    <a:t>): </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ℏ</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𝑑</m:t>
                            </m:r>
                          </m:num>
                          <m:den>
                            <m:r>
                              <a:rPr lang="en-US" sz="2400" b="0" i="1" smtClean="0">
                                <a:latin typeface="Cambria Math" panose="02040503050406030204" pitchFamily="18" charset="0"/>
                              </a:rPr>
                              <m:t>𝑑𝑡</m:t>
                            </m:r>
                          </m:den>
                        </m:f>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𝜓</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𝐻</m:t>
                        </m:r>
                        <m:d>
                          <m:dPr>
                            <m:begChr m:val="|"/>
                            <m:endChr m:val="⟩"/>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𝜓</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e>
                        </m:d>
                        <m:r>
                          <a:rPr lang="en-US" sz="2400" b="0" i="0"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𝐻</m:t>
                        </m:r>
                        <m:d>
                          <m:dPr>
                            <m:ctrlPr>
                              <a:rPr lang="en-US" sz="2400" i="1" smtClean="0">
                                <a:latin typeface="Cambria Math" panose="02040503050406030204" pitchFamily="18" charset="0"/>
                                <a:ea typeface="Cambria Math" panose="02040503050406030204" pitchFamily="18" charset="0"/>
                              </a:rPr>
                            </m:ctrlPr>
                          </m:dPr>
                          <m:e>
                            <m:sSub>
                              <m:sSubPr>
                                <m:ctrlPr>
                                  <a:rPr lang="en-US" sz="240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𝑥</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𝑦</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ea typeface="Cambria Math" panose="02040503050406030204" pitchFamily="18" charset="0"/>
                                  </a:rPr>
                                  <m:t>𝑧</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𝐾</m:t>
                            </m:r>
                          </m:e>
                        </m:d>
                      </m:oMath>
                    </m:oMathPara>
                  </a14:m>
                  <a:endParaRPr lang="en-US" sz="2400" dirty="0"/>
                </a:p>
              </p:txBody>
            </p:sp>
          </mc:Choice>
          <mc:Fallback xmlns="">
            <p:sp>
              <p:nvSpPr>
                <p:cNvPr id="17" name="TextBox 16">
                  <a:extLst>
                    <a:ext uri="{FF2B5EF4-FFF2-40B4-BE49-F238E27FC236}">
                      <a16:creationId xmlns:a16="http://schemas.microsoft.com/office/drawing/2014/main" id="{03CC98DD-00E5-4442-B129-3C1859BEFF50}"/>
                    </a:ext>
                  </a:extLst>
                </p:cNvPr>
                <p:cNvSpPr txBox="1">
                  <a:spLocks noRot="1" noChangeAspect="1" noMove="1" noResize="1" noEditPoints="1" noAdjustHandles="1" noChangeArrowheads="1" noChangeShapeType="1" noTextEdit="1"/>
                </p:cNvSpPr>
                <p:nvPr/>
              </p:nvSpPr>
              <p:spPr>
                <a:xfrm>
                  <a:off x="124250" y="3808233"/>
                  <a:ext cx="7036157" cy="1162882"/>
                </a:xfrm>
                <a:prstGeom prst="rect">
                  <a:avLst/>
                </a:prstGeom>
                <a:blipFill>
                  <a:blip r:embed="rId5"/>
                  <a:stretch>
                    <a:fillRect l="-1261" t="-4396" b="-4396"/>
                  </a:stretch>
                </a:blipFill>
              </p:spPr>
              <p:txBody>
                <a:bodyPr/>
                <a:lstStyle/>
                <a:p>
                  <a:r>
                    <a:rPr lang="en-US">
                      <a:noFill/>
                    </a:rPr>
                    <a:t> </a:t>
                  </a:r>
                </a:p>
              </p:txBody>
            </p:sp>
          </mc:Fallback>
        </mc:AlternateContent>
        <p:pic>
          <p:nvPicPr>
            <p:cNvPr id="51" name="Picture 50">
              <a:extLst>
                <a:ext uri="{FF2B5EF4-FFF2-40B4-BE49-F238E27FC236}">
                  <a16:creationId xmlns:a16="http://schemas.microsoft.com/office/drawing/2014/main" id="{9AA2A47E-1E4C-E646-825F-28C90074B372}"/>
                </a:ext>
              </a:extLst>
            </p:cNvPr>
            <p:cNvPicPr>
              <a:picLocks noChangeAspect="1"/>
            </p:cNvPicPr>
            <p:nvPr/>
          </p:nvPicPr>
          <p:blipFill>
            <a:blip r:embed="rId6"/>
            <a:stretch>
              <a:fillRect/>
            </a:stretch>
          </p:blipFill>
          <p:spPr>
            <a:xfrm>
              <a:off x="4069215" y="3637339"/>
              <a:ext cx="1572411" cy="686075"/>
            </a:xfrm>
            <a:prstGeom prst="rect">
              <a:avLst/>
            </a:prstGeom>
          </p:spPr>
        </p:pic>
      </p:grpSp>
      <p:sp>
        <p:nvSpPr>
          <p:cNvPr id="53" name="TextBox 52">
            <a:extLst>
              <a:ext uri="{FF2B5EF4-FFF2-40B4-BE49-F238E27FC236}">
                <a16:creationId xmlns:a16="http://schemas.microsoft.com/office/drawing/2014/main" id="{2BFEE7DF-13E7-794D-929A-C5085474B4BD}"/>
              </a:ext>
            </a:extLst>
          </p:cNvPr>
          <p:cNvSpPr txBox="1"/>
          <p:nvPr/>
        </p:nvSpPr>
        <p:spPr>
          <a:xfrm>
            <a:off x="7048470" y="3073557"/>
            <a:ext cx="5184433" cy="923330"/>
          </a:xfrm>
          <a:prstGeom prst="rect">
            <a:avLst/>
          </a:prstGeom>
          <a:noFill/>
        </p:spPr>
        <p:txBody>
          <a:bodyPr wrap="square" rtlCol="0">
            <a:spAutoFit/>
          </a:bodyPr>
          <a:lstStyle/>
          <a:p>
            <a:r>
              <a:rPr lang="en-ZA" dirty="0"/>
              <a:t>G.-E. Filardo and T. </a:t>
            </a:r>
            <a:r>
              <a:rPr lang="en-ZA" dirty="0" err="1"/>
              <a:t>Heckmann</a:t>
            </a:r>
            <a:r>
              <a:rPr lang="en-ZA" dirty="0"/>
              <a:t>, “A stochastic quantum</a:t>
            </a:r>
          </a:p>
          <a:p>
            <a:r>
              <a:rPr lang="en-ZA" dirty="0"/>
              <a:t>neural network model for AI,” </a:t>
            </a:r>
            <a:r>
              <a:rPr lang="en-ZA" i="1" dirty="0" err="1"/>
              <a:t>arXiv</a:t>
            </a:r>
            <a:r>
              <a:rPr lang="en-ZA" i="1" dirty="0"/>
              <a:t> preprint </a:t>
            </a:r>
          </a:p>
          <a:p>
            <a:r>
              <a:rPr lang="en-ZA" i="1" dirty="0"/>
              <a:t>arXiv:2511.11609</a:t>
            </a:r>
            <a:r>
              <a:rPr lang="en-ZA" dirty="0"/>
              <a:t>, Nov. 2025.</a:t>
            </a:r>
            <a:endParaRPr lang="en-US" dirty="0"/>
          </a:p>
        </p:txBody>
      </p:sp>
      <p:pic>
        <p:nvPicPr>
          <p:cNvPr id="4" name="Picture 3">
            <a:extLst>
              <a:ext uri="{FF2B5EF4-FFF2-40B4-BE49-F238E27FC236}">
                <a16:creationId xmlns:a16="http://schemas.microsoft.com/office/drawing/2014/main" id="{E5279A13-1738-794B-9C8D-374C921C7015}"/>
              </a:ext>
            </a:extLst>
          </p:cNvPr>
          <p:cNvPicPr>
            <a:picLocks noChangeAspect="1"/>
          </p:cNvPicPr>
          <p:nvPr/>
        </p:nvPicPr>
        <p:blipFill>
          <a:blip r:embed="rId7"/>
          <a:stretch>
            <a:fillRect/>
          </a:stretch>
        </p:blipFill>
        <p:spPr>
          <a:xfrm>
            <a:off x="7048470" y="1065946"/>
            <a:ext cx="5000962" cy="1956093"/>
          </a:xfrm>
          <a:prstGeom prst="rect">
            <a:avLst/>
          </a:prstGeom>
        </p:spPr>
      </p:pic>
      <p:grpSp>
        <p:nvGrpSpPr>
          <p:cNvPr id="57" name="Group 56">
            <a:extLst>
              <a:ext uri="{FF2B5EF4-FFF2-40B4-BE49-F238E27FC236}">
                <a16:creationId xmlns:a16="http://schemas.microsoft.com/office/drawing/2014/main" id="{114B210C-0DFD-0F4B-9C55-4AF978F29905}"/>
              </a:ext>
            </a:extLst>
          </p:cNvPr>
          <p:cNvGrpSpPr/>
          <p:nvPr/>
        </p:nvGrpSpPr>
        <p:grpSpPr>
          <a:xfrm>
            <a:off x="124250" y="4232212"/>
            <a:ext cx="10696150" cy="2495757"/>
            <a:chOff x="124250" y="4232212"/>
            <a:chExt cx="10696150" cy="2495757"/>
          </a:xfrm>
        </p:grpSpPr>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14504C8-AFA1-5A4B-B533-DBA23278CF81}"/>
                    </a:ext>
                  </a:extLst>
                </p:cNvPr>
                <p:cNvSpPr txBox="1"/>
                <p:nvPr/>
              </p:nvSpPr>
              <p:spPr>
                <a:xfrm>
                  <a:off x="124250" y="5282702"/>
                  <a:ext cx="10564687" cy="1445267"/>
                </a:xfrm>
                <a:prstGeom prst="rect">
                  <a:avLst/>
                </a:prstGeom>
                <a:solidFill>
                  <a:schemeClr val="accent4">
                    <a:lumMod val="20000"/>
                    <a:lumOff val="80000"/>
                  </a:schemeClr>
                </a:solidFill>
              </p:spPr>
              <p:txBody>
                <a:bodyPr wrap="none" rtlCol="0">
                  <a:spAutoFit/>
                </a:bodyPr>
                <a:lstStyle/>
                <a:p>
                  <a:r>
                    <a:rPr lang="en-ZA" sz="2400" dirty="0"/>
                    <a:t>Quantum stochastic differential equation</a:t>
                  </a:r>
                  <a:r>
                    <a:rPr lang="en-US" sz="2400" dirty="0"/>
                    <a:t>: </a:t>
                  </a: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𝑑</m:t>
                        </m:r>
                        <m:d>
                          <m:dPr>
                            <m:begChr m:val="|"/>
                            <m:endChr m:val="⟩"/>
                            <m:ctrlPr>
                              <a:rPr lang="en-US" sz="2400" i="1">
                                <a:latin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𝜓</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ℏ</m:t>
                                </m:r>
                              </m:den>
                            </m:f>
                            <m:r>
                              <a:rPr lang="en-US" sz="2400" b="0" i="1" smtClean="0">
                                <a:latin typeface="Cambria Math" panose="02040503050406030204" pitchFamily="18" charset="0"/>
                                <a:ea typeface="Cambria Math" panose="02040503050406030204" pitchFamily="18" charset="0"/>
                              </a:rPr>
                              <m:t>𝐻</m:t>
                            </m:r>
                            <m:r>
                              <a:rPr lang="en-US" sz="2400" i="1">
                                <a:latin typeface="Cambria Math" panose="02040503050406030204" pitchFamily="18" charset="0"/>
                              </a:rPr>
                              <m:t>𝑑𝑡</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𝑘</m:t>
                                </m:r>
                              </m:sub>
                              <m:sup/>
                              <m:e>
                                <m:d>
                                  <m:dPr>
                                    <m:ctrlPr>
                                      <a:rPr lang="en-US" sz="2400" b="0" i="1" smtClean="0">
                                        <a:latin typeface="Cambria Math" panose="02040503050406030204" pitchFamily="18" charset="0"/>
                                      </a:rPr>
                                    </m:ctrlPr>
                                  </m:dPr>
                                  <m:e>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𝐿</m:t>
                                        </m:r>
                                      </m:e>
                                      <m:sub>
                                        <m:r>
                                          <a:rPr lang="en-US" sz="2400" b="0" i="1" smtClean="0">
                                            <a:latin typeface="Cambria Math" panose="02040503050406030204" pitchFamily="18" charset="0"/>
                                          </a:rPr>
                                          <m:t>𝑘</m:t>
                                        </m:r>
                                      </m:sub>
                                      <m:sup>
                                        <m:r>
                                          <a:rPr lang="en-US" sz="2400" b="0" i="1" smtClean="0">
                                            <a:latin typeface="Cambria Math" panose="02040503050406030204" pitchFamily="18" charset="0"/>
                                            <a:ea typeface="Cambria Math" panose="02040503050406030204" pitchFamily="18" charset="0"/>
                                          </a:rPr>
                                          <m:t>†</m:t>
                                        </m:r>
                                      </m:sup>
                                    </m:sSubSup>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𝐿</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panose="02040503050406030204" pitchFamily="18" charset="0"/>
                                                  </a:rPr>
                                                  <m:t>𝐿</m:t>
                                                </m:r>
                                              </m:e>
                                              <m:sub>
                                                <m:r>
                                                  <a:rPr lang="en-US" sz="2400" i="1">
                                                    <a:latin typeface="Cambria Math" panose="02040503050406030204" pitchFamily="18" charset="0"/>
                                                  </a:rPr>
                                                  <m:t>𝑘</m:t>
                                                </m:r>
                                              </m:sub>
                                              <m:sup>
                                                <m:r>
                                                  <a:rPr lang="en-US" sz="2400" i="1">
                                                    <a:latin typeface="Cambria Math" panose="02040503050406030204" pitchFamily="18" charset="0"/>
                                                    <a:ea typeface="Cambria Math" panose="02040503050406030204" pitchFamily="18" charset="0"/>
                                                  </a:rPr>
                                                  <m:t>†</m:t>
                                                </m:r>
                                              </m:sup>
                                            </m:sSubSup>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𝑘</m:t>
                                                </m:r>
                                              </m:sub>
                                            </m:sSub>
                                          </m:e>
                                        </m:d>
                                      </m:e>
                                    </m:d>
                                  </m:e>
                                </m:d>
                                <m:r>
                                  <a:rPr lang="en-US" sz="2400" b="0" i="1" smtClean="0">
                                    <a:latin typeface="Cambria Math" panose="02040503050406030204" pitchFamily="18" charset="0"/>
                                  </a:rPr>
                                  <m:t>𝑑𝑡</m:t>
                                </m:r>
                              </m:e>
                            </m:nary>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latin typeface="Cambria Math" panose="02040503050406030204" pitchFamily="18" charset="0"/>
                                  </a:rPr>
                                  <m:t>𝑘</m:t>
                                </m:r>
                              </m:sub>
                              <m:sup/>
                              <m:e>
                                <m:d>
                                  <m:dPr>
                                    <m:ctrlPr>
                                      <a:rPr lang="en-US" sz="2400" b="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𝑘</m:t>
                                        </m:r>
                                      </m:sub>
                                    </m:sSub>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sSubSup>
                                              <m:sSubSupPr>
                                                <m:ctrlPr>
                                                  <a:rPr lang="en-US" sz="2400" i="1">
                                                    <a:latin typeface="Cambria Math" panose="02040503050406030204" pitchFamily="18" charset="0"/>
                                                  </a:rPr>
                                                </m:ctrlPr>
                                              </m:sSubSupPr>
                                              <m:e>
                                                <m:r>
                                                  <a:rPr lang="en-US" sz="2400" i="1">
                                                    <a:latin typeface="Cambria Math" panose="02040503050406030204" pitchFamily="18" charset="0"/>
                                                  </a:rPr>
                                                  <m:t>𝐿</m:t>
                                                </m:r>
                                              </m:e>
                                              <m:sub>
                                                <m:r>
                                                  <a:rPr lang="en-US" sz="2400" i="1">
                                                    <a:latin typeface="Cambria Math" panose="02040503050406030204" pitchFamily="18" charset="0"/>
                                                  </a:rPr>
                                                  <m:t>𝑘</m:t>
                                                </m:r>
                                              </m:sub>
                                              <m:sup>
                                                <m:r>
                                                  <a:rPr lang="en-US" sz="2400" i="1">
                                                    <a:latin typeface="Cambria Math" panose="02040503050406030204" pitchFamily="18" charset="0"/>
                                                    <a:ea typeface="Cambria Math" panose="02040503050406030204" pitchFamily="18" charset="0"/>
                                                  </a:rPr>
                                                  <m:t>†</m:t>
                                                </m:r>
                                              </m:sup>
                                            </m:sSubSup>
                                          </m:e>
                                        </m:d>
                                      </m:e>
                                    </m:d>
                                  </m:e>
                                </m:d>
                                <m:r>
                                  <a:rPr lang="en-US" sz="2400" b="0" i="1" smtClean="0">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𝑘</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𝑡</m:t>
                                    </m:r>
                                  </m:e>
                                </m:d>
                              </m:e>
                            </m:nary>
                          </m:e>
                        </m:d>
                        <m:d>
                          <m:dPr>
                            <m:begChr m:val="|"/>
                            <m:endChr m:val="⟩"/>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𝜓</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e>
                        </m:d>
                      </m:oMath>
                    </m:oMathPara>
                  </a14:m>
                  <a:endParaRPr lang="en-US" sz="2400" dirty="0"/>
                </a:p>
              </p:txBody>
            </p:sp>
          </mc:Choice>
          <mc:Fallback xmlns="">
            <p:sp>
              <p:nvSpPr>
                <p:cNvPr id="52" name="TextBox 51">
                  <a:extLst>
                    <a:ext uri="{FF2B5EF4-FFF2-40B4-BE49-F238E27FC236}">
                      <a16:creationId xmlns:a16="http://schemas.microsoft.com/office/drawing/2014/main" id="{214504C8-AFA1-5A4B-B533-DBA23278CF81}"/>
                    </a:ext>
                  </a:extLst>
                </p:cNvPr>
                <p:cNvSpPr txBox="1">
                  <a:spLocks noRot="1" noChangeAspect="1" noMove="1" noResize="1" noEditPoints="1" noAdjustHandles="1" noChangeArrowheads="1" noChangeShapeType="1" noTextEdit="1"/>
                </p:cNvSpPr>
                <p:nvPr/>
              </p:nvSpPr>
              <p:spPr>
                <a:xfrm>
                  <a:off x="124250" y="5282702"/>
                  <a:ext cx="10564687" cy="1445267"/>
                </a:xfrm>
                <a:prstGeom prst="rect">
                  <a:avLst/>
                </a:prstGeom>
                <a:blipFill>
                  <a:blip r:embed="rId8"/>
                  <a:stretch>
                    <a:fillRect l="-840" t="-57391" b="-123478"/>
                  </a:stretch>
                </a:blipFill>
              </p:spPr>
              <p:txBody>
                <a:bodyPr/>
                <a:lstStyle/>
                <a:p>
                  <a:r>
                    <a:rPr lang="en-US">
                      <a:noFill/>
                    </a:rPr>
                    <a:t> </a:t>
                  </a:r>
                </a:p>
              </p:txBody>
            </p:sp>
          </mc:Fallback>
        </mc:AlternateContent>
        <p:pic>
          <p:nvPicPr>
            <p:cNvPr id="56" name="Picture 55">
              <a:extLst>
                <a:ext uri="{FF2B5EF4-FFF2-40B4-BE49-F238E27FC236}">
                  <a16:creationId xmlns:a16="http://schemas.microsoft.com/office/drawing/2014/main" id="{1AE8734C-0561-B342-866F-805F3FC91929}"/>
                </a:ext>
              </a:extLst>
            </p:cNvPr>
            <p:cNvPicPr>
              <a:picLocks noChangeAspect="1"/>
            </p:cNvPicPr>
            <p:nvPr/>
          </p:nvPicPr>
          <p:blipFill>
            <a:blip r:embed="rId9"/>
            <a:stretch>
              <a:fillRect/>
            </a:stretch>
          </p:blipFill>
          <p:spPr>
            <a:xfrm>
              <a:off x="8719633" y="4232212"/>
              <a:ext cx="2100767" cy="1689166"/>
            </a:xfrm>
            <a:prstGeom prst="rect">
              <a:avLst/>
            </a:prstGeom>
          </p:spPr>
        </p:pic>
      </p:grpSp>
    </p:spTree>
    <p:extLst>
      <p:ext uri="{BB962C8B-B14F-4D97-AF65-F5344CB8AC3E}">
        <p14:creationId xmlns:p14="http://schemas.microsoft.com/office/powerpoint/2010/main" val="342717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dissolve">
                                      <p:cBhvr>
                                        <p:cTn id="1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C8BE5F-14A3-FB48-A390-E55EBC88AA68}"/>
              </a:ext>
            </a:extLst>
          </p:cNvPr>
          <p:cNvSpPr>
            <a:spLocks noGrp="1"/>
          </p:cNvSpPr>
          <p:nvPr>
            <p:ph type="sldNum" sz="quarter" idx="12"/>
          </p:nvPr>
        </p:nvSpPr>
        <p:spPr/>
        <p:txBody>
          <a:bodyPr/>
          <a:lstStyle/>
          <a:p>
            <a:fld id="{591A223C-FA10-BC46-A853-03BA373D023C}" type="slidenum">
              <a:rPr lang="en-US" smtClean="0"/>
              <a:t>29</a:t>
            </a:fld>
            <a:endParaRPr lang="en-US"/>
          </a:p>
        </p:txBody>
      </p:sp>
      <p:sp>
        <p:nvSpPr>
          <p:cNvPr id="3" name="Title 2">
            <a:extLst>
              <a:ext uri="{FF2B5EF4-FFF2-40B4-BE49-F238E27FC236}">
                <a16:creationId xmlns:a16="http://schemas.microsoft.com/office/drawing/2014/main" id="{D8474A20-A62D-D943-BAE7-08116FEC90D3}"/>
              </a:ext>
            </a:extLst>
          </p:cNvPr>
          <p:cNvSpPr>
            <a:spLocks noGrp="1"/>
          </p:cNvSpPr>
          <p:nvPr>
            <p:ph type="title"/>
          </p:nvPr>
        </p:nvSpPr>
        <p:spPr>
          <a:xfrm>
            <a:off x="0" y="0"/>
            <a:ext cx="12192000" cy="928688"/>
          </a:xfrm>
        </p:spPr>
        <p:txBody>
          <a:bodyPr>
            <a:normAutofit/>
          </a:bodyPr>
          <a:lstStyle/>
          <a:p>
            <a:r>
              <a:rPr lang="en-ZA" dirty="0"/>
              <a:t>Quantum Cognitive Models</a:t>
            </a:r>
            <a:endParaRPr lang="en-US" dirty="0"/>
          </a:p>
        </p:txBody>
      </p:sp>
      <p:sp>
        <p:nvSpPr>
          <p:cNvPr id="16" name="Rounded Rectangle 15">
            <a:extLst>
              <a:ext uri="{FF2B5EF4-FFF2-40B4-BE49-F238E27FC236}">
                <a16:creationId xmlns:a16="http://schemas.microsoft.com/office/drawing/2014/main" id="{8163DC79-C55C-A845-95A6-E5D329503B2D}"/>
              </a:ext>
            </a:extLst>
          </p:cNvPr>
          <p:cNvSpPr/>
          <p:nvPr/>
        </p:nvSpPr>
        <p:spPr>
          <a:xfrm>
            <a:off x="4198952" y="1790103"/>
            <a:ext cx="7300451" cy="1093921"/>
          </a:xfrm>
          <a:prstGeom prst="round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0" algn="just">
              <a:lnSpc>
                <a:spcPct val="100000"/>
              </a:lnSpc>
              <a:spcBef>
                <a:spcPts val="1200"/>
              </a:spcBef>
              <a:spcAft>
                <a:spcPts val="1200"/>
              </a:spcAft>
            </a:pPr>
            <a:r>
              <a:rPr lang="en-ZA" sz="2000" dirty="0">
                <a:solidFill>
                  <a:schemeClr val="tx1"/>
                </a:solidFill>
                <a:latin typeface="+mj-lt"/>
              </a:rPr>
              <a:t>Maps cognitive models directly to quantum hardware, using variational quantum circuits. First to execute cognition models on real quantum devices.</a:t>
            </a:r>
            <a:endParaRPr lang="en-ZA" sz="2000" dirty="0">
              <a:solidFill>
                <a:schemeClr val="tx1"/>
              </a:solidFill>
              <a:latin typeface="+mj-lt"/>
              <a:ea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351E6E1-9F33-6247-A61A-56858F9A16A8}"/>
              </a:ext>
            </a:extLst>
          </p:cNvPr>
          <p:cNvPicPr>
            <a:picLocks noChangeAspect="1"/>
          </p:cNvPicPr>
          <p:nvPr/>
        </p:nvPicPr>
        <p:blipFill>
          <a:blip r:embed="rId3"/>
          <a:stretch>
            <a:fillRect/>
          </a:stretch>
        </p:blipFill>
        <p:spPr>
          <a:xfrm>
            <a:off x="962017" y="1840873"/>
            <a:ext cx="837661" cy="1198856"/>
          </a:xfrm>
          <a:prstGeom prst="rect">
            <a:avLst/>
          </a:prstGeom>
        </p:spPr>
      </p:pic>
      <p:sp>
        <p:nvSpPr>
          <p:cNvPr id="15" name="Rounded Rectangle 14">
            <a:extLst>
              <a:ext uri="{FF2B5EF4-FFF2-40B4-BE49-F238E27FC236}">
                <a16:creationId xmlns:a16="http://schemas.microsoft.com/office/drawing/2014/main" id="{D0640D3D-E4E3-7F40-9094-0EC4492ABBDE}"/>
              </a:ext>
            </a:extLst>
          </p:cNvPr>
          <p:cNvSpPr/>
          <p:nvPr/>
        </p:nvSpPr>
        <p:spPr>
          <a:xfrm>
            <a:off x="2161352" y="1790103"/>
            <a:ext cx="2362065" cy="1093921"/>
          </a:xfrm>
          <a:prstGeom prst="roundRect">
            <a:avLst/>
          </a:prstGeom>
          <a:solidFill>
            <a:schemeClr val="accent6">
              <a:lumMod val="5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2000" dirty="0"/>
              <a:t>IBM QUATRO</a:t>
            </a:r>
            <a:endParaRPr lang="en-US" sz="2000" dirty="0"/>
          </a:p>
        </p:txBody>
      </p:sp>
      <p:pic>
        <p:nvPicPr>
          <p:cNvPr id="10" name="Picture 9">
            <a:extLst>
              <a:ext uri="{FF2B5EF4-FFF2-40B4-BE49-F238E27FC236}">
                <a16:creationId xmlns:a16="http://schemas.microsoft.com/office/drawing/2014/main" id="{E1843D74-E6AB-8848-97FB-23A1615C6A64}"/>
              </a:ext>
            </a:extLst>
          </p:cNvPr>
          <p:cNvPicPr>
            <a:picLocks noChangeAspect="1"/>
          </p:cNvPicPr>
          <p:nvPr/>
        </p:nvPicPr>
        <p:blipFill>
          <a:blip r:embed="rId4"/>
          <a:stretch>
            <a:fillRect/>
          </a:stretch>
        </p:blipFill>
        <p:spPr>
          <a:xfrm>
            <a:off x="744726" y="3306440"/>
            <a:ext cx="1143440" cy="1266390"/>
          </a:xfrm>
          <a:prstGeom prst="rect">
            <a:avLst/>
          </a:prstGeom>
        </p:spPr>
      </p:pic>
      <p:sp>
        <p:nvSpPr>
          <p:cNvPr id="17" name="Rounded Rectangle 16">
            <a:extLst>
              <a:ext uri="{FF2B5EF4-FFF2-40B4-BE49-F238E27FC236}">
                <a16:creationId xmlns:a16="http://schemas.microsoft.com/office/drawing/2014/main" id="{CC9DC1AC-DA71-ED4B-9525-EB411C2DA279}"/>
              </a:ext>
            </a:extLst>
          </p:cNvPr>
          <p:cNvSpPr/>
          <p:nvPr/>
        </p:nvSpPr>
        <p:spPr>
          <a:xfrm>
            <a:off x="4198952" y="3405048"/>
            <a:ext cx="7300451" cy="109392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0" algn="just">
              <a:lnSpc>
                <a:spcPct val="100000"/>
              </a:lnSpc>
              <a:spcBef>
                <a:spcPts val="1200"/>
              </a:spcBef>
              <a:spcAft>
                <a:spcPts val="1200"/>
              </a:spcAft>
            </a:pPr>
            <a:r>
              <a:rPr lang="en-ZA" sz="2000" dirty="0" err="1">
                <a:solidFill>
                  <a:schemeClr val="tx1"/>
                </a:solidFill>
                <a:latin typeface="+mj-lt"/>
              </a:rPr>
              <a:t>IonQ</a:t>
            </a:r>
            <a:r>
              <a:rPr lang="en-ZA" sz="2000" dirty="0">
                <a:solidFill>
                  <a:schemeClr val="tx1"/>
                </a:solidFill>
                <a:latin typeface="+mj-lt"/>
              </a:rPr>
              <a:t> implemented quantum circuits for human-cognition models on trapped-ion hardware.</a:t>
            </a:r>
          </a:p>
        </p:txBody>
      </p:sp>
      <p:sp>
        <p:nvSpPr>
          <p:cNvPr id="18" name="Rounded Rectangle 17">
            <a:extLst>
              <a:ext uri="{FF2B5EF4-FFF2-40B4-BE49-F238E27FC236}">
                <a16:creationId xmlns:a16="http://schemas.microsoft.com/office/drawing/2014/main" id="{889FD63D-81F3-CB4B-B8CE-DF6BF8F8EE57}"/>
              </a:ext>
            </a:extLst>
          </p:cNvPr>
          <p:cNvSpPr/>
          <p:nvPr/>
        </p:nvSpPr>
        <p:spPr>
          <a:xfrm>
            <a:off x="2161352" y="3405048"/>
            <a:ext cx="2362065" cy="1093921"/>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 algn="ctr">
              <a:lnSpc>
                <a:spcPct val="100000"/>
              </a:lnSpc>
              <a:spcBef>
                <a:spcPts val="1200"/>
              </a:spcBef>
              <a:spcAft>
                <a:spcPts val="1200"/>
              </a:spcAft>
            </a:pPr>
            <a:r>
              <a:rPr lang="en-ZA" sz="2000" dirty="0" err="1"/>
              <a:t>IonQ</a:t>
            </a:r>
            <a:endParaRPr lang="en-ZA" sz="2000" dirty="0">
              <a:ea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680A725-E619-884E-9CD9-963C64EFC4D2}"/>
              </a:ext>
            </a:extLst>
          </p:cNvPr>
          <p:cNvPicPr>
            <a:picLocks noChangeAspect="1"/>
          </p:cNvPicPr>
          <p:nvPr/>
        </p:nvPicPr>
        <p:blipFill>
          <a:blip r:embed="rId5"/>
          <a:stretch>
            <a:fillRect/>
          </a:stretch>
        </p:blipFill>
        <p:spPr>
          <a:xfrm>
            <a:off x="796564" y="4984218"/>
            <a:ext cx="1139071" cy="1145228"/>
          </a:xfrm>
          <a:prstGeom prst="rect">
            <a:avLst/>
          </a:prstGeom>
        </p:spPr>
      </p:pic>
      <p:sp>
        <p:nvSpPr>
          <p:cNvPr id="19" name="Rounded Rectangle 18">
            <a:extLst>
              <a:ext uri="{FF2B5EF4-FFF2-40B4-BE49-F238E27FC236}">
                <a16:creationId xmlns:a16="http://schemas.microsoft.com/office/drawing/2014/main" id="{B13095FA-23D3-9C45-B16F-4B1DA0887FD3}"/>
              </a:ext>
            </a:extLst>
          </p:cNvPr>
          <p:cNvSpPr/>
          <p:nvPr/>
        </p:nvSpPr>
        <p:spPr>
          <a:xfrm>
            <a:off x="4198952" y="5026220"/>
            <a:ext cx="7300451" cy="1093921"/>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0" algn="just">
              <a:lnSpc>
                <a:spcPct val="100000"/>
              </a:lnSpc>
              <a:spcBef>
                <a:spcPts val="1200"/>
              </a:spcBef>
              <a:spcAft>
                <a:spcPts val="1200"/>
              </a:spcAft>
            </a:pPr>
            <a:r>
              <a:rPr lang="en-ZA" sz="2000" dirty="0">
                <a:solidFill>
                  <a:schemeClr val="tx1"/>
                </a:solidFill>
                <a:latin typeface="+mj-lt"/>
              </a:rPr>
              <a:t>Quantum-inspired models that apply principles of superposition, interference, and contextual probability to model perception, judgment, and decision-making.</a:t>
            </a:r>
            <a:endParaRPr lang="en-ZA" sz="2000" dirty="0">
              <a:solidFill>
                <a:schemeClr val="tx1"/>
              </a:solidFill>
              <a:latin typeface="+mj-lt"/>
              <a:ea typeface="Times New Roman" panose="02020603050405020304" pitchFamily="18" charset="0"/>
              <a:cs typeface="Times New Roman" panose="02020603050405020304" pitchFamily="18" charset="0"/>
            </a:endParaRPr>
          </a:p>
        </p:txBody>
      </p:sp>
      <p:sp>
        <p:nvSpPr>
          <p:cNvPr id="20" name="Rounded Rectangle 19">
            <a:extLst>
              <a:ext uri="{FF2B5EF4-FFF2-40B4-BE49-F238E27FC236}">
                <a16:creationId xmlns:a16="http://schemas.microsoft.com/office/drawing/2014/main" id="{344E74B7-B99E-844C-80D8-9D1534643988}"/>
              </a:ext>
            </a:extLst>
          </p:cNvPr>
          <p:cNvSpPr/>
          <p:nvPr/>
        </p:nvSpPr>
        <p:spPr>
          <a:xfrm>
            <a:off x="2161352" y="5026220"/>
            <a:ext cx="2362065" cy="1093921"/>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6000" algn="ctr">
              <a:lnSpc>
                <a:spcPct val="100000"/>
              </a:lnSpc>
              <a:spcBef>
                <a:spcPts val="1200"/>
              </a:spcBef>
              <a:spcAft>
                <a:spcPts val="1200"/>
              </a:spcAft>
            </a:pPr>
            <a:r>
              <a:rPr lang="en-ZA" sz="2000" dirty="0"/>
              <a:t>Quantum-Cognitive</a:t>
            </a:r>
            <a:br>
              <a:rPr lang="en-ZA" sz="2000" dirty="0"/>
            </a:br>
            <a:r>
              <a:rPr lang="en-ZA" sz="2000" dirty="0"/>
              <a:t>Neural Networks</a:t>
            </a:r>
            <a:endParaRPr lang="en-ZA" sz="2000" dirty="0">
              <a:ea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ACBD0C2C-EC07-7947-8B75-FDD754AC9627}"/>
              </a:ext>
            </a:extLst>
          </p:cNvPr>
          <p:cNvSpPr/>
          <p:nvPr/>
        </p:nvSpPr>
        <p:spPr>
          <a:xfrm>
            <a:off x="541352" y="4745414"/>
            <a:ext cx="1620000" cy="1620000"/>
          </a:xfrm>
          <a:prstGeom prst="ellipse">
            <a:avLst/>
          </a:prstGeom>
          <a:noFill/>
          <a:ln w="254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A7F8D92-FF3F-A749-8B56-947384F329F2}"/>
              </a:ext>
            </a:extLst>
          </p:cNvPr>
          <p:cNvSpPr/>
          <p:nvPr/>
        </p:nvSpPr>
        <p:spPr>
          <a:xfrm>
            <a:off x="541352" y="3135523"/>
            <a:ext cx="1620000" cy="1620000"/>
          </a:xfrm>
          <a:prstGeom prst="ellipse">
            <a:avLst/>
          </a:prstGeom>
          <a:noFill/>
          <a:ln w="25400">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1872E0D-31E9-F748-82BD-DA890D67C136}"/>
              </a:ext>
            </a:extLst>
          </p:cNvPr>
          <p:cNvSpPr/>
          <p:nvPr/>
        </p:nvSpPr>
        <p:spPr>
          <a:xfrm>
            <a:off x="541352" y="1605599"/>
            <a:ext cx="1620000" cy="1620000"/>
          </a:xfrm>
          <a:prstGeom prst="ellipse">
            <a:avLst/>
          </a:prstGeom>
          <a:noFill/>
          <a:ln w="25400">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B26EB87-C280-4E4F-A8E0-77D2197B2205}"/>
              </a:ext>
            </a:extLst>
          </p:cNvPr>
          <p:cNvSpPr txBox="1"/>
          <p:nvPr/>
        </p:nvSpPr>
        <p:spPr>
          <a:xfrm>
            <a:off x="74749" y="918896"/>
            <a:ext cx="9487277" cy="461665"/>
          </a:xfrm>
          <a:prstGeom prst="rect">
            <a:avLst/>
          </a:prstGeom>
          <a:noFill/>
        </p:spPr>
        <p:txBody>
          <a:bodyPr wrap="none" rtlCol="0">
            <a:spAutoFit/>
          </a:bodyPr>
          <a:lstStyle/>
          <a:p>
            <a:r>
              <a:rPr lang="en-ZA" sz="2400" dirty="0">
                <a:latin typeface="+mj-lt"/>
              </a:rPr>
              <a:t>Applying quantum phenomena to thinking and decision-making processes.</a:t>
            </a:r>
            <a:endParaRPr lang="en-US" sz="2400" dirty="0">
              <a:latin typeface="+mj-lt"/>
            </a:endParaRPr>
          </a:p>
        </p:txBody>
      </p:sp>
    </p:spTree>
    <p:extLst>
      <p:ext uri="{BB962C8B-B14F-4D97-AF65-F5344CB8AC3E}">
        <p14:creationId xmlns:p14="http://schemas.microsoft.com/office/powerpoint/2010/main" val="11157186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ounded Rectangle 26">
            <a:extLst>
              <a:ext uri="{FF2B5EF4-FFF2-40B4-BE49-F238E27FC236}">
                <a16:creationId xmlns:a16="http://schemas.microsoft.com/office/drawing/2014/main" id="{70F8B5CD-4F61-6B4A-9D08-B53E1607777E}"/>
              </a:ext>
            </a:extLst>
          </p:cNvPr>
          <p:cNvSpPr/>
          <p:nvPr/>
        </p:nvSpPr>
        <p:spPr>
          <a:xfrm>
            <a:off x="332873" y="3901062"/>
            <a:ext cx="7990391" cy="1878136"/>
          </a:xfrm>
          <a:prstGeom prst="roundRect">
            <a:avLst/>
          </a:prstGeom>
          <a:gradFill flip="none" rotWithShape="1">
            <a:gsLst>
              <a:gs pos="0">
                <a:schemeClr val="accent5">
                  <a:lumMod val="5000"/>
                  <a:lumOff val="95000"/>
                  <a:alpha val="0"/>
                </a:schemeClr>
              </a:gs>
              <a:gs pos="100000">
                <a:schemeClr val="accent5">
                  <a:lumMod val="30000"/>
                  <a:lumOff val="7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a:extLst>
              <a:ext uri="{FF2B5EF4-FFF2-40B4-BE49-F238E27FC236}">
                <a16:creationId xmlns:a16="http://schemas.microsoft.com/office/drawing/2014/main" id="{E85DCCF8-5D5A-4841-BF1E-37BAA408D9FA}"/>
              </a:ext>
            </a:extLst>
          </p:cNvPr>
          <p:cNvSpPr/>
          <p:nvPr/>
        </p:nvSpPr>
        <p:spPr>
          <a:xfrm>
            <a:off x="124909" y="1212360"/>
            <a:ext cx="7990391" cy="2281779"/>
          </a:xfrm>
          <a:prstGeom prst="roundRect">
            <a:avLst/>
          </a:prstGeom>
          <a:gradFill flip="none" rotWithShape="1">
            <a:gsLst>
              <a:gs pos="0">
                <a:schemeClr val="accent5">
                  <a:lumMod val="5000"/>
                  <a:lumOff val="95000"/>
                  <a:alpha val="0"/>
                </a:schemeClr>
              </a:gs>
              <a:gs pos="100000">
                <a:schemeClr val="accent5">
                  <a:lumMod val="30000"/>
                  <a:lumOff val="7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A415CC07-C0B9-A84C-BCDF-2FF5D9170492}"/>
              </a:ext>
            </a:extLst>
          </p:cNvPr>
          <p:cNvSpPr>
            <a:spLocks noGrp="1"/>
          </p:cNvSpPr>
          <p:nvPr>
            <p:ph type="sldNum" sz="quarter" idx="12"/>
          </p:nvPr>
        </p:nvSpPr>
        <p:spPr/>
        <p:txBody>
          <a:bodyPr/>
          <a:lstStyle/>
          <a:p>
            <a:fld id="{591A223C-FA10-BC46-A853-03BA373D023C}" type="slidenum">
              <a:rPr lang="en-US" smtClean="0">
                <a:solidFill>
                  <a:schemeClr val="tx1"/>
                </a:solidFill>
              </a:rPr>
              <a:t>30</a:t>
            </a:fld>
            <a:endParaRPr lang="en-US">
              <a:solidFill>
                <a:schemeClr val="tx1"/>
              </a:solidFill>
            </a:endParaRPr>
          </a:p>
        </p:txBody>
      </p:sp>
      <p:sp>
        <p:nvSpPr>
          <p:cNvPr id="3" name="Title 2">
            <a:extLst>
              <a:ext uri="{FF2B5EF4-FFF2-40B4-BE49-F238E27FC236}">
                <a16:creationId xmlns:a16="http://schemas.microsoft.com/office/drawing/2014/main" id="{85B22A4A-8296-DC4B-87F5-C3CFE811D9F1}"/>
              </a:ext>
            </a:extLst>
          </p:cNvPr>
          <p:cNvSpPr>
            <a:spLocks noGrp="1"/>
          </p:cNvSpPr>
          <p:nvPr>
            <p:ph type="title"/>
          </p:nvPr>
        </p:nvSpPr>
        <p:spPr/>
        <p:txBody>
          <a:bodyPr/>
          <a:lstStyle/>
          <a:p>
            <a:r>
              <a:rPr lang="en-ZA" dirty="0"/>
              <a:t>The Final Frontier: Quantum Superintelligence</a:t>
            </a:r>
          </a:p>
        </p:txBody>
      </p:sp>
      <p:sp>
        <p:nvSpPr>
          <p:cNvPr id="4" name="Rectangle 3">
            <a:extLst>
              <a:ext uri="{FF2B5EF4-FFF2-40B4-BE49-F238E27FC236}">
                <a16:creationId xmlns:a16="http://schemas.microsoft.com/office/drawing/2014/main" id="{CA3AAA9D-FC68-3B45-81E0-1768A1F6B3C7}"/>
              </a:ext>
            </a:extLst>
          </p:cNvPr>
          <p:cNvSpPr/>
          <p:nvPr/>
        </p:nvSpPr>
        <p:spPr>
          <a:xfrm>
            <a:off x="332873" y="4186636"/>
            <a:ext cx="7620000" cy="1384995"/>
          </a:xfrm>
          <a:prstGeom prst="rect">
            <a:avLst/>
          </a:prstGeom>
        </p:spPr>
        <p:txBody>
          <a:bodyPr wrap="square">
            <a:spAutoFit/>
          </a:bodyPr>
          <a:lstStyle/>
          <a:p>
            <a:pPr algn="just"/>
            <a:r>
              <a:rPr lang="en-ZA" sz="2800" dirty="0">
                <a:latin typeface="+mj-lt"/>
              </a:rPr>
              <a:t>Quantum superintelligence (QSI) would be a self-aware intelligence far beyond the best human abilities, powered by quantum technologies.</a:t>
            </a:r>
            <a:endParaRPr lang="en-ZA" sz="2800" dirty="0">
              <a:effectLst/>
              <a:latin typeface="+mj-lt"/>
            </a:endParaRPr>
          </a:p>
        </p:txBody>
      </p:sp>
      <p:sp>
        <p:nvSpPr>
          <p:cNvPr id="5" name="TextBox 4">
            <a:extLst>
              <a:ext uri="{FF2B5EF4-FFF2-40B4-BE49-F238E27FC236}">
                <a16:creationId xmlns:a16="http://schemas.microsoft.com/office/drawing/2014/main" id="{EBE94AF4-C1F6-C64B-B55E-7955488A119D}"/>
              </a:ext>
            </a:extLst>
          </p:cNvPr>
          <p:cNvSpPr txBox="1"/>
          <p:nvPr/>
        </p:nvSpPr>
        <p:spPr>
          <a:xfrm>
            <a:off x="332873" y="1517836"/>
            <a:ext cx="7507705" cy="1815882"/>
          </a:xfrm>
          <a:prstGeom prst="rect">
            <a:avLst/>
          </a:prstGeom>
          <a:noFill/>
        </p:spPr>
        <p:txBody>
          <a:bodyPr wrap="square" rtlCol="0">
            <a:spAutoFit/>
          </a:bodyPr>
          <a:lstStyle/>
          <a:p>
            <a:pPr algn="just"/>
            <a:r>
              <a:rPr lang="en-ZA" sz="2800" dirty="0">
                <a:latin typeface="+mj-lt"/>
              </a:rPr>
              <a:t>True superintelligence would need more than computational power. It would require awareness, understanding, and perhaps entirely new forms of cognition, far beyond what today’s AI can achieve.</a:t>
            </a:r>
            <a:endParaRPr lang="en-ZA" sz="2800" dirty="0">
              <a:effectLst/>
              <a:latin typeface="+mj-lt"/>
            </a:endParaRPr>
          </a:p>
        </p:txBody>
      </p:sp>
      <p:pic>
        <p:nvPicPr>
          <p:cNvPr id="21" name="Picture 20">
            <a:extLst>
              <a:ext uri="{FF2B5EF4-FFF2-40B4-BE49-F238E27FC236}">
                <a16:creationId xmlns:a16="http://schemas.microsoft.com/office/drawing/2014/main" id="{E1C90947-2F47-004C-AFC6-C8129B427271}"/>
              </a:ext>
            </a:extLst>
          </p:cNvPr>
          <p:cNvPicPr>
            <a:picLocks noChangeAspect="1"/>
          </p:cNvPicPr>
          <p:nvPr/>
        </p:nvPicPr>
        <p:blipFill>
          <a:blip r:embed="rId3"/>
          <a:stretch>
            <a:fillRect/>
          </a:stretch>
        </p:blipFill>
        <p:spPr>
          <a:xfrm>
            <a:off x="7563839" y="160421"/>
            <a:ext cx="4655055" cy="6697579"/>
          </a:xfrm>
          <a:prstGeom prst="rect">
            <a:avLst/>
          </a:prstGeom>
        </p:spPr>
      </p:pic>
      <p:pic>
        <p:nvPicPr>
          <p:cNvPr id="24" name="Picture 23">
            <a:extLst>
              <a:ext uri="{FF2B5EF4-FFF2-40B4-BE49-F238E27FC236}">
                <a16:creationId xmlns:a16="http://schemas.microsoft.com/office/drawing/2014/main" id="{5BADA38A-C4FA-C84C-8389-3E16EB2B2270}"/>
              </a:ext>
            </a:extLst>
          </p:cNvPr>
          <p:cNvPicPr>
            <a:picLocks noChangeAspect="1"/>
          </p:cNvPicPr>
          <p:nvPr/>
        </p:nvPicPr>
        <p:blipFill>
          <a:blip r:embed="rId4">
            <a:alphaModFix amt="78000"/>
          </a:blip>
          <a:stretch>
            <a:fillRect/>
          </a:stretch>
        </p:blipFill>
        <p:spPr>
          <a:xfrm>
            <a:off x="0" y="5286057"/>
            <a:ext cx="10411326" cy="2305274"/>
          </a:xfrm>
          <a:prstGeom prst="rect">
            <a:avLst/>
          </a:prstGeom>
        </p:spPr>
      </p:pic>
    </p:spTree>
    <p:extLst>
      <p:ext uri="{BB962C8B-B14F-4D97-AF65-F5344CB8AC3E}">
        <p14:creationId xmlns:p14="http://schemas.microsoft.com/office/powerpoint/2010/main" val="12039227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31</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8" name="Picture 7">
            <a:extLst>
              <a:ext uri="{FF2B5EF4-FFF2-40B4-BE49-F238E27FC236}">
                <a16:creationId xmlns:a16="http://schemas.microsoft.com/office/drawing/2014/main" id="{68BB7708-FD2B-C44A-95EC-675AEE661F60}"/>
              </a:ext>
            </a:extLst>
          </p:cNvPr>
          <p:cNvPicPr>
            <a:picLocks noChangeAspect="1"/>
          </p:cNvPicPr>
          <p:nvPr/>
        </p:nvPicPr>
        <p:blipFill>
          <a:blip r:embed="rId4"/>
          <a:stretch>
            <a:fillRect/>
          </a:stretch>
        </p:blipFill>
        <p:spPr>
          <a:xfrm>
            <a:off x="3640187" y="3654697"/>
            <a:ext cx="2889913" cy="2889913"/>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318941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170530</TotalTime>
  <Words>6418</Words>
  <Application>Microsoft Macintosh PowerPoint</Application>
  <PresentationFormat>Widescreen</PresentationFormat>
  <Paragraphs>721</Paragraphs>
  <Slides>31</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Calibri Light</vt:lpstr>
      <vt:lpstr>Cambria Math</vt:lpstr>
      <vt:lpstr>Comic Sans MS</vt:lpstr>
      <vt:lpstr>Roboto</vt:lpstr>
      <vt:lpstr>Times</vt:lpstr>
      <vt:lpstr>Times New Roman</vt:lpstr>
      <vt:lpstr>Office Theme</vt:lpstr>
      <vt:lpstr>PowerPoint Presentation</vt:lpstr>
      <vt:lpstr>A Brief History of AI and Machine Learning</vt:lpstr>
      <vt:lpstr>Defining AI, Machine Learning, and Quantum AI</vt:lpstr>
      <vt:lpstr>Artificial Intelligence, Machine Learning, and Deep Learning </vt:lpstr>
      <vt:lpstr>Learning From Data</vt:lpstr>
      <vt:lpstr>Types of Machine Learning</vt:lpstr>
      <vt:lpstr>Discriminative and Generative Models</vt:lpstr>
      <vt:lpstr>Key Concepts: Data, Attributes, and Features</vt:lpstr>
      <vt:lpstr>Quantum Machine Learning by Data and Algorithm Type</vt:lpstr>
      <vt:lpstr>Three-step QML Model</vt:lpstr>
      <vt:lpstr>PowerPoint Presentation</vt:lpstr>
      <vt:lpstr>Variational Quantum Model</vt:lpstr>
      <vt:lpstr>Angle Encoding</vt:lpstr>
      <vt:lpstr>Higher-order Encoding</vt:lpstr>
      <vt:lpstr>Variational Layer: Ansatz</vt:lpstr>
      <vt:lpstr>IBM’s Real Amplitudes Model</vt:lpstr>
      <vt:lpstr>Examples of Variational Quantum Circuits</vt:lpstr>
      <vt:lpstr>Entanglement Topologies</vt:lpstr>
      <vt:lpstr>Measurement and Readout in VQC</vt:lpstr>
      <vt:lpstr>Parity Classification</vt:lpstr>
      <vt:lpstr>Generative QML - Quantum Circuit Born Machine</vt:lpstr>
      <vt:lpstr>Training a Variational Quantum Model</vt:lpstr>
      <vt:lpstr>The Optimization Loop in VQC</vt:lpstr>
      <vt:lpstr>PowerPoint Presentation</vt:lpstr>
      <vt:lpstr>Quantum AI Roadmap</vt:lpstr>
      <vt:lpstr>Gödel and the Question of AGI</vt:lpstr>
      <vt:lpstr>Penrose Hameroff: Orchestrated Objective Reduction (Orch-OR)</vt:lpstr>
      <vt:lpstr>A Stochastic Quantum Neural Network Model for AI  (QNNS)</vt:lpstr>
      <vt:lpstr>Quantum Cognitive Models</vt:lpstr>
      <vt:lpstr>The Final Frontier: Quantum Superintelligence</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2946</cp:revision>
  <cp:lastPrinted>2026-08-23T21:12:04Z</cp:lastPrinted>
  <dcterms:created xsi:type="dcterms:W3CDTF">2021-12-18T08:25:37Z</dcterms:created>
  <dcterms:modified xsi:type="dcterms:W3CDTF">2026-09-04T16:19:02Z</dcterms:modified>
</cp:coreProperties>
</file>