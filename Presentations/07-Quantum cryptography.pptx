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handoutMasterIdLst>
    <p:handoutMasterId r:id="rId38"/>
  </p:handoutMasterIdLst>
  <p:sldIdLst>
    <p:sldId id="726" r:id="rId2"/>
    <p:sldId id="642" r:id="rId3"/>
    <p:sldId id="643" r:id="rId4"/>
    <p:sldId id="428" r:id="rId5"/>
    <p:sldId id="779" r:id="rId6"/>
    <p:sldId id="645" r:id="rId7"/>
    <p:sldId id="499" r:id="rId8"/>
    <p:sldId id="774" r:id="rId9"/>
    <p:sldId id="776" r:id="rId10"/>
    <p:sldId id="605" r:id="rId11"/>
    <p:sldId id="628" r:id="rId12"/>
    <p:sldId id="781" r:id="rId13"/>
    <p:sldId id="623" r:id="rId14"/>
    <p:sldId id="515" r:id="rId15"/>
    <p:sldId id="413" r:id="rId16"/>
    <p:sldId id="415" r:id="rId17"/>
    <p:sldId id="740" r:id="rId18"/>
    <p:sldId id="414" r:id="rId19"/>
    <p:sldId id="644" r:id="rId20"/>
    <p:sldId id="694" r:id="rId21"/>
    <p:sldId id="619" r:id="rId22"/>
    <p:sldId id="625" r:id="rId23"/>
    <p:sldId id="695" r:id="rId24"/>
    <p:sldId id="659" r:id="rId25"/>
    <p:sldId id="658" r:id="rId26"/>
    <p:sldId id="664" r:id="rId27"/>
    <p:sldId id="665" r:id="rId28"/>
    <p:sldId id="636" r:id="rId29"/>
    <p:sldId id="638" r:id="rId30"/>
    <p:sldId id="639" r:id="rId31"/>
    <p:sldId id="637" r:id="rId32"/>
    <p:sldId id="641" r:id="rId33"/>
    <p:sldId id="777" r:id="rId34"/>
    <p:sldId id="532" r:id="rId35"/>
    <p:sldId id="73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000FF"/>
    <a:srgbClr val="FA9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4"/>
    <p:restoredTop sz="58381"/>
  </p:normalViewPr>
  <p:slideViewPr>
    <p:cSldViewPr snapToGrid="0" snapToObjects="1">
      <p:cViewPr>
        <p:scale>
          <a:sx n="84" d="100"/>
          <a:sy n="84" d="100"/>
        </p:scale>
        <p:origin x="1488" y="144"/>
      </p:cViewPr>
      <p:guideLst/>
    </p:cSldViewPr>
  </p:slideViewPr>
  <p:outlineViewPr>
    <p:cViewPr>
      <p:scale>
        <a:sx n="33" d="100"/>
        <a:sy n="33" d="100"/>
      </p:scale>
      <p:origin x="0" y="0"/>
    </p:cViewPr>
  </p:outlineViewPr>
  <p:notesTextViewPr>
    <p:cViewPr>
      <p:scale>
        <a:sx n="185" d="100"/>
        <a:sy n="18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17CA94-8D04-0A4D-809F-39CF6F3CB325}" type="doc">
      <dgm:prSet loTypeId="urn:microsoft.com/office/officeart/2005/8/layout/orgChart1" loCatId="" qsTypeId="urn:microsoft.com/office/officeart/2005/8/quickstyle/simple1" qsCatId="simple" csTypeId="urn:microsoft.com/office/officeart/2005/8/colors/colorful1" csCatId="colorful" phldr="1"/>
      <dgm:spPr/>
      <dgm:t>
        <a:bodyPr/>
        <a:lstStyle/>
        <a:p>
          <a:endParaRPr lang="en-US"/>
        </a:p>
      </dgm:t>
    </dgm:pt>
    <dgm:pt modelId="{64A2785D-BF5B-0341-BEC2-15087D758EA8}">
      <dgm:prSet phldrT="[Text]" custT="1"/>
      <dgm:spPr>
        <a:solidFill>
          <a:schemeClr val="accent6">
            <a:lumMod val="50000"/>
          </a:schemeClr>
        </a:solidFill>
      </dgm:spPr>
      <dgm:t>
        <a:bodyPr/>
        <a:lstStyle/>
        <a:p>
          <a:r>
            <a:rPr lang="en-ZA" sz="2200" dirty="0"/>
            <a:t>Cryptology</a:t>
          </a:r>
          <a:endParaRPr lang="en-US" sz="2200" dirty="0"/>
        </a:p>
      </dgm:t>
    </dgm:pt>
    <dgm:pt modelId="{0479C1D8-4DF4-5147-81EB-5733860F6A12}" type="parTrans" cxnId="{83C2979D-CABE-0742-94D8-FC1F20133A16}">
      <dgm:prSet/>
      <dgm:spPr/>
      <dgm:t>
        <a:bodyPr/>
        <a:lstStyle/>
        <a:p>
          <a:endParaRPr lang="en-US" sz="2200"/>
        </a:p>
      </dgm:t>
    </dgm:pt>
    <dgm:pt modelId="{3F3464DD-021D-E04D-9440-C2730AF3CC1C}" type="sibTrans" cxnId="{83C2979D-CABE-0742-94D8-FC1F20133A16}">
      <dgm:prSet/>
      <dgm:spPr/>
      <dgm:t>
        <a:bodyPr/>
        <a:lstStyle/>
        <a:p>
          <a:endParaRPr lang="en-US" sz="2200"/>
        </a:p>
      </dgm:t>
    </dgm:pt>
    <dgm:pt modelId="{E4C2B42F-6907-E649-9B40-9A2C2F299B31}" type="asst">
      <dgm:prSet phldrT="[Text]" custT="1"/>
      <dgm:spPr>
        <a:solidFill>
          <a:srgbClr val="C00000"/>
        </a:solidFill>
      </dgm:spPr>
      <dgm:t>
        <a:bodyPr/>
        <a:lstStyle/>
        <a:p>
          <a:r>
            <a:rPr lang="en-ZA" sz="2200" dirty="0"/>
            <a:t>Cryptography</a:t>
          </a:r>
          <a:endParaRPr lang="en-US" sz="2200" dirty="0"/>
        </a:p>
      </dgm:t>
    </dgm:pt>
    <dgm:pt modelId="{D0FC8465-E948-F74F-9634-96B479B23195}" type="parTrans" cxnId="{FCB5BB64-C142-E04C-A42A-E2CA13D55B1B}">
      <dgm:prSet custT="1"/>
      <dgm:spPr/>
      <dgm:t>
        <a:bodyPr/>
        <a:lstStyle/>
        <a:p>
          <a:endParaRPr lang="en-US" sz="2200"/>
        </a:p>
      </dgm:t>
    </dgm:pt>
    <dgm:pt modelId="{980FD1B6-05F8-254C-BEA6-F94FCCBE8170}" type="sibTrans" cxnId="{FCB5BB64-C142-E04C-A42A-E2CA13D55B1B}">
      <dgm:prSet/>
      <dgm:spPr/>
      <dgm:t>
        <a:bodyPr/>
        <a:lstStyle/>
        <a:p>
          <a:endParaRPr lang="en-US" sz="2200"/>
        </a:p>
      </dgm:t>
    </dgm:pt>
    <dgm:pt modelId="{28FBAFB2-1739-F749-9ED1-F8BB6BF051AC}" type="asst">
      <dgm:prSet phldrT="[Text]" custT="1"/>
      <dgm:spPr>
        <a:solidFill>
          <a:srgbClr val="7030A0"/>
        </a:solidFill>
      </dgm:spPr>
      <dgm:t>
        <a:bodyPr/>
        <a:lstStyle/>
        <a:p>
          <a:r>
            <a:rPr lang="en-ZA" sz="2200" dirty="0"/>
            <a:t>Cryptanalysis</a:t>
          </a:r>
          <a:endParaRPr lang="en-US" sz="2200" dirty="0"/>
        </a:p>
      </dgm:t>
    </dgm:pt>
    <dgm:pt modelId="{B526E966-AE45-B84E-A6FA-5A888AF7FD01}" type="parTrans" cxnId="{F4B48973-9CA0-214E-B3F3-E2C8B283E96C}">
      <dgm:prSet custT="1"/>
      <dgm:spPr/>
      <dgm:t>
        <a:bodyPr/>
        <a:lstStyle/>
        <a:p>
          <a:endParaRPr lang="en-US" sz="2200"/>
        </a:p>
      </dgm:t>
    </dgm:pt>
    <dgm:pt modelId="{6E4CE26F-1A1A-014E-AED8-417BDA888241}" type="sibTrans" cxnId="{F4B48973-9CA0-214E-B3F3-E2C8B283E96C}">
      <dgm:prSet/>
      <dgm:spPr/>
      <dgm:t>
        <a:bodyPr/>
        <a:lstStyle/>
        <a:p>
          <a:endParaRPr lang="en-US" sz="2200"/>
        </a:p>
      </dgm:t>
    </dgm:pt>
    <dgm:pt modelId="{44299082-03EB-1542-BCC4-6FED8B997E21}" type="asst">
      <dgm:prSet phldrT="[Text]" custT="1"/>
      <dgm:spPr>
        <a:solidFill>
          <a:schemeClr val="accent6">
            <a:lumMod val="50000"/>
          </a:schemeClr>
        </a:solidFill>
      </dgm:spPr>
      <dgm:t>
        <a:bodyPr/>
        <a:lstStyle/>
        <a:p>
          <a:r>
            <a:rPr lang="en-US" sz="2200" dirty="0"/>
            <a:t>Classical</a:t>
          </a:r>
        </a:p>
      </dgm:t>
    </dgm:pt>
    <dgm:pt modelId="{931E2A1B-4B1A-E84C-9DD0-40F991929111}" type="parTrans" cxnId="{3981BDC6-F5C2-2340-B511-FB24A3E3063C}">
      <dgm:prSet custT="1"/>
      <dgm:spPr/>
      <dgm:t>
        <a:bodyPr/>
        <a:lstStyle/>
        <a:p>
          <a:endParaRPr lang="en-US" sz="2200"/>
        </a:p>
      </dgm:t>
    </dgm:pt>
    <dgm:pt modelId="{4448D64A-4C39-3E4E-BE90-354A312C1CBB}" type="sibTrans" cxnId="{3981BDC6-F5C2-2340-B511-FB24A3E3063C}">
      <dgm:prSet/>
      <dgm:spPr/>
      <dgm:t>
        <a:bodyPr/>
        <a:lstStyle/>
        <a:p>
          <a:endParaRPr lang="en-US" sz="2200"/>
        </a:p>
      </dgm:t>
    </dgm:pt>
    <dgm:pt modelId="{27094988-488F-8241-9DA9-647587EE63EF}" type="asst">
      <dgm:prSet phldrT="[Text]" custT="1"/>
      <dgm:spPr>
        <a:solidFill>
          <a:schemeClr val="accent5">
            <a:lumMod val="50000"/>
          </a:schemeClr>
        </a:solidFill>
      </dgm:spPr>
      <dgm:t>
        <a:bodyPr/>
        <a:lstStyle/>
        <a:p>
          <a:r>
            <a:rPr lang="en-US" sz="2200" dirty="0"/>
            <a:t>Quantum</a:t>
          </a:r>
        </a:p>
      </dgm:t>
    </dgm:pt>
    <dgm:pt modelId="{A08BDFB2-7E71-D745-8AB6-620283E29BAC}" type="parTrans" cxnId="{FA09CE7B-4558-1845-B0AC-A7D0EA9EC2B4}">
      <dgm:prSet custT="1"/>
      <dgm:spPr/>
      <dgm:t>
        <a:bodyPr/>
        <a:lstStyle/>
        <a:p>
          <a:endParaRPr lang="en-US" sz="2200"/>
        </a:p>
      </dgm:t>
    </dgm:pt>
    <dgm:pt modelId="{031AB443-4D74-F44E-BCF4-1066E3596996}" type="sibTrans" cxnId="{FA09CE7B-4558-1845-B0AC-A7D0EA9EC2B4}">
      <dgm:prSet/>
      <dgm:spPr/>
      <dgm:t>
        <a:bodyPr/>
        <a:lstStyle/>
        <a:p>
          <a:endParaRPr lang="en-US" sz="2200"/>
        </a:p>
      </dgm:t>
    </dgm:pt>
    <dgm:pt modelId="{F89B8D35-B6FB-4E4C-9704-70997587614B}" type="asst">
      <dgm:prSet phldrT="[Text]" custT="1"/>
      <dgm:spPr>
        <a:solidFill>
          <a:schemeClr val="accent6">
            <a:lumMod val="75000"/>
          </a:schemeClr>
        </a:solidFill>
      </dgm:spPr>
      <dgm:t>
        <a:bodyPr/>
        <a:lstStyle/>
        <a:p>
          <a:r>
            <a:rPr lang="en-ZA" sz="2200" dirty="0"/>
            <a:t>Symmetric</a:t>
          </a:r>
          <a:endParaRPr lang="en-US" sz="2200" dirty="0"/>
        </a:p>
      </dgm:t>
    </dgm:pt>
    <dgm:pt modelId="{FE0D5EA4-6C09-9240-9743-3E194B54F4AB}" type="parTrans" cxnId="{A95BE960-3329-3542-B536-1AB9206E0D62}">
      <dgm:prSet custT="1"/>
      <dgm:spPr/>
      <dgm:t>
        <a:bodyPr/>
        <a:lstStyle/>
        <a:p>
          <a:endParaRPr lang="en-US" sz="2200"/>
        </a:p>
      </dgm:t>
    </dgm:pt>
    <dgm:pt modelId="{DF40DA30-6703-4D48-A849-436ED735C6B5}" type="sibTrans" cxnId="{A95BE960-3329-3542-B536-1AB9206E0D62}">
      <dgm:prSet/>
      <dgm:spPr/>
      <dgm:t>
        <a:bodyPr/>
        <a:lstStyle/>
        <a:p>
          <a:endParaRPr lang="en-US" sz="2200"/>
        </a:p>
      </dgm:t>
    </dgm:pt>
    <dgm:pt modelId="{F464E988-A53A-AB45-B5DE-13D8DBD86005}" type="asst">
      <dgm:prSet phldrT="[Text]" custT="1"/>
      <dgm:spPr>
        <a:solidFill>
          <a:schemeClr val="accent6">
            <a:lumMod val="75000"/>
          </a:schemeClr>
        </a:solidFill>
      </dgm:spPr>
      <dgm:t>
        <a:bodyPr/>
        <a:lstStyle/>
        <a:p>
          <a:r>
            <a:rPr lang="en-ZA" sz="2200" dirty="0"/>
            <a:t>Asymmetric</a:t>
          </a:r>
          <a:endParaRPr lang="en-US" sz="2200" dirty="0"/>
        </a:p>
      </dgm:t>
    </dgm:pt>
    <dgm:pt modelId="{25E1C070-FCC9-994A-9688-4C77092778A3}" type="parTrans" cxnId="{C7289C4F-D0D8-3F42-9A4A-BC205A20B3DA}">
      <dgm:prSet custT="1"/>
      <dgm:spPr/>
      <dgm:t>
        <a:bodyPr/>
        <a:lstStyle/>
        <a:p>
          <a:endParaRPr lang="en-US" sz="2200"/>
        </a:p>
      </dgm:t>
    </dgm:pt>
    <dgm:pt modelId="{560EB83C-186F-BC41-86FB-AAF1A1D7C9BA}" type="sibTrans" cxnId="{C7289C4F-D0D8-3F42-9A4A-BC205A20B3DA}">
      <dgm:prSet/>
      <dgm:spPr/>
      <dgm:t>
        <a:bodyPr/>
        <a:lstStyle/>
        <a:p>
          <a:endParaRPr lang="en-US" sz="2200"/>
        </a:p>
      </dgm:t>
    </dgm:pt>
    <dgm:pt modelId="{C5260453-F1F0-D343-8E89-A1696D6EAD24}" type="asst">
      <dgm:prSet phldrT="[Text]" custT="1"/>
      <dgm:spPr>
        <a:solidFill>
          <a:schemeClr val="accent6">
            <a:lumMod val="75000"/>
          </a:schemeClr>
        </a:solidFill>
      </dgm:spPr>
      <dgm:t>
        <a:bodyPr/>
        <a:lstStyle/>
        <a:p>
          <a:r>
            <a:rPr lang="en-ZA" sz="2200" dirty="0"/>
            <a:t>Hash functions</a:t>
          </a:r>
          <a:endParaRPr lang="en-US" sz="2200" dirty="0"/>
        </a:p>
      </dgm:t>
    </dgm:pt>
    <dgm:pt modelId="{5EDE1AEE-131E-8147-9F43-A9BFC1CFACD0}" type="parTrans" cxnId="{EAD60CE1-7109-5544-B7D9-AED80BBF0E70}">
      <dgm:prSet custT="1"/>
      <dgm:spPr/>
      <dgm:t>
        <a:bodyPr/>
        <a:lstStyle/>
        <a:p>
          <a:endParaRPr lang="en-US" sz="2200"/>
        </a:p>
      </dgm:t>
    </dgm:pt>
    <dgm:pt modelId="{2FCC7DF6-BD12-524B-AFC1-A8C0DDA84813}" type="sibTrans" cxnId="{EAD60CE1-7109-5544-B7D9-AED80BBF0E70}">
      <dgm:prSet/>
      <dgm:spPr/>
      <dgm:t>
        <a:bodyPr/>
        <a:lstStyle/>
        <a:p>
          <a:endParaRPr lang="en-US" sz="2200"/>
        </a:p>
      </dgm:t>
    </dgm:pt>
    <dgm:pt modelId="{03DC5D58-ACFC-B74C-BCF4-FBFAB9F74456}" type="asst">
      <dgm:prSet phldrT="[Text]" custT="1"/>
      <dgm:spPr>
        <a:solidFill>
          <a:schemeClr val="accent6">
            <a:lumMod val="75000"/>
          </a:schemeClr>
        </a:solidFill>
      </dgm:spPr>
      <dgm:t>
        <a:bodyPr/>
        <a:lstStyle/>
        <a:p>
          <a:r>
            <a:rPr lang="en-US" sz="2200" dirty="0"/>
            <a:t>Post-quantum</a:t>
          </a:r>
        </a:p>
      </dgm:t>
    </dgm:pt>
    <dgm:pt modelId="{79C5411B-DB19-534D-9110-4E008E55BE08}" type="parTrans" cxnId="{BD6AAA3D-E517-5F47-B4D0-F4FBB4E4E609}">
      <dgm:prSet/>
      <dgm:spPr/>
      <dgm:t>
        <a:bodyPr/>
        <a:lstStyle/>
        <a:p>
          <a:endParaRPr lang="en-US" sz="2200"/>
        </a:p>
      </dgm:t>
    </dgm:pt>
    <dgm:pt modelId="{C2F75624-295F-A349-A350-073CE26A70D0}" type="sibTrans" cxnId="{BD6AAA3D-E517-5F47-B4D0-F4FBB4E4E609}">
      <dgm:prSet/>
      <dgm:spPr/>
      <dgm:t>
        <a:bodyPr/>
        <a:lstStyle/>
        <a:p>
          <a:endParaRPr lang="en-US" sz="2200"/>
        </a:p>
      </dgm:t>
    </dgm:pt>
    <dgm:pt modelId="{C54532C7-4A63-6341-B4DD-FB0340AA56B5}" type="asst">
      <dgm:prSet phldrT="[Text]" custT="1"/>
      <dgm:spPr>
        <a:solidFill>
          <a:schemeClr val="accent5">
            <a:lumMod val="75000"/>
          </a:schemeClr>
        </a:solidFill>
      </dgm:spPr>
      <dgm:t>
        <a:bodyPr/>
        <a:lstStyle/>
        <a:p>
          <a:r>
            <a:rPr lang="en-ZA" sz="2200" dirty="0"/>
            <a:t>Quantum key distribution (QKD)</a:t>
          </a:r>
          <a:endParaRPr lang="en-US" sz="2200" dirty="0"/>
        </a:p>
      </dgm:t>
    </dgm:pt>
    <dgm:pt modelId="{7D951442-47CF-6F4F-A455-7A6FAB9A6641}" type="parTrans" cxnId="{C02B38DA-6768-F243-BF16-B1C7F2B383DC}">
      <dgm:prSet/>
      <dgm:spPr/>
      <dgm:t>
        <a:bodyPr/>
        <a:lstStyle/>
        <a:p>
          <a:endParaRPr lang="en-US" sz="2200"/>
        </a:p>
      </dgm:t>
    </dgm:pt>
    <dgm:pt modelId="{C5135F26-0FED-BC42-94D9-FD49781E2A77}" type="sibTrans" cxnId="{C02B38DA-6768-F243-BF16-B1C7F2B383DC}">
      <dgm:prSet/>
      <dgm:spPr/>
      <dgm:t>
        <a:bodyPr/>
        <a:lstStyle/>
        <a:p>
          <a:endParaRPr lang="en-US" sz="2200"/>
        </a:p>
      </dgm:t>
    </dgm:pt>
    <dgm:pt modelId="{32A24BFA-D1E8-D14E-A769-4C5DB25201F6}" type="asst">
      <dgm:prSet phldrT="[Text]" custT="1"/>
      <dgm:spPr>
        <a:solidFill>
          <a:schemeClr val="accent5">
            <a:lumMod val="75000"/>
          </a:schemeClr>
        </a:solidFill>
      </dgm:spPr>
      <dgm:t>
        <a:bodyPr/>
        <a:lstStyle/>
        <a:p>
          <a:r>
            <a:rPr lang="en-US" sz="2200" dirty="0"/>
            <a:t>Quantum hash</a:t>
          </a:r>
        </a:p>
      </dgm:t>
    </dgm:pt>
    <dgm:pt modelId="{F1231CB3-0F0B-9148-B869-8F4EAE48E1B9}" type="parTrans" cxnId="{67F3A273-1EAC-5E4B-8BAB-982D81312C4C}">
      <dgm:prSet/>
      <dgm:spPr/>
      <dgm:t>
        <a:bodyPr/>
        <a:lstStyle/>
        <a:p>
          <a:endParaRPr lang="en-US" sz="2200"/>
        </a:p>
      </dgm:t>
    </dgm:pt>
    <dgm:pt modelId="{441ACFF2-0BEC-E045-8D51-BFD7B3DD9E82}" type="sibTrans" cxnId="{67F3A273-1EAC-5E4B-8BAB-982D81312C4C}">
      <dgm:prSet/>
      <dgm:spPr/>
      <dgm:t>
        <a:bodyPr/>
        <a:lstStyle/>
        <a:p>
          <a:endParaRPr lang="en-US" sz="2200"/>
        </a:p>
      </dgm:t>
    </dgm:pt>
    <dgm:pt modelId="{35B1C07D-4B23-C94D-9BBB-603F5614B10D}" type="asst">
      <dgm:prSet phldrT="[Text]" custT="1"/>
      <dgm:spPr>
        <a:solidFill>
          <a:schemeClr val="accent5">
            <a:lumMod val="75000"/>
          </a:schemeClr>
        </a:solidFill>
      </dgm:spPr>
      <dgm:t>
        <a:bodyPr/>
        <a:lstStyle/>
        <a:p>
          <a:r>
            <a:rPr lang="en-US" sz="2200" dirty="0"/>
            <a:t>Quantum digital signatures</a:t>
          </a:r>
        </a:p>
      </dgm:t>
    </dgm:pt>
    <dgm:pt modelId="{85E5D349-995C-BA4D-99CD-EB9861C5824B}" type="parTrans" cxnId="{3C99AA7E-6CF2-B140-A32F-2A98F3526364}">
      <dgm:prSet/>
      <dgm:spPr/>
      <dgm:t>
        <a:bodyPr/>
        <a:lstStyle/>
        <a:p>
          <a:endParaRPr lang="en-US" sz="2200"/>
        </a:p>
      </dgm:t>
    </dgm:pt>
    <dgm:pt modelId="{B78F90E1-5822-0E40-AE0C-768DD19AF119}" type="sibTrans" cxnId="{3C99AA7E-6CF2-B140-A32F-2A98F3526364}">
      <dgm:prSet/>
      <dgm:spPr/>
      <dgm:t>
        <a:bodyPr/>
        <a:lstStyle/>
        <a:p>
          <a:endParaRPr lang="en-US" sz="2200"/>
        </a:p>
      </dgm:t>
    </dgm:pt>
    <dgm:pt modelId="{28E37432-BFE0-A045-9E9B-A8C8324F04E1}" type="asst">
      <dgm:prSet phldrT="[Text]" custT="1"/>
      <dgm:spPr>
        <a:solidFill>
          <a:schemeClr val="accent5">
            <a:lumMod val="75000"/>
          </a:schemeClr>
        </a:solidFill>
      </dgm:spPr>
      <dgm:t>
        <a:bodyPr/>
        <a:lstStyle/>
        <a:p>
          <a:r>
            <a:rPr lang="en-US" sz="2200" dirty="0"/>
            <a:t>QRNG</a:t>
          </a:r>
        </a:p>
      </dgm:t>
    </dgm:pt>
    <dgm:pt modelId="{CF258D41-6EC1-2A47-8A4D-9D76BBCE6126}" type="parTrans" cxnId="{FB456C0C-9240-EE41-9204-AFC6910EA777}">
      <dgm:prSet/>
      <dgm:spPr/>
      <dgm:t>
        <a:bodyPr/>
        <a:lstStyle/>
        <a:p>
          <a:endParaRPr lang="en-US" sz="2200"/>
        </a:p>
      </dgm:t>
    </dgm:pt>
    <dgm:pt modelId="{C5CB963C-90E8-5248-B0C6-D228123FF5E8}" type="sibTrans" cxnId="{FB456C0C-9240-EE41-9204-AFC6910EA777}">
      <dgm:prSet/>
      <dgm:spPr/>
      <dgm:t>
        <a:bodyPr/>
        <a:lstStyle/>
        <a:p>
          <a:endParaRPr lang="en-US" sz="2200"/>
        </a:p>
      </dgm:t>
    </dgm:pt>
    <dgm:pt modelId="{37664623-A46E-F042-A59F-0766E688C0A8}" type="pres">
      <dgm:prSet presAssocID="{E417CA94-8D04-0A4D-809F-39CF6F3CB325}" presName="hierChild1" presStyleCnt="0">
        <dgm:presLayoutVars>
          <dgm:orgChart val="1"/>
          <dgm:chPref val="1"/>
          <dgm:dir/>
          <dgm:animOne val="branch"/>
          <dgm:animLvl val="lvl"/>
          <dgm:resizeHandles/>
        </dgm:presLayoutVars>
      </dgm:prSet>
      <dgm:spPr/>
    </dgm:pt>
    <dgm:pt modelId="{A516A53D-35EA-E346-8C71-2011DE06EFEE}" type="pres">
      <dgm:prSet presAssocID="{64A2785D-BF5B-0341-BEC2-15087D758EA8}" presName="hierRoot1" presStyleCnt="0">
        <dgm:presLayoutVars>
          <dgm:hierBranch val="init"/>
        </dgm:presLayoutVars>
      </dgm:prSet>
      <dgm:spPr/>
    </dgm:pt>
    <dgm:pt modelId="{3E3BF415-7BAF-6B4A-94EB-5C9D543B812B}" type="pres">
      <dgm:prSet presAssocID="{64A2785D-BF5B-0341-BEC2-15087D758EA8}" presName="rootComposite1" presStyleCnt="0"/>
      <dgm:spPr/>
    </dgm:pt>
    <dgm:pt modelId="{089941C7-F5C0-4F46-BAC8-0348DAEC84EB}" type="pres">
      <dgm:prSet presAssocID="{64A2785D-BF5B-0341-BEC2-15087D758EA8}" presName="rootText1" presStyleLbl="node0" presStyleIdx="0" presStyleCnt="1" custScaleX="649734" custScaleY="475873" custLinFactX="-392732" custLinFactNeighborX="-400000" custLinFactNeighborY="46742">
        <dgm:presLayoutVars>
          <dgm:chPref val="3"/>
        </dgm:presLayoutVars>
      </dgm:prSet>
      <dgm:spPr/>
    </dgm:pt>
    <dgm:pt modelId="{6EE9BAEF-388A-934E-8BB7-7087A854B32A}" type="pres">
      <dgm:prSet presAssocID="{64A2785D-BF5B-0341-BEC2-15087D758EA8}" presName="rootConnector1" presStyleLbl="node1" presStyleIdx="0" presStyleCnt="0"/>
      <dgm:spPr/>
    </dgm:pt>
    <dgm:pt modelId="{E97D8431-8023-F34E-B673-BDB79E968438}" type="pres">
      <dgm:prSet presAssocID="{64A2785D-BF5B-0341-BEC2-15087D758EA8}" presName="hierChild2" presStyleCnt="0"/>
      <dgm:spPr/>
    </dgm:pt>
    <dgm:pt modelId="{EDB51297-24E8-4044-9BDF-135C9E899B3D}" type="pres">
      <dgm:prSet presAssocID="{64A2785D-BF5B-0341-BEC2-15087D758EA8}" presName="hierChild3" presStyleCnt="0"/>
      <dgm:spPr/>
    </dgm:pt>
    <dgm:pt modelId="{DD55A609-8A74-6548-A2EA-5A55B951E218}" type="pres">
      <dgm:prSet presAssocID="{D0FC8465-E948-F74F-9634-96B479B23195}" presName="Name111" presStyleLbl="parChTrans1D2" presStyleIdx="0" presStyleCnt="2" custSzX="1444694" custSzY="1574257"/>
      <dgm:spPr/>
    </dgm:pt>
    <dgm:pt modelId="{63186AA0-2914-0544-94EA-8B5D67FB51E8}" type="pres">
      <dgm:prSet presAssocID="{E4C2B42F-6907-E649-9B40-9A2C2F299B31}" presName="hierRoot3" presStyleCnt="0">
        <dgm:presLayoutVars>
          <dgm:hierBranch val="init"/>
        </dgm:presLayoutVars>
      </dgm:prSet>
      <dgm:spPr/>
    </dgm:pt>
    <dgm:pt modelId="{73B2DA05-5F10-C043-830A-F9112E63E6EF}" type="pres">
      <dgm:prSet presAssocID="{E4C2B42F-6907-E649-9B40-9A2C2F299B31}" presName="rootComposite3" presStyleCnt="0"/>
      <dgm:spPr/>
    </dgm:pt>
    <dgm:pt modelId="{85870795-FF9B-3B4B-90F8-7DAD2E790554}" type="pres">
      <dgm:prSet presAssocID="{E4C2B42F-6907-E649-9B40-9A2C2F299B31}" presName="rootText3" presStyleLbl="asst1" presStyleIdx="0" presStyleCnt="12" custScaleX="649734" custScaleY="475873" custLinFactX="9404" custLinFactNeighborX="100000" custLinFactNeighborY="9945">
        <dgm:presLayoutVars>
          <dgm:chPref val="3"/>
        </dgm:presLayoutVars>
      </dgm:prSet>
      <dgm:spPr/>
    </dgm:pt>
    <dgm:pt modelId="{5AAE7AD4-DA75-C643-843D-98646CA96FBD}" type="pres">
      <dgm:prSet presAssocID="{E4C2B42F-6907-E649-9B40-9A2C2F299B31}" presName="rootConnector3" presStyleLbl="asst1" presStyleIdx="0" presStyleCnt="12"/>
      <dgm:spPr/>
    </dgm:pt>
    <dgm:pt modelId="{310EB125-1F5F-E947-87F2-240F9EEACB3A}" type="pres">
      <dgm:prSet presAssocID="{E4C2B42F-6907-E649-9B40-9A2C2F299B31}" presName="hierChild6" presStyleCnt="0"/>
      <dgm:spPr/>
    </dgm:pt>
    <dgm:pt modelId="{481B912E-33AF-0F45-9DFC-B8E9C16DCB53}" type="pres">
      <dgm:prSet presAssocID="{E4C2B42F-6907-E649-9B40-9A2C2F299B31}" presName="hierChild7" presStyleCnt="0"/>
      <dgm:spPr/>
    </dgm:pt>
    <dgm:pt modelId="{8AF428D2-3C2D-6045-8972-33AFD2042A4D}" type="pres">
      <dgm:prSet presAssocID="{931E2A1B-4B1A-E84C-9DD0-40F991929111}" presName="Name111" presStyleLbl="parChTrans1D3" presStyleIdx="0" presStyleCnt="2" custSzX="1519260" custSzY="1373072"/>
      <dgm:spPr/>
    </dgm:pt>
    <dgm:pt modelId="{1D3EFF95-3DA5-C740-8568-D47CCF9CAAB4}" type="pres">
      <dgm:prSet presAssocID="{44299082-03EB-1542-BCC4-6FED8B997E21}" presName="hierRoot3" presStyleCnt="0">
        <dgm:presLayoutVars>
          <dgm:hierBranch val="init"/>
        </dgm:presLayoutVars>
      </dgm:prSet>
      <dgm:spPr/>
    </dgm:pt>
    <dgm:pt modelId="{7ABD4BF8-FC9A-EC44-BC41-34FFAEDBD9B6}" type="pres">
      <dgm:prSet presAssocID="{44299082-03EB-1542-BCC4-6FED8B997E21}" presName="rootComposite3" presStyleCnt="0"/>
      <dgm:spPr/>
    </dgm:pt>
    <dgm:pt modelId="{968261E5-0D7C-E34E-B598-91CD1961B649}" type="pres">
      <dgm:prSet presAssocID="{44299082-03EB-1542-BCC4-6FED8B997E21}" presName="rootText3" presStyleLbl="asst1" presStyleIdx="1" presStyleCnt="12" custScaleX="649734" custScaleY="475873">
        <dgm:presLayoutVars>
          <dgm:chPref val="3"/>
        </dgm:presLayoutVars>
      </dgm:prSet>
      <dgm:spPr/>
    </dgm:pt>
    <dgm:pt modelId="{CDC0B043-AD60-854C-B8AE-194E0072C85F}" type="pres">
      <dgm:prSet presAssocID="{44299082-03EB-1542-BCC4-6FED8B997E21}" presName="rootConnector3" presStyleLbl="asst1" presStyleIdx="1" presStyleCnt="12"/>
      <dgm:spPr/>
    </dgm:pt>
    <dgm:pt modelId="{2229DC7A-8F28-224E-BA66-917EB8C0DE03}" type="pres">
      <dgm:prSet presAssocID="{44299082-03EB-1542-BCC4-6FED8B997E21}" presName="hierChild6" presStyleCnt="0"/>
      <dgm:spPr/>
    </dgm:pt>
    <dgm:pt modelId="{FFCC2542-F49F-B149-90DD-CB268BFE853E}" type="pres">
      <dgm:prSet presAssocID="{44299082-03EB-1542-BCC4-6FED8B997E21}" presName="hierChild7" presStyleCnt="0"/>
      <dgm:spPr/>
    </dgm:pt>
    <dgm:pt modelId="{68860A54-B847-C94B-A9EB-CA9CD26A02AF}" type="pres">
      <dgm:prSet presAssocID="{FE0D5EA4-6C09-9240-9743-3E194B54F4AB}" presName="Name111" presStyleLbl="parChTrans1D4" presStyleIdx="0" presStyleCnt="8" custSzX="159962" custSzY="1373072"/>
      <dgm:spPr/>
    </dgm:pt>
    <dgm:pt modelId="{2EAF7FAD-3FF8-6F48-A084-A34BAE9F64DF}" type="pres">
      <dgm:prSet presAssocID="{F89B8D35-B6FB-4E4C-9704-70997587614B}" presName="hierRoot3" presStyleCnt="0">
        <dgm:presLayoutVars>
          <dgm:hierBranch val="init"/>
        </dgm:presLayoutVars>
      </dgm:prSet>
      <dgm:spPr/>
    </dgm:pt>
    <dgm:pt modelId="{35E2CD6B-6840-374C-8B67-6D8DD2D36D72}" type="pres">
      <dgm:prSet presAssocID="{F89B8D35-B6FB-4E4C-9704-70997587614B}" presName="rootComposite3" presStyleCnt="0"/>
      <dgm:spPr/>
    </dgm:pt>
    <dgm:pt modelId="{A878EFE8-7C19-B54B-BF5A-14C52F672DC6}" type="pres">
      <dgm:prSet presAssocID="{F89B8D35-B6FB-4E4C-9704-70997587614B}" presName="rootText3" presStyleLbl="asst1" presStyleIdx="2" presStyleCnt="12" custScaleX="649734" custScaleY="475873">
        <dgm:presLayoutVars>
          <dgm:chPref val="3"/>
        </dgm:presLayoutVars>
      </dgm:prSet>
      <dgm:spPr/>
    </dgm:pt>
    <dgm:pt modelId="{5A5B83B1-3497-8948-B4C1-01BB80EEBE59}" type="pres">
      <dgm:prSet presAssocID="{F89B8D35-B6FB-4E4C-9704-70997587614B}" presName="rootConnector3" presStyleLbl="asst1" presStyleIdx="2" presStyleCnt="12"/>
      <dgm:spPr/>
    </dgm:pt>
    <dgm:pt modelId="{5145274D-8941-FB49-A50E-8FFD56342CF1}" type="pres">
      <dgm:prSet presAssocID="{F89B8D35-B6FB-4E4C-9704-70997587614B}" presName="hierChild6" presStyleCnt="0"/>
      <dgm:spPr/>
    </dgm:pt>
    <dgm:pt modelId="{265AB72C-A6C7-F44D-B1A7-F0B1D379C079}" type="pres">
      <dgm:prSet presAssocID="{F89B8D35-B6FB-4E4C-9704-70997587614B}" presName="hierChild7" presStyleCnt="0"/>
      <dgm:spPr/>
    </dgm:pt>
    <dgm:pt modelId="{670353C1-3CDA-1140-ABF9-E88278A94AB9}" type="pres">
      <dgm:prSet presAssocID="{25E1C070-FCC9-994A-9688-4C77092778A3}" presName="Name111" presStyleLbl="parChTrans1D4" presStyleIdx="1" presStyleCnt="8" custSzX="159962" custSzY="1373072"/>
      <dgm:spPr/>
    </dgm:pt>
    <dgm:pt modelId="{A86B0938-83D5-A44F-A004-0AE9689C22EC}" type="pres">
      <dgm:prSet presAssocID="{F464E988-A53A-AB45-B5DE-13D8DBD86005}" presName="hierRoot3" presStyleCnt="0">
        <dgm:presLayoutVars>
          <dgm:hierBranch val="init"/>
        </dgm:presLayoutVars>
      </dgm:prSet>
      <dgm:spPr/>
    </dgm:pt>
    <dgm:pt modelId="{B9C9F6FA-B914-8041-B783-6C7E5401C1B5}" type="pres">
      <dgm:prSet presAssocID="{F464E988-A53A-AB45-B5DE-13D8DBD86005}" presName="rootComposite3" presStyleCnt="0"/>
      <dgm:spPr/>
    </dgm:pt>
    <dgm:pt modelId="{284F41C6-AD69-1D43-AFDE-4B388EC222EA}" type="pres">
      <dgm:prSet presAssocID="{F464E988-A53A-AB45-B5DE-13D8DBD86005}" presName="rootText3" presStyleLbl="asst1" presStyleIdx="3" presStyleCnt="12" custScaleX="649734" custScaleY="475873">
        <dgm:presLayoutVars>
          <dgm:chPref val="3"/>
        </dgm:presLayoutVars>
      </dgm:prSet>
      <dgm:spPr/>
    </dgm:pt>
    <dgm:pt modelId="{7E8387C3-D2A0-0746-A0B6-9BDD45BD0EE3}" type="pres">
      <dgm:prSet presAssocID="{F464E988-A53A-AB45-B5DE-13D8DBD86005}" presName="rootConnector3" presStyleLbl="asst1" presStyleIdx="3" presStyleCnt="12"/>
      <dgm:spPr/>
    </dgm:pt>
    <dgm:pt modelId="{E72927BF-BE43-2842-9230-51FFF06F0EFE}" type="pres">
      <dgm:prSet presAssocID="{F464E988-A53A-AB45-B5DE-13D8DBD86005}" presName="hierChild6" presStyleCnt="0"/>
      <dgm:spPr/>
    </dgm:pt>
    <dgm:pt modelId="{53D9F352-02C6-AA4E-866B-263B623B24A2}" type="pres">
      <dgm:prSet presAssocID="{F464E988-A53A-AB45-B5DE-13D8DBD86005}" presName="hierChild7" presStyleCnt="0"/>
      <dgm:spPr/>
    </dgm:pt>
    <dgm:pt modelId="{C0D41B11-B37A-904E-B7F6-015561C24456}" type="pres">
      <dgm:prSet presAssocID="{5EDE1AEE-131E-8147-9F43-A9BFC1CFACD0}" presName="Name111" presStyleLbl="parChTrans1D4" presStyleIdx="2" presStyleCnt="8" custSzX="159962" custSzY="3492381"/>
      <dgm:spPr/>
    </dgm:pt>
    <dgm:pt modelId="{6B390C45-FDA4-8E41-9CFC-33B0CF788040}" type="pres">
      <dgm:prSet presAssocID="{C5260453-F1F0-D343-8E89-A1696D6EAD24}" presName="hierRoot3" presStyleCnt="0">
        <dgm:presLayoutVars>
          <dgm:hierBranch val="init"/>
        </dgm:presLayoutVars>
      </dgm:prSet>
      <dgm:spPr/>
    </dgm:pt>
    <dgm:pt modelId="{E9DDB907-60D6-734B-8F7B-59AAA51D0D75}" type="pres">
      <dgm:prSet presAssocID="{C5260453-F1F0-D343-8E89-A1696D6EAD24}" presName="rootComposite3" presStyleCnt="0"/>
      <dgm:spPr/>
    </dgm:pt>
    <dgm:pt modelId="{1D9D7AE6-C28D-9940-871E-6C93F70DA2CF}" type="pres">
      <dgm:prSet presAssocID="{C5260453-F1F0-D343-8E89-A1696D6EAD24}" presName="rootText3" presStyleLbl="asst1" presStyleIdx="4" presStyleCnt="12" custScaleX="649734" custScaleY="475873">
        <dgm:presLayoutVars>
          <dgm:chPref val="3"/>
        </dgm:presLayoutVars>
      </dgm:prSet>
      <dgm:spPr/>
    </dgm:pt>
    <dgm:pt modelId="{33CEAA8C-6CBD-DB41-89BA-1B0EC717F1C5}" type="pres">
      <dgm:prSet presAssocID="{C5260453-F1F0-D343-8E89-A1696D6EAD24}" presName="rootConnector3" presStyleLbl="asst1" presStyleIdx="4" presStyleCnt="12"/>
      <dgm:spPr/>
    </dgm:pt>
    <dgm:pt modelId="{D6C8C9F2-BE91-6F49-8E0F-76B98DF53ADA}" type="pres">
      <dgm:prSet presAssocID="{C5260453-F1F0-D343-8E89-A1696D6EAD24}" presName="hierChild6" presStyleCnt="0"/>
      <dgm:spPr/>
    </dgm:pt>
    <dgm:pt modelId="{2AFE6F01-612C-7D43-9C7C-D23C9D1E3E24}" type="pres">
      <dgm:prSet presAssocID="{C5260453-F1F0-D343-8E89-A1696D6EAD24}" presName="hierChild7" presStyleCnt="0"/>
      <dgm:spPr/>
    </dgm:pt>
    <dgm:pt modelId="{166A2AF5-42C4-0749-95B6-E0850AE2B37D}" type="pres">
      <dgm:prSet presAssocID="{79C5411B-DB19-534D-9110-4E008E55BE08}" presName="Name111" presStyleLbl="parChTrans1D4" presStyleIdx="3" presStyleCnt="8" custSzX="159962" custSzY="3492381"/>
      <dgm:spPr/>
    </dgm:pt>
    <dgm:pt modelId="{89A50AC8-D242-E146-85FD-5674FDD02599}" type="pres">
      <dgm:prSet presAssocID="{03DC5D58-ACFC-B74C-BCF4-FBFAB9F74456}" presName="hierRoot3" presStyleCnt="0">
        <dgm:presLayoutVars>
          <dgm:hierBranch val="init"/>
        </dgm:presLayoutVars>
      </dgm:prSet>
      <dgm:spPr/>
    </dgm:pt>
    <dgm:pt modelId="{094E386E-E069-0A4B-86DA-3F9755B0FEB8}" type="pres">
      <dgm:prSet presAssocID="{03DC5D58-ACFC-B74C-BCF4-FBFAB9F74456}" presName="rootComposite3" presStyleCnt="0"/>
      <dgm:spPr/>
    </dgm:pt>
    <dgm:pt modelId="{AAB33064-7530-9A40-A6B8-7DEEC8EEFB72}" type="pres">
      <dgm:prSet presAssocID="{03DC5D58-ACFC-B74C-BCF4-FBFAB9F74456}" presName="rootText3" presStyleLbl="asst1" presStyleIdx="5" presStyleCnt="12" custScaleX="649734" custScaleY="475873">
        <dgm:presLayoutVars>
          <dgm:chPref val="3"/>
        </dgm:presLayoutVars>
      </dgm:prSet>
      <dgm:spPr/>
    </dgm:pt>
    <dgm:pt modelId="{B5C37304-3EE1-3C41-8DDB-3BB2F6793E95}" type="pres">
      <dgm:prSet presAssocID="{03DC5D58-ACFC-B74C-BCF4-FBFAB9F74456}" presName="rootConnector3" presStyleLbl="asst1" presStyleIdx="5" presStyleCnt="12"/>
      <dgm:spPr/>
    </dgm:pt>
    <dgm:pt modelId="{47512039-2109-3F4E-990D-6113BDFC683D}" type="pres">
      <dgm:prSet presAssocID="{03DC5D58-ACFC-B74C-BCF4-FBFAB9F74456}" presName="hierChild6" presStyleCnt="0"/>
      <dgm:spPr/>
    </dgm:pt>
    <dgm:pt modelId="{21A57D92-ECD2-944C-AD85-FF7B4FF49261}" type="pres">
      <dgm:prSet presAssocID="{03DC5D58-ACFC-B74C-BCF4-FBFAB9F74456}" presName="hierChild7" presStyleCnt="0"/>
      <dgm:spPr/>
    </dgm:pt>
    <dgm:pt modelId="{9A504FA9-8E0D-6648-9F8D-2837AD960B15}" type="pres">
      <dgm:prSet presAssocID="{A08BDFB2-7E71-D745-8AB6-620283E29BAC}" presName="Name111" presStyleLbl="parChTrans1D3" presStyleIdx="1" presStyleCnt="2" custSzX="1519260" custSzY="1373802"/>
      <dgm:spPr/>
    </dgm:pt>
    <dgm:pt modelId="{B881D62C-AFAF-F448-8532-A74CB06F3447}" type="pres">
      <dgm:prSet presAssocID="{27094988-488F-8241-9DA9-647587EE63EF}" presName="hierRoot3" presStyleCnt="0">
        <dgm:presLayoutVars>
          <dgm:hierBranch val="init"/>
        </dgm:presLayoutVars>
      </dgm:prSet>
      <dgm:spPr/>
    </dgm:pt>
    <dgm:pt modelId="{8FFA89C7-2CE2-C04D-8C09-DDF7EAF86926}" type="pres">
      <dgm:prSet presAssocID="{27094988-488F-8241-9DA9-647587EE63EF}" presName="rootComposite3" presStyleCnt="0"/>
      <dgm:spPr/>
    </dgm:pt>
    <dgm:pt modelId="{692CFE6E-DBCE-A740-A608-5987DF75F6BB}" type="pres">
      <dgm:prSet presAssocID="{27094988-488F-8241-9DA9-647587EE63EF}" presName="rootText3" presStyleLbl="asst1" presStyleIdx="6" presStyleCnt="12" custScaleX="649734" custScaleY="475873">
        <dgm:presLayoutVars>
          <dgm:chPref val="3"/>
        </dgm:presLayoutVars>
      </dgm:prSet>
      <dgm:spPr/>
    </dgm:pt>
    <dgm:pt modelId="{E67356AE-0DB9-5148-8ED6-F719D6160EA9}" type="pres">
      <dgm:prSet presAssocID="{27094988-488F-8241-9DA9-647587EE63EF}" presName="rootConnector3" presStyleLbl="asst1" presStyleIdx="6" presStyleCnt="12"/>
      <dgm:spPr/>
    </dgm:pt>
    <dgm:pt modelId="{26C17300-B1DC-B140-B2F1-986F4024B958}" type="pres">
      <dgm:prSet presAssocID="{27094988-488F-8241-9DA9-647587EE63EF}" presName="hierChild6" presStyleCnt="0"/>
      <dgm:spPr/>
    </dgm:pt>
    <dgm:pt modelId="{CACD2FA2-AAF7-814E-B3CC-CDBB7D17D58F}" type="pres">
      <dgm:prSet presAssocID="{27094988-488F-8241-9DA9-647587EE63EF}" presName="hierChild7" presStyleCnt="0"/>
      <dgm:spPr/>
    </dgm:pt>
    <dgm:pt modelId="{E0AAE29B-EB28-6247-B36C-8B18E8D449F7}" type="pres">
      <dgm:prSet presAssocID="{CF258D41-6EC1-2A47-8A4D-9D76BBCE6126}" presName="Name111" presStyleLbl="parChTrans1D4" presStyleIdx="4" presStyleCnt="8" custSzX="159962" custSzY="1373802"/>
      <dgm:spPr/>
    </dgm:pt>
    <dgm:pt modelId="{54641FEA-B34E-4D4E-96D8-92CF87EA8BB5}" type="pres">
      <dgm:prSet presAssocID="{28E37432-BFE0-A045-9E9B-A8C8324F04E1}" presName="hierRoot3" presStyleCnt="0">
        <dgm:presLayoutVars>
          <dgm:hierBranch val="init"/>
        </dgm:presLayoutVars>
      </dgm:prSet>
      <dgm:spPr/>
    </dgm:pt>
    <dgm:pt modelId="{9D79B911-47C2-7343-8D72-EF475A5A2FC3}" type="pres">
      <dgm:prSet presAssocID="{28E37432-BFE0-A045-9E9B-A8C8324F04E1}" presName="rootComposite3" presStyleCnt="0"/>
      <dgm:spPr/>
    </dgm:pt>
    <dgm:pt modelId="{A5A595DA-EC7C-8947-98C1-1D1FB34F94D8}" type="pres">
      <dgm:prSet presAssocID="{28E37432-BFE0-A045-9E9B-A8C8324F04E1}" presName="rootText3" presStyleLbl="asst1" presStyleIdx="7" presStyleCnt="12" custScaleX="838087" custScaleY="475873">
        <dgm:presLayoutVars>
          <dgm:chPref val="3"/>
        </dgm:presLayoutVars>
      </dgm:prSet>
      <dgm:spPr/>
    </dgm:pt>
    <dgm:pt modelId="{FAD02ABB-B990-804D-9245-7172CE6B0C40}" type="pres">
      <dgm:prSet presAssocID="{28E37432-BFE0-A045-9E9B-A8C8324F04E1}" presName="rootConnector3" presStyleLbl="asst1" presStyleIdx="7" presStyleCnt="12"/>
      <dgm:spPr/>
    </dgm:pt>
    <dgm:pt modelId="{5C224531-AD64-7B47-98F2-8472347165F9}" type="pres">
      <dgm:prSet presAssocID="{28E37432-BFE0-A045-9E9B-A8C8324F04E1}" presName="hierChild6" presStyleCnt="0"/>
      <dgm:spPr/>
    </dgm:pt>
    <dgm:pt modelId="{F8FEAF6D-F2C0-E74E-A53A-F0686648DB8B}" type="pres">
      <dgm:prSet presAssocID="{28E37432-BFE0-A045-9E9B-A8C8324F04E1}" presName="hierChild7" presStyleCnt="0"/>
      <dgm:spPr/>
    </dgm:pt>
    <dgm:pt modelId="{D06851CB-A77C-1F4A-949C-8206C136F283}" type="pres">
      <dgm:prSet presAssocID="{7D951442-47CF-6F4F-A455-7A6FAB9A6641}" presName="Name111" presStyleLbl="parChTrans1D4" presStyleIdx="5" presStyleCnt="8" custSzX="159962" custSzY="1373802"/>
      <dgm:spPr/>
    </dgm:pt>
    <dgm:pt modelId="{94864DC4-7E81-884C-8B67-254B57E7F2F2}" type="pres">
      <dgm:prSet presAssocID="{C54532C7-4A63-6341-B4DD-FB0340AA56B5}" presName="hierRoot3" presStyleCnt="0">
        <dgm:presLayoutVars>
          <dgm:hierBranch val="init"/>
        </dgm:presLayoutVars>
      </dgm:prSet>
      <dgm:spPr/>
    </dgm:pt>
    <dgm:pt modelId="{788CD894-38B3-014A-A7BD-B8BC84D9EF25}" type="pres">
      <dgm:prSet presAssocID="{C54532C7-4A63-6341-B4DD-FB0340AA56B5}" presName="rootComposite3" presStyleCnt="0"/>
      <dgm:spPr/>
    </dgm:pt>
    <dgm:pt modelId="{E200F511-3563-6D4E-98EF-4075BAC3637E}" type="pres">
      <dgm:prSet presAssocID="{C54532C7-4A63-6341-B4DD-FB0340AA56B5}" presName="rootText3" presStyleLbl="asst1" presStyleIdx="8" presStyleCnt="12" custScaleX="838087" custScaleY="475873">
        <dgm:presLayoutVars>
          <dgm:chPref val="3"/>
        </dgm:presLayoutVars>
      </dgm:prSet>
      <dgm:spPr/>
    </dgm:pt>
    <dgm:pt modelId="{1354E56A-B617-7B45-98B8-3120C823112B}" type="pres">
      <dgm:prSet presAssocID="{C54532C7-4A63-6341-B4DD-FB0340AA56B5}" presName="rootConnector3" presStyleLbl="asst1" presStyleIdx="8" presStyleCnt="12"/>
      <dgm:spPr/>
    </dgm:pt>
    <dgm:pt modelId="{FE0DFBB7-B8C1-E243-8D3E-436D39C64894}" type="pres">
      <dgm:prSet presAssocID="{C54532C7-4A63-6341-B4DD-FB0340AA56B5}" presName="hierChild6" presStyleCnt="0"/>
      <dgm:spPr/>
    </dgm:pt>
    <dgm:pt modelId="{9FF282E1-5763-E944-91A7-FE81D8E5487D}" type="pres">
      <dgm:prSet presAssocID="{C54532C7-4A63-6341-B4DD-FB0340AA56B5}" presName="hierChild7" presStyleCnt="0"/>
      <dgm:spPr/>
    </dgm:pt>
    <dgm:pt modelId="{59805606-0AD5-6C4E-81D7-4D065E82E084}" type="pres">
      <dgm:prSet presAssocID="{F1231CB3-0F0B-9148-B869-8F4EAE48E1B9}" presName="Name111" presStyleLbl="parChTrans1D4" presStyleIdx="6" presStyleCnt="8" custSzX="159962" custSzY="3495182"/>
      <dgm:spPr/>
    </dgm:pt>
    <dgm:pt modelId="{6336C6A0-139E-DD4B-8707-24FACFD7F6E8}" type="pres">
      <dgm:prSet presAssocID="{32A24BFA-D1E8-D14E-A769-4C5DB25201F6}" presName="hierRoot3" presStyleCnt="0">
        <dgm:presLayoutVars>
          <dgm:hierBranch val="init"/>
        </dgm:presLayoutVars>
      </dgm:prSet>
      <dgm:spPr/>
    </dgm:pt>
    <dgm:pt modelId="{A363E20F-4115-BA4F-96DD-094FD0E872FC}" type="pres">
      <dgm:prSet presAssocID="{32A24BFA-D1E8-D14E-A769-4C5DB25201F6}" presName="rootComposite3" presStyleCnt="0"/>
      <dgm:spPr/>
    </dgm:pt>
    <dgm:pt modelId="{5D5A240B-BF37-F840-BD74-45FDB03A98F7}" type="pres">
      <dgm:prSet presAssocID="{32A24BFA-D1E8-D14E-A769-4C5DB25201F6}" presName="rootText3" presStyleLbl="asst1" presStyleIdx="9" presStyleCnt="12" custScaleX="838087" custScaleY="475873">
        <dgm:presLayoutVars>
          <dgm:chPref val="3"/>
        </dgm:presLayoutVars>
      </dgm:prSet>
      <dgm:spPr/>
    </dgm:pt>
    <dgm:pt modelId="{9AB95324-80A6-5E42-8831-0CCDECDCCDDA}" type="pres">
      <dgm:prSet presAssocID="{32A24BFA-D1E8-D14E-A769-4C5DB25201F6}" presName="rootConnector3" presStyleLbl="asst1" presStyleIdx="9" presStyleCnt="12"/>
      <dgm:spPr/>
    </dgm:pt>
    <dgm:pt modelId="{B13E2711-E403-B344-856C-806F92507684}" type="pres">
      <dgm:prSet presAssocID="{32A24BFA-D1E8-D14E-A769-4C5DB25201F6}" presName="hierChild6" presStyleCnt="0"/>
      <dgm:spPr/>
    </dgm:pt>
    <dgm:pt modelId="{88E73562-6F70-2148-A6FA-ADC925BC2DDB}" type="pres">
      <dgm:prSet presAssocID="{32A24BFA-D1E8-D14E-A769-4C5DB25201F6}" presName="hierChild7" presStyleCnt="0"/>
      <dgm:spPr/>
    </dgm:pt>
    <dgm:pt modelId="{30014D30-53B4-794A-80D0-7C5486817845}" type="pres">
      <dgm:prSet presAssocID="{85E5D349-995C-BA4D-99CD-EB9861C5824B}" presName="Name111" presStyleLbl="parChTrans1D4" presStyleIdx="7" presStyleCnt="8" custSzX="159962" custSzY="3495182"/>
      <dgm:spPr/>
    </dgm:pt>
    <dgm:pt modelId="{AB4F585B-24E0-564F-9D43-3025F4F6E334}" type="pres">
      <dgm:prSet presAssocID="{35B1C07D-4B23-C94D-9BBB-603F5614B10D}" presName="hierRoot3" presStyleCnt="0">
        <dgm:presLayoutVars>
          <dgm:hierBranch val="init"/>
        </dgm:presLayoutVars>
      </dgm:prSet>
      <dgm:spPr/>
    </dgm:pt>
    <dgm:pt modelId="{77D8E791-5BEE-C44D-B96B-6459BFF26741}" type="pres">
      <dgm:prSet presAssocID="{35B1C07D-4B23-C94D-9BBB-603F5614B10D}" presName="rootComposite3" presStyleCnt="0"/>
      <dgm:spPr/>
    </dgm:pt>
    <dgm:pt modelId="{2C173E1B-6CAA-3547-BFBD-7C3838F6CEDA}" type="pres">
      <dgm:prSet presAssocID="{35B1C07D-4B23-C94D-9BBB-603F5614B10D}" presName="rootText3" presStyleLbl="asst1" presStyleIdx="10" presStyleCnt="12" custScaleX="838087" custScaleY="475873">
        <dgm:presLayoutVars>
          <dgm:chPref val="3"/>
        </dgm:presLayoutVars>
      </dgm:prSet>
      <dgm:spPr/>
    </dgm:pt>
    <dgm:pt modelId="{EB9E3803-0750-0C42-B0C4-31C844A3617D}" type="pres">
      <dgm:prSet presAssocID="{35B1C07D-4B23-C94D-9BBB-603F5614B10D}" presName="rootConnector3" presStyleLbl="asst1" presStyleIdx="10" presStyleCnt="12"/>
      <dgm:spPr/>
    </dgm:pt>
    <dgm:pt modelId="{6DEC9008-A652-B645-B81C-454EC3DFA565}" type="pres">
      <dgm:prSet presAssocID="{35B1C07D-4B23-C94D-9BBB-603F5614B10D}" presName="hierChild6" presStyleCnt="0"/>
      <dgm:spPr/>
    </dgm:pt>
    <dgm:pt modelId="{A5356D0B-5182-D241-AF40-67866B2ECC18}" type="pres">
      <dgm:prSet presAssocID="{35B1C07D-4B23-C94D-9BBB-603F5614B10D}" presName="hierChild7" presStyleCnt="0"/>
      <dgm:spPr/>
    </dgm:pt>
    <dgm:pt modelId="{7B39F2FE-A3C4-C947-9038-9A94D7EE15C7}" type="pres">
      <dgm:prSet presAssocID="{B526E966-AE45-B84E-A6FA-5A888AF7FD01}" presName="Name111" presStyleLbl="parChTrans1D2" presStyleIdx="1" presStyleCnt="2" custSzX="1745968" custSzY="1524300"/>
      <dgm:spPr/>
    </dgm:pt>
    <dgm:pt modelId="{90FDFDA8-E79B-2447-94D6-55560F1FB827}" type="pres">
      <dgm:prSet presAssocID="{28FBAFB2-1739-F749-9ED1-F8BB6BF051AC}" presName="hierRoot3" presStyleCnt="0">
        <dgm:presLayoutVars>
          <dgm:hierBranch val="init"/>
        </dgm:presLayoutVars>
      </dgm:prSet>
      <dgm:spPr/>
    </dgm:pt>
    <dgm:pt modelId="{6ACFB88A-0AF9-B745-AD48-9994AE5B9C3D}" type="pres">
      <dgm:prSet presAssocID="{28FBAFB2-1739-F749-9ED1-F8BB6BF051AC}" presName="rootComposite3" presStyleCnt="0"/>
      <dgm:spPr/>
    </dgm:pt>
    <dgm:pt modelId="{FA0BC737-CCD1-A145-A669-18EF8721568A}" type="pres">
      <dgm:prSet presAssocID="{28FBAFB2-1739-F749-9ED1-F8BB6BF051AC}" presName="rootText3" presStyleLbl="asst1" presStyleIdx="11" presStyleCnt="12" custScaleX="649734" custScaleY="475873" custLinFactX="-75543" custLinFactNeighborX="-100000" custLinFactNeighborY="-3344">
        <dgm:presLayoutVars>
          <dgm:chPref val="3"/>
        </dgm:presLayoutVars>
      </dgm:prSet>
      <dgm:spPr/>
    </dgm:pt>
    <dgm:pt modelId="{3511F01C-7CBB-FA48-B07D-A6FD90E71E21}" type="pres">
      <dgm:prSet presAssocID="{28FBAFB2-1739-F749-9ED1-F8BB6BF051AC}" presName="rootConnector3" presStyleLbl="asst1" presStyleIdx="11" presStyleCnt="12"/>
      <dgm:spPr/>
    </dgm:pt>
    <dgm:pt modelId="{9EFE8A00-68F4-9246-8CB8-E9476DBB04C5}" type="pres">
      <dgm:prSet presAssocID="{28FBAFB2-1739-F749-9ED1-F8BB6BF051AC}" presName="hierChild6" presStyleCnt="0"/>
      <dgm:spPr/>
    </dgm:pt>
    <dgm:pt modelId="{78A8FFF5-974C-1643-B895-B60F7E91A4CF}" type="pres">
      <dgm:prSet presAssocID="{28FBAFB2-1739-F749-9ED1-F8BB6BF051AC}" presName="hierChild7" presStyleCnt="0"/>
      <dgm:spPr/>
    </dgm:pt>
  </dgm:ptLst>
  <dgm:cxnLst>
    <dgm:cxn modelId="{FAFA9906-DF5C-864C-9D74-BB27FECE9F1F}" type="presOf" srcId="{D0FC8465-E948-F74F-9634-96B479B23195}" destId="{DD55A609-8A74-6548-A2EA-5A55B951E218}" srcOrd="0" destOrd="0" presId="urn:microsoft.com/office/officeart/2005/8/layout/orgChart1"/>
    <dgm:cxn modelId="{1BAF6D07-3C86-4F4F-BC4A-9EC441A38C63}" type="presOf" srcId="{64A2785D-BF5B-0341-BEC2-15087D758EA8}" destId="{6EE9BAEF-388A-934E-8BB7-7087A854B32A}" srcOrd="1" destOrd="0" presId="urn:microsoft.com/office/officeart/2005/8/layout/orgChart1"/>
    <dgm:cxn modelId="{FB456C0C-9240-EE41-9204-AFC6910EA777}" srcId="{27094988-488F-8241-9DA9-647587EE63EF}" destId="{28E37432-BFE0-A045-9E9B-A8C8324F04E1}" srcOrd="0" destOrd="0" parTransId="{CF258D41-6EC1-2A47-8A4D-9D76BBCE6126}" sibTransId="{C5CB963C-90E8-5248-B0C6-D228123FF5E8}"/>
    <dgm:cxn modelId="{D8825411-0A16-CC49-8240-1545A0EC6F25}" type="presOf" srcId="{E4C2B42F-6907-E649-9B40-9A2C2F299B31}" destId="{5AAE7AD4-DA75-C643-843D-98646CA96FBD}" srcOrd="1" destOrd="0" presId="urn:microsoft.com/office/officeart/2005/8/layout/orgChart1"/>
    <dgm:cxn modelId="{D80B701B-6DB1-B745-BF10-735C9D2013EE}" type="presOf" srcId="{28E37432-BFE0-A045-9E9B-A8C8324F04E1}" destId="{FAD02ABB-B990-804D-9245-7172CE6B0C40}" srcOrd="1" destOrd="0" presId="urn:microsoft.com/office/officeart/2005/8/layout/orgChart1"/>
    <dgm:cxn modelId="{CE49D027-752E-B14E-92AE-AE97908BD22F}" type="presOf" srcId="{E4C2B42F-6907-E649-9B40-9A2C2F299B31}" destId="{85870795-FF9B-3B4B-90F8-7DAD2E790554}" srcOrd="0" destOrd="0" presId="urn:microsoft.com/office/officeart/2005/8/layout/orgChart1"/>
    <dgm:cxn modelId="{A93F1E28-6BF9-0E44-8A76-98663B34F43A}" type="presOf" srcId="{7D951442-47CF-6F4F-A455-7A6FAB9A6641}" destId="{D06851CB-A77C-1F4A-949C-8206C136F283}" srcOrd="0" destOrd="0" presId="urn:microsoft.com/office/officeart/2005/8/layout/orgChart1"/>
    <dgm:cxn modelId="{BF1F0E36-8D02-0248-B8BE-06B08151D476}" type="presOf" srcId="{F89B8D35-B6FB-4E4C-9704-70997587614B}" destId="{A878EFE8-7C19-B54B-BF5A-14C52F672DC6}" srcOrd="0" destOrd="0" presId="urn:microsoft.com/office/officeart/2005/8/layout/orgChart1"/>
    <dgm:cxn modelId="{013B803A-E6AF-B14C-8D96-0BF413E473F6}" type="presOf" srcId="{FE0D5EA4-6C09-9240-9743-3E194B54F4AB}" destId="{68860A54-B847-C94B-A9EB-CA9CD26A02AF}" srcOrd="0" destOrd="0" presId="urn:microsoft.com/office/officeart/2005/8/layout/orgChart1"/>
    <dgm:cxn modelId="{BD6AAA3D-E517-5F47-B4D0-F4FBB4E4E609}" srcId="{44299082-03EB-1542-BCC4-6FED8B997E21}" destId="{03DC5D58-ACFC-B74C-BCF4-FBFAB9F74456}" srcOrd="3" destOrd="0" parTransId="{79C5411B-DB19-534D-9110-4E008E55BE08}" sibTransId="{C2F75624-295F-A349-A350-073CE26A70D0}"/>
    <dgm:cxn modelId="{A1A02E3F-2B49-724B-AD10-437A7AB5CFA3}" type="presOf" srcId="{F89B8D35-B6FB-4E4C-9704-70997587614B}" destId="{5A5B83B1-3497-8948-B4C1-01BB80EEBE59}" srcOrd="1" destOrd="0" presId="urn:microsoft.com/office/officeart/2005/8/layout/orgChart1"/>
    <dgm:cxn modelId="{B4D8404B-546E-6C4A-89E1-5F8C68BE72B3}" type="presOf" srcId="{64A2785D-BF5B-0341-BEC2-15087D758EA8}" destId="{089941C7-F5C0-4F46-BAC8-0348DAEC84EB}" srcOrd="0" destOrd="0" presId="urn:microsoft.com/office/officeart/2005/8/layout/orgChart1"/>
    <dgm:cxn modelId="{EC8D7A4D-AF94-3945-A379-E5B7A8EA0F73}" type="presOf" srcId="{79C5411B-DB19-534D-9110-4E008E55BE08}" destId="{166A2AF5-42C4-0749-95B6-E0850AE2B37D}" srcOrd="0" destOrd="0" presId="urn:microsoft.com/office/officeart/2005/8/layout/orgChart1"/>
    <dgm:cxn modelId="{CA87E24E-2F1C-D544-AD04-1894789921FB}" type="presOf" srcId="{03DC5D58-ACFC-B74C-BCF4-FBFAB9F74456}" destId="{B5C37304-3EE1-3C41-8DDB-3BB2F6793E95}" srcOrd="1" destOrd="0" presId="urn:microsoft.com/office/officeart/2005/8/layout/orgChart1"/>
    <dgm:cxn modelId="{CA4C5E4F-01E1-104C-8399-73F97551B821}" type="presOf" srcId="{28E37432-BFE0-A045-9E9B-A8C8324F04E1}" destId="{A5A595DA-EC7C-8947-98C1-1D1FB34F94D8}" srcOrd="0" destOrd="0" presId="urn:microsoft.com/office/officeart/2005/8/layout/orgChart1"/>
    <dgm:cxn modelId="{C7289C4F-D0D8-3F42-9A4A-BC205A20B3DA}" srcId="{44299082-03EB-1542-BCC4-6FED8B997E21}" destId="{F464E988-A53A-AB45-B5DE-13D8DBD86005}" srcOrd="1" destOrd="0" parTransId="{25E1C070-FCC9-994A-9688-4C77092778A3}" sibTransId="{560EB83C-186F-BC41-86FB-AAF1A1D7C9BA}"/>
    <dgm:cxn modelId="{D0F9E754-319B-CF49-81D7-5797F772F8C5}" type="presOf" srcId="{5EDE1AEE-131E-8147-9F43-A9BFC1CFACD0}" destId="{C0D41B11-B37A-904E-B7F6-015561C24456}" srcOrd="0" destOrd="0" presId="urn:microsoft.com/office/officeart/2005/8/layout/orgChart1"/>
    <dgm:cxn modelId="{04190257-5D72-CD40-824A-FAF5B6D89EB6}" type="presOf" srcId="{F1231CB3-0F0B-9148-B869-8F4EAE48E1B9}" destId="{59805606-0AD5-6C4E-81D7-4D065E82E084}" srcOrd="0" destOrd="0" presId="urn:microsoft.com/office/officeart/2005/8/layout/orgChart1"/>
    <dgm:cxn modelId="{918B805E-8D29-D74D-A968-DE5ACC0BF14F}" type="presOf" srcId="{E417CA94-8D04-0A4D-809F-39CF6F3CB325}" destId="{37664623-A46E-F042-A59F-0766E688C0A8}" srcOrd="0" destOrd="0" presId="urn:microsoft.com/office/officeart/2005/8/layout/orgChart1"/>
    <dgm:cxn modelId="{A95BE960-3329-3542-B536-1AB9206E0D62}" srcId="{44299082-03EB-1542-BCC4-6FED8B997E21}" destId="{F89B8D35-B6FB-4E4C-9704-70997587614B}" srcOrd="0" destOrd="0" parTransId="{FE0D5EA4-6C09-9240-9743-3E194B54F4AB}" sibTransId="{DF40DA30-6703-4D48-A849-436ED735C6B5}"/>
    <dgm:cxn modelId="{FCB5BB64-C142-E04C-A42A-E2CA13D55B1B}" srcId="{64A2785D-BF5B-0341-BEC2-15087D758EA8}" destId="{E4C2B42F-6907-E649-9B40-9A2C2F299B31}" srcOrd="0" destOrd="0" parTransId="{D0FC8465-E948-F74F-9634-96B479B23195}" sibTransId="{980FD1B6-05F8-254C-BEA6-F94FCCBE8170}"/>
    <dgm:cxn modelId="{4FC27E68-5E51-F744-9E56-0922F9D6CE15}" type="presOf" srcId="{44299082-03EB-1542-BCC4-6FED8B997E21}" destId="{968261E5-0D7C-E34E-B598-91CD1961B649}" srcOrd="0" destOrd="0" presId="urn:microsoft.com/office/officeart/2005/8/layout/orgChart1"/>
    <dgm:cxn modelId="{B6145169-8671-F84B-841A-BB63B7F67A65}" type="presOf" srcId="{A08BDFB2-7E71-D745-8AB6-620283E29BAC}" destId="{9A504FA9-8E0D-6648-9F8D-2837AD960B15}" srcOrd="0" destOrd="0" presId="urn:microsoft.com/office/officeart/2005/8/layout/orgChart1"/>
    <dgm:cxn modelId="{F4B48973-9CA0-214E-B3F3-E2C8B283E96C}" srcId="{64A2785D-BF5B-0341-BEC2-15087D758EA8}" destId="{28FBAFB2-1739-F749-9ED1-F8BB6BF051AC}" srcOrd="1" destOrd="0" parTransId="{B526E966-AE45-B84E-A6FA-5A888AF7FD01}" sibTransId="{6E4CE26F-1A1A-014E-AED8-417BDA888241}"/>
    <dgm:cxn modelId="{67F3A273-1EAC-5E4B-8BAB-982D81312C4C}" srcId="{27094988-488F-8241-9DA9-647587EE63EF}" destId="{32A24BFA-D1E8-D14E-A769-4C5DB25201F6}" srcOrd="2" destOrd="0" parTransId="{F1231CB3-0F0B-9148-B869-8F4EAE48E1B9}" sibTransId="{441ACFF2-0BEC-E045-8D51-BFD7B3DD9E82}"/>
    <dgm:cxn modelId="{1FECC17A-8347-F441-AB37-3946B15FE14E}" type="presOf" srcId="{03DC5D58-ACFC-B74C-BCF4-FBFAB9F74456}" destId="{AAB33064-7530-9A40-A6B8-7DEEC8EEFB72}" srcOrd="0" destOrd="0" presId="urn:microsoft.com/office/officeart/2005/8/layout/orgChart1"/>
    <dgm:cxn modelId="{FB95747B-C5DD-A94D-AE3D-E8A11A6C0E7D}" type="presOf" srcId="{C54532C7-4A63-6341-B4DD-FB0340AA56B5}" destId="{1354E56A-B617-7B45-98B8-3120C823112B}" srcOrd="1" destOrd="0" presId="urn:microsoft.com/office/officeart/2005/8/layout/orgChart1"/>
    <dgm:cxn modelId="{FA09CE7B-4558-1845-B0AC-A7D0EA9EC2B4}" srcId="{E4C2B42F-6907-E649-9B40-9A2C2F299B31}" destId="{27094988-488F-8241-9DA9-647587EE63EF}" srcOrd="1" destOrd="0" parTransId="{A08BDFB2-7E71-D745-8AB6-620283E29BAC}" sibTransId="{031AB443-4D74-F44E-BCF4-1066E3596996}"/>
    <dgm:cxn modelId="{40417D7E-F77D-504B-A55E-9BE32AC9D0DE}" type="presOf" srcId="{F464E988-A53A-AB45-B5DE-13D8DBD86005}" destId="{284F41C6-AD69-1D43-AFDE-4B388EC222EA}" srcOrd="0" destOrd="0" presId="urn:microsoft.com/office/officeart/2005/8/layout/orgChart1"/>
    <dgm:cxn modelId="{3C99AA7E-6CF2-B140-A32F-2A98F3526364}" srcId="{27094988-488F-8241-9DA9-647587EE63EF}" destId="{35B1C07D-4B23-C94D-9BBB-603F5614B10D}" srcOrd="3" destOrd="0" parTransId="{85E5D349-995C-BA4D-99CD-EB9861C5824B}" sibTransId="{B78F90E1-5822-0E40-AE0C-768DD19AF119}"/>
    <dgm:cxn modelId="{7E3B3781-1BCA-974C-9FF9-DCA8F642D091}" type="presOf" srcId="{F464E988-A53A-AB45-B5DE-13D8DBD86005}" destId="{7E8387C3-D2A0-0746-A0B6-9BDD45BD0EE3}" srcOrd="1" destOrd="0" presId="urn:microsoft.com/office/officeart/2005/8/layout/orgChart1"/>
    <dgm:cxn modelId="{A8BD9A82-60A2-BF4F-B7E7-D46E32662435}" type="presOf" srcId="{32A24BFA-D1E8-D14E-A769-4C5DB25201F6}" destId="{9AB95324-80A6-5E42-8831-0CCDECDCCDDA}" srcOrd="1" destOrd="0" presId="urn:microsoft.com/office/officeart/2005/8/layout/orgChart1"/>
    <dgm:cxn modelId="{F7B8FB87-2DC8-B349-BE74-B8ABDA9EAD95}" type="presOf" srcId="{27094988-488F-8241-9DA9-647587EE63EF}" destId="{692CFE6E-DBCE-A740-A608-5987DF75F6BB}" srcOrd="0" destOrd="0" presId="urn:microsoft.com/office/officeart/2005/8/layout/orgChart1"/>
    <dgm:cxn modelId="{9E67758D-CE97-EA4F-B040-541A252DF139}" type="presOf" srcId="{85E5D349-995C-BA4D-99CD-EB9861C5824B}" destId="{30014D30-53B4-794A-80D0-7C5486817845}" srcOrd="0" destOrd="0" presId="urn:microsoft.com/office/officeart/2005/8/layout/orgChart1"/>
    <dgm:cxn modelId="{A1B5B993-A623-ED4E-90E9-FCBA10617A13}" type="presOf" srcId="{35B1C07D-4B23-C94D-9BBB-603F5614B10D}" destId="{2C173E1B-6CAA-3547-BFBD-7C3838F6CEDA}" srcOrd="0" destOrd="0" presId="urn:microsoft.com/office/officeart/2005/8/layout/orgChart1"/>
    <dgm:cxn modelId="{83C2979D-CABE-0742-94D8-FC1F20133A16}" srcId="{E417CA94-8D04-0A4D-809F-39CF6F3CB325}" destId="{64A2785D-BF5B-0341-BEC2-15087D758EA8}" srcOrd="0" destOrd="0" parTransId="{0479C1D8-4DF4-5147-81EB-5733860F6A12}" sibTransId="{3F3464DD-021D-E04D-9440-C2730AF3CC1C}"/>
    <dgm:cxn modelId="{456927A3-DE62-C747-B619-AC5A24E8B3CD}" type="presOf" srcId="{25E1C070-FCC9-994A-9688-4C77092778A3}" destId="{670353C1-3CDA-1140-ABF9-E88278A94AB9}" srcOrd="0" destOrd="0" presId="urn:microsoft.com/office/officeart/2005/8/layout/orgChart1"/>
    <dgm:cxn modelId="{4491A7AA-DC72-E34A-A2EE-2FDECAD8A86C}" type="presOf" srcId="{931E2A1B-4B1A-E84C-9DD0-40F991929111}" destId="{8AF428D2-3C2D-6045-8972-33AFD2042A4D}" srcOrd="0" destOrd="0" presId="urn:microsoft.com/office/officeart/2005/8/layout/orgChart1"/>
    <dgm:cxn modelId="{BCC3CFB4-BC07-594D-9AF6-6ECE201A49F4}" type="presOf" srcId="{C5260453-F1F0-D343-8E89-A1696D6EAD24}" destId="{1D9D7AE6-C28D-9940-871E-6C93F70DA2CF}" srcOrd="0" destOrd="0" presId="urn:microsoft.com/office/officeart/2005/8/layout/orgChart1"/>
    <dgm:cxn modelId="{5740DFBA-B0AA-1141-8CAA-1F5ADAB95C57}" type="presOf" srcId="{28FBAFB2-1739-F749-9ED1-F8BB6BF051AC}" destId="{3511F01C-7CBB-FA48-B07D-A6FD90E71E21}" srcOrd="1" destOrd="0" presId="urn:microsoft.com/office/officeart/2005/8/layout/orgChart1"/>
    <dgm:cxn modelId="{AA1F4BC4-0A6B-364C-BF03-B3FF81BF9F71}" type="presOf" srcId="{B526E966-AE45-B84E-A6FA-5A888AF7FD01}" destId="{7B39F2FE-A3C4-C947-9038-9A94D7EE15C7}" srcOrd="0" destOrd="0" presId="urn:microsoft.com/office/officeart/2005/8/layout/orgChart1"/>
    <dgm:cxn modelId="{3981BDC6-F5C2-2340-B511-FB24A3E3063C}" srcId="{E4C2B42F-6907-E649-9B40-9A2C2F299B31}" destId="{44299082-03EB-1542-BCC4-6FED8B997E21}" srcOrd="0" destOrd="0" parTransId="{931E2A1B-4B1A-E84C-9DD0-40F991929111}" sibTransId="{4448D64A-4C39-3E4E-BE90-354A312C1CBB}"/>
    <dgm:cxn modelId="{014A34CC-41B4-8546-8C15-0ED814AA59C1}" type="presOf" srcId="{44299082-03EB-1542-BCC4-6FED8B997E21}" destId="{CDC0B043-AD60-854C-B8AE-194E0072C85F}" srcOrd="1" destOrd="0" presId="urn:microsoft.com/office/officeart/2005/8/layout/orgChart1"/>
    <dgm:cxn modelId="{451031CE-F972-E145-8A15-83B02E3E797B}" type="presOf" srcId="{C5260453-F1F0-D343-8E89-A1696D6EAD24}" destId="{33CEAA8C-6CBD-DB41-89BA-1B0EC717F1C5}" srcOrd="1" destOrd="0" presId="urn:microsoft.com/office/officeart/2005/8/layout/orgChart1"/>
    <dgm:cxn modelId="{3BE1B0D9-2787-0E40-827B-EC6681AB41E0}" type="presOf" srcId="{28FBAFB2-1739-F749-9ED1-F8BB6BF051AC}" destId="{FA0BC737-CCD1-A145-A669-18EF8721568A}" srcOrd="0" destOrd="0" presId="urn:microsoft.com/office/officeart/2005/8/layout/orgChart1"/>
    <dgm:cxn modelId="{C02B38DA-6768-F243-BF16-B1C7F2B383DC}" srcId="{27094988-488F-8241-9DA9-647587EE63EF}" destId="{C54532C7-4A63-6341-B4DD-FB0340AA56B5}" srcOrd="1" destOrd="0" parTransId="{7D951442-47CF-6F4F-A455-7A6FAB9A6641}" sibTransId="{C5135F26-0FED-BC42-94D9-FD49781E2A77}"/>
    <dgm:cxn modelId="{498C13DF-C85A-BF42-9937-CE12BA2908E4}" type="presOf" srcId="{27094988-488F-8241-9DA9-647587EE63EF}" destId="{E67356AE-0DB9-5148-8ED6-F719D6160EA9}" srcOrd="1" destOrd="0" presId="urn:microsoft.com/office/officeart/2005/8/layout/orgChart1"/>
    <dgm:cxn modelId="{EAD60CE1-7109-5544-B7D9-AED80BBF0E70}" srcId="{44299082-03EB-1542-BCC4-6FED8B997E21}" destId="{C5260453-F1F0-D343-8E89-A1696D6EAD24}" srcOrd="2" destOrd="0" parTransId="{5EDE1AEE-131E-8147-9F43-A9BFC1CFACD0}" sibTransId="{2FCC7DF6-BD12-524B-AFC1-A8C0DDA84813}"/>
    <dgm:cxn modelId="{CC98FDE9-8D5B-2C4F-93A9-D1CB6E3B5684}" type="presOf" srcId="{35B1C07D-4B23-C94D-9BBB-603F5614B10D}" destId="{EB9E3803-0750-0C42-B0C4-31C844A3617D}" srcOrd="1" destOrd="0" presId="urn:microsoft.com/office/officeart/2005/8/layout/orgChart1"/>
    <dgm:cxn modelId="{20FB42F3-5136-424F-BBD2-F6183800AF3B}" type="presOf" srcId="{32A24BFA-D1E8-D14E-A769-4C5DB25201F6}" destId="{5D5A240B-BF37-F840-BD74-45FDB03A98F7}" srcOrd="0" destOrd="0" presId="urn:microsoft.com/office/officeart/2005/8/layout/orgChart1"/>
    <dgm:cxn modelId="{5A23B4F5-C980-3048-B049-7C1179E7D5F7}" type="presOf" srcId="{C54532C7-4A63-6341-B4DD-FB0340AA56B5}" destId="{E200F511-3563-6D4E-98EF-4075BAC3637E}" srcOrd="0" destOrd="0" presId="urn:microsoft.com/office/officeart/2005/8/layout/orgChart1"/>
    <dgm:cxn modelId="{942AF0F8-D3BE-7A49-BEEF-E88D8AD61662}" type="presOf" srcId="{CF258D41-6EC1-2A47-8A4D-9D76BBCE6126}" destId="{E0AAE29B-EB28-6247-B36C-8B18E8D449F7}" srcOrd="0" destOrd="0" presId="urn:microsoft.com/office/officeart/2005/8/layout/orgChart1"/>
    <dgm:cxn modelId="{E19681D3-B0F1-AF46-A790-5E691E021DB3}" type="presParOf" srcId="{37664623-A46E-F042-A59F-0766E688C0A8}" destId="{A516A53D-35EA-E346-8C71-2011DE06EFEE}" srcOrd="0" destOrd="0" presId="urn:microsoft.com/office/officeart/2005/8/layout/orgChart1"/>
    <dgm:cxn modelId="{314B784C-594C-264E-9A14-73F6A2B3FCA1}" type="presParOf" srcId="{A516A53D-35EA-E346-8C71-2011DE06EFEE}" destId="{3E3BF415-7BAF-6B4A-94EB-5C9D543B812B}" srcOrd="0" destOrd="0" presId="urn:microsoft.com/office/officeart/2005/8/layout/orgChart1"/>
    <dgm:cxn modelId="{BD0F81DD-4985-6247-B51D-16AF11501992}" type="presParOf" srcId="{3E3BF415-7BAF-6B4A-94EB-5C9D543B812B}" destId="{089941C7-F5C0-4F46-BAC8-0348DAEC84EB}" srcOrd="0" destOrd="0" presId="urn:microsoft.com/office/officeart/2005/8/layout/orgChart1"/>
    <dgm:cxn modelId="{015DAC64-5023-0F40-A32D-DBF21710CAE5}" type="presParOf" srcId="{3E3BF415-7BAF-6B4A-94EB-5C9D543B812B}" destId="{6EE9BAEF-388A-934E-8BB7-7087A854B32A}" srcOrd="1" destOrd="0" presId="urn:microsoft.com/office/officeart/2005/8/layout/orgChart1"/>
    <dgm:cxn modelId="{3D312538-D8BE-BF42-9D81-DBCEECD3DEE8}" type="presParOf" srcId="{A516A53D-35EA-E346-8C71-2011DE06EFEE}" destId="{E97D8431-8023-F34E-B673-BDB79E968438}" srcOrd="1" destOrd="0" presId="urn:microsoft.com/office/officeart/2005/8/layout/orgChart1"/>
    <dgm:cxn modelId="{9A4B2E9E-20D7-6C4D-BD72-8C861F91771E}" type="presParOf" srcId="{A516A53D-35EA-E346-8C71-2011DE06EFEE}" destId="{EDB51297-24E8-4044-9BDF-135C9E899B3D}" srcOrd="2" destOrd="0" presId="urn:microsoft.com/office/officeart/2005/8/layout/orgChart1"/>
    <dgm:cxn modelId="{767B3A57-2DA3-5845-BDAE-6A8CEDB1ED98}" type="presParOf" srcId="{EDB51297-24E8-4044-9BDF-135C9E899B3D}" destId="{DD55A609-8A74-6548-A2EA-5A55B951E218}" srcOrd="0" destOrd="0" presId="urn:microsoft.com/office/officeart/2005/8/layout/orgChart1"/>
    <dgm:cxn modelId="{DCABD5F0-C725-DB47-B36A-B6229E15B3A1}" type="presParOf" srcId="{EDB51297-24E8-4044-9BDF-135C9E899B3D}" destId="{63186AA0-2914-0544-94EA-8B5D67FB51E8}" srcOrd="1" destOrd="0" presId="urn:microsoft.com/office/officeart/2005/8/layout/orgChart1"/>
    <dgm:cxn modelId="{E2032708-7223-E24C-B502-3C024DBD6396}" type="presParOf" srcId="{63186AA0-2914-0544-94EA-8B5D67FB51E8}" destId="{73B2DA05-5F10-C043-830A-F9112E63E6EF}" srcOrd="0" destOrd="0" presId="urn:microsoft.com/office/officeart/2005/8/layout/orgChart1"/>
    <dgm:cxn modelId="{353EE8E5-09CC-F448-A0B3-46241C3B6726}" type="presParOf" srcId="{73B2DA05-5F10-C043-830A-F9112E63E6EF}" destId="{85870795-FF9B-3B4B-90F8-7DAD2E790554}" srcOrd="0" destOrd="0" presId="urn:microsoft.com/office/officeart/2005/8/layout/orgChart1"/>
    <dgm:cxn modelId="{91D4F7D3-61A6-EA48-A6A0-D4CBFB7AD5E4}" type="presParOf" srcId="{73B2DA05-5F10-C043-830A-F9112E63E6EF}" destId="{5AAE7AD4-DA75-C643-843D-98646CA96FBD}" srcOrd="1" destOrd="0" presId="urn:microsoft.com/office/officeart/2005/8/layout/orgChart1"/>
    <dgm:cxn modelId="{F15F2BB8-C79A-2242-8A5B-E7BC9F0CE00A}" type="presParOf" srcId="{63186AA0-2914-0544-94EA-8B5D67FB51E8}" destId="{310EB125-1F5F-E947-87F2-240F9EEACB3A}" srcOrd="1" destOrd="0" presId="urn:microsoft.com/office/officeart/2005/8/layout/orgChart1"/>
    <dgm:cxn modelId="{757AA48A-0BF1-0B46-97AB-4C427C9C7203}" type="presParOf" srcId="{63186AA0-2914-0544-94EA-8B5D67FB51E8}" destId="{481B912E-33AF-0F45-9DFC-B8E9C16DCB53}" srcOrd="2" destOrd="0" presId="urn:microsoft.com/office/officeart/2005/8/layout/orgChart1"/>
    <dgm:cxn modelId="{2FFCF1D6-DC02-5B48-9FE2-A4C631B97866}" type="presParOf" srcId="{481B912E-33AF-0F45-9DFC-B8E9C16DCB53}" destId="{8AF428D2-3C2D-6045-8972-33AFD2042A4D}" srcOrd="0" destOrd="0" presId="urn:microsoft.com/office/officeart/2005/8/layout/orgChart1"/>
    <dgm:cxn modelId="{7C4253F4-0C43-1D44-BEB0-E0F2AF104321}" type="presParOf" srcId="{481B912E-33AF-0F45-9DFC-B8E9C16DCB53}" destId="{1D3EFF95-3DA5-C740-8568-D47CCF9CAAB4}" srcOrd="1" destOrd="0" presId="urn:microsoft.com/office/officeart/2005/8/layout/orgChart1"/>
    <dgm:cxn modelId="{E0DAAA27-C013-5B4E-92E6-3821105B6E5A}" type="presParOf" srcId="{1D3EFF95-3DA5-C740-8568-D47CCF9CAAB4}" destId="{7ABD4BF8-FC9A-EC44-BC41-34FFAEDBD9B6}" srcOrd="0" destOrd="0" presId="urn:microsoft.com/office/officeart/2005/8/layout/orgChart1"/>
    <dgm:cxn modelId="{F56DE3FA-B4A2-B94D-AA6C-B331A24695ED}" type="presParOf" srcId="{7ABD4BF8-FC9A-EC44-BC41-34FFAEDBD9B6}" destId="{968261E5-0D7C-E34E-B598-91CD1961B649}" srcOrd="0" destOrd="0" presId="urn:microsoft.com/office/officeart/2005/8/layout/orgChart1"/>
    <dgm:cxn modelId="{C6AB85BD-07E7-184E-B4AC-D451852D67E2}" type="presParOf" srcId="{7ABD4BF8-FC9A-EC44-BC41-34FFAEDBD9B6}" destId="{CDC0B043-AD60-854C-B8AE-194E0072C85F}" srcOrd="1" destOrd="0" presId="urn:microsoft.com/office/officeart/2005/8/layout/orgChart1"/>
    <dgm:cxn modelId="{34F9702B-B9F0-4440-92F8-40F873623330}" type="presParOf" srcId="{1D3EFF95-3DA5-C740-8568-D47CCF9CAAB4}" destId="{2229DC7A-8F28-224E-BA66-917EB8C0DE03}" srcOrd="1" destOrd="0" presId="urn:microsoft.com/office/officeart/2005/8/layout/orgChart1"/>
    <dgm:cxn modelId="{6E7F6D16-D573-7741-B414-B9413A07A776}" type="presParOf" srcId="{1D3EFF95-3DA5-C740-8568-D47CCF9CAAB4}" destId="{FFCC2542-F49F-B149-90DD-CB268BFE853E}" srcOrd="2" destOrd="0" presId="urn:microsoft.com/office/officeart/2005/8/layout/orgChart1"/>
    <dgm:cxn modelId="{702E89E8-107C-9345-B2B3-E546106A8872}" type="presParOf" srcId="{FFCC2542-F49F-B149-90DD-CB268BFE853E}" destId="{68860A54-B847-C94B-A9EB-CA9CD26A02AF}" srcOrd="0" destOrd="0" presId="urn:microsoft.com/office/officeart/2005/8/layout/orgChart1"/>
    <dgm:cxn modelId="{D0694EFA-1575-1841-A75E-77DD2F393512}" type="presParOf" srcId="{FFCC2542-F49F-B149-90DD-CB268BFE853E}" destId="{2EAF7FAD-3FF8-6F48-A084-A34BAE9F64DF}" srcOrd="1" destOrd="0" presId="urn:microsoft.com/office/officeart/2005/8/layout/orgChart1"/>
    <dgm:cxn modelId="{539E23CF-B046-1647-9742-EDA52D308913}" type="presParOf" srcId="{2EAF7FAD-3FF8-6F48-A084-A34BAE9F64DF}" destId="{35E2CD6B-6840-374C-8B67-6D8DD2D36D72}" srcOrd="0" destOrd="0" presId="urn:microsoft.com/office/officeart/2005/8/layout/orgChart1"/>
    <dgm:cxn modelId="{43C3B52F-B0FB-8445-9BD8-2AF25870A87E}" type="presParOf" srcId="{35E2CD6B-6840-374C-8B67-6D8DD2D36D72}" destId="{A878EFE8-7C19-B54B-BF5A-14C52F672DC6}" srcOrd="0" destOrd="0" presId="urn:microsoft.com/office/officeart/2005/8/layout/orgChart1"/>
    <dgm:cxn modelId="{67546D7F-795A-014F-8BCA-8EE5E8057D8F}" type="presParOf" srcId="{35E2CD6B-6840-374C-8B67-6D8DD2D36D72}" destId="{5A5B83B1-3497-8948-B4C1-01BB80EEBE59}" srcOrd="1" destOrd="0" presId="urn:microsoft.com/office/officeart/2005/8/layout/orgChart1"/>
    <dgm:cxn modelId="{FFA2F450-24AD-8442-8D37-566AEF7DA9D9}" type="presParOf" srcId="{2EAF7FAD-3FF8-6F48-A084-A34BAE9F64DF}" destId="{5145274D-8941-FB49-A50E-8FFD56342CF1}" srcOrd="1" destOrd="0" presId="urn:microsoft.com/office/officeart/2005/8/layout/orgChart1"/>
    <dgm:cxn modelId="{AAC42A05-0B66-7940-BA40-6561B4015AE3}" type="presParOf" srcId="{2EAF7FAD-3FF8-6F48-A084-A34BAE9F64DF}" destId="{265AB72C-A6C7-F44D-B1A7-F0B1D379C079}" srcOrd="2" destOrd="0" presId="urn:microsoft.com/office/officeart/2005/8/layout/orgChart1"/>
    <dgm:cxn modelId="{4BAD7C04-4DC3-B841-8078-D4946EDA1354}" type="presParOf" srcId="{FFCC2542-F49F-B149-90DD-CB268BFE853E}" destId="{670353C1-3CDA-1140-ABF9-E88278A94AB9}" srcOrd="2" destOrd="0" presId="urn:microsoft.com/office/officeart/2005/8/layout/orgChart1"/>
    <dgm:cxn modelId="{F1D55E9C-51A1-0246-957E-9321BB7ED5EF}" type="presParOf" srcId="{FFCC2542-F49F-B149-90DD-CB268BFE853E}" destId="{A86B0938-83D5-A44F-A004-0AE9689C22EC}" srcOrd="3" destOrd="0" presId="urn:microsoft.com/office/officeart/2005/8/layout/orgChart1"/>
    <dgm:cxn modelId="{F4909272-60E5-CC49-A248-0DB6744635C0}" type="presParOf" srcId="{A86B0938-83D5-A44F-A004-0AE9689C22EC}" destId="{B9C9F6FA-B914-8041-B783-6C7E5401C1B5}" srcOrd="0" destOrd="0" presId="urn:microsoft.com/office/officeart/2005/8/layout/orgChart1"/>
    <dgm:cxn modelId="{6122C611-3511-D44B-BB99-BDAC814D4020}" type="presParOf" srcId="{B9C9F6FA-B914-8041-B783-6C7E5401C1B5}" destId="{284F41C6-AD69-1D43-AFDE-4B388EC222EA}" srcOrd="0" destOrd="0" presId="urn:microsoft.com/office/officeart/2005/8/layout/orgChart1"/>
    <dgm:cxn modelId="{2D726FFA-821F-7846-B139-F51BF8A190E6}" type="presParOf" srcId="{B9C9F6FA-B914-8041-B783-6C7E5401C1B5}" destId="{7E8387C3-D2A0-0746-A0B6-9BDD45BD0EE3}" srcOrd="1" destOrd="0" presId="urn:microsoft.com/office/officeart/2005/8/layout/orgChart1"/>
    <dgm:cxn modelId="{D9EDC78A-61D7-F244-B3F5-6877D7EE5B03}" type="presParOf" srcId="{A86B0938-83D5-A44F-A004-0AE9689C22EC}" destId="{E72927BF-BE43-2842-9230-51FFF06F0EFE}" srcOrd="1" destOrd="0" presId="urn:microsoft.com/office/officeart/2005/8/layout/orgChart1"/>
    <dgm:cxn modelId="{73A13C08-3918-1F49-85D7-A5D547EEAE71}" type="presParOf" srcId="{A86B0938-83D5-A44F-A004-0AE9689C22EC}" destId="{53D9F352-02C6-AA4E-866B-263B623B24A2}" srcOrd="2" destOrd="0" presId="urn:microsoft.com/office/officeart/2005/8/layout/orgChart1"/>
    <dgm:cxn modelId="{035B8734-3E20-5243-A070-2CAFAD209E7C}" type="presParOf" srcId="{FFCC2542-F49F-B149-90DD-CB268BFE853E}" destId="{C0D41B11-B37A-904E-B7F6-015561C24456}" srcOrd="4" destOrd="0" presId="urn:microsoft.com/office/officeart/2005/8/layout/orgChart1"/>
    <dgm:cxn modelId="{6FB3DAB8-B308-5241-9372-C9ACBBBF59A0}" type="presParOf" srcId="{FFCC2542-F49F-B149-90DD-CB268BFE853E}" destId="{6B390C45-FDA4-8E41-9CFC-33B0CF788040}" srcOrd="5" destOrd="0" presId="urn:microsoft.com/office/officeart/2005/8/layout/orgChart1"/>
    <dgm:cxn modelId="{6695CBF6-5944-584F-8368-E4AC3E9C3B81}" type="presParOf" srcId="{6B390C45-FDA4-8E41-9CFC-33B0CF788040}" destId="{E9DDB907-60D6-734B-8F7B-59AAA51D0D75}" srcOrd="0" destOrd="0" presId="urn:microsoft.com/office/officeart/2005/8/layout/orgChart1"/>
    <dgm:cxn modelId="{EAF8ED1A-5D0D-1740-A702-DCFFC73CF3DA}" type="presParOf" srcId="{E9DDB907-60D6-734B-8F7B-59AAA51D0D75}" destId="{1D9D7AE6-C28D-9940-871E-6C93F70DA2CF}" srcOrd="0" destOrd="0" presId="urn:microsoft.com/office/officeart/2005/8/layout/orgChart1"/>
    <dgm:cxn modelId="{F3169B25-3450-394A-B758-8EED16681746}" type="presParOf" srcId="{E9DDB907-60D6-734B-8F7B-59AAA51D0D75}" destId="{33CEAA8C-6CBD-DB41-89BA-1B0EC717F1C5}" srcOrd="1" destOrd="0" presId="urn:microsoft.com/office/officeart/2005/8/layout/orgChart1"/>
    <dgm:cxn modelId="{5647C316-39BD-CD47-90C1-CE6B4DE2BBB4}" type="presParOf" srcId="{6B390C45-FDA4-8E41-9CFC-33B0CF788040}" destId="{D6C8C9F2-BE91-6F49-8E0F-76B98DF53ADA}" srcOrd="1" destOrd="0" presId="urn:microsoft.com/office/officeart/2005/8/layout/orgChart1"/>
    <dgm:cxn modelId="{774BFE80-567F-7040-A33F-C20493891EC7}" type="presParOf" srcId="{6B390C45-FDA4-8E41-9CFC-33B0CF788040}" destId="{2AFE6F01-612C-7D43-9C7C-D23C9D1E3E24}" srcOrd="2" destOrd="0" presId="urn:microsoft.com/office/officeart/2005/8/layout/orgChart1"/>
    <dgm:cxn modelId="{92ABE9D9-DF5F-8B42-BAE4-5ED4F163BC50}" type="presParOf" srcId="{FFCC2542-F49F-B149-90DD-CB268BFE853E}" destId="{166A2AF5-42C4-0749-95B6-E0850AE2B37D}" srcOrd="6" destOrd="0" presId="urn:microsoft.com/office/officeart/2005/8/layout/orgChart1"/>
    <dgm:cxn modelId="{2556250D-9679-C840-8A12-86B8C4037CB2}" type="presParOf" srcId="{FFCC2542-F49F-B149-90DD-CB268BFE853E}" destId="{89A50AC8-D242-E146-85FD-5674FDD02599}" srcOrd="7" destOrd="0" presId="urn:microsoft.com/office/officeart/2005/8/layout/orgChart1"/>
    <dgm:cxn modelId="{68240010-381E-034F-87F8-150A4F95EC69}" type="presParOf" srcId="{89A50AC8-D242-E146-85FD-5674FDD02599}" destId="{094E386E-E069-0A4B-86DA-3F9755B0FEB8}" srcOrd="0" destOrd="0" presId="urn:microsoft.com/office/officeart/2005/8/layout/orgChart1"/>
    <dgm:cxn modelId="{F920189F-C0B8-6148-9EB1-0069FA4F6F09}" type="presParOf" srcId="{094E386E-E069-0A4B-86DA-3F9755B0FEB8}" destId="{AAB33064-7530-9A40-A6B8-7DEEC8EEFB72}" srcOrd="0" destOrd="0" presId="urn:microsoft.com/office/officeart/2005/8/layout/orgChart1"/>
    <dgm:cxn modelId="{6A9E4ED8-C0B1-9A44-B643-D2D12B576177}" type="presParOf" srcId="{094E386E-E069-0A4B-86DA-3F9755B0FEB8}" destId="{B5C37304-3EE1-3C41-8DDB-3BB2F6793E95}" srcOrd="1" destOrd="0" presId="urn:microsoft.com/office/officeart/2005/8/layout/orgChart1"/>
    <dgm:cxn modelId="{4BC8E809-6AEC-A949-8765-8622A2B9F33D}" type="presParOf" srcId="{89A50AC8-D242-E146-85FD-5674FDD02599}" destId="{47512039-2109-3F4E-990D-6113BDFC683D}" srcOrd="1" destOrd="0" presId="urn:microsoft.com/office/officeart/2005/8/layout/orgChart1"/>
    <dgm:cxn modelId="{92BD00A0-2753-B946-8436-3EF9C9922193}" type="presParOf" srcId="{89A50AC8-D242-E146-85FD-5674FDD02599}" destId="{21A57D92-ECD2-944C-AD85-FF7B4FF49261}" srcOrd="2" destOrd="0" presId="urn:microsoft.com/office/officeart/2005/8/layout/orgChart1"/>
    <dgm:cxn modelId="{C92A61E6-CDF1-764A-BDCD-123363B7B903}" type="presParOf" srcId="{481B912E-33AF-0F45-9DFC-B8E9C16DCB53}" destId="{9A504FA9-8E0D-6648-9F8D-2837AD960B15}" srcOrd="2" destOrd="0" presId="urn:microsoft.com/office/officeart/2005/8/layout/orgChart1"/>
    <dgm:cxn modelId="{7EC56E12-F727-2148-9FB5-D09D8F6EA6E0}" type="presParOf" srcId="{481B912E-33AF-0F45-9DFC-B8E9C16DCB53}" destId="{B881D62C-AFAF-F448-8532-A74CB06F3447}" srcOrd="3" destOrd="0" presId="urn:microsoft.com/office/officeart/2005/8/layout/orgChart1"/>
    <dgm:cxn modelId="{3525C55B-3145-2643-AAE7-C715A41E2A0F}" type="presParOf" srcId="{B881D62C-AFAF-F448-8532-A74CB06F3447}" destId="{8FFA89C7-2CE2-C04D-8C09-DDF7EAF86926}" srcOrd="0" destOrd="0" presId="urn:microsoft.com/office/officeart/2005/8/layout/orgChart1"/>
    <dgm:cxn modelId="{FFCCCFC3-92CD-2D4B-BBEF-0CEADD93BCBE}" type="presParOf" srcId="{8FFA89C7-2CE2-C04D-8C09-DDF7EAF86926}" destId="{692CFE6E-DBCE-A740-A608-5987DF75F6BB}" srcOrd="0" destOrd="0" presId="urn:microsoft.com/office/officeart/2005/8/layout/orgChart1"/>
    <dgm:cxn modelId="{07DB85D9-C38E-CD4A-8913-118BEABB6D8B}" type="presParOf" srcId="{8FFA89C7-2CE2-C04D-8C09-DDF7EAF86926}" destId="{E67356AE-0DB9-5148-8ED6-F719D6160EA9}" srcOrd="1" destOrd="0" presId="urn:microsoft.com/office/officeart/2005/8/layout/orgChart1"/>
    <dgm:cxn modelId="{35DDB32F-E893-0243-A975-005DE70F8C62}" type="presParOf" srcId="{B881D62C-AFAF-F448-8532-A74CB06F3447}" destId="{26C17300-B1DC-B140-B2F1-986F4024B958}" srcOrd="1" destOrd="0" presId="urn:microsoft.com/office/officeart/2005/8/layout/orgChart1"/>
    <dgm:cxn modelId="{C7D17257-A802-8F4B-B1F0-079149389D3A}" type="presParOf" srcId="{B881D62C-AFAF-F448-8532-A74CB06F3447}" destId="{CACD2FA2-AAF7-814E-B3CC-CDBB7D17D58F}" srcOrd="2" destOrd="0" presId="urn:microsoft.com/office/officeart/2005/8/layout/orgChart1"/>
    <dgm:cxn modelId="{B299C79D-8954-2649-A8F1-EEC97AEA75CF}" type="presParOf" srcId="{CACD2FA2-AAF7-814E-B3CC-CDBB7D17D58F}" destId="{E0AAE29B-EB28-6247-B36C-8B18E8D449F7}" srcOrd="0" destOrd="0" presId="urn:microsoft.com/office/officeart/2005/8/layout/orgChart1"/>
    <dgm:cxn modelId="{B1D7A516-8520-C041-8F36-96287BE2B40F}" type="presParOf" srcId="{CACD2FA2-AAF7-814E-B3CC-CDBB7D17D58F}" destId="{54641FEA-B34E-4D4E-96D8-92CF87EA8BB5}" srcOrd="1" destOrd="0" presId="urn:microsoft.com/office/officeart/2005/8/layout/orgChart1"/>
    <dgm:cxn modelId="{FEB08C42-DDEA-2247-820A-BC70F71C6986}" type="presParOf" srcId="{54641FEA-B34E-4D4E-96D8-92CF87EA8BB5}" destId="{9D79B911-47C2-7343-8D72-EF475A5A2FC3}" srcOrd="0" destOrd="0" presId="urn:microsoft.com/office/officeart/2005/8/layout/orgChart1"/>
    <dgm:cxn modelId="{7E93B4FF-F637-FE42-984B-4228405183A6}" type="presParOf" srcId="{9D79B911-47C2-7343-8D72-EF475A5A2FC3}" destId="{A5A595DA-EC7C-8947-98C1-1D1FB34F94D8}" srcOrd="0" destOrd="0" presId="urn:microsoft.com/office/officeart/2005/8/layout/orgChart1"/>
    <dgm:cxn modelId="{CC0F3C94-53EB-C446-B51D-45DDD260D5D5}" type="presParOf" srcId="{9D79B911-47C2-7343-8D72-EF475A5A2FC3}" destId="{FAD02ABB-B990-804D-9245-7172CE6B0C40}" srcOrd="1" destOrd="0" presId="urn:microsoft.com/office/officeart/2005/8/layout/orgChart1"/>
    <dgm:cxn modelId="{88865D4B-4610-AA48-B241-3B3901A7D7BF}" type="presParOf" srcId="{54641FEA-B34E-4D4E-96D8-92CF87EA8BB5}" destId="{5C224531-AD64-7B47-98F2-8472347165F9}" srcOrd="1" destOrd="0" presId="urn:microsoft.com/office/officeart/2005/8/layout/orgChart1"/>
    <dgm:cxn modelId="{51FC8F32-F215-694D-BEA2-A6546C7197CA}" type="presParOf" srcId="{54641FEA-B34E-4D4E-96D8-92CF87EA8BB5}" destId="{F8FEAF6D-F2C0-E74E-A53A-F0686648DB8B}" srcOrd="2" destOrd="0" presId="urn:microsoft.com/office/officeart/2005/8/layout/orgChart1"/>
    <dgm:cxn modelId="{C31CF105-2438-DC47-8DA5-42192DB6AA2A}" type="presParOf" srcId="{CACD2FA2-AAF7-814E-B3CC-CDBB7D17D58F}" destId="{D06851CB-A77C-1F4A-949C-8206C136F283}" srcOrd="2" destOrd="0" presId="urn:microsoft.com/office/officeart/2005/8/layout/orgChart1"/>
    <dgm:cxn modelId="{C72AF066-7CEC-9349-9B76-D47657272C4C}" type="presParOf" srcId="{CACD2FA2-AAF7-814E-B3CC-CDBB7D17D58F}" destId="{94864DC4-7E81-884C-8B67-254B57E7F2F2}" srcOrd="3" destOrd="0" presId="urn:microsoft.com/office/officeart/2005/8/layout/orgChart1"/>
    <dgm:cxn modelId="{16527435-B571-4440-B9C2-BF2680EC0D0C}" type="presParOf" srcId="{94864DC4-7E81-884C-8B67-254B57E7F2F2}" destId="{788CD894-38B3-014A-A7BD-B8BC84D9EF25}" srcOrd="0" destOrd="0" presId="urn:microsoft.com/office/officeart/2005/8/layout/orgChart1"/>
    <dgm:cxn modelId="{8C59370E-7B02-054F-B22E-B5715086D733}" type="presParOf" srcId="{788CD894-38B3-014A-A7BD-B8BC84D9EF25}" destId="{E200F511-3563-6D4E-98EF-4075BAC3637E}" srcOrd="0" destOrd="0" presId="urn:microsoft.com/office/officeart/2005/8/layout/orgChart1"/>
    <dgm:cxn modelId="{EE755334-3E62-0244-BD27-8E35BF28CF7D}" type="presParOf" srcId="{788CD894-38B3-014A-A7BD-B8BC84D9EF25}" destId="{1354E56A-B617-7B45-98B8-3120C823112B}" srcOrd="1" destOrd="0" presId="urn:microsoft.com/office/officeart/2005/8/layout/orgChart1"/>
    <dgm:cxn modelId="{A6DCF9E7-BBE8-924B-8C60-D5BC5D1FD534}" type="presParOf" srcId="{94864DC4-7E81-884C-8B67-254B57E7F2F2}" destId="{FE0DFBB7-B8C1-E243-8D3E-436D39C64894}" srcOrd="1" destOrd="0" presId="urn:microsoft.com/office/officeart/2005/8/layout/orgChart1"/>
    <dgm:cxn modelId="{493F8386-4D0E-0E49-A51E-56B1680764E8}" type="presParOf" srcId="{94864DC4-7E81-884C-8B67-254B57E7F2F2}" destId="{9FF282E1-5763-E944-91A7-FE81D8E5487D}" srcOrd="2" destOrd="0" presId="urn:microsoft.com/office/officeart/2005/8/layout/orgChart1"/>
    <dgm:cxn modelId="{80B31204-5BF1-964B-9D87-6FAB4814A3EA}" type="presParOf" srcId="{CACD2FA2-AAF7-814E-B3CC-CDBB7D17D58F}" destId="{59805606-0AD5-6C4E-81D7-4D065E82E084}" srcOrd="4" destOrd="0" presId="urn:microsoft.com/office/officeart/2005/8/layout/orgChart1"/>
    <dgm:cxn modelId="{A096D664-37F1-7442-AE41-328D88FE6868}" type="presParOf" srcId="{CACD2FA2-AAF7-814E-B3CC-CDBB7D17D58F}" destId="{6336C6A0-139E-DD4B-8707-24FACFD7F6E8}" srcOrd="5" destOrd="0" presId="urn:microsoft.com/office/officeart/2005/8/layout/orgChart1"/>
    <dgm:cxn modelId="{FE65B1B7-4090-D94F-AE0A-AB4C79320265}" type="presParOf" srcId="{6336C6A0-139E-DD4B-8707-24FACFD7F6E8}" destId="{A363E20F-4115-BA4F-96DD-094FD0E872FC}" srcOrd="0" destOrd="0" presId="urn:microsoft.com/office/officeart/2005/8/layout/orgChart1"/>
    <dgm:cxn modelId="{A86CA68F-CF57-1742-804D-1C5D1E392282}" type="presParOf" srcId="{A363E20F-4115-BA4F-96DD-094FD0E872FC}" destId="{5D5A240B-BF37-F840-BD74-45FDB03A98F7}" srcOrd="0" destOrd="0" presId="urn:microsoft.com/office/officeart/2005/8/layout/orgChart1"/>
    <dgm:cxn modelId="{A0A8F9E4-0DE9-C14D-B3FF-B8ACD78E2C6F}" type="presParOf" srcId="{A363E20F-4115-BA4F-96DD-094FD0E872FC}" destId="{9AB95324-80A6-5E42-8831-0CCDECDCCDDA}" srcOrd="1" destOrd="0" presId="urn:microsoft.com/office/officeart/2005/8/layout/orgChart1"/>
    <dgm:cxn modelId="{6D4D828D-249C-1742-80DE-5F298822D9E6}" type="presParOf" srcId="{6336C6A0-139E-DD4B-8707-24FACFD7F6E8}" destId="{B13E2711-E403-B344-856C-806F92507684}" srcOrd="1" destOrd="0" presId="urn:microsoft.com/office/officeart/2005/8/layout/orgChart1"/>
    <dgm:cxn modelId="{C5B84424-C1BC-ED45-AA6C-8D27435106C9}" type="presParOf" srcId="{6336C6A0-139E-DD4B-8707-24FACFD7F6E8}" destId="{88E73562-6F70-2148-A6FA-ADC925BC2DDB}" srcOrd="2" destOrd="0" presId="urn:microsoft.com/office/officeart/2005/8/layout/orgChart1"/>
    <dgm:cxn modelId="{658531F0-B68A-5D49-8B88-EEB5E93563C0}" type="presParOf" srcId="{CACD2FA2-AAF7-814E-B3CC-CDBB7D17D58F}" destId="{30014D30-53B4-794A-80D0-7C5486817845}" srcOrd="6" destOrd="0" presId="urn:microsoft.com/office/officeart/2005/8/layout/orgChart1"/>
    <dgm:cxn modelId="{1B99E9D8-D9AC-0D49-A40A-940486AFB001}" type="presParOf" srcId="{CACD2FA2-AAF7-814E-B3CC-CDBB7D17D58F}" destId="{AB4F585B-24E0-564F-9D43-3025F4F6E334}" srcOrd="7" destOrd="0" presId="urn:microsoft.com/office/officeart/2005/8/layout/orgChart1"/>
    <dgm:cxn modelId="{4F523EFF-D683-F94A-AE9D-BF4EEFD5AA20}" type="presParOf" srcId="{AB4F585B-24E0-564F-9D43-3025F4F6E334}" destId="{77D8E791-5BEE-C44D-B96B-6459BFF26741}" srcOrd="0" destOrd="0" presId="urn:microsoft.com/office/officeart/2005/8/layout/orgChart1"/>
    <dgm:cxn modelId="{6B373ABE-F499-9144-AD69-464DCD373A29}" type="presParOf" srcId="{77D8E791-5BEE-C44D-B96B-6459BFF26741}" destId="{2C173E1B-6CAA-3547-BFBD-7C3838F6CEDA}" srcOrd="0" destOrd="0" presId="urn:microsoft.com/office/officeart/2005/8/layout/orgChart1"/>
    <dgm:cxn modelId="{18FDAC3C-1EDD-4A41-96CF-0834383C4F7D}" type="presParOf" srcId="{77D8E791-5BEE-C44D-B96B-6459BFF26741}" destId="{EB9E3803-0750-0C42-B0C4-31C844A3617D}" srcOrd="1" destOrd="0" presId="urn:microsoft.com/office/officeart/2005/8/layout/orgChart1"/>
    <dgm:cxn modelId="{4F061F46-F2A2-E245-AEF2-21EA35DD7A4C}" type="presParOf" srcId="{AB4F585B-24E0-564F-9D43-3025F4F6E334}" destId="{6DEC9008-A652-B645-B81C-454EC3DFA565}" srcOrd="1" destOrd="0" presId="urn:microsoft.com/office/officeart/2005/8/layout/orgChart1"/>
    <dgm:cxn modelId="{2704F7EB-A41A-2141-BAA6-F6A7991D5771}" type="presParOf" srcId="{AB4F585B-24E0-564F-9D43-3025F4F6E334}" destId="{A5356D0B-5182-D241-AF40-67866B2ECC18}" srcOrd="2" destOrd="0" presId="urn:microsoft.com/office/officeart/2005/8/layout/orgChart1"/>
    <dgm:cxn modelId="{FDB8FB83-8CBD-5846-9CA5-F111CB59C1DE}" type="presParOf" srcId="{EDB51297-24E8-4044-9BDF-135C9E899B3D}" destId="{7B39F2FE-A3C4-C947-9038-9A94D7EE15C7}" srcOrd="2" destOrd="0" presId="urn:microsoft.com/office/officeart/2005/8/layout/orgChart1"/>
    <dgm:cxn modelId="{F12C62FF-702B-AE42-A99D-1FB27CC7EF9D}" type="presParOf" srcId="{EDB51297-24E8-4044-9BDF-135C9E899B3D}" destId="{90FDFDA8-E79B-2447-94D6-55560F1FB827}" srcOrd="3" destOrd="0" presId="urn:microsoft.com/office/officeart/2005/8/layout/orgChart1"/>
    <dgm:cxn modelId="{06336078-EC7E-3540-99DB-8328F558689F}" type="presParOf" srcId="{90FDFDA8-E79B-2447-94D6-55560F1FB827}" destId="{6ACFB88A-0AF9-B745-AD48-9994AE5B9C3D}" srcOrd="0" destOrd="0" presId="urn:microsoft.com/office/officeart/2005/8/layout/orgChart1"/>
    <dgm:cxn modelId="{18BD4B37-2641-5E41-93D1-7D47B2245385}" type="presParOf" srcId="{6ACFB88A-0AF9-B745-AD48-9994AE5B9C3D}" destId="{FA0BC737-CCD1-A145-A669-18EF8721568A}" srcOrd="0" destOrd="0" presId="urn:microsoft.com/office/officeart/2005/8/layout/orgChart1"/>
    <dgm:cxn modelId="{DBBE4EAE-D5B0-344C-B4C4-C01EF3E354D8}" type="presParOf" srcId="{6ACFB88A-0AF9-B745-AD48-9994AE5B9C3D}" destId="{3511F01C-7CBB-FA48-B07D-A6FD90E71E21}" srcOrd="1" destOrd="0" presId="urn:microsoft.com/office/officeart/2005/8/layout/orgChart1"/>
    <dgm:cxn modelId="{06E88BE9-705A-3C45-9379-FAF72DF7C55F}" type="presParOf" srcId="{90FDFDA8-E79B-2447-94D6-55560F1FB827}" destId="{9EFE8A00-68F4-9246-8CB8-E9476DBB04C5}" srcOrd="1" destOrd="0" presId="urn:microsoft.com/office/officeart/2005/8/layout/orgChart1"/>
    <dgm:cxn modelId="{AF601EFE-0651-FE47-8A88-2FBE2C3058B3}" type="presParOf" srcId="{90FDFDA8-E79B-2447-94D6-55560F1FB827}" destId="{78A8FFF5-974C-1643-B895-B60F7E91A4C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54E031-C5C2-A047-8854-D6622094ED29}" type="doc">
      <dgm:prSet loTypeId="urn:microsoft.com/office/officeart/2005/8/layout/pyramid2" loCatId="" qsTypeId="urn:microsoft.com/office/officeart/2005/8/quickstyle/simple1" qsCatId="simple" csTypeId="urn:microsoft.com/office/officeart/2005/8/colors/colorful1" csCatId="colorful" phldr="1"/>
      <dgm:spPr/>
    </dgm:pt>
    <dgm:pt modelId="{2026C324-516E-3F4D-AEF3-EBEC5AC7C417}">
      <dgm:prSet phldrT="[Text]"/>
      <dgm:spPr/>
      <dgm:t>
        <a:bodyPr/>
        <a:lstStyle/>
        <a:p>
          <a:r>
            <a:rPr lang="en-US" dirty="0"/>
            <a:t>Cryptography is the </a:t>
          </a:r>
          <a:r>
            <a:rPr lang="en-ZA" dirty="0"/>
            <a:t>science that develops methods for keeping information secure</a:t>
          </a:r>
          <a:endParaRPr lang="en-US" dirty="0"/>
        </a:p>
      </dgm:t>
    </dgm:pt>
    <dgm:pt modelId="{A52B7877-BE7C-7646-94F9-2961BC06B3B7}" type="parTrans" cxnId="{9A2E2A17-59C7-574C-87F3-C6B1C6B26093}">
      <dgm:prSet/>
      <dgm:spPr/>
      <dgm:t>
        <a:bodyPr/>
        <a:lstStyle/>
        <a:p>
          <a:endParaRPr lang="en-US"/>
        </a:p>
      </dgm:t>
    </dgm:pt>
    <dgm:pt modelId="{BE0B486E-B139-6C44-971B-B45A45366B71}" type="sibTrans" cxnId="{9A2E2A17-59C7-574C-87F3-C6B1C6B26093}">
      <dgm:prSet/>
      <dgm:spPr/>
      <dgm:t>
        <a:bodyPr/>
        <a:lstStyle/>
        <a:p>
          <a:endParaRPr lang="en-US"/>
        </a:p>
      </dgm:t>
    </dgm:pt>
    <dgm:pt modelId="{27AFA967-7852-754C-BF18-365C85E0AA73}">
      <dgm:prSet/>
      <dgm:spPr/>
      <dgm:t>
        <a:bodyPr/>
        <a:lstStyle/>
        <a:p>
          <a:r>
            <a:rPr lang="en-US" dirty="0"/>
            <a:t>The word originates from the ancient Greek word </a:t>
          </a:r>
          <a:r>
            <a:rPr lang="el-GR" dirty="0"/>
            <a:t>κρυπτός (</a:t>
          </a:r>
          <a:r>
            <a:rPr lang="en-US" dirty="0" err="1"/>
            <a:t>kryptós</a:t>
          </a:r>
          <a:r>
            <a:rPr lang="en-US" dirty="0"/>
            <a:t>), meaning "hidden," and </a:t>
          </a:r>
          <a:r>
            <a:rPr lang="el-GR" dirty="0" err="1"/>
            <a:t>γράφειν</a:t>
          </a:r>
          <a:r>
            <a:rPr lang="el-GR" dirty="0"/>
            <a:t> (</a:t>
          </a:r>
          <a:r>
            <a:rPr lang="en-US" dirty="0" err="1"/>
            <a:t>gráphein</a:t>
          </a:r>
          <a:r>
            <a:rPr lang="en-US" dirty="0"/>
            <a:t>), meaning "to write," thus "hidden writing."</a:t>
          </a:r>
        </a:p>
      </dgm:t>
    </dgm:pt>
    <dgm:pt modelId="{B4D418F2-BCEF-1E40-9C5D-7566E0867B24}" type="parTrans" cxnId="{3B12DB4A-FD91-7F4A-B74A-E08F18088BF0}">
      <dgm:prSet/>
      <dgm:spPr/>
      <dgm:t>
        <a:bodyPr/>
        <a:lstStyle/>
        <a:p>
          <a:endParaRPr lang="en-US"/>
        </a:p>
      </dgm:t>
    </dgm:pt>
    <dgm:pt modelId="{2EDEB589-CAC9-DC43-A691-0D9CF091F7DA}" type="sibTrans" cxnId="{3B12DB4A-FD91-7F4A-B74A-E08F18088BF0}">
      <dgm:prSet/>
      <dgm:spPr/>
      <dgm:t>
        <a:bodyPr/>
        <a:lstStyle/>
        <a:p>
          <a:endParaRPr lang="en-US"/>
        </a:p>
      </dgm:t>
    </dgm:pt>
    <dgm:pt modelId="{E7DC8169-3A8C-5E46-9CF4-BBCCB055F623}" type="pres">
      <dgm:prSet presAssocID="{8554E031-C5C2-A047-8854-D6622094ED29}" presName="compositeShape" presStyleCnt="0">
        <dgm:presLayoutVars>
          <dgm:dir/>
          <dgm:resizeHandles/>
        </dgm:presLayoutVars>
      </dgm:prSet>
      <dgm:spPr/>
    </dgm:pt>
    <dgm:pt modelId="{DD6F0151-6398-AC4A-9749-F9A830E00843}" type="pres">
      <dgm:prSet presAssocID="{8554E031-C5C2-A047-8854-D6622094ED29}" presName="pyramid" presStyleLbl="node1" presStyleIdx="0" presStyleCnt="1" custLinFactNeighborX="-26120" custLinFactNeighborY="1901"/>
      <dgm:spPr/>
    </dgm:pt>
    <dgm:pt modelId="{3A2DE1BE-38B7-1D45-80C7-FCDF1005E65B}" type="pres">
      <dgm:prSet presAssocID="{8554E031-C5C2-A047-8854-D6622094ED29}" presName="theList" presStyleCnt="0"/>
      <dgm:spPr/>
    </dgm:pt>
    <dgm:pt modelId="{552D3EC9-EB12-EB45-ABB5-830D6BE16AC1}" type="pres">
      <dgm:prSet presAssocID="{2026C324-516E-3F4D-AEF3-EBEC5AC7C417}" presName="aNode" presStyleLbl="fgAcc1" presStyleIdx="0" presStyleCnt="2" custScaleX="132874">
        <dgm:presLayoutVars>
          <dgm:bulletEnabled val="1"/>
        </dgm:presLayoutVars>
      </dgm:prSet>
      <dgm:spPr/>
    </dgm:pt>
    <dgm:pt modelId="{B8B84C8B-55A7-6B49-85E8-CF5E5065FF6F}" type="pres">
      <dgm:prSet presAssocID="{2026C324-516E-3F4D-AEF3-EBEC5AC7C417}" presName="aSpace" presStyleCnt="0"/>
      <dgm:spPr/>
    </dgm:pt>
    <dgm:pt modelId="{5E27DE95-DD7F-5E44-8CFE-5D02923396C0}" type="pres">
      <dgm:prSet presAssocID="{27AFA967-7852-754C-BF18-365C85E0AA73}" presName="aNode" presStyleLbl="fgAcc1" presStyleIdx="1" presStyleCnt="2" custScaleX="132874">
        <dgm:presLayoutVars>
          <dgm:bulletEnabled val="1"/>
        </dgm:presLayoutVars>
      </dgm:prSet>
      <dgm:spPr/>
    </dgm:pt>
    <dgm:pt modelId="{A4ACF5E8-66EA-6D4B-921A-3A074FFA5601}" type="pres">
      <dgm:prSet presAssocID="{27AFA967-7852-754C-BF18-365C85E0AA73}" presName="aSpace" presStyleCnt="0"/>
      <dgm:spPr/>
    </dgm:pt>
  </dgm:ptLst>
  <dgm:cxnLst>
    <dgm:cxn modelId="{9A2E2A17-59C7-574C-87F3-C6B1C6B26093}" srcId="{8554E031-C5C2-A047-8854-D6622094ED29}" destId="{2026C324-516E-3F4D-AEF3-EBEC5AC7C417}" srcOrd="0" destOrd="0" parTransId="{A52B7877-BE7C-7646-94F9-2961BC06B3B7}" sibTransId="{BE0B486E-B139-6C44-971B-B45A45366B71}"/>
    <dgm:cxn modelId="{3B12DB4A-FD91-7F4A-B74A-E08F18088BF0}" srcId="{8554E031-C5C2-A047-8854-D6622094ED29}" destId="{27AFA967-7852-754C-BF18-365C85E0AA73}" srcOrd="1" destOrd="0" parTransId="{B4D418F2-BCEF-1E40-9C5D-7566E0867B24}" sibTransId="{2EDEB589-CAC9-DC43-A691-0D9CF091F7DA}"/>
    <dgm:cxn modelId="{FAC9034E-C6FD-2F40-95AC-7E61E6278E62}" type="presOf" srcId="{27AFA967-7852-754C-BF18-365C85E0AA73}" destId="{5E27DE95-DD7F-5E44-8CFE-5D02923396C0}" srcOrd="0" destOrd="0" presId="urn:microsoft.com/office/officeart/2005/8/layout/pyramid2"/>
    <dgm:cxn modelId="{06D14ACF-A8B4-6D41-82F5-33B2BFC106C8}" type="presOf" srcId="{8554E031-C5C2-A047-8854-D6622094ED29}" destId="{E7DC8169-3A8C-5E46-9CF4-BBCCB055F623}" srcOrd="0" destOrd="0" presId="urn:microsoft.com/office/officeart/2005/8/layout/pyramid2"/>
    <dgm:cxn modelId="{F5C47AFA-B342-CC41-BE72-4BBD5ABD763D}" type="presOf" srcId="{2026C324-516E-3F4D-AEF3-EBEC5AC7C417}" destId="{552D3EC9-EB12-EB45-ABB5-830D6BE16AC1}" srcOrd="0" destOrd="0" presId="urn:microsoft.com/office/officeart/2005/8/layout/pyramid2"/>
    <dgm:cxn modelId="{F5BAC95A-30AE-2E4C-88A2-617622471AB1}" type="presParOf" srcId="{E7DC8169-3A8C-5E46-9CF4-BBCCB055F623}" destId="{DD6F0151-6398-AC4A-9749-F9A830E00843}" srcOrd="0" destOrd="0" presId="urn:microsoft.com/office/officeart/2005/8/layout/pyramid2"/>
    <dgm:cxn modelId="{83004119-B065-5E49-BE53-10867E8E6948}" type="presParOf" srcId="{E7DC8169-3A8C-5E46-9CF4-BBCCB055F623}" destId="{3A2DE1BE-38B7-1D45-80C7-FCDF1005E65B}" srcOrd="1" destOrd="0" presId="urn:microsoft.com/office/officeart/2005/8/layout/pyramid2"/>
    <dgm:cxn modelId="{DD142B90-9064-2544-8A2A-7A07BF30CE25}" type="presParOf" srcId="{3A2DE1BE-38B7-1D45-80C7-FCDF1005E65B}" destId="{552D3EC9-EB12-EB45-ABB5-830D6BE16AC1}" srcOrd="0" destOrd="0" presId="urn:microsoft.com/office/officeart/2005/8/layout/pyramid2"/>
    <dgm:cxn modelId="{3AE0ED6D-EE54-7C49-82DD-028069F5E380}" type="presParOf" srcId="{3A2DE1BE-38B7-1D45-80C7-FCDF1005E65B}" destId="{B8B84C8B-55A7-6B49-85E8-CF5E5065FF6F}" srcOrd="1" destOrd="0" presId="urn:microsoft.com/office/officeart/2005/8/layout/pyramid2"/>
    <dgm:cxn modelId="{4D009239-4E57-0E4F-A8C0-B595FE662DD6}" type="presParOf" srcId="{3A2DE1BE-38B7-1D45-80C7-FCDF1005E65B}" destId="{5E27DE95-DD7F-5E44-8CFE-5D02923396C0}" srcOrd="2" destOrd="0" presId="urn:microsoft.com/office/officeart/2005/8/layout/pyramid2"/>
    <dgm:cxn modelId="{8B1F8456-73A9-6944-B9F6-5479825B0D6F}" type="presParOf" srcId="{3A2DE1BE-38B7-1D45-80C7-FCDF1005E65B}" destId="{A4ACF5E8-66EA-6D4B-921A-3A074FFA5601}" srcOrd="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92C07AEF-4437-F240-89CE-7954D5F03C20}"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54E447BE-9133-5243-9BF5-34A9530D4049}">
      <dgm:prSet phldrT="[Text]" custT="1"/>
      <dgm:spPr/>
      <dgm:t>
        <a:bodyPr/>
        <a:lstStyle/>
        <a:p>
          <a:r>
            <a:rPr lang="en-US" sz="2400" dirty="0"/>
            <a:t>input data</a:t>
          </a:r>
        </a:p>
      </dgm:t>
    </dgm:pt>
    <dgm:pt modelId="{2B389054-499E-7644-8115-DEBC142E8D1B}" type="parTrans" cxnId="{FB5B3A4E-EDB8-4140-96AF-F33194C9E59A}">
      <dgm:prSet/>
      <dgm:spPr/>
      <dgm:t>
        <a:bodyPr/>
        <a:lstStyle/>
        <a:p>
          <a:endParaRPr lang="en-US" sz="2400"/>
        </a:p>
      </dgm:t>
    </dgm:pt>
    <dgm:pt modelId="{674A3877-6B26-4949-A731-6BAC86ECF59F}" type="sibTrans" cxnId="{FB5B3A4E-EDB8-4140-96AF-F33194C9E59A}">
      <dgm:prSet/>
      <dgm:spPr/>
      <dgm:t>
        <a:bodyPr/>
        <a:lstStyle/>
        <a:p>
          <a:endParaRPr lang="en-US" sz="2400"/>
        </a:p>
      </dgm:t>
    </dgm:pt>
    <dgm:pt modelId="{E6D6D3FB-D659-714C-824F-65C152E8090C}">
      <dgm:prSet phldrT="[Text]" custT="1"/>
      <dgm:spPr/>
      <dgm:t>
        <a:bodyPr/>
        <a:lstStyle/>
        <a:p>
          <a:r>
            <a:rPr lang="en-US" sz="2400" dirty="0"/>
            <a:t>operations</a:t>
          </a:r>
        </a:p>
      </dgm:t>
    </dgm:pt>
    <dgm:pt modelId="{AA2E6897-B8ED-B942-B372-7B3396A5C660}" type="parTrans" cxnId="{42380542-0385-0346-9550-45E0BCE1172B}">
      <dgm:prSet/>
      <dgm:spPr/>
      <dgm:t>
        <a:bodyPr/>
        <a:lstStyle/>
        <a:p>
          <a:endParaRPr lang="en-US" sz="2400"/>
        </a:p>
      </dgm:t>
    </dgm:pt>
    <dgm:pt modelId="{8A8910C9-663A-E042-8AD1-068015CD945C}" type="sibTrans" cxnId="{42380542-0385-0346-9550-45E0BCE1172B}">
      <dgm:prSet/>
      <dgm:spPr/>
      <dgm:t>
        <a:bodyPr/>
        <a:lstStyle/>
        <a:p>
          <a:endParaRPr lang="en-US" sz="2400"/>
        </a:p>
      </dgm:t>
    </dgm:pt>
    <dgm:pt modelId="{E4D592B1-BD14-5F45-BCD3-45C8F757F82E}">
      <dgm:prSet phldrT="[Text]" custT="1"/>
      <dgm:spPr/>
      <dgm:t>
        <a:bodyPr/>
        <a:lstStyle/>
        <a:p>
          <a:r>
            <a:rPr lang="en-US" sz="2400" dirty="0"/>
            <a:t>output data</a:t>
          </a:r>
        </a:p>
      </dgm:t>
    </dgm:pt>
    <dgm:pt modelId="{A2EC5393-9769-8443-A73D-23A9528C613C}" type="parTrans" cxnId="{B58280D5-9548-DE4D-83D5-0FE7285D91A1}">
      <dgm:prSet/>
      <dgm:spPr/>
      <dgm:t>
        <a:bodyPr/>
        <a:lstStyle/>
        <a:p>
          <a:endParaRPr lang="en-US" sz="2400"/>
        </a:p>
      </dgm:t>
    </dgm:pt>
    <dgm:pt modelId="{F154C430-53FE-7B49-99F4-FB49C2833CD4}" type="sibTrans" cxnId="{B58280D5-9548-DE4D-83D5-0FE7285D91A1}">
      <dgm:prSet/>
      <dgm:spPr/>
      <dgm:t>
        <a:bodyPr/>
        <a:lstStyle/>
        <a:p>
          <a:endParaRPr lang="en-US" sz="2400"/>
        </a:p>
      </dgm:t>
    </dgm:pt>
    <dgm:pt modelId="{2488875D-A94A-824E-9F51-B767DD12C44B}">
      <dgm:prSet phldrT="[Text]" custT="1"/>
      <dgm:spPr/>
      <dgm:t>
        <a:bodyPr/>
        <a:lstStyle/>
        <a:p>
          <a:r>
            <a:rPr lang="en-ZA" sz="2400" b="0" i="0" dirty="0"/>
            <a:t>intermediate results</a:t>
          </a:r>
          <a:endParaRPr lang="en-US" sz="2400" dirty="0"/>
        </a:p>
      </dgm:t>
    </dgm:pt>
    <dgm:pt modelId="{9DA12995-5C84-3A47-BE15-8D3A683B4F5E}" type="parTrans" cxnId="{4E467F24-72F0-CB4E-9A19-11B7B91CC169}">
      <dgm:prSet/>
      <dgm:spPr/>
      <dgm:t>
        <a:bodyPr/>
        <a:lstStyle/>
        <a:p>
          <a:endParaRPr lang="en-US" sz="2400"/>
        </a:p>
      </dgm:t>
    </dgm:pt>
    <dgm:pt modelId="{1BFD7ECF-88A1-294F-A69F-4B024C5EC569}" type="sibTrans" cxnId="{4E467F24-72F0-CB4E-9A19-11B7B91CC169}">
      <dgm:prSet/>
      <dgm:spPr/>
      <dgm:t>
        <a:bodyPr/>
        <a:lstStyle/>
        <a:p>
          <a:endParaRPr lang="en-US" sz="2400"/>
        </a:p>
      </dgm:t>
    </dgm:pt>
    <dgm:pt modelId="{7A9B7543-B56C-164E-8224-829EEF601645}" type="pres">
      <dgm:prSet presAssocID="{92C07AEF-4437-F240-89CE-7954D5F03C20}" presName="linear" presStyleCnt="0">
        <dgm:presLayoutVars>
          <dgm:dir/>
          <dgm:animLvl val="lvl"/>
          <dgm:resizeHandles val="exact"/>
        </dgm:presLayoutVars>
      </dgm:prSet>
      <dgm:spPr/>
    </dgm:pt>
    <dgm:pt modelId="{41D369F1-6FAA-594E-9457-F25A3C72C726}" type="pres">
      <dgm:prSet presAssocID="{54E447BE-9133-5243-9BF5-34A9530D4049}" presName="parentLin" presStyleCnt="0"/>
      <dgm:spPr/>
    </dgm:pt>
    <dgm:pt modelId="{1CC6E490-287B-494C-B6BA-89CE8F540CB1}" type="pres">
      <dgm:prSet presAssocID="{54E447BE-9133-5243-9BF5-34A9530D4049}" presName="parentLeftMargin" presStyleLbl="node1" presStyleIdx="0" presStyleCnt="4"/>
      <dgm:spPr/>
    </dgm:pt>
    <dgm:pt modelId="{7C221DF2-FD07-D346-8107-3C86FDC76AFE}" type="pres">
      <dgm:prSet presAssocID="{54E447BE-9133-5243-9BF5-34A9530D4049}" presName="parentText" presStyleLbl="node1" presStyleIdx="0" presStyleCnt="4">
        <dgm:presLayoutVars>
          <dgm:chMax val="0"/>
          <dgm:bulletEnabled val="1"/>
        </dgm:presLayoutVars>
      </dgm:prSet>
      <dgm:spPr/>
    </dgm:pt>
    <dgm:pt modelId="{04661B94-5CD4-D04C-9659-B7DB7E3E7868}" type="pres">
      <dgm:prSet presAssocID="{54E447BE-9133-5243-9BF5-34A9530D4049}" presName="negativeSpace" presStyleCnt="0"/>
      <dgm:spPr/>
    </dgm:pt>
    <dgm:pt modelId="{B1198F27-EBE1-AD42-86EA-267EB0D6F59F}" type="pres">
      <dgm:prSet presAssocID="{54E447BE-9133-5243-9BF5-34A9530D4049}" presName="childText" presStyleLbl="conFgAcc1" presStyleIdx="0" presStyleCnt="4">
        <dgm:presLayoutVars>
          <dgm:bulletEnabled val="1"/>
        </dgm:presLayoutVars>
      </dgm:prSet>
      <dgm:spPr/>
    </dgm:pt>
    <dgm:pt modelId="{694828A8-D5A8-BD49-9616-C2AE9226573D}" type="pres">
      <dgm:prSet presAssocID="{674A3877-6B26-4949-A731-6BAC86ECF59F}" presName="spaceBetweenRectangles" presStyleCnt="0"/>
      <dgm:spPr/>
    </dgm:pt>
    <dgm:pt modelId="{75FCE57E-918F-6B43-BE6B-1D6EFEF46CBB}" type="pres">
      <dgm:prSet presAssocID="{E6D6D3FB-D659-714C-824F-65C152E8090C}" presName="parentLin" presStyleCnt="0"/>
      <dgm:spPr/>
    </dgm:pt>
    <dgm:pt modelId="{1BE2B1C8-A515-934D-8D02-D42673FBD8CA}" type="pres">
      <dgm:prSet presAssocID="{E6D6D3FB-D659-714C-824F-65C152E8090C}" presName="parentLeftMargin" presStyleLbl="node1" presStyleIdx="0" presStyleCnt="4"/>
      <dgm:spPr/>
    </dgm:pt>
    <dgm:pt modelId="{51C3F2CE-2A96-9142-9082-4F8BE3EB9F0D}" type="pres">
      <dgm:prSet presAssocID="{E6D6D3FB-D659-714C-824F-65C152E8090C}" presName="parentText" presStyleLbl="node1" presStyleIdx="1" presStyleCnt="4">
        <dgm:presLayoutVars>
          <dgm:chMax val="0"/>
          <dgm:bulletEnabled val="1"/>
        </dgm:presLayoutVars>
      </dgm:prSet>
      <dgm:spPr/>
    </dgm:pt>
    <dgm:pt modelId="{DB0C4391-2F23-F64A-9FFB-0CDAAF2CC6AB}" type="pres">
      <dgm:prSet presAssocID="{E6D6D3FB-D659-714C-824F-65C152E8090C}" presName="negativeSpace" presStyleCnt="0"/>
      <dgm:spPr/>
    </dgm:pt>
    <dgm:pt modelId="{AA855D1E-B013-6145-B450-312C289B4C14}" type="pres">
      <dgm:prSet presAssocID="{E6D6D3FB-D659-714C-824F-65C152E8090C}" presName="childText" presStyleLbl="conFgAcc1" presStyleIdx="1" presStyleCnt="4">
        <dgm:presLayoutVars>
          <dgm:bulletEnabled val="1"/>
        </dgm:presLayoutVars>
      </dgm:prSet>
      <dgm:spPr/>
    </dgm:pt>
    <dgm:pt modelId="{692B21D2-C4DA-E845-A8A9-DF78E8F10DAE}" type="pres">
      <dgm:prSet presAssocID="{8A8910C9-663A-E042-8AD1-068015CD945C}" presName="spaceBetweenRectangles" presStyleCnt="0"/>
      <dgm:spPr/>
    </dgm:pt>
    <dgm:pt modelId="{57ED9785-2AAB-3344-8BC1-93E6CCE9512A}" type="pres">
      <dgm:prSet presAssocID="{2488875D-A94A-824E-9F51-B767DD12C44B}" presName="parentLin" presStyleCnt="0"/>
      <dgm:spPr/>
    </dgm:pt>
    <dgm:pt modelId="{48363187-4D7E-DF4C-9F67-1594DCEE5F5B}" type="pres">
      <dgm:prSet presAssocID="{2488875D-A94A-824E-9F51-B767DD12C44B}" presName="parentLeftMargin" presStyleLbl="node1" presStyleIdx="1" presStyleCnt="4"/>
      <dgm:spPr/>
    </dgm:pt>
    <dgm:pt modelId="{85A8A4CA-92BF-9C4D-8239-363B282F3C97}" type="pres">
      <dgm:prSet presAssocID="{2488875D-A94A-824E-9F51-B767DD12C44B}" presName="parentText" presStyleLbl="node1" presStyleIdx="2" presStyleCnt="4">
        <dgm:presLayoutVars>
          <dgm:chMax val="0"/>
          <dgm:bulletEnabled val="1"/>
        </dgm:presLayoutVars>
      </dgm:prSet>
      <dgm:spPr/>
    </dgm:pt>
    <dgm:pt modelId="{31556E80-8493-5345-973C-7688C15FEF53}" type="pres">
      <dgm:prSet presAssocID="{2488875D-A94A-824E-9F51-B767DD12C44B}" presName="negativeSpace" presStyleCnt="0"/>
      <dgm:spPr/>
    </dgm:pt>
    <dgm:pt modelId="{65A01A7E-662B-1445-B7CA-57A3EB7AA48D}" type="pres">
      <dgm:prSet presAssocID="{2488875D-A94A-824E-9F51-B767DD12C44B}" presName="childText" presStyleLbl="conFgAcc1" presStyleIdx="2" presStyleCnt="4">
        <dgm:presLayoutVars>
          <dgm:bulletEnabled val="1"/>
        </dgm:presLayoutVars>
      </dgm:prSet>
      <dgm:spPr/>
    </dgm:pt>
    <dgm:pt modelId="{369A785F-D023-E946-A471-154AED2D00EF}" type="pres">
      <dgm:prSet presAssocID="{1BFD7ECF-88A1-294F-A69F-4B024C5EC569}" presName="spaceBetweenRectangles" presStyleCnt="0"/>
      <dgm:spPr/>
    </dgm:pt>
    <dgm:pt modelId="{2CC0D816-2691-2B49-8141-148A1E0453E9}" type="pres">
      <dgm:prSet presAssocID="{E4D592B1-BD14-5F45-BCD3-45C8F757F82E}" presName="parentLin" presStyleCnt="0"/>
      <dgm:spPr/>
    </dgm:pt>
    <dgm:pt modelId="{91AD1E73-96F2-3C43-A161-579427E6223C}" type="pres">
      <dgm:prSet presAssocID="{E4D592B1-BD14-5F45-BCD3-45C8F757F82E}" presName="parentLeftMargin" presStyleLbl="node1" presStyleIdx="2" presStyleCnt="4"/>
      <dgm:spPr/>
    </dgm:pt>
    <dgm:pt modelId="{2BF2EF6E-BDE0-E54E-BA11-9CCBD6A486CA}" type="pres">
      <dgm:prSet presAssocID="{E4D592B1-BD14-5F45-BCD3-45C8F757F82E}" presName="parentText" presStyleLbl="node1" presStyleIdx="3" presStyleCnt="4">
        <dgm:presLayoutVars>
          <dgm:chMax val="0"/>
          <dgm:bulletEnabled val="1"/>
        </dgm:presLayoutVars>
      </dgm:prSet>
      <dgm:spPr/>
    </dgm:pt>
    <dgm:pt modelId="{4D90BC72-A9A2-3C4E-A3D9-37B27BA8EE16}" type="pres">
      <dgm:prSet presAssocID="{E4D592B1-BD14-5F45-BCD3-45C8F757F82E}" presName="negativeSpace" presStyleCnt="0"/>
      <dgm:spPr/>
    </dgm:pt>
    <dgm:pt modelId="{7EF809A7-F4FC-2E4C-AE9B-73B1EA52C464}" type="pres">
      <dgm:prSet presAssocID="{E4D592B1-BD14-5F45-BCD3-45C8F757F82E}" presName="childText" presStyleLbl="conFgAcc1" presStyleIdx="3" presStyleCnt="4">
        <dgm:presLayoutVars>
          <dgm:bulletEnabled val="1"/>
        </dgm:presLayoutVars>
      </dgm:prSet>
      <dgm:spPr/>
    </dgm:pt>
  </dgm:ptLst>
  <dgm:cxnLst>
    <dgm:cxn modelId="{B956CB20-56AF-974E-BC09-9835BF1D33AB}" type="presOf" srcId="{92C07AEF-4437-F240-89CE-7954D5F03C20}" destId="{7A9B7543-B56C-164E-8224-829EEF601645}" srcOrd="0" destOrd="0" presId="urn:microsoft.com/office/officeart/2005/8/layout/list1"/>
    <dgm:cxn modelId="{4E467F24-72F0-CB4E-9A19-11B7B91CC169}" srcId="{92C07AEF-4437-F240-89CE-7954D5F03C20}" destId="{2488875D-A94A-824E-9F51-B767DD12C44B}" srcOrd="2" destOrd="0" parTransId="{9DA12995-5C84-3A47-BE15-8D3A683B4F5E}" sibTransId="{1BFD7ECF-88A1-294F-A69F-4B024C5EC569}"/>
    <dgm:cxn modelId="{3089132D-0A8D-F148-B87D-CCA3235607C0}" type="presOf" srcId="{54E447BE-9133-5243-9BF5-34A9530D4049}" destId="{7C221DF2-FD07-D346-8107-3C86FDC76AFE}" srcOrd="1" destOrd="0" presId="urn:microsoft.com/office/officeart/2005/8/layout/list1"/>
    <dgm:cxn modelId="{42380542-0385-0346-9550-45E0BCE1172B}" srcId="{92C07AEF-4437-F240-89CE-7954D5F03C20}" destId="{E6D6D3FB-D659-714C-824F-65C152E8090C}" srcOrd="1" destOrd="0" parTransId="{AA2E6897-B8ED-B942-B372-7B3396A5C660}" sibTransId="{8A8910C9-663A-E042-8AD1-068015CD945C}"/>
    <dgm:cxn modelId="{FB5B3A4E-EDB8-4140-96AF-F33194C9E59A}" srcId="{92C07AEF-4437-F240-89CE-7954D5F03C20}" destId="{54E447BE-9133-5243-9BF5-34A9530D4049}" srcOrd="0" destOrd="0" parTransId="{2B389054-499E-7644-8115-DEBC142E8D1B}" sibTransId="{674A3877-6B26-4949-A731-6BAC86ECF59F}"/>
    <dgm:cxn modelId="{A078EB7F-3DB1-0541-9453-9E931B972B5C}" type="presOf" srcId="{2488875D-A94A-824E-9F51-B767DD12C44B}" destId="{48363187-4D7E-DF4C-9F67-1594DCEE5F5B}" srcOrd="0" destOrd="0" presId="urn:microsoft.com/office/officeart/2005/8/layout/list1"/>
    <dgm:cxn modelId="{556AA98D-C1D2-6646-BB1E-EB5FA7337F21}" type="presOf" srcId="{E6D6D3FB-D659-714C-824F-65C152E8090C}" destId="{1BE2B1C8-A515-934D-8D02-D42673FBD8CA}" srcOrd="0" destOrd="0" presId="urn:microsoft.com/office/officeart/2005/8/layout/list1"/>
    <dgm:cxn modelId="{616E1895-EBC3-3D4C-AF54-1F4D1E7BCD7E}" type="presOf" srcId="{54E447BE-9133-5243-9BF5-34A9530D4049}" destId="{1CC6E490-287B-494C-B6BA-89CE8F540CB1}" srcOrd="0" destOrd="0" presId="urn:microsoft.com/office/officeart/2005/8/layout/list1"/>
    <dgm:cxn modelId="{700E8FC7-2C4D-574B-8E6D-C8361F7981AA}" type="presOf" srcId="{2488875D-A94A-824E-9F51-B767DD12C44B}" destId="{85A8A4CA-92BF-9C4D-8239-363B282F3C97}" srcOrd="1" destOrd="0" presId="urn:microsoft.com/office/officeart/2005/8/layout/list1"/>
    <dgm:cxn modelId="{B58280D5-9548-DE4D-83D5-0FE7285D91A1}" srcId="{92C07AEF-4437-F240-89CE-7954D5F03C20}" destId="{E4D592B1-BD14-5F45-BCD3-45C8F757F82E}" srcOrd="3" destOrd="0" parTransId="{A2EC5393-9769-8443-A73D-23A9528C613C}" sibTransId="{F154C430-53FE-7B49-99F4-FB49C2833CD4}"/>
    <dgm:cxn modelId="{85E33ADA-254F-7244-8761-F8D6E9DF0954}" type="presOf" srcId="{E6D6D3FB-D659-714C-824F-65C152E8090C}" destId="{51C3F2CE-2A96-9142-9082-4F8BE3EB9F0D}" srcOrd="1" destOrd="0" presId="urn:microsoft.com/office/officeart/2005/8/layout/list1"/>
    <dgm:cxn modelId="{1D04EBF5-0FA3-A94D-83D5-13E837691B78}" type="presOf" srcId="{E4D592B1-BD14-5F45-BCD3-45C8F757F82E}" destId="{2BF2EF6E-BDE0-E54E-BA11-9CCBD6A486CA}" srcOrd="1" destOrd="0" presId="urn:microsoft.com/office/officeart/2005/8/layout/list1"/>
    <dgm:cxn modelId="{3C1EB8FD-1DBE-AE45-864F-C80A46584910}" type="presOf" srcId="{E4D592B1-BD14-5F45-BCD3-45C8F757F82E}" destId="{91AD1E73-96F2-3C43-A161-579427E6223C}" srcOrd="0" destOrd="0" presId="urn:microsoft.com/office/officeart/2005/8/layout/list1"/>
    <dgm:cxn modelId="{C40131C9-B212-E24A-A5E8-93E5CC1D56A7}" type="presParOf" srcId="{7A9B7543-B56C-164E-8224-829EEF601645}" destId="{41D369F1-6FAA-594E-9457-F25A3C72C726}" srcOrd="0" destOrd="0" presId="urn:microsoft.com/office/officeart/2005/8/layout/list1"/>
    <dgm:cxn modelId="{3AC2CDF6-D3EC-4944-9FD0-57CBF9C4A6F7}" type="presParOf" srcId="{41D369F1-6FAA-594E-9457-F25A3C72C726}" destId="{1CC6E490-287B-494C-B6BA-89CE8F540CB1}" srcOrd="0" destOrd="0" presId="urn:microsoft.com/office/officeart/2005/8/layout/list1"/>
    <dgm:cxn modelId="{D995AB2C-76F9-1546-9540-1DCCD8BDE06C}" type="presParOf" srcId="{41D369F1-6FAA-594E-9457-F25A3C72C726}" destId="{7C221DF2-FD07-D346-8107-3C86FDC76AFE}" srcOrd="1" destOrd="0" presId="urn:microsoft.com/office/officeart/2005/8/layout/list1"/>
    <dgm:cxn modelId="{81CCA3A5-0A0B-654F-B175-18195EC850A5}" type="presParOf" srcId="{7A9B7543-B56C-164E-8224-829EEF601645}" destId="{04661B94-5CD4-D04C-9659-B7DB7E3E7868}" srcOrd="1" destOrd="0" presId="urn:microsoft.com/office/officeart/2005/8/layout/list1"/>
    <dgm:cxn modelId="{B2EC631B-09E1-E144-9134-A0551ADB53B8}" type="presParOf" srcId="{7A9B7543-B56C-164E-8224-829EEF601645}" destId="{B1198F27-EBE1-AD42-86EA-267EB0D6F59F}" srcOrd="2" destOrd="0" presId="urn:microsoft.com/office/officeart/2005/8/layout/list1"/>
    <dgm:cxn modelId="{B0EC3BC6-CBBB-0642-8241-25C0ED14E361}" type="presParOf" srcId="{7A9B7543-B56C-164E-8224-829EEF601645}" destId="{694828A8-D5A8-BD49-9616-C2AE9226573D}" srcOrd="3" destOrd="0" presId="urn:microsoft.com/office/officeart/2005/8/layout/list1"/>
    <dgm:cxn modelId="{1DAA54F3-641F-464D-876C-12EAAADA06EF}" type="presParOf" srcId="{7A9B7543-B56C-164E-8224-829EEF601645}" destId="{75FCE57E-918F-6B43-BE6B-1D6EFEF46CBB}" srcOrd="4" destOrd="0" presId="urn:microsoft.com/office/officeart/2005/8/layout/list1"/>
    <dgm:cxn modelId="{89F429FB-4140-9E44-81DE-1A8D5BAD10D0}" type="presParOf" srcId="{75FCE57E-918F-6B43-BE6B-1D6EFEF46CBB}" destId="{1BE2B1C8-A515-934D-8D02-D42673FBD8CA}" srcOrd="0" destOrd="0" presId="urn:microsoft.com/office/officeart/2005/8/layout/list1"/>
    <dgm:cxn modelId="{A8FC8E84-00CD-E64F-8395-7FC826F7455C}" type="presParOf" srcId="{75FCE57E-918F-6B43-BE6B-1D6EFEF46CBB}" destId="{51C3F2CE-2A96-9142-9082-4F8BE3EB9F0D}" srcOrd="1" destOrd="0" presId="urn:microsoft.com/office/officeart/2005/8/layout/list1"/>
    <dgm:cxn modelId="{BF3734A1-D239-624E-AD4A-26B87D8FCBC4}" type="presParOf" srcId="{7A9B7543-B56C-164E-8224-829EEF601645}" destId="{DB0C4391-2F23-F64A-9FFB-0CDAAF2CC6AB}" srcOrd="5" destOrd="0" presId="urn:microsoft.com/office/officeart/2005/8/layout/list1"/>
    <dgm:cxn modelId="{00768236-D844-8044-8F1B-694BF6014916}" type="presParOf" srcId="{7A9B7543-B56C-164E-8224-829EEF601645}" destId="{AA855D1E-B013-6145-B450-312C289B4C14}" srcOrd="6" destOrd="0" presId="urn:microsoft.com/office/officeart/2005/8/layout/list1"/>
    <dgm:cxn modelId="{D6A8DBD7-20A7-E347-85D2-317CCB5DD754}" type="presParOf" srcId="{7A9B7543-B56C-164E-8224-829EEF601645}" destId="{692B21D2-C4DA-E845-A8A9-DF78E8F10DAE}" srcOrd="7" destOrd="0" presId="urn:microsoft.com/office/officeart/2005/8/layout/list1"/>
    <dgm:cxn modelId="{A571C628-DAEA-B141-809B-4D3FB9BA2A2B}" type="presParOf" srcId="{7A9B7543-B56C-164E-8224-829EEF601645}" destId="{57ED9785-2AAB-3344-8BC1-93E6CCE9512A}" srcOrd="8" destOrd="0" presId="urn:microsoft.com/office/officeart/2005/8/layout/list1"/>
    <dgm:cxn modelId="{44E3AC41-F40C-BE4D-A72E-AF846E9783FB}" type="presParOf" srcId="{57ED9785-2AAB-3344-8BC1-93E6CCE9512A}" destId="{48363187-4D7E-DF4C-9F67-1594DCEE5F5B}" srcOrd="0" destOrd="0" presId="urn:microsoft.com/office/officeart/2005/8/layout/list1"/>
    <dgm:cxn modelId="{6897BF25-0AF0-4948-845C-5CA0356EA4DA}" type="presParOf" srcId="{57ED9785-2AAB-3344-8BC1-93E6CCE9512A}" destId="{85A8A4CA-92BF-9C4D-8239-363B282F3C97}" srcOrd="1" destOrd="0" presId="urn:microsoft.com/office/officeart/2005/8/layout/list1"/>
    <dgm:cxn modelId="{DC34E44C-0943-A740-AED3-1B1BF0D6F2D0}" type="presParOf" srcId="{7A9B7543-B56C-164E-8224-829EEF601645}" destId="{31556E80-8493-5345-973C-7688C15FEF53}" srcOrd="9" destOrd="0" presId="urn:microsoft.com/office/officeart/2005/8/layout/list1"/>
    <dgm:cxn modelId="{B2450E86-0F93-B04A-836F-F5D760F9B31C}" type="presParOf" srcId="{7A9B7543-B56C-164E-8224-829EEF601645}" destId="{65A01A7E-662B-1445-B7CA-57A3EB7AA48D}" srcOrd="10" destOrd="0" presId="urn:microsoft.com/office/officeart/2005/8/layout/list1"/>
    <dgm:cxn modelId="{2648F43F-E519-4E4E-AA3B-57F358D4CC89}" type="presParOf" srcId="{7A9B7543-B56C-164E-8224-829EEF601645}" destId="{369A785F-D023-E946-A471-154AED2D00EF}" srcOrd="11" destOrd="0" presId="urn:microsoft.com/office/officeart/2005/8/layout/list1"/>
    <dgm:cxn modelId="{59C33F45-8802-7146-A47F-435A330CEDBD}" type="presParOf" srcId="{7A9B7543-B56C-164E-8224-829EEF601645}" destId="{2CC0D816-2691-2B49-8141-148A1E0453E9}" srcOrd="12" destOrd="0" presId="urn:microsoft.com/office/officeart/2005/8/layout/list1"/>
    <dgm:cxn modelId="{00FCD766-0C2A-A947-9854-3A1D6AC3C0AF}" type="presParOf" srcId="{2CC0D816-2691-2B49-8141-148A1E0453E9}" destId="{91AD1E73-96F2-3C43-A161-579427E6223C}" srcOrd="0" destOrd="0" presId="urn:microsoft.com/office/officeart/2005/8/layout/list1"/>
    <dgm:cxn modelId="{249EFA10-5186-4947-BC88-28293698D9C1}" type="presParOf" srcId="{2CC0D816-2691-2B49-8141-148A1E0453E9}" destId="{2BF2EF6E-BDE0-E54E-BA11-9CCBD6A486CA}" srcOrd="1" destOrd="0" presId="urn:microsoft.com/office/officeart/2005/8/layout/list1"/>
    <dgm:cxn modelId="{37BB78E2-E6D1-8142-B7A9-540612CEB50B}" type="presParOf" srcId="{7A9B7543-B56C-164E-8224-829EEF601645}" destId="{4D90BC72-A9A2-3C4E-A3D9-37B27BA8EE16}" srcOrd="13" destOrd="0" presId="urn:microsoft.com/office/officeart/2005/8/layout/list1"/>
    <dgm:cxn modelId="{29AB7C7C-BF49-B64C-A767-7CD079D471E5}" type="presParOf" srcId="{7A9B7543-B56C-164E-8224-829EEF601645}" destId="{7EF809A7-F4FC-2E4C-AE9B-73B1EA52C464}"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39F2FE-A3C4-C947-9038-9A94D7EE15C7}">
      <dsp:nvSpPr>
        <dsp:cNvPr id="0" name=""/>
        <dsp:cNvSpPr/>
      </dsp:nvSpPr>
      <dsp:spPr>
        <a:xfrm>
          <a:off x="7410224" y="1451298"/>
          <a:ext cx="2061029" cy="377224"/>
        </a:xfrm>
        <a:custGeom>
          <a:avLst/>
          <a:gdLst/>
          <a:ahLst/>
          <a:cxnLst/>
          <a:rect l="0" t="0" r="0" b="0"/>
          <a:pathLst>
            <a:path>
              <a:moveTo>
                <a:pt x="0" y="0"/>
              </a:moveTo>
              <a:lnTo>
                <a:pt x="0" y="377224"/>
              </a:lnTo>
              <a:lnTo>
                <a:pt x="2061029" y="377224"/>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014D30-53B4-794A-80D0-7C5486817845}">
      <dsp:nvSpPr>
        <dsp:cNvPr id="0" name=""/>
        <dsp:cNvSpPr/>
      </dsp:nvSpPr>
      <dsp:spPr>
        <a:xfrm>
          <a:off x="7149347" y="3074736"/>
          <a:ext cx="91440" cy="1308465"/>
        </a:xfrm>
        <a:custGeom>
          <a:avLst/>
          <a:gdLst/>
          <a:ahLst/>
          <a:cxnLst/>
          <a:rect l="0" t="0" r="0" b="0"/>
          <a:pathLst>
            <a:path>
              <a:moveTo>
                <a:pt x="45720" y="0"/>
              </a:moveTo>
              <a:lnTo>
                <a:pt x="45720" y="1308465"/>
              </a:lnTo>
              <a:lnTo>
                <a:pt x="80163" y="13084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805606-0AD5-6C4E-81D7-4D065E82E084}">
      <dsp:nvSpPr>
        <dsp:cNvPr id="0" name=""/>
        <dsp:cNvSpPr/>
      </dsp:nvSpPr>
      <dsp:spPr>
        <a:xfrm>
          <a:off x="7114904" y="3074736"/>
          <a:ext cx="91440" cy="1308465"/>
        </a:xfrm>
        <a:custGeom>
          <a:avLst/>
          <a:gdLst/>
          <a:ahLst/>
          <a:cxnLst/>
          <a:rect l="0" t="0" r="0" b="0"/>
          <a:pathLst>
            <a:path>
              <a:moveTo>
                <a:pt x="80163" y="0"/>
              </a:moveTo>
              <a:lnTo>
                <a:pt x="80163" y="1308465"/>
              </a:lnTo>
              <a:lnTo>
                <a:pt x="45720" y="13084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6851CB-A77C-1F4A-949C-8206C136F283}">
      <dsp:nvSpPr>
        <dsp:cNvPr id="0" name=""/>
        <dsp:cNvSpPr/>
      </dsp:nvSpPr>
      <dsp:spPr>
        <a:xfrm>
          <a:off x="7149347" y="3074736"/>
          <a:ext cx="91440" cy="459072"/>
        </a:xfrm>
        <a:custGeom>
          <a:avLst/>
          <a:gdLst/>
          <a:ahLst/>
          <a:cxnLst/>
          <a:rect l="0" t="0" r="0" b="0"/>
          <a:pathLst>
            <a:path>
              <a:moveTo>
                <a:pt x="45720" y="0"/>
              </a:moveTo>
              <a:lnTo>
                <a:pt x="45720" y="459072"/>
              </a:lnTo>
              <a:lnTo>
                <a:pt x="80163" y="45907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AAE29B-EB28-6247-B36C-8B18E8D449F7}">
      <dsp:nvSpPr>
        <dsp:cNvPr id="0" name=""/>
        <dsp:cNvSpPr/>
      </dsp:nvSpPr>
      <dsp:spPr>
        <a:xfrm>
          <a:off x="7114904" y="3074736"/>
          <a:ext cx="91440" cy="459072"/>
        </a:xfrm>
        <a:custGeom>
          <a:avLst/>
          <a:gdLst/>
          <a:ahLst/>
          <a:cxnLst/>
          <a:rect l="0" t="0" r="0" b="0"/>
          <a:pathLst>
            <a:path>
              <a:moveTo>
                <a:pt x="80163" y="0"/>
              </a:moveTo>
              <a:lnTo>
                <a:pt x="80163" y="459072"/>
              </a:lnTo>
              <a:lnTo>
                <a:pt x="45720" y="45907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504FA9-8E0D-6648-9F8D-2837AD960B15}">
      <dsp:nvSpPr>
        <dsp:cNvPr id="0" name=""/>
        <dsp:cNvSpPr/>
      </dsp:nvSpPr>
      <dsp:spPr>
        <a:xfrm>
          <a:off x="4736188" y="2240975"/>
          <a:ext cx="1392171" cy="443126"/>
        </a:xfrm>
        <a:custGeom>
          <a:avLst/>
          <a:gdLst/>
          <a:ahLst/>
          <a:cxnLst/>
          <a:rect l="0" t="0" r="0" b="0"/>
          <a:pathLst>
            <a:path>
              <a:moveTo>
                <a:pt x="0" y="0"/>
              </a:moveTo>
              <a:lnTo>
                <a:pt x="0" y="443126"/>
              </a:lnTo>
              <a:lnTo>
                <a:pt x="1392171" y="44312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6A2AF5-42C4-0749-95B6-E0850AE2B37D}">
      <dsp:nvSpPr>
        <dsp:cNvPr id="0" name=""/>
        <dsp:cNvSpPr/>
      </dsp:nvSpPr>
      <dsp:spPr>
        <a:xfrm>
          <a:off x="2130986" y="3074736"/>
          <a:ext cx="91440" cy="1308465"/>
        </a:xfrm>
        <a:custGeom>
          <a:avLst/>
          <a:gdLst/>
          <a:ahLst/>
          <a:cxnLst/>
          <a:rect l="0" t="0" r="0" b="0"/>
          <a:pathLst>
            <a:path>
              <a:moveTo>
                <a:pt x="45720" y="0"/>
              </a:moveTo>
              <a:lnTo>
                <a:pt x="45720" y="1308465"/>
              </a:lnTo>
              <a:lnTo>
                <a:pt x="80163" y="13084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D41B11-B37A-904E-B7F6-015561C24456}">
      <dsp:nvSpPr>
        <dsp:cNvPr id="0" name=""/>
        <dsp:cNvSpPr/>
      </dsp:nvSpPr>
      <dsp:spPr>
        <a:xfrm>
          <a:off x="2096543" y="3074736"/>
          <a:ext cx="91440" cy="1308465"/>
        </a:xfrm>
        <a:custGeom>
          <a:avLst/>
          <a:gdLst/>
          <a:ahLst/>
          <a:cxnLst/>
          <a:rect l="0" t="0" r="0" b="0"/>
          <a:pathLst>
            <a:path>
              <a:moveTo>
                <a:pt x="80163" y="0"/>
              </a:moveTo>
              <a:lnTo>
                <a:pt x="80163" y="1308465"/>
              </a:lnTo>
              <a:lnTo>
                <a:pt x="45720" y="13084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0353C1-3CDA-1140-ABF9-E88278A94AB9}">
      <dsp:nvSpPr>
        <dsp:cNvPr id="0" name=""/>
        <dsp:cNvSpPr/>
      </dsp:nvSpPr>
      <dsp:spPr>
        <a:xfrm>
          <a:off x="2130986" y="3074736"/>
          <a:ext cx="91440" cy="459072"/>
        </a:xfrm>
        <a:custGeom>
          <a:avLst/>
          <a:gdLst/>
          <a:ahLst/>
          <a:cxnLst/>
          <a:rect l="0" t="0" r="0" b="0"/>
          <a:pathLst>
            <a:path>
              <a:moveTo>
                <a:pt x="45720" y="0"/>
              </a:moveTo>
              <a:lnTo>
                <a:pt x="45720" y="459072"/>
              </a:lnTo>
              <a:lnTo>
                <a:pt x="80163" y="45907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860A54-B847-C94B-A9EB-CA9CD26A02AF}">
      <dsp:nvSpPr>
        <dsp:cNvPr id="0" name=""/>
        <dsp:cNvSpPr/>
      </dsp:nvSpPr>
      <dsp:spPr>
        <a:xfrm>
          <a:off x="2096543" y="3074736"/>
          <a:ext cx="91440" cy="459072"/>
        </a:xfrm>
        <a:custGeom>
          <a:avLst/>
          <a:gdLst/>
          <a:ahLst/>
          <a:cxnLst/>
          <a:rect l="0" t="0" r="0" b="0"/>
          <a:pathLst>
            <a:path>
              <a:moveTo>
                <a:pt x="80163" y="0"/>
              </a:moveTo>
              <a:lnTo>
                <a:pt x="80163" y="459072"/>
              </a:lnTo>
              <a:lnTo>
                <a:pt x="45720" y="45907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F428D2-3C2D-6045-8972-33AFD2042A4D}">
      <dsp:nvSpPr>
        <dsp:cNvPr id="0" name=""/>
        <dsp:cNvSpPr/>
      </dsp:nvSpPr>
      <dsp:spPr>
        <a:xfrm>
          <a:off x="3243414" y="2240975"/>
          <a:ext cx="1492774" cy="443126"/>
        </a:xfrm>
        <a:custGeom>
          <a:avLst/>
          <a:gdLst/>
          <a:ahLst/>
          <a:cxnLst/>
          <a:rect l="0" t="0" r="0" b="0"/>
          <a:pathLst>
            <a:path>
              <a:moveTo>
                <a:pt x="1492774" y="0"/>
              </a:moveTo>
              <a:lnTo>
                <a:pt x="1492774" y="443126"/>
              </a:lnTo>
              <a:lnTo>
                <a:pt x="0" y="443126"/>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55A609-8A74-6548-A2EA-5A55B951E218}">
      <dsp:nvSpPr>
        <dsp:cNvPr id="0" name=""/>
        <dsp:cNvSpPr/>
      </dsp:nvSpPr>
      <dsp:spPr>
        <a:xfrm>
          <a:off x="5802896" y="1451298"/>
          <a:ext cx="1607327" cy="399042"/>
        </a:xfrm>
        <a:custGeom>
          <a:avLst/>
          <a:gdLst/>
          <a:ahLst/>
          <a:cxnLst/>
          <a:rect l="0" t="0" r="0" b="0"/>
          <a:pathLst>
            <a:path>
              <a:moveTo>
                <a:pt x="1607327" y="0"/>
              </a:moveTo>
              <a:lnTo>
                <a:pt x="1607327" y="399042"/>
              </a:lnTo>
              <a:lnTo>
                <a:pt x="0" y="39904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9941C7-F5C0-4F46-BAC8-0348DAEC84EB}">
      <dsp:nvSpPr>
        <dsp:cNvPr id="0" name=""/>
        <dsp:cNvSpPr/>
      </dsp:nvSpPr>
      <dsp:spPr>
        <a:xfrm>
          <a:off x="6343516" y="670028"/>
          <a:ext cx="2133414" cy="781269"/>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t>Cryptology</a:t>
          </a:r>
          <a:endParaRPr lang="en-US" sz="2200" kern="1200" dirty="0"/>
        </a:p>
      </dsp:txBody>
      <dsp:txXfrm>
        <a:off x="6343516" y="670028"/>
        <a:ext cx="2133414" cy="781269"/>
      </dsp:txXfrm>
    </dsp:sp>
    <dsp:sp modelId="{85870795-FF9B-3B4B-90F8-7DAD2E790554}">
      <dsp:nvSpPr>
        <dsp:cNvPr id="0" name=""/>
        <dsp:cNvSpPr/>
      </dsp:nvSpPr>
      <dsp:spPr>
        <a:xfrm>
          <a:off x="3669481" y="1459705"/>
          <a:ext cx="2133414" cy="781269"/>
        </a:xfrm>
        <a:prstGeom prst="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t>Cryptography</a:t>
          </a:r>
          <a:endParaRPr lang="en-US" sz="2200" kern="1200" dirty="0"/>
        </a:p>
      </dsp:txBody>
      <dsp:txXfrm>
        <a:off x="3669481" y="1459705"/>
        <a:ext cx="2133414" cy="781269"/>
      </dsp:txXfrm>
    </dsp:sp>
    <dsp:sp modelId="{968261E5-0D7C-E34E-B598-91CD1961B649}">
      <dsp:nvSpPr>
        <dsp:cNvPr id="0" name=""/>
        <dsp:cNvSpPr/>
      </dsp:nvSpPr>
      <dsp:spPr>
        <a:xfrm>
          <a:off x="1109999" y="2293467"/>
          <a:ext cx="2133414" cy="781269"/>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Classical</a:t>
          </a:r>
        </a:p>
      </dsp:txBody>
      <dsp:txXfrm>
        <a:off x="1109999" y="2293467"/>
        <a:ext cx="2133414" cy="781269"/>
      </dsp:txXfrm>
    </dsp:sp>
    <dsp:sp modelId="{A878EFE8-7C19-B54B-BF5A-14C52F672DC6}">
      <dsp:nvSpPr>
        <dsp:cNvPr id="0" name=""/>
        <dsp:cNvSpPr/>
      </dsp:nvSpPr>
      <dsp:spPr>
        <a:xfrm>
          <a:off x="10932" y="3143555"/>
          <a:ext cx="2131331" cy="780506"/>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t>Symmetric</a:t>
          </a:r>
          <a:endParaRPr lang="en-US" sz="2200" kern="1200" dirty="0"/>
        </a:p>
      </dsp:txBody>
      <dsp:txXfrm>
        <a:off x="10932" y="3143555"/>
        <a:ext cx="2131331" cy="780506"/>
      </dsp:txXfrm>
    </dsp:sp>
    <dsp:sp modelId="{284F41C6-AD69-1D43-AFDE-4B388EC222EA}">
      <dsp:nvSpPr>
        <dsp:cNvPr id="0" name=""/>
        <dsp:cNvSpPr/>
      </dsp:nvSpPr>
      <dsp:spPr>
        <a:xfrm>
          <a:off x="2211150" y="3143555"/>
          <a:ext cx="2131331" cy="780506"/>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t>Asymmetric</a:t>
          </a:r>
          <a:endParaRPr lang="en-US" sz="2200" kern="1200" dirty="0"/>
        </a:p>
      </dsp:txBody>
      <dsp:txXfrm>
        <a:off x="2211150" y="3143555"/>
        <a:ext cx="2131331" cy="780506"/>
      </dsp:txXfrm>
    </dsp:sp>
    <dsp:sp modelId="{1D9D7AE6-C28D-9940-871E-6C93F70DA2CF}">
      <dsp:nvSpPr>
        <dsp:cNvPr id="0" name=""/>
        <dsp:cNvSpPr/>
      </dsp:nvSpPr>
      <dsp:spPr>
        <a:xfrm>
          <a:off x="10932" y="3992948"/>
          <a:ext cx="2131331" cy="780506"/>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t>Hash functions</a:t>
          </a:r>
          <a:endParaRPr lang="en-US" sz="2200" kern="1200" dirty="0"/>
        </a:p>
      </dsp:txBody>
      <dsp:txXfrm>
        <a:off x="10932" y="3992948"/>
        <a:ext cx="2131331" cy="780506"/>
      </dsp:txXfrm>
    </dsp:sp>
    <dsp:sp modelId="{AAB33064-7530-9A40-A6B8-7DEEC8EEFB72}">
      <dsp:nvSpPr>
        <dsp:cNvPr id="0" name=""/>
        <dsp:cNvSpPr/>
      </dsp:nvSpPr>
      <dsp:spPr>
        <a:xfrm>
          <a:off x="2211150" y="3992948"/>
          <a:ext cx="2131331" cy="780506"/>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Post-quantum</a:t>
          </a:r>
        </a:p>
      </dsp:txBody>
      <dsp:txXfrm>
        <a:off x="2211150" y="3992948"/>
        <a:ext cx="2131331" cy="780506"/>
      </dsp:txXfrm>
    </dsp:sp>
    <dsp:sp modelId="{692CFE6E-DBCE-A740-A608-5987DF75F6BB}">
      <dsp:nvSpPr>
        <dsp:cNvPr id="0" name=""/>
        <dsp:cNvSpPr/>
      </dsp:nvSpPr>
      <dsp:spPr>
        <a:xfrm>
          <a:off x="6128359" y="2293467"/>
          <a:ext cx="2133414" cy="781269"/>
        </a:xfrm>
        <a:prstGeom prst="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Quantum</a:t>
          </a:r>
        </a:p>
      </dsp:txBody>
      <dsp:txXfrm>
        <a:off x="6128359" y="2293467"/>
        <a:ext cx="2133414" cy="781269"/>
      </dsp:txXfrm>
    </dsp:sp>
    <dsp:sp modelId="{A5A595DA-EC7C-8947-98C1-1D1FB34F94D8}">
      <dsp:nvSpPr>
        <dsp:cNvPr id="0" name=""/>
        <dsp:cNvSpPr/>
      </dsp:nvSpPr>
      <dsp:spPr>
        <a:xfrm>
          <a:off x="4411435" y="3143555"/>
          <a:ext cx="2749188" cy="780506"/>
        </a:xfrm>
        <a:prstGeom prst="rect">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QRNG</a:t>
          </a:r>
        </a:p>
      </dsp:txBody>
      <dsp:txXfrm>
        <a:off x="4411435" y="3143555"/>
        <a:ext cx="2749188" cy="780506"/>
      </dsp:txXfrm>
    </dsp:sp>
    <dsp:sp modelId="{E200F511-3563-6D4E-98EF-4075BAC3637E}">
      <dsp:nvSpPr>
        <dsp:cNvPr id="0" name=""/>
        <dsp:cNvSpPr/>
      </dsp:nvSpPr>
      <dsp:spPr>
        <a:xfrm>
          <a:off x="7229510" y="3143555"/>
          <a:ext cx="2749188" cy="780506"/>
        </a:xfrm>
        <a:prstGeom prst="rect">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t>Quantum key distribution (QKD)</a:t>
          </a:r>
          <a:endParaRPr lang="en-US" sz="2200" kern="1200" dirty="0"/>
        </a:p>
      </dsp:txBody>
      <dsp:txXfrm>
        <a:off x="7229510" y="3143555"/>
        <a:ext cx="2749188" cy="780506"/>
      </dsp:txXfrm>
    </dsp:sp>
    <dsp:sp modelId="{5D5A240B-BF37-F840-BD74-45FDB03A98F7}">
      <dsp:nvSpPr>
        <dsp:cNvPr id="0" name=""/>
        <dsp:cNvSpPr/>
      </dsp:nvSpPr>
      <dsp:spPr>
        <a:xfrm>
          <a:off x="4411435" y="3992948"/>
          <a:ext cx="2749188" cy="780506"/>
        </a:xfrm>
        <a:prstGeom prst="rect">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Quantum hash</a:t>
          </a:r>
        </a:p>
      </dsp:txBody>
      <dsp:txXfrm>
        <a:off x="4411435" y="3992948"/>
        <a:ext cx="2749188" cy="780506"/>
      </dsp:txXfrm>
    </dsp:sp>
    <dsp:sp modelId="{2C173E1B-6CAA-3547-BFBD-7C3838F6CEDA}">
      <dsp:nvSpPr>
        <dsp:cNvPr id="0" name=""/>
        <dsp:cNvSpPr/>
      </dsp:nvSpPr>
      <dsp:spPr>
        <a:xfrm>
          <a:off x="7229510" y="3992948"/>
          <a:ext cx="2749188" cy="780506"/>
        </a:xfrm>
        <a:prstGeom prst="rect">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Quantum digital signatures</a:t>
          </a:r>
        </a:p>
      </dsp:txBody>
      <dsp:txXfrm>
        <a:off x="7229510" y="3992948"/>
        <a:ext cx="2749188" cy="780506"/>
      </dsp:txXfrm>
    </dsp:sp>
    <dsp:sp modelId="{FA0BC737-CCD1-A145-A669-18EF8721568A}">
      <dsp:nvSpPr>
        <dsp:cNvPr id="0" name=""/>
        <dsp:cNvSpPr/>
      </dsp:nvSpPr>
      <dsp:spPr>
        <a:xfrm>
          <a:off x="9471253" y="1437888"/>
          <a:ext cx="2133414" cy="78126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t>Cryptanalysis</a:t>
          </a:r>
          <a:endParaRPr lang="en-US" sz="2200" kern="1200" dirty="0"/>
        </a:p>
      </dsp:txBody>
      <dsp:txXfrm>
        <a:off x="9471253" y="1437888"/>
        <a:ext cx="2133414" cy="7812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F0151-6398-AC4A-9749-F9A830E00843}">
      <dsp:nvSpPr>
        <dsp:cNvPr id="0" name=""/>
        <dsp:cNvSpPr/>
      </dsp:nvSpPr>
      <dsp:spPr>
        <a:xfrm>
          <a:off x="0" y="0"/>
          <a:ext cx="4515897" cy="4515897"/>
        </a:xfrm>
        <a:prstGeom prst="triangl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2D3EC9-EB12-EB45-ABB5-830D6BE16AC1}">
      <dsp:nvSpPr>
        <dsp:cNvPr id="0" name=""/>
        <dsp:cNvSpPr/>
      </dsp:nvSpPr>
      <dsp:spPr>
        <a:xfrm>
          <a:off x="2053720" y="452030"/>
          <a:ext cx="3900294" cy="160526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Cryptography is the </a:t>
          </a:r>
          <a:r>
            <a:rPr lang="en-ZA" sz="1800" kern="1200" dirty="0"/>
            <a:t>science that develops methods for keeping information secure</a:t>
          </a:r>
          <a:endParaRPr lang="en-US" sz="1800" kern="1200" dirty="0"/>
        </a:p>
      </dsp:txBody>
      <dsp:txXfrm>
        <a:off x="2132082" y="530392"/>
        <a:ext cx="3743570" cy="1448536"/>
      </dsp:txXfrm>
    </dsp:sp>
    <dsp:sp modelId="{5E27DE95-DD7F-5E44-8CFE-5D02923396C0}">
      <dsp:nvSpPr>
        <dsp:cNvPr id="0" name=""/>
        <dsp:cNvSpPr/>
      </dsp:nvSpPr>
      <dsp:spPr>
        <a:xfrm>
          <a:off x="2053720" y="2257948"/>
          <a:ext cx="3900294" cy="1605260"/>
        </a:xfrm>
        <a:prstGeom prst="round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word originates from the ancient Greek word </a:t>
          </a:r>
          <a:r>
            <a:rPr lang="el-GR" sz="1800" kern="1200" dirty="0"/>
            <a:t>κρυπτός (</a:t>
          </a:r>
          <a:r>
            <a:rPr lang="en-US" sz="1800" kern="1200" dirty="0" err="1"/>
            <a:t>kryptós</a:t>
          </a:r>
          <a:r>
            <a:rPr lang="en-US" sz="1800" kern="1200" dirty="0"/>
            <a:t>), meaning "hidden," and </a:t>
          </a:r>
          <a:r>
            <a:rPr lang="el-GR" sz="1800" kern="1200" dirty="0" err="1"/>
            <a:t>γράφειν</a:t>
          </a:r>
          <a:r>
            <a:rPr lang="el-GR" sz="1800" kern="1200" dirty="0"/>
            <a:t> (</a:t>
          </a:r>
          <a:r>
            <a:rPr lang="en-US" sz="1800" kern="1200" dirty="0" err="1"/>
            <a:t>gráphein</a:t>
          </a:r>
          <a:r>
            <a:rPr lang="en-US" sz="1800" kern="1200" dirty="0"/>
            <a:t>), meaning "to write," thus "hidden writing."</a:t>
          </a:r>
        </a:p>
      </dsp:txBody>
      <dsp:txXfrm>
        <a:off x="2132082" y="2336310"/>
        <a:ext cx="3743570" cy="14485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198F27-EBE1-AD42-86EA-267EB0D6F59F}">
      <dsp:nvSpPr>
        <dsp:cNvPr id="0" name=""/>
        <dsp:cNvSpPr/>
      </dsp:nvSpPr>
      <dsp:spPr>
        <a:xfrm>
          <a:off x="0" y="313509"/>
          <a:ext cx="540932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221DF2-FD07-D346-8107-3C86FDC76AFE}">
      <dsp:nvSpPr>
        <dsp:cNvPr id="0" name=""/>
        <dsp:cNvSpPr/>
      </dsp:nvSpPr>
      <dsp:spPr>
        <a:xfrm>
          <a:off x="270466" y="33069"/>
          <a:ext cx="3786526"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122" tIns="0" rIns="143122" bIns="0" numCol="1" spcCol="1270" anchor="ctr" anchorCtr="0">
          <a:noAutofit/>
        </a:bodyPr>
        <a:lstStyle/>
        <a:p>
          <a:pPr marL="0" lvl="0" indent="0" algn="l" defTabSz="1066800">
            <a:lnSpc>
              <a:spcPct val="90000"/>
            </a:lnSpc>
            <a:spcBef>
              <a:spcPct val="0"/>
            </a:spcBef>
            <a:spcAft>
              <a:spcPct val="35000"/>
            </a:spcAft>
            <a:buNone/>
          </a:pPr>
          <a:r>
            <a:rPr lang="en-US" sz="2400" kern="1200" dirty="0"/>
            <a:t>input data</a:t>
          </a:r>
        </a:p>
      </dsp:txBody>
      <dsp:txXfrm>
        <a:off x="297846" y="60449"/>
        <a:ext cx="3731766" cy="506120"/>
      </dsp:txXfrm>
    </dsp:sp>
    <dsp:sp modelId="{AA855D1E-B013-6145-B450-312C289B4C14}">
      <dsp:nvSpPr>
        <dsp:cNvPr id="0" name=""/>
        <dsp:cNvSpPr/>
      </dsp:nvSpPr>
      <dsp:spPr>
        <a:xfrm>
          <a:off x="0" y="1175349"/>
          <a:ext cx="540932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C3F2CE-2A96-9142-9082-4F8BE3EB9F0D}">
      <dsp:nvSpPr>
        <dsp:cNvPr id="0" name=""/>
        <dsp:cNvSpPr/>
      </dsp:nvSpPr>
      <dsp:spPr>
        <a:xfrm>
          <a:off x="270466" y="894909"/>
          <a:ext cx="3786526"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122" tIns="0" rIns="143122" bIns="0" numCol="1" spcCol="1270" anchor="ctr" anchorCtr="0">
          <a:noAutofit/>
        </a:bodyPr>
        <a:lstStyle/>
        <a:p>
          <a:pPr marL="0" lvl="0" indent="0" algn="l" defTabSz="1066800">
            <a:lnSpc>
              <a:spcPct val="90000"/>
            </a:lnSpc>
            <a:spcBef>
              <a:spcPct val="0"/>
            </a:spcBef>
            <a:spcAft>
              <a:spcPct val="35000"/>
            </a:spcAft>
            <a:buNone/>
          </a:pPr>
          <a:r>
            <a:rPr lang="en-US" sz="2400" kern="1200" dirty="0"/>
            <a:t>operations</a:t>
          </a:r>
        </a:p>
      </dsp:txBody>
      <dsp:txXfrm>
        <a:off x="297846" y="922289"/>
        <a:ext cx="3731766" cy="506120"/>
      </dsp:txXfrm>
    </dsp:sp>
    <dsp:sp modelId="{65A01A7E-662B-1445-B7CA-57A3EB7AA48D}">
      <dsp:nvSpPr>
        <dsp:cNvPr id="0" name=""/>
        <dsp:cNvSpPr/>
      </dsp:nvSpPr>
      <dsp:spPr>
        <a:xfrm>
          <a:off x="0" y="2037189"/>
          <a:ext cx="540932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A8A4CA-92BF-9C4D-8239-363B282F3C97}">
      <dsp:nvSpPr>
        <dsp:cNvPr id="0" name=""/>
        <dsp:cNvSpPr/>
      </dsp:nvSpPr>
      <dsp:spPr>
        <a:xfrm>
          <a:off x="270466" y="1756749"/>
          <a:ext cx="3786526"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122" tIns="0" rIns="143122" bIns="0" numCol="1" spcCol="1270" anchor="ctr" anchorCtr="0">
          <a:noAutofit/>
        </a:bodyPr>
        <a:lstStyle/>
        <a:p>
          <a:pPr marL="0" lvl="0" indent="0" algn="l" defTabSz="1066800">
            <a:lnSpc>
              <a:spcPct val="90000"/>
            </a:lnSpc>
            <a:spcBef>
              <a:spcPct val="0"/>
            </a:spcBef>
            <a:spcAft>
              <a:spcPct val="35000"/>
            </a:spcAft>
            <a:buNone/>
          </a:pPr>
          <a:r>
            <a:rPr lang="en-ZA" sz="2400" b="0" i="0" kern="1200" dirty="0"/>
            <a:t>intermediate results</a:t>
          </a:r>
          <a:endParaRPr lang="en-US" sz="2400" kern="1200" dirty="0"/>
        </a:p>
      </dsp:txBody>
      <dsp:txXfrm>
        <a:off x="297846" y="1784129"/>
        <a:ext cx="3731766" cy="506120"/>
      </dsp:txXfrm>
    </dsp:sp>
    <dsp:sp modelId="{7EF809A7-F4FC-2E4C-AE9B-73B1EA52C464}">
      <dsp:nvSpPr>
        <dsp:cNvPr id="0" name=""/>
        <dsp:cNvSpPr/>
      </dsp:nvSpPr>
      <dsp:spPr>
        <a:xfrm>
          <a:off x="0" y="2899029"/>
          <a:ext cx="540932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F2EF6E-BDE0-E54E-BA11-9CCBD6A486CA}">
      <dsp:nvSpPr>
        <dsp:cNvPr id="0" name=""/>
        <dsp:cNvSpPr/>
      </dsp:nvSpPr>
      <dsp:spPr>
        <a:xfrm>
          <a:off x="270466" y="2618589"/>
          <a:ext cx="3786526"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122" tIns="0" rIns="143122" bIns="0" numCol="1" spcCol="1270" anchor="ctr" anchorCtr="0">
          <a:noAutofit/>
        </a:bodyPr>
        <a:lstStyle/>
        <a:p>
          <a:pPr marL="0" lvl="0" indent="0" algn="l" defTabSz="1066800">
            <a:lnSpc>
              <a:spcPct val="90000"/>
            </a:lnSpc>
            <a:spcBef>
              <a:spcPct val="0"/>
            </a:spcBef>
            <a:spcAft>
              <a:spcPct val="35000"/>
            </a:spcAft>
            <a:buNone/>
          </a:pPr>
          <a:r>
            <a:rPr lang="en-US" sz="2400" kern="1200" dirty="0"/>
            <a:t>output data</a:t>
          </a:r>
        </a:p>
      </dsp:txBody>
      <dsp:txXfrm>
        <a:off x="297846" y="2645969"/>
        <a:ext cx="3731766"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0B0F04-17C6-E34C-B556-F80CEB0272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0934BD-F2D4-E547-B204-C7234F5B97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96241B-789D-E54D-B352-0F9E84EBA88A}" type="datetimeFigureOut">
              <a:rPr lang="en-US" smtClean="0"/>
              <a:t>10/8/26</a:t>
            </a:fld>
            <a:endParaRPr lang="en-US"/>
          </a:p>
        </p:txBody>
      </p:sp>
      <p:sp>
        <p:nvSpPr>
          <p:cNvPr id="4" name="Footer Placeholder 3">
            <a:extLst>
              <a:ext uri="{FF2B5EF4-FFF2-40B4-BE49-F238E27FC236}">
                <a16:creationId xmlns:a16="http://schemas.microsoft.com/office/drawing/2014/main" id="{B57E4CA9-CAAF-2A4E-BC24-23757A90E3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F98000-191A-D946-A18E-D43439AAA6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956EE-A9CB-1546-BABC-8F3E14BC8965}" type="slidenum">
              <a:rPr lang="en-US" smtClean="0"/>
              <a:t>‹#›</a:t>
            </a:fld>
            <a:endParaRPr lang="en-US"/>
          </a:p>
        </p:txBody>
      </p:sp>
    </p:spTree>
    <p:extLst>
      <p:ext uri="{BB962C8B-B14F-4D97-AF65-F5344CB8AC3E}">
        <p14:creationId xmlns:p14="http://schemas.microsoft.com/office/powerpoint/2010/main" val="42880415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1B5B-1C88-4E47-85FA-B6A6AB8D28D0}" type="datetimeFigureOut">
              <a:rPr lang="en-US" smtClean="0"/>
              <a:t>10/8/26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5A8710-8889-7541-9BF7-E78AD03A798D}" type="slidenum">
              <a:rPr lang="en-US" smtClean="0"/>
              <a:t>‹#›</a:t>
            </a:fld>
            <a:endParaRPr lang="en-US"/>
          </a:p>
        </p:txBody>
      </p:sp>
    </p:spTree>
    <p:extLst>
      <p:ext uri="{BB962C8B-B14F-4D97-AF65-F5344CB8AC3E}">
        <p14:creationId xmlns:p14="http://schemas.microsoft.com/office/powerpoint/2010/main" val="3760016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3022013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 science of information protection is called </a:t>
            </a:r>
            <a:r>
              <a:rPr lang="en-ZA" b="1" dirty="0"/>
              <a:t>cryptology</a:t>
            </a:r>
            <a:r>
              <a:rPr lang="en-ZA" dirty="0"/>
              <a:t>, which includes both cryptography and cryptanalysis.</a:t>
            </a:r>
          </a:p>
          <a:p>
            <a:endParaRPr lang="en-ZA" dirty="0"/>
          </a:p>
          <a:p>
            <a:pPr marL="171450" indent="-171450">
              <a:buFont typeface="Arial" panose="020B0604020202020204" pitchFamily="34" charset="0"/>
              <a:buChar char="•"/>
            </a:pPr>
            <a:r>
              <a:rPr lang="en-ZA" b="1" dirty="0"/>
              <a:t>Cryptography</a:t>
            </a:r>
            <a:r>
              <a:rPr lang="en-ZA" dirty="0"/>
              <a:t> develops methods for protecting information. </a:t>
            </a:r>
          </a:p>
          <a:p>
            <a:pPr marL="171450" indent="-171450">
              <a:buFont typeface="Arial" panose="020B0604020202020204" pitchFamily="34" charset="0"/>
              <a:buChar char="•"/>
            </a:pPr>
            <a:r>
              <a:rPr lang="en-ZA" b="1" dirty="0"/>
              <a:t>Cryptanalysis</a:t>
            </a:r>
            <a:r>
              <a:rPr lang="en-ZA" dirty="0"/>
              <a:t> develops methods for breaking or </a:t>
            </a:r>
            <a:r>
              <a:rPr lang="en-ZA" dirty="0" err="1"/>
              <a:t>analyzing</a:t>
            </a:r>
            <a:r>
              <a:rPr lang="en-ZA" dirty="0"/>
              <a:t> cryptographic protections.</a:t>
            </a:r>
          </a:p>
          <a:p>
            <a:endParaRPr lang="en-ZA" dirty="0"/>
          </a:p>
          <a:p>
            <a:r>
              <a:rPr lang="en-ZA" dirty="0"/>
              <a:t>Modern cryptography can be broadly divided into:</a:t>
            </a:r>
          </a:p>
          <a:p>
            <a:endParaRPr lang="en-ZA" dirty="0"/>
          </a:p>
          <a:p>
            <a:r>
              <a:rPr lang="en-ZA" b="1" dirty="0"/>
              <a:t>Classical Cryptography</a:t>
            </a:r>
            <a:endParaRPr lang="en-ZA" dirty="0"/>
          </a:p>
          <a:p>
            <a:pPr marL="171450" indent="-171450">
              <a:buFont typeface="Arial" panose="020B0604020202020204" pitchFamily="34" charset="0"/>
              <a:buChar char="•"/>
            </a:pPr>
            <a:r>
              <a:rPr lang="en-ZA" dirty="0"/>
              <a:t>Symmetric-key cryptography (e.g., AES) </a:t>
            </a:r>
          </a:p>
          <a:p>
            <a:pPr marL="171450" indent="-171450">
              <a:buFont typeface="Arial" panose="020B0604020202020204" pitchFamily="34" charset="0"/>
              <a:buChar char="•"/>
            </a:pPr>
            <a:r>
              <a:rPr lang="en-ZA" dirty="0"/>
              <a:t>Asymmetric-key cryptography (e.g., RSA) </a:t>
            </a:r>
          </a:p>
          <a:p>
            <a:pPr marL="171450" indent="-171450">
              <a:buFont typeface="Arial" panose="020B0604020202020204" pitchFamily="34" charset="0"/>
              <a:buChar char="•"/>
            </a:pPr>
            <a:r>
              <a:rPr lang="en-ZA" dirty="0"/>
              <a:t>Cryptographic hash functions (e.g., SHA-256) </a:t>
            </a:r>
          </a:p>
          <a:p>
            <a:pPr marL="171450" indent="-171450">
              <a:buFont typeface="Arial" panose="020B0604020202020204" pitchFamily="34" charset="0"/>
              <a:buChar char="•"/>
            </a:pPr>
            <a:endParaRPr lang="en-ZA" dirty="0"/>
          </a:p>
          <a:p>
            <a:r>
              <a:rPr lang="en-ZA" b="1" dirty="0"/>
              <a:t>Post-Quantum Cryptography</a:t>
            </a:r>
            <a:endParaRPr lang="en-ZA" dirty="0"/>
          </a:p>
          <a:p>
            <a:pPr marL="171450" indent="-171450">
              <a:buFont typeface="Arial" panose="020B0604020202020204" pitchFamily="34" charset="0"/>
              <a:buChar char="•"/>
            </a:pPr>
            <a:r>
              <a:rPr lang="en-ZA" dirty="0"/>
              <a:t>Quantum-resistant cryptographic algorithms that run on classical computers </a:t>
            </a:r>
          </a:p>
          <a:p>
            <a:pPr marL="171450" indent="-171450">
              <a:buFont typeface="Arial" panose="020B0604020202020204" pitchFamily="34" charset="0"/>
              <a:buChar char="•"/>
            </a:pPr>
            <a:endParaRPr lang="en-ZA" dirty="0"/>
          </a:p>
          <a:p>
            <a:r>
              <a:rPr lang="en-ZA" b="1" dirty="0"/>
              <a:t>Quantum Cryptography</a:t>
            </a:r>
            <a:endParaRPr lang="en-ZA" dirty="0"/>
          </a:p>
          <a:p>
            <a:pPr marL="171450" indent="-171450">
              <a:buFont typeface="Arial" panose="020B0604020202020204" pitchFamily="34" charset="0"/>
              <a:buChar char="•"/>
            </a:pPr>
            <a:r>
              <a:rPr lang="en-ZA" dirty="0"/>
              <a:t>Quantum random number generation (QRNG) </a:t>
            </a:r>
          </a:p>
          <a:p>
            <a:pPr marL="171450" indent="-171450">
              <a:buFont typeface="Arial" panose="020B0604020202020204" pitchFamily="34" charset="0"/>
              <a:buChar char="•"/>
            </a:pPr>
            <a:r>
              <a:rPr lang="en-ZA" dirty="0"/>
              <a:t>Quantum key distribution (QKD) </a:t>
            </a:r>
          </a:p>
          <a:p>
            <a:pPr marL="171450" indent="-171450">
              <a:buFont typeface="Arial" panose="020B0604020202020204" pitchFamily="34" charset="0"/>
              <a:buChar char="•"/>
            </a:pPr>
            <a:r>
              <a:rPr lang="en-ZA" dirty="0"/>
              <a:t>Quantum digital signatures </a:t>
            </a:r>
          </a:p>
          <a:p>
            <a:pPr marL="171450" indent="-171450">
              <a:buFont typeface="Arial" panose="020B0604020202020204" pitchFamily="34" charset="0"/>
              <a:buChar char="•"/>
            </a:pPr>
            <a:r>
              <a:rPr lang="en-ZA" dirty="0"/>
              <a:t>Quantum hashing</a:t>
            </a:r>
          </a:p>
          <a:p>
            <a:endParaRPr lang="en-ZA" dirty="0"/>
          </a:p>
          <a:p>
            <a:pPr algn="just"/>
            <a:r>
              <a:rPr lang="en-ZA" b="0" dirty="0"/>
              <a:t>Post-quantum cryptography is not quantum cryptography. Post-quantum cryptography uses classical computers and classical communication, but algorithms are designed to resist attacks by quantum computers. Quantum cryptography, by contrast, uses quantum states and quantum-mechanical principles as part of the cryptographic process.</a:t>
            </a:r>
          </a:p>
        </p:txBody>
      </p:sp>
      <p:sp>
        <p:nvSpPr>
          <p:cNvPr id="4" name="Slide Number Placeholder 3"/>
          <p:cNvSpPr>
            <a:spLocks noGrp="1"/>
          </p:cNvSpPr>
          <p:nvPr>
            <p:ph type="sldNum" sz="quarter" idx="5"/>
          </p:nvPr>
        </p:nvSpPr>
        <p:spPr/>
        <p:txBody>
          <a:bodyPr/>
          <a:lstStyle/>
          <a:p>
            <a:fld id="{965A8710-8889-7541-9BF7-E78AD03A798D}" type="slidenum">
              <a:rPr lang="en-US" smtClean="0"/>
              <a:t>2</a:t>
            </a:fld>
            <a:endParaRPr lang="en-US"/>
          </a:p>
        </p:txBody>
      </p:sp>
    </p:spTree>
    <p:extLst>
      <p:ext uri="{BB962C8B-B14F-4D97-AF65-F5344CB8AC3E}">
        <p14:creationId xmlns:p14="http://schemas.microsoft.com/office/powerpoint/2010/main" val="4072250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Cryptography is the </a:t>
            </a:r>
            <a:r>
              <a:rPr lang="en-ZA" dirty="0"/>
              <a:t>science that develops methods for keeping information secure</a:t>
            </a:r>
            <a:endParaRPr lang="en-US" dirty="0"/>
          </a:p>
          <a:p>
            <a:pPr algn="just"/>
            <a:endParaRPr lang="en-ZA" dirty="0"/>
          </a:p>
          <a:p>
            <a:pPr algn="just"/>
            <a:r>
              <a:rPr lang="en-ZA" dirty="0"/>
              <a:t>The word </a:t>
            </a:r>
            <a:r>
              <a:rPr lang="en-ZA" b="1" dirty="0"/>
              <a:t>cryptography</a:t>
            </a:r>
            <a:r>
              <a:rPr lang="en-ZA" dirty="0"/>
              <a:t> comes from the Greek words </a:t>
            </a:r>
            <a:r>
              <a:rPr lang="en-ZA" i="1" dirty="0" err="1"/>
              <a:t>kryptos</a:t>
            </a:r>
            <a:r>
              <a:rPr lang="en-ZA" dirty="0"/>
              <a:t> (hidden) and </a:t>
            </a:r>
            <a:r>
              <a:rPr lang="en-ZA" i="1" dirty="0" err="1"/>
              <a:t>graphein</a:t>
            </a:r>
            <a:r>
              <a:rPr lang="en-ZA" dirty="0"/>
              <a:t> (to write), meaning “hidden writing.”</a:t>
            </a:r>
          </a:p>
          <a:p>
            <a:pPr algn="just"/>
            <a:endParaRPr lang="en-ZA" dirty="0"/>
          </a:p>
          <a:p>
            <a:pPr algn="just"/>
            <a:r>
              <a:rPr lang="en-ZA" b="1" dirty="0"/>
              <a:t>Classical cryptography</a:t>
            </a:r>
            <a:r>
              <a:rPr lang="en-ZA" dirty="0"/>
              <a:t> relies on mathematical principles, while </a:t>
            </a:r>
            <a:r>
              <a:rPr lang="en-ZA" b="1" dirty="0"/>
              <a:t>quantum cryptography</a:t>
            </a:r>
            <a:r>
              <a:rPr lang="en-ZA" dirty="0"/>
              <a:t> uses the laws of quantum mechanics to provide security.</a:t>
            </a:r>
          </a:p>
        </p:txBody>
      </p:sp>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454733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As a brief introduction to cryptographic terminology, consider a simple XOR-based one-time pad, based on the </a:t>
            </a:r>
            <a:r>
              <a:rPr lang="en-ZA" b="0" dirty="0" err="1"/>
              <a:t>Vernam</a:t>
            </a:r>
            <a:r>
              <a:rPr lang="en-ZA" b="0" dirty="0"/>
              <a:t> cipher introduced by Gilbert </a:t>
            </a:r>
            <a:r>
              <a:rPr lang="en-ZA" b="0" dirty="0" err="1"/>
              <a:t>Vernam</a:t>
            </a:r>
            <a:r>
              <a:rPr lang="en-ZA" b="0" dirty="0"/>
              <a:t> in 1917.</a:t>
            </a:r>
          </a:p>
          <a:p>
            <a:pPr algn="just"/>
            <a:endParaRPr lang="en-ZA" b="0" dirty="0"/>
          </a:p>
          <a:p>
            <a:pPr marL="171450" indent="-171450" algn="just">
              <a:spcBef>
                <a:spcPts val="600"/>
              </a:spcBef>
              <a:spcAft>
                <a:spcPts val="600"/>
              </a:spcAft>
              <a:buFont typeface="Arial" panose="020B0604020202020204" pitchFamily="34" charset="0"/>
              <a:buChar char="•"/>
            </a:pPr>
            <a:r>
              <a:rPr lang="en-ZA" b="0" dirty="0"/>
              <a:t>The text or data to be encrypted is called plaintext or cleartext. In our example, it is the word </a:t>
            </a:r>
            <a:r>
              <a:rPr lang="en-ZA" b="0" i="1" dirty="0"/>
              <a:t>HELLO</a:t>
            </a:r>
            <a:r>
              <a:rPr lang="en-ZA" b="0" dirty="0"/>
              <a:t>.</a:t>
            </a:r>
          </a:p>
          <a:p>
            <a:pPr marL="171450" indent="-171450" algn="just">
              <a:spcBef>
                <a:spcPts val="600"/>
              </a:spcBef>
              <a:spcAft>
                <a:spcPts val="600"/>
              </a:spcAft>
              <a:buFont typeface="Arial" panose="020B0604020202020204" pitchFamily="34" charset="0"/>
              <a:buChar char="•"/>
            </a:pPr>
            <a:r>
              <a:rPr lang="en-ZA" b="0" dirty="0"/>
              <a:t>Encryption is the process of transforming plaintext into ciphertext.</a:t>
            </a:r>
          </a:p>
          <a:p>
            <a:pPr marL="171450" indent="-171450" algn="just">
              <a:spcBef>
                <a:spcPts val="600"/>
              </a:spcBef>
              <a:spcAft>
                <a:spcPts val="600"/>
              </a:spcAft>
              <a:buFont typeface="Arial" panose="020B0604020202020204" pitchFamily="34" charset="0"/>
              <a:buChar char="•"/>
            </a:pPr>
            <a:r>
              <a:rPr lang="en-ZA" b="0" dirty="0"/>
              <a:t>A cryptographic key is a sequence of values used together with the plaintext during encryption to produce the ciphertext. In this example, the key is a sequence of random bits with the same length as the message. For simplicity, the binary sequence is shown in hexadecimal form.</a:t>
            </a:r>
          </a:p>
          <a:p>
            <a:pPr marL="171450" indent="-171450" algn="just">
              <a:spcBef>
                <a:spcPts val="600"/>
              </a:spcBef>
              <a:spcAft>
                <a:spcPts val="600"/>
              </a:spcAft>
              <a:buFont typeface="Arial" panose="020B0604020202020204" pitchFamily="34" charset="0"/>
              <a:buChar char="•"/>
            </a:pPr>
            <a:r>
              <a:rPr lang="en-ZA" b="0" dirty="0"/>
              <a:t>A cipher is the algorithm that defines how the key is applied. In this example, the cipher performs a simple XOR operation between the bits of the message and the corresponding bits of the key, producing the ciphertext.</a:t>
            </a:r>
          </a:p>
          <a:p>
            <a:pPr marL="171450" indent="-171450" algn="just">
              <a:spcBef>
                <a:spcPts val="600"/>
              </a:spcBef>
              <a:spcAft>
                <a:spcPts val="600"/>
              </a:spcAft>
              <a:buFont typeface="Arial" panose="020B0604020202020204" pitchFamily="34" charset="0"/>
              <a:buChar char="•"/>
            </a:pPr>
            <a:r>
              <a:rPr lang="en-ZA" b="0" dirty="0"/>
              <a:t>The reverse process of recovering the original plaintext from the ciphertext is called decryption. Here, decryption is performed by applying the same XOR operation to the ciphertext and the key. The same key is therefore used for both encryption and decryption. </a:t>
            </a:r>
          </a:p>
          <a:p>
            <a:pPr marL="171450" indent="-171450" algn="just">
              <a:spcBef>
                <a:spcPts val="600"/>
              </a:spcBef>
              <a:spcAft>
                <a:spcPts val="600"/>
              </a:spcAft>
              <a:buFont typeface="Arial" panose="020B0604020202020204" pitchFamily="34" charset="0"/>
              <a:buChar char="•"/>
            </a:pPr>
            <a:r>
              <a:rPr lang="en-ZA" b="0" dirty="0"/>
              <a:t>A one-time pad is theoretically unbreakable if the key is truly random, at least as long as the message, kept secret, and never reused.</a:t>
            </a:r>
          </a:p>
        </p:txBody>
      </p:sp>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700975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simplest form of the Quantum One-Time Pad (QOTP), also called Pauli encryption, encrypts each qubit using two classical secret bits.</a:t>
                </a:r>
              </a:p>
              <a:p>
                <a:pPr algn="just"/>
                <a:endParaRPr lang="en-ZA" dirty="0"/>
              </a:p>
              <a:p>
                <a:pPr marL="171450" indent="-171450">
                  <a:buFont typeface="Arial" panose="020B0604020202020204" pitchFamily="34" charset="0"/>
                  <a:buChar char="•"/>
                </a:pPr>
                <a:r>
                  <a:rPr lang="en-ZA" dirty="0"/>
                  <a:t>Alice and Bob share a two-bit classical secret key (</a:t>
                </a:r>
                <a:r>
                  <a:rPr lang="en-ZA" dirty="0" err="1"/>
                  <a:t>a,b</a:t>
                </a:r>
                <a:r>
                  <a:rPr lang="en-ZA" dirty="0"/>
                  <a:t>), which is used to encrypt each qubit that Alice sends to Bob.</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Alice applies the X and Z operations according to the key bits a and b, respectively. In the example shown, a=1 and b=0, so the X operation is applied, while the Z operation is not.</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After receiving the encrypted qubit, Bob applies the same operations in reverse order, using the same key bits.</a:t>
                </a:r>
              </a:p>
              <a:p>
                <a:pPr marL="171450" indent="-171450">
                  <a:buFont typeface="Arial" panose="020B0604020202020204" pitchFamily="34" charset="0"/>
                  <a:buChar char="•"/>
                </a:pPr>
                <a:r>
                  <a:rPr lang="en-ZA" dirty="0"/>
                  <a:t>Considering the quantum circuit as a whole, the encryption and decryption operations cancel each other. If Alice applies </a:t>
                </a:r>
                <a14:m>
                  <m:oMath xmlns:m="http://schemas.openxmlformats.org/officeDocument/2006/math">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𝑍</m:t>
                        </m:r>
                      </m:e>
                      <m:sup>
                        <m:r>
                          <a:rPr lang="en-US" sz="1200" b="0" i="1" smtClean="0">
                            <a:solidFill>
                              <a:srgbClr val="002060"/>
                            </a:solidFill>
                            <a:latin typeface="Cambria Math" panose="02040503050406030204" pitchFamily="18" charset="0"/>
                            <a:ea typeface="Cambria Math" panose="02040503050406030204" pitchFamily="18" charset="0"/>
                          </a:rPr>
                          <m:t>𝑏</m:t>
                        </m:r>
                      </m:sup>
                    </m:sSup>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𝑋</m:t>
                        </m:r>
                      </m:e>
                      <m:sup>
                        <m:r>
                          <a:rPr lang="en-US" sz="1200" b="0" i="1" smtClean="0">
                            <a:solidFill>
                              <a:srgbClr val="002060"/>
                            </a:solidFill>
                            <a:latin typeface="Cambria Math" panose="02040503050406030204" pitchFamily="18" charset="0"/>
                            <a:ea typeface="Cambria Math" panose="02040503050406030204" pitchFamily="18" charset="0"/>
                          </a:rPr>
                          <m:t>𝑎</m:t>
                        </m:r>
                      </m:sup>
                    </m:sSup>
                  </m:oMath>
                </a14:m>
                <a:r>
                  <a:rPr lang="en-ZA" dirty="0"/>
                  <a:t>, Bob applies the operations in reverse order: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b="0" i="1">
                                <a:solidFill>
                                  <a:srgbClr val="002060"/>
                                </a:solidFill>
                                <a:latin typeface="Cambria Math" panose="02040503050406030204" pitchFamily="18" charset="0"/>
                                <a:ea typeface="Cambria Math" panose="02040503050406030204" pitchFamily="18" charset="0"/>
                              </a:rPr>
                              <m:t>𝑋</m:t>
                            </m:r>
                          </m:e>
                          <m:sup>
                            <m:r>
                              <a:rPr lang="en-US" sz="1200" b="0" i="1">
                                <a:solidFill>
                                  <a:srgbClr val="002060"/>
                                </a:solidFill>
                                <a:latin typeface="Cambria Math" panose="02040503050406030204" pitchFamily="18" charset="0"/>
                                <a:ea typeface="Cambria Math" panose="02040503050406030204" pitchFamily="18" charset="0"/>
                              </a:rPr>
                              <m:t>𝑎</m:t>
                            </m:r>
                          </m:sup>
                        </m:sSup>
                        <m:r>
                          <a:rPr lang="en-US" sz="1200" b="0" i="1" smtClean="0">
                            <a:solidFill>
                              <a:srgbClr val="002060"/>
                            </a:solidFill>
                            <a:latin typeface="Cambria Math" panose="02040503050406030204" pitchFamily="18" charset="0"/>
                            <a:ea typeface="Cambria Math" panose="02040503050406030204" pitchFamily="18" charset="0"/>
                          </a:rPr>
                          <m:t>𝑍</m:t>
                        </m:r>
                      </m:e>
                      <m:sup>
                        <m:r>
                          <a:rPr lang="en-US" sz="1200" b="0" i="1" smtClean="0">
                            <a:solidFill>
                              <a:srgbClr val="002060"/>
                            </a:solidFill>
                            <a:latin typeface="Cambria Math" panose="02040503050406030204" pitchFamily="18" charset="0"/>
                            <a:ea typeface="Cambria Math" panose="02040503050406030204" pitchFamily="18" charset="0"/>
                          </a:rPr>
                          <m:t>𝑏</m:t>
                        </m:r>
                      </m:sup>
                    </m:sSup>
                  </m:oMath>
                </a14:m>
                <a:r>
                  <a:rPr lang="en-ZA" dirty="0"/>
                  <a:t>,  giving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𝑋</m:t>
                            </m:r>
                          </m:e>
                          <m:sup>
                            <m:r>
                              <a:rPr lang="en-US" sz="1200" i="1">
                                <a:solidFill>
                                  <a:srgbClr val="002060"/>
                                </a:solidFill>
                                <a:latin typeface="Cambria Math" panose="02040503050406030204" pitchFamily="18" charset="0"/>
                                <a:ea typeface="Cambria Math" panose="02040503050406030204" pitchFamily="18" charset="0"/>
                              </a:rPr>
                              <m:t>𝑎</m:t>
                            </m:r>
                          </m:sup>
                        </m:sSup>
                        <m:r>
                          <a:rPr lang="en-US" sz="1200" i="1">
                            <a:solidFill>
                              <a:srgbClr val="002060"/>
                            </a:solidFill>
                            <a:latin typeface="Cambria Math" panose="02040503050406030204" pitchFamily="18" charset="0"/>
                            <a:ea typeface="Cambria Math" panose="02040503050406030204" pitchFamily="18" charset="0"/>
                          </a:rPr>
                          <m:t>𝑍</m:t>
                        </m:r>
                      </m:e>
                      <m:sup>
                        <m:r>
                          <a:rPr lang="en-US" sz="1200" i="1">
                            <a:solidFill>
                              <a:srgbClr val="002060"/>
                            </a:solidFill>
                            <a:latin typeface="Cambria Math" panose="02040503050406030204" pitchFamily="18" charset="0"/>
                            <a:ea typeface="Cambria Math" panose="02040503050406030204" pitchFamily="18" charset="0"/>
                          </a:rPr>
                          <m:t>𝑏</m:t>
                        </m:r>
                      </m:sup>
                    </m:sSup>
                  </m:oMath>
                </a14:m>
                <a:r>
                  <a:rPr lang="en-US" sz="1200" dirty="0">
                    <a:solidFill>
                      <a:srgbClr val="002060"/>
                    </a:solidFill>
                    <a:ea typeface="Cambria Math" panose="02040503050406030204" pitchFamily="18" charset="0"/>
                  </a:rPr>
                  <a:t> </a:t>
                </a:r>
                <a14:m>
                  <m:oMath xmlns:m="http://schemas.openxmlformats.org/officeDocument/2006/math">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𝑍</m:t>
                        </m:r>
                      </m:e>
                      <m:sup>
                        <m:r>
                          <a:rPr lang="en-US" sz="1200" i="1">
                            <a:solidFill>
                              <a:srgbClr val="002060"/>
                            </a:solidFill>
                            <a:latin typeface="Cambria Math" panose="02040503050406030204" pitchFamily="18" charset="0"/>
                            <a:ea typeface="Cambria Math" panose="02040503050406030204" pitchFamily="18" charset="0"/>
                          </a:rPr>
                          <m:t>𝑏</m:t>
                        </m:r>
                      </m:sup>
                    </m:sSup>
                    <m:sSup>
                      <m:sSupPr>
                        <m:ctrlPr>
                          <a:rPr lang="en-US" sz="1200" i="1">
                            <a:solidFill>
                              <a:srgbClr val="002060"/>
                            </a:solidFill>
                            <a:latin typeface="Cambria Math" panose="02040503050406030204" pitchFamily="18" charset="0"/>
                            <a:ea typeface="Cambria Math" panose="02040503050406030204" pitchFamily="18" charset="0"/>
                          </a:rPr>
                        </m:ctrlPr>
                      </m:sSupPr>
                      <m:e>
                        <m:r>
                          <a:rPr lang="en-US" sz="1200" i="1">
                            <a:solidFill>
                              <a:srgbClr val="002060"/>
                            </a:solidFill>
                            <a:latin typeface="Cambria Math" panose="02040503050406030204" pitchFamily="18" charset="0"/>
                            <a:ea typeface="Cambria Math" panose="02040503050406030204" pitchFamily="18" charset="0"/>
                          </a:rPr>
                          <m:t>𝑋</m:t>
                        </m:r>
                      </m:e>
                      <m:sup>
                        <m:r>
                          <a:rPr lang="en-US" sz="1200" i="1">
                            <a:solidFill>
                              <a:srgbClr val="002060"/>
                            </a:solidFill>
                            <a:latin typeface="Cambria Math" panose="02040503050406030204" pitchFamily="18" charset="0"/>
                            <a:ea typeface="Cambria Math" panose="02040503050406030204" pitchFamily="18" charset="0"/>
                          </a:rPr>
                          <m:t>𝑎</m:t>
                        </m:r>
                      </m:sup>
                    </m:sSup>
                    <m:r>
                      <a:rPr lang="sr-Latn-RS" sz="1200" b="0" i="1" smtClean="0">
                        <a:solidFill>
                          <a:srgbClr val="002060"/>
                        </a:solidFill>
                        <a:latin typeface="Cambria Math" panose="02040503050406030204" pitchFamily="18" charset="0"/>
                        <a:ea typeface="Cambria Math" panose="02040503050406030204" pitchFamily="18" charset="0"/>
                      </a:rPr>
                      <m:t>=</m:t>
                    </m:r>
                    <m:r>
                      <a:rPr lang="sr-Latn-RS" sz="1200" b="0" i="1" smtClean="0">
                        <a:solidFill>
                          <a:srgbClr val="002060"/>
                        </a:solidFill>
                        <a:latin typeface="Cambria Math" panose="02040503050406030204" pitchFamily="18" charset="0"/>
                        <a:ea typeface="Cambria Math" panose="02040503050406030204" pitchFamily="18" charset="0"/>
                      </a:rPr>
                      <m:t>𝐼</m:t>
                    </m:r>
                  </m:oMath>
                </a14:m>
                <a:endParaRPr lang="sr-Latn-RS" sz="1200" b="0" dirty="0">
                  <a:solidFill>
                    <a:srgbClr val="002060"/>
                  </a:solidFill>
                  <a:ea typeface="Cambria Math" panose="02040503050406030204" pitchFamily="18" charset="0"/>
                </a:endParaRPr>
              </a:p>
              <a:p>
                <a:pPr marL="171450" indent="-171450">
                  <a:buFont typeface="Arial" panose="020B0604020202020204" pitchFamily="34" charset="0"/>
                  <a:buChar char="•"/>
                </a:pPr>
                <a:r>
                  <a:rPr lang="en-US" sz="1200" dirty="0">
                    <a:solidFill>
                      <a:srgbClr val="002060"/>
                    </a:solidFill>
                    <a:ea typeface="Cambria Math" panose="02040503050406030204" pitchFamily="18" charset="0"/>
                  </a:rPr>
                  <a:t> </a:t>
                </a:r>
                <a:endParaRPr lang="en-ZA" dirty="0"/>
              </a:p>
              <a:p>
                <a:pPr marL="171450" indent="-171450">
                  <a:buFont typeface="Arial" panose="020B0604020202020204" pitchFamily="34" charset="0"/>
                  <a:buChar char="•"/>
                </a:pPr>
                <a:r>
                  <a:rPr lang="en-ZA" dirty="0"/>
                  <a:t>To encrypt larger quantum states, the QOTP can be applied to multiple qubits in parallel. For example, encrypting an 8-qubit register requires 16 classical key bits, two for each qubit.</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The Quantum One-Time Pad randomly transforms each qubit using one of four Pauli operations: I, X, Z, or XZ similar to how the classical one-time pad transforms classical bits using XOR with a random key.</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The QOTP provides information-theoretic secrecy when the key is uniformly random, kept secret, used only once, and contains two classical bits for each encrypted qubit.</a:t>
                </a:r>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0" dirty="0"/>
                  <a:t>The simplest Quantum One-Time Pad (QOTP), also called Pauli encryption, uses a secret key shared by Alice and Bob.</a:t>
                </a:r>
              </a:p>
              <a:p>
                <a:pPr marL="171450" indent="-171450">
                  <a:buFont typeface="Arial" panose="020B0604020202020204" pitchFamily="34" charset="0"/>
                  <a:buChar char="•"/>
                </a:pPr>
                <a:br>
                  <a:rPr lang="en-ZA" b="0" dirty="0"/>
                </a:br>
                <a:r>
                  <a:rPr lang="en-ZA" b="0" dirty="0"/>
                  <a:t>Every message bit is sent as a qubit encrypted using two key bits (</a:t>
                </a:r>
                <a:r>
                  <a:rPr lang="en-ZA" b="0" dirty="0" err="1"/>
                  <a:t>a,b</a:t>
                </a:r>
                <a:r>
                  <a:rPr lang="en-ZA" b="0" dirty="0"/>
                  <a:t>).</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On her side, Alice applies a sequence of X–Z gates activated by the key bits a and b, respectively. In the picture a=1 and b=0, so the Z gate is not activated.</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On his side, after receiving the qubit, Bob applies the reverse gate sequence Z–X, controlled by the bits b and a, respectively.</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If we look at the quantum circuit as a whole, because of the reversibility of quantum operations, the sequence </a:t>
                </a:r>
                <a:r>
                  <a:rPr lang="en-US" sz="1200" i="0">
                    <a:solidFill>
                      <a:srgbClr val="002060"/>
                    </a:solidFill>
                    <a:latin typeface="Cambria Math" panose="02040503050406030204" pitchFamily="18" charset="0"/>
                    <a:ea typeface="Cambria Math" panose="02040503050406030204" pitchFamily="18" charset="0"/>
                  </a:rPr>
                  <a:t>〖𝑋^𝑎 𝑍〗^𝑏</a:t>
                </a:r>
                <a:r>
                  <a:rPr lang="en-US" sz="1200" dirty="0">
                    <a:solidFill>
                      <a:srgbClr val="002060"/>
                    </a:solidFill>
                    <a:ea typeface="Cambria Math" panose="02040503050406030204" pitchFamily="18" charset="0"/>
                  </a:rPr>
                  <a:t> </a:t>
                </a:r>
                <a:r>
                  <a:rPr lang="en-US" sz="1200" i="0">
                    <a:solidFill>
                      <a:srgbClr val="002060"/>
                    </a:solidFill>
                    <a:latin typeface="Cambria Math" panose="02040503050406030204" pitchFamily="18" charset="0"/>
                    <a:ea typeface="Cambria Math" panose="02040503050406030204" pitchFamily="18" charset="0"/>
                  </a:rPr>
                  <a:t>𝑍^𝑏 𝑋^𝑎</a:t>
                </a:r>
                <a:r>
                  <a:rPr lang="en-ZA" b="0" dirty="0"/>
                  <a:t> is equivalent to the identity operator,</a:t>
                </a:r>
                <a:r>
                  <a:rPr lang="en-ZA" b="0" baseline="0" dirty="0"/>
                  <a:t> </a:t>
                </a:r>
                <a:r>
                  <a:rPr lang="en-ZA" dirty="0"/>
                  <a:t>so Bob receives the qubit in the same state Alice sent.</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To make QOTP useful, we can construct a circuit that transfers several qubits in parallel, for example 8 qubits, each encrypted using two key bits shared by Alice and Bob.</a:t>
                </a:r>
              </a:p>
              <a:p>
                <a:pPr marL="171450" indent="-171450">
                  <a:buFont typeface="Arial" panose="020B0604020202020204" pitchFamily="34" charset="0"/>
                  <a:buChar char="•"/>
                </a:pPr>
                <a:endParaRPr lang="en-ZA"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The Quantum One-Time Pad </a:t>
                </a:r>
                <a:r>
                  <a:rPr lang="en-ZA" dirty="0"/>
                  <a:t> randomizes a qubit using I,X,Z,XZ, just as the classical OTP randomizes a bit using XOR with a random key. </a:t>
                </a:r>
                <a:r>
                  <a:rPr lang="en-ZA" b="0" dirty="0"/>
                  <a:t>QOTP is theoretically unbreakable if the key is truly random, used only once, and provides two key bits per qubit.</a:t>
                </a:r>
              </a:p>
              <a:p>
                <a:pPr marL="171450" indent="-171450">
                  <a:buFont typeface="Arial" panose="020B0604020202020204" pitchFamily="34" charset="0"/>
                  <a:buChar char="•"/>
                </a:pPr>
                <a:endParaRPr lang="en-ZA" b="0" dirty="0"/>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5</a:t>
            </a:fld>
            <a:endParaRPr lang="en-US"/>
          </a:p>
        </p:txBody>
      </p:sp>
    </p:spTree>
    <p:extLst>
      <p:ext uri="{BB962C8B-B14F-4D97-AF65-F5344CB8AC3E}">
        <p14:creationId xmlns:p14="http://schemas.microsoft.com/office/powerpoint/2010/main" val="2377900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Cryptographic hash functions are mathematical functions that take an input of any length and produce an output of fixed length, called the hash value (or simply the hash). A cryptographic hash function is one-way, meaning that it is practically impossible to reconstruct the original input from its hash value.</a:t>
            </a:r>
          </a:p>
          <a:p>
            <a:pPr algn="just"/>
            <a:endParaRPr lang="en-ZA" b="0" dirty="0"/>
          </a:p>
          <a:p>
            <a:pPr algn="just"/>
            <a:r>
              <a:rPr lang="en-ZA" b="0" dirty="0"/>
              <a:t>Because of this property, hashes are not used to transmit data directly, but are commonly used to verify data integrity or as part of digital signatures. For example, a sender may send a message together with its hash. The receiver can compute the hash of the received message and compare it with the original hash. If they match, this provides evidence that the message has not been altered.</a:t>
            </a:r>
          </a:p>
          <a:p>
            <a:pPr algn="just"/>
            <a:endParaRPr lang="en-ZA" b="0" dirty="0"/>
          </a:p>
          <a:p>
            <a:pPr algn="just"/>
            <a:r>
              <a:rPr lang="en-ZA" b="0" dirty="0"/>
              <a:t>A known limitation of hash functions is the possibility of a collision, which occurs when two different inputs produce the same hash. For a modern 256-bit cryptographic hash function such as SHA3-256, there are</a:t>
            </a:r>
          </a:p>
          <a:p>
            <a:pPr algn="just"/>
            <a:r>
              <a:rPr lang="en-ZA" b="0" dirty="0"/>
              <a:t>2</a:t>
            </a:r>
            <a:r>
              <a:rPr lang="en-ZA" b="0" baseline="30000" dirty="0"/>
              <a:t>256</a:t>
            </a:r>
            <a:r>
              <a:rPr lang="en-ZA" b="0" dirty="0"/>
              <a:t>≈1.16×10</a:t>
            </a:r>
            <a:r>
              <a:rPr lang="en-ZA" b="0" baseline="30000" dirty="0"/>
              <a:t>77</a:t>
            </a:r>
            <a:r>
              <a:rPr lang="en-ZA" b="0" dirty="0"/>
              <a:t> possible hash values. However, because of the birthday effect, finding a collision by brute force requires approximately 2</a:t>
            </a:r>
            <a:r>
              <a:rPr lang="en-ZA" b="0" baseline="30000" dirty="0"/>
              <a:t>128</a:t>
            </a:r>
            <a:r>
              <a:rPr lang="en-ZA" b="0" dirty="0"/>
              <a:t>≈3.4×10</a:t>
            </a:r>
            <a:r>
              <a:rPr lang="en-ZA" b="0" baseline="30000" dirty="0"/>
              <a:t>38</a:t>
            </a:r>
            <a:r>
              <a:rPr lang="en-ZA" b="0" dirty="0"/>
              <a:t> attempts, which is still computationally infeasible.</a:t>
            </a:r>
          </a:p>
        </p:txBody>
      </p:sp>
      <p:sp>
        <p:nvSpPr>
          <p:cNvPr id="4" name="Slide Number Placeholder 3"/>
          <p:cNvSpPr>
            <a:spLocks noGrp="1"/>
          </p:cNvSpPr>
          <p:nvPr>
            <p:ph type="sldNum" sz="quarter" idx="5"/>
          </p:nvPr>
        </p:nvSpPr>
        <p:spPr/>
        <p:txBody>
          <a:bodyPr/>
          <a:lstStyle/>
          <a:p>
            <a:fld id="{965A8710-8889-7541-9BF7-E78AD03A798D}" type="slidenum">
              <a:rPr lang="en-US" smtClean="0"/>
              <a:t>6</a:t>
            </a:fld>
            <a:endParaRPr lang="en-US"/>
          </a:p>
        </p:txBody>
      </p:sp>
    </p:spTree>
    <p:extLst>
      <p:ext uri="{BB962C8B-B14F-4D97-AF65-F5344CB8AC3E}">
        <p14:creationId xmlns:p14="http://schemas.microsoft.com/office/powerpoint/2010/main" val="2138033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The question is: can a quantum computer attack a hash function and compromise the security of digital signatures?</a:t>
            </a:r>
          </a:p>
          <a:p>
            <a:endParaRPr lang="en-ZA" b="0" dirty="0"/>
          </a:p>
          <a:p>
            <a:r>
              <a:rPr lang="en-ZA" b="0" dirty="0"/>
              <a:t>The simple experiment resulted in the chart shown in the figure, comparing how often classical and quantum searches successfully found an input corresponding to a given 4-bit hash value. </a:t>
            </a:r>
          </a:p>
          <a:p>
            <a:endParaRPr lang="en-ZA" b="0" dirty="0"/>
          </a:p>
          <a:p>
            <a:r>
              <a:rPr lang="en-ZA" b="0" dirty="0"/>
              <a:t>The green chart represents the success rate of the classical search, which is about 15%. The orange chart represents the quantum search. By applying Grover’s algorithm, the quantum computer was able to find a matching input in about 75% of the cases. </a:t>
            </a:r>
          </a:p>
          <a:p>
            <a:endParaRPr lang="en-ZA" b="0" dirty="0"/>
          </a:p>
          <a:p>
            <a:r>
              <a:rPr lang="en-ZA" b="0" dirty="0"/>
              <a:t>Although demonstrated using a very small 4-bit hash, the experiment illustrates how quantum algorithms can accelerate attacks on cryptographic hash functions, potentially reducing their effective security.</a:t>
            </a:r>
          </a:p>
        </p:txBody>
      </p:sp>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121601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This quantum circuit illustrates a simple quantum hash encoding for a two-bit input, based on controlled Ry rotations. The inputs are two data qubits in the states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0</m:t>
                            </m:r>
                          </m:sub>
                        </m:sSub>
                      </m:e>
                    </m:d>
                  </m:oMath>
                </a14:m>
                <a:r>
                  <a:rPr lang="en-ZA" dirty="0"/>
                  <a:t> and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1</m:t>
                            </m:r>
                          </m:sub>
                        </m:sSub>
                      </m:e>
                    </m:d>
                  </m:oMath>
                </a14:m>
                <a:r>
                  <a:rPr lang="en-ZA" dirty="0"/>
                  <a:t>, together with a hash qubit initialized in |0⟩.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marL="171450" indent="-171450">
                  <a:buFont typeface="Arial" panose="020B0604020202020204" pitchFamily="34" charset="0"/>
                  <a:buChar char="•"/>
                </a:pPr>
                <a:r>
                  <a:rPr lang="en-ZA" dirty="0"/>
                  <a:t>The input qubits control two rotations applied to the hash qubit: </a:t>
                </a:r>
                <a14:m>
                  <m:oMath xmlns:m="http://schemas.openxmlformats.org/officeDocument/2006/math">
                    <m:r>
                      <a:rPr lang="en-US" sz="1200" i="1" smtClean="0">
                        <a:latin typeface="Cambria Math" panose="02040503050406030204" pitchFamily="18" charset="0"/>
                      </a:rPr>
                      <m:t>𝑅𝑦</m:t>
                    </m:r>
                    <m:d>
                      <m:dPr>
                        <m:ctrlPr>
                          <a:rPr lang="en-US" sz="1200" i="1">
                            <a:latin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e>
                    </m:d>
                  </m:oMath>
                </a14:m>
                <a:r>
                  <a:rPr lang="en-ZA" dirty="0"/>
                  <a:t>, controlled by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i="1">
                                <a:solidFill>
                                  <a:srgbClr val="002060"/>
                                </a:solidFill>
                                <a:latin typeface="Cambria Math" panose="02040503050406030204" pitchFamily="18" charset="0"/>
                                <a:ea typeface="Cambria Math" panose="02040503050406030204" pitchFamily="18" charset="0"/>
                              </a:rPr>
                              <m:t>0</m:t>
                            </m:r>
                          </m:sub>
                        </m:sSub>
                      </m:e>
                    </m:d>
                  </m:oMath>
                </a14:m>
                <a:r>
                  <a:rPr lang="en-ZA" dirty="0"/>
                  <a:t>, and</a:t>
                </a:r>
                <a:r>
                  <a:rPr lang="en-ZA" baseline="0" dirty="0"/>
                  <a:t> </a:t>
                </a:r>
                <a14:m>
                  <m:oMath xmlns:m="http://schemas.openxmlformats.org/officeDocument/2006/math">
                    <m:r>
                      <a:rPr lang="en-US" sz="1200" i="1" smtClean="0">
                        <a:latin typeface="Cambria Math" panose="02040503050406030204" pitchFamily="18" charset="0"/>
                      </a:rPr>
                      <m:t>𝑅𝑦</m:t>
                    </m:r>
                    <m:d>
                      <m:dPr>
                        <m:ctrlPr>
                          <a:rPr lang="en-US" sz="1200" i="1">
                            <a:latin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𝜋</m:t>
                        </m:r>
                      </m:e>
                    </m:d>
                  </m:oMath>
                </a14:m>
                <a:r>
                  <a:rPr lang="en-ZA" dirty="0"/>
                  <a:t>, controlled by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1</m:t>
                            </m:r>
                          </m:sub>
                        </m:sSub>
                      </m:e>
                    </m:d>
                  </m:oMath>
                </a14:m>
                <a:r>
                  <a:rPr lang="en-ZA" dirty="0"/>
                  <a:t>. Their combined effect rotates the hash qubit by an angle determined by the input bits.</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At the output, the data qubits remain unchanged, while the hash is encoded in the state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h</m:t>
                        </m:r>
                      </m:e>
                    </m:d>
                    <m:r>
                      <a:rPr lang="en-US" sz="1200" b="0" i="1" smtClean="0">
                        <a:solidFill>
                          <a:srgbClr val="002060"/>
                        </a:solidFill>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𝑅𝑦</m:t>
                    </m:r>
                    <m:d>
                      <m:dPr>
                        <m:ctrlPr>
                          <a:rPr lang="en-US" sz="1200" b="0" i="1" smtClean="0">
                            <a:latin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𝜋</m:t>
                        </m:r>
                        <m:sSub>
                          <m:sSubPr>
                            <m:ctrlPr>
                              <a:rPr lang="en-US" sz="1200" i="1">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1</m:t>
                            </m:r>
                          </m:sub>
                        </m:sSub>
                        <m:r>
                          <a:rPr lang="en-US" sz="1200" b="0" i="1" smtClean="0">
                            <a:solidFill>
                              <a:srgbClr val="002060"/>
                            </a:solidFill>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𝜋</m:t>
                        </m:r>
                        <m:sSub>
                          <m:sSubPr>
                            <m:ctrlPr>
                              <a:rPr lang="en-US" sz="1200" i="1" smtClean="0">
                                <a:solidFill>
                                  <a:srgbClr val="002060"/>
                                </a:solidFill>
                                <a:latin typeface="Cambria Math" panose="02040503050406030204" pitchFamily="18" charset="0"/>
                                <a:ea typeface="Cambria Math" panose="02040503050406030204" pitchFamily="18" charset="0"/>
                              </a:rPr>
                            </m:ctrlPr>
                          </m:sSubPr>
                          <m:e>
                            <m:r>
                              <a:rPr lang="en-US" sz="1200" i="1">
                                <a:solidFill>
                                  <a:srgbClr val="002060"/>
                                </a:solidFill>
                                <a:latin typeface="Cambria Math" panose="02040503050406030204" pitchFamily="18" charset="0"/>
                                <a:ea typeface="Cambria Math" panose="02040503050406030204" pitchFamily="18" charset="0"/>
                              </a:rPr>
                              <m:t>𝑥</m:t>
                            </m:r>
                          </m:e>
                          <m:sub>
                            <m:r>
                              <a:rPr lang="en-US" sz="1200" b="0" i="1" smtClean="0">
                                <a:solidFill>
                                  <a:srgbClr val="002060"/>
                                </a:solidFill>
                                <a:latin typeface="Cambria Math" panose="02040503050406030204" pitchFamily="18" charset="0"/>
                                <a:ea typeface="Cambria Math" panose="02040503050406030204" pitchFamily="18" charset="0"/>
                              </a:rPr>
                              <m:t>0</m:t>
                            </m:r>
                          </m:sub>
                        </m:sSub>
                        <m:r>
                          <a:rPr lang="en-US" sz="1200" b="0" i="1" smtClean="0">
                            <a:latin typeface="Cambria Math" panose="02040503050406030204" pitchFamily="18" charset="0"/>
                            <a:ea typeface="Cambria Math" panose="02040503050406030204" pitchFamily="18" charset="0"/>
                          </a:rPr>
                          <m:t>/2</m:t>
                        </m:r>
                      </m:e>
                    </m:d>
                  </m:oMath>
                </a14:m>
                <a:r>
                  <a:rPr lang="en-ZA" dirty="0"/>
                  <a:t>. Thus, the four possible classical inputs produce four quantum hash states, equivalent up to global phase to: |0⟩, |1⟩, |+⟩, |−⟩.</a:t>
                </a:r>
              </a:p>
              <a:p>
                <a:pPr marL="171450" indent="-171450">
                  <a:buFont typeface="Arial" panose="020B0604020202020204" pitchFamily="34" charset="0"/>
                  <a:buChar char="•"/>
                </a:pPr>
                <a:endParaRPr lang="en-ZA" dirty="0"/>
              </a:p>
              <a:p>
                <a:pPr algn="just"/>
                <a:r>
                  <a:rPr lang="en-ZA" dirty="0"/>
                  <a:t>The hash is therefore encoded in the quantum state of a single qubit. Unlike classical information, an unknown quantum state cannot be perfectly copied, and non-orthogonal quantum states cannot generally be perfectly distinguished by a single measurement. These properties can be exploited in the design of quantum cryptographic protocols.</a:t>
                </a:r>
              </a:p>
              <a:p>
                <a:pPr algn="just"/>
                <a:endParaRPr lang="en-ZA" dirty="0"/>
              </a:p>
              <a:p>
                <a:r>
                  <a:rPr lang="en-ZA" dirty="0"/>
                  <a:t>More complex quantum hash constructions can be obtained by using larger input spaces, multiple hash qubits, and more complex quantum </a:t>
                </a:r>
                <a:r>
                  <a:rPr lang="en-ZA"/>
                  <a:t>transformations.</a:t>
                </a:r>
                <a:endParaRPr lang="en-ZA"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t>This quantum circuit illustrates a simple 2-bit quantum hash based on controlled RY rotations. The inputs are data qubits in the states </a:t>
                </a:r>
                <a:r>
                  <a:rPr lang="en-US" sz="1200" i="0">
                    <a:solidFill>
                      <a:srgbClr val="002060"/>
                    </a:solidFill>
                    <a:latin typeface="Cambria Math" panose="02040503050406030204" pitchFamily="18" charset="0"/>
                    <a:ea typeface="Cambria Math" panose="02040503050406030204" pitchFamily="18" charset="0"/>
                  </a:rPr>
                  <a:t>├ |𝑥_0 ⟩</a:t>
                </a:r>
                <a:r>
                  <a:rPr lang="en-ZA" b="0" dirty="0"/>
                  <a:t> and </a:t>
                </a:r>
                <a:r>
                  <a:rPr lang="en-US" sz="1200" i="0">
                    <a:solidFill>
                      <a:srgbClr val="002060"/>
                    </a:solidFill>
                    <a:latin typeface="Cambria Math" panose="02040503050406030204" pitchFamily="18" charset="0"/>
                    <a:ea typeface="Cambria Math" panose="02040503050406030204" pitchFamily="18" charset="0"/>
                  </a:rPr>
                  <a:t>├ |𝑥_</a:t>
                </a:r>
                <a:r>
                  <a:rPr lang="en-US" sz="1200" b="0" i="0">
                    <a:solidFill>
                      <a:srgbClr val="002060"/>
                    </a:solidFill>
                    <a:latin typeface="Cambria Math" panose="02040503050406030204" pitchFamily="18" charset="0"/>
                    <a:ea typeface="Cambria Math" panose="02040503050406030204" pitchFamily="18" charset="0"/>
                  </a:rPr>
                  <a:t>1 ⟩</a:t>
                </a:r>
                <a:r>
                  <a:rPr lang="en-ZA" b="0" dirty="0"/>
                  <a:t>, together with a hash qubit initialized in ∣0⟩.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t>The input qubits control two rotations applied to the hash qubit: RY(</a:t>
                </a:r>
                <a:r>
                  <a:rPr lang="el-GR" b="0" dirty="0"/>
                  <a:t>π/2)</a:t>
                </a:r>
                <a:r>
                  <a:rPr lang="en-ZA" b="0" dirty="0"/>
                  <a:t> controlled by </a:t>
                </a:r>
                <a:r>
                  <a:rPr lang="en-US" sz="1200" i="0">
                    <a:solidFill>
                      <a:srgbClr val="002060"/>
                    </a:solidFill>
                    <a:latin typeface="Cambria Math" panose="02040503050406030204" pitchFamily="18" charset="0"/>
                    <a:ea typeface="Cambria Math" panose="02040503050406030204" pitchFamily="18" charset="0"/>
                  </a:rPr>
                  <a:t>├ |𝑥_0 ⟩</a:t>
                </a:r>
                <a:r>
                  <a:rPr lang="en-ZA" b="0" dirty="0"/>
                  <a:t>​ and Ry(</a:t>
                </a:r>
                <a:r>
                  <a:rPr lang="el-GR" b="0" dirty="0"/>
                  <a:t>π) </a:t>
                </a:r>
                <a:r>
                  <a:rPr lang="en-ZA" b="0" dirty="0"/>
                  <a:t>controlled by </a:t>
                </a:r>
                <a:r>
                  <a:rPr lang="en-US" sz="1200" i="0">
                    <a:solidFill>
                      <a:srgbClr val="002060"/>
                    </a:solidFill>
                    <a:latin typeface="Cambria Math" panose="02040503050406030204" pitchFamily="18" charset="0"/>
                    <a:ea typeface="Cambria Math" panose="02040503050406030204" pitchFamily="18" charset="0"/>
                  </a:rPr>
                  <a:t>├ |𝑥_</a:t>
                </a:r>
                <a:r>
                  <a:rPr lang="en-US" sz="1200" b="0" i="0">
                    <a:solidFill>
                      <a:srgbClr val="002060"/>
                    </a:solidFill>
                    <a:latin typeface="Cambria Math" panose="02040503050406030204" pitchFamily="18" charset="0"/>
                    <a:ea typeface="Cambria Math" panose="02040503050406030204" pitchFamily="18" charset="0"/>
                  </a:rPr>
                  <a:t>1 ⟩</a:t>
                </a:r>
                <a:r>
                  <a:rPr lang="en-ZA" b="0" dirty="0"/>
                  <a:t>​. The combined effect of these operations rotates the hash qubit by an angle determined by the input bits.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p>
              <a:p>
                <a:r>
                  <a:rPr lang="en-ZA" b="0" dirty="0"/>
                  <a:t>At the output, the data qubits remain unchanged, while the hash qubit contains the quantum hash state</a:t>
                </a:r>
              </a:p>
              <a:p>
                <a:r>
                  <a:rPr lang="en-US" sz="1200" b="0" i="0">
                    <a:latin typeface="Cambria Math" panose="02040503050406030204" pitchFamily="18" charset="0"/>
                  </a:rPr>
                  <a:t>𝑅𝑦(</a:t>
                </a:r>
                <a:r>
                  <a:rPr lang="en-US" sz="1200" b="0" i="0">
                    <a:latin typeface="Cambria Math" panose="02040503050406030204" pitchFamily="18" charset="0"/>
                    <a:ea typeface="Cambria Math" panose="02040503050406030204" pitchFamily="18" charset="0"/>
                  </a:rPr>
                  <a:t>𝜋</a:t>
                </a:r>
                <a:r>
                  <a:rPr lang="en-US" sz="1200" i="0">
                    <a:solidFill>
                      <a:srgbClr val="002060"/>
                    </a:solidFill>
                    <a:latin typeface="Cambria Math" panose="02040503050406030204" pitchFamily="18" charset="0"/>
                    <a:ea typeface="Cambria Math" panose="02040503050406030204" pitchFamily="18" charset="0"/>
                  </a:rPr>
                  <a:t>𝑥_</a:t>
                </a:r>
                <a:r>
                  <a:rPr lang="en-US" sz="1200" b="0" i="0">
                    <a:solidFill>
                      <a:srgbClr val="002060"/>
                    </a:solidFill>
                    <a:latin typeface="Cambria Math" panose="02040503050406030204" pitchFamily="18" charset="0"/>
                    <a:ea typeface="Cambria Math" panose="02040503050406030204" pitchFamily="18" charset="0"/>
                  </a:rPr>
                  <a:t>1+</a:t>
                </a:r>
                <a:r>
                  <a:rPr lang="en-US" sz="1200" i="0">
                    <a:latin typeface="Cambria Math" panose="02040503050406030204" pitchFamily="18" charset="0"/>
                    <a:ea typeface="Cambria Math" panose="02040503050406030204" pitchFamily="18" charset="0"/>
                  </a:rPr>
                  <a:t>𝜋</a:t>
                </a:r>
                <a:r>
                  <a:rPr lang="en-US" sz="1200" b="0" i="0">
                    <a:solidFill>
                      <a:srgbClr val="002060"/>
                    </a:solidFill>
                    <a:latin typeface="Cambria Math" panose="02040503050406030204" pitchFamily="18" charset="0"/>
                    <a:ea typeface="Cambria Math" panose="02040503050406030204" pitchFamily="18" charset="0"/>
                  </a:rPr>
                  <a:t>/2 </a:t>
                </a:r>
                <a:r>
                  <a:rPr lang="en-US" sz="1200" i="0">
                    <a:solidFill>
                      <a:srgbClr val="002060"/>
                    </a:solidFill>
                    <a:latin typeface="Cambria Math" panose="02040503050406030204" pitchFamily="18" charset="0"/>
                    <a:ea typeface="Cambria Math" panose="02040503050406030204" pitchFamily="18" charset="0"/>
                  </a:rPr>
                  <a:t>𝑥_</a:t>
                </a:r>
                <a:r>
                  <a:rPr lang="en-US" sz="1200" b="0" i="0">
                    <a:solidFill>
                      <a:srgbClr val="002060"/>
                    </a:solidFill>
                    <a:latin typeface="Cambria Math" panose="02040503050406030204" pitchFamily="18" charset="0"/>
                    <a:ea typeface="Cambria Math" panose="02040503050406030204" pitchFamily="18" charset="0"/>
                  </a:rPr>
                  <a:t>0 )</a:t>
                </a:r>
                <a:endParaRPr lang="en-ZA" b="0" dirty="0"/>
              </a:p>
              <a:p>
                <a:endParaRPr lang="en-ZA" b="0" dirty="0"/>
              </a:p>
              <a:p>
                <a:r>
                  <a:rPr lang="en-ZA" b="0" dirty="0"/>
                  <a:t>Thus, the four possible inputs produce four different quantum states of the hash qubit: ∣0⟩, ∣1⟩, ∣+⟩, and −∣−⟩. </a:t>
                </a:r>
              </a:p>
              <a:p>
                <a:endParaRPr lang="en-ZA" b="0" dirty="0"/>
              </a:p>
              <a:p>
                <a:r>
                  <a:rPr lang="en-ZA" dirty="0"/>
                  <a:t>The hash is encoded in the quantum state of the qubit. This is important because quantum states cannot be copied perfectly and cannot be fully determined from a single measurement, which can provide additional security properties.</a:t>
                </a:r>
              </a:p>
              <a:p>
                <a:endParaRPr lang="en-ZA" dirty="0"/>
              </a:p>
              <a:p>
                <a:r>
                  <a:rPr lang="en-ZA" dirty="0"/>
                  <a:t>You can explore alternative quantum hash designs by combining different gates and scaling the circuit to more qubits.</a:t>
                </a:r>
              </a:p>
              <a:p>
                <a:endParaRPr lang="en-ZA" b="0" dirty="0"/>
              </a:p>
              <a:p>
                <a:endParaRPr lang="en-ZA" b="0" dirty="0"/>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8</a:t>
            </a:fld>
            <a:endParaRPr lang="en-US"/>
          </a:p>
        </p:txBody>
      </p:sp>
    </p:spTree>
    <p:extLst>
      <p:ext uri="{BB962C8B-B14F-4D97-AF65-F5344CB8AC3E}">
        <p14:creationId xmlns:p14="http://schemas.microsoft.com/office/powerpoint/2010/main" val="1627969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Encryption schemes such as the One-Time Pad require both parties to share the same secret key. The problem of securely establishing such a key can be solved using Quantum Key Distribution (QKD), which uses the principles of quantum mechanics to allow two parties to establish a shared secret key and detect the presence of an eavesdropper.</a:t>
            </a:r>
            <a:endParaRPr lang="en-US" b="0" dirty="0"/>
          </a:p>
        </p:txBody>
      </p:sp>
      <p:sp>
        <p:nvSpPr>
          <p:cNvPr id="4" name="Slide Number Placeholder 3"/>
          <p:cNvSpPr>
            <a:spLocks noGrp="1"/>
          </p:cNvSpPr>
          <p:nvPr>
            <p:ph type="sldNum" sz="quarter" idx="5"/>
          </p:nvPr>
        </p:nvSpPr>
        <p:spPr/>
        <p:txBody>
          <a:bodyPr/>
          <a:lstStyle/>
          <a:p>
            <a:fld id="{965A8710-8889-7541-9BF7-E78AD03A798D}" type="slidenum">
              <a:rPr lang="en-US" smtClean="0"/>
              <a:t>9</a:t>
            </a:fld>
            <a:endParaRPr lang="en-US"/>
          </a:p>
        </p:txBody>
      </p:sp>
    </p:spTree>
    <p:extLst>
      <p:ext uri="{BB962C8B-B14F-4D97-AF65-F5344CB8AC3E}">
        <p14:creationId xmlns:p14="http://schemas.microsoft.com/office/powerpoint/2010/main" val="2335385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first and most famous QKD protocol is BB84, proposed by Charles Bennett and Gilles Brassard in 1984. The name BB84 comes from the authors' initials and the year in which the protocol was introduced. Today, BB84 and related QKD protocols are beginning to see practical and commercial deployment.</a:t>
            </a:r>
          </a:p>
          <a:p>
            <a:endParaRPr lang="en-ZA" b="0" dirty="0"/>
          </a:p>
          <a:p>
            <a:pPr marL="228600" indent="-228600">
              <a:buFont typeface="+mj-lt"/>
              <a:buAutoNum type="arabicPeriod"/>
            </a:pPr>
            <a:r>
              <a:rPr lang="en-ZA" b="0" dirty="0"/>
              <a:t>In the first step, Alice sends a random sequence of bits encoded as polarized photons, randomly choosing between two bases. A bit 0 can be represented by the state ∣0⟩ or ∣+⟩, while a bit 1 can be represented by ∣1⟩ or ∣−⟩.</a:t>
            </a:r>
          </a:p>
          <a:p>
            <a:pPr marL="228600" indent="-228600">
              <a:buFont typeface="+mj-lt"/>
              <a:buAutoNum type="arabicPeriod"/>
            </a:pPr>
            <a:r>
              <a:rPr lang="en-ZA" b="0" dirty="0"/>
              <a:t>Upon receiving each photon, Bob randomly chooses either the standard basis or the diagonal basis and performs a measurement.</a:t>
            </a:r>
          </a:p>
          <a:p>
            <a:pPr marL="228600" indent="-228600">
              <a:buFont typeface="+mj-lt"/>
              <a:buAutoNum type="arabicPeriod"/>
            </a:pPr>
            <a:r>
              <a:rPr lang="en-ZA" b="0" dirty="0"/>
              <a:t>Since Bob does not know which basis Alice used, he chooses the wrong basis about 50% of the time. Measurements made using the wrong basis produce random results and are later discarded.</a:t>
            </a:r>
          </a:p>
          <a:p>
            <a:pPr marL="228600" indent="-228600">
              <a:buFont typeface="+mj-lt"/>
              <a:buAutoNum type="arabicPeriod"/>
            </a:pPr>
            <a:r>
              <a:rPr lang="en-ZA" b="0" dirty="0"/>
              <a:t>Alice and Bob then publicly exchange information about the bases they used, without revealing their bit values. They discard all results for which their bases do not match. Since their bases match approximately 50% of the time, about half of the original bits remain, forming the sifted key.</a:t>
            </a:r>
          </a:p>
          <a:p>
            <a:endParaRPr lang="en-ZA" b="0" dirty="0"/>
          </a:p>
          <a:p>
            <a:r>
              <a:rPr lang="en-ZA" b="0" dirty="0"/>
              <a:t>What happens if Eve intercepts the quantum communication?</a:t>
            </a:r>
          </a:p>
          <a:p>
            <a:endParaRPr lang="en-ZA" b="0" dirty="0"/>
          </a:p>
          <a:p>
            <a:pPr algn="just"/>
            <a:r>
              <a:rPr lang="en-ZA" b="0" dirty="0"/>
              <a:t>Eve cannot simply make a perfect copy of an unknown quantum state because of the no-cloning theorem. In a simple intercept–resend attack, she must measure the photon and then send a replacement to Bob. Because Eve does not know Alice's basis, she sometimes measures in the wrong basis, disturbing the transmitted state and introducing detectable errors.</a:t>
            </a:r>
          </a:p>
          <a:p>
            <a:pPr algn="just"/>
            <a:endParaRPr lang="en-ZA" b="0" dirty="0"/>
          </a:p>
          <a:p>
            <a:pPr algn="just"/>
            <a:r>
              <a:rPr lang="en-ZA" b="0" dirty="0"/>
              <a:t>Alice and Bob therefore publicly compare a small subset of their sifted bits to estimate the quantum bit error rate (QBER). In an ideal BB84 system without Eve, the QBER would be zero, although practical systems have some errors due to noise and imperfections. A full intercept–resend attack produces a QBER of approximately 25%. If the observed QBER is too high for secure key generation, Alice and Bob abort the protocol and discard the key.</a:t>
            </a:r>
          </a:p>
          <a:p>
            <a:pPr algn="just"/>
            <a:endParaRPr lang="en-ZA" b="0" dirty="0"/>
          </a:p>
          <a:p>
            <a:pPr algn="just"/>
            <a:r>
              <a:rPr lang="en-ZA" dirty="0"/>
              <a:t>For ideal BB84, a QBER of about 11% is often cited as the maximum level for secure key generation under standard assumptions. Higher error rates cause the protocol to abort.</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301213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just">
              <a:buFont typeface="+mj-lt"/>
              <a:buAutoNum type="arabicPeriod"/>
            </a:pPr>
            <a:r>
              <a:rPr lang="en-ZA" b="0" dirty="0"/>
              <a:t>Suppose Alice and Bob want to establish a secret key that will later be used for AES encryption.</a:t>
            </a:r>
          </a:p>
          <a:p>
            <a:pPr marL="228600" indent="-228600" algn="just">
              <a:buFont typeface="+mj-lt"/>
              <a:buAutoNum type="arabicPeriod"/>
            </a:pPr>
            <a:endParaRPr lang="en-ZA" b="0" dirty="0"/>
          </a:p>
          <a:p>
            <a:pPr marL="228600" indent="-228600" algn="just">
              <a:buFont typeface="+mj-lt"/>
              <a:buAutoNum type="arabicPeriod"/>
            </a:pPr>
            <a:r>
              <a:rPr lang="en-ZA" dirty="0"/>
              <a:t>Alice encodes randomly generated bits into photons by preparing their polarization states, randomly choosing the basis for each bit.</a:t>
            </a:r>
            <a:endParaRPr lang="en-ZA" b="0" dirty="0"/>
          </a:p>
          <a:p>
            <a:pPr marL="228600" indent="-228600" algn="just">
              <a:buFont typeface="+mj-lt"/>
              <a:buAutoNum type="arabicPeriod"/>
            </a:pPr>
            <a:endParaRPr lang="en-ZA" b="0" dirty="0"/>
          </a:p>
          <a:p>
            <a:pPr marL="228600" indent="-228600" algn="just">
              <a:buFont typeface="+mj-lt"/>
              <a:buAutoNum type="arabicPeriod"/>
            </a:pPr>
            <a:r>
              <a:rPr lang="en-ZA" dirty="0"/>
              <a:t>Upon receiving the photons, Bob measures them using his own polarization basis, which he also chooses randomly. The resulting measurement data form </a:t>
            </a:r>
            <a:r>
              <a:rPr lang="en-ZA" b="0" dirty="0"/>
              <a:t>Bob's raw key.</a:t>
            </a:r>
          </a:p>
          <a:p>
            <a:pPr marL="228600" indent="-228600" algn="just">
              <a:buFont typeface="+mj-lt"/>
              <a:buAutoNum type="arabicPeriod"/>
            </a:pPr>
            <a:endParaRPr lang="en-ZA" b="0" dirty="0"/>
          </a:p>
          <a:p>
            <a:pPr marL="228600" indent="-228600" algn="just">
              <a:buFont typeface="+mj-lt"/>
              <a:buAutoNum type="arabicPeriod"/>
            </a:pPr>
            <a:r>
              <a:rPr lang="en-ZA" b="0" dirty="0"/>
              <a:t>Alice and Bob then exchange information about the bases they used. This information is transmitted over an authenticated public classical channel, typically encoded in binary form, for example, 0 for the standard basis and 1 for the diagonal basis. They do not reveal the actual bit values.</a:t>
            </a:r>
          </a:p>
          <a:p>
            <a:pPr marL="228600" indent="-228600" algn="just">
              <a:buFont typeface="+mj-lt"/>
              <a:buAutoNum type="arabicPeriod"/>
            </a:pPr>
            <a:endParaRPr lang="en-ZA" b="0" dirty="0"/>
          </a:p>
          <a:p>
            <a:pPr marL="228600" indent="-228600" algn="just">
              <a:buFont typeface="+mj-lt"/>
              <a:buAutoNum type="arabicPeriod"/>
            </a:pPr>
            <a:r>
              <a:rPr lang="en-ZA" dirty="0"/>
              <a:t>Using </a:t>
            </a:r>
            <a:r>
              <a:rPr lang="en-ZA" b="0" dirty="0"/>
              <a:t>this information, they perform sifting: they keep only the bits for which their bases matched and discard the rest. The remaining bits form their sifted keys.</a:t>
            </a:r>
          </a:p>
          <a:p>
            <a:pPr marL="228600" indent="-228600" algn="just">
              <a:buFont typeface="+mj-lt"/>
              <a:buAutoNum type="arabicPeriod"/>
            </a:pPr>
            <a:endParaRPr lang="en-ZA" b="0" dirty="0"/>
          </a:p>
          <a:p>
            <a:pPr marL="228600" indent="-228600" algn="just">
              <a:buFont typeface="+mj-lt"/>
              <a:buAutoNum type="arabicPeriod"/>
            </a:pPr>
            <a:r>
              <a:rPr lang="en-ZA" b="0" dirty="0"/>
              <a:t>The next phase is post-processing, also called key distillation. Alice and Bob first estimate the error rate by publicly comparing a small portion of their sifted bits. If the error rate is too high, they abort the protocol and discard the key.</a:t>
            </a:r>
          </a:p>
          <a:p>
            <a:pPr marL="228600" indent="-228600" algn="just">
              <a:buFont typeface="+mj-lt"/>
              <a:buAutoNum type="arabicPeriod"/>
            </a:pPr>
            <a:endParaRPr lang="en-ZA" b="0" dirty="0"/>
          </a:p>
          <a:p>
            <a:pPr marL="228600" indent="-228600" algn="just">
              <a:buFont typeface="+mj-lt"/>
              <a:buAutoNum type="arabicPeriod"/>
            </a:pPr>
            <a:r>
              <a:rPr lang="en-ZA" b="0" dirty="0"/>
              <a:t>If the error rate is acceptable, they perform error correction to ensure that their remaining bits are identical. Finally, they apply privacy amplification, typically using a suitable hash function, to produce a shorter secret key. This reduces any partial information that Eve may have obtained to a negligible level.</a:t>
            </a:r>
          </a:p>
        </p:txBody>
      </p:sp>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2458076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The circuit shows an example of the 1-bit BB84 protocol.</a:t>
            </a:r>
          </a:p>
          <a:p>
            <a:endParaRPr lang="en-ZA" dirty="0"/>
          </a:p>
          <a:p>
            <a:pPr marL="171450" indent="-171450">
              <a:buFont typeface="Arial" panose="020B0604020202020204" pitchFamily="34" charset="0"/>
              <a:buChar char="•"/>
            </a:pPr>
            <a:r>
              <a:rPr lang="en-ZA" dirty="0"/>
              <a:t>Alice prepares q[0] in the state ∣0⟩.</a:t>
            </a:r>
          </a:p>
          <a:p>
            <a:pPr marL="171450" indent="-171450">
              <a:buFont typeface="Arial" panose="020B0604020202020204" pitchFamily="34" charset="0"/>
              <a:buChar char="•"/>
            </a:pPr>
            <a:r>
              <a:rPr lang="en-ZA" dirty="0"/>
              <a:t>Alice generates two random bits: </a:t>
            </a:r>
            <a:r>
              <a:rPr lang="en-ZA" dirty="0" err="1"/>
              <a:t>alice_bit</a:t>
            </a:r>
            <a:r>
              <a:rPr lang="en-ZA" dirty="0"/>
              <a:t> is the bit she wants to transmit as part of the key, while </a:t>
            </a:r>
            <a:r>
              <a:rPr lang="en-ZA" dirty="0" err="1"/>
              <a:t>alice_basis</a:t>
            </a:r>
            <a:r>
              <a:rPr lang="en-ZA" dirty="0"/>
              <a:t> determines the basis used for encoding.</a:t>
            </a:r>
          </a:p>
          <a:p>
            <a:pPr marL="171450" indent="-171450">
              <a:buFont typeface="Arial" panose="020B0604020202020204" pitchFamily="34" charset="0"/>
              <a:buChar char="•"/>
            </a:pPr>
            <a:r>
              <a:rPr lang="en-ZA" dirty="0"/>
              <a:t>If </a:t>
            </a:r>
            <a:r>
              <a:rPr lang="en-ZA" dirty="0" err="1"/>
              <a:t>alice_bit</a:t>
            </a:r>
            <a:r>
              <a:rPr lang="en-ZA" dirty="0"/>
              <a:t> is 1, Alice applies the X gate, changing q[0] to the state ∣1.</a:t>
            </a:r>
          </a:p>
          <a:p>
            <a:pPr marL="171450" indent="-171450">
              <a:buFont typeface="Arial" panose="020B0604020202020204" pitchFamily="34" charset="0"/>
              <a:buChar char="•"/>
            </a:pPr>
            <a:r>
              <a:rPr lang="en-ZA" dirty="0"/>
              <a:t>If </a:t>
            </a:r>
            <a:r>
              <a:rPr lang="en-ZA" dirty="0" err="1"/>
              <a:t>alice_basis</a:t>
            </a:r>
            <a:r>
              <a:rPr lang="en-ZA" dirty="0"/>
              <a:t> is 1, she applies the </a:t>
            </a:r>
            <a:r>
              <a:rPr lang="en-ZA" dirty="0" err="1"/>
              <a:t>Hgate</a:t>
            </a:r>
            <a:r>
              <a:rPr lang="en-ZA" dirty="0"/>
              <a:t>, encoding q[0] in the diagonal basis as ∣+⟩ or ∣−⟩.</a:t>
            </a:r>
          </a:p>
          <a:p>
            <a:endParaRPr lang="en-ZA" dirty="0"/>
          </a:p>
          <a:p>
            <a:r>
              <a:rPr lang="en-ZA" b="1" dirty="0"/>
              <a:t>On Bob’s side</a:t>
            </a:r>
            <a:r>
              <a:rPr lang="en-ZA" dirty="0"/>
              <a:t>, </a:t>
            </a:r>
          </a:p>
          <a:p>
            <a:endParaRPr lang="en-ZA" dirty="0"/>
          </a:p>
          <a:p>
            <a:pPr marL="171450" indent="-171450">
              <a:buFont typeface="Arial" panose="020B0604020202020204" pitchFamily="34" charset="0"/>
              <a:buChar char="•"/>
            </a:pPr>
            <a:r>
              <a:rPr lang="en-ZA" b="0" dirty="0"/>
              <a:t>Bob generates a random bit </a:t>
            </a:r>
            <a:r>
              <a:rPr lang="en-ZA" b="0" dirty="0" err="1"/>
              <a:t>bob_basis</a:t>
            </a:r>
            <a:r>
              <a:rPr lang="en-ZA" b="0" dirty="0"/>
              <a:t> to select his measurement basis.</a:t>
            </a:r>
          </a:p>
          <a:p>
            <a:pPr marL="171450" indent="-171450">
              <a:buFont typeface="Arial" panose="020B0604020202020204" pitchFamily="34" charset="0"/>
              <a:buChar char="•"/>
            </a:pPr>
            <a:r>
              <a:rPr lang="en-ZA" b="0" dirty="0"/>
              <a:t>If </a:t>
            </a:r>
            <a:r>
              <a:rPr lang="en-ZA" b="0" dirty="0" err="1"/>
              <a:t>bob_basis</a:t>
            </a:r>
            <a:r>
              <a:rPr lang="en-ZA" b="0" dirty="0"/>
              <a:t> is 1, Bob applies the H gate before measurement, effectively measuring in the diagonal basis.</a:t>
            </a:r>
          </a:p>
          <a:p>
            <a:pPr marL="171450" indent="-171450">
              <a:buFont typeface="Arial" panose="020B0604020202020204" pitchFamily="34" charset="0"/>
              <a:buChar char="•"/>
            </a:pPr>
            <a:r>
              <a:rPr lang="en-ZA" b="0" dirty="0"/>
              <a:t>Bob then measures the qubit.</a:t>
            </a:r>
          </a:p>
          <a:p>
            <a:pPr marL="171450" indent="-171450">
              <a:buFont typeface="Arial" panose="020B0604020202020204" pitchFamily="34" charset="0"/>
              <a:buChar char="•"/>
            </a:pPr>
            <a:endParaRPr lang="en-ZA" b="0" dirty="0"/>
          </a:p>
          <a:p>
            <a:pPr marL="0" indent="0">
              <a:buFont typeface="Arial" panose="020B0604020202020204" pitchFamily="34" charset="0"/>
              <a:buNone/>
            </a:pPr>
            <a:r>
              <a:rPr lang="en-ZA" b="0" dirty="0"/>
              <a:t>In the next step, Alice and Bob exchange their basis bits. If their bases match, they keep the transmitted bit; otherwise, they discard it.</a:t>
            </a:r>
          </a:p>
        </p:txBody>
      </p:sp>
      <p:sp>
        <p:nvSpPr>
          <p:cNvPr id="4" name="Slide Number Placeholder 3"/>
          <p:cNvSpPr>
            <a:spLocks noGrp="1"/>
          </p:cNvSpPr>
          <p:nvPr>
            <p:ph type="sldNum" sz="quarter" idx="5"/>
          </p:nvPr>
        </p:nvSpPr>
        <p:spPr/>
        <p:txBody>
          <a:bodyPr/>
          <a:lstStyle/>
          <a:p>
            <a:fld id="{965A8710-8889-7541-9BF7-E78AD03A798D}" type="slidenum">
              <a:rPr lang="en-US" smtClean="0"/>
              <a:t>12</a:t>
            </a:fld>
            <a:endParaRPr lang="en-US"/>
          </a:p>
        </p:txBody>
      </p:sp>
    </p:spTree>
    <p:extLst>
      <p:ext uri="{BB962C8B-B14F-4D97-AF65-F5344CB8AC3E}">
        <p14:creationId xmlns:p14="http://schemas.microsoft.com/office/powerpoint/2010/main" val="3431036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1992, Charles Bennett introduced a simpler version of BB84, known as the B92 protocol. Instead of using four possible quantum states, as in BB84, B92 uses only two non-orthogonal states. For example, Alice can encode bit 0 as ∣0⟩ and bit 1 as ∣+⟩, and then send the qubits to Bob.</a:t>
                </a:r>
              </a:p>
              <a:p>
                <a:pPr algn="just"/>
                <a:endParaRPr lang="en-ZA" b="0" dirty="0"/>
              </a:p>
              <a:p>
                <a:pPr algn="just"/>
                <a:r>
                  <a:rPr lang="en-ZA" b="0" dirty="0"/>
                  <a:t>Bob measures each qubit by randomly choosing either the standard basis {∣0⟩,∣1⟩} or the diagonal basis {∣+⟩,∣−⟩}.</a:t>
                </a:r>
              </a:p>
              <a:p>
                <a:pPr algn="just"/>
                <a:endParaRPr lang="en-ZA" sz="1200" b="0" dirty="0">
                  <a:solidFill>
                    <a:schemeClr val="tx1"/>
                  </a:solidFill>
                </a:endParaRPr>
              </a:p>
              <a:p>
                <a:pPr marL="228600" indent="-228600" algn="just">
                  <a:buFont typeface="+mj-lt"/>
                  <a:buAutoNum type="arabicPeriod"/>
                </a:pPr>
                <a:r>
                  <a:rPr lang="en-ZA" sz="1200" b="0" dirty="0">
                    <a:solidFill>
                      <a:schemeClr val="tx1"/>
                    </a:solidFill>
                  </a:rPr>
                  <a:t>Suppose Bob measures in the standard basis:</a:t>
                </a:r>
              </a:p>
              <a:p>
                <a:pPr marL="628650" lvl="1" indent="-171450" algn="just">
                  <a:buFont typeface="Arial" panose="020B0604020202020204" pitchFamily="34" charset="0"/>
                  <a:buChar char="•"/>
                </a:pPr>
                <a:r>
                  <a:rPr lang="en-ZA" sz="1200" b="0" dirty="0">
                    <a:solidFill>
                      <a:schemeClr val="tx1"/>
                    </a:solidFill>
                  </a:rPr>
                  <a:t>If Alice sends a bit 0 as |0⟩, </a:t>
                </a:r>
                <a:r>
                  <a:rPr lang="en-ZA" dirty="0"/>
                  <a:t>Bob always obtains </a:t>
                </a:r>
                <a:r>
                  <a:rPr lang="en-ZA" sz="1200" b="0" dirty="0">
                    <a:solidFill>
                      <a:schemeClr val="tx1"/>
                    </a:solidFill>
                  </a:rPr>
                  <a:t>|0⟩.</a:t>
                </a:r>
              </a:p>
              <a:p>
                <a:pPr marL="628650" lvl="1" indent="-171450" algn="just">
                  <a:buFont typeface="Arial" panose="020B0604020202020204" pitchFamily="34" charset="0"/>
                  <a:buChar char="•"/>
                </a:pPr>
                <a:r>
                  <a:rPr lang="en-ZA" sz="1200" b="0" dirty="0">
                    <a:solidFill>
                      <a:schemeClr val="tx1"/>
                    </a:solidFill>
                  </a:rPr>
                  <a:t>If Alice sends a bit 1 as |+⟩, </a:t>
                </a:r>
                <a:r>
                  <a:rPr lang="en-ZA" dirty="0"/>
                  <a:t>Bob obtains </a:t>
                </a:r>
                <a:r>
                  <a:rPr lang="en-ZA" sz="1200" b="0" dirty="0">
                    <a:solidFill>
                      <a:schemeClr val="tx1"/>
                    </a:solidFill>
                  </a:rPr>
                  <a:t>|0⟩ or |1⟩, </a:t>
                </a:r>
                <a:r>
                  <a:rPr lang="en-ZA" dirty="0"/>
                  <a:t>each with probability 1/2</a:t>
                </a:r>
                <a:r>
                  <a:rPr lang="en-ZA" sz="1200" b="0" dirty="0">
                    <a:solidFill>
                      <a:schemeClr val="tx1"/>
                    </a:solidFill>
                  </a:rPr>
                  <a:t> .</a:t>
                </a:r>
              </a:p>
              <a:p>
                <a:pPr lvl="1" algn="just"/>
                <a:r>
                  <a:rPr lang="en-ZA" dirty="0"/>
                  <a:t>Therefore, a result of ∣0⟩ is </a:t>
                </a:r>
                <a:r>
                  <a:rPr lang="en-ZA" b="0" dirty="0"/>
                  <a:t>inconclusive</a:t>
                </a:r>
                <a:r>
                  <a:rPr lang="en-ZA" dirty="0"/>
                  <a:t>, because either state could have produced it. However, a result of ∣1⟩ proves that Alice could not have sent ∣0⟩, so Bob concludes that Alice sent </a:t>
                </a:r>
                <a:r>
                  <a:rPr lang="en-ZA" b="0" dirty="0"/>
                  <a:t>bit 1</a:t>
                </a:r>
                <a:r>
                  <a:rPr lang="en-ZA" dirty="0"/>
                  <a:t>.</a:t>
                </a:r>
                <a:endParaRPr lang="en-ZA" sz="1200" dirty="0">
                  <a:solidFill>
                    <a:schemeClr val="tx1"/>
                  </a:solidFill>
                </a:endParaRPr>
              </a:p>
              <a:p>
                <a:pPr lvl="1" algn="just"/>
                <a:endParaRPr lang="en-ZA" sz="1200" b="0" dirty="0">
                  <a:solidFill>
                    <a:schemeClr val="tx1"/>
                  </a:solidFill>
                </a:endParaRPr>
              </a:p>
              <a:p>
                <a:pPr marL="228600" indent="-228600" algn="just">
                  <a:buFont typeface="+mj-lt"/>
                  <a:buAutoNum type="arabicPeriod"/>
                </a:pPr>
                <a:r>
                  <a:rPr lang="en-ZA" sz="1200" b="0" dirty="0">
                    <a:solidFill>
                      <a:schemeClr val="tx1"/>
                    </a:solidFill>
                  </a:rPr>
                  <a:t>Suppose Bob measures in the diagonal basis:</a:t>
                </a:r>
              </a:p>
              <a:p>
                <a:pPr marL="628650" lvl="1" indent="-171450" algn="just">
                  <a:buFont typeface="Arial" panose="020B0604020202020204" pitchFamily="34" charset="0"/>
                  <a:buChar char="•"/>
                </a:pPr>
                <a:r>
                  <a:rPr lang="en-ZA" sz="1200" b="0" dirty="0">
                    <a:solidFill>
                      <a:schemeClr val="tx1"/>
                    </a:solidFill>
                  </a:rPr>
                  <a:t>If Alice sends a bit 0 as |0⟩, </a:t>
                </a:r>
                <a:r>
                  <a:rPr lang="en-ZA" dirty="0"/>
                  <a:t>Bob obtains ∣+⟩ or ∣−⟩, each with probability 1/2.</a:t>
                </a:r>
                <a:endParaRPr lang="en-ZA" sz="1200" b="0" dirty="0">
                  <a:solidFill>
                    <a:schemeClr val="tx1"/>
                  </a:solidFill>
                </a:endParaRPr>
              </a:p>
              <a:p>
                <a:pPr marL="628650" lvl="1" indent="-171450" algn="just">
                  <a:buFont typeface="Arial" panose="020B0604020202020204" pitchFamily="34" charset="0"/>
                  <a:buChar char="•"/>
                </a:pPr>
                <a:r>
                  <a:rPr lang="en-ZA" sz="1200" b="0" dirty="0">
                    <a:solidFill>
                      <a:schemeClr val="tx1"/>
                    </a:solidFill>
                  </a:rPr>
                  <a:t>If Alice sends a bit 1 as |+⟩, </a:t>
                </a:r>
                <a:r>
                  <a:rPr lang="en-ZA" dirty="0"/>
                  <a:t>Bob always obtains ∣+⟩</a:t>
                </a:r>
                <a:r>
                  <a:rPr lang="en-ZA" sz="1200" b="0" dirty="0">
                    <a:solidFill>
                      <a:schemeClr val="tx1"/>
                    </a:solidFill>
                  </a:rPr>
                  <a:t>.</a:t>
                </a:r>
              </a:p>
              <a:p>
                <a:pPr lvl="1" algn="just"/>
                <a:r>
                  <a:rPr lang="en-ZA" b="0" dirty="0"/>
                  <a:t>Therefore, a result of ∣+⟩ is inconclusive. However, a result of ∣−⟩ proves that Alice could not have sent ∣+⟩, so Bob concludes that Alice sent bit 0.</a:t>
                </a:r>
                <a:endParaRPr lang="en-ZA" sz="1200" b="0" dirty="0">
                  <a:solidFill>
                    <a:schemeClr val="tx1"/>
                  </a:solidFill>
                </a:endParaRPr>
              </a:p>
              <a:p>
                <a:pPr lvl="1" algn="just"/>
                <a:endParaRPr lang="en-ZA" sz="1200" b="0" dirty="0">
                  <a:solidFill>
                    <a:schemeClr val="tx1"/>
                  </a:solidFill>
                </a:endParaRPr>
              </a:p>
              <a:p>
                <a:pPr marL="228600" lvl="0" indent="-228600" algn="just">
                  <a:buFont typeface="+mj-lt"/>
                  <a:buAutoNum type="arabicPeriod"/>
                </a:pPr>
                <a:r>
                  <a:rPr lang="en-ZA" sz="1200" b="0" dirty="0">
                    <a:solidFill>
                      <a:schemeClr val="tx1"/>
                    </a:solidFill>
                  </a:rPr>
                  <a:t>In summary, a</a:t>
                </a:r>
                <a:r>
                  <a:rPr lang="en-ZA" b="0" dirty="0"/>
                  <a:t>ll inconclusive outcomes are discarded</a:t>
                </a:r>
                <a:r>
                  <a:rPr lang="en-ZA" sz="1200" dirty="0">
                    <a:solidFill>
                      <a:schemeClr val="tx1"/>
                    </a:solidFill>
                  </a:rPr>
                  <a:t>.</a:t>
                </a:r>
              </a:p>
              <a:p>
                <a:pPr marL="628650" lvl="1" indent="-171450">
                  <a:buFont typeface="Arial" panose="020B0604020202020204" pitchFamily="34" charset="0"/>
                  <a:buChar char="•"/>
                </a:pPr>
                <a:r>
                  <a:rPr lang="en-ZA" b="0" dirty="0"/>
                  <a:t>Standard basis: ∣1⟩ means Alice sent bit 1</a:t>
                </a:r>
                <a:r>
                  <a:rPr lang="en-ZA" sz="1200" b="0" dirty="0">
                    <a:solidFill>
                      <a:schemeClr val="tx1"/>
                    </a:solidFill>
                  </a:rPr>
                  <a:t>.</a:t>
                </a:r>
              </a:p>
              <a:p>
                <a:pPr marL="628650" lvl="1" indent="-171450">
                  <a:buFont typeface="Arial" panose="020B0604020202020204" pitchFamily="34" charset="0"/>
                  <a:buChar char="•"/>
                </a:pPr>
                <a:r>
                  <a:rPr lang="en-ZA" b="0" dirty="0"/>
                  <a:t>Diagonal basis: ∣−⟩ means Alice sent bit 0.</a:t>
                </a:r>
                <a:endParaRPr lang="en-ZA" sz="1200" b="0" dirty="0">
                  <a:solidFill>
                    <a:schemeClr val="tx1"/>
                  </a:solidFill>
                </a:endParaRPr>
              </a:p>
              <a:p>
                <a:pPr lvl="1"/>
                <a:endParaRPr lang="en-ZA" sz="1200" dirty="0">
                  <a:solidFill>
                    <a:schemeClr val="tx1"/>
                  </a:solidFill>
                </a:endParaRPr>
              </a:p>
              <a:p>
                <a:pPr lvl="1"/>
                <a:r>
                  <a:rPr lang="en-ZA" sz="1200" dirty="0">
                    <a:solidFill>
                      <a:schemeClr val="tx1"/>
                    </a:solidFill>
                  </a:rPr>
                  <a:t>This rule can be expressed with a simple formula for the key bit: </a:t>
                </a:r>
              </a:p>
              <a:p>
                <a:pPr lvl="1"/>
                <a:endParaRPr lang="en-ZA" sz="1200" dirty="0">
                  <a:solidFill>
                    <a:schemeClr val="tx1"/>
                  </a:solidFill>
                </a:endParaRPr>
              </a:p>
              <a:p>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𝑏𝑖𝑡</m:t>
                      </m:r>
                      <m:r>
                        <a:rPr lang="en-US" sz="1200" b="0" i="1" smtClean="0">
                          <a:solidFill>
                            <a:schemeClr val="tx1"/>
                          </a:solidFill>
                          <a:latin typeface="Cambria Math" panose="02040503050406030204" pitchFamily="18" charset="0"/>
                        </a:rPr>
                        <m:t>=1−</m:t>
                      </m:r>
                      <m:r>
                        <a:rPr lang="en-US" sz="1200" b="0" i="1" smtClean="0">
                          <a:solidFill>
                            <a:schemeClr val="tx1"/>
                          </a:solidFill>
                          <a:latin typeface="Cambria Math" panose="02040503050406030204" pitchFamily="18" charset="0"/>
                        </a:rPr>
                        <m:t>𝑏</m:t>
                      </m:r>
                      <m:r>
                        <a:rPr lang="en-US" sz="1200" b="0" i="1" smtClean="0">
                          <a:solidFill>
                            <a:schemeClr val="tx1"/>
                          </a:solidFill>
                          <a:latin typeface="Cambria Math" panose="02040503050406030204" pitchFamily="18" charset="0"/>
                        </a:rPr>
                        <m:t>,  </m:t>
                      </m:r>
                      <m:r>
                        <m:rPr>
                          <m:sty m:val="p"/>
                        </m:rPr>
                        <a:rPr lang="en-US" sz="1200" b="0" i="0" smtClean="0">
                          <a:solidFill>
                            <a:schemeClr val="tx1"/>
                          </a:solidFill>
                          <a:latin typeface="Cambria Math" panose="02040503050406030204" pitchFamily="18" charset="0"/>
                        </a:rPr>
                        <m:t>where</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𝑏</m:t>
                      </m:r>
                      <m:r>
                        <a:rPr lang="en-US" sz="1200" b="0" i="1" smtClean="0">
                          <a:solidFill>
                            <a:schemeClr val="tx1"/>
                          </a:solidFill>
                          <a:latin typeface="Cambria Math" panose="02040503050406030204" pitchFamily="18" charset="0"/>
                        </a:rPr>
                        <m:t>=</m:t>
                      </m:r>
                      <m:d>
                        <m:dPr>
                          <m:begChr m:val="{"/>
                          <m:endChr m:val=""/>
                          <m:ctrlPr>
                            <a:rPr lang="en-US" sz="1200" b="0" i="1" smtClean="0">
                              <a:solidFill>
                                <a:schemeClr val="tx1"/>
                              </a:solidFill>
                              <a:latin typeface="Cambria Math" panose="02040503050406030204" pitchFamily="18" charset="0"/>
                            </a:rPr>
                          </m:ctrlPr>
                        </m:dPr>
                        <m:e>
                          <m:eqArr>
                            <m:eqArrPr>
                              <m:ctrlPr>
                                <a:rPr lang="en-US" sz="1200" b="0" i="1" smtClean="0">
                                  <a:solidFill>
                                    <a:schemeClr val="tx1"/>
                                  </a:solidFill>
                                  <a:latin typeface="Cambria Math" panose="02040503050406030204" pitchFamily="18" charset="0"/>
                                </a:rPr>
                              </m:ctrlPr>
                            </m:eqArrPr>
                            <m:e>
                              <m:r>
                                <a:rPr lang="en-US" sz="1200" b="0" i="1" smtClean="0">
                                  <a:solidFill>
                                    <a:schemeClr val="tx1"/>
                                  </a:solidFill>
                                  <a:latin typeface="Cambria Math" panose="02040503050406030204" pitchFamily="18" charset="0"/>
                                </a:rPr>
                                <m:t>0 </m:t>
                              </m:r>
                              <m:r>
                                <a:rPr lang="en-US" sz="1200" b="0" i="1" smtClean="0">
                                  <a:solidFill>
                                    <a:schemeClr val="tx1"/>
                                  </a:solidFill>
                                  <a:latin typeface="Cambria Math" panose="02040503050406030204" pitchFamily="18" charset="0"/>
                                </a:rPr>
                                <m:t>𝑓𝑜𝑟</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𝑠𝑡𝑎𝑛𝑑𝑎𝑟𝑑</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𝑏𝑎𝑠𝑖𝑠</m:t>
                              </m:r>
                            </m:e>
                            <m:e>
                              <m:r>
                                <a:rPr lang="en-US" sz="1200" b="0" i="1" smtClean="0">
                                  <a:solidFill>
                                    <a:schemeClr val="tx1"/>
                                  </a:solidFill>
                                  <a:latin typeface="Cambria Math" panose="02040503050406030204" pitchFamily="18" charset="0"/>
                                </a:rPr>
                                <m:t>1 </m:t>
                              </m:r>
                              <m:r>
                                <a:rPr lang="en-US" sz="1200" b="0" i="1" smtClean="0">
                                  <a:solidFill>
                                    <a:schemeClr val="tx1"/>
                                  </a:solidFill>
                                  <a:latin typeface="Cambria Math" panose="02040503050406030204" pitchFamily="18" charset="0"/>
                                </a:rPr>
                                <m:t>𝑓𝑜𝑟</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𝑑𝑖𝑎𝑔𝑜𝑛𝑎𝑙</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𝑏𝑎𝑠𝑖𝑠</m:t>
                              </m:r>
                            </m:e>
                          </m:eqArr>
                        </m:e>
                      </m:d>
                    </m:oMath>
                  </m:oMathPara>
                </a14:m>
                <a:endParaRPr lang="en-US" sz="1200" b="0" dirty="0">
                  <a:solidFill>
                    <a:schemeClr val="tx1"/>
                  </a:solidFill>
                </a:endParaRPr>
              </a:p>
              <a:p>
                <a:endParaRPr lang="en-US" sz="1200" dirty="0">
                  <a:solidFill>
                    <a:schemeClr val="tx1"/>
                  </a:solidFill>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1992 Bennett </a:t>
                </a:r>
                <a:r>
                  <a:rPr lang="en-US" sz="2000" dirty="0" err="1"/>
                  <a:t>objavljuje</a:t>
                </a:r>
                <a:r>
                  <a:rPr lang="en-US" sz="2000" dirty="0"/>
                  <a:t> </a:t>
                </a:r>
                <a:r>
                  <a:rPr lang="en-US" sz="2000" dirty="0" err="1"/>
                  <a:t>jednostavniju</a:t>
                </a:r>
                <a:r>
                  <a:rPr lang="en-US" sz="2000" dirty="0"/>
                  <a:t> </a:t>
                </a:r>
                <a:r>
                  <a:rPr lang="en-US" sz="2000" dirty="0" err="1"/>
                  <a:t>i</a:t>
                </a:r>
                <a:r>
                  <a:rPr lang="en-US" sz="2000" dirty="0"/>
                  <a:t> </a:t>
                </a:r>
                <a:r>
                  <a:rPr lang="en-US" sz="2000" dirty="0" err="1"/>
                  <a:t>efikasniju</a:t>
                </a:r>
                <a:r>
                  <a:rPr lang="en-US" sz="2000" dirty="0"/>
                  <a:t> </a:t>
                </a:r>
                <a:r>
                  <a:rPr lang="en-US" sz="2000" dirty="0" err="1"/>
                  <a:t>verzija</a:t>
                </a:r>
                <a:r>
                  <a:rPr lang="en-US" sz="2000" dirty="0"/>
                  <a:t> BB84 </a:t>
                </a:r>
                <a:r>
                  <a:rPr lang="en-US" sz="2000" dirty="0" err="1"/>
                  <a:t>protokola</a:t>
                </a:r>
                <a:r>
                  <a:rPr lang="en-US" sz="2000" dirty="0"/>
                  <a:t> pod </a:t>
                </a:r>
                <a:r>
                  <a:rPr lang="en-US" sz="2000" dirty="0" err="1"/>
                  <a:t>imenom</a:t>
                </a:r>
                <a:r>
                  <a:rPr lang="en-US" sz="2000" dirty="0"/>
                  <a:t> B92.</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Po </a:t>
                </a:r>
                <a:r>
                  <a:rPr lang="en-US" sz="2000" dirty="0" err="1"/>
                  <a:t>ovom</a:t>
                </a:r>
                <a:r>
                  <a:rPr lang="en-US" sz="2000" dirty="0"/>
                  <a:t> </a:t>
                </a:r>
                <a:r>
                  <a:rPr lang="en-US" sz="2000" dirty="0" err="1"/>
                  <a:t>protokolu</a:t>
                </a:r>
                <a:r>
                  <a:rPr lang="en-US" sz="2000" dirty="0"/>
                  <a:t>, Ana </a:t>
                </a:r>
                <a:r>
                  <a:rPr lang="en-US" sz="2000" dirty="0" err="1"/>
                  <a:t>kodira</a:t>
                </a:r>
                <a:r>
                  <a:rPr lang="en-US" sz="2000" dirty="0"/>
                  <a:t> </a:t>
                </a:r>
                <a:r>
                  <a:rPr lang="en-US" sz="2000" dirty="0" err="1"/>
                  <a:t>bitove</a:t>
                </a:r>
                <a:r>
                  <a:rPr lang="en-US" sz="2000" dirty="0"/>
                  <a:t> </a:t>
                </a:r>
                <a:r>
                  <a:rPr lang="en-US" sz="2000" dirty="0" err="1"/>
                  <a:t>nula</a:t>
                </a:r>
                <a:r>
                  <a:rPr lang="en-US" sz="2000" dirty="0"/>
                  <a:t> </a:t>
                </a:r>
                <a:r>
                  <a:rPr lang="en-US" sz="2000" dirty="0" err="1"/>
                  <a:t>kao</a:t>
                </a:r>
                <a:r>
                  <a:rPr lang="en-US" sz="2000" dirty="0"/>
                  <a:t> </a:t>
                </a:r>
                <a:r>
                  <a:rPr lang="en-US" sz="2000" i="0">
                    <a:solidFill>
                      <a:schemeClr val="tx1"/>
                    </a:solidFill>
                    <a:latin typeface="Cambria Math" panose="02040503050406030204" pitchFamily="18" charset="0"/>
                  </a:rPr>
                  <a:t>|0⟩</a:t>
                </a:r>
                <a:r>
                  <a:rPr lang="en-US" sz="2000" dirty="0"/>
                  <a:t> </a:t>
                </a:r>
                <a:r>
                  <a:rPr lang="en-US" sz="2000" dirty="0" err="1"/>
                  <a:t>i</a:t>
                </a:r>
                <a:r>
                  <a:rPr lang="en-US" sz="2000" dirty="0"/>
                  <a:t> </a:t>
                </a:r>
                <a:r>
                  <a:rPr lang="en-US" sz="2000" dirty="0" err="1"/>
                  <a:t>jedinice</a:t>
                </a:r>
                <a:r>
                  <a:rPr lang="en-US" sz="2000" dirty="0"/>
                  <a:t> </a:t>
                </a:r>
                <a:r>
                  <a:rPr lang="en-US" sz="2000" dirty="0" err="1"/>
                  <a:t>kao</a:t>
                </a:r>
                <a:r>
                  <a:rPr lang="en-US" sz="2000" dirty="0"/>
                  <a:t>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a:t>
                </a:r>
                <a:r>
                  <a:rPr lang="en-US" sz="2000" dirty="0"/>
                  <a:t> I </a:t>
                </a:r>
                <a:r>
                  <a:rPr lang="en-US" sz="2000" dirty="0" err="1"/>
                  <a:t>salje</a:t>
                </a:r>
                <a:r>
                  <a:rPr lang="en-US" sz="2000" dirty="0"/>
                  <a:t> </a:t>
                </a:r>
                <a:r>
                  <a:rPr lang="en-US" sz="2000" dirty="0" err="1"/>
                  <a:t>ih</a:t>
                </a:r>
                <a:r>
                  <a:rPr lang="en-US" sz="2000" dirty="0"/>
                  <a:t> </a:t>
                </a:r>
                <a:r>
                  <a:rPr lang="en-US" sz="2000" dirty="0" err="1"/>
                  <a:t>Bobanu</a:t>
                </a:r>
                <a:r>
                  <a:rPr lang="en-US" sz="2000" dirty="0"/>
                  <a:t>. </a:t>
                </a:r>
                <a:r>
                  <a:rPr lang="en-US" sz="2000" dirty="0" err="1"/>
                  <a:t>Boban</a:t>
                </a:r>
                <a:r>
                  <a:rPr lang="en-US" sz="2000" dirty="0"/>
                  <a:t> </a:t>
                </a:r>
                <a:r>
                  <a:rPr lang="en-US" sz="2000" dirty="0" err="1"/>
                  <a:t>meri</a:t>
                </a:r>
                <a:r>
                  <a:rPr lang="en-US" sz="2000" dirty="0"/>
                  <a:t> </a:t>
                </a:r>
                <a:r>
                  <a:rPr lang="en-US" sz="2000" dirty="0" err="1"/>
                  <a:t>svaki</a:t>
                </a:r>
                <a:r>
                  <a:rPr lang="en-US" sz="2000" dirty="0"/>
                  <a:t> </a:t>
                </a:r>
                <a:r>
                  <a:rPr lang="en-US" sz="2000" dirty="0" err="1"/>
                  <a:t>kubit</a:t>
                </a:r>
                <a:r>
                  <a:rPr lang="en-US" sz="2000" dirty="0"/>
                  <a:t> </a:t>
                </a:r>
                <a:r>
                  <a:rPr lang="en-US" sz="2000" dirty="0" err="1"/>
                  <a:t>po</a:t>
                </a:r>
                <a:r>
                  <a:rPr lang="en-US" sz="2000" dirty="0"/>
                  <a:t> </a:t>
                </a:r>
                <a:r>
                  <a:rPr lang="en-US" sz="2000" dirty="0" err="1"/>
                  <a:t>slucajnom</a:t>
                </a:r>
                <a:r>
                  <a:rPr lang="en-US" sz="2000" dirty="0"/>
                  <a:t> </a:t>
                </a:r>
                <a:r>
                  <a:rPr lang="en-US" sz="2000" dirty="0" err="1"/>
                  <a:t>izboru</a:t>
                </a:r>
                <a:r>
                  <a:rPr lang="en-US" sz="2000" dirty="0"/>
                  <a:t> </a:t>
                </a:r>
                <a:r>
                  <a:rPr lang="en-US" sz="2000" dirty="0" err="1"/>
                  <a:t>koristeci</a:t>
                </a:r>
                <a:r>
                  <a:rPr lang="en-US" sz="2000" dirty="0"/>
                  <a:t> </a:t>
                </a:r>
                <a:r>
                  <a:rPr lang="en-US" sz="2000" dirty="0" err="1"/>
                  <a:t>standardno</a:t>
                </a:r>
                <a:r>
                  <a:rPr lang="en-US" sz="2000" dirty="0"/>
                  <a:t> </a:t>
                </a:r>
                <a:r>
                  <a:rPr lang="en-US" sz="2000" dirty="0" err="1"/>
                  <a:t>merenje</a:t>
                </a:r>
                <a:r>
                  <a:rPr lang="en-US" sz="2000" dirty="0"/>
                  <a:t> u </a:t>
                </a:r>
                <a:r>
                  <a:rPr lang="en-US" sz="2000" dirty="0" err="1"/>
                  <a:t>sivoj</a:t>
                </a:r>
                <a:r>
                  <a:rPr lang="en-US" sz="2000" dirty="0"/>
                  <a:t> </a:t>
                </a:r>
                <a:r>
                  <a:rPr lang="en-US" sz="2000" dirty="0" err="1"/>
                  <a:t>boji</a:t>
                </a:r>
                <a:r>
                  <a:rPr lang="en-US" sz="2000" dirty="0"/>
                  <a:t> </a:t>
                </a:r>
                <a:r>
                  <a:rPr lang="en-US" sz="2000" dirty="0" err="1"/>
                  <a:t>ili</a:t>
                </a:r>
                <a:r>
                  <a:rPr lang="en-US" sz="2000" dirty="0"/>
                  <a:t> </a:t>
                </a:r>
                <a:r>
                  <a:rPr lang="en-US" sz="2000" dirty="0" err="1"/>
                  <a:t>merenje</a:t>
                </a:r>
                <a:r>
                  <a:rPr lang="en-US" sz="2000" dirty="0"/>
                  <a:t> u </a:t>
                </a:r>
                <a:r>
                  <a:rPr lang="en-US" sz="2000" dirty="0" err="1"/>
                  <a:t>superpoziciji</a:t>
                </a:r>
                <a:r>
                  <a:rPr lang="en-US" sz="2000" dirty="0"/>
                  <a:t> u </a:t>
                </a:r>
                <a:r>
                  <a:rPr lang="en-US" sz="2000" dirty="0" err="1"/>
                  <a:t>plavoj</a:t>
                </a:r>
                <a:r>
                  <a:rPr lang="en-US" sz="2000" dirty="0"/>
                  <a:t> </a:t>
                </a:r>
                <a:r>
                  <a:rPr lang="en-US" sz="2000" dirty="0" err="1"/>
                  <a:t>boji</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Ako</a:t>
                </a:r>
                <a:r>
                  <a:rPr lang="en-US" sz="2000" dirty="0"/>
                  <a:t> Ana </a:t>
                </a:r>
                <a:r>
                  <a:rPr lang="en-US" sz="2000" dirty="0" err="1"/>
                  <a:t>posalje</a:t>
                </a:r>
                <a:r>
                  <a:rPr lang="en-US" sz="2000" dirty="0"/>
                  <a:t> </a:t>
                </a:r>
                <a:r>
                  <a:rPr lang="en-US" sz="2000" dirty="0" err="1"/>
                  <a:t>kubit</a:t>
                </a:r>
                <a:r>
                  <a:rPr lang="en-US" sz="2000" dirty="0"/>
                  <a:t> 0 I </a:t>
                </a:r>
                <a:r>
                  <a:rPr lang="en-US" sz="2000" dirty="0" err="1"/>
                  <a:t>Boban</a:t>
                </a:r>
                <a:r>
                  <a:rPr lang="en-US" sz="2000" dirty="0"/>
                  <a:t> </a:t>
                </a:r>
                <a:r>
                  <a:rPr lang="en-US" sz="2000" dirty="0" err="1"/>
                  <a:t>ga</a:t>
                </a:r>
                <a:r>
                  <a:rPr lang="en-US" sz="2000" dirty="0"/>
                  <a:t> </a:t>
                </a:r>
                <a:r>
                  <a:rPr lang="en-US" sz="2000" dirty="0" err="1"/>
                  <a:t>standardno</a:t>
                </a:r>
                <a:r>
                  <a:rPr lang="en-US" sz="2000" dirty="0"/>
                  <a:t> </a:t>
                </a:r>
                <a:r>
                  <a:rPr lang="en-US" sz="2000" dirty="0" err="1"/>
                  <a:t>izmeri</a:t>
                </a:r>
                <a:r>
                  <a:rPr lang="en-US" sz="2000" dirty="0"/>
                  <a:t>, </a:t>
                </a:r>
                <a:r>
                  <a:rPr lang="en-US" sz="2000" dirty="0" err="1"/>
                  <a:t>dobice</a:t>
                </a:r>
                <a:r>
                  <a:rPr lang="en-US" sz="2000" dirty="0"/>
                  <a:t> bit 0 </a:t>
                </a:r>
                <a:r>
                  <a:rPr lang="en-US" sz="2000" dirty="0" err="1"/>
                  <a:t>kao</a:t>
                </a:r>
                <a:r>
                  <a:rPr lang="en-US" sz="2000" dirty="0"/>
                  <a:t> </a:t>
                </a:r>
                <a:r>
                  <a:rPr lang="en-US" sz="2000" dirty="0" err="1"/>
                  <a:t>rezultat</a:t>
                </a:r>
                <a:r>
                  <a:rPr lang="en-US" sz="2000" dirty="0"/>
                  <a:t>. </a:t>
                </a:r>
                <a:r>
                  <a:rPr lang="en-US" sz="2000" dirty="0" err="1"/>
                  <a:t>Medjutim</a:t>
                </a:r>
                <a:r>
                  <a:rPr lang="en-US" sz="2000" dirty="0"/>
                  <a:t> </a:t>
                </a:r>
                <a:r>
                  <a:rPr lang="en-US" sz="2000" dirty="0" err="1"/>
                  <a:t>ako</a:t>
                </a:r>
                <a:r>
                  <a:rPr lang="en-US" sz="2000" dirty="0"/>
                  <a:t> </a:t>
                </a:r>
                <a:r>
                  <a:rPr lang="en-US" sz="2000" dirty="0" err="1"/>
                  <a:t>posalje</a:t>
                </a:r>
                <a:r>
                  <a:rPr lang="en-US" sz="2000" dirty="0"/>
                  <a:t> </a:t>
                </a:r>
                <a:r>
                  <a:rPr lang="en-US" sz="2000" dirty="0" err="1"/>
                  <a:t>kubit</a:t>
                </a:r>
                <a:r>
                  <a:rPr lang="en-US" sz="2000" dirty="0"/>
                  <a:t> plus, </a:t>
                </a:r>
                <a:r>
                  <a:rPr lang="en-US" sz="2000" dirty="0" err="1"/>
                  <a:t>Boban</a:t>
                </a:r>
                <a:r>
                  <a:rPr lang="en-US" sz="2000" dirty="0"/>
                  <a:t> </a:t>
                </a:r>
                <a:r>
                  <a:rPr lang="en-US" sz="2000" dirty="0" err="1"/>
                  <a:t>ce</a:t>
                </a:r>
                <a:r>
                  <a:rPr lang="en-US" sz="2000" dirty="0"/>
                  <a:t> </a:t>
                </a:r>
                <a:r>
                  <a:rPr lang="en-US" sz="2000" dirty="0" err="1"/>
                  <a:t>izmeriti</a:t>
                </a:r>
                <a:r>
                  <a:rPr lang="en-US" sz="2000" dirty="0"/>
                  <a:t> </a:t>
                </a:r>
                <a:r>
                  <a:rPr lang="en-US" sz="2000" dirty="0" err="1"/>
                  <a:t>ili</a:t>
                </a:r>
                <a:r>
                  <a:rPr lang="en-US" sz="2000" dirty="0"/>
                  <a:t> 0 </a:t>
                </a:r>
                <a:r>
                  <a:rPr lang="en-US" sz="2000" dirty="0" err="1"/>
                  <a:t>ili</a:t>
                </a:r>
                <a:r>
                  <a:rPr lang="en-US" sz="2000" dirty="0"/>
                  <a:t> 1 </a:t>
                </a:r>
                <a:r>
                  <a:rPr lang="en-US" sz="2000" dirty="0" err="1"/>
                  <a:t>sa</a:t>
                </a:r>
                <a:r>
                  <a:rPr lang="en-US" sz="2000" dirty="0"/>
                  <a:t> </a:t>
                </a:r>
                <a:r>
                  <a:rPr lang="en-US" sz="2000" dirty="0" err="1"/>
                  <a:t>podjednakom</a:t>
                </a:r>
                <a:r>
                  <a:rPr lang="en-US" sz="2000" dirty="0"/>
                  <a:t> </a:t>
                </a:r>
                <a:r>
                  <a:rPr lang="en-US" sz="2000" dirty="0" err="1"/>
                  <a:t>verovatnocom</a:t>
                </a:r>
                <a:r>
                  <a:rPr lang="en-US" sz="2000" dirty="0"/>
                  <a:t>. </a:t>
                </a:r>
                <a:r>
                  <a:rPr lang="en-US" sz="2000" dirty="0" err="1"/>
                  <a:t>Iz</a:t>
                </a:r>
                <a:r>
                  <a:rPr lang="en-US" sz="2000" dirty="0"/>
                  <a:t> ova </a:t>
                </a:r>
                <a:r>
                  <a:rPr lang="en-US" sz="2000" dirty="0" err="1"/>
                  <a:t>dva</a:t>
                </a:r>
                <a:r>
                  <a:rPr lang="en-US" sz="2000" dirty="0"/>
                  <a:t> </a:t>
                </a:r>
                <a:r>
                  <a:rPr lang="en-US" sz="2000" dirty="0" err="1"/>
                  <a:t>uslova</a:t>
                </a:r>
                <a:r>
                  <a:rPr lang="en-US" sz="2000" dirty="0"/>
                  <a:t> </a:t>
                </a:r>
                <a:r>
                  <a:rPr lang="en-US" sz="2000" dirty="0" err="1"/>
                  <a:t>mozemo</a:t>
                </a:r>
                <a:r>
                  <a:rPr lang="en-US" sz="2000" dirty="0"/>
                  <a:t> </a:t>
                </a:r>
                <a:r>
                  <a:rPr lang="en-US" sz="2000" dirty="0" err="1"/>
                  <a:t>zakljuciti</a:t>
                </a:r>
                <a:r>
                  <a:rPr lang="en-US" sz="2000" dirty="0"/>
                  <a:t> </a:t>
                </a:r>
                <a:r>
                  <a:rPr lang="en-US" sz="2000" dirty="0" err="1"/>
                  <a:t>ako</a:t>
                </a:r>
                <a:r>
                  <a:rPr lang="en-US" sz="2000" dirty="0"/>
                  <a:t> </a:t>
                </a:r>
                <a:r>
                  <a:rPr lang="en-US" sz="2000" dirty="0" err="1"/>
                  <a:t>Boban</a:t>
                </a:r>
                <a:r>
                  <a:rPr lang="en-US" sz="2000" dirty="0"/>
                  <a:t> </a:t>
                </a:r>
                <a:r>
                  <a:rPr lang="en-US" sz="2000" dirty="0" err="1"/>
                  <a:t>izmeri</a:t>
                </a:r>
                <a:r>
                  <a:rPr lang="en-US" sz="2000" dirty="0"/>
                  <a:t> </a:t>
                </a:r>
                <a:r>
                  <a:rPr lang="en-US" sz="2000" dirty="0" err="1"/>
                  <a:t>nulu</a:t>
                </a:r>
                <a:r>
                  <a:rPr lang="en-US" sz="2000" dirty="0"/>
                  <a:t> ne </a:t>
                </a:r>
                <a:r>
                  <a:rPr lang="en-US" sz="2000" dirty="0" err="1"/>
                  <a:t>moze</a:t>
                </a:r>
                <a:r>
                  <a:rPr lang="en-US" sz="2000" dirty="0"/>
                  <a:t> </a:t>
                </a:r>
                <a:r>
                  <a:rPr lang="en-US" sz="2000" dirty="0" err="1"/>
                  <a:t>biti</a:t>
                </a:r>
                <a:r>
                  <a:rPr lang="en-US" sz="2000" dirty="0"/>
                  <a:t> </a:t>
                </a:r>
                <a:r>
                  <a:rPr lang="en-US" sz="2000" dirty="0" err="1"/>
                  <a:t>siguran</a:t>
                </a:r>
                <a:r>
                  <a:rPr lang="en-US" sz="2000" dirty="0"/>
                  <a:t> </a:t>
                </a:r>
                <a:r>
                  <a:rPr lang="en-US" sz="2000" dirty="0" err="1"/>
                  <a:t>koji</a:t>
                </a:r>
                <a:r>
                  <a:rPr lang="en-US" sz="2000" dirty="0"/>
                  <a:t> </a:t>
                </a:r>
                <a:r>
                  <a:rPr lang="en-US" sz="2000" dirty="0" err="1"/>
                  <a:t>je</a:t>
                </a:r>
                <a:r>
                  <a:rPr lang="en-US" sz="2000" dirty="0"/>
                  <a:t> bit Ana </a:t>
                </a:r>
                <a:r>
                  <a:rPr lang="en-US" sz="2000" dirty="0" err="1"/>
                  <a:t>poslala</a:t>
                </a:r>
                <a:r>
                  <a:rPr lang="en-US" sz="2000" dirty="0"/>
                  <a:t>. </a:t>
                </a:r>
                <a:r>
                  <a:rPr lang="en-US" sz="2000" dirty="0" err="1"/>
                  <a:t>Medjutim</a:t>
                </a:r>
                <a:r>
                  <a:rPr lang="en-US" sz="2000" dirty="0"/>
                  <a:t>, </a:t>
                </a:r>
                <a:r>
                  <a:rPr lang="en-US" sz="2000" dirty="0" err="1"/>
                  <a:t>ako</a:t>
                </a:r>
                <a:r>
                  <a:rPr lang="en-US" sz="2000" dirty="0"/>
                  <a:t> </a:t>
                </a:r>
                <a:r>
                  <a:rPr lang="en-US" sz="2000" dirty="0" err="1"/>
                  <a:t>izmeri</a:t>
                </a:r>
                <a:r>
                  <a:rPr lang="en-US" sz="2000" dirty="0"/>
                  <a:t> bit 1 Ana </a:t>
                </a:r>
                <a:r>
                  <a:rPr lang="en-US" sz="2000" dirty="0" err="1"/>
                  <a:t>je</a:t>
                </a:r>
                <a:r>
                  <a:rPr lang="en-US" sz="2000" dirty="0"/>
                  <a:t> </a:t>
                </a:r>
                <a:r>
                  <a:rPr lang="en-US" sz="2000" dirty="0" err="1"/>
                  <a:t>definitivno</a:t>
                </a:r>
                <a:r>
                  <a:rPr lang="en-US" sz="2000" dirty="0"/>
                  <a:t> </a:t>
                </a:r>
                <a:r>
                  <a:rPr lang="en-US" sz="2000" dirty="0" err="1"/>
                  <a:t>poslala</a:t>
                </a:r>
                <a:r>
                  <a:rPr lang="en-US" sz="2000" dirty="0"/>
                  <a:t>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a:t>
                </a:r>
                <a:r>
                  <a:rPr lang="en-US" sz="2000" dirty="0"/>
                  <a:t>, </a:t>
                </a:r>
                <a:r>
                  <a:rPr lang="en-US" sz="2000" dirty="0" err="1"/>
                  <a:t>odnosno</a:t>
                </a:r>
                <a:r>
                  <a:rPr lang="en-US" sz="2000" dirty="0"/>
                  <a:t> </a:t>
                </a:r>
                <a:r>
                  <a:rPr lang="en-US" sz="2000" dirty="0" err="1"/>
                  <a:t>kodiran</a:t>
                </a:r>
                <a:r>
                  <a:rPr lang="en-US" sz="2000" dirty="0"/>
                  <a:t> bit 1.</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Ako</a:t>
                </a:r>
                <a:r>
                  <a:rPr lang="en-US" sz="2000" dirty="0"/>
                  <a:t> </a:t>
                </a:r>
                <a:r>
                  <a:rPr lang="en-US" sz="2000" dirty="0" err="1"/>
                  <a:t>Boban</a:t>
                </a:r>
                <a:r>
                  <a:rPr lang="en-US" sz="2000" dirty="0"/>
                  <a:t> </a:t>
                </a:r>
                <a:r>
                  <a:rPr lang="en-US" sz="2000" dirty="0" err="1"/>
                  <a:t>odluci</a:t>
                </a:r>
                <a:r>
                  <a:rPr lang="en-US" sz="2000" dirty="0"/>
                  <a:t> da </a:t>
                </a:r>
                <a:r>
                  <a:rPr lang="en-US" sz="2000" dirty="0" err="1"/>
                  <a:t>primeni</a:t>
                </a:r>
                <a:r>
                  <a:rPr lang="en-US" sz="2000" dirty="0"/>
                  <a:t> </a:t>
                </a:r>
                <a:r>
                  <a:rPr lang="en-US" sz="2000" dirty="0" err="1"/>
                  <a:t>merenje</a:t>
                </a:r>
                <a:r>
                  <a:rPr lang="en-US" sz="2000" dirty="0"/>
                  <a:t> </a:t>
                </a:r>
                <a:r>
                  <a:rPr lang="en-US" sz="2000" dirty="0" err="1"/>
                  <a:t>po</a:t>
                </a:r>
                <a:r>
                  <a:rPr lang="en-US" sz="2000" dirty="0"/>
                  <a:t> </a:t>
                </a:r>
                <a:r>
                  <a:rPr lang="en-US" sz="2000" dirty="0" err="1"/>
                  <a:t>dijagonali</a:t>
                </a:r>
                <a:r>
                  <a:rPr lang="en-US" sz="2000" dirty="0"/>
                  <a:t>, a Ana </a:t>
                </a:r>
                <a:r>
                  <a:rPr lang="en-US" sz="2000" dirty="0" err="1"/>
                  <a:t>posalje</a:t>
                </a:r>
                <a:r>
                  <a:rPr lang="en-US" sz="2000" dirty="0"/>
                  <a:t> </a:t>
                </a:r>
                <a:r>
                  <a:rPr lang="en-US" sz="2000" dirty="0" err="1"/>
                  <a:t>kubit</a:t>
                </a:r>
                <a:r>
                  <a:rPr lang="en-US" sz="2000" dirty="0"/>
                  <a:t>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a:t>
                </a:r>
                <a:r>
                  <a:rPr lang="en-US" sz="2000" dirty="0"/>
                  <a:t>, </a:t>
                </a:r>
                <a:r>
                  <a:rPr lang="en-US" sz="2000" dirty="0" err="1"/>
                  <a:t>Boban</a:t>
                </a:r>
                <a:r>
                  <a:rPr lang="en-US" sz="2000" dirty="0"/>
                  <a:t> </a:t>
                </a:r>
                <a:r>
                  <a:rPr lang="en-US" sz="2000" dirty="0" err="1"/>
                  <a:t>ce</a:t>
                </a:r>
                <a:r>
                  <a:rPr lang="en-US" sz="2000" dirty="0"/>
                  <a:t> </a:t>
                </a:r>
                <a:r>
                  <a:rPr lang="en-US" sz="2000" dirty="0" err="1"/>
                  <a:t>izmeriti</a:t>
                </a:r>
                <a:r>
                  <a:rPr lang="en-US" sz="2000" dirty="0"/>
                  <a:t> bit 0. </a:t>
                </a:r>
                <a:r>
                  <a:rPr lang="en-US" sz="2000" dirty="0" err="1"/>
                  <a:t>Ako</a:t>
                </a:r>
                <a:r>
                  <a:rPr lang="en-US" sz="2000" dirty="0"/>
                  <a:t> Ana </a:t>
                </a:r>
                <a:r>
                  <a:rPr lang="en-US" sz="2000" dirty="0" err="1"/>
                  <a:t>posalje</a:t>
                </a:r>
                <a:r>
                  <a:rPr lang="en-US" sz="2000" dirty="0"/>
                  <a:t> </a:t>
                </a:r>
                <a:r>
                  <a:rPr lang="en-US" sz="2000" dirty="0" err="1"/>
                  <a:t>kubit</a:t>
                </a:r>
                <a:r>
                  <a:rPr lang="en-US" sz="2000" dirty="0"/>
                  <a:t> </a:t>
                </a:r>
                <a:r>
                  <a:rPr lang="en-US" sz="2000" i="0">
                    <a:solidFill>
                      <a:schemeClr val="tx1"/>
                    </a:solidFill>
                    <a:latin typeface="Cambria Math" panose="02040503050406030204" pitchFamily="18" charset="0"/>
                  </a:rPr>
                  <a:t>|</a:t>
                </a:r>
                <a:r>
                  <a:rPr lang="en-US" sz="2000" b="0" i="0">
                    <a:solidFill>
                      <a:schemeClr val="tx1"/>
                    </a:solidFill>
                    <a:latin typeface="Cambria Math" panose="02040503050406030204" pitchFamily="18" charset="0"/>
                  </a:rPr>
                  <a:t>0⟩</a:t>
                </a:r>
                <a:r>
                  <a:rPr lang="en-US" sz="2000" dirty="0"/>
                  <a:t>, </a:t>
                </a:r>
                <a:r>
                  <a:rPr lang="en-US" sz="2000" dirty="0" err="1"/>
                  <a:t>Boban</a:t>
                </a:r>
                <a:r>
                  <a:rPr lang="en-US" sz="2000" dirty="0"/>
                  <a:t> </a:t>
                </a:r>
                <a:r>
                  <a:rPr lang="en-US" sz="2000" dirty="0" err="1"/>
                  <a:t>ce</a:t>
                </a:r>
                <a:r>
                  <a:rPr lang="en-US" sz="2000" dirty="0"/>
                  <a:t> </a:t>
                </a:r>
                <a:r>
                  <a:rPr lang="en-US" sz="2000" dirty="0" err="1"/>
                  <a:t>izmeriti</a:t>
                </a:r>
                <a:r>
                  <a:rPr lang="en-US" sz="2000" dirty="0"/>
                  <a:t> </a:t>
                </a:r>
                <a:r>
                  <a:rPr lang="en-US" sz="2000" dirty="0" err="1"/>
                  <a:t>ili</a:t>
                </a:r>
                <a:r>
                  <a:rPr lang="en-US" sz="2000" dirty="0"/>
                  <a:t> 0 </a:t>
                </a:r>
                <a:r>
                  <a:rPr lang="en-US" sz="2000" dirty="0" err="1"/>
                  <a:t>ili</a:t>
                </a:r>
                <a:r>
                  <a:rPr lang="en-US" sz="2000" dirty="0"/>
                  <a:t> 1 </a:t>
                </a:r>
                <a:r>
                  <a:rPr lang="en-US" sz="2000" dirty="0" err="1"/>
                  <a:t>sa</a:t>
                </a:r>
                <a:r>
                  <a:rPr lang="en-US" sz="2000" dirty="0"/>
                  <a:t> </a:t>
                </a:r>
                <a:r>
                  <a:rPr lang="en-US" sz="2000" dirty="0" err="1"/>
                  <a:t>podjednakom</a:t>
                </a:r>
                <a:r>
                  <a:rPr lang="en-US" sz="2000" dirty="0"/>
                  <a:t> </a:t>
                </a:r>
                <a:r>
                  <a:rPr lang="en-US" sz="2000" dirty="0" err="1"/>
                  <a:t>verovatnocom</a:t>
                </a:r>
                <a:r>
                  <a:rPr lang="en-US" sz="2000" dirty="0"/>
                  <a:t>. </a:t>
                </a:r>
                <a:r>
                  <a:rPr lang="en-US" sz="2000" dirty="0" err="1"/>
                  <a:t>Slicno</a:t>
                </a:r>
                <a:r>
                  <a:rPr lang="en-US" sz="2000" dirty="0"/>
                  <a:t> </a:t>
                </a:r>
                <a:r>
                  <a:rPr lang="en-US" sz="2000" dirty="0" err="1"/>
                  <a:t>kao</a:t>
                </a:r>
                <a:r>
                  <a:rPr lang="en-US" sz="2000" dirty="0"/>
                  <a:t> u </a:t>
                </a:r>
                <a:r>
                  <a:rPr lang="en-US" sz="2000" dirty="0" err="1"/>
                  <a:t>prethodnom</a:t>
                </a:r>
                <a:r>
                  <a:rPr lang="en-US" sz="2000" dirty="0"/>
                  <a:t> </a:t>
                </a:r>
                <a:r>
                  <a:rPr lang="en-US" sz="2000" dirty="0" err="1"/>
                  <a:t>slucaju</a:t>
                </a:r>
                <a:r>
                  <a:rPr lang="en-US" sz="2000" dirty="0"/>
                  <a:t>, </a:t>
                </a:r>
                <a:r>
                  <a:rPr lang="en-US" sz="2000" dirty="0" err="1"/>
                  <a:t>ako</a:t>
                </a:r>
                <a:r>
                  <a:rPr lang="en-US" sz="2000" dirty="0"/>
                  <a:t> </a:t>
                </a:r>
                <a:r>
                  <a:rPr lang="en-US" sz="2000" dirty="0" err="1"/>
                  <a:t>Boban</a:t>
                </a:r>
                <a:r>
                  <a:rPr lang="en-US" sz="2000" dirty="0"/>
                  <a:t> </a:t>
                </a:r>
                <a:r>
                  <a:rPr lang="en-US" sz="2000" dirty="0" err="1"/>
                  <a:t>izmeri</a:t>
                </a:r>
                <a:r>
                  <a:rPr lang="en-US" sz="2000" dirty="0"/>
                  <a:t> 0 ne </a:t>
                </a:r>
                <a:r>
                  <a:rPr lang="en-US" sz="2000" dirty="0" err="1"/>
                  <a:t>moze</a:t>
                </a:r>
                <a:r>
                  <a:rPr lang="en-US" sz="2000" dirty="0"/>
                  <a:t> </a:t>
                </a:r>
                <a:r>
                  <a:rPr lang="en-US" sz="2000" dirty="0" err="1"/>
                  <a:t>biti</a:t>
                </a:r>
                <a:r>
                  <a:rPr lang="en-US" sz="2000" dirty="0"/>
                  <a:t> </a:t>
                </a:r>
                <a:r>
                  <a:rPr lang="en-US" sz="2000" dirty="0" err="1"/>
                  <a:t>siguran</a:t>
                </a:r>
                <a:r>
                  <a:rPr lang="en-US" sz="2000" dirty="0"/>
                  <a:t> </a:t>
                </a:r>
                <a:r>
                  <a:rPr lang="en-US" sz="2000" dirty="0" err="1"/>
                  <a:t>sta</a:t>
                </a:r>
                <a:r>
                  <a:rPr lang="en-US" sz="2000" dirty="0"/>
                  <a:t> </a:t>
                </a:r>
                <a:r>
                  <a:rPr lang="en-US" sz="2000" dirty="0" err="1"/>
                  <a:t>je</a:t>
                </a:r>
                <a:r>
                  <a:rPr lang="en-US" sz="2000" dirty="0"/>
                  <a:t> Ana </a:t>
                </a:r>
                <a:r>
                  <a:rPr lang="en-US" sz="2000" dirty="0" err="1"/>
                  <a:t>poslala</a:t>
                </a:r>
                <a:r>
                  <a:rPr lang="en-US" sz="2000" dirty="0"/>
                  <a:t>, </a:t>
                </a:r>
                <a:r>
                  <a:rPr lang="en-US" sz="2000" dirty="0" err="1"/>
                  <a:t>ali</a:t>
                </a:r>
                <a:r>
                  <a:rPr lang="en-US" sz="2000" dirty="0"/>
                  <a:t> </a:t>
                </a:r>
                <a:r>
                  <a:rPr lang="en-US" sz="2000" dirty="0" err="1"/>
                  <a:t>ako</a:t>
                </a:r>
                <a:r>
                  <a:rPr lang="en-US" sz="2000" dirty="0"/>
                  <a:t> </a:t>
                </a:r>
                <a:r>
                  <a:rPr lang="en-US" sz="2000" dirty="0" err="1"/>
                  <a:t>izmeri</a:t>
                </a:r>
                <a:r>
                  <a:rPr lang="en-US" sz="2000" dirty="0"/>
                  <a:t> 1 Ana </a:t>
                </a:r>
                <a:r>
                  <a:rPr lang="en-US" sz="2000" dirty="0" err="1"/>
                  <a:t>je</a:t>
                </a:r>
                <a:r>
                  <a:rPr lang="en-US" sz="2000" dirty="0"/>
                  <a:t> </a:t>
                </a:r>
                <a:r>
                  <a:rPr lang="en-US" sz="2000" dirty="0" err="1"/>
                  <a:t>definitivno</a:t>
                </a:r>
                <a:r>
                  <a:rPr lang="en-US" sz="2000" dirty="0"/>
                  <a:t> </a:t>
                </a:r>
                <a:r>
                  <a:rPr lang="en-US" sz="2000" dirty="0" err="1"/>
                  <a:t>poslala</a:t>
                </a:r>
                <a:r>
                  <a:rPr lang="en-US" sz="2000" dirty="0"/>
                  <a:t> bit 0.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Boban</a:t>
                </a:r>
                <a:r>
                  <a:rPr lang="en-US" sz="2000" dirty="0"/>
                  <a:t> </a:t>
                </a:r>
                <a:r>
                  <a:rPr lang="en-US" sz="2000" dirty="0" err="1"/>
                  <a:t>zakljucuje</a:t>
                </a:r>
                <a:r>
                  <a:rPr lang="en-US" sz="2000" dirty="0"/>
                  <a:t> da </a:t>
                </a:r>
                <a:r>
                  <a:rPr lang="en-US" sz="2000" dirty="0" err="1"/>
                  <a:t>su</a:t>
                </a:r>
                <a:r>
                  <a:rPr lang="en-US" sz="2000" dirty="0"/>
                  <a:t> </a:t>
                </a:r>
                <a:r>
                  <a:rPr lang="en-US" sz="2000" dirty="0" err="1"/>
                  <a:t>sva</a:t>
                </a:r>
                <a:r>
                  <a:rPr lang="en-US" sz="2000" dirty="0"/>
                  <a:t> </a:t>
                </a:r>
                <a:r>
                  <a:rPr lang="en-US" sz="2000" dirty="0" err="1"/>
                  <a:t>merenja</a:t>
                </a:r>
                <a:r>
                  <a:rPr lang="en-US" sz="2000" dirty="0"/>
                  <a:t> </a:t>
                </a:r>
                <a:r>
                  <a:rPr lang="en-US" sz="2000" dirty="0" err="1"/>
                  <a:t>koja</a:t>
                </a:r>
                <a:r>
                  <a:rPr lang="en-US" sz="2000" dirty="0"/>
                  <a:t> </a:t>
                </a:r>
                <a:r>
                  <a:rPr lang="en-US" sz="2000" dirty="0" err="1"/>
                  <a:t>daju</a:t>
                </a:r>
                <a:r>
                  <a:rPr lang="en-US" sz="2000" dirty="0"/>
                  <a:t> </a:t>
                </a:r>
                <a:r>
                  <a:rPr lang="en-US" sz="2000" dirty="0" err="1"/>
                  <a:t>nulu</a:t>
                </a:r>
                <a:r>
                  <a:rPr lang="en-US" sz="2000" dirty="0"/>
                  <a:t> </a:t>
                </a:r>
                <a:r>
                  <a:rPr lang="en-US" sz="2000" dirty="0" err="1"/>
                  <a:t>dvoznacna</a:t>
                </a:r>
                <a:r>
                  <a:rPr lang="en-US" sz="2000" dirty="0"/>
                  <a:t> I da </a:t>
                </a:r>
                <a:r>
                  <a:rPr lang="en-US" sz="2000" dirty="0" err="1"/>
                  <a:t>ih</a:t>
                </a:r>
                <a:r>
                  <a:rPr lang="en-US" sz="2000" dirty="0"/>
                  <a:t> </a:t>
                </a:r>
                <a:r>
                  <a:rPr lang="en-US" sz="2000" dirty="0" err="1"/>
                  <a:t>treba</a:t>
                </a:r>
                <a:r>
                  <a:rPr lang="en-US" sz="2000" dirty="0"/>
                  <a:t> </a:t>
                </a:r>
                <a:r>
                  <a:rPr lang="en-US" sz="2000" dirty="0" err="1"/>
                  <a:t>ignorisati</a:t>
                </a:r>
                <a:r>
                  <a:rPr lang="en-US" sz="2000" dirty="0"/>
                  <a:t>. Sa </a:t>
                </a:r>
                <a:r>
                  <a:rPr lang="en-US" sz="2000" dirty="0" err="1"/>
                  <a:t>druge</a:t>
                </a:r>
                <a:r>
                  <a:rPr lang="en-US" sz="2000" dirty="0"/>
                  <a:t> </a:t>
                </a:r>
                <a:r>
                  <a:rPr lang="en-US" sz="2000" dirty="0" err="1"/>
                  <a:t>strane</a:t>
                </a:r>
                <a:r>
                  <a:rPr lang="en-US" sz="2000" dirty="0"/>
                  <a:t> </a:t>
                </a:r>
                <a:r>
                  <a:rPr lang="en-US" sz="2000" dirty="0" err="1"/>
                  <a:t>merenja</a:t>
                </a:r>
                <a:r>
                  <a:rPr lang="en-US" sz="2000" dirty="0"/>
                  <a:t> </a:t>
                </a:r>
                <a:r>
                  <a:rPr lang="en-US" sz="2000" dirty="0" err="1"/>
                  <a:t>koja</a:t>
                </a:r>
                <a:r>
                  <a:rPr lang="en-US" sz="2000" dirty="0"/>
                  <a:t> </a:t>
                </a:r>
                <a:r>
                  <a:rPr lang="en-US" sz="2000" dirty="0" err="1"/>
                  <a:t>daju</a:t>
                </a:r>
                <a:r>
                  <a:rPr lang="en-US" sz="2000" dirty="0"/>
                  <a:t> 1 </a:t>
                </a:r>
                <a:r>
                  <a:rPr lang="en-US" sz="2000" dirty="0" err="1"/>
                  <a:t>su</a:t>
                </a:r>
                <a:r>
                  <a:rPr lang="en-US" sz="2000" dirty="0"/>
                  <a:t> </a:t>
                </a:r>
                <a:r>
                  <a:rPr lang="en-US" sz="2000" dirty="0" err="1"/>
                  <a:t>tacna</a:t>
                </a:r>
                <a:r>
                  <a:rPr lang="en-US" sz="2000" dirty="0"/>
                  <a:t>, </a:t>
                </a:r>
                <a:r>
                  <a:rPr lang="en-US" sz="2000" dirty="0" err="1"/>
                  <a:t>s’tim</a:t>
                </a:r>
                <a:r>
                  <a:rPr lang="en-US" sz="2000" dirty="0"/>
                  <a:t> da </a:t>
                </a:r>
                <a:r>
                  <a:rPr lang="en-US" sz="2000" dirty="0" err="1"/>
                  <a:t>standardno</a:t>
                </a:r>
                <a:r>
                  <a:rPr lang="en-US" sz="2000" dirty="0"/>
                  <a:t> </a:t>
                </a:r>
                <a:r>
                  <a:rPr lang="en-US" sz="2000" dirty="0" err="1"/>
                  <a:t>merenje</a:t>
                </a:r>
                <a:r>
                  <a:rPr lang="en-US" sz="2000" dirty="0"/>
                  <a:t> </a:t>
                </a:r>
                <a:r>
                  <a:rPr lang="en-US" sz="2000" dirty="0" err="1"/>
                  <a:t>daje</a:t>
                </a:r>
                <a:r>
                  <a:rPr lang="en-US" sz="2000" dirty="0"/>
                  <a:t> bit 1, a </a:t>
                </a:r>
                <a:r>
                  <a:rPr lang="en-US" sz="2000" dirty="0" err="1"/>
                  <a:t>mernje</a:t>
                </a:r>
                <a:r>
                  <a:rPr lang="en-US" sz="2000" dirty="0"/>
                  <a:t> </a:t>
                </a:r>
                <a:r>
                  <a:rPr lang="en-US" sz="2000" dirty="0" err="1"/>
                  <a:t>po</a:t>
                </a:r>
                <a:r>
                  <a:rPr lang="en-US" sz="2000" dirty="0"/>
                  <a:t> </a:t>
                </a:r>
                <a:r>
                  <a:rPr lang="en-US" sz="2000" dirty="0" err="1"/>
                  <a:t>superpoziciji</a:t>
                </a:r>
                <a:r>
                  <a:rPr lang="en-US" sz="2000" dirty="0"/>
                  <a:t> </a:t>
                </a:r>
                <a:r>
                  <a:rPr lang="en-US" sz="2000" dirty="0" err="1"/>
                  <a:t>daje</a:t>
                </a:r>
                <a:r>
                  <a:rPr lang="en-US" sz="2000" dirty="0"/>
                  <a:t> bit 0. Ova se </a:t>
                </a:r>
                <a:r>
                  <a:rPr lang="en-US" sz="2000" dirty="0" err="1"/>
                  <a:t>cinjenica</a:t>
                </a:r>
                <a:r>
                  <a:rPr lang="en-US" sz="2000" dirty="0"/>
                  <a:t> </a:t>
                </a:r>
                <a:r>
                  <a:rPr lang="en-US" sz="2000" dirty="0" err="1"/>
                  <a:t>moze</a:t>
                </a:r>
                <a:r>
                  <a:rPr lang="en-US" sz="2000" dirty="0"/>
                  <a:t> </a:t>
                </a:r>
                <a:r>
                  <a:rPr lang="en-US" sz="2000" dirty="0" err="1"/>
                  <a:t>pretvoriti</a:t>
                </a:r>
                <a:r>
                  <a:rPr lang="en-US" sz="2000" dirty="0"/>
                  <a:t> u </a:t>
                </a:r>
                <a:r>
                  <a:rPr lang="en-US" sz="2000" dirty="0" err="1"/>
                  <a:t>jednostavnu</a:t>
                </a:r>
                <a:r>
                  <a:rPr lang="en-US" sz="2000" dirty="0"/>
                  <a:t> </a:t>
                </a:r>
                <a:r>
                  <a:rPr lang="en-US" sz="2000" dirty="0" err="1"/>
                  <a:t>formulu</a:t>
                </a:r>
                <a:r>
                  <a:rPr lang="en-US" sz="2000" dirty="0"/>
                  <a:t> </a:t>
                </a:r>
                <a:r>
                  <a:rPr lang="en-US" sz="2000" dirty="0" err="1"/>
                  <a:t>za</a:t>
                </a:r>
                <a:r>
                  <a:rPr lang="en-US" sz="2000" dirty="0"/>
                  <a:t> bit </a:t>
                </a:r>
                <a:r>
                  <a:rPr lang="en-US" sz="2000" dirty="0" err="1"/>
                  <a:t>kljuca</a:t>
                </a:r>
                <a:r>
                  <a:rPr lang="en-US" sz="2000" dirty="0"/>
                  <a:t> </a:t>
                </a:r>
                <a:r>
                  <a:rPr lang="en-US" sz="2000" dirty="0" err="1"/>
                  <a:t>koji</a:t>
                </a:r>
                <a:r>
                  <a:rPr lang="en-US" sz="2000" dirty="0"/>
                  <a:t> se </a:t>
                </a:r>
                <a:r>
                  <a:rPr lang="en-US" sz="2000" dirty="0" err="1"/>
                  <a:t>izracunava</a:t>
                </a:r>
                <a:r>
                  <a:rPr lang="en-US" sz="2000" dirty="0"/>
                  <a:t> </a:t>
                </a:r>
                <a:r>
                  <a:rPr lang="en-US" sz="2000" dirty="0" err="1"/>
                  <a:t>kao</a:t>
                </a:r>
                <a:r>
                  <a:rPr lang="en-US" sz="2000" dirty="0"/>
                  <a:t> 1-m </a:t>
                </a:r>
                <a:r>
                  <a:rPr lang="en-US" sz="2000" dirty="0" err="1"/>
                  <a:t>gde</a:t>
                </a:r>
                <a:r>
                  <a:rPr lang="en-US" sz="2000" dirty="0"/>
                  <a:t> </a:t>
                </a:r>
                <a:r>
                  <a:rPr lang="en-US" sz="2000" dirty="0" err="1"/>
                  <a:t>je</a:t>
                </a:r>
                <a:r>
                  <a:rPr lang="en-US" sz="2000" dirty="0"/>
                  <a:t> m=0 </a:t>
                </a:r>
                <a:r>
                  <a:rPr lang="en-US" sz="2000" dirty="0" err="1"/>
                  <a:t>za</a:t>
                </a:r>
                <a:r>
                  <a:rPr lang="en-US" sz="2000" dirty="0"/>
                  <a:t> </a:t>
                </a:r>
                <a:r>
                  <a:rPr lang="en-US" sz="2000" dirty="0" err="1"/>
                  <a:t>standardnoj</a:t>
                </a:r>
                <a:r>
                  <a:rPr lang="en-US" sz="2000" dirty="0"/>
                  <a:t>, a 1 </a:t>
                </a:r>
                <a:r>
                  <a:rPr lang="en-US" sz="2000" dirty="0" err="1"/>
                  <a:t>za</a:t>
                </a:r>
                <a:r>
                  <a:rPr lang="en-US" sz="2000" dirty="0"/>
                  <a:t> </a:t>
                </a:r>
                <a:r>
                  <a:rPr lang="en-US" sz="2000" dirty="0" err="1"/>
                  <a:t>merenje</a:t>
                </a:r>
                <a:r>
                  <a:rPr lang="en-US" sz="2000" dirty="0"/>
                  <a:t> u </a:t>
                </a:r>
                <a:r>
                  <a:rPr lang="en-US" sz="2000" dirty="0" err="1"/>
                  <a:t>dijagonalnoj</a:t>
                </a:r>
                <a:r>
                  <a:rPr lang="en-US" sz="2000" dirty="0"/>
                  <a:t> </a:t>
                </a:r>
                <a:r>
                  <a:rPr lang="en-US" sz="2000" dirty="0" err="1"/>
                  <a:t>bazi</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2729323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Let’s take a simple example to see how the B92 protocol works.</a:t>
            </a:r>
          </a:p>
          <a:p>
            <a:pPr algn="just"/>
            <a:endParaRPr lang="en-ZA" b="0" dirty="0"/>
          </a:p>
          <a:p>
            <a:pPr marL="228600" indent="-228600" algn="just">
              <a:buFont typeface="+mj-lt"/>
              <a:buAutoNum type="arabicPeriod"/>
            </a:pPr>
            <a:r>
              <a:rPr lang="en-ZA" dirty="0"/>
              <a:t>Alice first generates a random 4-bit sequence, denoted by</a:t>
            </a:r>
            <a:r>
              <a:rPr lang="en-ZA" b="0" dirty="0"/>
              <a:t> ‘</a:t>
            </a:r>
            <a:r>
              <a:rPr lang="en-ZA" b="0" i="1" dirty="0"/>
              <a:t>a’</a:t>
            </a:r>
            <a:r>
              <a:rPr lang="en-ZA" b="0" dirty="0"/>
              <a:t>. </a:t>
            </a:r>
          </a:p>
          <a:p>
            <a:pPr marL="228600" indent="-228600" algn="just">
              <a:buFont typeface="+mj-lt"/>
              <a:buAutoNum type="arabicPeriod"/>
            </a:pPr>
            <a:endParaRPr lang="en-ZA" b="0" dirty="0"/>
          </a:p>
          <a:p>
            <a:pPr marL="228600" indent="-228600" algn="just">
              <a:buFont typeface="+mj-lt"/>
              <a:buAutoNum type="arabicPeriod"/>
            </a:pPr>
            <a:r>
              <a:rPr lang="en-ZA" dirty="0"/>
              <a:t>She encodes each bit using one of two possible states: a 0 is sent as ∣0⟩, while a 1 is sent as ∣+⟩. These qubits are then transmitted to Bob through the quantum channel.</a:t>
            </a:r>
            <a:endParaRPr lang="en-ZA" b="0" dirty="0"/>
          </a:p>
          <a:p>
            <a:pPr marL="228600" indent="-228600" algn="just">
              <a:buFont typeface="+mj-lt"/>
              <a:buAutoNum type="arabicPeriod"/>
            </a:pPr>
            <a:endParaRPr lang="en-ZA" b="0" dirty="0"/>
          </a:p>
          <a:p>
            <a:pPr marL="228600" indent="-228600" algn="just">
              <a:buFont typeface="+mj-lt"/>
              <a:buAutoNum type="arabicPeriod"/>
            </a:pPr>
            <a:r>
              <a:rPr lang="en-ZA" dirty="0"/>
              <a:t>For each qubit he receives, Bob chooses a random bit </a:t>
            </a:r>
            <a:r>
              <a:rPr lang="en-ZA" b="0" i="1" dirty="0"/>
              <a:t>b</a:t>
            </a:r>
            <a:r>
              <a:rPr lang="en-ZA" b="0" dirty="0"/>
              <a:t>:</a:t>
            </a:r>
          </a:p>
          <a:p>
            <a:pPr marL="685800" lvl="1" indent="-228600" algn="just">
              <a:buFont typeface="Arial" panose="020B0604020202020204" pitchFamily="34" charset="0"/>
              <a:buChar char="•"/>
            </a:pPr>
            <a:r>
              <a:rPr lang="en-ZA" b="0" dirty="0"/>
              <a:t>If </a:t>
            </a:r>
            <a:r>
              <a:rPr lang="en-ZA" b="0" i="1" dirty="0"/>
              <a:t>b = 0</a:t>
            </a:r>
            <a:r>
              <a:rPr lang="en-ZA" b="0" dirty="0"/>
              <a:t>, he measures in the standard basis.</a:t>
            </a:r>
          </a:p>
          <a:p>
            <a:pPr marL="685800" lvl="1" indent="-228600" algn="just">
              <a:buFont typeface="Arial" panose="020B0604020202020204" pitchFamily="34" charset="0"/>
              <a:buChar char="•"/>
            </a:pPr>
            <a:r>
              <a:rPr lang="en-ZA" b="0" dirty="0"/>
              <a:t>If </a:t>
            </a:r>
            <a:r>
              <a:rPr lang="en-ZA" b="0" i="1" dirty="0"/>
              <a:t>b = 1</a:t>
            </a:r>
            <a:r>
              <a:rPr lang="en-ZA" b="0" dirty="0"/>
              <a:t>, he measures in the diagonal basis.</a:t>
            </a:r>
          </a:p>
          <a:p>
            <a:pPr marL="685800" lvl="1" indent="-228600" algn="just">
              <a:buFont typeface="Arial" panose="020B0604020202020204" pitchFamily="34" charset="0"/>
              <a:buChar char="•"/>
            </a:pPr>
            <a:endParaRPr lang="en-ZA" b="0" dirty="0"/>
          </a:p>
          <a:p>
            <a:pPr marL="228600" lvl="0" indent="-228600" algn="just">
              <a:buFont typeface="+mj-lt"/>
              <a:buAutoNum type="arabicPeriod"/>
            </a:pPr>
            <a:r>
              <a:rPr lang="en-ZA" dirty="0"/>
              <a:t>The measurement outcomes form a sequence of bits</a:t>
            </a:r>
            <a:r>
              <a:rPr lang="en-ZA" b="0" dirty="0"/>
              <a:t> </a:t>
            </a:r>
            <a:r>
              <a:rPr lang="en-ZA" b="0" i="1" dirty="0"/>
              <a:t>r</a:t>
            </a:r>
            <a:r>
              <a:rPr lang="en-ZA" b="0" dirty="0"/>
              <a:t>. Outcomes with </a:t>
            </a:r>
            <a:r>
              <a:rPr lang="en-ZA" b="0" i="1" dirty="0"/>
              <a:t>r = 0</a:t>
            </a:r>
            <a:r>
              <a:rPr lang="en-ZA" b="0" dirty="0"/>
              <a:t> are inconclusive and are discarded. Bob tells Alice, over a public classical channel, which positions produced conclusive results, (r=1) without revealing the corresponding bit values. </a:t>
            </a:r>
          </a:p>
          <a:p>
            <a:pPr marL="228600" lvl="0" indent="-228600" algn="just">
              <a:buFont typeface="+mj-lt"/>
              <a:buAutoNum type="arabicPeriod"/>
            </a:pPr>
            <a:endParaRPr lang="en-ZA" b="0" dirty="0"/>
          </a:p>
          <a:p>
            <a:pPr marL="228600" lvl="0" indent="-228600" algn="just">
              <a:buFont typeface="+mj-lt"/>
              <a:buAutoNum type="arabicPeriod"/>
            </a:pPr>
            <a:r>
              <a:rPr lang="en-ZA" dirty="0"/>
              <a:t>For each position where r=1, Bob reconstructs the corresponding key bit using</a:t>
            </a:r>
            <a:r>
              <a:rPr lang="en-ZA" b="0" dirty="0"/>
              <a:t> k=1−b. Alice keeps the corresponding bits from her original sequence. In the absence of errors or eavesdropping, Alice's retained bits and Bob's reconstructed bits are identical and form their sifted key.</a:t>
            </a:r>
          </a:p>
          <a:p>
            <a:pPr marL="228600" lvl="0" indent="-228600" algn="just">
              <a:buFont typeface="+mj-lt"/>
              <a:buAutoNum type="arabicPeriod"/>
            </a:pPr>
            <a:endParaRPr lang="en-ZA" b="0" dirty="0"/>
          </a:p>
          <a:p>
            <a:pPr marL="228600" lvl="0" indent="-228600" algn="just">
              <a:buFont typeface="+mj-lt"/>
              <a:buAutoNum type="arabicPeriod"/>
            </a:pPr>
            <a:r>
              <a:rPr lang="en-ZA" b="0" dirty="0"/>
              <a:t>To detect eavesdropping, Alice and Bob publicly compare a random subset of their sifted key bits. An unexpectedly high error rate may indicate eavesdropping or excessive channel noise. If the error rate is too high, they abort the protocol and discard the key.</a:t>
            </a:r>
          </a:p>
          <a:p>
            <a:pPr marL="0" lvl="0" indent="0" algn="just">
              <a:buFont typeface="+mj-lt"/>
              <a:buNone/>
            </a:pP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3781998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Another important class of quantum key distribution protocols is based on entangled photons. The most famous example is the E91 protocol, proposed by Artur </a:t>
            </a:r>
            <a:r>
              <a:rPr lang="en-ZA" b="0" dirty="0" err="1"/>
              <a:t>Ekert</a:t>
            </a:r>
            <a:r>
              <a:rPr lang="en-ZA" b="0" dirty="0"/>
              <a:t> in 1991.</a:t>
            </a:r>
          </a:p>
          <a:p>
            <a:pPr algn="just"/>
            <a:r>
              <a:rPr lang="en-ZA" b="0" dirty="0"/>
              <a:t>In this scenario, an independent source produces pairs of entangled photons. Alice receives one photon from each pair, while Bob receives the other. If they both measure their photons in the standard basis, their results are correlated because of entanglement. Repeating this process allows Alice and Bob to generate the same sequence of random bits, which can be used to establish a shared key. The security of entanglement-based QKD comes from the fact that any attempt to intercept or measure the entangled photons disturbs their quantum correlations and can therefore be detected.</a:t>
            </a:r>
          </a:p>
          <a:p>
            <a:pPr algn="just"/>
            <a:endParaRPr lang="en-ZA" b="0" dirty="0"/>
          </a:p>
          <a:p>
            <a:pPr algn="just"/>
            <a:r>
              <a:rPr lang="en-ZA" dirty="0"/>
              <a:t>An example of this technology is </a:t>
            </a:r>
            <a:r>
              <a:rPr lang="en-ZA" b="1" dirty="0"/>
              <a:t>SpooQy-1</a:t>
            </a:r>
            <a:r>
              <a:rPr lang="en-ZA" dirty="0"/>
              <a:t>, a small nanosatellite launched in 2019. The name </a:t>
            </a:r>
            <a:r>
              <a:rPr lang="en-ZA" i="1" dirty="0"/>
              <a:t>SpooQy-1</a:t>
            </a:r>
            <a:r>
              <a:rPr lang="en-ZA" dirty="0"/>
              <a:t> is a playful reference to Einstein’s famous description of entanglement as </a:t>
            </a:r>
            <a:r>
              <a:rPr lang="en-ZA" i="1" dirty="0"/>
              <a:t>“spooky action at a distance.”</a:t>
            </a:r>
            <a:r>
              <a:rPr lang="en-ZA" dirty="0"/>
              <a:t> It was only about 30 </a:t>
            </a:r>
            <a:r>
              <a:rPr lang="en-ZA" dirty="0" err="1"/>
              <a:t>centimeters</a:t>
            </a:r>
            <a:r>
              <a:rPr lang="en-ZA" dirty="0"/>
              <a:t> in size, but it was able to generate pairs of entangled photons in space. Its purpose was to demonstrate that a compact source of entangled photons could successfully function aboard a satellite. This was an important step toward future satellite-based quantum communication.</a:t>
            </a:r>
            <a:r>
              <a:rPr lang="en-ZA" b="0" dirty="0"/>
              <a:t> </a:t>
            </a:r>
          </a:p>
        </p:txBody>
      </p:sp>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2550490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China, researchers have made impressive progress using entangled photons. In 2020, the </a:t>
            </a:r>
            <a:r>
              <a:rPr lang="en-ZA" b="0" dirty="0" err="1"/>
              <a:t>Micius</a:t>
            </a:r>
            <a:r>
              <a:rPr lang="en-ZA" b="0" dirty="0"/>
              <a:t> satellite distributed pairs of entangled photons from an altitude of about 500 km to two ground stations separated by approximately 1,120 km. Using these entangled photons, researchers demonstrated quantum key distribution with a secret-key rate of about 0.12 bits per second. Importantly, this was achieved without the need for a trusted relay between the two stations. </a:t>
            </a:r>
            <a:endParaRPr lang="en-ZA" b="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sz="12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ZA" sz="1200" b="0" dirty="0">
                <a:solidFill>
                  <a:schemeClr val="tx1"/>
                </a:solidFill>
              </a:rPr>
              <a:t>Reference:</a:t>
            </a:r>
            <a:br>
              <a:rPr lang="en-ZA" sz="1200" b="0" dirty="0">
                <a:solidFill>
                  <a:schemeClr val="tx1"/>
                </a:solidFill>
              </a:rPr>
            </a:br>
            <a:r>
              <a:rPr lang="en-US" b="0" dirty="0">
                <a:solidFill>
                  <a:schemeClr val="tx1"/>
                </a:solidFill>
              </a:rPr>
              <a:t>Yin, J., Li, YH., Liao, SK. </a:t>
            </a:r>
            <a:r>
              <a:rPr lang="en-US" b="0" i="1" dirty="0">
                <a:solidFill>
                  <a:schemeClr val="tx1"/>
                </a:solidFill>
              </a:rPr>
              <a:t>et al.</a:t>
            </a:r>
            <a:r>
              <a:rPr lang="en-US" b="0" dirty="0">
                <a:solidFill>
                  <a:schemeClr val="tx1"/>
                </a:solidFill>
              </a:rPr>
              <a:t> Entanglement-based secure quantum cryptography over 1,120 </a:t>
            </a:r>
            <a:r>
              <a:rPr lang="en-US" b="0" dirty="0" err="1">
                <a:solidFill>
                  <a:schemeClr val="tx1"/>
                </a:solidFill>
              </a:rPr>
              <a:t>kilometres</a:t>
            </a:r>
            <a:r>
              <a:rPr lang="en-US" b="0" dirty="0">
                <a:solidFill>
                  <a:schemeClr val="tx1"/>
                </a:solidFill>
              </a:rPr>
              <a:t>. </a:t>
            </a:r>
            <a:r>
              <a:rPr lang="en-US" b="0" i="1" dirty="0">
                <a:solidFill>
                  <a:schemeClr val="tx1"/>
                </a:solidFill>
              </a:rPr>
              <a:t>Nature</a:t>
            </a:r>
            <a:r>
              <a:rPr lang="en-US" b="0" dirty="0">
                <a:solidFill>
                  <a:schemeClr val="tx1"/>
                </a:solidFill>
              </a:rPr>
              <a:t> 582, 501–505 (2020).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1068663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More recently, in 2024, scientists from South Africa and China achieved another major milestone in quantum communication. Using the Jinan-1 microsatellite and a portable ground station at Stellenbosch University, they established a quantum-secured link between Stellenbosch and Beijing, separated by about 12,900 km.</a:t>
            </a:r>
          </a:p>
          <a:p>
            <a:pPr algn="just"/>
            <a:endParaRPr lang="en-ZA" b="0" dirty="0"/>
          </a:p>
          <a:p>
            <a:pPr algn="just"/>
            <a:r>
              <a:rPr lang="en-ZA" b="0" dirty="0"/>
              <a:t>The system generated quantum keys in real time, which were then used to securely encrypt and transmit images between South Africa and China. This set a new record for intercontinental quantum-secured communication and established the first quantum satellite communication link in the Southern Hemisphere.</a:t>
            </a:r>
          </a:p>
          <a:p>
            <a:pPr algn="just"/>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t>Quantum scientists connect SA, China to shatter satcom record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https://</a:t>
            </a:r>
            <a:r>
              <a:rPr lang="en-US" b="0" dirty="0" err="1">
                <a:solidFill>
                  <a:schemeClr val="tx1"/>
                </a:solidFill>
              </a:rPr>
              <a:t>www.universityworldnews.com</a:t>
            </a:r>
            <a:r>
              <a:rPr lang="en-US" b="0" dirty="0">
                <a:solidFill>
                  <a:schemeClr val="tx1"/>
                </a:solidFill>
              </a:rPr>
              <a:t>/</a:t>
            </a:r>
            <a:r>
              <a:rPr lang="en-US" b="0" dirty="0" err="1">
                <a:solidFill>
                  <a:schemeClr val="tx1"/>
                </a:solidFill>
              </a:rPr>
              <a:t>post.php?story</a:t>
            </a:r>
            <a:r>
              <a:rPr lang="en-US" b="0" dirty="0">
                <a:solidFill>
                  <a:schemeClr val="tx1"/>
                </a:solidFill>
              </a:rPr>
              <a:t>=20250323135915656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p>
            <a:r>
              <a:rPr lang="en-ZA" dirty="0"/>
              <a:t>Li, Y., Cai, WQ., Ren, JG. </a:t>
            </a:r>
            <a:r>
              <a:rPr lang="en-ZA" i="1" dirty="0"/>
              <a:t>et al.</a:t>
            </a:r>
            <a:r>
              <a:rPr lang="en-ZA" dirty="0"/>
              <a:t> Microsatellite-based real-time quantum key distribution. </a:t>
            </a:r>
            <a:r>
              <a:rPr lang="en-ZA" i="1" dirty="0"/>
              <a:t>Nature</a:t>
            </a:r>
            <a:r>
              <a:rPr lang="en-ZA" dirty="0"/>
              <a:t> </a:t>
            </a:r>
            <a:r>
              <a:rPr lang="en-ZA" b="1" dirty="0"/>
              <a:t>640</a:t>
            </a:r>
            <a:r>
              <a:rPr lang="en-ZA" dirty="0"/>
              <a:t>, 47–54 (2025). https://</a:t>
            </a:r>
            <a:r>
              <a:rPr lang="en-ZA" dirty="0" err="1"/>
              <a:t>doi.org</a:t>
            </a:r>
            <a:r>
              <a:rPr lang="en-ZA" dirty="0"/>
              <a:t>/10.1038/s41586-025-08739-z</a:t>
            </a:r>
          </a:p>
          <a:p>
            <a:r>
              <a:rPr lang="en-ZA" dirty="0"/>
              <a:t>https://</a:t>
            </a:r>
            <a:r>
              <a:rPr lang="en-ZA" dirty="0" err="1"/>
              <a:t>www.nature.com</a:t>
            </a:r>
            <a:r>
              <a:rPr lang="en-ZA" dirty="0"/>
              <a:t>/articles/s41586-025-08739-z.epdf</a:t>
            </a:r>
            <a:endParaRPr lang="en-US" b="0" dirty="0"/>
          </a:p>
        </p:txBody>
      </p:sp>
      <p:sp>
        <p:nvSpPr>
          <p:cNvPr id="4" name="Slide Number Placeholder 3"/>
          <p:cNvSpPr>
            <a:spLocks noGrp="1"/>
          </p:cNvSpPr>
          <p:nvPr>
            <p:ph type="sldNum" sz="quarter" idx="5"/>
          </p:nvPr>
        </p:nvSpPr>
        <p:spPr/>
        <p:txBody>
          <a:bodyPr/>
          <a:lstStyle/>
          <a:p>
            <a:fld id="{965A8710-8889-7541-9BF7-E78AD03A798D}" type="slidenum">
              <a:rPr lang="en-US" smtClean="0"/>
              <a:t>17</a:t>
            </a:fld>
            <a:endParaRPr lang="en-US"/>
          </a:p>
        </p:txBody>
      </p:sp>
    </p:spTree>
    <p:extLst>
      <p:ext uri="{BB962C8B-B14F-4D97-AF65-F5344CB8AC3E}">
        <p14:creationId xmlns:p14="http://schemas.microsoft.com/office/powerpoint/2010/main" val="16528800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One of the main advantages of the E91 protocol is that it can provide security even when Alice and Bob do not fully trust the source of the entangled photons.</a:t>
            </a:r>
          </a:p>
          <a:p>
            <a:pPr algn="just"/>
            <a:endParaRPr lang="en-ZA" b="0" dirty="0"/>
          </a:p>
          <a:p>
            <a:pPr marL="228600" indent="-228600" algn="just">
              <a:buFont typeface="+mj-lt"/>
              <a:buAutoNum type="arabicPeriod"/>
            </a:pPr>
            <a:r>
              <a:rPr lang="en-ZA" dirty="0"/>
              <a:t>Imagine that Alice and Bob rent a communication link from Eve and ask her to provide them with 1,000 pairs of entangled qubits.</a:t>
            </a:r>
            <a:r>
              <a:rPr lang="en-ZA" b="0" dirty="0"/>
              <a:t> </a:t>
            </a:r>
          </a:p>
          <a:p>
            <a:pPr marL="228600" indent="-228600" algn="just">
              <a:buFont typeface="+mj-lt"/>
              <a:buAutoNum type="arabicPeriod"/>
            </a:pPr>
            <a:endParaRPr lang="en-ZA" b="0" dirty="0"/>
          </a:p>
          <a:p>
            <a:pPr marL="228600" indent="-228600" algn="just">
              <a:buFont typeface="+mj-lt"/>
              <a:buAutoNum type="arabicPeriod"/>
            </a:pPr>
            <a:r>
              <a:rPr lang="en-ZA" dirty="0"/>
              <a:t>Eve, however, tries to cheat. Instead of sending genuinely entangled pairs, she sends non-entangled qubits whose states she already knows, effectively trying to plant her own key.</a:t>
            </a:r>
            <a:endParaRPr lang="en-ZA" b="0" dirty="0"/>
          </a:p>
          <a:p>
            <a:pPr marL="228600" indent="-228600" algn="just">
              <a:buFont typeface="+mj-lt"/>
              <a:buAutoNum type="arabicPeriod"/>
            </a:pPr>
            <a:endParaRPr lang="en-ZA" b="0" dirty="0"/>
          </a:p>
          <a:p>
            <a:pPr marL="228600" indent="-228600" algn="just">
              <a:buFont typeface="+mj-lt"/>
              <a:buAutoNum type="arabicPeriod"/>
            </a:pPr>
            <a:r>
              <a:rPr lang="en-ZA" b="0" dirty="0"/>
              <a:t>To check the security of the channel, Alice and Bob use a subset of the received qubits to test their quantum correlations. By measuring them using different measurement settings, they can perform a Bell inequality test. Genuinely entangled qubits can produce correlations that violate a Bell inequality, something that ordinary classically correlated qubits cannot reproduces. </a:t>
            </a:r>
          </a:p>
        </p:txBody>
      </p:sp>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1992603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When two qubits are entangled, their measurement results can show correlations that cannot be explained by classical physics. To distinguish these quantum correlations from ordinary classical correlations, physicist John Bell developed a test known as Bell’s inequality.</a:t>
                </a:r>
              </a:p>
              <a:p>
                <a:pPr algn="just"/>
                <a:endParaRPr lang="en-ZA" b="0" dirty="0"/>
              </a:p>
              <a:p>
                <a:pPr marL="228600" indent="-228600" algn="just">
                  <a:buFont typeface="+mj-lt"/>
                  <a:buAutoNum type="arabicPeriod"/>
                </a:pPr>
                <a:r>
                  <a:rPr lang="en-ZA" b="0" dirty="0"/>
                  <a:t>Today, one of the most commonly used versions is the CHSH inequality, named after </a:t>
                </a:r>
                <a:r>
                  <a:rPr lang="en-ZA" b="0" dirty="0" err="1"/>
                  <a:t>Clauser</a:t>
                </a:r>
                <a:r>
                  <a:rPr lang="en-ZA" b="0" dirty="0"/>
                  <a:t>, Horne, </a:t>
                </a:r>
                <a:r>
                  <a:rPr lang="en-ZA" b="0" dirty="0" err="1"/>
                  <a:t>Shimony</a:t>
                </a:r>
                <a:r>
                  <a:rPr lang="en-ZA" b="0" dirty="0"/>
                  <a:t>, and Holt. It defines a parameter S, calculated from correlations measured using different measurement settings.</a:t>
                </a:r>
              </a:p>
              <a:p>
                <a:pPr marL="228600" indent="-228600" algn="just">
                  <a:buFont typeface="+mj-lt"/>
                  <a:buAutoNum type="arabicPeriod"/>
                </a:pPr>
                <a:endParaRPr lang="en-ZA" b="0" dirty="0"/>
              </a:p>
              <a:p>
                <a:pPr marL="228600" indent="-228600" algn="just">
                  <a:buFont typeface="+mj-lt"/>
                  <a:buAutoNum type="arabicPeriod"/>
                </a:pPr>
                <a:r>
                  <a:rPr lang="en-ZA" b="0" dirty="0"/>
                  <a:t>According to the CHSH inequality, classical correlations must satisfy  </a:t>
                </a:r>
                <a14:m>
                  <m:oMath xmlns:m="http://schemas.openxmlformats.org/officeDocument/2006/math">
                    <m:r>
                      <a:rPr lang="en-US" sz="1200" b="0" i="0" smtClean="0">
                        <a:latin typeface="Cambria Math" panose="02040503050406030204" pitchFamily="18" charset="0"/>
                      </a:rPr>
                      <m:t>|</m:t>
                    </m:r>
                    <m:r>
                      <m:rPr>
                        <m:sty m:val="p"/>
                      </m:rPr>
                      <a:rPr lang="en-US" sz="1200" b="0" i="0" smtClean="0">
                        <a:latin typeface="Cambria Math" panose="02040503050406030204" pitchFamily="18" charset="0"/>
                      </a:rPr>
                      <m:t>S</m:t>
                    </m:r>
                    <m:r>
                      <a:rPr lang="en-US" sz="1200" b="0" i="1" smtClean="0">
                        <a:latin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oMath>
                </a14:m>
                <a:r>
                  <a:rPr lang="en-ZA" b="0" dirty="0"/>
                  <a:t>. If an experiment produces </a:t>
                </a:r>
                <a14:m>
                  <m:oMath xmlns:m="http://schemas.openxmlformats.org/officeDocument/2006/math">
                    <m:d>
                      <m:dPr>
                        <m:begChr m:val="|"/>
                        <m:endChr m:val="|"/>
                        <m:ctrlPr>
                          <a:rPr lang="en-US" sz="1200" b="0" i="1" smtClean="0">
                            <a:latin typeface="Cambria Math" panose="02040503050406030204" pitchFamily="18" charset="0"/>
                          </a:rPr>
                        </m:ctrlPr>
                      </m:dPr>
                      <m:e>
                        <m:r>
                          <m:rPr>
                            <m:sty m:val="p"/>
                          </m:rPr>
                          <a:rPr lang="en-US" sz="1200" b="0" i="0" smtClean="0">
                            <a:latin typeface="Cambria Math" panose="02040503050406030204" pitchFamily="18" charset="0"/>
                          </a:rPr>
                          <m:t>S</m:t>
                        </m:r>
                      </m:e>
                    </m:d>
                    <m:r>
                      <a:rPr lang="en-US" sz="1200" b="0" i="1" smtClean="0">
                        <a:latin typeface="Cambria Math" panose="02040503050406030204" pitchFamily="18" charset="0"/>
                      </a:rPr>
                      <m:t>&gt;</m:t>
                    </m:r>
                    <m:r>
                      <a:rPr lang="en-US" sz="1200" b="0" i="1" smtClean="0">
                        <a:latin typeface="Cambria Math" panose="02040503050406030204" pitchFamily="18" charset="0"/>
                        <a:ea typeface="Cambria Math" panose="02040503050406030204" pitchFamily="18" charset="0"/>
                      </a:rPr>
                      <m:t>2</m:t>
                    </m:r>
                  </m:oMath>
                </a14:m>
                <a:r>
                  <a:rPr lang="en-ZA" b="0" dirty="0"/>
                  <a:t> the CHSH inequality is violated, providing evidence of non-classical quantum correlations. Under ideal conditions, maximally entangled qubits can reach the maximum quantum value </a:t>
                </a:r>
                <a14:m>
                  <m:oMath xmlns:m="http://schemas.openxmlformats.org/officeDocument/2006/math">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𝑆</m:t>
                        </m:r>
                      </m:e>
                    </m:d>
                    <m:r>
                      <a:rPr lang="en-US" sz="1200" b="0" i="1" smtClean="0">
                        <a:latin typeface="Cambria Math" panose="02040503050406030204" pitchFamily="18" charset="0"/>
                      </a:rPr>
                      <m:t>=2</m:t>
                    </m:r>
                    <m:rad>
                      <m:radPr>
                        <m:degHide m:val="on"/>
                        <m:ctrlPr>
                          <a:rPr lang="en-US" sz="1200" b="0" i="1" smtClean="0">
                            <a:latin typeface="Cambria Math" panose="02040503050406030204" pitchFamily="18" charset="0"/>
                          </a:rPr>
                        </m:ctrlPr>
                      </m:radPr>
                      <m:deg/>
                      <m:e>
                        <m:r>
                          <a:rPr lang="en-US" sz="1200" b="0" i="1" smtClean="0">
                            <a:latin typeface="Cambria Math" panose="02040503050406030204" pitchFamily="18" charset="0"/>
                          </a:rPr>
                          <m:t>2</m:t>
                        </m:r>
                      </m:e>
                    </m:rad>
                    <m:r>
                      <a:rPr lang="en-US" sz="1200" b="0" i="1" smtClean="0">
                        <a:latin typeface="Cambria Math" panose="02040503050406030204" pitchFamily="18" charset="0"/>
                        <a:ea typeface="Cambria Math" panose="02040503050406030204" pitchFamily="18" charset="0"/>
                      </a:rPr>
                      <m:t>≈2.38</m:t>
                    </m:r>
                    <m:r>
                      <a:rPr lang="en-US" sz="1200" b="0" i="0" smtClean="0">
                        <a:latin typeface="Cambria Math" panose="02040503050406030204" pitchFamily="18" charset="0"/>
                      </a:rPr>
                      <m:t>.</m:t>
                    </m:r>
                  </m:oMath>
                </a14:m>
                <a:endParaRPr lang="en-ZA" b="0" dirty="0"/>
              </a:p>
              <a:p>
                <a:pPr algn="just"/>
                <a:endParaRPr lang="en-ZA" b="0" dirty="0"/>
              </a:p>
            </p:txBody>
          </p:sp>
        </mc:Choice>
        <mc:Fallback xmlns="">
          <p:sp>
            <p:nvSpPr>
              <p:cNvPr id="3" name="Notes Placeholder 2"/>
              <p:cNvSpPr>
                <a:spLocks noGrp="1"/>
              </p:cNvSpPr>
              <p:nvPr>
                <p:ph type="body" idx="1"/>
              </p:nvPr>
            </p:nvSpPr>
            <p:spPr/>
            <p:txBody>
              <a:bodyPr/>
              <a:lstStyle/>
              <a:p>
                <a:r>
                  <a:rPr lang="en-US" dirty="0"/>
                  <a:t>Da bi se </a:t>
                </a:r>
                <a:r>
                  <a:rPr lang="en-US" dirty="0" err="1"/>
                  <a:t>razgraničila</a:t>
                </a:r>
                <a:r>
                  <a:rPr lang="en-US" dirty="0"/>
                  <a:t> </a:t>
                </a:r>
                <a:r>
                  <a:rPr lang="en-US" dirty="0" err="1"/>
                  <a:t>klasična</a:t>
                </a:r>
                <a:r>
                  <a:rPr lang="en-US" dirty="0"/>
                  <a:t> </a:t>
                </a:r>
                <a:r>
                  <a:rPr lang="en-US" dirty="0" err="1"/>
                  <a:t>i</a:t>
                </a:r>
                <a:r>
                  <a:rPr lang="en-US" dirty="0"/>
                  <a:t> </a:t>
                </a:r>
                <a:r>
                  <a:rPr lang="en-US" dirty="0" err="1"/>
                  <a:t>kvantna</a:t>
                </a:r>
                <a:r>
                  <a:rPr lang="en-US" dirty="0"/>
                  <a:t> </a:t>
                </a:r>
                <a:r>
                  <a:rPr lang="en-US" dirty="0" err="1"/>
                  <a:t>korelacija</a:t>
                </a:r>
                <a:r>
                  <a:rPr lang="en-US" dirty="0"/>
                  <a:t> </a:t>
                </a:r>
                <a:r>
                  <a:rPr lang="en-US" dirty="0" err="1"/>
                  <a:t>koristi</a:t>
                </a:r>
                <a:r>
                  <a:rPr lang="en-US" dirty="0"/>
                  <a:t> se </a:t>
                </a:r>
                <a:r>
                  <a:rPr lang="en-US" dirty="0" err="1"/>
                  <a:t>Belova</a:t>
                </a:r>
                <a:r>
                  <a:rPr lang="en-US" dirty="0"/>
                  <a:t> </a:t>
                </a:r>
                <a:r>
                  <a:rPr lang="en-US" dirty="0" err="1"/>
                  <a:t>nejednakost</a:t>
                </a:r>
                <a:r>
                  <a:rPr lang="en-US" dirty="0"/>
                  <a:t> </a:t>
                </a:r>
                <a:r>
                  <a:rPr lang="en-US" dirty="0" err="1"/>
                  <a:t>nazvanu</a:t>
                </a:r>
                <a:r>
                  <a:rPr lang="en-US" dirty="0"/>
                  <a:t> </a:t>
                </a:r>
                <a:r>
                  <a:rPr lang="en-US" dirty="0" err="1"/>
                  <a:t>po</a:t>
                </a:r>
                <a:r>
                  <a:rPr lang="en-US" dirty="0"/>
                  <a:t> </a:t>
                </a:r>
                <a:r>
                  <a:rPr lang="en-US" dirty="0" err="1"/>
                  <a:t>fizičaru</a:t>
                </a:r>
                <a:r>
                  <a:rPr lang="en-US" dirty="0"/>
                  <a:t> </a:t>
                </a:r>
                <a:r>
                  <a:rPr lang="en-US" dirty="0" err="1"/>
                  <a:t>Džonu</a:t>
                </a:r>
                <a:r>
                  <a:rPr lang="en-US" dirty="0"/>
                  <a:t> </a:t>
                </a:r>
                <a:r>
                  <a:rPr lang="en-US" dirty="0" err="1"/>
                  <a:t>Belu</a:t>
                </a:r>
                <a:r>
                  <a:rPr lang="en-US" dirty="0"/>
                  <a:t>. </a:t>
                </a:r>
                <a:r>
                  <a:rPr lang="en-US" dirty="0" err="1"/>
                  <a:t>Varijanta</a:t>
                </a:r>
                <a:r>
                  <a:rPr lang="en-US" dirty="0"/>
                  <a:t> </a:t>
                </a:r>
                <a:r>
                  <a:rPr lang="en-US" dirty="0" err="1"/>
                  <a:t>ove</a:t>
                </a:r>
                <a:r>
                  <a:rPr lang="en-US" dirty="0"/>
                  <a:t> </a:t>
                </a:r>
                <a:r>
                  <a:rPr lang="en-US" dirty="0" err="1"/>
                  <a:t>nejednakosti</a:t>
                </a:r>
                <a:r>
                  <a:rPr lang="en-US" dirty="0"/>
                  <a:t> </a:t>
                </a:r>
                <a:r>
                  <a:rPr lang="en-US" dirty="0" err="1"/>
                  <a:t>koja</a:t>
                </a:r>
                <a:r>
                  <a:rPr lang="en-US" dirty="0"/>
                  <a:t> se </a:t>
                </a:r>
                <a:r>
                  <a:rPr lang="en-US" dirty="0" err="1"/>
                  <a:t>koristi</a:t>
                </a:r>
                <a:r>
                  <a:rPr lang="en-US" dirty="0"/>
                  <a:t> </a:t>
                </a:r>
                <a:r>
                  <a:rPr lang="en-US" dirty="0" err="1"/>
                  <a:t>za</a:t>
                </a:r>
                <a:r>
                  <a:rPr lang="en-US" dirty="0"/>
                  <a:t> </a:t>
                </a:r>
                <a:r>
                  <a:rPr lang="en-US" dirty="0" err="1"/>
                  <a:t>detekciju</a:t>
                </a:r>
                <a:r>
                  <a:rPr lang="en-US" dirty="0"/>
                  <a:t> </a:t>
                </a:r>
                <a:r>
                  <a:rPr lang="en-US" dirty="0" err="1"/>
                  <a:t>spletenih</a:t>
                </a:r>
                <a:r>
                  <a:rPr lang="en-US" dirty="0"/>
                  <a:t> kubita </a:t>
                </a:r>
                <a:r>
                  <a:rPr lang="en-US" dirty="0" err="1"/>
                  <a:t>naziva</a:t>
                </a:r>
                <a:r>
                  <a:rPr lang="en-US" dirty="0"/>
                  <a:t> se CSHS </a:t>
                </a:r>
                <a:r>
                  <a:rPr lang="en-US" dirty="0" err="1"/>
                  <a:t>nejednakost</a:t>
                </a:r>
                <a:r>
                  <a:rPr lang="en-US" dirty="0"/>
                  <a:t> </a:t>
                </a:r>
                <a:r>
                  <a:rPr lang="en-US" dirty="0" err="1"/>
                  <a:t>po</a:t>
                </a:r>
                <a:r>
                  <a:rPr lang="en-US" dirty="0"/>
                  <a:t> </a:t>
                </a:r>
                <a:r>
                  <a:rPr lang="en-US" dirty="0" err="1"/>
                  <a:t>imenima</a:t>
                </a:r>
                <a:r>
                  <a:rPr lang="en-US" dirty="0"/>
                  <a:t> </a:t>
                </a:r>
                <a:r>
                  <a:rPr lang="en-US" dirty="0" err="1"/>
                  <a:t>autora</a:t>
                </a:r>
                <a:r>
                  <a:rPr lang="en-US" dirty="0"/>
                  <a:t>. </a:t>
                </a:r>
                <a:r>
                  <a:rPr lang="en-US" dirty="0" err="1"/>
                  <a:t>Ako</a:t>
                </a:r>
                <a:r>
                  <a:rPr lang="en-US" dirty="0"/>
                  <a:t> </a:t>
                </a:r>
                <a:r>
                  <a:rPr lang="en-US" dirty="0" err="1"/>
                  <a:t>je</a:t>
                </a:r>
                <a:r>
                  <a:rPr lang="en-US" dirty="0"/>
                  <a:t> </a:t>
                </a:r>
                <a:r>
                  <a:rPr lang="en-US" dirty="0" err="1"/>
                  <a:t>mera</a:t>
                </a:r>
                <a:r>
                  <a:rPr lang="en-US" dirty="0"/>
                  <a:t> </a:t>
                </a:r>
                <a:r>
                  <a:rPr lang="en-US" dirty="0" err="1"/>
                  <a:t>korelacije</a:t>
                </a:r>
                <a:r>
                  <a:rPr lang="en-US" dirty="0"/>
                  <a:t>, </a:t>
                </a:r>
                <a:r>
                  <a:rPr lang="en-US" dirty="0" err="1"/>
                  <a:t>obično</a:t>
                </a:r>
                <a:r>
                  <a:rPr lang="en-US" dirty="0"/>
                  <a:t> </a:t>
                </a:r>
                <a:r>
                  <a:rPr lang="en-US" dirty="0" err="1"/>
                  <a:t>označena</a:t>
                </a:r>
                <a:r>
                  <a:rPr lang="en-US" dirty="0"/>
                  <a:t> </a:t>
                </a:r>
                <a:r>
                  <a:rPr lang="en-US" dirty="0" err="1"/>
                  <a:t>kao</a:t>
                </a:r>
                <a:r>
                  <a:rPr lang="en-US" dirty="0"/>
                  <a:t> S, </a:t>
                </a:r>
                <a:r>
                  <a:rPr lang="en-US" dirty="0" err="1"/>
                  <a:t>manja</a:t>
                </a:r>
                <a:r>
                  <a:rPr lang="en-US" dirty="0"/>
                  <a:t> od 2, </a:t>
                </a:r>
                <a:r>
                  <a:rPr lang="en-US" dirty="0" err="1"/>
                  <a:t>reč</a:t>
                </a:r>
                <a:r>
                  <a:rPr lang="en-US" dirty="0"/>
                  <a:t> </a:t>
                </a:r>
                <a:r>
                  <a:rPr lang="en-US" dirty="0" err="1"/>
                  <a:t>je</a:t>
                </a:r>
                <a:r>
                  <a:rPr lang="en-US" dirty="0"/>
                  <a:t> o </a:t>
                </a:r>
                <a:r>
                  <a:rPr lang="en-US" dirty="0" err="1"/>
                  <a:t>klasičnoj</a:t>
                </a:r>
                <a:r>
                  <a:rPr lang="en-US" dirty="0"/>
                  <a:t> </a:t>
                </a:r>
                <a:r>
                  <a:rPr lang="en-US" dirty="0" err="1"/>
                  <a:t>korelaciji</a:t>
                </a:r>
                <a:r>
                  <a:rPr lang="en-US" dirty="0"/>
                  <a:t>, a </a:t>
                </a:r>
                <a:r>
                  <a:rPr lang="en-US" dirty="0" err="1"/>
                  <a:t>ako</a:t>
                </a:r>
                <a:r>
                  <a:rPr lang="en-US" dirty="0"/>
                  <a:t> </a:t>
                </a:r>
                <a:r>
                  <a:rPr lang="en-US" dirty="0" err="1"/>
                  <a:t>je</a:t>
                </a:r>
                <a:r>
                  <a:rPr lang="en-US" dirty="0"/>
                  <a:t> </a:t>
                </a:r>
                <a:r>
                  <a:rPr lang="en-US" dirty="0" err="1"/>
                  <a:t>veća</a:t>
                </a:r>
                <a:r>
                  <a:rPr lang="en-US" dirty="0"/>
                  <a:t> od </a:t>
                </a:r>
                <a:r>
                  <a:rPr lang="en-US" dirty="0" err="1"/>
                  <a:t>te</a:t>
                </a:r>
                <a:r>
                  <a:rPr lang="en-US" dirty="0"/>
                  <a:t> </a:t>
                </a:r>
                <a:r>
                  <a:rPr lang="en-US" dirty="0" err="1"/>
                  <a:t>vrednosti</a:t>
                </a:r>
                <a:r>
                  <a:rPr lang="en-US" dirty="0"/>
                  <a:t>, </a:t>
                </a:r>
                <a:r>
                  <a:rPr lang="en-US" dirty="0" err="1"/>
                  <a:t>reč</a:t>
                </a:r>
                <a:r>
                  <a:rPr lang="en-US" dirty="0"/>
                  <a:t> </a:t>
                </a:r>
                <a:r>
                  <a:rPr lang="en-US" dirty="0" err="1"/>
                  <a:t>je</a:t>
                </a:r>
                <a:r>
                  <a:rPr lang="en-US" dirty="0"/>
                  <a:t> o </a:t>
                </a:r>
                <a:r>
                  <a:rPr lang="en-US" dirty="0" err="1"/>
                  <a:t>kvantno-mehaničkoj</a:t>
                </a:r>
                <a:r>
                  <a:rPr lang="en-US" dirty="0"/>
                  <a:t> </a:t>
                </a:r>
                <a:r>
                  <a:rPr lang="en-US" dirty="0" err="1"/>
                  <a:t>korelaciji</a:t>
                </a:r>
                <a:r>
                  <a:rPr lang="en-US" dirty="0"/>
                  <a:t>.</a:t>
                </a:r>
              </a:p>
              <a:p>
                <a:endParaRPr lang="en-US" dirty="0"/>
              </a:p>
              <a:p>
                <a:r>
                  <a:rPr lang="en-US" dirty="0"/>
                  <a:t>Na primer, Ana </a:t>
                </a:r>
                <a:r>
                  <a:rPr lang="en-US" dirty="0" err="1"/>
                  <a:t>i</a:t>
                </a:r>
                <a:r>
                  <a:rPr lang="en-US" dirty="0"/>
                  <a:t> </a:t>
                </a:r>
                <a:r>
                  <a:rPr lang="en-US" dirty="0" err="1"/>
                  <a:t>Boban</a:t>
                </a:r>
                <a:r>
                  <a:rPr lang="en-US" dirty="0"/>
                  <a:t> od </a:t>
                </a:r>
                <a:r>
                  <a:rPr lang="en-US" dirty="0" err="1"/>
                  <a:t>Cece</a:t>
                </a:r>
                <a:r>
                  <a:rPr lang="en-US" dirty="0"/>
                  <a:t> </a:t>
                </a:r>
                <a:r>
                  <a:rPr lang="en-US" dirty="0" err="1"/>
                  <a:t>preko</a:t>
                </a:r>
                <a:r>
                  <a:rPr lang="en-US" dirty="0"/>
                  <a:t> </a:t>
                </a:r>
                <a:r>
                  <a:rPr lang="en-US" dirty="0" err="1"/>
                  <a:t>satelita</a:t>
                </a:r>
                <a:r>
                  <a:rPr lang="en-US" dirty="0"/>
                  <a:t> </a:t>
                </a:r>
                <a:r>
                  <a:rPr lang="en-US" dirty="0" err="1"/>
                  <a:t>dobijaju</a:t>
                </a:r>
                <a:r>
                  <a:rPr lang="en-US" dirty="0"/>
                  <a:t> </a:t>
                </a:r>
                <a:r>
                  <a:rPr lang="en-US" dirty="0" err="1"/>
                  <a:t>niz</a:t>
                </a:r>
                <a:r>
                  <a:rPr lang="en-US" dirty="0"/>
                  <a:t>  </a:t>
                </a:r>
                <a:r>
                  <a:rPr lang="en-US" dirty="0" err="1"/>
                  <a:t>fotonskih</a:t>
                </a:r>
                <a:r>
                  <a:rPr lang="en-US" dirty="0"/>
                  <a:t> kubita. </a:t>
                </a:r>
                <a:r>
                  <a:rPr lang="en-US" dirty="0" err="1"/>
                  <a:t>Merenjem</a:t>
                </a:r>
                <a:r>
                  <a:rPr lang="en-US" dirty="0"/>
                  <a:t> u </a:t>
                </a:r>
                <a:r>
                  <a:rPr lang="en-US" dirty="0" err="1"/>
                  <a:t>bazama</a:t>
                </a:r>
                <a:r>
                  <a:rPr lang="en-US" dirty="0"/>
                  <a:t> (M</a:t>
                </a:r>
                <a:r>
                  <a:rPr lang="en-US" baseline="-25000" dirty="0"/>
                  <a:t>0</a:t>
                </a:r>
                <a:r>
                  <a:rPr lang="en-US" dirty="0"/>
                  <a:t>,M</a:t>
                </a:r>
                <a:r>
                  <a:rPr lang="en-US" baseline="-25000" dirty="0"/>
                  <a:t>1</a:t>
                </a:r>
                <a:r>
                  <a:rPr lang="en-US" dirty="0"/>
                  <a:t>) </a:t>
                </a:r>
                <a:r>
                  <a:rPr lang="en-US" dirty="0" err="1"/>
                  <a:t>i</a:t>
                </a:r>
                <a:r>
                  <a:rPr lang="en-US" baseline="0" dirty="0"/>
                  <a:t> </a:t>
                </a:r>
                <a:r>
                  <a:rPr lang="en-US" dirty="0"/>
                  <a:t>(N</a:t>
                </a:r>
                <a:r>
                  <a:rPr lang="en-US" baseline="-25000" dirty="0"/>
                  <a:t>0</a:t>
                </a:r>
                <a:r>
                  <a:rPr lang="en-US" dirty="0"/>
                  <a:t>,N</a:t>
                </a:r>
                <a:r>
                  <a:rPr lang="en-US" baseline="-25000" dirty="0"/>
                  <a:t>1</a:t>
                </a:r>
                <a:r>
                  <a:rPr lang="en-US" dirty="0"/>
                  <a:t>) , Ana </a:t>
                </a:r>
                <a:r>
                  <a:rPr lang="en-US" dirty="0" err="1"/>
                  <a:t>i</a:t>
                </a:r>
                <a:r>
                  <a:rPr lang="en-US" dirty="0"/>
                  <a:t> </a:t>
                </a:r>
                <a:r>
                  <a:rPr lang="en-US" dirty="0" err="1"/>
                  <a:t>Boban</a:t>
                </a:r>
                <a:r>
                  <a:rPr lang="en-US" dirty="0"/>
                  <a:t> </a:t>
                </a:r>
                <a:r>
                  <a:rPr lang="en-US" dirty="0" err="1"/>
                  <a:t>dobijaju</a:t>
                </a:r>
                <a:r>
                  <a:rPr lang="en-US" dirty="0"/>
                  <a:t> </a:t>
                </a:r>
                <a:r>
                  <a:rPr lang="en-US" dirty="0" err="1"/>
                  <a:t>rezultate</a:t>
                </a:r>
                <a:r>
                  <a:rPr lang="en-US" dirty="0"/>
                  <a:t> (</a:t>
                </a:r>
                <a:r>
                  <a:rPr lang="en-US" sz="1200" i="0">
                    <a:latin typeface="Cambria Math" panose="02040503050406030204" pitchFamily="18" charset="0"/>
                  </a:rPr>
                  <a:t>𝑎_0</a:t>
                </a:r>
                <a:r>
                  <a:rPr lang="en-US" dirty="0"/>
                  <a:t>,</a:t>
                </a:r>
                <a:r>
                  <a:rPr lang="en-US" sz="1200" dirty="0"/>
                  <a:t> </a:t>
                </a:r>
                <a:r>
                  <a:rPr lang="en-US" sz="1200" i="0">
                    <a:latin typeface="Cambria Math" panose="02040503050406030204" pitchFamily="18" charset="0"/>
                  </a:rPr>
                  <a:t>𝑎_</a:t>
                </a:r>
                <a:r>
                  <a:rPr lang="sr-Latn-RS" sz="1200" b="0" i="0">
                    <a:latin typeface="Cambria Math" panose="02040503050406030204" pitchFamily="18" charset="0"/>
                  </a:rPr>
                  <a:t>1</a:t>
                </a:r>
                <a:r>
                  <a:rPr lang="en-US" dirty="0"/>
                  <a:t>) </a:t>
                </a:r>
                <a:r>
                  <a:rPr lang="en-US" dirty="0" err="1"/>
                  <a:t>i</a:t>
                </a:r>
                <a:r>
                  <a:rPr lang="en-US" dirty="0"/>
                  <a:t> (</a:t>
                </a:r>
                <a:r>
                  <a:rPr lang="sr-Latn-RS" sz="1200" b="0" i="0">
                    <a:latin typeface="Cambria Math" panose="02040503050406030204" pitchFamily="18" charset="0"/>
                  </a:rPr>
                  <a:t>𝑏</a:t>
                </a:r>
                <a:r>
                  <a:rPr lang="en-US" sz="1200" b="0" i="0">
                    <a:latin typeface="Cambria Math" panose="02040503050406030204" pitchFamily="18" charset="0"/>
                  </a:rPr>
                  <a:t>_</a:t>
                </a:r>
                <a:r>
                  <a:rPr lang="en-US" sz="1200" i="0">
                    <a:latin typeface="Cambria Math" panose="02040503050406030204" pitchFamily="18" charset="0"/>
                  </a:rPr>
                  <a:t>0</a:t>
                </a:r>
                <a:r>
                  <a:rPr lang="en-US" dirty="0"/>
                  <a:t>,</a:t>
                </a:r>
                <a:r>
                  <a:rPr lang="en-US" sz="1200" dirty="0"/>
                  <a:t> </a:t>
                </a:r>
                <a:r>
                  <a:rPr lang="sr-Latn-RS" sz="1200" b="0" i="0">
                    <a:latin typeface="Cambria Math" panose="02040503050406030204" pitchFamily="18" charset="0"/>
                  </a:rPr>
                  <a:t>𝑏</a:t>
                </a:r>
                <a:r>
                  <a:rPr lang="en-US" sz="1200" b="0" i="0">
                    <a:latin typeface="Cambria Math" panose="02040503050406030204" pitchFamily="18" charset="0"/>
                  </a:rPr>
                  <a:t>_</a:t>
                </a:r>
                <a:r>
                  <a:rPr lang="sr-Latn-RS" sz="1200" b="0" i="0">
                    <a:latin typeface="Cambria Math" panose="02040503050406030204" pitchFamily="18" charset="0"/>
                  </a:rPr>
                  <a:t>1</a:t>
                </a:r>
                <a:r>
                  <a:rPr lang="en-US" dirty="0"/>
                  <a:t>).</a:t>
                </a:r>
                <a:endParaRPr lang="en-US" baseline="0" dirty="0"/>
              </a:p>
              <a:p>
                <a:endParaRPr lang="en-US" baseline="0" dirty="0"/>
              </a:p>
              <a:p>
                <a:r>
                  <a:rPr lang="en-US" baseline="0" dirty="0"/>
                  <a:t>Kao </a:t>
                </a:r>
                <a:r>
                  <a:rPr lang="en-US" baseline="0" dirty="0" err="1"/>
                  <a:t>mera</a:t>
                </a:r>
                <a:r>
                  <a:rPr lang="en-US" baseline="0" dirty="0"/>
                  <a:t> </a:t>
                </a:r>
                <a:r>
                  <a:rPr lang="en-US" baseline="0" dirty="0" err="1"/>
                  <a:t>korelacije</a:t>
                </a:r>
                <a:r>
                  <a:rPr lang="en-US" baseline="0" dirty="0"/>
                  <a:t> S </a:t>
                </a:r>
                <a:r>
                  <a:rPr lang="en-US" baseline="0" dirty="0" err="1"/>
                  <a:t>definiše</a:t>
                </a:r>
                <a:r>
                  <a:rPr lang="en-US" baseline="0" dirty="0"/>
                  <a:t> se </a:t>
                </a:r>
                <a:r>
                  <a:rPr lang="en-US" baseline="0" dirty="0" err="1"/>
                  <a:t>zbir</a:t>
                </a:r>
                <a:r>
                  <a:rPr lang="en-US" baseline="0" dirty="0"/>
                  <a:t>  </a:t>
                </a:r>
                <a:r>
                  <a:rPr lang="en-US" sz="1200" i="0">
                    <a:latin typeface="Cambria Math" panose="02040503050406030204" pitchFamily="18" charset="0"/>
                  </a:rPr>
                  <a:t>𝐴_0 𝐵_0+𝐴_0 𝐵_1+𝐴_1 𝐵_0−𝐴_1 𝐵_1</a:t>
                </a:r>
                <a:r>
                  <a:rPr lang="en-US" dirty="0"/>
                  <a:t>, </a:t>
                </a:r>
                <a:r>
                  <a:rPr lang="en-US" dirty="0" err="1"/>
                  <a:t>gde</a:t>
                </a:r>
                <a:r>
                  <a:rPr lang="en-US" dirty="0"/>
                  <a:t> se </a:t>
                </a:r>
                <a:r>
                  <a:rPr lang="en-US" sz="1200" i="0">
                    <a:latin typeface="Cambria Math" panose="02040503050406030204" pitchFamily="18" charset="0"/>
                  </a:rPr>
                  <a:t>𝐴_𝑖 𝐵_𝑗</a:t>
                </a:r>
                <a:r>
                  <a:rPr lang="en-US" dirty="0"/>
                  <a:t> </a:t>
                </a:r>
                <a:r>
                  <a:rPr lang="en-US" dirty="0" err="1"/>
                  <a:t>izračunavaju</a:t>
                </a:r>
                <a:r>
                  <a:rPr lang="en-US" dirty="0"/>
                  <a:t> </a:t>
                </a:r>
                <a:r>
                  <a:rPr lang="en-US" dirty="0" err="1"/>
                  <a:t>preko</a:t>
                </a:r>
                <a:r>
                  <a:rPr lang="en-US" dirty="0"/>
                  <a:t> </a:t>
                </a:r>
                <a:r>
                  <a:rPr lang="en-US" dirty="0" err="1"/>
                  <a:t>relativne</a:t>
                </a:r>
                <a:r>
                  <a:rPr lang="en-US" dirty="0"/>
                  <a:t> </a:t>
                </a:r>
                <a:r>
                  <a:rPr lang="en-US" dirty="0" err="1"/>
                  <a:t>frekvencije</a:t>
                </a:r>
                <a:r>
                  <a:rPr lang="en-US" dirty="0"/>
                  <a:t> </a:t>
                </a:r>
                <a:r>
                  <a:rPr lang="en-US" dirty="0" err="1"/>
                  <a:t>merenja</a:t>
                </a:r>
                <a:r>
                  <a:rPr lang="en-US" dirty="0"/>
                  <a:t>.</a:t>
                </a:r>
                <a:r>
                  <a:rPr lang="en-US" baseline="0" dirty="0"/>
                  <a:t>  </a:t>
                </a:r>
                <a:r>
                  <a:rPr lang="en-US" dirty="0"/>
                  <a:t>U </a:t>
                </a:r>
                <a:r>
                  <a:rPr lang="en-US" dirty="0" err="1"/>
                  <a:t>slučaju</a:t>
                </a:r>
                <a:r>
                  <a:rPr lang="en-US" dirty="0"/>
                  <a:t> </a:t>
                </a:r>
                <a:r>
                  <a:rPr lang="en-US" dirty="0" err="1"/>
                  <a:t>klasične</a:t>
                </a:r>
                <a:r>
                  <a:rPr lang="en-US" dirty="0"/>
                  <a:t> </a:t>
                </a:r>
                <a:r>
                  <a:rPr lang="en-US" dirty="0" err="1"/>
                  <a:t>korealcije</a:t>
                </a:r>
                <a:r>
                  <a:rPr lang="en-US" dirty="0"/>
                  <a:t>, S mora </a:t>
                </a:r>
                <a:r>
                  <a:rPr lang="en-US" dirty="0" err="1"/>
                  <a:t>biti</a:t>
                </a:r>
                <a:r>
                  <a:rPr lang="en-US" dirty="0"/>
                  <a:t> mane </a:t>
                </a:r>
                <a:r>
                  <a:rPr lang="en-US" dirty="0" err="1"/>
                  <a:t>ili</a:t>
                </a:r>
                <a:r>
                  <a:rPr lang="en-US" dirty="0"/>
                  <a:t> </a:t>
                </a:r>
                <a:r>
                  <a:rPr lang="en-US" dirty="0" err="1"/>
                  <a:t>jednako</a:t>
                </a:r>
                <a:r>
                  <a:rPr lang="en-US" dirty="0"/>
                  <a:t> 2. </a:t>
                </a:r>
                <a:r>
                  <a:rPr lang="en-US" dirty="0" err="1"/>
                  <a:t>Ako</a:t>
                </a:r>
                <a:r>
                  <a:rPr lang="en-US" dirty="0"/>
                  <a:t> </a:t>
                </a:r>
                <a:r>
                  <a:rPr lang="en-US" dirty="0" err="1"/>
                  <a:t>je</a:t>
                </a:r>
                <a:r>
                  <a:rPr lang="en-US" dirty="0"/>
                  <a:t> S </a:t>
                </a:r>
                <a:r>
                  <a:rPr lang="en-US" dirty="0" err="1"/>
                  <a:t>veće</a:t>
                </a:r>
                <a:r>
                  <a:rPr lang="en-US" dirty="0"/>
                  <a:t> od 2, </a:t>
                </a:r>
                <a:r>
                  <a:rPr lang="en-US" dirty="0" err="1"/>
                  <a:t>narušena</a:t>
                </a:r>
                <a:r>
                  <a:rPr lang="en-US" baseline="0" dirty="0"/>
                  <a:t> </a:t>
                </a:r>
                <a:r>
                  <a:rPr lang="en-US" baseline="0" dirty="0" err="1"/>
                  <a:t>je</a:t>
                </a:r>
                <a:r>
                  <a:rPr lang="en-US" baseline="0" dirty="0"/>
                  <a:t> </a:t>
                </a:r>
                <a:r>
                  <a:rPr lang="en-US" baseline="0" dirty="0" err="1"/>
                  <a:t>nejednakost</a:t>
                </a:r>
                <a:r>
                  <a:rPr lang="en-US" baseline="0" dirty="0"/>
                  <a:t> </a:t>
                </a:r>
                <a:r>
                  <a:rPr lang="en-US" baseline="0" dirty="0" err="1"/>
                  <a:t>klasične</a:t>
                </a:r>
                <a:r>
                  <a:rPr lang="en-US" baseline="0" dirty="0"/>
                  <a:t> </a:t>
                </a:r>
                <a:r>
                  <a:rPr lang="en-US" baseline="0" dirty="0" err="1"/>
                  <a:t>fizike</a:t>
                </a:r>
                <a:r>
                  <a:rPr lang="en-US" baseline="0" dirty="0"/>
                  <a:t>, </a:t>
                </a:r>
                <a:r>
                  <a:rPr lang="en-US" baseline="0" dirty="0" err="1"/>
                  <a:t>što</a:t>
                </a:r>
                <a:r>
                  <a:rPr lang="en-US" baseline="0" dirty="0"/>
                  <a:t> </a:t>
                </a:r>
                <a:r>
                  <a:rPr lang="en-US" baseline="0" dirty="0" err="1"/>
                  <a:t>je</a:t>
                </a:r>
                <a:r>
                  <a:rPr lang="en-US" baseline="0" dirty="0"/>
                  <a:t> </a:t>
                </a:r>
                <a:r>
                  <a:rPr lang="en-US" baseline="0" dirty="0" err="1"/>
                  <a:t>indikacija</a:t>
                </a:r>
                <a:r>
                  <a:rPr lang="en-US" baseline="0" dirty="0"/>
                  <a:t> </a:t>
                </a:r>
                <a:r>
                  <a:rPr lang="en-US" baseline="0" dirty="0" err="1"/>
                  <a:t>kvantno-mehaničkog</a:t>
                </a:r>
                <a:r>
                  <a:rPr lang="en-US" baseline="0" dirty="0"/>
                  <a:t> </a:t>
                </a:r>
                <a:r>
                  <a:rPr lang="en-US" baseline="0" dirty="0" err="1"/>
                  <a:t>fenomena</a:t>
                </a:r>
                <a:r>
                  <a:rPr lang="en-US" baseline="0" dirty="0"/>
                  <a:t>.  </a:t>
                </a:r>
                <a:r>
                  <a:rPr lang="en-US" baseline="0" dirty="0" err="1"/>
                  <a:t>Što</a:t>
                </a:r>
                <a:r>
                  <a:rPr lang="en-US" baseline="0" dirty="0"/>
                  <a:t> se S </a:t>
                </a:r>
                <a:r>
                  <a:rPr lang="en-US" baseline="0" dirty="0" err="1"/>
                  <a:t>više</a:t>
                </a:r>
                <a:r>
                  <a:rPr lang="en-US" baseline="0" dirty="0"/>
                  <a:t> </a:t>
                </a:r>
                <a:r>
                  <a:rPr lang="en-US" baseline="0" dirty="0" err="1"/>
                  <a:t>približava</a:t>
                </a:r>
                <a:r>
                  <a:rPr lang="en-US" baseline="0" dirty="0"/>
                  <a:t> </a:t>
                </a:r>
                <a:r>
                  <a:rPr lang="en-US" baseline="0" dirty="0" err="1"/>
                  <a:t>vrednosti</a:t>
                </a:r>
                <a:r>
                  <a:rPr lang="en-US" baseline="0" dirty="0"/>
                  <a:t> </a:t>
                </a:r>
                <a:r>
                  <a:rPr lang="sr-Latn-RS" sz="1200" b="0" i="0">
                    <a:latin typeface="Cambria Math" panose="02040503050406030204" pitchFamily="18" charset="0"/>
                  </a:rPr>
                  <a:t>2√2</a:t>
                </a:r>
                <a:r>
                  <a:rPr lang="en-US" dirty="0"/>
                  <a:t> to </a:t>
                </a:r>
                <a:r>
                  <a:rPr lang="en-US" dirty="0" err="1"/>
                  <a:t>je</a:t>
                </a:r>
                <a:r>
                  <a:rPr lang="en-US" dirty="0"/>
                  <a:t> </a:t>
                </a:r>
                <a:r>
                  <a:rPr lang="en-US" dirty="0" err="1"/>
                  <a:t>jasnija</a:t>
                </a:r>
                <a:r>
                  <a:rPr lang="en-US" dirty="0"/>
                  <a:t> </a:t>
                </a:r>
                <a:r>
                  <a:rPr lang="en-US" dirty="0" err="1"/>
                  <a:t>indikacija</a:t>
                </a:r>
                <a:r>
                  <a:rPr lang="en-US" dirty="0"/>
                  <a:t> </a:t>
                </a:r>
                <a:r>
                  <a:rPr lang="en-US" dirty="0" err="1"/>
                  <a:t>kvantne</a:t>
                </a:r>
                <a:r>
                  <a:rPr lang="en-US" dirty="0"/>
                  <a:t> </a:t>
                </a:r>
                <a:r>
                  <a:rPr lang="en-US" dirty="0" err="1"/>
                  <a:t>spletenosti</a:t>
                </a:r>
                <a:r>
                  <a:rPr lang="en-US" dirty="0"/>
                  <a:t>.</a:t>
                </a:r>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19</a:t>
            </a:fld>
            <a:endParaRPr lang="en-US"/>
          </a:p>
        </p:txBody>
      </p:sp>
    </p:spTree>
    <p:extLst>
      <p:ext uri="{BB962C8B-B14F-4D97-AF65-F5344CB8AC3E}">
        <p14:creationId xmlns:p14="http://schemas.microsoft.com/office/powerpoint/2010/main" val="18137242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Suppose, for example, that Alice and Bob receive a sequence of entangled photon pairs from Eve via satellite, which they want to use to generate a secret key. However, they are both suspicious that Eve might replace the entangled photons with her own photons and, in this way, effectively impose her own key. To verify that the received photons are indeed entangled, they calculate the correlation measure S, which should be greater than 2 for quantum correlations.</a:t>
                </a:r>
              </a:p>
              <a:p>
                <a:pPr algn="just"/>
                <a:endParaRPr lang="en-ZA" dirty="0"/>
              </a:p>
              <a:p>
                <a:pPr algn="just"/>
                <a:r>
                  <a:rPr lang="en-ZA" dirty="0"/>
                  <a:t>For each received photon pair, Alice randomly chooses one of two measurement bases, </a:t>
                </a:r>
                <a:r>
                  <a:rPr lang="en-ZA" dirty="0" err="1"/>
                  <a:t>i</a:t>
                </a:r>
                <a:r>
                  <a:rPr lang="en-ZA" dirty="0"/>
                  <a:t>₀ or </a:t>
                </a:r>
                <a:r>
                  <a:rPr lang="en-ZA" dirty="0" err="1"/>
                  <a:t>i</a:t>
                </a:r>
                <a:r>
                  <a:rPr lang="en-ZA" dirty="0"/>
                  <a:t>₁, while Bob chooses one of the bases j₀ or j₁. Their measurement results are denoted by a₀ and a₁, and b₀ and b₁, respectively. Of course, for each individual photon pair, Alice and Bob each choose only one basis and obtain only one measurement result.</a:t>
                </a:r>
              </a:p>
              <a:p>
                <a:pPr algn="just"/>
                <a:endParaRPr lang="en-ZA" dirty="0"/>
              </a:p>
              <a:p>
                <a:pPr algn="just"/>
                <a:r>
                  <a:rPr lang="en-ZA" dirty="0"/>
                  <a:t>Since the measurement outcomes are 0 or 1, for the purpose of calculating the correlations they are transformed into the values +1 and −1. A measurement result of 0 is mapped to +1, while a result of 1 is mapped to −1.</a:t>
                </a:r>
              </a:p>
              <a:p>
                <a:pPr algn="just"/>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𝐴</m:t>
                          </m:r>
                        </m:e>
                        <m:sub>
                          <m:r>
                            <a:rPr lang="en-US" sz="1200">
                              <a:latin typeface="Cambria Math" panose="02040503050406030204" pitchFamily="18" charset="0"/>
                            </a:rPr>
                            <m:t>0</m:t>
                          </m:r>
                        </m:sub>
                      </m:sSub>
                      <m:r>
                        <a:rPr lang="en-US" sz="1200">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en-US" sz="1200">
                                  <a:latin typeface="Cambria Math" panose="02040503050406030204" pitchFamily="18" charset="0"/>
                                </a:rPr>
                                <m:t>−1</m:t>
                              </m:r>
                            </m:e>
                          </m:d>
                        </m:e>
                        <m:sup>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a:latin typeface="Cambria Math" panose="02040503050406030204" pitchFamily="18" charset="0"/>
                                </a:rPr>
                                <m:t>0</m:t>
                              </m:r>
                            </m:sub>
                          </m:sSub>
                        </m:sup>
                      </m:sSup>
                      <m:r>
                        <a:rPr lang="en-US" sz="1200" b="0" i="0"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𝐴</m:t>
                          </m:r>
                        </m:e>
                        <m:sub>
                          <m:r>
                            <a:rPr lang="en-US" sz="1200">
                              <a:latin typeface="Cambria Math" panose="02040503050406030204" pitchFamily="18" charset="0"/>
                            </a:rPr>
                            <m:t>1</m:t>
                          </m:r>
                        </m:sub>
                      </m:sSub>
                      <m:r>
                        <a:rPr lang="en-US" sz="1200">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en-US" sz="1200">
                                  <a:latin typeface="Cambria Math" panose="02040503050406030204" pitchFamily="18" charset="0"/>
                                </a:rPr>
                                <m:t>−1</m:t>
                              </m:r>
                            </m:e>
                          </m:d>
                        </m:e>
                        <m:sup>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a:latin typeface="Cambria Math" panose="02040503050406030204" pitchFamily="18" charset="0"/>
                                </a:rPr>
                                <m:t>1</m:t>
                              </m:r>
                            </m:sub>
                          </m:sSub>
                        </m:sup>
                      </m:sSup>
                      <m:r>
                        <a:rPr lang="en-US" sz="1200" b="0" i="0" smtClean="0">
                          <a:latin typeface="Cambria Math" panose="02040503050406030204" pitchFamily="18" charset="0"/>
                        </a:rPr>
                        <m:t>,</m:t>
                      </m:r>
                      <m:r>
                        <a:rPr lang="en-US" sz="1200" b="0" i="1" smtClean="0">
                          <a:latin typeface="Cambria Math" panose="02040503050406030204" pitchFamily="18" charset="0"/>
                        </a:rPr>
                        <m:t>  </m:t>
                      </m:r>
                      <m:sSub>
                        <m:sSubPr>
                          <m:ctrlPr>
                            <a:rPr lang="en-US" sz="1200" i="1" smtClean="0">
                              <a:latin typeface="Cambria Math" panose="02040503050406030204" pitchFamily="18" charset="0"/>
                            </a:rPr>
                          </m:ctrlPr>
                        </m:sSubPr>
                        <m:e>
                          <m:r>
                            <a:rPr lang="en-US" sz="1200" i="1">
                              <a:latin typeface="Cambria Math" panose="02040503050406030204" pitchFamily="18" charset="0"/>
                            </a:rPr>
                            <m:t>𝐵</m:t>
                          </m:r>
                        </m:e>
                        <m:sub>
                          <m:r>
                            <a:rPr lang="en-US" sz="1200">
                              <a:latin typeface="Cambria Math" panose="02040503050406030204" pitchFamily="18" charset="0"/>
                            </a:rPr>
                            <m:t>0</m:t>
                          </m:r>
                        </m:sub>
                      </m:sSub>
                      <m:r>
                        <a:rPr lang="en-US" sz="1200">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en-US" sz="1200">
                                  <a:latin typeface="Cambria Math" panose="02040503050406030204" pitchFamily="18" charset="0"/>
                                </a:rPr>
                                <m:t>−1</m:t>
                              </m:r>
                            </m:e>
                          </m:d>
                        </m:e>
                        <m:sup>
                          <m:sSub>
                            <m:sSubPr>
                              <m:ctrlPr>
                                <a:rPr lang="en-US" sz="1200" i="1">
                                  <a:latin typeface="Cambria Math" panose="02040503050406030204" pitchFamily="18" charset="0"/>
                                </a:rPr>
                              </m:ctrlPr>
                            </m:sSubPr>
                            <m:e>
                              <m:r>
                                <a:rPr lang="en-US" sz="1200" i="1">
                                  <a:latin typeface="Cambria Math" panose="02040503050406030204" pitchFamily="18" charset="0"/>
                                </a:rPr>
                                <m:t>𝑏</m:t>
                              </m:r>
                            </m:e>
                            <m:sub>
                              <m:r>
                                <a:rPr lang="en-US" sz="1200">
                                  <a:latin typeface="Cambria Math" panose="02040503050406030204" pitchFamily="18" charset="0"/>
                                </a:rPr>
                                <m:t>0</m:t>
                              </m:r>
                            </m:sub>
                          </m:sSub>
                        </m:sup>
                      </m:sSup>
                      <m:r>
                        <a:rPr lang="sr-Latn-R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𝐵</m:t>
                          </m:r>
                        </m:e>
                        <m:sub>
                          <m:r>
                            <a:rPr lang="en-US" sz="1200">
                              <a:latin typeface="Cambria Math" panose="02040503050406030204" pitchFamily="18" charset="0"/>
                            </a:rPr>
                            <m:t>1</m:t>
                          </m:r>
                        </m:sub>
                      </m:sSub>
                      <m:r>
                        <a:rPr lang="en-US" sz="1200">
                          <a:latin typeface="Cambria Math" panose="02040503050406030204" pitchFamily="18" charset="0"/>
                        </a:rPr>
                        <m:t>=</m:t>
                      </m:r>
                      <m:sSup>
                        <m:sSupPr>
                          <m:ctrlPr>
                            <a:rPr lang="en-US" sz="1200" i="1">
                              <a:latin typeface="Cambria Math" panose="02040503050406030204" pitchFamily="18" charset="0"/>
                            </a:rPr>
                          </m:ctrlPr>
                        </m:sSupPr>
                        <m:e>
                          <m:d>
                            <m:dPr>
                              <m:ctrlPr>
                                <a:rPr lang="en-US" sz="1200" i="1">
                                  <a:latin typeface="Cambria Math" panose="02040503050406030204" pitchFamily="18" charset="0"/>
                                </a:rPr>
                              </m:ctrlPr>
                            </m:dPr>
                            <m:e>
                              <m:r>
                                <a:rPr lang="en-US" sz="1200">
                                  <a:latin typeface="Cambria Math" panose="02040503050406030204" pitchFamily="18" charset="0"/>
                                </a:rPr>
                                <m:t>−1</m:t>
                              </m:r>
                            </m:e>
                          </m:d>
                        </m:e>
                        <m:sup>
                          <m:sSub>
                            <m:sSubPr>
                              <m:ctrlPr>
                                <a:rPr lang="en-US" sz="1200" i="1">
                                  <a:latin typeface="Cambria Math" panose="02040503050406030204" pitchFamily="18" charset="0"/>
                                </a:rPr>
                              </m:ctrlPr>
                            </m:sSubPr>
                            <m:e>
                              <m:r>
                                <a:rPr lang="en-US" sz="1200" i="1">
                                  <a:latin typeface="Cambria Math" panose="02040503050406030204" pitchFamily="18" charset="0"/>
                                </a:rPr>
                                <m:t>𝑏</m:t>
                              </m:r>
                            </m:e>
                            <m:sub>
                              <m:r>
                                <a:rPr lang="en-US" sz="1200">
                                  <a:latin typeface="Cambria Math" panose="02040503050406030204" pitchFamily="18" charset="0"/>
                                </a:rPr>
                                <m:t>1</m:t>
                              </m:r>
                            </m:sub>
                          </m:sSub>
                        </m:sup>
                      </m:sSup>
                    </m:oMath>
                  </m:oMathPara>
                </a14:m>
                <a:endParaRPr lang="en-ZA" dirty="0"/>
              </a:p>
              <a:p>
                <a:pPr algn="just"/>
                <a:r>
                  <a:rPr lang="en-ZA" dirty="0"/>
                  <a:t>Alice and Bob repeat this procedure many times and then group their results according to the four possible combinations of measurement bases. For each combination, they calculate the average product of their measurement outcomes.</a:t>
                </a:r>
              </a:p>
              <a:p>
                <a:pPr algn="just"/>
                <a:endParaRPr lang="en-ZA" dirty="0"/>
              </a:p>
              <a:p>
                <a:pPr algn="just"/>
                <a:r>
                  <a:rPr lang="en-ZA" dirty="0"/>
                  <a:t>In simple terms, they count how often they obtain the outcomes 00, 01, 10, and 11. Equal outcomes, 00 and 11, contribute +1, while different outcomes, 01 and 10, contribute −1. The correlation is therefore calculated by adding the relative frequencies of equal outcomes, p₀₀ + p₁₁, and subtracting those of different outcomes, p₀₁ + p₁₀.</a:t>
                </a:r>
              </a:p>
              <a:p>
                <a:pPr algn="just"/>
                <a:endParaRPr lang="en-ZA" dirty="0"/>
              </a:p>
              <a:p>
                <a:pPr algn="just"/>
                <a:r>
                  <a:rPr lang="en-ZA" dirty="0"/>
                  <a:t>For example, if they perform 100 measurements and obtain the outcome 00 forty times, the relative frequency of this outcome is 0.4. The relative frequencies of the other outcomes are calculated in the same way.</a:t>
                </a:r>
              </a:p>
              <a:p>
                <a:pPr algn="just"/>
                <a:endParaRPr lang="en-ZA" dirty="0"/>
              </a:p>
              <a:p>
                <a:pPr algn="just"/>
                <a:r>
                  <a:rPr lang="en-ZA" dirty="0"/>
                  <a:t>In this way, Alice and Bob obtain four correlation coefficients, one for each combination of measurement bases. They then combine these coefficients according to the CHSH expression shown on the slide to obtain the final value of S.</a:t>
                </a:r>
              </a:p>
              <a:p>
                <a:pPr algn="just"/>
                <a:r>
                  <a:rPr lang="en-ZA" dirty="0"/>
                  <a:t>If the absolute value of S is less than or equal to 2, the observed correlations can be explained classically. If it is greater than 2, quantum correlations have been detected. Under ideal conditions, for maximally entangled qubits, the value can reach 2√2, or approximately 2.83.</a:t>
                </a:r>
              </a:p>
              <a:p>
                <a:pPr algn="just"/>
                <a:r>
                  <a:rPr lang="en-ZA" dirty="0"/>
                  <a:t>The closer the measured value is to 2.83, the closer the observed correlations are to those expected from an ideal maximally entangled system.</a:t>
                </a:r>
              </a:p>
            </p:txBody>
          </p:sp>
        </mc:Choice>
        <mc:Fallback xmlns="">
          <p:sp>
            <p:nvSpPr>
              <p:cNvPr id="3" name="Notes Placeholder 2"/>
              <p:cNvSpPr>
                <a:spLocks noGrp="1"/>
              </p:cNvSpPr>
              <p:nvPr>
                <p:ph type="body" idx="1"/>
              </p:nvPr>
            </p:nvSpPr>
            <p:spPr/>
            <p:txBody>
              <a:bodyPr/>
              <a:lstStyle/>
              <a:p>
                <a:r>
                  <a:rPr lang="en-US" dirty="0"/>
                  <a:t>Da bi se </a:t>
                </a:r>
                <a:r>
                  <a:rPr lang="en-US" dirty="0" err="1"/>
                  <a:t>razgraničila</a:t>
                </a:r>
                <a:r>
                  <a:rPr lang="en-US" dirty="0"/>
                  <a:t> </a:t>
                </a:r>
                <a:r>
                  <a:rPr lang="en-US" dirty="0" err="1"/>
                  <a:t>klasična</a:t>
                </a:r>
                <a:r>
                  <a:rPr lang="en-US" dirty="0"/>
                  <a:t> </a:t>
                </a:r>
                <a:r>
                  <a:rPr lang="en-US" dirty="0" err="1"/>
                  <a:t>i</a:t>
                </a:r>
                <a:r>
                  <a:rPr lang="en-US" dirty="0"/>
                  <a:t> </a:t>
                </a:r>
                <a:r>
                  <a:rPr lang="en-US" dirty="0" err="1"/>
                  <a:t>kvantna</a:t>
                </a:r>
                <a:r>
                  <a:rPr lang="en-US" dirty="0"/>
                  <a:t> </a:t>
                </a:r>
                <a:r>
                  <a:rPr lang="en-US" dirty="0" err="1"/>
                  <a:t>korelacija</a:t>
                </a:r>
                <a:r>
                  <a:rPr lang="en-US" dirty="0"/>
                  <a:t> </a:t>
                </a:r>
                <a:r>
                  <a:rPr lang="en-US" dirty="0" err="1"/>
                  <a:t>koristi</a:t>
                </a:r>
                <a:r>
                  <a:rPr lang="en-US" dirty="0"/>
                  <a:t> se </a:t>
                </a:r>
                <a:r>
                  <a:rPr lang="en-US" dirty="0" err="1"/>
                  <a:t>Belova</a:t>
                </a:r>
                <a:r>
                  <a:rPr lang="en-US" dirty="0"/>
                  <a:t> </a:t>
                </a:r>
                <a:r>
                  <a:rPr lang="en-US" dirty="0" err="1"/>
                  <a:t>nejednakost</a:t>
                </a:r>
                <a:r>
                  <a:rPr lang="en-US" dirty="0"/>
                  <a:t> </a:t>
                </a:r>
                <a:r>
                  <a:rPr lang="en-US" dirty="0" err="1"/>
                  <a:t>nazvanu</a:t>
                </a:r>
                <a:r>
                  <a:rPr lang="en-US" dirty="0"/>
                  <a:t> </a:t>
                </a:r>
                <a:r>
                  <a:rPr lang="en-US" dirty="0" err="1"/>
                  <a:t>po</a:t>
                </a:r>
                <a:r>
                  <a:rPr lang="en-US" dirty="0"/>
                  <a:t> </a:t>
                </a:r>
                <a:r>
                  <a:rPr lang="en-US" dirty="0" err="1"/>
                  <a:t>fizičaru</a:t>
                </a:r>
                <a:r>
                  <a:rPr lang="en-US" dirty="0"/>
                  <a:t> </a:t>
                </a:r>
                <a:r>
                  <a:rPr lang="en-US" dirty="0" err="1"/>
                  <a:t>Džonu</a:t>
                </a:r>
                <a:r>
                  <a:rPr lang="en-US" dirty="0"/>
                  <a:t> </a:t>
                </a:r>
                <a:r>
                  <a:rPr lang="en-US" dirty="0" err="1"/>
                  <a:t>Belu</a:t>
                </a:r>
                <a:r>
                  <a:rPr lang="en-US" dirty="0"/>
                  <a:t>. </a:t>
                </a:r>
                <a:r>
                  <a:rPr lang="en-US" dirty="0" err="1"/>
                  <a:t>Varijanta</a:t>
                </a:r>
                <a:r>
                  <a:rPr lang="en-US" dirty="0"/>
                  <a:t> </a:t>
                </a:r>
                <a:r>
                  <a:rPr lang="en-US" dirty="0" err="1"/>
                  <a:t>ove</a:t>
                </a:r>
                <a:r>
                  <a:rPr lang="en-US" dirty="0"/>
                  <a:t> </a:t>
                </a:r>
                <a:r>
                  <a:rPr lang="en-US" dirty="0" err="1"/>
                  <a:t>nejednakosti</a:t>
                </a:r>
                <a:r>
                  <a:rPr lang="en-US" dirty="0"/>
                  <a:t> </a:t>
                </a:r>
                <a:r>
                  <a:rPr lang="en-US" dirty="0" err="1"/>
                  <a:t>koja</a:t>
                </a:r>
                <a:r>
                  <a:rPr lang="en-US" dirty="0"/>
                  <a:t> se </a:t>
                </a:r>
                <a:r>
                  <a:rPr lang="en-US" dirty="0" err="1"/>
                  <a:t>koristi</a:t>
                </a:r>
                <a:r>
                  <a:rPr lang="en-US" dirty="0"/>
                  <a:t> </a:t>
                </a:r>
                <a:r>
                  <a:rPr lang="en-US" dirty="0" err="1"/>
                  <a:t>za</a:t>
                </a:r>
                <a:r>
                  <a:rPr lang="en-US" dirty="0"/>
                  <a:t> </a:t>
                </a:r>
                <a:r>
                  <a:rPr lang="en-US" dirty="0" err="1"/>
                  <a:t>detekciju</a:t>
                </a:r>
                <a:r>
                  <a:rPr lang="en-US" dirty="0"/>
                  <a:t> </a:t>
                </a:r>
                <a:r>
                  <a:rPr lang="en-US" dirty="0" err="1"/>
                  <a:t>spletenih</a:t>
                </a:r>
                <a:r>
                  <a:rPr lang="en-US" dirty="0"/>
                  <a:t> kubita </a:t>
                </a:r>
                <a:r>
                  <a:rPr lang="en-US" dirty="0" err="1"/>
                  <a:t>naziva</a:t>
                </a:r>
                <a:r>
                  <a:rPr lang="en-US" dirty="0"/>
                  <a:t> se CSHS </a:t>
                </a:r>
                <a:r>
                  <a:rPr lang="en-US" dirty="0" err="1"/>
                  <a:t>nejednakost</a:t>
                </a:r>
                <a:r>
                  <a:rPr lang="en-US" dirty="0"/>
                  <a:t> </a:t>
                </a:r>
                <a:r>
                  <a:rPr lang="en-US" dirty="0" err="1"/>
                  <a:t>po</a:t>
                </a:r>
                <a:r>
                  <a:rPr lang="en-US" dirty="0"/>
                  <a:t> </a:t>
                </a:r>
                <a:r>
                  <a:rPr lang="en-US" dirty="0" err="1"/>
                  <a:t>imenima</a:t>
                </a:r>
                <a:r>
                  <a:rPr lang="en-US" dirty="0"/>
                  <a:t> </a:t>
                </a:r>
                <a:r>
                  <a:rPr lang="en-US" dirty="0" err="1"/>
                  <a:t>autora</a:t>
                </a:r>
                <a:r>
                  <a:rPr lang="en-US" dirty="0"/>
                  <a:t>. </a:t>
                </a:r>
                <a:r>
                  <a:rPr lang="en-US" dirty="0" err="1"/>
                  <a:t>Ako</a:t>
                </a:r>
                <a:r>
                  <a:rPr lang="en-US" dirty="0"/>
                  <a:t> </a:t>
                </a:r>
                <a:r>
                  <a:rPr lang="en-US" dirty="0" err="1"/>
                  <a:t>je</a:t>
                </a:r>
                <a:r>
                  <a:rPr lang="en-US" dirty="0"/>
                  <a:t> </a:t>
                </a:r>
                <a:r>
                  <a:rPr lang="en-US" dirty="0" err="1"/>
                  <a:t>mera</a:t>
                </a:r>
                <a:r>
                  <a:rPr lang="en-US" dirty="0"/>
                  <a:t> </a:t>
                </a:r>
                <a:r>
                  <a:rPr lang="en-US" dirty="0" err="1"/>
                  <a:t>korelacije</a:t>
                </a:r>
                <a:r>
                  <a:rPr lang="en-US" dirty="0"/>
                  <a:t>, </a:t>
                </a:r>
                <a:r>
                  <a:rPr lang="en-US" dirty="0" err="1"/>
                  <a:t>obično</a:t>
                </a:r>
                <a:r>
                  <a:rPr lang="en-US" dirty="0"/>
                  <a:t> </a:t>
                </a:r>
                <a:r>
                  <a:rPr lang="en-US" dirty="0" err="1"/>
                  <a:t>označena</a:t>
                </a:r>
                <a:r>
                  <a:rPr lang="en-US" dirty="0"/>
                  <a:t> </a:t>
                </a:r>
                <a:r>
                  <a:rPr lang="en-US" dirty="0" err="1"/>
                  <a:t>kao</a:t>
                </a:r>
                <a:r>
                  <a:rPr lang="en-US" dirty="0"/>
                  <a:t> S, </a:t>
                </a:r>
                <a:r>
                  <a:rPr lang="en-US" dirty="0" err="1"/>
                  <a:t>manja</a:t>
                </a:r>
                <a:r>
                  <a:rPr lang="en-US" dirty="0"/>
                  <a:t> od 2, </a:t>
                </a:r>
                <a:r>
                  <a:rPr lang="en-US" dirty="0" err="1"/>
                  <a:t>reč</a:t>
                </a:r>
                <a:r>
                  <a:rPr lang="en-US" dirty="0"/>
                  <a:t> </a:t>
                </a:r>
                <a:r>
                  <a:rPr lang="en-US" dirty="0" err="1"/>
                  <a:t>je</a:t>
                </a:r>
                <a:r>
                  <a:rPr lang="en-US" dirty="0"/>
                  <a:t> o </a:t>
                </a:r>
                <a:r>
                  <a:rPr lang="en-US" dirty="0" err="1"/>
                  <a:t>klasičnoj</a:t>
                </a:r>
                <a:r>
                  <a:rPr lang="en-US" dirty="0"/>
                  <a:t> </a:t>
                </a:r>
                <a:r>
                  <a:rPr lang="en-US" dirty="0" err="1"/>
                  <a:t>korelaciji</a:t>
                </a:r>
                <a:r>
                  <a:rPr lang="en-US" dirty="0"/>
                  <a:t>, a </a:t>
                </a:r>
                <a:r>
                  <a:rPr lang="en-US" dirty="0" err="1"/>
                  <a:t>ako</a:t>
                </a:r>
                <a:r>
                  <a:rPr lang="en-US" dirty="0"/>
                  <a:t> </a:t>
                </a:r>
                <a:r>
                  <a:rPr lang="en-US" dirty="0" err="1"/>
                  <a:t>je</a:t>
                </a:r>
                <a:r>
                  <a:rPr lang="en-US" dirty="0"/>
                  <a:t> </a:t>
                </a:r>
                <a:r>
                  <a:rPr lang="en-US" dirty="0" err="1"/>
                  <a:t>veća</a:t>
                </a:r>
                <a:r>
                  <a:rPr lang="en-US" dirty="0"/>
                  <a:t> od </a:t>
                </a:r>
                <a:r>
                  <a:rPr lang="en-US" dirty="0" err="1"/>
                  <a:t>te</a:t>
                </a:r>
                <a:r>
                  <a:rPr lang="en-US" dirty="0"/>
                  <a:t> </a:t>
                </a:r>
                <a:r>
                  <a:rPr lang="en-US" dirty="0" err="1"/>
                  <a:t>vrednosti</a:t>
                </a:r>
                <a:r>
                  <a:rPr lang="en-US" dirty="0"/>
                  <a:t>, </a:t>
                </a:r>
                <a:r>
                  <a:rPr lang="en-US" dirty="0" err="1"/>
                  <a:t>reč</a:t>
                </a:r>
                <a:r>
                  <a:rPr lang="en-US" dirty="0"/>
                  <a:t> </a:t>
                </a:r>
                <a:r>
                  <a:rPr lang="en-US" dirty="0" err="1"/>
                  <a:t>je</a:t>
                </a:r>
                <a:r>
                  <a:rPr lang="en-US" dirty="0"/>
                  <a:t> o </a:t>
                </a:r>
                <a:r>
                  <a:rPr lang="en-US" dirty="0" err="1"/>
                  <a:t>kvantno-mehaničkoj</a:t>
                </a:r>
                <a:r>
                  <a:rPr lang="en-US" dirty="0"/>
                  <a:t> </a:t>
                </a:r>
                <a:r>
                  <a:rPr lang="en-US" dirty="0" err="1"/>
                  <a:t>korelaciji</a:t>
                </a:r>
                <a:r>
                  <a:rPr lang="en-US" dirty="0"/>
                  <a:t>.</a:t>
                </a:r>
              </a:p>
              <a:p>
                <a:endParaRPr lang="en-US" dirty="0"/>
              </a:p>
              <a:p>
                <a:r>
                  <a:rPr lang="en-US" dirty="0"/>
                  <a:t>Na primer, Ana </a:t>
                </a:r>
                <a:r>
                  <a:rPr lang="en-US" dirty="0" err="1"/>
                  <a:t>i</a:t>
                </a:r>
                <a:r>
                  <a:rPr lang="en-US" dirty="0"/>
                  <a:t> </a:t>
                </a:r>
                <a:r>
                  <a:rPr lang="en-US" dirty="0" err="1"/>
                  <a:t>Boban</a:t>
                </a:r>
                <a:r>
                  <a:rPr lang="en-US" dirty="0"/>
                  <a:t> od </a:t>
                </a:r>
                <a:r>
                  <a:rPr lang="en-US" dirty="0" err="1"/>
                  <a:t>Cece</a:t>
                </a:r>
                <a:r>
                  <a:rPr lang="en-US" dirty="0"/>
                  <a:t> </a:t>
                </a:r>
                <a:r>
                  <a:rPr lang="en-US" dirty="0" err="1"/>
                  <a:t>preko</a:t>
                </a:r>
                <a:r>
                  <a:rPr lang="en-US" dirty="0"/>
                  <a:t> </a:t>
                </a:r>
                <a:r>
                  <a:rPr lang="en-US" dirty="0" err="1"/>
                  <a:t>satelita</a:t>
                </a:r>
                <a:r>
                  <a:rPr lang="en-US" dirty="0"/>
                  <a:t> </a:t>
                </a:r>
                <a:r>
                  <a:rPr lang="en-US" dirty="0" err="1"/>
                  <a:t>dobijaju</a:t>
                </a:r>
                <a:r>
                  <a:rPr lang="en-US" dirty="0"/>
                  <a:t> </a:t>
                </a:r>
                <a:r>
                  <a:rPr lang="en-US" dirty="0" err="1"/>
                  <a:t>niz</a:t>
                </a:r>
                <a:r>
                  <a:rPr lang="en-US" dirty="0"/>
                  <a:t>  </a:t>
                </a:r>
                <a:r>
                  <a:rPr lang="en-US" dirty="0" err="1"/>
                  <a:t>fotonskih</a:t>
                </a:r>
                <a:r>
                  <a:rPr lang="en-US" dirty="0"/>
                  <a:t> kubita. </a:t>
                </a:r>
                <a:r>
                  <a:rPr lang="en-US" dirty="0" err="1"/>
                  <a:t>Merenjem</a:t>
                </a:r>
                <a:r>
                  <a:rPr lang="en-US" dirty="0"/>
                  <a:t> u </a:t>
                </a:r>
                <a:r>
                  <a:rPr lang="en-US" dirty="0" err="1"/>
                  <a:t>bazama</a:t>
                </a:r>
                <a:r>
                  <a:rPr lang="en-US" dirty="0"/>
                  <a:t> (M</a:t>
                </a:r>
                <a:r>
                  <a:rPr lang="en-US" baseline="-25000" dirty="0"/>
                  <a:t>0</a:t>
                </a:r>
                <a:r>
                  <a:rPr lang="en-US" dirty="0"/>
                  <a:t>,M</a:t>
                </a:r>
                <a:r>
                  <a:rPr lang="en-US" baseline="-25000" dirty="0"/>
                  <a:t>1</a:t>
                </a:r>
                <a:r>
                  <a:rPr lang="en-US" dirty="0"/>
                  <a:t>) </a:t>
                </a:r>
                <a:r>
                  <a:rPr lang="en-US" dirty="0" err="1"/>
                  <a:t>i</a:t>
                </a:r>
                <a:r>
                  <a:rPr lang="en-US" baseline="0" dirty="0"/>
                  <a:t> </a:t>
                </a:r>
                <a:r>
                  <a:rPr lang="en-US" dirty="0"/>
                  <a:t>(N</a:t>
                </a:r>
                <a:r>
                  <a:rPr lang="en-US" baseline="-25000" dirty="0"/>
                  <a:t>0</a:t>
                </a:r>
                <a:r>
                  <a:rPr lang="en-US" dirty="0"/>
                  <a:t>,N</a:t>
                </a:r>
                <a:r>
                  <a:rPr lang="en-US" baseline="-25000" dirty="0"/>
                  <a:t>1</a:t>
                </a:r>
                <a:r>
                  <a:rPr lang="en-US" dirty="0"/>
                  <a:t>) , Ana </a:t>
                </a:r>
                <a:r>
                  <a:rPr lang="en-US" dirty="0" err="1"/>
                  <a:t>i</a:t>
                </a:r>
                <a:r>
                  <a:rPr lang="en-US" dirty="0"/>
                  <a:t> </a:t>
                </a:r>
                <a:r>
                  <a:rPr lang="en-US" dirty="0" err="1"/>
                  <a:t>Boban</a:t>
                </a:r>
                <a:r>
                  <a:rPr lang="en-US" dirty="0"/>
                  <a:t> </a:t>
                </a:r>
                <a:r>
                  <a:rPr lang="en-US" dirty="0" err="1"/>
                  <a:t>dobijaju</a:t>
                </a:r>
                <a:r>
                  <a:rPr lang="en-US" dirty="0"/>
                  <a:t> </a:t>
                </a:r>
                <a:r>
                  <a:rPr lang="en-US" dirty="0" err="1"/>
                  <a:t>rezultate</a:t>
                </a:r>
                <a:r>
                  <a:rPr lang="en-US" dirty="0"/>
                  <a:t> (</a:t>
                </a:r>
                <a:r>
                  <a:rPr lang="en-US" sz="1200" i="0">
                    <a:latin typeface="Cambria Math" panose="02040503050406030204" pitchFamily="18" charset="0"/>
                  </a:rPr>
                  <a:t>𝑎_0</a:t>
                </a:r>
                <a:r>
                  <a:rPr lang="en-US" dirty="0"/>
                  <a:t>,</a:t>
                </a:r>
                <a:r>
                  <a:rPr lang="en-US" sz="1200" dirty="0"/>
                  <a:t> </a:t>
                </a:r>
                <a:r>
                  <a:rPr lang="en-US" sz="1200" i="0">
                    <a:latin typeface="Cambria Math" panose="02040503050406030204" pitchFamily="18" charset="0"/>
                  </a:rPr>
                  <a:t>𝑎_</a:t>
                </a:r>
                <a:r>
                  <a:rPr lang="sr-Latn-RS" sz="1200" b="0" i="0">
                    <a:latin typeface="Cambria Math" panose="02040503050406030204" pitchFamily="18" charset="0"/>
                  </a:rPr>
                  <a:t>1</a:t>
                </a:r>
                <a:r>
                  <a:rPr lang="en-US" dirty="0"/>
                  <a:t>) </a:t>
                </a:r>
                <a:r>
                  <a:rPr lang="en-US" dirty="0" err="1"/>
                  <a:t>i</a:t>
                </a:r>
                <a:r>
                  <a:rPr lang="en-US" dirty="0"/>
                  <a:t> (</a:t>
                </a:r>
                <a:r>
                  <a:rPr lang="sr-Latn-RS" sz="1200" b="0" i="0">
                    <a:latin typeface="Cambria Math" panose="02040503050406030204" pitchFamily="18" charset="0"/>
                  </a:rPr>
                  <a:t>𝑏</a:t>
                </a:r>
                <a:r>
                  <a:rPr lang="en-US" sz="1200" b="0" i="0">
                    <a:latin typeface="Cambria Math" panose="02040503050406030204" pitchFamily="18" charset="0"/>
                  </a:rPr>
                  <a:t>_</a:t>
                </a:r>
                <a:r>
                  <a:rPr lang="en-US" sz="1200" i="0">
                    <a:latin typeface="Cambria Math" panose="02040503050406030204" pitchFamily="18" charset="0"/>
                  </a:rPr>
                  <a:t>0</a:t>
                </a:r>
                <a:r>
                  <a:rPr lang="en-US" dirty="0"/>
                  <a:t>,</a:t>
                </a:r>
                <a:r>
                  <a:rPr lang="en-US" sz="1200" dirty="0"/>
                  <a:t> </a:t>
                </a:r>
                <a:r>
                  <a:rPr lang="sr-Latn-RS" sz="1200" b="0" i="0">
                    <a:latin typeface="Cambria Math" panose="02040503050406030204" pitchFamily="18" charset="0"/>
                  </a:rPr>
                  <a:t>𝑏</a:t>
                </a:r>
                <a:r>
                  <a:rPr lang="en-US" sz="1200" b="0" i="0">
                    <a:latin typeface="Cambria Math" panose="02040503050406030204" pitchFamily="18" charset="0"/>
                  </a:rPr>
                  <a:t>_</a:t>
                </a:r>
                <a:r>
                  <a:rPr lang="sr-Latn-RS" sz="1200" b="0" i="0">
                    <a:latin typeface="Cambria Math" panose="02040503050406030204" pitchFamily="18" charset="0"/>
                  </a:rPr>
                  <a:t>1</a:t>
                </a:r>
                <a:r>
                  <a:rPr lang="en-US" dirty="0"/>
                  <a:t>).</a:t>
                </a:r>
                <a:endParaRPr lang="en-US" baseline="0" dirty="0"/>
              </a:p>
              <a:p>
                <a:endParaRPr lang="en-US" baseline="0" dirty="0"/>
              </a:p>
              <a:p>
                <a:r>
                  <a:rPr lang="en-US" baseline="0" dirty="0"/>
                  <a:t>Kao </a:t>
                </a:r>
                <a:r>
                  <a:rPr lang="en-US" baseline="0" dirty="0" err="1"/>
                  <a:t>mera</a:t>
                </a:r>
                <a:r>
                  <a:rPr lang="en-US" baseline="0" dirty="0"/>
                  <a:t> </a:t>
                </a:r>
                <a:r>
                  <a:rPr lang="en-US" baseline="0" dirty="0" err="1"/>
                  <a:t>korelacije</a:t>
                </a:r>
                <a:r>
                  <a:rPr lang="en-US" baseline="0" dirty="0"/>
                  <a:t> S </a:t>
                </a:r>
                <a:r>
                  <a:rPr lang="en-US" baseline="0" dirty="0" err="1"/>
                  <a:t>definiše</a:t>
                </a:r>
                <a:r>
                  <a:rPr lang="en-US" baseline="0" dirty="0"/>
                  <a:t> se </a:t>
                </a:r>
                <a:r>
                  <a:rPr lang="en-US" baseline="0" dirty="0" err="1"/>
                  <a:t>zbir</a:t>
                </a:r>
                <a:r>
                  <a:rPr lang="en-US" baseline="0" dirty="0"/>
                  <a:t>  </a:t>
                </a:r>
                <a:r>
                  <a:rPr lang="en-US" sz="1200" i="0">
                    <a:latin typeface="Cambria Math" panose="02040503050406030204" pitchFamily="18" charset="0"/>
                  </a:rPr>
                  <a:t>𝐴_0 𝐵_0+𝐴_0 𝐵_1+𝐴_1 𝐵_0−𝐴_1 𝐵_1</a:t>
                </a:r>
                <a:r>
                  <a:rPr lang="en-US" dirty="0"/>
                  <a:t>, </a:t>
                </a:r>
                <a:r>
                  <a:rPr lang="en-US" dirty="0" err="1"/>
                  <a:t>gde</a:t>
                </a:r>
                <a:r>
                  <a:rPr lang="en-US" dirty="0"/>
                  <a:t> se </a:t>
                </a:r>
                <a:r>
                  <a:rPr lang="en-US" sz="1200" i="0">
                    <a:latin typeface="Cambria Math" panose="02040503050406030204" pitchFamily="18" charset="0"/>
                  </a:rPr>
                  <a:t>𝐴_𝑖 𝐵_𝑗</a:t>
                </a:r>
                <a:r>
                  <a:rPr lang="en-US" dirty="0"/>
                  <a:t> </a:t>
                </a:r>
                <a:r>
                  <a:rPr lang="en-US" dirty="0" err="1"/>
                  <a:t>izračunavaju</a:t>
                </a:r>
                <a:r>
                  <a:rPr lang="en-US" dirty="0"/>
                  <a:t> </a:t>
                </a:r>
                <a:r>
                  <a:rPr lang="en-US" dirty="0" err="1"/>
                  <a:t>preko</a:t>
                </a:r>
                <a:r>
                  <a:rPr lang="en-US" dirty="0"/>
                  <a:t> </a:t>
                </a:r>
                <a:r>
                  <a:rPr lang="en-US" dirty="0" err="1"/>
                  <a:t>relativne</a:t>
                </a:r>
                <a:r>
                  <a:rPr lang="en-US" dirty="0"/>
                  <a:t> </a:t>
                </a:r>
                <a:r>
                  <a:rPr lang="en-US" dirty="0" err="1"/>
                  <a:t>frekvencije</a:t>
                </a:r>
                <a:r>
                  <a:rPr lang="en-US" dirty="0"/>
                  <a:t> </a:t>
                </a:r>
                <a:r>
                  <a:rPr lang="en-US" dirty="0" err="1"/>
                  <a:t>merenja</a:t>
                </a:r>
                <a:r>
                  <a:rPr lang="en-US" dirty="0"/>
                  <a:t>.</a:t>
                </a:r>
                <a:r>
                  <a:rPr lang="en-US" baseline="0" dirty="0"/>
                  <a:t>  </a:t>
                </a:r>
                <a:r>
                  <a:rPr lang="en-US" dirty="0"/>
                  <a:t>U </a:t>
                </a:r>
                <a:r>
                  <a:rPr lang="en-US" dirty="0" err="1"/>
                  <a:t>slučaju</a:t>
                </a:r>
                <a:r>
                  <a:rPr lang="en-US" dirty="0"/>
                  <a:t> </a:t>
                </a:r>
                <a:r>
                  <a:rPr lang="en-US" dirty="0" err="1"/>
                  <a:t>klasične</a:t>
                </a:r>
                <a:r>
                  <a:rPr lang="en-US" dirty="0"/>
                  <a:t> </a:t>
                </a:r>
                <a:r>
                  <a:rPr lang="en-US" dirty="0" err="1"/>
                  <a:t>korealcije</a:t>
                </a:r>
                <a:r>
                  <a:rPr lang="en-US" dirty="0"/>
                  <a:t>, S mora </a:t>
                </a:r>
                <a:r>
                  <a:rPr lang="en-US" dirty="0" err="1"/>
                  <a:t>biti</a:t>
                </a:r>
                <a:r>
                  <a:rPr lang="en-US" dirty="0"/>
                  <a:t> mane </a:t>
                </a:r>
                <a:r>
                  <a:rPr lang="en-US" dirty="0" err="1"/>
                  <a:t>ili</a:t>
                </a:r>
                <a:r>
                  <a:rPr lang="en-US" dirty="0"/>
                  <a:t> </a:t>
                </a:r>
                <a:r>
                  <a:rPr lang="en-US" dirty="0" err="1"/>
                  <a:t>jednako</a:t>
                </a:r>
                <a:r>
                  <a:rPr lang="en-US" dirty="0"/>
                  <a:t> 2. </a:t>
                </a:r>
                <a:r>
                  <a:rPr lang="en-US" dirty="0" err="1"/>
                  <a:t>Ako</a:t>
                </a:r>
                <a:r>
                  <a:rPr lang="en-US" dirty="0"/>
                  <a:t> </a:t>
                </a:r>
                <a:r>
                  <a:rPr lang="en-US" dirty="0" err="1"/>
                  <a:t>je</a:t>
                </a:r>
                <a:r>
                  <a:rPr lang="en-US" dirty="0"/>
                  <a:t> S </a:t>
                </a:r>
                <a:r>
                  <a:rPr lang="en-US" dirty="0" err="1"/>
                  <a:t>veće</a:t>
                </a:r>
                <a:r>
                  <a:rPr lang="en-US" dirty="0"/>
                  <a:t> od 2, </a:t>
                </a:r>
                <a:r>
                  <a:rPr lang="en-US" dirty="0" err="1"/>
                  <a:t>narušena</a:t>
                </a:r>
                <a:r>
                  <a:rPr lang="en-US" baseline="0" dirty="0"/>
                  <a:t> </a:t>
                </a:r>
                <a:r>
                  <a:rPr lang="en-US" baseline="0" dirty="0" err="1"/>
                  <a:t>je</a:t>
                </a:r>
                <a:r>
                  <a:rPr lang="en-US" baseline="0" dirty="0"/>
                  <a:t> </a:t>
                </a:r>
                <a:r>
                  <a:rPr lang="en-US" baseline="0" dirty="0" err="1"/>
                  <a:t>nejednakost</a:t>
                </a:r>
                <a:r>
                  <a:rPr lang="en-US" baseline="0" dirty="0"/>
                  <a:t> </a:t>
                </a:r>
                <a:r>
                  <a:rPr lang="en-US" baseline="0" dirty="0" err="1"/>
                  <a:t>klasične</a:t>
                </a:r>
                <a:r>
                  <a:rPr lang="en-US" baseline="0" dirty="0"/>
                  <a:t> </a:t>
                </a:r>
                <a:r>
                  <a:rPr lang="en-US" baseline="0" dirty="0" err="1"/>
                  <a:t>fizike</a:t>
                </a:r>
                <a:r>
                  <a:rPr lang="en-US" baseline="0" dirty="0"/>
                  <a:t>, </a:t>
                </a:r>
                <a:r>
                  <a:rPr lang="en-US" baseline="0" dirty="0" err="1"/>
                  <a:t>što</a:t>
                </a:r>
                <a:r>
                  <a:rPr lang="en-US" baseline="0" dirty="0"/>
                  <a:t> </a:t>
                </a:r>
                <a:r>
                  <a:rPr lang="en-US" baseline="0" dirty="0" err="1"/>
                  <a:t>je</a:t>
                </a:r>
                <a:r>
                  <a:rPr lang="en-US" baseline="0" dirty="0"/>
                  <a:t> </a:t>
                </a:r>
                <a:r>
                  <a:rPr lang="en-US" baseline="0" dirty="0" err="1"/>
                  <a:t>indikacija</a:t>
                </a:r>
                <a:r>
                  <a:rPr lang="en-US" baseline="0" dirty="0"/>
                  <a:t> </a:t>
                </a:r>
                <a:r>
                  <a:rPr lang="en-US" baseline="0" dirty="0" err="1"/>
                  <a:t>kvantno-mehaničkog</a:t>
                </a:r>
                <a:r>
                  <a:rPr lang="en-US" baseline="0" dirty="0"/>
                  <a:t> </a:t>
                </a:r>
                <a:r>
                  <a:rPr lang="en-US" baseline="0" dirty="0" err="1"/>
                  <a:t>fenomena</a:t>
                </a:r>
                <a:r>
                  <a:rPr lang="en-US" baseline="0" dirty="0"/>
                  <a:t>.  </a:t>
                </a:r>
                <a:r>
                  <a:rPr lang="en-US" baseline="0" dirty="0" err="1"/>
                  <a:t>Što</a:t>
                </a:r>
                <a:r>
                  <a:rPr lang="en-US" baseline="0" dirty="0"/>
                  <a:t> se S </a:t>
                </a:r>
                <a:r>
                  <a:rPr lang="en-US" baseline="0" dirty="0" err="1"/>
                  <a:t>više</a:t>
                </a:r>
                <a:r>
                  <a:rPr lang="en-US" baseline="0" dirty="0"/>
                  <a:t> </a:t>
                </a:r>
                <a:r>
                  <a:rPr lang="en-US" baseline="0" dirty="0" err="1"/>
                  <a:t>približava</a:t>
                </a:r>
                <a:r>
                  <a:rPr lang="en-US" baseline="0" dirty="0"/>
                  <a:t> </a:t>
                </a:r>
                <a:r>
                  <a:rPr lang="en-US" baseline="0" dirty="0" err="1"/>
                  <a:t>vrednosti</a:t>
                </a:r>
                <a:r>
                  <a:rPr lang="en-US" baseline="0" dirty="0"/>
                  <a:t> </a:t>
                </a:r>
                <a:r>
                  <a:rPr lang="sr-Latn-RS" sz="1200" b="0" i="0">
                    <a:latin typeface="Cambria Math" panose="02040503050406030204" pitchFamily="18" charset="0"/>
                  </a:rPr>
                  <a:t>2√2</a:t>
                </a:r>
                <a:r>
                  <a:rPr lang="en-US" dirty="0"/>
                  <a:t> to </a:t>
                </a:r>
                <a:r>
                  <a:rPr lang="en-US" dirty="0" err="1"/>
                  <a:t>je</a:t>
                </a:r>
                <a:r>
                  <a:rPr lang="en-US" dirty="0"/>
                  <a:t> </a:t>
                </a:r>
                <a:r>
                  <a:rPr lang="en-US" dirty="0" err="1"/>
                  <a:t>jasnija</a:t>
                </a:r>
                <a:r>
                  <a:rPr lang="en-US" dirty="0"/>
                  <a:t> </a:t>
                </a:r>
                <a:r>
                  <a:rPr lang="en-US" dirty="0" err="1"/>
                  <a:t>indikacija</a:t>
                </a:r>
                <a:r>
                  <a:rPr lang="en-US" dirty="0"/>
                  <a:t> </a:t>
                </a:r>
                <a:r>
                  <a:rPr lang="en-US" dirty="0" err="1"/>
                  <a:t>kvantne</a:t>
                </a:r>
                <a:r>
                  <a:rPr lang="en-US" dirty="0"/>
                  <a:t> </a:t>
                </a:r>
                <a:r>
                  <a:rPr lang="en-US" dirty="0" err="1"/>
                  <a:t>spletenosti</a:t>
                </a:r>
                <a:r>
                  <a:rPr lang="en-US" dirty="0"/>
                  <a:t>.</a:t>
                </a:r>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20</a:t>
            </a:fld>
            <a:endParaRPr lang="en-US"/>
          </a:p>
        </p:txBody>
      </p:sp>
    </p:spTree>
    <p:extLst>
      <p:ext uri="{BB962C8B-B14F-4D97-AF65-F5344CB8AC3E}">
        <p14:creationId xmlns:p14="http://schemas.microsoft.com/office/powerpoint/2010/main" val="2115757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As an illustration of classical correlations, consider a simple example known as the CHSH game. Alice and Bob play together against Charlie. Once the game begins, Alice and Bob cannot communicate, although they can agree on a strategy beforehand.</a:t>
                </a:r>
              </a:p>
              <a:p>
                <a:endParaRPr lang="en-ZA" dirty="0"/>
              </a:p>
              <a:p>
                <a:pPr marL="228600" indent="-228600">
                  <a:buFont typeface="+mj-lt"/>
                  <a:buAutoNum type="arabicPeriod"/>
                </a:pPr>
                <a:r>
                  <a:rPr lang="en-ZA" dirty="0"/>
                  <a:t>Charlie begins by randomly generating two bits, x and y, for example by flipping two coins.</a:t>
                </a:r>
              </a:p>
              <a:p>
                <a:pPr marL="228600" indent="-228600">
                  <a:buFont typeface="+mj-lt"/>
                  <a:buAutoNum type="arabicPeriod"/>
                </a:pPr>
                <a:r>
                  <a:rPr lang="en-ZA" dirty="0"/>
                  <a:t>He sends x to Alice and y to Bob.</a:t>
                </a:r>
              </a:p>
              <a:p>
                <a:pPr marL="228600" indent="-228600">
                  <a:buFont typeface="+mj-lt"/>
                  <a:buAutoNum type="arabicPeriod"/>
                </a:pPr>
                <a:r>
                  <a:rPr lang="en-ZA" dirty="0"/>
                  <a:t>Without communicating with each other, Alice returns a bit a, while Bob returns a bit b.</a:t>
                </a:r>
              </a:p>
              <a:p>
                <a:pPr marL="228600" indent="-228600">
                  <a:buFont typeface="+mj-lt"/>
                  <a:buAutoNum type="arabicPeriod"/>
                </a:pPr>
                <a:r>
                  <a:rPr lang="en-ZA" dirty="0"/>
                  <a:t>Alice and Bob win if x · y = a ⊕ b, where ⊕ represents addition modulo 2.</a:t>
                </a:r>
              </a:p>
              <a:p>
                <a:pPr marL="228600" indent="-228600">
                  <a:buFont typeface="+mj-lt"/>
                  <a:buAutoNum type="arabicPeriod"/>
                </a:pPr>
                <a:r>
                  <a:rPr lang="en-ZA" dirty="0"/>
                  <a:t>Looking at the four possible combinations of x and y, the product x · y is 0 in three cases and 1 in only one. </a:t>
                </a:r>
              </a:p>
              <a:p>
                <a:pPr marL="228600" indent="-228600">
                  <a:buFont typeface="+mj-lt"/>
                  <a:buAutoNum type="arabicPeriod"/>
                </a:pPr>
                <a:endParaRPr lang="en-ZA" dirty="0"/>
              </a:p>
              <a:p>
                <a:pPr marL="0" indent="0" algn="just">
                  <a:buFont typeface="+mj-lt"/>
                  <a:buNone/>
                </a:pPr>
                <a:r>
                  <a:rPr lang="en-ZA" dirty="0"/>
                  <a:t>Alice and Bob can therefore agree beforehand to always return the same bit, for example a = b = 0. Since a ⊕ b is then always 0, they win in three out of four cases, giving a success probability of 75%. Importantly, 75% is the maximum success probability that Alice and Bob can achieve using any classical strategy without communicating during the game.</a:t>
                </a:r>
              </a:p>
            </p:txBody>
          </p:sp>
        </mc:Choice>
        <mc:Fallback xmlns="">
          <p:sp>
            <p:nvSpPr>
              <p:cNvPr id="3" name="Notes Placeholder 2"/>
              <p:cNvSpPr>
                <a:spLocks noGrp="1"/>
              </p:cNvSpPr>
              <p:nvPr>
                <p:ph type="body" idx="1"/>
              </p:nvPr>
            </p:nvSpPr>
            <p:spPr/>
            <p:txBody>
              <a:bodyPr/>
              <a:lstStyle/>
              <a:p>
                <a:r>
                  <a:rPr lang="en-US" sz="2000" dirty="0"/>
                  <a:t>Da bi </a:t>
                </a:r>
                <a:r>
                  <a:rPr lang="en-US" sz="2000" dirty="0" err="1"/>
                  <a:t>otkrili</a:t>
                </a:r>
                <a:r>
                  <a:rPr lang="en-US" sz="2000" dirty="0"/>
                  <a:t> da li </a:t>
                </a:r>
                <a:r>
                  <a:rPr lang="en-US" sz="2000" dirty="0" err="1"/>
                  <a:t>su</a:t>
                </a:r>
                <a:r>
                  <a:rPr lang="en-US" sz="2000" dirty="0"/>
                  <a:t> </a:t>
                </a:r>
                <a:r>
                  <a:rPr lang="en-US" sz="2000" dirty="0" err="1"/>
                  <a:t>kubiti</a:t>
                </a:r>
                <a:r>
                  <a:rPr lang="en-US" sz="2000" dirty="0"/>
                  <a:t> </a:t>
                </a:r>
                <a:r>
                  <a:rPr lang="en-US" sz="2000" dirty="0" err="1"/>
                  <a:t>zaista</a:t>
                </a:r>
                <a:r>
                  <a:rPr lang="en-US" sz="2000" dirty="0"/>
                  <a:t> </a:t>
                </a:r>
                <a:r>
                  <a:rPr lang="en-US" sz="2000" dirty="0" err="1"/>
                  <a:t>spleteni</a:t>
                </a:r>
                <a:r>
                  <a:rPr lang="en-US" sz="2000" dirty="0"/>
                  <a:t>, Ana </a:t>
                </a:r>
                <a:r>
                  <a:rPr lang="en-US" sz="2000" dirty="0" err="1"/>
                  <a:t>i</a:t>
                </a:r>
                <a:r>
                  <a:rPr lang="en-US" sz="2000" dirty="0"/>
                  <a:t> </a:t>
                </a:r>
                <a:r>
                  <a:rPr lang="en-US" sz="2000" dirty="0" err="1"/>
                  <a:t>Boban</a:t>
                </a:r>
                <a:r>
                  <a:rPr lang="en-US" sz="2000" dirty="0"/>
                  <a:t> </a:t>
                </a:r>
                <a:r>
                  <a:rPr lang="en-US" sz="2000" dirty="0" err="1"/>
                  <a:t>koriste</a:t>
                </a:r>
                <a:r>
                  <a:rPr lang="en-US" sz="2000" dirty="0"/>
                  <a:t> </a:t>
                </a:r>
                <a:r>
                  <a:rPr lang="en-US" sz="2000" dirty="0" err="1"/>
                  <a:t>Belovu</a:t>
                </a:r>
                <a:r>
                  <a:rPr lang="en-US" sz="2000" dirty="0"/>
                  <a:t> </a:t>
                </a:r>
                <a:r>
                  <a:rPr lang="en-US" sz="2000" dirty="0" err="1"/>
                  <a:t>nejednakosti</a:t>
                </a:r>
                <a:r>
                  <a:rPr lang="en-US" sz="2000" dirty="0"/>
                  <a:t> </a:t>
                </a:r>
                <a:r>
                  <a:rPr lang="en-US" sz="2000" dirty="0" err="1"/>
                  <a:t>koja</a:t>
                </a:r>
                <a:r>
                  <a:rPr lang="en-US" sz="2000" dirty="0"/>
                  <a:t> </a:t>
                </a:r>
                <a:r>
                  <a:rPr lang="en-US" sz="2000" dirty="0" err="1"/>
                  <a:t>kaže</a:t>
                </a:r>
                <a:r>
                  <a:rPr lang="en-US" sz="2000" dirty="0"/>
                  <a:t> da </a:t>
                </a:r>
                <a:r>
                  <a:rPr lang="en-US" sz="2000" dirty="0" err="1"/>
                  <a:t>kvantni</a:t>
                </a:r>
                <a:r>
                  <a:rPr lang="en-US" sz="2000" dirty="0"/>
                  <a:t> </a:t>
                </a:r>
                <a:r>
                  <a:rPr lang="en-US" sz="2000" dirty="0" err="1"/>
                  <a:t>i</a:t>
                </a:r>
                <a:r>
                  <a:rPr lang="en-US" sz="2000" dirty="0"/>
                  <a:t> </a:t>
                </a:r>
                <a:r>
                  <a:rPr lang="en-US" sz="2000" dirty="0" err="1"/>
                  <a:t>klasični</a:t>
                </a:r>
                <a:r>
                  <a:rPr lang="en-US" sz="2000" dirty="0"/>
                  <a:t> </a:t>
                </a:r>
                <a:r>
                  <a:rPr lang="en-US" sz="2000" dirty="0" err="1"/>
                  <a:t>statistički</a:t>
                </a:r>
                <a:r>
                  <a:rPr lang="en-US" sz="2000" dirty="0"/>
                  <a:t> </a:t>
                </a:r>
                <a:r>
                  <a:rPr lang="en-US" sz="2000" dirty="0" err="1"/>
                  <a:t>modeli</a:t>
                </a:r>
                <a:r>
                  <a:rPr lang="en-US" sz="2000" dirty="0"/>
                  <a:t> </a:t>
                </a:r>
                <a:r>
                  <a:rPr lang="en-US" sz="2000" dirty="0" err="1"/>
                  <a:t>daju</a:t>
                </a:r>
                <a:r>
                  <a:rPr lang="en-US" sz="2000" dirty="0"/>
                  <a:t> </a:t>
                </a:r>
                <a:r>
                  <a:rPr lang="en-US" sz="2000" dirty="0" err="1"/>
                  <a:t>različite</a:t>
                </a:r>
                <a:r>
                  <a:rPr lang="en-US" sz="2000" dirty="0"/>
                  <a:t> </a:t>
                </a:r>
                <a:r>
                  <a:rPr lang="en-US" sz="2000" dirty="0" err="1"/>
                  <a:t>rezultate</a:t>
                </a:r>
                <a:r>
                  <a:rPr lang="en-US" sz="2000" dirty="0"/>
                  <a:t>. </a:t>
                </a:r>
                <a:r>
                  <a:rPr lang="en-US" sz="2000" dirty="0" err="1"/>
                  <a:t>Postoje</a:t>
                </a:r>
                <a:r>
                  <a:rPr lang="en-US" sz="2000" dirty="0"/>
                  <a:t> </a:t>
                </a:r>
                <a:r>
                  <a:rPr lang="en-US" sz="2000" dirty="0" err="1"/>
                  <a:t>mnoge</a:t>
                </a:r>
                <a:r>
                  <a:rPr lang="en-US" sz="2000" dirty="0"/>
                  <a:t> </a:t>
                </a:r>
                <a:r>
                  <a:rPr lang="en-US" sz="2000" dirty="0" err="1"/>
                  <a:t>varijante</a:t>
                </a:r>
                <a:r>
                  <a:rPr lang="en-US" sz="2000" dirty="0"/>
                  <a:t> </a:t>
                </a:r>
                <a:r>
                  <a:rPr lang="en-US" sz="2000" dirty="0" err="1"/>
                  <a:t>Belove</a:t>
                </a:r>
                <a:r>
                  <a:rPr lang="en-US" sz="2000" dirty="0"/>
                  <a:t> </a:t>
                </a:r>
                <a:r>
                  <a:rPr lang="en-US" sz="2000" dirty="0" err="1"/>
                  <a:t>nejednakosti</a:t>
                </a:r>
                <a:r>
                  <a:rPr lang="en-US" sz="2000" dirty="0"/>
                  <a:t>, </a:t>
                </a:r>
                <a:r>
                  <a:rPr lang="en-US" sz="2000" dirty="0" err="1"/>
                  <a:t>ali</a:t>
                </a:r>
                <a:r>
                  <a:rPr lang="en-US" sz="2000" dirty="0"/>
                  <a:t> </a:t>
                </a:r>
                <a:r>
                  <a:rPr lang="en-US" sz="2000" dirty="0" err="1"/>
                  <a:t>ona</a:t>
                </a:r>
                <a:r>
                  <a:rPr lang="en-US" sz="2000" dirty="0"/>
                  <a:t> </a:t>
                </a:r>
                <a:r>
                  <a:rPr lang="en-US" sz="2000" dirty="0" err="1"/>
                  <a:t>najčešće</a:t>
                </a:r>
                <a:r>
                  <a:rPr lang="en-US" sz="2000" dirty="0"/>
                  <a:t> </a:t>
                </a:r>
                <a:r>
                  <a:rPr lang="en-US" sz="2000" dirty="0" err="1"/>
                  <a:t>ilustruje</a:t>
                </a:r>
                <a:r>
                  <a:rPr lang="en-US" sz="2000" dirty="0"/>
                  <a:t> </a:t>
                </a:r>
                <a:r>
                  <a:rPr lang="en-US" sz="2000" dirty="0" err="1"/>
                  <a:t>takozvanom</a:t>
                </a:r>
                <a:r>
                  <a:rPr lang="en-US" sz="2000" dirty="0"/>
                  <a:t> CHSH </a:t>
                </a:r>
                <a:r>
                  <a:rPr lang="en-US" sz="2000" dirty="0" err="1"/>
                  <a:t>nejednakosti</a:t>
                </a:r>
                <a:r>
                  <a:rPr lang="en-US" sz="2000" dirty="0"/>
                  <a:t> </a:t>
                </a:r>
                <a:r>
                  <a:rPr lang="en-US" sz="2000" dirty="0" err="1"/>
                  <a:t>i</a:t>
                </a:r>
                <a:r>
                  <a:rPr lang="en-US" sz="2000" dirty="0"/>
                  <a:t> CHSH </a:t>
                </a:r>
                <a:r>
                  <a:rPr lang="en-US" sz="2000" dirty="0" err="1"/>
                  <a:t>igrom</a:t>
                </a:r>
                <a:r>
                  <a:rPr lang="en-US" sz="2000" dirty="0"/>
                  <a:t>. U </a:t>
                </a:r>
                <a:r>
                  <a:rPr lang="en-US" sz="2000" dirty="0" err="1"/>
                  <a:t>igri</a:t>
                </a:r>
                <a:r>
                  <a:rPr lang="en-US" sz="2000" dirty="0"/>
                  <a:t> </a:t>
                </a:r>
                <a:r>
                  <a:rPr lang="en-US" sz="2000" dirty="0" err="1"/>
                  <a:t>učestvuju</a:t>
                </a:r>
                <a:r>
                  <a:rPr lang="en-US" sz="2000" dirty="0"/>
                  <a:t> Ana, </a:t>
                </a:r>
                <a:r>
                  <a:rPr lang="en-US" sz="2000" dirty="0" err="1"/>
                  <a:t>Cica</a:t>
                </a:r>
                <a:r>
                  <a:rPr lang="en-US" sz="2000" dirty="0"/>
                  <a:t> </a:t>
                </a:r>
                <a:r>
                  <a:rPr lang="en-US" sz="2000" dirty="0" err="1"/>
                  <a:t>i</a:t>
                </a:r>
                <a:r>
                  <a:rPr lang="en-US" sz="2000" dirty="0"/>
                  <a:t> </a:t>
                </a:r>
                <a:r>
                  <a:rPr lang="en-US" sz="2000" dirty="0" err="1"/>
                  <a:t>Boban</a:t>
                </a:r>
                <a:r>
                  <a:rPr lang="en-US" sz="2000" dirty="0"/>
                  <a:t>. </a:t>
                </a:r>
                <a:r>
                  <a:rPr lang="en-US" sz="2000" dirty="0" err="1"/>
                  <a:t>Pravilo</a:t>
                </a:r>
                <a:r>
                  <a:rPr lang="en-US" sz="2000" dirty="0"/>
                  <a:t> </a:t>
                </a:r>
                <a:r>
                  <a:rPr lang="en-US" sz="2000" dirty="0" err="1"/>
                  <a:t>igre</a:t>
                </a:r>
                <a:r>
                  <a:rPr lang="en-US" sz="2000" dirty="0"/>
                  <a:t> </a:t>
                </a:r>
                <a:r>
                  <a:rPr lang="en-US" sz="2000" dirty="0" err="1"/>
                  <a:t>je</a:t>
                </a:r>
                <a:r>
                  <a:rPr lang="en-US" sz="2000" dirty="0"/>
                  <a:t> da Ana </a:t>
                </a:r>
                <a:r>
                  <a:rPr lang="en-US" sz="2000" dirty="0" err="1"/>
                  <a:t>i</a:t>
                </a:r>
                <a:r>
                  <a:rPr lang="en-US" sz="2000" dirty="0"/>
                  <a:t> </a:t>
                </a:r>
                <a:r>
                  <a:rPr lang="en-US" sz="2000" dirty="0" err="1"/>
                  <a:t>Boban</a:t>
                </a:r>
                <a:r>
                  <a:rPr lang="en-US" sz="2000" dirty="0"/>
                  <a:t> ne </a:t>
                </a:r>
                <a:r>
                  <a:rPr lang="en-US" sz="2000" dirty="0" err="1"/>
                  <a:t>mogu</a:t>
                </a:r>
                <a:r>
                  <a:rPr lang="en-US" sz="2000" dirty="0"/>
                  <a:t> da u </a:t>
                </a:r>
                <a:r>
                  <a:rPr lang="en-US" sz="2000" dirty="0" err="1"/>
                  <a:t>toku</a:t>
                </a:r>
                <a:r>
                  <a:rPr lang="en-US" sz="2000" dirty="0"/>
                  <a:t> </a:t>
                </a:r>
                <a:r>
                  <a:rPr lang="en-US" sz="2000" dirty="0" err="1"/>
                  <a:t>igre</a:t>
                </a:r>
                <a:r>
                  <a:rPr lang="en-US" sz="2000" dirty="0"/>
                  <a:t> da </a:t>
                </a:r>
                <a:r>
                  <a:rPr lang="en-US" sz="2000" dirty="0" err="1"/>
                  <a:t>komuniciraju</a:t>
                </a:r>
                <a:r>
                  <a:rPr lang="en-US" sz="2000" dirty="0"/>
                  <a:t> </a:t>
                </a:r>
                <a:r>
                  <a:rPr lang="en-US" sz="2000" dirty="0" err="1"/>
                  <a:t>ali</a:t>
                </a:r>
                <a:r>
                  <a:rPr lang="en-US" sz="2000" dirty="0"/>
                  <a:t> </a:t>
                </a:r>
                <a:r>
                  <a:rPr lang="en-US" sz="2000" dirty="0" err="1"/>
                  <a:t>mogu</a:t>
                </a:r>
                <a:r>
                  <a:rPr lang="en-US" sz="2000" dirty="0"/>
                  <a:t> da se </a:t>
                </a:r>
                <a:r>
                  <a:rPr lang="en-US" sz="2000" dirty="0" err="1"/>
                  <a:t>dogovore</a:t>
                </a:r>
                <a:r>
                  <a:rPr lang="en-US" sz="2000" dirty="0"/>
                  <a:t> o </a:t>
                </a:r>
                <a:r>
                  <a:rPr lang="en-US" sz="2000" dirty="0" err="1"/>
                  <a:t>strategiji</a:t>
                </a:r>
                <a:r>
                  <a:rPr lang="en-US" sz="2000" dirty="0"/>
                  <a:t>. </a:t>
                </a:r>
                <a:r>
                  <a:rPr lang="en-US" sz="2000" dirty="0" err="1"/>
                  <a:t>Takođe</a:t>
                </a:r>
                <a:r>
                  <a:rPr lang="en-US" sz="2000" dirty="0"/>
                  <a:t> </a:t>
                </a:r>
                <a:r>
                  <a:rPr lang="en-US" sz="2000" dirty="0" err="1"/>
                  <a:t>je</a:t>
                </a:r>
                <a:r>
                  <a:rPr lang="en-US" sz="2000" dirty="0"/>
                  <a:t> </a:t>
                </a:r>
                <a:r>
                  <a:rPr lang="en-US" sz="2000" dirty="0" err="1"/>
                  <a:t>dozvoljeno</a:t>
                </a:r>
                <a:r>
                  <a:rPr lang="en-US" sz="2000" dirty="0"/>
                  <a:t> </a:t>
                </a:r>
                <a:r>
                  <a:rPr lang="en-US" sz="2000" dirty="0" err="1"/>
                  <a:t>korišćenje</a:t>
                </a:r>
                <a:r>
                  <a:rPr lang="en-US" sz="2000" dirty="0"/>
                  <a:t> </a:t>
                </a:r>
                <a:r>
                  <a:rPr lang="en-US" sz="2000" dirty="0" err="1"/>
                  <a:t>zakona</a:t>
                </a:r>
                <a:r>
                  <a:rPr lang="en-US" sz="2000" dirty="0"/>
                  <a:t> </a:t>
                </a:r>
                <a:r>
                  <a:rPr lang="en-US" sz="2000" dirty="0" err="1"/>
                  <a:t>kvantne</a:t>
                </a:r>
                <a:r>
                  <a:rPr lang="en-US" sz="2000" dirty="0"/>
                  <a:t> </a:t>
                </a:r>
                <a:r>
                  <a:rPr lang="en-US" sz="2000" dirty="0" err="1"/>
                  <a:t>mehanike</a:t>
                </a:r>
                <a:r>
                  <a:rPr lang="en-US" sz="2000" dirty="0"/>
                  <a:t>.</a:t>
                </a:r>
              </a:p>
              <a:p>
                <a:endParaRPr lang="en-ZA" sz="2000" b="0" dirty="0"/>
              </a:p>
              <a:p>
                <a:pPr marL="457200" indent="-457200">
                  <a:buFont typeface="+mj-lt"/>
                  <a:buAutoNum type="arabicPeriod"/>
                </a:pPr>
                <a:r>
                  <a:rPr lang="en-ZA" sz="2000" b="0" dirty="0" err="1"/>
                  <a:t>Igra</a:t>
                </a:r>
                <a:r>
                  <a:rPr lang="en-ZA" sz="2000" b="0" dirty="0"/>
                  <a:t> </a:t>
                </a:r>
                <a:r>
                  <a:rPr lang="en-ZA" sz="2000" b="0" dirty="0" err="1"/>
                  <a:t>počinje</a:t>
                </a:r>
                <a:r>
                  <a:rPr lang="en-ZA" sz="2000" b="0" dirty="0"/>
                  <a:t> </a:t>
                </a:r>
                <a:r>
                  <a:rPr lang="en-ZA" sz="2000" b="0" dirty="0" err="1"/>
                  <a:t>tako</a:t>
                </a:r>
                <a:r>
                  <a:rPr lang="en-ZA" sz="2000" b="0" dirty="0"/>
                  <a:t> </a:t>
                </a:r>
                <a:r>
                  <a:rPr lang="en-ZA" sz="2000" b="0" dirty="0" err="1"/>
                  <a:t>što</a:t>
                </a:r>
                <a:r>
                  <a:rPr lang="en-ZA" sz="2000" b="0" dirty="0"/>
                  <a:t> Ceca </a:t>
                </a:r>
                <a:r>
                  <a:rPr lang="en-ZA" sz="2000" b="0" dirty="0" err="1"/>
                  <a:t>baca</a:t>
                </a:r>
                <a:r>
                  <a:rPr lang="en-ZA" sz="2000" b="0" dirty="0"/>
                  <a:t> </a:t>
                </a:r>
                <a:r>
                  <a:rPr lang="en-ZA" sz="2000" b="0" dirty="0" err="1"/>
                  <a:t>dva</a:t>
                </a:r>
                <a:r>
                  <a:rPr lang="en-ZA" sz="2000" b="0" dirty="0"/>
                  <a:t> </a:t>
                </a:r>
                <a:r>
                  <a:rPr lang="en-ZA" sz="2000" b="0" dirty="0" err="1"/>
                  <a:t>novčića</a:t>
                </a:r>
                <a:r>
                  <a:rPr lang="en-ZA" sz="2000" b="0" dirty="0"/>
                  <a:t>, </a:t>
                </a:r>
                <a:r>
                  <a:rPr lang="en-ZA" sz="2000" b="0" dirty="0" err="1"/>
                  <a:t>sa</a:t>
                </a:r>
                <a:r>
                  <a:rPr lang="en-ZA" sz="2000" b="0" dirty="0"/>
                  <a:t> </a:t>
                </a:r>
                <a:r>
                  <a:rPr lang="en-ZA" sz="2000" b="0" dirty="0" err="1"/>
                  <a:t>stranama</a:t>
                </a:r>
                <a:r>
                  <a:rPr lang="en-ZA" sz="2000" b="0" dirty="0"/>
                  <a:t> 1 </a:t>
                </a:r>
                <a:r>
                  <a:rPr lang="en-ZA" sz="2000" b="0" dirty="0" err="1"/>
                  <a:t>i</a:t>
                </a:r>
                <a:r>
                  <a:rPr lang="en-ZA" sz="2000" b="0" dirty="0"/>
                  <a:t> 0, </a:t>
                </a:r>
                <a:r>
                  <a:rPr lang="en-ZA" sz="2000" b="0" dirty="0" err="1"/>
                  <a:t>jedan</a:t>
                </a:r>
                <a:r>
                  <a:rPr lang="en-ZA" sz="2000" b="0" dirty="0"/>
                  <a:t> </a:t>
                </a:r>
                <a:r>
                  <a:rPr lang="en-ZA" sz="2000" b="0" dirty="0" err="1"/>
                  <a:t>za</a:t>
                </a:r>
                <a:r>
                  <a:rPr lang="en-ZA" sz="2000" b="0" dirty="0"/>
                  <a:t> </a:t>
                </a:r>
                <a:r>
                  <a:rPr lang="en-ZA" sz="2000" b="0" dirty="0" err="1"/>
                  <a:t>Anu</a:t>
                </a:r>
                <a:r>
                  <a:rPr lang="en-ZA" sz="2000" b="0" dirty="0"/>
                  <a:t> </a:t>
                </a:r>
                <a:r>
                  <a:rPr lang="en-ZA" sz="2000" b="0" dirty="0" err="1"/>
                  <a:t>i</a:t>
                </a:r>
                <a:r>
                  <a:rPr lang="en-ZA" sz="2000" b="0" dirty="0"/>
                  <a:t> </a:t>
                </a:r>
                <a:r>
                  <a:rPr lang="en-ZA" sz="2000" b="0" dirty="0" err="1"/>
                  <a:t>drugi</a:t>
                </a:r>
                <a:r>
                  <a:rPr lang="en-ZA" sz="2000" b="0" dirty="0"/>
                  <a:t> </a:t>
                </a:r>
                <a:r>
                  <a:rPr lang="en-ZA" sz="2000" b="0" dirty="0" err="1"/>
                  <a:t>za</a:t>
                </a:r>
                <a:r>
                  <a:rPr lang="en-ZA" sz="2000" b="0" dirty="0"/>
                  <a:t> </a:t>
                </a:r>
                <a:r>
                  <a:rPr lang="en-ZA" sz="2000" b="0" dirty="0" err="1"/>
                  <a:t>Bobana</a:t>
                </a:r>
                <a:r>
                  <a:rPr lang="en-ZA" sz="2000" b="0" dirty="0"/>
                  <a:t>.</a:t>
                </a:r>
              </a:p>
              <a:p>
                <a:pPr marL="457200" indent="-457200">
                  <a:buFont typeface="+mj-lt"/>
                  <a:buAutoNum type="arabicPeriod"/>
                </a:pPr>
                <a:r>
                  <a:rPr lang="en-ZA" sz="2000" b="0" dirty="0"/>
                  <a:t> </a:t>
                </a:r>
                <a:r>
                  <a:rPr lang="en-ZA" sz="2000" b="0" dirty="0" err="1"/>
                  <a:t>Cica</a:t>
                </a:r>
                <a:r>
                  <a:rPr lang="en-ZA" sz="2000" b="0" dirty="0"/>
                  <a:t> </a:t>
                </a:r>
                <a:r>
                  <a:rPr lang="en-ZA" sz="2000" b="0" dirty="0" err="1"/>
                  <a:t>zatim</a:t>
                </a:r>
                <a:r>
                  <a:rPr lang="en-ZA" sz="2000" b="0" dirty="0"/>
                  <a:t> </a:t>
                </a:r>
                <a:r>
                  <a:rPr lang="en-ZA" sz="2000" b="0" dirty="0" err="1"/>
                  <a:t>svakome</a:t>
                </a:r>
                <a:r>
                  <a:rPr lang="en-ZA" sz="2000" b="0" dirty="0"/>
                  <a:t> </a:t>
                </a:r>
                <a:r>
                  <a:rPr lang="en-ZA" sz="2000" b="0" dirty="0" err="1"/>
                  <a:t>šalje</a:t>
                </a:r>
                <a:r>
                  <a:rPr lang="en-ZA" sz="2000" b="0" dirty="0"/>
                  <a:t> </a:t>
                </a:r>
                <a:r>
                  <a:rPr lang="en-ZA" sz="2000" b="0" dirty="0" err="1"/>
                  <a:t>rezultat</a:t>
                </a:r>
                <a:r>
                  <a:rPr lang="en-ZA" sz="2000" b="0" dirty="0"/>
                  <a:t> </a:t>
                </a:r>
                <a:r>
                  <a:rPr lang="en-ZA" sz="2000" b="0" dirty="0" err="1"/>
                  <a:t>kao</a:t>
                </a:r>
                <a:r>
                  <a:rPr lang="en-ZA" sz="2000" b="0" dirty="0"/>
                  <a:t> bit x </a:t>
                </a:r>
                <a:r>
                  <a:rPr lang="en-ZA" sz="2000" b="0" dirty="0" err="1"/>
                  <a:t>i</a:t>
                </a:r>
                <a:r>
                  <a:rPr lang="en-ZA" sz="2000" b="0" dirty="0"/>
                  <a:t> bit y. </a:t>
                </a:r>
              </a:p>
              <a:p>
                <a:pPr marL="457200" indent="-457200">
                  <a:buFont typeface="+mj-lt"/>
                  <a:buAutoNum type="arabicPeriod"/>
                </a:pPr>
                <a:r>
                  <a:rPr lang="en-US" sz="2000" b="0" dirty="0"/>
                  <a:t>Ana odgovara Cici bitom </a:t>
                </a:r>
                <a:r>
                  <a:rPr lang="sr-Latn-RS" sz="2000" b="0" i="0">
                    <a:solidFill>
                      <a:schemeClr val="tx1"/>
                    </a:solidFill>
                    <a:latin typeface="Cambria Math" panose="02040503050406030204" pitchFamily="18" charset="0"/>
                  </a:rPr>
                  <a:t>𝑎</a:t>
                </a:r>
                <a:r>
                  <a:rPr lang="en-US" sz="2000" b="0" dirty="0"/>
                  <a:t> a </a:t>
                </a:r>
                <a:r>
                  <a:rPr lang="en-US" sz="2000" b="0" dirty="0" err="1"/>
                  <a:t>Boban</a:t>
                </a:r>
                <a:r>
                  <a:rPr lang="en-US" sz="2000" b="0" dirty="0"/>
                  <a:t> </a:t>
                </a:r>
                <a:r>
                  <a:rPr lang="en-US" sz="2000" b="0" dirty="0" err="1"/>
                  <a:t>bitom</a:t>
                </a:r>
                <a:r>
                  <a:rPr lang="en-US" sz="2000" b="0" dirty="0"/>
                  <a:t> </a:t>
                </a:r>
                <a:r>
                  <a:rPr lang="sr-Latn-RS" sz="2000" b="0" i="0">
                    <a:solidFill>
                      <a:schemeClr val="tx1"/>
                    </a:solidFill>
                    <a:latin typeface="Cambria Math" panose="02040503050406030204" pitchFamily="18" charset="0"/>
                  </a:rPr>
                  <a:t>𝑏</a:t>
                </a:r>
                <a:r>
                  <a:rPr lang="en-US" sz="2000" b="0" dirty="0"/>
                  <a:t>. </a:t>
                </a:r>
              </a:p>
              <a:p>
                <a:pPr marL="457200" indent="-457200">
                  <a:buFont typeface="+mj-lt"/>
                  <a:buAutoNum type="arabicPeriod"/>
                </a:pPr>
                <a:r>
                  <a:rPr lang="en-US" sz="2000" b="0" dirty="0" err="1"/>
                  <a:t>Ako</a:t>
                </a:r>
                <a:r>
                  <a:rPr lang="en-US" sz="2000" b="0" dirty="0"/>
                  <a:t> </a:t>
                </a:r>
                <a:r>
                  <a:rPr lang="en-US" sz="2000" b="0" dirty="0" err="1"/>
                  <a:t>je</a:t>
                </a:r>
                <a:r>
                  <a:rPr lang="en-US" sz="2000" b="0" dirty="0"/>
                  <a:t> </a:t>
                </a:r>
                <a:r>
                  <a:rPr lang="en-US" sz="2000" b="0" dirty="0" err="1"/>
                  <a:t>proizvod</a:t>
                </a:r>
                <a:r>
                  <a:rPr lang="en-US" sz="2000" b="0" dirty="0"/>
                  <a:t> </a:t>
                </a:r>
                <a:r>
                  <a:rPr lang="en-US" sz="2000" b="0" dirty="0" err="1"/>
                  <a:t>Cicinih</a:t>
                </a:r>
                <a:r>
                  <a:rPr lang="en-US" sz="2000" b="0" dirty="0"/>
                  <a:t> </a:t>
                </a:r>
                <a:r>
                  <a:rPr lang="en-US" sz="2000" b="0" dirty="0" err="1"/>
                  <a:t>bitova</a:t>
                </a:r>
                <a:r>
                  <a:rPr lang="en-US" sz="2000" b="0" dirty="0"/>
                  <a:t> </a:t>
                </a:r>
                <a:r>
                  <a:rPr lang="en-US" sz="2000" b="0" dirty="0" err="1"/>
                  <a:t>jednak</a:t>
                </a:r>
                <a:r>
                  <a:rPr lang="en-US" sz="2000" b="0" dirty="0"/>
                  <a:t> </a:t>
                </a:r>
                <a:r>
                  <a:rPr lang="en-US" sz="2000" b="0" dirty="0" err="1"/>
                  <a:t>zbiru</a:t>
                </a:r>
                <a:r>
                  <a:rPr lang="en-US" sz="2000" b="0" dirty="0"/>
                  <a:t> </a:t>
                </a:r>
                <a:r>
                  <a:rPr lang="en-US" sz="2000" b="0" dirty="0" err="1"/>
                  <a:t>Aninog</a:t>
                </a:r>
                <a:r>
                  <a:rPr lang="en-US" sz="2000" b="0" dirty="0"/>
                  <a:t> </a:t>
                </a:r>
                <a:r>
                  <a:rPr lang="en-US" sz="2000" b="0" dirty="0" err="1"/>
                  <a:t>i</a:t>
                </a:r>
                <a:r>
                  <a:rPr lang="en-US" sz="2000" b="0" dirty="0"/>
                  <a:t> </a:t>
                </a:r>
                <a:r>
                  <a:rPr lang="en-US" sz="2000" b="0" dirty="0" err="1"/>
                  <a:t>Bobanovog</a:t>
                </a:r>
                <a:r>
                  <a:rPr lang="en-US" sz="2000" b="0" dirty="0"/>
                  <a:t>  </a:t>
                </a:r>
                <a:r>
                  <a:rPr lang="en-US" sz="2000" b="0" dirty="0" err="1"/>
                  <a:t>bita</a:t>
                </a:r>
                <a:r>
                  <a:rPr lang="en-US" sz="2000" b="0" dirty="0"/>
                  <a:t>, Ana </a:t>
                </a:r>
                <a:r>
                  <a:rPr lang="en-US" sz="2000" b="0" dirty="0" err="1"/>
                  <a:t>i</a:t>
                </a:r>
                <a:r>
                  <a:rPr lang="en-US" sz="2000" b="0" dirty="0"/>
                  <a:t> </a:t>
                </a:r>
                <a:r>
                  <a:rPr lang="en-US" sz="2000" b="0" dirty="0" err="1"/>
                  <a:t>Boban</a:t>
                </a:r>
                <a:r>
                  <a:rPr lang="en-US" sz="2000" b="0" dirty="0"/>
                  <a:t> </a:t>
                </a:r>
                <a:r>
                  <a:rPr lang="en-US" sz="2000" b="0" dirty="0" err="1"/>
                  <a:t>pobeđuju</a:t>
                </a:r>
                <a:r>
                  <a:rPr lang="en-US" sz="2000" b="0" dirty="0"/>
                  <a:t>,</a:t>
                </a:r>
                <a:r>
                  <a:rPr lang="en-US" sz="2000" b="0" baseline="0" dirty="0"/>
                  <a:t> a </a:t>
                </a:r>
                <a:r>
                  <a:rPr lang="en-US" sz="2000" b="0" baseline="0" dirty="0" err="1"/>
                  <a:t>ako</a:t>
                </a:r>
                <a:r>
                  <a:rPr lang="en-US" sz="2000" b="0" baseline="0" dirty="0"/>
                  <a:t> </a:t>
                </a:r>
                <a:r>
                  <a:rPr lang="en-US" sz="2000" b="0" baseline="0" dirty="0" err="1"/>
                  <a:t>nije</a:t>
                </a:r>
                <a:r>
                  <a:rPr lang="en-US" sz="2000" b="0" baseline="0" dirty="0"/>
                  <a:t>, </a:t>
                </a:r>
                <a:r>
                  <a:rPr lang="en-US" sz="2000" b="0" baseline="0" dirty="0" err="1"/>
                  <a:t>Cica</a:t>
                </a:r>
                <a:r>
                  <a:rPr lang="en-US" sz="2000" b="0" baseline="0" dirty="0"/>
                  <a:t> </a:t>
                </a:r>
                <a:r>
                  <a:rPr lang="en-US" sz="2000" b="0" baseline="0" dirty="0" err="1"/>
                  <a:t>pobeđuje</a:t>
                </a:r>
                <a:r>
                  <a:rPr lang="en-US" sz="2000" b="0" baseline="0" dirty="0"/>
                  <a:t>. Na </a:t>
                </a:r>
                <a:r>
                  <a:rPr lang="en-US" sz="2000" b="0" baseline="0" dirty="0" err="1"/>
                  <a:t>slajdu</a:t>
                </a:r>
                <a:r>
                  <a:rPr lang="en-US" sz="2000" b="0" baseline="0" dirty="0"/>
                  <a:t> </a:t>
                </a:r>
                <a:r>
                  <a:rPr lang="en-US" sz="2000" b="0" baseline="0" dirty="0" err="1"/>
                  <a:t>je</a:t>
                </a:r>
                <a:r>
                  <a:rPr lang="en-US" sz="2000" b="0" baseline="0" dirty="0"/>
                  <a:t> </a:t>
                </a:r>
                <a:r>
                  <a:rPr lang="en-US" sz="2000" b="0" baseline="0" dirty="0" err="1"/>
                  <a:t>množenje</a:t>
                </a:r>
                <a:r>
                  <a:rPr lang="en-US" sz="2000" b="0" baseline="0" dirty="0"/>
                  <a:t> </a:t>
                </a:r>
                <a:r>
                  <a:rPr lang="en-US" sz="2000" b="0" baseline="0" dirty="0" err="1"/>
                  <a:t>i</a:t>
                </a:r>
                <a:r>
                  <a:rPr lang="en-US" sz="2000" b="0" baseline="0" dirty="0"/>
                  <a:t> </a:t>
                </a:r>
                <a:r>
                  <a:rPr lang="en-US" sz="2000" b="0" baseline="0" dirty="0" err="1"/>
                  <a:t>sabiranje</a:t>
                </a:r>
                <a:r>
                  <a:rPr lang="en-US" sz="2000" b="0" baseline="0" dirty="0"/>
                  <a:t> </a:t>
                </a:r>
                <a:r>
                  <a:rPr lang="en-US" sz="2000" b="0" baseline="0" dirty="0" err="1"/>
                  <a:t>izraženo</a:t>
                </a:r>
                <a:r>
                  <a:rPr lang="en-US" sz="2000" b="0" baseline="0" dirty="0"/>
                  <a:t> </a:t>
                </a:r>
                <a:r>
                  <a:rPr lang="en-US" sz="2000" b="0" baseline="0" dirty="0" err="1"/>
                  <a:t>po</a:t>
                </a:r>
                <a:r>
                  <a:rPr lang="en-US" sz="2000" b="0" baseline="0" dirty="0"/>
                  <a:t> </a:t>
                </a:r>
                <a:r>
                  <a:rPr lang="en-US" sz="2000" b="0" baseline="0" dirty="0" err="1"/>
                  <a:t>modulu</a:t>
                </a:r>
                <a:r>
                  <a:rPr lang="en-US" sz="2000" b="0" baseline="0" dirty="0"/>
                  <a:t> 2 </a:t>
                </a:r>
                <a:r>
                  <a:rPr lang="en-US" sz="2000" b="0" baseline="0" dirty="0" err="1"/>
                  <a:t>pošto</a:t>
                </a:r>
                <a:r>
                  <a:rPr lang="en-US" sz="2000" b="0" baseline="0" dirty="0"/>
                  <a:t> se </a:t>
                </a:r>
                <a:r>
                  <a:rPr lang="en-US" sz="2000" b="0" baseline="0" dirty="0" err="1"/>
                  <a:t>očekuje</a:t>
                </a:r>
                <a:r>
                  <a:rPr lang="en-US" sz="2000" b="0" baseline="0" dirty="0"/>
                  <a:t> </a:t>
                </a:r>
                <a:r>
                  <a:rPr lang="en-US" sz="2000" b="0" baseline="0" dirty="0" err="1"/>
                  <a:t>jednobitni</a:t>
                </a:r>
                <a:r>
                  <a:rPr lang="en-US" sz="2000" b="0" baseline="0" dirty="0"/>
                  <a:t> </a:t>
                </a:r>
                <a:r>
                  <a:rPr lang="en-US" sz="2000" b="0" baseline="0" dirty="0" err="1"/>
                  <a:t>rezultat</a:t>
                </a:r>
                <a:r>
                  <a:rPr lang="en-US" sz="2000" b="0" baseline="0" dirty="0"/>
                  <a:t>.</a:t>
                </a:r>
              </a:p>
              <a:p>
                <a:pPr marL="457200" indent="-457200">
                  <a:buFont typeface="+mj-lt"/>
                  <a:buAutoNum type="arabicPeriod"/>
                </a:pPr>
                <a:r>
                  <a:rPr lang="en-US" sz="2000" b="0" baseline="0" dirty="0"/>
                  <a:t>Ana </a:t>
                </a:r>
                <a:r>
                  <a:rPr lang="en-US" sz="2000" b="0" baseline="0" dirty="0" err="1"/>
                  <a:t>i</a:t>
                </a:r>
                <a:r>
                  <a:rPr lang="en-US" sz="2000" b="0" baseline="0" dirty="0"/>
                  <a:t> </a:t>
                </a:r>
                <a:r>
                  <a:rPr lang="en-US" sz="2000" b="0" baseline="0" dirty="0" err="1"/>
                  <a:t>Boban</a:t>
                </a:r>
                <a:r>
                  <a:rPr lang="en-US" sz="2000" b="0" baseline="0" dirty="0"/>
                  <a:t> </a:t>
                </a:r>
                <a:r>
                  <a:rPr lang="en-US" sz="2000" b="0" baseline="0" dirty="0" err="1"/>
                  <a:t>su</a:t>
                </a:r>
                <a:r>
                  <a:rPr lang="en-US" sz="2000" b="0" baseline="0" dirty="0"/>
                  <a:t> pre </a:t>
                </a:r>
                <a:r>
                  <a:rPr lang="en-US" sz="2000" b="0" baseline="0" dirty="0" err="1"/>
                  <a:t>početka</a:t>
                </a:r>
                <a:r>
                  <a:rPr lang="en-US" sz="2000" b="0" baseline="0" dirty="0"/>
                  <a:t> </a:t>
                </a:r>
                <a:r>
                  <a:rPr lang="en-US" sz="2000" b="0" baseline="0" dirty="0" err="1"/>
                  <a:t>igre</a:t>
                </a:r>
                <a:r>
                  <a:rPr lang="en-US" sz="2000" b="0" baseline="0" dirty="0"/>
                  <a:t> </a:t>
                </a:r>
                <a:r>
                  <a:rPr lang="en-US" sz="2000" b="0" baseline="0" dirty="0" err="1"/>
                  <a:t>napravili</a:t>
                </a:r>
                <a:r>
                  <a:rPr lang="en-US" sz="2000" b="0" baseline="0" dirty="0"/>
                  <a:t> </a:t>
                </a:r>
                <a:r>
                  <a:rPr lang="en-US" sz="2000" b="0" baseline="0" dirty="0" err="1"/>
                  <a:t>analizu</a:t>
                </a:r>
                <a:r>
                  <a:rPr lang="en-US" sz="2000" b="0" baseline="0" dirty="0"/>
                  <a:t> </a:t>
                </a:r>
                <a:r>
                  <a:rPr lang="en-US" sz="2000" b="0" baseline="0" dirty="0" err="1"/>
                  <a:t>stavljajući</a:t>
                </a:r>
                <a:r>
                  <a:rPr lang="en-US" sz="2000" b="0" baseline="0" dirty="0"/>
                  <a:t> </a:t>
                </a:r>
                <a:r>
                  <a:rPr lang="en-US" sz="2000" b="0" baseline="0" dirty="0" err="1"/>
                  <a:t>sve</a:t>
                </a:r>
                <a:r>
                  <a:rPr lang="en-US" sz="2000" b="0" baseline="0" dirty="0"/>
                  <a:t> </a:t>
                </a:r>
                <a:r>
                  <a:rPr lang="en-US" sz="2000" b="0" baseline="0" dirty="0" err="1"/>
                  <a:t>moguće</a:t>
                </a:r>
                <a:r>
                  <a:rPr lang="en-US" sz="2000" b="0" baseline="0" dirty="0"/>
                  <a:t> </a:t>
                </a:r>
                <a:r>
                  <a:rPr lang="en-US" sz="2000" b="0" baseline="0" dirty="0" err="1"/>
                  <a:t>kombinacije</a:t>
                </a:r>
                <a:r>
                  <a:rPr lang="en-US" sz="2000" b="0" baseline="0" dirty="0"/>
                  <a:t> </a:t>
                </a:r>
                <a:r>
                  <a:rPr lang="en-US" sz="2000" b="0" baseline="0" dirty="0" err="1"/>
                  <a:t>poteza</a:t>
                </a:r>
                <a:r>
                  <a:rPr lang="en-US" sz="2000" b="0" baseline="0" dirty="0"/>
                  <a:t> u </a:t>
                </a:r>
                <a:r>
                  <a:rPr lang="en-US" sz="2000" b="0" baseline="0" dirty="0" err="1"/>
                  <a:t>tabelu</a:t>
                </a:r>
                <a:r>
                  <a:rPr lang="en-US" sz="2000" b="0" baseline="0" dirty="0"/>
                  <a:t>. </a:t>
                </a:r>
                <a:r>
                  <a:rPr lang="en-US" sz="2000" b="0" baseline="0" dirty="0" err="1"/>
                  <a:t>Iz</a:t>
                </a:r>
                <a:r>
                  <a:rPr lang="en-US" sz="2000" b="0" baseline="0" dirty="0"/>
                  <a:t> </a:t>
                </a:r>
                <a:r>
                  <a:rPr lang="en-US" sz="2000" b="0" baseline="0" dirty="0" err="1"/>
                  <a:t>tabele</a:t>
                </a:r>
                <a:r>
                  <a:rPr lang="en-US" sz="2000" b="0" baseline="0" dirty="0"/>
                  <a:t> se </a:t>
                </a:r>
                <a:r>
                  <a:rPr lang="en-US" sz="2000" b="0" baseline="0" dirty="0" err="1"/>
                  <a:t>vidi</a:t>
                </a:r>
                <a:r>
                  <a:rPr lang="en-US" sz="2000" b="0" baseline="0" dirty="0"/>
                  <a:t> da 3 od 4 </a:t>
                </a:r>
                <a:r>
                  <a:rPr lang="en-US" sz="2000" b="0" baseline="0" dirty="0" err="1"/>
                  <a:t>Cicinih</a:t>
                </a:r>
                <a:r>
                  <a:rPr lang="en-US" sz="2000" b="0" baseline="0" dirty="0"/>
                  <a:t> </a:t>
                </a:r>
                <a:r>
                  <a:rPr lang="en-US" sz="2000" b="0" baseline="0" dirty="0" err="1"/>
                  <a:t>kombincija</a:t>
                </a:r>
                <a:r>
                  <a:rPr lang="en-US" sz="2000" b="0" baseline="0" dirty="0"/>
                  <a:t> </a:t>
                </a:r>
                <a:r>
                  <a:rPr lang="en-US" sz="2000" b="0" baseline="0" dirty="0" err="1"/>
                  <a:t>bitova</a:t>
                </a:r>
                <a:r>
                  <a:rPr lang="en-US" sz="2000" b="0" baseline="0" dirty="0"/>
                  <a:t> </a:t>
                </a:r>
                <a:r>
                  <a:rPr lang="en-US" sz="2000" b="0" baseline="0" dirty="0" err="1"/>
                  <a:t>daju</a:t>
                </a:r>
                <a:r>
                  <a:rPr lang="en-US" sz="2000" b="0" baseline="0" dirty="0"/>
                  <a:t> </a:t>
                </a:r>
                <a:r>
                  <a:rPr lang="en-US" sz="2000" b="0" baseline="0" dirty="0" err="1"/>
                  <a:t>nulu</a:t>
                </a:r>
                <a:r>
                  <a:rPr lang="en-US" sz="2000" b="0" baseline="0" dirty="0"/>
                  <a:t> a </a:t>
                </a:r>
                <a:r>
                  <a:rPr lang="en-US" sz="2000" b="0" baseline="0" dirty="0" err="1"/>
                  <a:t>jedna</a:t>
                </a:r>
                <a:r>
                  <a:rPr lang="en-US" sz="2000" b="0" baseline="0" dirty="0"/>
                  <a:t> </a:t>
                </a:r>
                <a:r>
                  <a:rPr lang="en-US" sz="2000" b="0" baseline="0" dirty="0" err="1"/>
                  <a:t>kombinacija</a:t>
                </a:r>
                <a:r>
                  <a:rPr lang="en-US" sz="2000" b="0" baseline="0" dirty="0"/>
                  <a:t> </a:t>
                </a:r>
                <a:r>
                  <a:rPr lang="en-US" sz="2000" b="0" baseline="0" dirty="0" err="1"/>
                  <a:t>daje</a:t>
                </a:r>
                <a:r>
                  <a:rPr lang="en-US" sz="2000" b="0" baseline="0" dirty="0"/>
                  <a:t> </a:t>
                </a:r>
                <a:r>
                  <a:rPr lang="en-US" sz="2000" b="0" baseline="0" dirty="0" err="1"/>
                  <a:t>jedinicu</a:t>
                </a:r>
                <a:r>
                  <a:rPr lang="en-US" sz="2000" b="0" baseline="0" dirty="0"/>
                  <a:t>. Ana </a:t>
                </a:r>
                <a:r>
                  <a:rPr lang="en-US" sz="2000" b="0" baseline="0" dirty="0" err="1"/>
                  <a:t>i</a:t>
                </a:r>
                <a:r>
                  <a:rPr lang="en-US" sz="2000" b="0" baseline="0" dirty="0"/>
                  <a:t> </a:t>
                </a:r>
                <a:r>
                  <a:rPr lang="en-US" sz="2000" b="0" baseline="0" dirty="0" err="1"/>
                  <a:t>Boban</a:t>
                </a:r>
                <a:r>
                  <a:rPr lang="en-US" sz="2000" b="0" baseline="0" dirty="0"/>
                  <a:t> </a:t>
                </a:r>
                <a:r>
                  <a:rPr lang="en-US" sz="2000" b="0" baseline="0" dirty="0" err="1"/>
                  <a:t>takođe</a:t>
                </a:r>
                <a:r>
                  <a:rPr lang="en-US" sz="2000" b="0" baseline="0" dirty="0"/>
                  <a:t> </a:t>
                </a:r>
                <a:r>
                  <a:rPr lang="en-US" sz="2000" b="0" baseline="0" dirty="0" err="1"/>
                  <a:t>primećuju</a:t>
                </a:r>
                <a:r>
                  <a:rPr lang="en-US" sz="2000" b="0" baseline="0" dirty="0"/>
                  <a:t> da </a:t>
                </a:r>
                <a:r>
                  <a:rPr lang="en-US" sz="2000" b="0" baseline="0" dirty="0" err="1"/>
                  <a:t>ako</a:t>
                </a:r>
                <a:r>
                  <a:rPr lang="en-US" sz="2000" b="0" baseline="0" dirty="0"/>
                  <a:t> </a:t>
                </a:r>
                <a:r>
                  <a:rPr lang="en-US" sz="2000" b="0" baseline="0" dirty="0" err="1"/>
                  <a:t>svako</a:t>
                </a:r>
                <a:r>
                  <a:rPr lang="en-US" sz="2000" b="0" baseline="0" dirty="0"/>
                  <a:t> od </a:t>
                </a:r>
                <a:r>
                  <a:rPr lang="en-US" sz="2000" b="0" baseline="0" dirty="0" err="1"/>
                  <a:t>njih</a:t>
                </a:r>
                <a:r>
                  <a:rPr lang="en-US" sz="2000" b="0" baseline="0" dirty="0"/>
                  <a:t> </a:t>
                </a:r>
                <a:r>
                  <a:rPr lang="en-US" sz="2000" b="0" baseline="0" dirty="0" err="1"/>
                  <a:t>pošalje</a:t>
                </a:r>
                <a:r>
                  <a:rPr lang="en-US" sz="2000" b="0" baseline="0" dirty="0"/>
                  <a:t> </a:t>
                </a:r>
                <a:r>
                  <a:rPr lang="en-US" sz="2000" b="0" baseline="0" dirty="0" err="1"/>
                  <a:t>isti</a:t>
                </a:r>
                <a:r>
                  <a:rPr lang="en-US" sz="2000" b="0" baseline="0" dirty="0"/>
                  <a:t> bit </a:t>
                </a:r>
                <a:r>
                  <a:rPr lang="en-US" sz="2000" b="0" baseline="0" dirty="0" err="1"/>
                  <a:t>pobediće</a:t>
                </a:r>
                <a:r>
                  <a:rPr lang="en-US" sz="2000" b="0" baseline="0" dirty="0"/>
                  <a:t> u ¾ </a:t>
                </a:r>
                <a:r>
                  <a:rPr lang="en-US" sz="2000" b="0" baseline="0" dirty="0" err="1"/>
                  <a:t>slučajeva</a:t>
                </a:r>
                <a:r>
                  <a:rPr lang="en-US" sz="2000" b="0" baseline="0" dirty="0"/>
                  <a:t>. Ana </a:t>
                </a:r>
                <a:r>
                  <a:rPr lang="en-US" sz="2000" b="0" baseline="0" dirty="0" err="1"/>
                  <a:t>i</a:t>
                </a:r>
                <a:r>
                  <a:rPr lang="en-US" sz="2000" b="0" baseline="0" dirty="0"/>
                  <a:t> </a:t>
                </a:r>
                <a:r>
                  <a:rPr lang="en-US" sz="2000" b="0" baseline="0" dirty="0" err="1"/>
                  <a:t>Boban</a:t>
                </a:r>
                <a:r>
                  <a:rPr lang="en-US" sz="2000" b="0" baseline="0" dirty="0"/>
                  <a:t> se </a:t>
                </a:r>
                <a:r>
                  <a:rPr lang="en-US" sz="2000" b="0" baseline="0" dirty="0" err="1"/>
                  <a:t>zatim</a:t>
                </a:r>
                <a:r>
                  <a:rPr lang="en-US" sz="2000" b="0" baseline="0" dirty="0"/>
                  <a:t> </a:t>
                </a:r>
                <a:r>
                  <a:rPr lang="en-US" sz="2000" b="0" baseline="0" dirty="0" err="1"/>
                  <a:t>dogovaraju</a:t>
                </a:r>
                <a:r>
                  <a:rPr lang="en-US" sz="2000" b="0" baseline="0" dirty="0"/>
                  <a:t> da </a:t>
                </a:r>
                <a:r>
                  <a:rPr lang="en-US" sz="2000" b="0" baseline="0" dirty="0" err="1"/>
                  <a:t>svako</a:t>
                </a:r>
                <a:r>
                  <a:rPr lang="en-US" sz="2000" b="0" baseline="0" dirty="0"/>
                  <a:t> </a:t>
                </a:r>
                <a:r>
                  <a:rPr lang="en-US" sz="2000" b="0" baseline="0" dirty="0" err="1"/>
                  <a:t>pošalje</a:t>
                </a:r>
                <a:r>
                  <a:rPr lang="en-US" sz="2000" b="0" baseline="0" dirty="0"/>
                  <a:t> </a:t>
                </a:r>
                <a:r>
                  <a:rPr lang="en-US" sz="2000" b="0" baseline="0" dirty="0" err="1"/>
                  <a:t>po</a:t>
                </a:r>
                <a:r>
                  <a:rPr lang="en-US" sz="2000" b="0" baseline="0" dirty="0"/>
                  <a:t> bit 0 bez </a:t>
                </a:r>
                <a:r>
                  <a:rPr lang="en-US" sz="2000" b="0" baseline="0" dirty="0" err="1"/>
                  <a:t>obzira</a:t>
                </a:r>
                <a:r>
                  <a:rPr lang="en-US" sz="2000" b="0" baseline="0" dirty="0"/>
                  <a:t> </a:t>
                </a:r>
                <a:r>
                  <a:rPr lang="en-US" sz="2000" b="0" baseline="0" dirty="0" err="1"/>
                  <a:t>koji</a:t>
                </a:r>
                <a:r>
                  <a:rPr lang="en-US" sz="2000" b="0" baseline="0" dirty="0"/>
                  <a:t> bit </a:t>
                </a:r>
                <a:r>
                  <a:rPr lang="en-US" sz="2000" b="0" baseline="0" dirty="0" err="1"/>
                  <a:t>dobiju</a:t>
                </a:r>
                <a:r>
                  <a:rPr lang="en-US" sz="2000" b="0" baseline="0" dirty="0"/>
                  <a:t> od </a:t>
                </a:r>
                <a:r>
                  <a:rPr lang="en-US" sz="2000" b="0" baseline="0" dirty="0" err="1"/>
                  <a:t>Cice</a:t>
                </a:r>
                <a:r>
                  <a:rPr lang="en-US" sz="2000" b="0" baseline="0" dirty="0"/>
                  <a:t> </a:t>
                </a:r>
                <a:r>
                  <a:rPr lang="en-US" sz="2000" b="0" baseline="0" dirty="0" err="1"/>
                  <a:t>što</a:t>
                </a:r>
                <a:r>
                  <a:rPr lang="en-US" sz="2000" b="0" baseline="0" dirty="0"/>
                  <a:t> </a:t>
                </a:r>
                <a:r>
                  <a:rPr lang="en-US" sz="2000" b="0" baseline="0" dirty="0" err="1"/>
                  <a:t>će</a:t>
                </a:r>
                <a:r>
                  <a:rPr lang="en-US" sz="2000" b="0" baseline="0" dirty="0"/>
                  <a:t> </a:t>
                </a:r>
                <a:r>
                  <a:rPr lang="en-US" sz="2000" b="0" baseline="0" dirty="0" err="1"/>
                  <a:t>im</a:t>
                </a:r>
                <a:r>
                  <a:rPr lang="en-US" sz="2000" b="0" baseline="0" dirty="0"/>
                  <a:t> </a:t>
                </a:r>
                <a:r>
                  <a:rPr lang="en-US" sz="2000" b="0" baseline="0" dirty="0" err="1"/>
                  <a:t>doneti</a:t>
                </a:r>
                <a:r>
                  <a:rPr lang="en-US" sz="2000" b="0" baseline="0" dirty="0"/>
                  <a:t> </a:t>
                </a:r>
                <a:r>
                  <a:rPr lang="en-US" sz="2000" b="0" baseline="0" dirty="0" err="1"/>
                  <a:t>pobedu</a:t>
                </a:r>
                <a:r>
                  <a:rPr lang="en-US" sz="2000" b="0" baseline="0" dirty="0"/>
                  <a:t> u 75% </a:t>
                </a:r>
                <a:r>
                  <a:rPr lang="en-US" sz="2000" b="0" baseline="0" dirty="0" err="1"/>
                  <a:t>rundi</a:t>
                </a:r>
                <a:r>
                  <a:rPr lang="en-US" sz="2000" b="0" baseline="0" dirty="0"/>
                  <a:t>. </a:t>
                </a:r>
              </a:p>
              <a:p>
                <a:pPr marL="0" indent="0">
                  <a:buFont typeface="+mj-lt"/>
                  <a:buNone/>
                </a:pPr>
                <a:r>
                  <a:rPr lang="en-US" sz="2000" b="0" baseline="0" dirty="0" err="1"/>
                  <a:t>Klasična</a:t>
                </a:r>
                <a:r>
                  <a:rPr lang="en-US" sz="2000" b="0" baseline="0" dirty="0"/>
                  <a:t> </a:t>
                </a:r>
                <a:r>
                  <a:rPr lang="en-US" sz="2000" b="0" baseline="0" dirty="0" err="1"/>
                  <a:t>strategija</a:t>
                </a:r>
                <a:r>
                  <a:rPr lang="en-US" sz="2000" b="0" baseline="0" dirty="0"/>
                  <a:t> </a:t>
                </a:r>
                <a:r>
                  <a:rPr lang="en-US" sz="2000" b="0" baseline="0" dirty="0" err="1"/>
                  <a:t>donosi</a:t>
                </a:r>
                <a:r>
                  <a:rPr lang="en-US" sz="2000" b="0" baseline="0" dirty="0"/>
                  <a:t> </a:t>
                </a:r>
                <a:r>
                  <a:rPr lang="en-US" sz="2000" b="0" baseline="0" dirty="0" err="1"/>
                  <a:t>pobedu</a:t>
                </a:r>
                <a:r>
                  <a:rPr lang="en-US" sz="2000" b="0" baseline="0" dirty="0"/>
                  <a:t>, </a:t>
                </a:r>
                <a:r>
                  <a:rPr lang="en-US" sz="2000" b="0" baseline="0" dirty="0" err="1"/>
                  <a:t>ali</a:t>
                </a:r>
                <a:r>
                  <a:rPr lang="en-US" sz="2000" b="0" baseline="0" dirty="0"/>
                  <a:t> Ana </a:t>
                </a:r>
                <a:r>
                  <a:rPr lang="en-US" sz="2000" b="0" baseline="0" dirty="0" err="1"/>
                  <a:t>i</a:t>
                </a:r>
                <a:r>
                  <a:rPr lang="en-US" sz="2000" b="0" baseline="0" dirty="0"/>
                  <a:t> </a:t>
                </a:r>
                <a:r>
                  <a:rPr lang="en-US" sz="2000" b="0" baseline="0" dirty="0" err="1"/>
                  <a:t>Boban</a:t>
                </a:r>
                <a:r>
                  <a:rPr lang="en-US" sz="2000" b="0" baseline="0" dirty="0"/>
                  <a:t> </a:t>
                </a:r>
                <a:r>
                  <a:rPr lang="en-US" sz="2000" b="0" baseline="0" dirty="0" err="1"/>
                  <a:t>imaju</a:t>
                </a:r>
                <a:r>
                  <a:rPr lang="en-US" sz="2000" b="0" baseline="0" dirty="0"/>
                  <a:t> </a:t>
                </a:r>
                <a:r>
                  <a:rPr lang="en-US" sz="2000" b="0" baseline="0" dirty="0" err="1"/>
                  <a:t>ideju</a:t>
                </a:r>
                <a:r>
                  <a:rPr lang="en-US" sz="2000" b="0" baseline="0" dirty="0"/>
                  <a:t> </a:t>
                </a:r>
                <a:r>
                  <a:rPr lang="en-US" sz="2000" b="0" baseline="0" dirty="0" err="1"/>
                  <a:t>za</a:t>
                </a:r>
                <a:r>
                  <a:rPr lang="en-US" sz="2000" b="0" baseline="0" dirty="0"/>
                  <a:t> </a:t>
                </a:r>
                <a:r>
                  <a:rPr lang="en-US" sz="2000" b="0" baseline="0" dirty="0" err="1"/>
                  <a:t>još</a:t>
                </a:r>
                <a:r>
                  <a:rPr lang="en-US" sz="2000" b="0" baseline="0" dirty="0"/>
                  <a:t> </a:t>
                </a:r>
                <a:r>
                  <a:rPr lang="en-US" sz="2000" b="0" baseline="0" dirty="0" err="1"/>
                  <a:t>bolju</a:t>
                </a:r>
                <a:r>
                  <a:rPr lang="en-US" sz="2000" b="0" baseline="0" dirty="0"/>
                  <a:t>, </a:t>
                </a:r>
                <a:r>
                  <a:rPr lang="en-US" sz="2000" b="0" baseline="0" dirty="0" err="1"/>
                  <a:t>kvantnu</a:t>
                </a:r>
                <a:r>
                  <a:rPr lang="en-US" sz="2000" b="0" baseline="0" dirty="0"/>
                  <a:t> </a:t>
                </a:r>
                <a:r>
                  <a:rPr lang="en-US" sz="2000" b="0" baseline="0" dirty="0" err="1"/>
                  <a:t>strategiju</a:t>
                </a:r>
                <a:r>
                  <a:rPr lang="en-US" sz="2000" b="0" baseline="0" dirty="0"/>
                  <a:t>.</a:t>
                </a:r>
                <a:endParaRPr lang="en-US" sz="2000" b="0" dirty="0"/>
              </a:p>
              <a:p>
                <a:pPr marL="457200" indent="-457200">
                  <a:buFont typeface="+mj-lt"/>
                  <a:buAutoNum type="arabicPeriod"/>
                </a:pPr>
                <a:endParaRPr lang="en-US" sz="2000" b="0" dirty="0"/>
              </a:p>
              <a:p>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21</a:t>
            </a:fld>
            <a:endParaRPr lang="en-US"/>
          </a:p>
        </p:txBody>
      </p:sp>
    </p:spTree>
    <p:extLst>
      <p:ext uri="{BB962C8B-B14F-4D97-AF65-F5344CB8AC3E}">
        <p14:creationId xmlns:p14="http://schemas.microsoft.com/office/powerpoint/2010/main" val="3668904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But Alice and Bob can do even better by using a quantum strategy. Before the game begins, they share a pair of maximally entangled qubits in the Bell state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i="1" smtClean="0">
                                <a:solidFill>
                                  <a:schemeClr val="tx1"/>
                                </a:solidFill>
                                <a:latin typeface="Cambria Math" panose="02040503050406030204" pitchFamily="18" charset="0"/>
                              </a:rPr>
                            </m:ctrlPr>
                          </m:sSubPr>
                          <m:e>
                            <m:r>
                              <a:rPr lang="sr-Latn-RS" sz="1200" b="0" i="1" smtClean="0">
                                <a:solidFill>
                                  <a:schemeClr val="tx1"/>
                                </a:solidFill>
                                <a:latin typeface="Cambria Math" panose="02040503050406030204" pitchFamily="18" charset="0"/>
                              </a:rPr>
                              <m:t>𝐵</m:t>
                            </m:r>
                          </m:e>
                          <m:sub>
                            <m:r>
                              <a:rPr lang="sr-Latn-RS" sz="1200" b="0" i="1" smtClean="0">
                                <a:solidFill>
                                  <a:schemeClr val="tx1"/>
                                </a:solidFill>
                                <a:latin typeface="Cambria Math" panose="02040503050406030204" pitchFamily="18" charset="0"/>
                              </a:rPr>
                              <m:t>00</m:t>
                            </m:r>
                          </m:sub>
                        </m:sSub>
                      </m:e>
                    </m:d>
                  </m:oMath>
                </a14:m>
                <a:r>
                  <a:rPr lang="el-GR" dirty="0"/>
                  <a:t> </a:t>
                </a:r>
                <a:r>
                  <a:rPr lang="en-ZA" dirty="0"/>
                  <a:t>and agree on their measurement settings. During the game they cannot communicate. They simply measure their qubits according to the bits received from Charlie and return their measurement results.</a:t>
                </a:r>
              </a:p>
              <a:p>
                <a:pPr algn="just"/>
                <a:endParaRPr lang="en-ZA" dirty="0"/>
              </a:p>
              <a:p>
                <a:pPr marL="228600" indent="-228600">
                  <a:buFont typeface="+mj-lt"/>
                  <a:buAutoNum type="arabicPeriod"/>
                </a:pPr>
                <a:r>
                  <a:rPr lang="en-ZA" dirty="0"/>
                  <a:t>If Alice receives x=0, she measures in the computational basis {|0⟩, |1⟩}, assigning bit 0 to |0⟩ and bit 1 to |1⟩.</a:t>
                </a:r>
              </a:p>
              <a:p>
                <a:pPr marL="228600" indent="-228600">
                  <a:buFont typeface="+mj-lt"/>
                  <a:buAutoNum type="arabicPeriod"/>
                </a:pPr>
                <a:r>
                  <a:rPr lang="en-ZA" dirty="0"/>
                  <a:t>If Alice receives x=1, she measures in the diagonal basis {|+⟩, |−⟩}, again assigning results 0 and 1.</a:t>
                </a:r>
              </a:p>
              <a:p>
                <a:pPr marL="228600" indent="-228600">
                  <a:buFont typeface="+mj-lt"/>
                  <a:buAutoNum type="arabicPeriod"/>
                </a:pPr>
                <a:r>
                  <a:rPr lang="en-ZA" dirty="0"/>
                  <a:t>If Bob receives y=0, he measures in a basis rotated by +</a:t>
                </a:r>
                <a:r>
                  <a:rPr lang="el-GR" dirty="0"/>
                  <a:t>π/8 </a:t>
                </a:r>
                <a:r>
                  <a:rPr lang="en-ZA" dirty="0"/>
                  <a:t>relative to the computational basis, assigning the results |u₀⟩ and |u₁⟩ to bits 0 and 1.</a:t>
                </a:r>
              </a:p>
              <a:p>
                <a:pPr marL="228600" indent="-228600">
                  <a:buFont typeface="+mj-lt"/>
                  <a:buAutoNum type="arabicPeriod"/>
                </a:pPr>
                <a:r>
                  <a:rPr lang="en-ZA" dirty="0"/>
                  <a:t>If Bob receives y=1, he measures in a basis rotated by −</a:t>
                </a:r>
                <a:r>
                  <a:rPr lang="el-GR" dirty="0"/>
                  <a:t>π/8, </a:t>
                </a:r>
                <a:r>
                  <a:rPr lang="en-ZA" dirty="0"/>
                  <a:t>assigning |v₀⟩ and |v₁⟩ to bits 0 and 1.</a:t>
                </a:r>
              </a:p>
              <a:p>
                <a:pPr marL="228600" indent="-228600">
                  <a:buFont typeface="+mj-lt"/>
                  <a:buAutoNum type="arabicPeriod"/>
                </a:pPr>
                <a:endParaRPr lang="en-ZA" dirty="0"/>
              </a:p>
              <a:p>
                <a:pPr marL="228600" indent="-228600">
                  <a:buFont typeface="+mj-lt"/>
                  <a:buAutoNum type="arabicPeriod"/>
                </a:pPr>
                <a:r>
                  <a:rPr lang="en-ZA" dirty="0"/>
                  <a:t>Consider first the case x=0 and y=1. Alice measures in the computational basis and, suppose, obtains |1⟩. Because the qubits are entangled, Bob's qubit is projected onto the corresponding state |1⟩. Bob measures this state in his rotated basis. According to </a:t>
                </a:r>
                <a:r>
                  <a:rPr lang="en-ZA" dirty="0" err="1"/>
                  <a:t>Born's</a:t>
                </a:r>
                <a:r>
                  <a:rPr lang="en-ZA" dirty="0"/>
                  <a:t> rule, the probability that he obtains the same bit as Alice is cos²(</a:t>
                </a:r>
                <a:r>
                  <a:rPr lang="el-GR" dirty="0"/>
                  <a:t>π/8), </a:t>
                </a:r>
                <a:r>
                  <a:rPr lang="en-ZA" dirty="0"/>
                  <a:t>or approximately 85%. The same probability is obtained if Alice measures |0⟩.</a:t>
                </a:r>
              </a:p>
              <a:p>
                <a:pPr marL="228600" indent="-228600">
                  <a:buFont typeface="+mj-lt"/>
                  <a:buAutoNum type="arabicPeriod"/>
                </a:pPr>
                <a:endParaRPr lang="en-ZA" dirty="0"/>
              </a:p>
              <a:p>
                <a:pPr marL="228600" indent="-228600">
                  <a:buFont typeface="+mj-lt"/>
                  <a:buAutoNum type="arabicPeriod"/>
                </a:pPr>
                <a:r>
                  <a:rPr lang="en-ZA" dirty="0"/>
                  <a:t>Now consider the most interesting case, x=y=1. In this case </a:t>
                </a:r>
                <a:r>
                  <a:rPr lang="en-ZA" dirty="0" err="1"/>
                  <a:t>x·y</a:t>
                </a:r>
                <a:r>
                  <a:rPr lang="en-ZA" dirty="0"/>
                  <a:t>=1, so Alice and Bob must return different bits to win. Suppose Alice measures |+⟩, corresponding to bit 0. Bob's qubit is projected onto the corresponding state |+⟩. Because of Bob's choice of measurement basis, he obtains the opposite bit with the same probability of approximately 85%.</a:t>
                </a:r>
              </a:p>
              <a:p>
                <a:pPr marL="228600" indent="-228600">
                  <a:buFont typeface="+mj-lt"/>
                  <a:buAutoNum type="arabicPeriod"/>
                </a:pPr>
                <a:endParaRPr lang="en-ZA" dirty="0"/>
              </a:p>
              <a:p>
                <a:pPr algn="just"/>
                <a:r>
                  <a:rPr lang="en-ZA" dirty="0"/>
                  <a:t>Remarkably, the same winning probability applies to all four possible combinations of x and y. The overall probability of winning with this quantum strategy is therefore approximately 85%, compared with the maximum classical probability of 75%.</a:t>
                </a:r>
              </a:p>
              <a:p>
                <a:pPr algn="just"/>
                <a:endParaRPr lang="en-ZA" dirty="0"/>
              </a:p>
              <a:p>
                <a:pPr algn="just"/>
                <a:r>
                  <a:rPr lang="en-ZA" dirty="0"/>
                  <a:t>This advantage comes from quantum entanglement, which allows Alice and Bob to produce correlations that cannot be reproduced by any classical strategy without communication. The same principle is used in entanglement-based quantum cryptography to test whether distributed qubits exhibit genuine quantum correlations.</a:t>
                </a:r>
              </a:p>
              <a:p>
                <a:pPr marL="0" indent="0">
                  <a:buFont typeface="Arial" panose="020B0604020202020204" pitchFamily="34" charset="0"/>
                  <a:buNone/>
                </a:pPr>
                <a:endParaRPr lang="en-US" sz="1200" dirty="0"/>
              </a:p>
              <a:p>
                <a:pPr marL="0" indent="0">
                  <a:buFont typeface="Arial" panose="020B0604020202020204" pitchFamily="34" charset="0"/>
                  <a:buNone/>
                </a:pPr>
                <a:r>
                  <a:rPr lang="en-US" sz="1200" dirty="0"/>
                  <a:t>Reference:</a:t>
                </a:r>
              </a:p>
              <a:p>
                <a:pPr marL="0" indent="0">
                  <a:buFont typeface="Arial" panose="020B0604020202020204" pitchFamily="34" charset="0"/>
                  <a:buNone/>
                </a:pPr>
                <a:r>
                  <a:rPr lang="en-US" sz="1200" dirty="0"/>
                  <a:t>http://</a:t>
                </a:r>
                <a:r>
                  <a:rPr lang="en-US" sz="1200" dirty="0" err="1"/>
                  <a:t>quantumgazette.blogspot.com</a:t>
                </a:r>
                <a:r>
                  <a:rPr lang="en-US" sz="1200" dirty="0"/>
                  <a:t>/2016/07/</a:t>
                </a:r>
                <a:r>
                  <a:rPr lang="en-US" sz="1200" dirty="0" err="1"/>
                  <a:t>chsh</a:t>
                </a:r>
                <a:r>
                  <a:rPr lang="en-US" sz="1200" dirty="0"/>
                  <a:t>-game-and-quantum-</a:t>
                </a:r>
                <a:r>
                  <a:rPr lang="en-US" sz="1200" dirty="0" err="1"/>
                  <a:t>entanglement.html</a:t>
                </a:r>
                <a:endParaRPr lang="en-US" sz="1200" dirty="0"/>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US" sz="2000" dirty="0"/>
                  <a:t>U </a:t>
                </a:r>
                <a:r>
                  <a:rPr lang="en-US" sz="2000" dirty="0" err="1"/>
                  <a:t>kvantnoj</a:t>
                </a:r>
                <a:r>
                  <a:rPr lang="en-US" sz="2000" dirty="0"/>
                  <a:t> </a:t>
                </a:r>
                <a:r>
                  <a:rPr lang="en-US" sz="2000" dirty="0" err="1"/>
                  <a:t>strategiji</a:t>
                </a:r>
                <a:r>
                  <a:rPr lang="en-US" sz="2000" dirty="0"/>
                  <a:t>, Ana </a:t>
                </a:r>
                <a:r>
                  <a:rPr lang="en-US" sz="2000" dirty="0" err="1"/>
                  <a:t>i</a:t>
                </a:r>
                <a:r>
                  <a:rPr lang="en-US" sz="2000" dirty="0"/>
                  <a:t> </a:t>
                </a:r>
                <a:r>
                  <a:rPr lang="en-US" sz="2000" dirty="0" err="1"/>
                  <a:t>Boban</a:t>
                </a:r>
                <a:r>
                  <a:rPr lang="en-US" sz="2000" dirty="0"/>
                  <a:t> pre </a:t>
                </a:r>
                <a:r>
                  <a:rPr lang="en-US" sz="2000" dirty="0" err="1"/>
                  <a:t>igre</a:t>
                </a:r>
                <a:r>
                  <a:rPr lang="en-US" sz="2000" dirty="0"/>
                  <a:t> </a:t>
                </a:r>
                <a:r>
                  <a:rPr lang="en-US" sz="2000" dirty="0" err="1"/>
                  <a:t>razmenjuju</a:t>
                </a:r>
                <a:r>
                  <a:rPr lang="en-US" sz="2000" dirty="0"/>
                  <a:t> par </a:t>
                </a:r>
                <a:r>
                  <a:rPr lang="en-US" sz="2000" dirty="0" err="1"/>
                  <a:t>spletenih</a:t>
                </a:r>
                <a:r>
                  <a:rPr lang="en-US" sz="2000" dirty="0"/>
                  <a:t> </a:t>
                </a:r>
                <a:r>
                  <a:rPr lang="en-US" sz="2000" dirty="0" err="1"/>
                  <a:t>kubita</a:t>
                </a:r>
                <a:r>
                  <a:rPr lang="en-US" sz="2000" dirty="0"/>
                  <a:t> </a:t>
                </a:r>
                <a:r>
                  <a:rPr lang="en-US" sz="2000" dirty="0" err="1"/>
                  <a:t>i</a:t>
                </a:r>
                <a:r>
                  <a:rPr lang="en-US" sz="2000" dirty="0"/>
                  <a:t> </a:t>
                </a:r>
                <a:r>
                  <a:rPr lang="en-US" sz="2000" dirty="0" err="1"/>
                  <a:t>prave</a:t>
                </a:r>
                <a:r>
                  <a:rPr lang="en-US" sz="2000" dirty="0"/>
                  <a:t> plan da </a:t>
                </a:r>
                <a:r>
                  <a:rPr lang="en-US" sz="2000" dirty="0" err="1"/>
                  <a:t>svako</a:t>
                </a:r>
                <a:r>
                  <a:rPr lang="en-US" sz="2000" dirty="0"/>
                  <a:t> </a:t>
                </a:r>
                <a:r>
                  <a:rPr lang="en-US" sz="2000" dirty="0" err="1"/>
                  <a:t>izmeri</a:t>
                </a:r>
                <a:r>
                  <a:rPr lang="en-US" sz="2000" dirty="0"/>
                  <a:t> </a:t>
                </a:r>
                <a:r>
                  <a:rPr lang="en-US" sz="2000" dirty="0" err="1"/>
                  <a:t>svoj</a:t>
                </a:r>
                <a:r>
                  <a:rPr lang="en-US" sz="2000" dirty="0"/>
                  <a:t> </a:t>
                </a:r>
                <a:r>
                  <a:rPr lang="en-US" sz="2000" dirty="0" err="1"/>
                  <a:t>kubit</a:t>
                </a:r>
                <a:r>
                  <a:rPr lang="en-US" sz="2000" dirty="0"/>
                  <a:t> u </a:t>
                </a:r>
                <a:r>
                  <a:rPr lang="en-US" sz="2000" dirty="0" err="1"/>
                  <a:t>dogovorenoj</a:t>
                </a:r>
                <a:r>
                  <a:rPr lang="en-US" sz="2000" dirty="0"/>
                  <a:t> </a:t>
                </a:r>
                <a:r>
                  <a:rPr lang="en-US" sz="2000" dirty="0" err="1"/>
                  <a:t>bazi</a:t>
                </a:r>
                <a:r>
                  <a:rPr lang="en-US" sz="2000" dirty="0"/>
                  <a:t> </a:t>
                </a:r>
                <a:r>
                  <a:rPr lang="en-US" sz="2000" dirty="0" err="1"/>
                  <a:t>i</a:t>
                </a:r>
                <a:r>
                  <a:rPr lang="en-US" sz="2000" dirty="0"/>
                  <a:t> </a:t>
                </a:r>
                <a:r>
                  <a:rPr lang="en-US" sz="2000" dirty="0" err="1"/>
                  <a:t>pošalje</a:t>
                </a:r>
                <a:r>
                  <a:rPr lang="en-US" sz="2000" dirty="0"/>
                  <a:t> </a:t>
                </a:r>
                <a:r>
                  <a:rPr lang="en-US" sz="2000" dirty="0" err="1"/>
                  <a:t>rezultat</a:t>
                </a:r>
                <a:r>
                  <a:rPr lang="en-US" sz="2000" dirty="0"/>
                  <a:t> </a:t>
                </a:r>
                <a:r>
                  <a:rPr lang="en-US" sz="2000" dirty="0" err="1"/>
                  <a:t>Cici</a:t>
                </a:r>
                <a:r>
                  <a:rPr lang="en-US" sz="2000" dirty="0"/>
                  <a:t>.</a:t>
                </a:r>
              </a:p>
              <a:p>
                <a:pPr marL="0" indent="0">
                  <a:buFont typeface="Arial" panose="020B0604020202020204" pitchFamily="34" charset="0"/>
                  <a:buNone/>
                </a:pPr>
                <a:endParaRPr lang="en-US" sz="2000" dirty="0"/>
              </a:p>
              <a:p>
                <a:pPr marL="457200" indent="-457200">
                  <a:buFont typeface="+mj-lt"/>
                  <a:buAutoNum type="arabicPeriod"/>
                </a:pPr>
                <a:r>
                  <a:rPr lang="en-US" sz="2000" dirty="0" err="1"/>
                  <a:t>Ako</a:t>
                </a:r>
                <a:r>
                  <a:rPr lang="en-US" sz="2000" dirty="0"/>
                  <a:t> </a:t>
                </a:r>
                <a:r>
                  <a:rPr lang="en-US" sz="2000" dirty="0" err="1"/>
                  <a:t>dobije</a:t>
                </a:r>
                <a:r>
                  <a:rPr lang="en-US" sz="2000" dirty="0"/>
                  <a:t> bit </a:t>
                </a:r>
                <a:r>
                  <a:rPr lang="en-US" sz="2000" b="0" i="0">
                    <a:latin typeface="Cambria Math" panose="02040503050406030204" pitchFamily="18" charset="0"/>
                  </a:rPr>
                  <a:t>𝑥=0</a:t>
                </a:r>
                <a:r>
                  <a:rPr lang="en-US" sz="2000" dirty="0"/>
                  <a:t>, Ana </a:t>
                </a:r>
                <a:r>
                  <a:rPr lang="en-US" sz="2000" dirty="0" err="1"/>
                  <a:t>vrši</a:t>
                </a:r>
                <a:r>
                  <a:rPr lang="en-US" sz="2000" dirty="0"/>
                  <a:t> </a:t>
                </a:r>
                <a:r>
                  <a:rPr lang="en-US" sz="2000" dirty="0" err="1"/>
                  <a:t>merenje</a:t>
                </a:r>
                <a:r>
                  <a:rPr lang="en-US" sz="2000" dirty="0"/>
                  <a:t> </a:t>
                </a:r>
                <a:r>
                  <a:rPr lang="en-US" sz="2000" dirty="0" err="1"/>
                  <a:t>svog</a:t>
                </a:r>
                <a:r>
                  <a:rPr lang="en-US" sz="2000" dirty="0"/>
                  <a:t> </a:t>
                </a:r>
                <a:r>
                  <a:rPr lang="en-US" sz="2000" dirty="0" err="1"/>
                  <a:t>spletenog</a:t>
                </a:r>
                <a:r>
                  <a:rPr lang="en-US" sz="2000" dirty="0"/>
                  <a:t> </a:t>
                </a:r>
                <a:r>
                  <a:rPr lang="en-US" sz="2000" dirty="0" err="1"/>
                  <a:t>kubita</a:t>
                </a:r>
                <a:r>
                  <a:rPr lang="en-US" sz="2000" dirty="0"/>
                  <a:t> u </a:t>
                </a:r>
                <a:r>
                  <a:rPr lang="en-US" sz="2000" i="0">
                    <a:latin typeface="Cambria Math" panose="02040503050406030204" pitchFamily="18" charset="0"/>
                  </a:rPr>
                  <a:t>{├|</a:t>
                </a:r>
                <a:r>
                  <a:rPr lang="en-US" sz="2000" b="0" i="0">
                    <a:latin typeface="Cambria Math" panose="02040503050406030204" pitchFamily="18" charset="0"/>
                  </a:rPr>
                  <a:t>0⟩</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sr-Latn-RS" sz="2000" b="0" i="0">
                    <a:latin typeface="Cambria Math" panose="02040503050406030204" pitchFamily="18" charset="0"/>
                  </a:rPr>
                  <a:t>1⟩</a:t>
                </a:r>
                <a:r>
                  <a:rPr lang="en-US" sz="2000" b="0" i="0">
                    <a:latin typeface="Cambria Math" panose="02040503050406030204" pitchFamily="18" charset="0"/>
                  </a:rPr>
                  <a:t>}</a:t>
                </a:r>
                <a:r>
                  <a:rPr lang="en-US" sz="2000" dirty="0"/>
                  <a:t> bazi.</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Ako</a:t>
                </a:r>
                <a:r>
                  <a:rPr lang="en-US" sz="2000" dirty="0"/>
                  <a:t> </a:t>
                </a:r>
                <a:r>
                  <a:rPr lang="en-US" sz="2000" dirty="0" err="1"/>
                  <a:t>dobije</a:t>
                </a:r>
                <a:r>
                  <a:rPr lang="en-US" sz="2000" dirty="0"/>
                  <a:t> bit </a:t>
                </a:r>
                <a:r>
                  <a:rPr lang="en-US" sz="2000" b="0" i="0">
                    <a:latin typeface="Cambria Math" panose="02040503050406030204" pitchFamily="18" charset="0"/>
                  </a:rPr>
                  <a:t>𝑥=</a:t>
                </a:r>
                <a:r>
                  <a:rPr lang="sr-Latn-RS" sz="2000" b="0" i="0">
                    <a:latin typeface="Cambria Math" panose="02040503050406030204" pitchFamily="18" charset="0"/>
                  </a:rPr>
                  <a:t>1</a:t>
                </a:r>
                <a:r>
                  <a:rPr lang="en-US" sz="2000" dirty="0"/>
                  <a:t>, Ana </a:t>
                </a:r>
                <a:r>
                  <a:rPr lang="en-US" sz="2000" dirty="0" err="1"/>
                  <a:t>vrši</a:t>
                </a:r>
                <a:r>
                  <a:rPr lang="en-US" sz="2000" dirty="0"/>
                  <a:t> </a:t>
                </a:r>
                <a:r>
                  <a:rPr lang="en-US" sz="2000" dirty="0" err="1"/>
                  <a:t>merenje</a:t>
                </a:r>
                <a:r>
                  <a:rPr lang="en-US" sz="2000" dirty="0"/>
                  <a:t> u </a:t>
                </a:r>
                <a:r>
                  <a:rPr lang="en-US" sz="2000" i="0">
                    <a:latin typeface="Cambria Math" panose="02040503050406030204" pitchFamily="18" charset="0"/>
                  </a:rPr>
                  <a:t>{├|</a:t>
                </a:r>
                <a:r>
                  <a:rPr lang="en-US" sz="2000" b="0" i="0">
                    <a:latin typeface="Cambria Math" panose="02040503050406030204" pitchFamily="18" charset="0"/>
                  </a:rPr>
                  <a:t>+⟩</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en-US" sz="2000" b="0" i="0">
                    <a:latin typeface="Cambria Math" panose="02040503050406030204" pitchFamily="18" charset="0"/>
                  </a:rPr>
                  <a:t>−</a:t>
                </a:r>
                <a:r>
                  <a:rPr lang="sr-Latn-RS" sz="2000" b="0" i="0">
                    <a:latin typeface="Cambria Math" panose="02040503050406030204" pitchFamily="18" charset="0"/>
                  </a:rPr>
                  <a:t>⟩}</a:t>
                </a:r>
                <a:r>
                  <a:rPr lang="en-US" sz="2000" dirty="0"/>
                  <a:t> </a:t>
                </a:r>
                <a:r>
                  <a:rPr lang="en-US" sz="2000" dirty="0" err="1"/>
                  <a:t>bazi</a:t>
                </a:r>
                <a:r>
                  <a:rPr lang="en-US" sz="2000" dirty="0"/>
                  <a: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Ako</a:t>
                </a:r>
                <a:r>
                  <a:rPr lang="en-US" sz="2000" dirty="0"/>
                  <a:t> </a:t>
                </a:r>
                <a:r>
                  <a:rPr lang="en-US" sz="2000" dirty="0" err="1"/>
                  <a:t>dobije</a:t>
                </a:r>
                <a:r>
                  <a:rPr lang="en-US" sz="2000" dirty="0"/>
                  <a:t> bit </a:t>
                </a:r>
                <a:r>
                  <a:rPr lang="sr-Latn-RS" sz="2000" b="0" i="0">
                    <a:latin typeface="Cambria Math" panose="02040503050406030204" pitchFamily="18" charset="0"/>
                  </a:rPr>
                  <a:t>y</a:t>
                </a:r>
                <a:r>
                  <a:rPr lang="en-US" sz="2000" b="0" i="0">
                    <a:latin typeface="Cambria Math" panose="02040503050406030204" pitchFamily="18" charset="0"/>
                  </a:rPr>
                  <a:t>=</a:t>
                </a:r>
                <a:r>
                  <a:rPr lang="sr-Latn-RS" sz="2000" b="0" i="0">
                    <a:latin typeface="Cambria Math" panose="02040503050406030204" pitchFamily="18" charset="0"/>
                  </a:rPr>
                  <a:t>0</a:t>
                </a:r>
                <a:r>
                  <a:rPr lang="en-US" sz="2000" dirty="0"/>
                  <a:t>, </a:t>
                </a:r>
                <a:r>
                  <a:rPr lang="en-US" sz="2000" dirty="0" err="1"/>
                  <a:t>Boban</a:t>
                </a:r>
                <a:r>
                  <a:rPr lang="en-US" sz="2000" dirty="0"/>
                  <a:t> </a:t>
                </a:r>
                <a:r>
                  <a:rPr lang="en-US" sz="2000" dirty="0" err="1"/>
                  <a:t>vrši</a:t>
                </a:r>
                <a:r>
                  <a:rPr lang="en-US" sz="2000" dirty="0"/>
                  <a:t> </a:t>
                </a:r>
                <a:r>
                  <a:rPr lang="en-US" sz="2000" dirty="0" err="1"/>
                  <a:t>merenje</a:t>
                </a:r>
                <a:r>
                  <a:rPr lang="en-US" sz="2000" dirty="0"/>
                  <a:t> u </a:t>
                </a:r>
                <a:r>
                  <a:rPr lang="en-US" sz="2000" i="0">
                    <a:latin typeface="Cambria Math" panose="02040503050406030204" pitchFamily="18" charset="0"/>
                  </a:rPr>
                  <a:t>{├|</a:t>
                </a:r>
                <a:r>
                  <a:rPr lang="en-US" sz="2000" b="0" i="0">
                    <a:latin typeface="Cambria Math" panose="02040503050406030204" pitchFamily="18" charset="0"/>
                  </a:rPr>
                  <a:t>𝑢_0 ⟩</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en-US" sz="2000" b="0" i="0">
                    <a:latin typeface="Cambria Math" panose="02040503050406030204" pitchFamily="18" charset="0"/>
                  </a:rPr>
                  <a:t>𝑢_1 ⟩}</a:t>
                </a:r>
                <a:r>
                  <a:rPr lang="en-US" sz="2000" dirty="0"/>
                  <a:t> </a:t>
                </a:r>
                <a:r>
                  <a:rPr lang="en-US" sz="2000" dirty="0" err="1"/>
                  <a:t>bazi</a:t>
                </a:r>
                <a:r>
                  <a:rPr lang="en-US" sz="2000" dirty="0"/>
                  <a:t> </a:t>
                </a:r>
                <a:r>
                  <a:rPr lang="en-US" sz="2000" dirty="0" err="1"/>
                  <a:t>koja</a:t>
                </a:r>
                <a:r>
                  <a:rPr lang="en-US" sz="2000" dirty="0"/>
                  <a:t> </a:t>
                </a:r>
                <a:r>
                  <a:rPr lang="en-US" sz="2000" dirty="0" err="1"/>
                  <a:t>je</a:t>
                </a:r>
                <a:r>
                  <a:rPr lang="en-US" sz="2000" dirty="0"/>
                  <a:t> </a:t>
                </a:r>
                <a:r>
                  <a:rPr lang="en-US" sz="2000" dirty="0" err="1"/>
                  <a:t>rotirana</a:t>
                </a:r>
                <a:r>
                  <a:rPr lang="en-US" sz="2000" dirty="0"/>
                  <a:t> </a:t>
                </a:r>
                <a:r>
                  <a:rPr lang="en-US" sz="2000" dirty="0" err="1"/>
                  <a:t>za</a:t>
                </a:r>
                <a:r>
                  <a:rPr lang="en-US" sz="2000" dirty="0"/>
                  <a:t> </a:t>
                </a:r>
                <a:r>
                  <a:rPr lang="en-US" sz="2000" i="0">
                    <a:latin typeface="Cambria Math" panose="02040503050406030204" pitchFamily="18" charset="0"/>
                    <a:ea typeface="Cambria Math" panose="02040503050406030204" pitchFamily="18" charset="0"/>
                  </a:rPr>
                  <a:t>𝜋∕</a:t>
                </a:r>
                <a:r>
                  <a:rPr lang="sr-Latn-RS" sz="2000" b="0" i="0">
                    <a:latin typeface="Cambria Math" panose="02040503050406030204" pitchFamily="18" charset="0"/>
                  </a:rPr>
                  <a:t>8</a:t>
                </a:r>
                <a:r>
                  <a:rPr lang="en-US" sz="2000" dirty="0"/>
                  <a:t> u </a:t>
                </a:r>
                <a:r>
                  <a:rPr lang="en-US" sz="2000" dirty="0" err="1"/>
                  <a:t>odnosnu</a:t>
                </a:r>
                <a:r>
                  <a:rPr lang="en-US" sz="2000" baseline="0" dirty="0"/>
                  <a:t> </a:t>
                </a:r>
                <a:r>
                  <a:rPr lang="en-US" sz="2000" baseline="0" dirty="0" err="1"/>
                  <a:t>na</a:t>
                </a:r>
                <a:r>
                  <a:rPr lang="en-US" sz="2000" baseline="0" dirty="0"/>
                  <a:t> </a:t>
                </a:r>
                <a:r>
                  <a:rPr lang="en-US" sz="2000" dirty="0"/>
                  <a:t>u </a:t>
                </a:r>
                <a:r>
                  <a:rPr lang="en-US" sz="2000" i="0">
                    <a:latin typeface="Cambria Math" panose="02040503050406030204" pitchFamily="18" charset="0"/>
                  </a:rPr>
                  <a:t>{├|</a:t>
                </a:r>
                <a:r>
                  <a:rPr lang="en-US" sz="2000" b="0" i="0">
                    <a:latin typeface="Cambria Math" panose="02040503050406030204" pitchFamily="18" charset="0"/>
                  </a:rPr>
                  <a:t>0⟩</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sr-Latn-RS" sz="2000" b="0" i="0">
                    <a:latin typeface="Cambria Math" panose="02040503050406030204" pitchFamily="18" charset="0"/>
                  </a:rPr>
                  <a:t>1⟩}</a:t>
                </a:r>
                <a:r>
                  <a:rPr lang="en-US" sz="2000" dirty="0"/>
                  <a:t> </a:t>
                </a:r>
                <a:r>
                  <a:rPr lang="en-US" sz="2000" dirty="0" err="1"/>
                  <a:t>bazu</a:t>
                </a:r>
                <a:r>
                  <a:rPr lang="en-US" sz="2000" dirty="0"/>
                  <a: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Ako</a:t>
                </a:r>
                <a:r>
                  <a:rPr lang="en-US" sz="2000" dirty="0"/>
                  <a:t> </a:t>
                </a:r>
                <a:r>
                  <a:rPr lang="en-US" sz="2000" dirty="0" err="1"/>
                  <a:t>dobije</a:t>
                </a:r>
                <a:r>
                  <a:rPr lang="en-US" sz="2000" dirty="0"/>
                  <a:t> bit </a:t>
                </a:r>
                <a:r>
                  <a:rPr lang="sr-Latn-RS" sz="2000" b="0" i="0">
                    <a:latin typeface="Cambria Math" panose="02040503050406030204" pitchFamily="18" charset="0"/>
                  </a:rPr>
                  <a:t>𝑦</a:t>
                </a:r>
                <a:r>
                  <a:rPr lang="en-US" sz="2000" b="0" i="0">
                    <a:latin typeface="Cambria Math" panose="02040503050406030204" pitchFamily="18" charset="0"/>
                  </a:rPr>
                  <a:t>=1</a:t>
                </a:r>
                <a:r>
                  <a:rPr lang="en-US" sz="2000" dirty="0"/>
                  <a:t>, </a:t>
                </a:r>
                <a:r>
                  <a:rPr lang="en-US" sz="2000" dirty="0" err="1"/>
                  <a:t>Boban</a:t>
                </a:r>
                <a:r>
                  <a:rPr lang="en-US" sz="2000" dirty="0"/>
                  <a:t> </a:t>
                </a:r>
                <a:r>
                  <a:rPr lang="en-US" sz="2000" dirty="0" err="1"/>
                  <a:t>vrši</a:t>
                </a:r>
                <a:r>
                  <a:rPr lang="en-US" sz="2000" dirty="0"/>
                  <a:t> </a:t>
                </a:r>
                <a:r>
                  <a:rPr lang="en-US" sz="2000" dirty="0" err="1"/>
                  <a:t>merenje</a:t>
                </a:r>
                <a:r>
                  <a:rPr lang="en-US" sz="2000" dirty="0"/>
                  <a:t> u </a:t>
                </a:r>
                <a:r>
                  <a:rPr lang="en-US" sz="2000" i="0">
                    <a:latin typeface="Cambria Math" panose="02040503050406030204" pitchFamily="18" charset="0"/>
                  </a:rPr>
                  <a:t>{├|</a:t>
                </a:r>
                <a:r>
                  <a:rPr lang="en-US" sz="2000" b="0" i="0">
                    <a:latin typeface="Cambria Math" panose="02040503050406030204" pitchFamily="18" charset="0"/>
                  </a:rPr>
                  <a:t>𝑣_0 ⟩</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en-US" sz="2000" b="0" i="0">
                    <a:latin typeface="Cambria Math" panose="02040503050406030204" pitchFamily="18" charset="0"/>
                  </a:rPr>
                  <a:t>𝑣_1 ⟩}</a:t>
                </a:r>
                <a:r>
                  <a:rPr lang="en-US" sz="2000" dirty="0"/>
                  <a:t> </a:t>
                </a:r>
                <a:r>
                  <a:rPr lang="en-US" sz="2000" dirty="0" err="1"/>
                  <a:t>bazi</a:t>
                </a:r>
                <a:r>
                  <a:rPr lang="en-US" sz="2000" dirty="0"/>
                  <a:t> </a:t>
                </a:r>
                <a:r>
                  <a:rPr lang="en-US" sz="2000" dirty="0" err="1"/>
                  <a:t>koja</a:t>
                </a:r>
                <a:r>
                  <a:rPr lang="en-US" sz="2000" dirty="0"/>
                  <a:t> </a:t>
                </a:r>
                <a:r>
                  <a:rPr lang="en-US" sz="2000" dirty="0" err="1"/>
                  <a:t>je</a:t>
                </a:r>
                <a:r>
                  <a:rPr lang="en-US" sz="2000" dirty="0"/>
                  <a:t> </a:t>
                </a:r>
                <a:r>
                  <a:rPr lang="en-US" sz="2000" dirty="0" err="1"/>
                  <a:t>rotirana</a:t>
                </a:r>
                <a:r>
                  <a:rPr lang="en-US" sz="2000" dirty="0"/>
                  <a:t> </a:t>
                </a:r>
                <a:r>
                  <a:rPr lang="en-US" sz="2000" dirty="0" err="1"/>
                  <a:t>za</a:t>
                </a:r>
                <a:r>
                  <a:rPr lang="en-US" sz="2000" dirty="0"/>
                  <a:t> </a:t>
                </a:r>
                <a:r>
                  <a:rPr lang="en-US" sz="2000" i="0">
                    <a:latin typeface="Cambria Math" panose="02040503050406030204" pitchFamily="18" charset="0"/>
                  </a:rPr>
                  <a:t>〖</a:t>
                </a:r>
                <a:r>
                  <a:rPr lang="en-US" sz="2000" b="0" i="0">
                    <a:latin typeface="Cambria Math" panose="02040503050406030204" pitchFamily="18" charset="0"/>
                  </a:rPr>
                  <a:t>−</a:t>
                </a:r>
                <a:r>
                  <a:rPr lang="en-US" sz="2000" i="0">
                    <a:latin typeface="Cambria Math" panose="02040503050406030204" pitchFamily="18" charset="0"/>
                    <a:ea typeface="Cambria Math" panose="02040503050406030204" pitchFamily="18" charset="0"/>
                  </a:rPr>
                  <a:t>𝜋〗∕</a:t>
                </a:r>
                <a:r>
                  <a:rPr lang="sr-Latn-RS" sz="2000" b="0" i="0">
                    <a:latin typeface="Cambria Math" panose="02040503050406030204" pitchFamily="18" charset="0"/>
                  </a:rPr>
                  <a:t>8</a:t>
                </a:r>
                <a:r>
                  <a:rPr lang="en-US" sz="2000" dirty="0"/>
                  <a:t> u </a:t>
                </a:r>
                <a:r>
                  <a:rPr lang="en-US" sz="2000" dirty="0" err="1"/>
                  <a:t>odnosnu</a:t>
                </a:r>
                <a:r>
                  <a:rPr lang="en-US" sz="2000" baseline="0" dirty="0"/>
                  <a:t> </a:t>
                </a:r>
                <a:r>
                  <a:rPr lang="en-US" sz="2000" baseline="0" dirty="0" err="1"/>
                  <a:t>na</a:t>
                </a:r>
                <a:r>
                  <a:rPr lang="en-US" sz="2000" baseline="0" dirty="0"/>
                  <a:t> </a:t>
                </a:r>
                <a:r>
                  <a:rPr lang="en-US" sz="2000" i="0">
                    <a:latin typeface="Cambria Math" panose="02040503050406030204" pitchFamily="18" charset="0"/>
                  </a:rPr>
                  <a:t>{├|</a:t>
                </a:r>
                <a:r>
                  <a:rPr lang="en-US" sz="2000" b="0" i="0">
                    <a:latin typeface="Cambria Math" panose="02040503050406030204" pitchFamily="18" charset="0"/>
                  </a:rPr>
                  <a:t>0⟩</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sr-Latn-RS" sz="2000" b="0" i="0">
                    <a:latin typeface="Cambria Math" panose="02040503050406030204" pitchFamily="18" charset="0"/>
                  </a:rPr>
                  <a:t>1⟩}</a:t>
                </a:r>
                <a:r>
                  <a:rPr lang="en-US" sz="2000" dirty="0"/>
                  <a:t> </a:t>
                </a:r>
                <a:r>
                  <a:rPr lang="en-US" sz="2000" dirty="0" err="1"/>
                  <a:t>bazu</a:t>
                </a:r>
                <a:r>
                  <a:rPr lang="en-US" sz="2000" dirty="0"/>
                  <a:t>.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Radi</a:t>
                </a:r>
                <a:r>
                  <a:rPr lang="en-US" sz="2000" dirty="0"/>
                  <a:t> </a:t>
                </a:r>
                <a:r>
                  <a:rPr lang="en-US" sz="2000" dirty="0" err="1"/>
                  <a:t>testiranja</a:t>
                </a:r>
                <a:r>
                  <a:rPr lang="en-US" sz="2000" dirty="0"/>
                  <a:t> </a:t>
                </a:r>
                <a:r>
                  <a:rPr lang="en-US" sz="2000" dirty="0" err="1"/>
                  <a:t>strategije</a:t>
                </a:r>
                <a:r>
                  <a:rPr lang="en-US" sz="2000" dirty="0"/>
                  <a:t>, </a:t>
                </a:r>
                <a:r>
                  <a:rPr lang="en-US" sz="2000" dirty="0" err="1"/>
                  <a:t>pretpostavimo</a:t>
                </a:r>
                <a:r>
                  <a:rPr lang="en-US" sz="2000" dirty="0"/>
                  <a:t> da </a:t>
                </a:r>
                <a:r>
                  <a:rPr lang="en-US" sz="2000" dirty="0" err="1"/>
                  <a:t>je</a:t>
                </a:r>
                <a:r>
                  <a:rPr lang="en-US" sz="2000" dirty="0"/>
                  <a:t> Ana </a:t>
                </a:r>
                <a:r>
                  <a:rPr lang="en-US" sz="2000" dirty="0" err="1"/>
                  <a:t>dobila</a:t>
                </a:r>
                <a:r>
                  <a:rPr lang="en-US" sz="2000" dirty="0"/>
                  <a:t> bit </a:t>
                </a:r>
                <a:r>
                  <a:rPr lang="en-US" sz="2000" b="0" i="0">
                    <a:latin typeface="Cambria Math" panose="02040503050406030204" pitchFamily="18" charset="0"/>
                  </a:rPr>
                  <a:t>𝑥=0</a:t>
                </a:r>
                <a:r>
                  <a:rPr lang="en-US" sz="2000" dirty="0"/>
                  <a:t>, a </a:t>
                </a:r>
                <a:r>
                  <a:rPr lang="en-US" sz="2000" dirty="0" err="1"/>
                  <a:t>Boban</a:t>
                </a:r>
                <a:r>
                  <a:rPr lang="en-US" sz="2000" dirty="0"/>
                  <a:t> bit </a:t>
                </a:r>
                <a:r>
                  <a:rPr lang="en-US" sz="2000" b="0" i="0">
                    <a:latin typeface="Cambria Math" panose="02040503050406030204" pitchFamily="18" charset="0"/>
                  </a:rPr>
                  <a:t>𝑦=1</a:t>
                </a:r>
                <a:r>
                  <a:rPr lang="en-US" sz="2000" i="1" dirty="0"/>
                  <a:t>. </a:t>
                </a:r>
                <a:r>
                  <a:rPr lang="en-US" sz="2000" i="0" dirty="0" err="1"/>
                  <a:t>Prema</a:t>
                </a:r>
                <a:r>
                  <a:rPr lang="en-US" sz="2000" i="0" baseline="0" dirty="0"/>
                  <a:t> </a:t>
                </a:r>
                <a:r>
                  <a:rPr lang="en-US" sz="2000" i="0" baseline="0" dirty="0" err="1"/>
                  <a:t>dogovoru</a:t>
                </a:r>
                <a:r>
                  <a:rPr lang="en-US" sz="2000" i="0" baseline="0" dirty="0"/>
                  <a:t> Ana </a:t>
                </a:r>
                <a:r>
                  <a:rPr lang="en-US" sz="2000" i="0" baseline="0" dirty="0" err="1"/>
                  <a:t>meri</a:t>
                </a:r>
                <a:r>
                  <a:rPr lang="en-US" sz="2000" i="0" baseline="0" dirty="0"/>
                  <a:t> </a:t>
                </a:r>
                <a:r>
                  <a:rPr lang="en-US" sz="2000" i="0" baseline="0" dirty="0" err="1"/>
                  <a:t>svoj</a:t>
                </a:r>
                <a:r>
                  <a:rPr lang="en-US" sz="2000" i="0" baseline="0" dirty="0"/>
                  <a:t> </a:t>
                </a:r>
                <a:r>
                  <a:rPr lang="en-US" sz="2000" i="0" baseline="0" dirty="0" err="1"/>
                  <a:t>kubit</a:t>
                </a:r>
                <a:r>
                  <a:rPr lang="en-US" sz="2000" i="0" baseline="0" dirty="0"/>
                  <a:t> u </a:t>
                </a:r>
                <a:r>
                  <a:rPr lang="en-US" sz="2000" dirty="0"/>
                  <a:t>u </a:t>
                </a:r>
                <a:r>
                  <a:rPr lang="en-US" sz="2000" i="0">
                    <a:latin typeface="Cambria Math" panose="02040503050406030204" pitchFamily="18" charset="0"/>
                  </a:rPr>
                  <a:t>{├|</a:t>
                </a:r>
                <a:r>
                  <a:rPr lang="en-US" sz="2000" b="0" i="0">
                    <a:latin typeface="Cambria Math" panose="02040503050406030204" pitchFamily="18" charset="0"/>
                  </a:rPr>
                  <a:t>0⟩</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sr-Latn-RS" sz="2000" b="0" i="0">
                    <a:latin typeface="Cambria Math" panose="02040503050406030204" pitchFamily="18" charset="0"/>
                  </a:rPr>
                  <a:t>1⟩}</a:t>
                </a:r>
                <a:r>
                  <a:rPr lang="en-US" sz="2000" dirty="0"/>
                  <a:t> </a:t>
                </a:r>
                <a:r>
                  <a:rPr lang="en-US" sz="2000" dirty="0" err="1"/>
                  <a:t>bazi</a:t>
                </a:r>
                <a:r>
                  <a:rPr lang="en-US" sz="2000" baseline="0" dirty="0"/>
                  <a:t> </a:t>
                </a:r>
                <a:r>
                  <a:rPr lang="en-US" sz="2000" baseline="0" dirty="0" err="1"/>
                  <a:t>i</a:t>
                </a:r>
                <a:r>
                  <a:rPr lang="en-US" sz="2000" baseline="0" dirty="0"/>
                  <a:t> </a:t>
                </a:r>
                <a:r>
                  <a:rPr lang="en-US" sz="2000" baseline="0" dirty="0" err="1"/>
                  <a:t>na</a:t>
                </a:r>
                <a:r>
                  <a:rPr lang="en-US" sz="2000" baseline="0" dirty="0"/>
                  <a:t> primer </a:t>
                </a:r>
                <a:r>
                  <a:rPr lang="en-US" sz="2000" baseline="0" dirty="0" err="1"/>
                  <a:t>dobija</a:t>
                </a:r>
                <a:r>
                  <a:rPr lang="en-US" sz="2000" baseline="0" dirty="0"/>
                  <a:t> bit 1 </a:t>
                </a:r>
                <a:r>
                  <a:rPr lang="en-US" sz="2000" baseline="0" dirty="0" err="1"/>
                  <a:t>ostavljajući</a:t>
                </a:r>
                <a:r>
                  <a:rPr lang="en-US" sz="2000" baseline="0" dirty="0"/>
                  <a:t> </a:t>
                </a:r>
                <a:r>
                  <a:rPr lang="en-US" sz="2000" baseline="0" dirty="0" err="1"/>
                  <a:t>Bobanov</a:t>
                </a:r>
                <a:r>
                  <a:rPr lang="en-US" sz="2000" baseline="0" dirty="0"/>
                  <a:t> </a:t>
                </a:r>
                <a:r>
                  <a:rPr lang="en-US" sz="2000" baseline="0" dirty="0" err="1"/>
                  <a:t>kubit</a:t>
                </a:r>
                <a:r>
                  <a:rPr lang="en-US" sz="2000" baseline="0" dirty="0"/>
                  <a:t> u </a:t>
                </a:r>
                <a:r>
                  <a:rPr lang="en-US" sz="2000" baseline="0" dirty="0" err="1"/>
                  <a:t>stanju</a:t>
                </a:r>
                <a:r>
                  <a:rPr lang="en-US" sz="2000" baseline="0" dirty="0"/>
                  <a:t> </a:t>
                </a:r>
                <a:r>
                  <a:rPr lang="en-US" sz="2000" i="0">
                    <a:solidFill>
                      <a:srgbClr val="FF0000"/>
                    </a:solidFill>
                    <a:latin typeface="Cambria Math" panose="02040503050406030204" pitchFamily="18" charset="0"/>
                  </a:rPr>
                  <a:t>|</a:t>
                </a:r>
                <a:r>
                  <a:rPr lang="sr-Latn-RS" sz="2000" b="0" i="0">
                    <a:solidFill>
                      <a:srgbClr val="FF0000"/>
                    </a:solidFill>
                    <a:latin typeface="Cambria Math" panose="02040503050406030204" pitchFamily="18" charset="0"/>
                  </a:rPr>
                  <a:t>1⟩</a:t>
                </a:r>
                <a:r>
                  <a:rPr lang="en-US" sz="2000" dirty="0">
                    <a:solidFill>
                      <a:srgbClr val="FF0000"/>
                    </a:solidFill>
                  </a:rPr>
                  <a:t> prikazanim </a:t>
                </a:r>
                <a:r>
                  <a:rPr lang="en-US" sz="2000" dirty="0" err="1">
                    <a:solidFill>
                      <a:srgbClr val="FF0000"/>
                    </a:solidFill>
                  </a:rPr>
                  <a:t>vertikalnim</a:t>
                </a:r>
                <a:r>
                  <a:rPr lang="en-US" sz="2000" baseline="0" dirty="0">
                    <a:solidFill>
                      <a:srgbClr val="FF0000"/>
                    </a:solidFill>
                  </a:rPr>
                  <a:t> </a:t>
                </a:r>
                <a:r>
                  <a:rPr lang="en-US" sz="2000" baseline="0" dirty="0" err="1">
                    <a:solidFill>
                      <a:srgbClr val="FF0000"/>
                    </a:solidFill>
                  </a:rPr>
                  <a:t>crvenim</a:t>
                </a:r>
                <a:r>
                  <a:rPr lang="en-US" sz="2000" baseline="0" dirty="0">
                    <a:solidFill>
                      <a:srgbClr val="FF0000"/>
                    </a:solidFill>
                  </a:rPr>
                  <a:t> </a:t>
                </a:r>
                <a:r>
                  <a:rPr lang="en-US" sz="2000" baseline="0" dirty="0" err="1">
                    <a:solidFill>
                      <a:srgbClr val="FF0000"/>
                    </a:solidFill>
                  </a:rPr>
                  <a:t>vektorom</a:t>
                </a:r>
                <a:r>
                  <a:rPr lang="en-US" sz="2000" baseline="0" dirty="0">
                    <a:solidFill>
                      <a:srgbClr val="FF0000"/>
                    </a:solidFill>
                  </a:rPr>
                  <a:t>. </a:t>
                </a:r>
                <a:r>
                  <a:rPr lang="en-US" sz="2000" baseline="0" dirty="0" err="1">
                    <a:solidFill>
                      <a:srgbClr val="FF0000"/>
                    </a:solidFill>
                  </a:rPr>
                  <a:t>Prema</a:t>
                </a:r>
                <a:r>
                  <a:rPr lang="en-US" sz="2000" baseline="0" dirty="0">
                    <a:solidFill>
                      <a:srgbClr val="FF0000"/>
                    </a:solidFill>
                  </a:rPr>
                  <a:t> </a:t>
                </a:r>
                <a:r>
                  <a:rPr lang="en-US" sz="2000" baseline="0" dirty="0" err="1">
                    <a:solidFill>
                      <a:srgbClr val="FF0000"/>
                    </a:solidFill>
                  </a:rPr>
                  <a:t>dogovoru</a:t>
                </a:r>
                <a:r>
                  <a:rPr lang="en-US" sz="2000" baseline="0" dirty="0">
                    <a:solidFill>
                      <a:srgbClr val="FF0000"/>
                    </a:solidFill>
                  </a:rPr>
                  <a:t>, </a:t>
                </a:r>
                <a:r>
                  <a:rPr lang="en-US" sz="2000" baseline="0" dirty="0" err="1">
                    <a:solidFill>
                      <a:srgbClr val="FF0000"/>
                    </a:solidFill>
                  </a:rPr>
                  <a:t>sada</a:t>
                </a:r>
                <a:r>
                  <a:rPr lang="en-US" sz="2000" baseline="0" dirty="0">
                    <a:solidFill>
                      <a:srgbClr val="FF0000"/>
                    </a:solidFill>
                  </a:rPr>
                  <a:t> </a:t>
                </a:r>
                <a:r>
                  <a:rPr lang="en-US" sz="2000" baseline="0" dirty="0" err="1">
                    <a:solidFill>
                      <a:srgbClr val="FF0000"/>
                    </a:solidFill>
                  </a:rPr>
                  <a:t>Boban</a:t>
                </a:r>
                <a:r>
                  <a:rPr lang="en-US" sz="2000" baseline="0" dirty="0">
                    <a:solidFill>
                      <a:srgbClr val="FF0000"/>
                    </a:solidFill>
                  </a:rPr>
                  <a:t> </a:t>
                </a:r>
                <a:r>
                  <a:rPr lang="en-US" sz="2000" baseline="0" dirty="0" err="1">
                    <a:solidFill>
                      <a:srgbClr val="FF0000"/>
                    </a:solidFill>
                  </a:rPr>
                  <a:t>meri</a:t>
                </a:r>
                <a:r>
                  <a:rPr lang="en-US" sz="2000" baseline="0" dirty="0">
                    <a:solidFill>
                      <a:srgbClr val="FF0000"/>
                    </a:solidFill>
                  </a:rPr>
                  <a:t> </a:t>
                </a:r>
                <a:r>
                  <a:rPr lang="en-US" sz="2000" baseline="0" dirty="0" err="1">
                    <a:solidFill>
                      <a:srgbClr val="FF0000"/>
                    </a:solidFill>
                  </a:rPr>
                  <a:t>svoj</a:t>
                </a:r>
                <a:r>
                  <a:rPr lang="en-US" sz="2000" baseline="0" dirty="0">
                    <a:solidFill>
                      <a:srgbClr val="FF0000"/>
                    </a:solidFill>
                  </a:rPr>
                  <a:t> </a:t>
                </a:r>
                <a:r>
                  <a:rPr lang="en-US" sz="2000" baseline="0" dirty="0" err="1">
                    <a:solidFill>
                      <a:srgbClr val="FF0000"/>
                    </a:solidFill>
                  </a:rPr>
                  <a:t>kubit</a:t>
                </a:r>
                <a:r>
                  <a:rPr lang="en-US" sz="2000" baseline="0" dirty="0">
                    <a:solidFill>
                      <a:srgbClr val="FF0000"/>
                    </a:solidFill>
                  </a:rPr>
                  <a:t> u </a:t>
                </a:r>
                <a:r>
                  <a:rPr lang="en-US" sz="2000" baseline="0" dirty="0" err="1">
                    <a:solidFill>
                      <a:srgbClr val="FF0000"/>
                    </a:solidFill>
                  </a:rPr>
                  <a:t>bazi</a:t>
                </a:r>
                <a:r>
                  <a:rPr lang="en-US" sz="2000" baseline="0" dirty="0">
                    <a:solidFill>
                      <a:srgbClr val="FF0000"/>
                    </a:solidFill>
                  </a:rPr>
                  <a:t> </a:t>
                </a:r>
                <a:r>
                  <a:rPr lang="en-US" sz="2000" baseline="0" dirty="0" err="1">
                    <a:solidFill>
                      <a:srgbClr val="FF0000"/>
                    </a:solidFill>
                  </a:rPr>
                  <a:t>pomerenoj</a:t>
                </a:r>
                <a:r>
                  <a:rPr lang="en-US" sz="2000" baseline="0" dirty="0">
                    <a:solidFill>
                      <a:srgbClr val="FF0000"/>
                    </a:solidFill>
                  </a:rPr>
                  <a:t> </a:t>
                </a:r>
                <a:r>
                  <a:rPr lang="en-US" sz="2000" baseline="0" dirty="0" err="1">
                    <a:solidFill>
                      <a:srgbClr val="FF0000"/>
                    </a:solidFill>
                  </a:rPr>
                  <a:t>za</a:t>
                </a:r>
                <a:r>
                  <a:rPr lang="en-US" sz="2000" baseline="0" dirty="0">
                    <a:solidFill>
                      <a:srgbClr val="FF0000"/>
                    </a:solidFill>
                  </a:rPr>
                  <a:t> </a:t>
                </a:r>
                <a:r>
                  <a:rPr lang="en-US" sz="2000" i="0">
                    <a:latin typeface="Cambria Math" panose="02040503050406030204" pitchFamily="18" charset="0"/>
                  </a:rPr>
                  <a:t>〖</a:t>
                </a:r>
                <a:r>
                  <a:rPr lang="en-US" sz="2000" b="0" i="0">
                    <a:latin typeface="Cambria Math" panose="02040503050406030204" pitchFamily="18" charset="0"/>
                  </a:rPr>
                  <a:t>−</a:t>
                </a:r>
                <a:r>
                  <a:rPr lang="en-US" sz="2000" i="0">
                    <a:latin typeface="Cambria Math" panose="02040503050406030204" pitchFamily="18" charset="0"/>
                    <a:ea typeface="Cambria Math" panose="02040503050406030204" pitchFamily="18" charset="0"/>
                  </a:rPr>
                  <a:t>𝜋〗∕</a:t>
                </a:r>
                <a:r>
                  <a:rPr lang="sr-Latn-RS" sz="2000" b="0" i="0">
                    <a:latin typeface="Cambria Math" panose="02040503050406030204" pitchFamily="18" charset="0"/>
                  </a:rPr>
                  <a:t>8</a:t>
                </a:r>
                <a:r>
                  <a:rPr lang="en-US" sz="2000" dirty="0"/>
                  <a:t> . </a:t>
                </a:r>
                <a:r>
                  <a:rPr lang="en-US" sz="2000" baseline="0" dirty="0" err="1"/>
                  <a:t>Primenimo</a:t>
                </a:r>
                <a:r>
                  <a:rPr lang="en-US" sz="2000" baseline="0" dirty="0"/>
                  <a:t> </a:t>
                </a:r>
                <a:r>
                  <a:rPr lang="en-US" sz="2000" baseline="0" dirty="0" err="1"/>
                  <a:t>na</a:t>
                </a:r>
                <a:r>
                  <a:rPr lang="en-US" sz="2000" baseline="0" dirty="0"/>
                  <a:t> </a:t>
                </a:r>
                <a:r>
                  <a:rPr lang="en-US" sz="2000" baseline="0" dirty="0" err="1"/>
                  <a:t>trenutak</a:t>
                </a:r>
                <a:r>
                  <a:rPr lang="en-US" sz="2000" baseline="0" dirty="0"/>
                  <a:t> </a:t>
                </a:r>
                <a:r>
                  <a:rPr lang="en-US" sz="2000" baseline="0" dirty="0" err="1"/>
                  <a:t>neformalno</a:t>
                </a:r>
                <a:r>
                  <a:rPr lang="en-US" sz="2000" baseline="0" dirty="0"/>
                  <a:t> </a:t>
                </a:r>
                <a:r>
                  <a:rPr lang="en-US" sz="2000" baseline="0" dirty="0" err="1"/>
                  <a:t>rezonovanje</a:t>
                </a:r>
                <a:r>
                  <a:rPr lang="en-US" sz="2000" baseline="0" dirty="0"/>
                  <a:t>. </a:t>
                </a:r>
                <a:r>
                  <a:rPr lang="en-US" sz="2000" dirty="0" err="1"/>
                  <a:t>Kako</a:t>
                </a:r>
                <a:r>
                  <a:rPr lang="en-US" sz="2000" dirty="0"/>
                  <a:t> </a:t>
                </a:r>
                <a:r>
                  <a:rPr lang="en-US" sz="2000" dirty="0" err="1"/>
                  <a:t>je</a:t>
                </a:r>
                <a:r>
                  <a:rPr lang="en-US" sz="2000" dirty="0"/>
                  <a:t> </a:t>
                </a:r>
                <a:r>
                  <a:rPr lang="en-US" sz="2000" dirty="0" err="1"/>
                  <a:t>Bobanovo</a:t>
                </a:r>
                <a:r>
                  <a:rPr lang="en-US" sz="2000" dirty="0"/>
                  <a:t> </a:t>
                </a:r>
                <a:r>
                  <a:rPr lang="en-US" sz="2000" dirty="0" err="1"/>
                  <a:t>merenje</a:t>
                </a:r>
                <a:r>
                  <a:rPr lang="en-US" sz="2000" dirty="0"/>
                  <a:t> </a:t>
                </a:r>
                <a:r>
                  <a:rPr lang="en-US" sz="2000" dirty="0" err="1"/>
                  <a:t>projekcija</a:t>
                </a:r>
                <a:r>
                  <a:rPr lang="en-US" sz="2000" dirty="0"/>
                  <a:t> </a:t>
                </a:r>
                <a:r>
                  <a:rPr lang="en-US" sz="2000" dirty="0" err="1"/>
                  <a:t>crvenog</a:t>
                </a:r>
                <a:r>
                  <a:rPr lang="en-US" sz="2000" dirty="0"/>
                  <a:t> </a:t>
                </a:r>
                <a:r>
                  <a:rPr lang="en-US" sz="2000" dirty="0" err="1"/>
                  <a:t>na</a:t>
                </a:r>
                <a:r>
                  <a:rPr lang="en-US" sz="2000" dirty="0"/>
                  <a:t> </a:t>
                </a:r>
                <a:r>
                  <a:rPr lang="en-US" sz="2000" dirty="0" err="1"/>
                  <a:t>plavi</a:t>
                </a:r>
                <a:r>
                  <a:rPr lang="en-US" sz="2000" dirty="0"/>
                  <a:t> </a:t>
                </a:r>
                <a:r>
                  <a:rPr lang="en-US" sz="2000" dirty="0" err="1"/>
                  <a:t>vektor</a:t>
                </a:r>
                <a:r>
                  <a:rPr lang="en-US" sz="2000" dirty="0"/>
                  <a:t>,</a:t>
                </a:r>
                <a:r>
                  <a:rPr lang="en-US" sz="2000" baseline="0" dirty="0"/>
                  <a:t> a </a:t>
                </a:r>
                <a:r>
                  <a:rPr lang="en-US" sz="2000" baseline="0" dirty="0" err="1"/>
                  <a:t>prema</a:t>
                </a:r>
                <a:r>
                  <a:rPr lang="en-US" sz="2000" baseline="0" dirty="0"/>
                  <a:t> </a:t>
                </a:r>
                <a:r>
                  <a:rPr lang="en-US" sz="2000" baseline="0" dirty="0" err="1"/>
                  <a:t>Bornovom</a:t>
                </a:r>
                <a:r>
                  <a:rPr lang="en-US" sz="2000" baseline="0" dirty="0"/>
                  <a:t> </a:t>
                </a:r>
                <a:r>
                  <a:rPr lang="en-US" sz="2000" baseline="0" dirty="0" err="1"/>
                  <a:t>pravilu</a:t>
                </a:r>
                <a:r>
                  <a:rPr lang="en-US" sz="2000" baseline="0" dirty="0"/>
                  <a:t> </a:t>
                </a:r>
                <a:r>
                  <a:rPr lang="en-US" sz="2000" baseline="0" dirty="0" err="1"/>
                  <a:t>verovatnoća</a:t>
                </a:r>
                <a:r>
                  <a:rPr lang="en-US" sz="2000" baseline="0" dirty="0"/>
                  <a:t> </a:t>
                </a:r>
                <a:r>
                  <a:rPr lang="en-US" sz="2000" baseline="0" dirty="0" err="1"/>
                  <a:t>merenja</a:t>
                </a:r>
                <a:r>
                  <a:rPr lang="en-US" sz="2000" baseline="0" dirty="0"/>
                  <a:t> </a:t>
                </a:r>
                <a:r>
                  <a:rPr lang="en-US" sz="2000" baseline="0" dirty="0" err="1"/>
                  <a:t>je</a:t>
                </a:r>
                <a:r>
                  <a:rPr lang="en-US" sz="2000" baseline="0" dirty="0"/>
                  <a:t> u </a:t>
                </a:r>
                <a:r>
                  <a:rPr lang="en-US" sz="2000" baseline="0" dirty="0" err="1"/>
                  <a:t>principu</a:t>
                </a:r>
                <a:r>
                  <a:rPr lang="en-US" sz="2000" baseline="0" dirty="0"/>
                  <a:t> </a:t>
                </a:r>
                <a:r>
                  <a:rPr lang="en-US" sz="2000" baseline="0" dirty="0" err="1"/>
                  <a:t>jednaka</a:t>
                </a:r>
                <a:r>
                  <a:rPr lang="en-US" sz="2000" baseline="0" dirty="0"/>
                  <a:t> </a:t>
                </a:r>
                <a:r>
                  <a:rPr lang="en-US" sz="2000" baseline="0" dirty="0" err="1"/>
                  <a:t>kvadratu</a:t>
                </a:r>
                <a:r>
                  <a:rPr lang="en-US" sz="2000" baseline="0" dirty="0"/>
                  <a:t> </a:t>
                </a:r>
                <a:r>
                  <a:rPr lang="en-US" sz="2000" baseline="0" dirty="0" err="1"/>
                  <a:t>ove</a:t>
                </a:r>
                <a:r>
                  <a:rPr lang="en-US" sz="2000" baseline="0" dirty="0"/>
                  <a:t> </a:t>
                </a:r>
                <a:r>
                  <a:rPr lang="en-US" sz="2000" baseline="0" dirty="0" err="1"/>
                  <a:t>projekcije</a:t>
                </a:r>
                <a:r>
                  <a:rPr lang="en-US" sz="2000" baseline="0" dirty="0"/>
                  <a:t>, </a:t>
                </a:r>
                <a:r>
                  <a:rPr lang="en-US" sz="2000" baseline="0" dirty="0" err="1"/>
                  <a:t>Boban</a:t>
                </a:r>
                <a:r>
                  <a:rPr lang="en-US" sz="2000" baseline="0" dirty="0"/>
                  <a:t> </a:t>
                </a:r>
                <a:r>
                  <a:rPr lang="en-US" sz="2000" baseline="0" dirty="0" err="1"/>
                  <a:t>će</a:t>
                </a:r>
                <a:r>
                  <a:rPr lang="en-US" sz="2000" baseline="0" dirty="0"/>
                  <a:t> </a:t>
                </a:r>
                <a:r>
                  <a:rPr lang="en-US" sz="2000" baseline="0" dirty="0" err="1"/>
                  <a:t>izmeriti</a:t>
                </a:r>
                <a:r>
                  <a:rPr lang="en-US" sz="2000" baseline="0" dirty="0"/>
                  <a:t> 1 </a:t>
                </a:r>
                <a:r>
                  <a:rPr lang="en-US" sz="2000" baseline="0" dirty="0" err="1"/>
                  <a:t>sa</a:t>
                </a:r>
                <a:r>
                  <a:rPr lang="en-US" sz="2000" baseline="0" dirty="0"/>
                  <a:t> </a:t>
                </a:r>
                <a:r>
                  <a:rPr lang="en-US" sz="2000" baseline="0" dirty="0" err="1"/>
                  <a:t>verovatnoćom</a:t>
                </a:r>
                <a:r>
                  <a:rPr lang="en-US" sz="2000" baseline="0" dirty="0"/>
                  <a:t> od </a:t>
                </a:r>
                <a:r>
                  <a:rPr lang="en-US" sz="2000" i="0">
                    <a:latin typeface="Cambria Math" panose="02040503050406030204" pitchFamily="18" charset="0"/>
                  </a:rPr>
                  <a:t>〖〖</a:t>
                </a:r>
                <a:r>
                  <a:rPr lang="sr-Latn-RS" sz="2000" b="0" i="0">
                    <a:latin typeface="Cambria Math" panose="02040503050406030204" pitchFamily="18" charset="0"/>
                  </a:rPr>
                  <a:t>𝑐𝑜𝑠</a:t>
                </a:r>
                <a:r>
                  <a:rPr lang="en-US" sz="2000" b="0" i="0">
                    <a:latin typeface="Cambria Math" panose="02040503050406030204" pitchFamily="18" charset="0"/>
                  </a:rPr>
                  <a:t>〗^</a:t>
                </a:r>
                <a:r>
                  <a:rPr lang="sr-Latn-RS" sz="2000" b="0" i="0">
                    <a:latin typeface="Cambria Math" panose="02040503050406030204" pitchFamily="18" charset="0"/>
                  </a:rPr>
                  <a:t>2</a:t>
                </a:r>
                <a:r>
                  <a:rPr lang="en-US" sz="2000" b="0" i="0">
                    <a:latin typeface="Cambria Math" panose="02040503050406030204" pitchFamily="18" charset="0"/>
                    <a:ea typeface="Cambria Math" panose="02040503050406030204" pitchFamily="18" charset="0"/>
                  </a:rPr>
                  <a:t> </a:t>
                </a:r>
                <a:r>
                  <a:rPr lang="en-US" sz="2000" i="0">
                    <a:latin typeface="Cambria Math" panose="02040503050406030204" pitchFamily="18" charset="0"/>
                    <a:ea typeface="Cambria Math" panose="02040503050406030204" pitchFamily="18" charset="0"/>
                  </a:rPr>
                  <a:t>𝜋〗∕</a:t>
                </a:r>
                <a:r>
                  <a:rPr lang="sr-Latn-RS" sz="2000" b="0" i="0">
                    <a:latin typeface="Cambria Math" panose="02040503050406030204" pitchFamily="18" charset="0"/>
                  </a:rPr>
                  <a:t>8</a:t>
                </a:r>
                <a:r>
                  <a:rPr lang="en-US" sz="2000" dirty="0">
                    <a:solidFill>
                      <a:srgbClr val="FF0000"/>
                    </a:solidFill>
                  </a:rPr>
                  <a:t> </a:t>
                </a:r>
                <a:r>
                  <a:rPr lang="en-US" sz="2000" dirty="0" err="1">
                    <a:solidFill>
                      <a:srgbClr val="FF0000"/>
                    </a:solidFill>
                  </a:rPr>
                  <a:t>odnosno</a:t>
                </a:r>
                <a:r>
                  <a:rPr lang="en-US" sz="2000" baseline="0" dirty="0">
                    <a:solidFill>
                      <a:srgbClr val="FF0000"/>
                    </a:solidFill>
                  </a:rPr>
                  <a:t> </a:t>
                </a:r>
                <a:r>
                  <a:rPr lang="en-US" sz="2000" baseline="0" dirty="0" err="1">
                    <a:solidFill>
                      <a:srgbClr val="FF0000"/>
                    </a:solidFill>
                  </a:rPr>
                  <a:t>verovatnoćom</a:t>
                </a:r>
                <a:r>
                  <a:rPr lang="en-US" sz="2000" baseline="0" dirty="0">
                    <a:solidFill>
                      <a:srgbClr val="FF0000"/>
                    </a:solidFill>
                  </a:rPr>
                  <a:t> od 0.85. Sa </a:t>
                </a:r>
                <a:r>
                  <a:rPr lang="en-US" sz="2000" baseline="0" dirty="0" err="1">
                    <a:solidFill>
                      <a:srgbClr val="FF0000"/>
                    </a:solidFill>
                  </a:rPr>
                  <a:t>slike</a:t>
                </a:r>
                <a:r>
                  <a:rPr lang="en-US" sz="2000" baseline="0" dirty="0">
                    <a:solidFill>
                      <a:srgbClr val="FF0000"/>
                    </a:solidFill>
                  </a:rPr>
                  <a:t> se </a:t>
                </a:r>
                <a:r>
                  <a:rPr lang="en-US" sz="2000" baseline="0" dirty="0" err="1">
                    <a:solidFill>
                      <a:srgbClr val="FF0000"/>
                    </a:solidFill>
                  </a:rPr>
                  <a:t>vidi</a:t>
                </a:r>
                <a:r>
                  <a:rPr lang="en-US" sz="2000" baseline="0" dirty="0">
                    <a:solidFill>
                      <a:srgbClr val="FF0000"/>
                    </a:solidFill>
                  </a:rPr>
                  <a:t> da </a:t>
                </a:r>
                <a:r>
                  <a:rPr lang="en-US" sz="2000" baseline="0" dirty="0" err="1">
                    <a:solidFill>
                      <a:srgbClr val="FF0000"/>
                    </a:solidFill>
                  </a:rPr>
                  <a:t>će</a:t>
                </a:r>
                <a:r>
                  <a:rPr lang="en-US" sz="2000" baseline="0" dirty="0">
                    <a:solidFill>
                      <a:srgbClr val="FF0000"/>
                    </a:solidFill>
                  </a:rPr>
                  <a:t> se </a:t>
                </a:r>
                <a:r>
                  <a:rPr lang="en-US" sz="2000" baseline="0" dirty="0" err="1">
                    <a:solidFill>
                      <a:srgbClr val="FF0000"/>
                    </a:solidFill>
                  </a:rPr>
                  <a:t>Bobanovo</a:t>
                </a:r>
                <a:r>
                  <a:rPr lang="en-US" sz="2000" baseline="0" dirty="0">
                    <a:solidFill>
                      <a:srgbClr val="FF0000"/>
                    </a:solidFill>
                  </a:rPr>
                  <a:t> </a:t>
                </a:r>
                <a:r>
                  <a:rPr lang="en-US" sz="2000" baseline="0" dirty="0" err="1">
                    <a:solidFill>
                      <a:srgbClr val="FF0000"/>
                    </a:solidFill>
                  </a:rPr>
                  <a:t>merenje</a:t>
                </a:r>
                <a:r>
                  <a:rPr lang="en-US" sz="2000" baseline="0" dirty="0">
                    <a:solidFill>
                      <a:srgbClr val="FF0000"/>
                    </a:solidFill>
                  </a:rPr>
                  <a:t> </a:t>
                </a:r>
                <a:r>
                  <a:rPr lang="en-US" sz="2000" baseline="0" dirty="0" err="1">
                    <a:solidFill>
                      <a:srgbClr val="FF0000"/>
                    </a:solidFill>
                  </a:rPr>
                  <a:t>složiti</a:t>
                </a:r>
                <a:r>
                  <a:rPr lang="en-US" sz="2000" baseline="0" dirty="0">
                    <a:solidFill>
                      <a:srgbClr val="FF0000"/>
                    </a:solidFill>
                  </a:rPr>
                  <a:t> </a:t>
                </a:r>
                <a:r>
                  <a:rPr lang="en-US" sz="2000" baseline="0" dirty="0" err="1">
                    <a:solidFill>
                      <a:srgbClr val="FF0000"/>
                    </a:solidFill>
                  </a:rPr>
                  <a:t>sa</a:t>
                </a:r>
                <a:r>
                  <a:rPr lang="en-US" sz="2000" baseline="0" dirty="0">
                    <a:solidFill>
                      <a:srgbClr val="FF0000"/>
                    </a:solidFill>
                  </a:rPr>
                  <a:t> </a:t>
                </a:r>
                <a:r>
                  <a:rPr lang="en-US" sz="2000" baseline="0" dirty="0" err="1">
                    <a:solidFill>
                      <a:srgbClr val="FF0000"/>
                    </a:solidFill>
                  </a:rPr>
                  <a:t>Aninim</a:t>
                </a:r>
                <a:r>
                  <a:rPr lang="en-US" sz="2000" baseline="0" dirty="0">
                    <a:solidFill>
                      <a:srgbClr val="FF0000"/>
                    </a:solidFill>
                  </a:rPr>
                  <a:t> </a:t>
                </a:r>
                <a:r>
                  <a:rPr lang="en-US" sz="2000" baseline="0" dirty="0" err="1">
                    <a:solidFill>
                      <a:srgbClr val="FF0000"/>
                    </a:solidFill>
                  </a:rPr>
                  <a:t>i</a:t>
                </a:r>
                <a:r>
                  <a:rPr lang="en-US" sz="2000" baseline="0" dirty="0">
                    <a:solidFill>
                      <a:srgbClr val="FF0000"/>
                    </a:solidFill>
                  </a:rPr>
                  <a:t> u </a:t>
                </a:r>
                <a:r>
                  <a:rPr lang="en-US" sz="2000" baseline="0" dirty="0" err="1">
                    <a:solidFill>
                      <a:srgbClr val="FF0000"/>
                    </a:solidFill>
                  </a:rPr>
                  <a:t>slučaju</a:t>
                </a:r>
                <a:r>
                  <a:rPr lang="en-US" sz="2000" baseline="0" dirty="0">
                    <a:solidFill>
                      <a:srgbClr val="FF0000"/>
                    </a:solidFill>
                  </a:rPr>
                  <a:t> da </a:t>
                </a:r>
                <a:r>
                  <a:rPr lang="en-US" sz="2000" baseline="0" dirty="0" err="1">
                    <a:solidFill>
                      <a:srgbClr val="FF0000"/>
                    </a:solidFill>
                  </a:rPr>
                  <a:t>je</a:t>
                </a:r>
                <a:r>
                  <a:rPr lang="en-US" sz="2000" baseline="0" dirty="0">
                    <a:solidFill>
                      <a:srgbClr val="FF0000"/>
                    </a:solidFill>
                  </a:rPr>
                  <a:t> Ana </a:t>
                </a:r>
                <a:r>
                  <a:rPr lang="en-US" sz="2000" baseline="0" dirty="0" err="1">
                    <a:solidFill>
                      <a:srgbClr val="FF0000"/>
                    </a:solidFill>
                  </a:rPr>
                  <a:t>izmerila</a:t>
                </a:r>
                <a:r>
                  <a:rPr lang="en-US" sz="2000" baseline="0" dirty="0">
                    <a:solidFill>
                      <a:srgbClr val="FF0000"/>
                    </a:solidFill>
                  </a:rPr>
                  <a:t> 0. </a:t>
                </a:r>
                <a:r>
                  <a:rPr lang="en-US" sz="2000" baseline="0" dirty="0" err="1">
                    <a:solidFill>
                      <a:srgbClr val="FF0000"/>
                    </a:solidFill>
                  </a:rPr>
                  <a:t>Slično</a:t>
                </a:r>
                <a:r>
                  <a:rPr lang="en-US" sz="2000" baseline="0" dirty="0">
                    <a:solidFill>
                      <a:srgbClr val="FF0000"/>
                    </a:solidFill>
                  </a:rPr>
                  <a:t> se </a:t>
                </a:r>
                <a:r>
                  <a:rPr lang="en-US" sz="2000" baseline="0" dirty="0" err="1">
                    <a:solidFill>
                      <a:srgbClr val="FF0000"/>
                    </a:solidFill>
                  </a:rPr>
                  <a:t>pokazuje</a:t>
                </a:r>
                <a:r>
                  <a:rPr lang="en-US" sz="2000" baseline="0" dirty="0">
                    <a:solidFill>
                      <a:srgbClr val="FF0000"/>
                    </a:solidFill>
                  </a:rPr>
                  <a:t> </a:t>
                </a:r>
                <a:r>
                  <a:rPr lang="en-US" sz="2000" baseline="0" dirty="0" err="1">
                    <a:solidFill>
                      <a:srgbClr val="FF0000"/>
                    </a:solidFill>
                  </a:rPr>
                  <a:t>i</a:t>
                </a:r>
                <a:r>
                  <a:rPr lang="en-US" sz="2000" baseline="0" dirty="0">
                    <a:solidFill>
                      <a:srgbClr val="FF0000"/>
                    </a:solidFill>
                  </a:rPr>
                  <a:t> </a:t>
                </a:r>
                <a:r>
                  <a:rPr lang="en-US" sz="2000" baseline="0" dirty="0" err="1">
                    <a:solidFill>
                      <a:srgbClr val="FF0000"/>
                    </a:solidFill>
                  </a:rPr>
                  <a:t>za</a:t>
                </a:r>
                <a:r>
                  <a:rPr lang="en-US" sz="2000" baseline="0" dirty="0">
                    <a:solidFill>
                      <a:srgbClr val="FF0000"/>
                    </a:solidFill>
                  </a:rPr>
                  <a:t> </a:t>
                </a:r>
                <a:r>
                  <a:rPr lang="en-US" sz="2000" baseline="0" dirty="0" err="1">
                    <a:solidFill>
                      <a:srgbClr val="FF0000"/>
                    </a:solidFill>
                  </a:rPr>
                  <a:t>ostale</a:t>
                </a:r>
                <a:r>
                  <a:rPr lang="en-US" sz="2000" baseline="0" dirty="0">
                    <a:solidFill>
                      <a:srgbClr val="FF0000"/>
                    </a:solidFill>
                  </a:rPr>
                  <a:t> </a:t>
                </a:r>
                <a:r>
                  <a:rPr lang="en-US" sz="2000" baseline="0" dirty="0" err="1">
                    <a:solidFill>
                      <a:srgbClr val="FF0000"/>
                    </a:solidFill>
                  </a:rPr>
                  <a:t>kombinacije</a:t>
                </a:r>
                <a:r>
                  <a:rPr lang="en-US" sz="2000" baseline="0" dirty="0">
                    <a:solidFill>
                      <a:srgbClr val="FF0000"/>
                    </a:solidFill>
                  </a:rPr>
                  <a:t> </a:t>
                </a:r>
                <a:r>
                  <a:rPr lang="en-US" sz="2000" baseline="0" dirty="0" err="1">
                    <a:solidFill>
                      <a:srgbClr val="FF0000"/>
                    </a:solidFill>
                  </a:rPr>
                  <a:t>bitova</a:t>
                </a:r>
                <a:r>
                  <a:rPr lang="en-US" sz="2000" baseline="0" dirty="0">
                    <a:solidFill>
                      <a:srgbClr val="FF0000"/>
                    </a:solidFill>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err="1">
                    <a:solidFill>
                      <a:srgbClr val="FF0000"/>
                    </a:solidFill>
                  </a:rPr>
                  <a:t>Ostaje</a:t>
                </a:r>
                <a:r>
                  <a:rPr lang="en-US" sz="2000" baseline="0" dirty="0">
                    <a:solidFill>
                      <a:srgbClr val="FF0000"/>
                    </a:solidFill>
                  </a:rPr>
                  <a:t> </a:t>
                </a:r>
                <a:r>
                  <a:rPr lang="en-US" sz="2000" baseline="0" dirty="0" err="1">
                    <a:solidFill>
                      <a:srgbClr val="FF0000"/>
                    </a:solidFill>
                  </a:rPr>
                  <a:t>jedna</a:t>
                </a:r>
                <a:r>
                  <a:rPr lang="en-US" sz="2000" baseline="0" dirty="0">
                    <a:solidFill>
                      <a:srgbClr val="FF0000"/>
                    </a:solidFill>
                  </a:rPr>
                  <a:t> </a:t>
                </a:r>
                <a:r>
                  <a:rPr lang="en-US" sz="2000" baseline="0" dirty="0" err="1">
                    <a:solidFill>
                      <a:srgbClr val="FF0000"/>
                    </a:solidFill>
                  </a:rPr>
                  <a:t>kombinacija</a:t>
                </a:r>
                <a:r>
                  <a:rPr lang="en-US" sz="2000" baseline="0" dirty="0">
                    <a:solidFill>
                      <a:srgbClr val="FF0000"/>
                    </a:solidFill>
                  </a:rPr>
                  <a:t> </a:t>
                </a:r>
                <a:r>
                  <a:rPr lang="en-US" sz="2000" baseline="0" dirty="0" err="1">
                    <a:solidFill>
                      <a:srgbClr val="FF0000"/>
                    </a:solidFill>
                  </a:rPr>
                  <a:t>koju</a:t>
                </a:r>
                <a:r>
                  <a:rPr lang="en-US" sz="2000" baseline="0" dirty="0">
                    <a:solidFill>
                      <a:srgbClr val="FF0000"/>
                    </a:solidFill>
                  </a:rPr>
                  <a:t> Ana </a:t>
                </a:r>
                <a:r>
                  <a:rPr lang="en-US" sz="2000" baseline="0" dirty="0" err="1">
                    <a:solidFill>
                      <a:srgbClr val="FF0000"/>
                    </a:solidFill>
                  </a:rPr>
                  <a:t>i</a:t>
                </a:r>
                <a:r>
                  <a:rPr lang="en-US" sz="2000" baseline="0" dirty="0">
                    <a:solidFill>
                      <a:srgbClr val="FF0000"/>
                    </a:solidFill>
                  </a:rPr>
                  <a:t> </a:t>
                </a:r>
                <a:r>
                  <a:rPr lang="en-US" sz="2000" baseline="0" dirty="0" err="1">
                    <a:solidFill>
                      <a:srgbClr val="FF0000"/>
                    </a:solidFill>
                  </a:rPr>
                  <a:t>Boban</a:t>
                </a:r>
                <a:r>
                  <a:rPr lang="en-US" sz="2000" baseline="0" dirty="0">
                    <a:solidFill>
                      <a:srgbClr val="FF0000"/>
                    </a:solidFill>
                  </a:rPr>
                  <a:t> </a:t>
                </a:r>
                <a:r>
                  <a:rPr lang="en-US" sz="2000" baseline="0" dirty="0" err="1">
                    <a:solidFill>
                      <a:srgbClr val="FF0000"/>
                    </a:solidFill>
                  </a:rPr>
                  <a:t>nisu</a:t>
                </a:r>
                <a:r>
                  <a:rPr lang="en-US" sz="2000" baseline="0" dirty="0">
                    <a:solidFill>
                      <a:srgbClr val="FF0000"/>
                    </a:solidFill>
                  </a:rPr>
                  <a:t> </a:t>
                </a:r>
                <a:r>
                  <a:rPr lang="en-US" sz="2000" baseline="0" dirty="0" err="1">
                    <a:solidFill>
                      <a:srgbClr val="FF0000"/>
                    </a:solidFill>
                  </a:rPr>
                  <a:t>mogli</a:t>
                </a:r>
                <a:r>
                  <a:rPr lang="en-US" sz="2000" baseline="0" dirty="0">
                    <a:solidFill>
                      <a:srgbClr val="FF0000"/>
                    </a:solidFill>
                  </a:rPr>
                  <a:t> da </a:t>
                </a:r>
                <a:r>
                  <a:rPr lang="en-US" sz="2000" baseline="0" dirty="0" err="1">
                    <a:solidFill>
                      <a:srgbClr val="FF0000"/>
                    </a:solidFill>
                  </a:rPr>
                  <a:t>pokriju</a:t>
                </a:r>
                <a:r>
                  <a:rPr lang="en-US" sz="2000" baseline="0" dirty="0">
                    <a:solidFill>
                      <a:srgbClr val="FF0000"/>
                    </a:solidFill>
                  </a:rPr>
                  <a:t> </a:t>
                </a:r>
                <a:r>
                  <a:rPr lang="en-US" sz="2000" baseline="0" dirty="0" err="1">
                    <a:solidFill>
                      <a:srgbClr val="FF0000"/>
                    </a:solidFill>
                  </a:rPr>
                  <a:t>klasičnom</a:t>
                </a:r>
                <a:r>
                  <a:rPr lang="en-US" sz="2000" baseline="0" dirty="0">
                    <a:solidFill>
                      <a:srgbClr val="FF0000"/>
                    </a:solidFill>
                  </a:rPr>
                  <a:t> </a:t>
                </a:r>
                <a:r>
                  <a:rPr lang="en-US" sz="2000" baseline="0" dirty="0" err="1">
                    <a:solidFill>
                      <a:srgbClr val="FF0000"/>
                    </a:solidFill>
                  </a:rPr>
                  <a:t>strategijom</a:t>
                </a:r>
                <a:r>
                  <a:rPr lang="en-US" sz="2000" baseline="0" dirty="0">
                    <a:solidFill>
                      <a:srgbClr val="FF0000"/>
                    </a:solidFill>
                  </a:rPr>
                  <a:t>, a to </a:t>
                </a:r>
                <a:r>
                  <a:rPr lang="en-US" sz="2000" baseline="0" dirty="0" err="1">
                    <a:solidFill>
                      <a:srgbClr val="FF0000"/>
                    </a:solidFill>
                  </a:rPr>
                  <a:t>je</a:t>
                </a:r>
                <a:r>
                  <a:rPr lang="en-US" sz="2000" baseline="0" dirty="0">
                    <a:solidFill>
                      <a:srgbClr val="FF0000"/>
                    </a:solidFill>
                  </a:rPr>
                  <a:t> </a:t>
                </a:r>
                <a:r>
                  <a:rPr lang="en-US" sz="2000" baseline="0" dirty="0" err="1">
                    <a:solidFill>
                      <a:srgbClr val="FF0000"/>
                    </a:solidFill>
                  </a:rPr>
                  <a:t>kada</a:t>
                </a:r>
                <a:r>
                  <a:rPr lang="en-US" sz="2000" baseline="0" dirty="0">
                    <a:solidFill>
                      <a:srgbClr val="FF0000"/>
                    </a:solidFill>
                  </a:rPr>
                  <a:t> </a:t>
                </a:r>
                <a:r>
                  <a:rPr lang="en-US" sz="2000" baseline="0" dirty="0" err="1">
                    <a:solidFill>
                      <a:srgbClr val="FF0000"/>
                    </a:solidFill>
                  </a:rPr>
                  <a:t>im</a:t>
                </a:r>
                <a:r>
                  <a:rPr lang="en-US" sz="2000" baseline="0" dirty="0">
                    <a:solidFill>
                      <a:srgbClr val="FF0000"/>
                    </a:solidFill>
                  </a:rPr>
                  <a:t> </a:t>
                </a:r>
                <a:r>
                  <a:rPr lang="en-US" sz="2000" baseline="0" dirty="0" err="1">
                    <a:solidFill>
                      <a:srgbClr val="FF0000"/>
                    </a:solidFill>
                  </a:rPr>
                  <a:t>Cica</a:t>
                </a:r>
                <a:r>
                  <a:rPr lang="en-US" sz="2000" baseline="0" dirty="0">
                    <a:solidFill>
                      <a:srgbClr val="FF0000"/>
                    </a:solidFill>
                  </a:rPr>
                  <a:t> </a:t>
                </a:r>
                <a:r>
                  <a:rPr lang="en-US" sz="2000" baseline="0" dirty="0" err="1">
                    <a:solidFill>
                      <a:srgbClr val="FF0000"/>
                    </a:solidFill>
                  </a:rPr>
                  <a:t>pošalje</a:t>
                </a:r>
                <a:r>
                  <a:rPr lang="en-US" sz="2000" baseline="0" dirty="0">
                    <a:solidFill>
                      <a:srgbClr val="FF0000"/>
                    </a:solidFill>
                  </a:rPr>
                  <a:t> </a:t>
                </a:r>
                <a:r>
                  <a:rPr lang="en-US" sz="2000" baseline="0" dirty="0" err="1">
                    <a:solidFill>
                      <a:srgbClr val="FF0000"/>
                    </a:solidFill>
                  </a:rPr>
                  <a:t>po</a:t>
                </a:r>
                <a:r>
                  <a:rPr lang="en-US" sz="2000" baseline="0" dirty="0">
                    <a:solidFill>
                      <a:srgbClr val="FF0000"/>
                    </a:solidFill>
                  </a:rPr>
                  <a:t> bit 1. </a:t>
                </a:r>
                <a:r>
                  <a:rPr lang="en-US" sz="2000" baseline="0" dirty="0" err="1">
                    <a:solidFill>
                      <a:srgbClr val="FF0000"/>
                    </a:solidFill>
                  </a:rPr>
                  <a:t>Prema</a:t>
                </a:r>
                <a:r>
                  <a:rPr lang="en-US" sz="2000" baseline="0" dirty="0">
                    <a:solidFill>
                      <a:srgbClr val="FF0000"/>
                    </a:solidFill>
                  </a:rPr>
                  <a:t> </a:t>
                </a:r>
                <a:r>
                  <a:rPr lang="en-US" sz="2000" baseline="0" dirty="0" err="1">
                    <a:solidFill>
                      <a:srgbClr val="FF0000"/>
                    </a:solidFill>
                  </a:rPr>
                  <a:t>dogovoru</a:t>
                </a:r>
                <a:r>
                  <a:rPr lang="en-US" sz="2000" baseline="0" dirty="0">
                    <a:solidFill>
                      <a:srgbClr val="FF0000"/>
                    </a:solidFill>
                  </a:rPr>
                  <a:t>, Ana </a:t>
                </a:r>
                <a:r>
                  <a:rPr lang="en-US" sz="2000" baseline="0" dirty="0" err="1">
                    <a:solidFill>
                      <a:srgbClr val="FF0000"/>
                    </a:solidFill>
                  </a:rPr>
                  <a:t>meri</a:t>
                </a:r>
                <a:r>
                  <a:rPr lang="en-US" sz="2000" baseline="0" dirty="0">
                    <a:solidFill>
                      <a:srgbClr val="FF0000"/>
                    </a:solidFill>
                  </a:rPr>
                  <a:t> </a:t>
                </a:r>
                <a:r>
                  <a:rPr lang="en-US" sz="2000" baseline="0" dirty="0" err="1">
                    <a:solidFill>
                      <a:srgbClr val="FF0000"/>
                    </a:solidFill>
                  </a:rPr>
                  <a:t>svoj</a:t>
                </a:r>
                <a:r>
                  <a:rPr lang="en-US" sz="2000" baseline="0" dirty="0">
                    <a:solidFill>
                      <a:srgbClr val="FF0000"/>
                    </a:solidFill>
                  </a:rPr>
                  <a:t> </a:t>
                </a:r>
                <a:r>
                  <a:rPr lang="en-US" sz="2000" baseline="0" dirty="0" err="1">
                    <a:solidFill>
                      <a:srgbClr val="FF0000"/>
                    </a:solidFill>
                  </a:rPr>
                  <a:t>kubit</a:t>
                </a:r>
                <a:r>
                  <a:rPr lang="en-US" sz="2000" baseline="0" dirty="0">
                    <a:solidFill>
                      <a:srgbClr val="FF0000"/>
                    </a:solidFill>
                  </a:rPr>
                  <a:t> u </a:t>
                </a:r>
                <a:r>
                  <a:rPr lang="en-US" sz="2000" i="0">
                    <a:latin typeface="Cambria Math" panose="02040503050406030204" pitchFamily="18" charset="0"/>
                  </a:rPr>
                  <a:t>{├|</a:t>
                </a:r>
                <a:r>
                  <a:rPr lang="en-US" sz="2000" b="0" i="0">
                    <a:latin typeface="Cambria Math" panose="02040503050406030204" pitchFamily="18" charset="0"/>
                  </a:rPr>
                  <a:t>+⟩</a:t>
                </a:r>
                <a:r>
                  <a:rPr lang="en-US" sz="2000" b="0" i="0" dirty="0">
                    <a:latin typeface="Cambria Math" panose="02040503050406030204" pitchFamily="18" charset="0"/>
                  </a:rPr>
                  <a:t>"</a:t>
                </a:r>
                <a:r>
                  <a:rPr lang="en-US" sz="2000" i="0" dirty="0"/>
                  <a:t>, </a:t>
                </a:r>
                <a:r>
                  <a:rPr lang="en-US" sz="2000" i="0">
                    <a:latin typeface="Cambria Math" panose="02040503050406030204" pitchFamily="18" charset="0"/>
                  </a:rPr>
                  <a:t>" ├|</a:t>
                </a:r>
                <a:r>
                  <a:rPr lang="en-US" sz="2000" b="0" i="0">
                    <a:latin typeface="Cambria Math" panose="02040503050406030204" pitchFamily="18" charset="0"/>
                  </a:rPr>
                  <a:t>−⟩}</a:t>
                </a:r>
                <a:r>
                  <a:rPr lang="en-US" sz="2000" dirty="0"/>
                  <a:t> </a:t>
                </a:r>
                <a:r>
                  <a:rPr lang="en-US" sz="2000" dirty="0" err="1"/>
                  <a:t>bazi</a:t>
                </a:r>
                <a:r>
                  <a:rPr lang="en-US" sz="2000" baseline="0" dirty="0"/>
                  <a:t> </a:t>
                </a:r>
                <a:r>
                  <a:rPr lang="en-US" sz="2000" baseline="0" dirty="0" err="1"/>
                  <a:t>i</a:t>
                </a:r>
                <a:r>
                  <a:rPr lang="en-US" sz="2000" baseline="0" dirty="0"/>
                  <a:t> </a:t>
                </a:r>
                <a:r>
                  <a:rPr lang="en-US" sz="2000" baseline="0" dirty="0" err="1"/>
                  <a:t>na</a:t>
                </a:r>
                <a:r>
                  <a:rPr lang="en-US" sz="2000" baseline="0" dirty="0"/>
                  <a:t> primer, </a:t>
                </a:r>
                <a:r>
                  <a:rPr lang="en-US" sz="2000" baseline="0" dirty="0" err="1"/>
                  <a:t>dobija</a:t>
                </a:r>
                <a:r>
                  <a:rPr lang="en-US" sz="2000" baseline="0" dirty="0"/>
                  <a:t> </a:t>
                </a:r>
                <a:r>
                  <a:rPr lang="en-US" sz="2000" baseline="0" dirty="0" err="1"/>
                  <a:t>rezultat</a:t>
                </a:r>
                <a:r>
                  <a:rPr lang="en-US" sz="2000" baseline="0" dirty="0"/>
                  <a:t> 0 ostavljajući </a:t>
                </a:r>
                <a:r>
                  <a:rPr lang="en-US" sz="2000" baseline="0" dirty="0" err="1"/>
                  <a:t>Bobanov</a:t>
                </a:r>
                <a:r>
                  <a:rPr lang="en-US" sz="2000" baseline="0" dirty="0"/>
                  <a:t> </a:t>
                </a:r>
                <a:r>
                  <a:rPr lang="en-US" sz="2000" baseline="0" dirty="0" err="1"/>
                  <a:t>kubit</a:t>
                </a:r>
                <a:r>
                  <a:rPr lang="en-US" sz="2000" baseline="0" dirty="0"/>
                  <a:t> u </a:t>
                </a:r>
                <a:r>
                  <a:rPr lang="en-US" sz="2000" baseline="0" dirty="0" err="1"/>
                  <a:t>stanju</a:t>
                </a:r>
                <a:r>
                  <a:rPr lang="en-US" sz="2000" baseline="0" dirty="0"/>
                  <a:t> </a:t>
                </a:r>
                <a:r>
                  <a:rPr lang="en-US" sz="2000" i="0">
                    <a:solidFill>
                      <a:srgbClr val="FF0000"/>
                    </a:solidFill>
                    <a:latin typeface="Cambria Math" panose="02040503050406030204" pitchFamily="18" charset="0"/>
                  </a:rPr>
                  <a:t>|</a:t>
                </a:r>
                <a:r>
                  <a:rPr lang="sr-Latn-RS" sz="2000" b="0" i="0">
                    <a:solidFill>
                      <a:srgbClr val="FF0000"/>
                    </a:solidFill>
                    <a:latin typeface="Cambria Math" panose="02040503050406030204" pitchFamily="18" charset="0"/>
                  </a:rPr>
                  <a:t>0⟩</a:t>
                </a:r>
                <a:r>
                  <a:rPr lang="en-US" sz="2000" dirty="0">
                    <a:solidFill>
                      <a:srgbClr val="FF0000"/>
                    </a:solidFill>
                  </a:rPr>
                  <a:t> </a:t>
                </a:r>
                <a:r>
                  <a:rPr lang="en-US" sz="2000" dirty="0" err="1">
                    <a:solidFill>
                      <a:srgbClr val="FF0000"/>
                    </a:solidFill>
                  </a:rPr>
                  <a:t>prikazanim</a:t>
                </a:r>
                <a:r>
                  <a:rPr lang="en-US" sz="2000" dirty="0">
                    <a:solidFill>
                      <a:srgbClr val="FF0000"/>
                    </a:solidFill>
                  </a:rPr>
                  <a:t> </a:t>
                </a:r>
                <a:r>
                  <a:rPr lang="en-US" sz="2000" baseline="0" dirty="0"/>
                  <a:t> </a:t>
                </a:r>
                <a:r>
                  <a:rPr lang="en-US" sz="2000" baseline="0" dirty="0" err="1"/>
                  <a:t>crvenim</a:t>
                </a:r>
                <a:r>
                  <a:rPr lang="en-US" sz="2000" baseline="0" dirty="0"/>
                  <a:t> </a:t>
                </a:r>
                <a:r>
                  <a:rPr lang="en-US" sz="2000" baseline="0" dirty="0" err="1"/>
                  <a:t>vektorom</a:t>
                </a:r>
                <a:r>
                  <a:rPr lang="en-US" sz="2000" baseline="0" dirty="0"/>
                  <a:t>. </a:t>
                </a:r>
                <a:r>
                  <a:rPr lang="en-US" sz="2000" baseline="0" dirty="0" err="1">
                    <a:solidFill>
                      <a:srgbClr val="FF0000"/>
                    </a:solidFill>
                  </a:rPr>
                  <a:t>Prema</a:t>
                </a:r>
                <a:r>
                  <a:rPr lang="en-US" sz="2000" baseline="0" dirty="0">
                    <a:solidFill>
                      <a:srgbClr val="FF0000"/>
                    </a:solidFill>
                  </a:rPr>
                  <a:t> </a:t>
                </a:r>
                <a:r>
                  <a:rPr lang="en-US" sz="2000" baseline="0" dirty="0" err="1">
                    <a:solidFill>
                      <a:srgbClr val="FF0000"/>
                    </a:solidFill>
                  </a:rPr>
                  <a:t>dogovoru</a:t>
                </a:r>
                <a:r>
                  <a:rPr lang="en-US" sz="2000" baseline="0" dirty="0">
                    <a:solidFill>
                      <a:srgbClr val="FF0000"/>
                    </a:solidFill>
                  </a:rPr>
                  <a:t>, </a:t>
                </a:r>
                <a:r>
                  <a:rPr lang="en-US" sz="2000" baseline="0" dirty="0" err="1">
                    <a:solidFill>
                      <a:srgbClr val="FF0000"/>
                    </a:solidFill>
                  </a:rPr>
                  <a:t>Boban</a:t>
                </a:r>
                <a:r>
                  <a:rPr lang="en-US" sz="2000" baseline="0" dirty="0">
                    <a:solidFill>
                      <a:srgbClr val="FF0000"/>
                    </a:solidFill>
                  </a:rPr>
                  <a:t> </a:t>
                </a:r>
                <a:r>
                  <a:rPr lang="en-US" sz="2000" baseline="0" dirty="0" err="1">
                    <a:solidFill>
                      <a:srgbClr val="FF0000"/>
                    </a:solidFill>
                  </a:rPr>
                  <a:t>meri</a:t>
                </a:r>
                <a:r>
                  <a:rPr lang="en-US" sz="2000" baseline="0" dirty="0">
                    <a:solidFill>
                      <a:srgbClr val="FF0000"/>
                    </a:solidFill>
                  </a:rPr>
                  <a:t> </a:t>
                </a:r>
                <a:r>
                  <a:rPr lang="en-US" sz="2000" baseline="0" dirty="0" err="1">
                    <a:solidFill>
                      <a:srgbClr val="FF0000"/>
                    </a:solidFill>
                  </a:rPr>
                  <a:t>svoj</a:t>
                </a:r>
                <a:r>
                  <a:rPr lang="en-US" sz="2000" baseline="0" dirty="0">
                    <a:solidFill>
                      <a:srgbClr val="FF0000"/>
                    </a:solidFill>
                  </a:rPr>
                  <a:t> </a:t>
                </a:r>
                <a:r>
                  <a:rPr lang="en-US" sz="2000" baseline="0" dirty="0" err="1">
                    <a:solidFill>
                      <a:srgbClr val="FF0000"/>
                    </a:solidFill>
                  </a:rPr>
                  <a:t>kubit</a:t>
                </a:r>
                <a:r>
                  <a:rPr lang="en-US" sz="2000" baseline="0" dirty="0">
                    <a:solidFill>
                      <a:srgbClr val="FF0000"/>
                    </a:solidFill>
                  </a:rPr>
                  <a:t> u </a:t>
                </a:r>
                <a:r>
                  <a:rPr lang="en-US" sz="2000" baseline="0" dirty="0" err="1">
                    <a:solidFill>
                      <a:srgbClr val="FF0000"/>
                    </a:solidFill>
                  </a:rPr>
                  <a:t>bazi</a:t>
                </a:r>
                <a:r>
                  <a:rPr lang="en-US" sz="2000" baseline="0" dirty="0">
                    <a:solidFill>
                      <a:srgbClr val="FF0000"/>
                    </a:solidFill>
                  </a:rPr>
                  <a:t> </a:t>
                </a:r>
                <a:r>
                  <a:rPr lang="en-US" sz="2000" baseline="0" dirty="0" err="1">
                    <a:solidFill>
                      <a:srgbClr val="FF0000"/>
                    </a:solidFill>
                  </a:rPr>
                  <a:t>pomerenoj</a:t>
                </a:r>
                <a:r>
                  <a:rPr lang="en-US" sz="2000" baseline="0" dirty="0">
                    <a:solidFill>
                      <a:srgbClr val="FF0000"/>
                    </a:solidFill>
                  </a:rPr>
                  <a:t> </a:t>
                </a:r>
                <a:r>
                  <a:rPr lang="en-US" sz="2000" baseline="0" dirty="0" err="1">
                    <a:solidFill>
                      <a:srgbClr val="FF0000"/>
                    </a:solidFill>
                  </a:rPr>
                  <a:t>za</a:t>
                </a:r>
                <a:r>
                  <a:rPr lang="en-US" sz="2000" baseline="0" dirty="0">
                    <a:solidFill>
                      <a:srgbClr val="FF0000"/>
                    </a:solidFill>
                  </a:rPr>
                  <a:t> </a:t>
                </a:r>
                <a:r>
                  <a:rPr lang="en-US" sz="2000" i="0">
                    <a:latin typeface="Cambria Math" panose="02040503050406030204" pitchFamily="18" charset="0"/>
                  </a:rPr>
                  <a:t>〖</a:t>
                </a:r>
                <a:r>
                  <a:rPr lang="en-US" sz="2000" b="0" i="0">
                    <a:latin typeface="Cambria Math" panose="02040503050406030204" pitchFamily="18" charset="0"/>
                  </a:rPr>
                  <a:t>−</a:t>
                </a:r>
                <a:r>
                  <a:rPr lang="en-US" sz="2000" i="0">
                    <a:latin typeface="Cambria Math" panose="02040503050406030204" pitchFamily="18" charset="0"/>
                    <a:ea typeface="Cambria Math" panose="02040503050406030204" pitchFamily="18" charset="0"/>
                  </a:rPr>
                  <a:t>𝜋〗∕</a:t>
                </a:r>
                <a:r>
                  <a:rPr lang="sr-Latn-RS" sz="2000" b="0" i="0">
                    <a:latin typeface="Cambria Math" panose="02040503050406030204" pitchFamily="18" charset="0"/>
                  </a:rPr>
                  <a:t>8</a:t>
                </a:r>
                <a:r>
                  <a:rPr lang="en-US" sz="2000" dirty="0">
                    <a:solidFill>
                      <a:srgbClr val="FF0000"/>
                    </a:solidFill>
                  </a:rPr>
                  <a:t> u </a:t>
                </a:r>
                <a:r>
                  <a:rPr lang="en-US" sz="2000" dirty="0" err="1">
                    <a:solidFill>
                      <a:srgbClr val="FF0000"/>
                    </a:solidFill>
                  </a:rPr>
                  <a:t>odnosu</a:t>
                </a:r>
                <a:r>
                  <a:rPr lang="en-US" sz="2000" dirty="0">
                    <a:solidFill>
                      <a:srgbClr val="FF0000"/>
                    </a:solidFill>
                  </a:rPr>
                  <a:t> </a:t>
                </a:r>
                <a:r>
                  <a:rPr lang="en-US" sz="2000" dirty="0" err="1">
                    <a:solidFill>
                      <a:srgbClr val="FF0000"/>
                    </a:solidFill>
                  </a:rPr>
                  <a:t>na</a:t>
                </a:r>
                <a:r>
                  <a:rPr lang="en-US" sz="2000" dirty="0">
                    <a:solidFill>
                      <a:srgbClr val="FF0000"/>
                    </a:solidFill>
                  </a:rPr>
                  <a:t> </a:t>
                </a:r>
                <a:r>
                  <a:rPr lang="en-US" sz="2000" dirty="0" err="1">
                    <a:solidFill>
                      <a:srgbClr val="FF0000"/>
                    </a:solidFill>
                  </a:rPr>
                  <a:t>standardnu</a:t>
                </a:r>
                <a:r>
                  <a:rPr lang="en-US" sz="2000" dirty="0">
                    <a:solidFill>
                      <a:srgbClr val="FF0000"/>
                    </a:solidFill>
                  </a:rPr>
                  <a:t> </a:t>
                </a:r>
                <a:r>
                  <a:rPr lang="en-US" sz="2000" dirty="0" err="1">
                    <a:solidFill>
                      <a:srgbClr val="FF0000"/>
                    </a:solidFill>
                  </a:rPr>
                  <a:t>bazu</a:t>
                </a:r>
                <a:r>
                  <a:rPr lang="en-US" sz="2000" dirty="0">
                    <a:solidFill>
                      <a:srgbClr val="FF0000"/>
                    </a:solidFill>
                  </a:rPr>
                  <a:t>. </a:t>
                </a:r>
                <a:r>
                  <a:rPr lang="en-US" sz="2000" dirty="0" err="1">
                    <a:solidFill>
                      <a:srgbClr val="FF0000"/>
                    </a:solidFill>
                  </a:rPr>
                  <a:t>Pošto</a:t>
                </a:r>
                <a:r>
                  <a:rPr lang="en-US" sz="2000" dirty="0">
                    <a:solidFill>
                      <a:srgbClr val="FF0000"/>
                    </a:solidFill>
                  </a:rPr>
                  <a:t> </a:t>
                </a:r>
                <a:r>
                  <a:rPr lang="en-US" sz="2000" dirty="0" err="1">
                    <a:solidFill>
                      <a:srgbClr val="FF0000"/>
                    </a:solidFill>
                  </a:rPr>
                  <a:t>je</a:t>
                </a:r>
                <a:r>
                  <a:rPr lang="en-US" sz="2000" dirty="0">
                    <a:solidFill>
                      <a:srgbClr val="FF0000"/>
                    </a:solidFill>
                  </a:rPr>
                  <a:t> </a:t>
                </a:r>
                <a:r>
                  <a:rPr lang="en-US" sz="2000" dirty="0" err="1">
                    <a:solidFill>
                      <a:srgbClr val="FF0000"/>
                    </a:solidFill>
                  </a:rPr>
                  <a:t>sada</a:t>
                </a:r>
                <a:r>
                  <a:rPr lang="en-US" sz="2000" dirty="0">
                    <a:solidFill>
                      <a:srgbClr val="FF0000"/>
                    </a:solidFill>
                  </a:rPr>
                  <a:t> vector </a:t>
                </a:r>
                <a:r>
                  <a:rPr lang="en-US" sz="2000" i="0">
                    <a:solidFill>
                      <a:srgbClr val="FF0000"/>
                    </a:solidFill>
                    <a:latin typeface="Cambria Math" panose="02040503050406030204" pitchFamily="18" charset="0"/>
                  </a:rPr>
                  <a:t>|</a:t>
                </a:r>
                <a:r>
                  <a:rPr lang="sr-Latn-RS" sz="2000" b="0" i="0">
                    <a:solidFill>
                      <a:srgbClr val="FF0000"/>
                    </a:solidFill>
                    <a:latin typeface="Cambria Math" panose="02040503050406030204" pitchFamily="18" charset="0"/>
                  </a:rPr>
                  <a:t>0⟩</a:t>
                </a:r>
                <a:r>
                  <a:rPr lang="en-US" sz="2000" dirty="0">
                    <a:solidFill>
                      <a:srgbClr val="FF0000"/>
                    </a:solidFill>
                  </a:rPr>
                  <a:t> </a:t>
                </a:r>
                <a:r>
                  <a:rPr lang="en-US" sz="2000" dirty="0" err="1">
                    <a:solidFill>
                      <a:srgbClr val="FF0000"/>
                    </a:solidFill>
                  </a:rPr>
                  <a:t>koji</a:t>
                </a:r>
                <a:r>
                  <a:rPr lang="en-US" sz="2000" dirty="0">
                    <a:solidFill>
                      <a:srgbClr val="FF0000"/>
                    </a:solidFill>
                  </a:rPr>
                  <a:t> se </a:t>
                </a:r>
                <a:r>
                  <a:rPr lang="en-US" sz="2000" dirty="0" err="1">
                    <a:solidFill>
                      <a:srgbClr val="FF0000"/>
                    </a:solidFill>
                  </a:rPr>
                  <a:t>meri</a:t>
                </a:r>
                <a:r>
                  <a:rPr lang="en-US" sz="2000" dirty="0">
                    <a:solidFill>
                      <a:srgbClr val="FF0000"/>
                    </a:solidFill>
                  </a:rPr>
                  <a:t> </a:t>
                </a:r>
                <a:r>
                  <a:rPr lang="en-US" sz="2000" dirty="0" err="1">
                    <a:solidFill>
                      <a:srgbClr val="FF0000"/>
                    </a:solidFill>
                  </a:rPr>
                  <a:t>mnogo</a:t>
                </a:r>
                <a:r>
                  <a:rPr lang="en-US" sz="2000" dirty="0">
                    <a:solidFill>
                      <a:srgbClr val="FF0000"/>
                    </a:solidFill>
                  </a:rPr>
                  <a:t> </a:t>
                </a:r>
                <a:r>
                  <a:rPr lang="en-US" sz="2000" dirty="0" err="1">
                    <a:solidFill>
                      <a:srgbClr val="FF0000"/>
                    </a:solidFill>
                  </a:rPr>
                  <a:t>bliži</a:t>
                </a:r>
                <a:r>
                  <a:rPr lang="en-US" sz="2000" dirty="0">
                    <a:solidFill>
                      <a:srgbClr val="FF0000"/>
                    </a:solidFill>
                  </a:rPr>
                  <a:t> </a:t>
                </a:r>
                <a:r>
                  <a:rPr lang="en-US" sz="2000" dirty="0" err="1">
                    <a:solidFill>
                      <a:srgbClr val="FF0000"/>
                    </a:solidFill>
                  </a:rPr>
                  <a:t>Bobanovoj</a:t>
                </a:r>
                <a:r>
                  <a:rPr lang="en-US" sz="2000" dirty="0">
                    <a:solidFill>
                      <a:srgbClr val="FF0000"/>
                    </a:solidFill>
                  </a:rPr>
                  <a:t> </a:t>
                </a:r>
                <a:r>
                  <a:rPr lang="en-US" sz="2000" dirty="0" err="1">
                    <a:solidFill>
                      <a:srgbClr val="FF0000"/>
                    </a:solidFill>
                  </a:rPr>
                  <a:t>osi</a:t>
                </a:r>
                <a:r>
                  <a:rPr lang="en-US" sz="2000" baseline="0" dirty="0">
                    <a:solidFill>
                      <a:srgbClr val="FF0000"/>
                    </a:solidFill>
                  </a:rPr>
                  <a:t> </a:t>
                </a:r>
                <a:r>
                  <a:rPr lang="en-US" sz="2000" baseline="0" dirty="0" err="1">
                    <a:solidFill>
                      <a:srgbClr val="FF0000"/>
                    </a:solidFill>
                  </a:rPr>
                  <a:t>merenja</a:t>
                </a:r>
                <a:r>
                  <a:rPr lang="en-US" sz="2000" baseline="0" dirty="0">
                    <a:solidFill>
                      <a:srgbClr val="FF0000"/>
                    </a:solidFill>
                  </a:rPr>
                  <a:t> </a:t>
                </a:r>
                <a:r>
                  <a:rPr lang="en-US" sz="2000" i="0">
                    <a:solidFill>
                      <a:srgbClr val="FF0000"/>
                    </a:solidFill>
                    <a:latin typeface="Cambria Math" panose="02040503050406030204" pitchFamily="18" charset="0"/>
                  </a:rPr>
                  <a:t>|</a:t>
                </a:r>
                <a:r>
                  <a:rPr lang="sr-Latn-RS" sz="2000" b="0" i="0">
                    <a:solidFill>
                      <a:srgbClr val="FF0000"/>
                    </a:solidFill>
                    <a:latin typeface="Cambria Math" panose="02040503050406030204" pitchFamily="18" charset="0"/>
                  </a:rPr>
                  <a:t>1⟩</a:t>
                </a:r>
                <a:r>
                  <a:rPr lang="en-US" sz="2000" dirty="0">
                    <a:solidFill>
                      <a:srgbClr val="FF0000"/>
                    </a:solidFill>
                  </a:rPr>
                  <a:t> </a:t>
                </a:r>
                <a:r>
                  <a:rPr lang="en-US" sz="2000" dirty="0" err="1">
                    <a:solidFill>
                      <a:srgbClr val="FF0000"/>
                    </a:solidFill>
                  </a:rPr>
                  <a:t>Boban</a:t>
                </a:r>
                <a:r>
                  <a:rPr lang="en-US" sz="2000" dirty="0">
                    <a:solidFill>
                      <a:srgbClr val="FF0000"/>
                    </a:solidFill>
                  </a:rPr>
                  <a:t> </a:t>
                </a:r>
                <a:r>
                  <a:rPr lang="en-US" sz="2000" dirty="0" err="1">
                    <a:solidFill>
                      <a:srgbClr val="FF0000"/>
                    </a:solidFill>
                  </a:rPr>
                  <a:t>će</a:t>
                </a:r>
                <a:r>
                  <a:rPr lang="en-US" sz="2000" dirty="0">
                    <a:solidFill>
                      <a:srgbClr val="FF0000"/>
                    </a:solidFill>
                  </a:rPr>
                  <a:t> </a:t>
                </a:r>
                <a:r>
                  <a:rPr lang="en-US" sz="2000" dirty="0" err="1">
                    <a:solidFill>
                      <a:srgbClr val="FF0000"/>
                    </a:solidFill>
                  </a:rPr>
                  <a:t>sa</a:t>
                </a:r>
                <a:r>
                  <a:rPr lang="en-US" sz="2000" baseline="0" dirty="0">
                    <a:solidFill>
                      <a:srgbClr val="FF0000"/>
                    </a:solidFill>
                  </a:rPr>
                  <a:t> </a:t>
                </a:r>
                <a:r>
                  <a:rPr lang="en-US" sz="2000" baseline="0" dirty="0" err="1">
                    <a:solidFill>
                      <a:srgbClr val="FF0000"/>
                    </a:solidFill>
                  </a:rPr>
                  <a:t>verovatnoćom</a:t>
                </a:r>
                <a:r>
                  <a:rPr lang="en-US" sz="2000" baseline="0" dirty="0">
                    <a:solidFill>
                      <a:srgbClr val="FF0000"/>
                    </a:solidFill>
                  </a:rPr>
                  <a:t> od </a:t>
                </a:r>
                <a:r>
                  <a:rPr lang="en-US" sz="2000" i="0">
                    <a:latin typeface="Cambria Math" panose="02040503050406030204" pitchFamily="18" charset="0"/>
                  </a:rPr>
                  <a:t>〖〖</a:t>
                </a:r>
                <a:r>
                  <a:rPr lang="sr-Latn-RS" sz="2000" b="0" i="0">
                    <a:latin typeface="Cambria Math" panose="02040503050406030204" pitchFamily="18" charset="0"/>
                  </a:rPr>
                  <a:t>𝑐𝑜𝑠</a:t>
                </a:r>
                <a:r>
                  <a:rPr lang="en-US" sz="2000" b="0" i="0">
                    <a:latin typeface="Cambria Math" panose="02040503050406030204" pitchFamily="18" charset="0"/>
                  </a:rPr>
                  <a:t>〗^</a:t>
                </a:r>
                <a:r>
                  <a:rPr lang="sr-Latn-RS" sz="2000" b="0" i="0">
                    <a:latin typeface="Cambria Math" panose="02040503050406030204" pitchFamily="18" charset="0"/>
                  </a:rPr>
                  <a:t>2</a:t>
                </a:r>
                <a:r>
                  <a:rPr lang="en-US" sz="2000" b="0" i="0">
                    <a:latin typeface="Cambria Math" panose="02040503050406030204" pitchFamily="18" charset="0"/>
                    <a:ea typeface="Cambria Math" panose="02040503050406030204" pitchFamily="18" charset="0"/>
                  </a:rPr>
                  <a:t> </a:t>
                </a:r>
                <a:r>
                  <a:rPr lang="en-US" sz="2000" i="0">
                    <a:latin typeface="Cambria Math" panose="02040503050406030204" pitchFamily="18" charset="0"/>
                    <a:ea typeface="Cambria Math" panose="02040503050406030204" pitchFamily="18" charset="0"/>
                  </a:rPr>
                  <a:t>𝜋〗∕</a:t>
                </a:r>
                <a:r>
                  <a:rPr lang="sr-Latn-RS" sz="2000" b="0" i="0">
                    <a:latin typeface="Cambria Math" panose="02040503050406030204" pitchFamily="18" charset="0"/>
                  </a:rPr>
                  <a:t>8</a:t>
                </a:r>
                <a:r>
                  <a:rPr lang="en-US" sz="2000" dirty="0">
                    <a:solidFill>
                      <a:srgbClr val="FF0000"/>
                    </a:solidFill>
                  </a:rPr>
                  <a:t> , </a:t>
                </a:r>
                <a:r>
                  <a:rPr lang="en-US" sz="2000" dirty="0" err="1">
                    <a:solidFill>
                      <a:srgbClr val="FF0000"/>
                    </a:solidFill>
                  </a:rPr>
                  <a:t>odnosno</a:t>
                </a:r>
                <a:r>
                  <a:rPr lang="en-US" sz="2000" dirty="0">
                    <a:solidFill>
                      <a:srgbClr val="FF0000"/>
                    </a:solidFill>
                  </a:rPr>
                  <a:t> </a:t>
                </a:r>
                <a:r>
                  <a:rPr lang="en-US" sz="2000" dirty="0" err="1">
                    <a:solidFill>
                      <a:srgbClr val="FF0000"/>
                    </a:solidFill>
                  </a:rPr>
                  <a:t>verovatnoćom</a:t>
                </a:r>
                <a:r>
                  <a:rPr lang="en-US" sz="2000" baseline="0" dirty="0">
                    <a:solidFill>
                      <a:srgbClr val="FF0000"/>
                    </a:solidFill>
                  </a:rPr>
                  <a:t> od 85% </a:t>
                </a:r>
                <a:r>
                  <a:rPr lang="en-US" sz="2000" baseline="0" dirty="0" err="1">
                    <a:solidFill>
                      <a:srgbClr val="FF0000"/>
                    </a:solidFill>
                  </a:rPr>
                  <a:t>izmeriti</a:t>
                </a:r>
                <a:r>
                  <a:rPr lang="en-US" sz="2000" baseline="0" dirty="0">
                    <a:solidFill>
                      <a:srgbClr val="FF0000"/>
                    </a:solidFill>
                  </a:rPr>
                  <a:t> bit 1. </a:t>
                </a:r>
                <a:r>
                  <a:rPr lang="en-US" sz="2000" baseline="0" dirty="0" err="1">
                    <a:solidFill>
                      <a:srgbClr val="FF0000"/>
                    </a:solidFill>
                  </a:rPr>
                  <a:t>Drugim</a:t>
                </a:r>
                <a:r>
                  <a:rPr lang="en-US" sz="2000" baseline="0" dirty="0">
                    <a:solidFill>
                      <a:srgbClr val="FF0000"/>
                    </a:solidFill>
                  </a:rPr>
                  <a:t> </a:t>
                </a:r>
                <a:r>
                  <a:rPr lang="en-US" sz="2000" baseline="0" dirty="0" err="1">
                    <a:solidFill>
                      <a:srgbClr val="FF0000"/>
                    </a:solidFill>
                  </a:rPr>
                  <a:t>rečima</a:t>
                </a:r>
                <a:r>
                  <a:rPr lang="en-US" sz="2000" baseline="0" dirty="0">
                    <a:solidFill>
                      <a:srgbClr val="FF0000"/>
                    </a:solidFill>
                  </a:rPr>
                  <a:t>, </a:t>
                </a:r>
                <a:r>
                  <a:rPr lang="en-US" sz="2000" baseline="0" dirty="0" err="1">
                    <a:solidFill>
                      <a:srgbClr val="FF0000"/>
                    </a:solidFill>
                  </a:rPr>
                  <a:t>Kada</a:t>
                </a:r>
                <a:r>
                  <a:rPr lang="en-US" sz="2000" baseline="0" dirty="0">
                    <a:solidFill>
                      <a:srgbClr val="FF0000"/>
                    </a:solidFill>
                  </a:rPr>
                  <a:t> </a:t>
                </a:r>
                <a:r>
                  <a:rPr lang="en-US" sz="2000" baseline="0" dirty="0" err="1">
                    <a:solidFill>
                      <a:srgbClr val="FF0000"/>
                    </a:solidFill>
                  </a:rPr>
                  <a:t>Cica</a:t>
                </a:r>
                <a:r>
                  <a:rPr lang="en-US" sz="2000" baseline="0" dirty="0">
                    <a:solidFill>
                      <a:srgbClr val="FF0000"/>
                    </a:solidFill>
                  </a:rPr>
                  <a:t> </a:t>
                </a:r>
                <a:r>
                  <a:rPr lang="en-US" sz="2000" baseline="0" dirty="0" err="1">
                    <a:solidFill>
                      <a:srgbClr val="FF0000"/>
                    </a:solidFill>
                  </a:rPr>
                  <a:t>pošalje</a:t>
                </a:r>
                <a:r>
                  <a:rPr lang="en-US" sz="2000" baseline="0" dirty="0">
                    <a:solidFill>
                      <a:srgbClr val="FF0000"/>
                    </a:solidFill>
                  </a:rPr>
                  <a:t> </a:t>
                </a:r>
                <a:r>
                  <a:rPr lang="en-US" sz="2000" baseline="0" dirty="0" err="1">
                    <a:solidFill>
                      <a:srgbClr val="FF0000"/>
                    </a:solidFill>
                  </a:rPr>
                  <a:t>bitove</a:t>
                </a:r>
                <a:r>
                  <a:rPr lang="en-US" sz="2000" baseline="0" dirty="0">
                    <a:solidFill>
                      <a:srgbClr val="FF0000"/>
                    </a:solidFill>
                  </a:rPr>
                  <a:t> 1, Ana </a:t>
                </a:r>
                <a:r>
                  <a:rPr lang="en-US" sz="2000" baseline="0" dirty="0" err="1">
                    <a:solidFill>
                      <a:srgbClr val="FF0000"/>
                    </a:solidFill>
                  </a:rPr>
                  <a:t>i</a:t>
                </a:r>
                <a:r>
                  <a:rPr lang="en-US" sz="2000" baseline="0" dirty="0">
                    <a:solidFill>
                      <a:srgbClr val="FF0000"/>
                    </a:solidFill>
                  </a:rPr>
                  <a:t> </a:t>
                </a:r>
                <a:r>
                  <a:rPr lang="en-US" sz="2000" baseline="0" dirty="0" err="1">
                    <a:solidFill>
                      <a:srgbClr val="FF0000"/>
                    </a:solidFill>
                  </a:rPr>
                  <a:t>Boban</a:t>
                </a:r>
                <a:r>
                  <a:rPr lang="en-US" sz="2000" baseline="0" dirty="0">
                    <a:solidFill>
                      <a:srgbClr val="FF0000"/>
                    </a:solidFill>
                  </a:rPr>
                  <a:t> </a:t>
                </a:r>
                <a:r>
                  <a:rPr lang="en-US" sz="2000" baseline="0" dirty="0" err="1">
                    <a:solidFill>
                      <a:srgbClr val="FF0000"/>
                    </a:solidFill>
                  </a:rPr>
                  <a:t>dobijaju</a:t>
                </a:r>
                <a:r>
                  <a:rPr lang="en-US" sz="2000" baseline="0" dirty="0">
                    <a:solidFill>
                      <a:srgbClr val="FF0000"/>
                    </a:solidFill>
                  </a:rPr>
                  <a:t> </a:t>
                </a:r>
                <a:r>
                  <a:rPr lang="en-US" sz="2000" baseline="0" dirty="0" err="1">
                    <a:solidFill>
                      <a:srgbClr val="FF0000"/>
                    </a:solidFill>
                  </a:rPr>
                  <a:t>različite</a:t>
                </a:r>
                <a:r>
                  <a:rPr lang="en-US" sz="2000" baseline="0" dirty="0">
                    <a:solidFill>
                      <a:srgbClr val="FF0000"/>
                    </a:solidFill>
                  </a:rPr>
                  <a:t> </a:t>
                </a:r>
                <a:r>
                  <a:rPr lang="en-US" sz="2000" baseline="0" dirty="0" err="1">
                    <a:solidFill>
                      <a:srgbClr val="FF0000"/>
                    </a:solidFill>
                  </a:rPr>
                  <a:t>rezultate</a:t>
                </a:r>
                <a:r>
                  <a:rPr lang="en-US" sz="2000" baseline="0" dirty="0">
                    <a:solidFill>
                      <a:srgbClr val="FF0000"/>
                    </a:solidFill>
                  </a:rPr>
                  <a:t> </a:t>
                </a:r>
                <a:r>
                  <a:rPr lang="en-US" sz="2000" baseline="0" dirty="0" err="1">
                    <a:solidFill>
                      <a:srgbClr val="FF0000"/>
                    </a:solidFill>
                  </a:rPr>
                  <a:t>čime</a:t>
                </a:r>
                <a:r>
                  <a:rPr lang="en-US" sz="2000" baseline="0" dirty="0">
                    <a:solidFill>
                      <a:srgbClr val="FF0000"/>
                    </a:solidFill>
                  </a:rPr>
                  <a:t> </a:t>
                </a:r>
                <a:r>
                  <a:rPr lang="en-US" sz="2000" baseline="0" dirty="0" err="1">
                    <a:solidFill>
                      <a:srgbClr val="FF0000"/>
                    </a:solidFill>
                  </a:rPr>
                  <a:t>pokrivaju</a:t>
                </a:r>
                <a:r>
                  <a:rPr lang="en-US" sz="2000" baseline="0" dirty="0">
                    <a:solidFill>
                      <a:srgbClr val="FF0000"/>
                    </a:solidFill>
                  </a:rPr>
                  <a:t> </a:t>
                </a:r>
                <a:r>
                  <a:rPr lang="en-US" sz="2000" baseline="0" dirty="0" err="1">
                    <a:solidFill>
                      <a:srgbClr val="FF0000"/>
                    </a:solidFill>
                  </a:rPr>
                  <a:t>i</a:t>
                </a:r>
                <a:r>
                  <a:rPr lang="en-US" sz="2000" baseline="0" dirty="0">
                    <a:solidFill>
                      <a:srgbClr val="FF0000"/>
                    </a:solidFill>
                  </a:rPr>
                  <a:t> </a:t>
                </a:r>
                <a:r>
                  <a:rPr lang="en-US" sz="2000" baseline="0" dirty="0" err="1">
                    <a:solidFill>
                      <a:srgbClr val="FF0000"/>
                    </a:solidFill>
                  </a:rPr>
                  <a:t>poslednju</a:t>
                </a:r>
                <a:r>
                  <a:rPr lang="en-US" sz="2000" baseline="0" dirty="0">
                    <a:solidFill>
                      <a:srgbClr val="FF0000"/>
                    </a:solidFill>
                  </a:rPr>
                  <a:t> </a:t>
                </a:r>
                <a:r>
                  <a:rPr lang="en-US" sz="2000" baseline="0" dirty="0" err="1">
                    <a:solidFill>
                      <a:srgbClr val="FF0000"/>
                    </a:solidFill>
                  </a:rPr>
                  <a:t>kombinaciju</a:t>
                </a:r>
                <a:r>
                  <a:rPr lang="en-US" sz="2000" baseline="0" dirty="0">
                    <a:solidFill>
                      <a:srgbClr val="FF0000"/>
                    </a:solidFill>
                  </a:rPr>
                  <a:t> </a:t>
                </a:r>
                <a:r>
                  <a:rPr lang="en-US" sz="2000" baseline="0" dirty="0" err="1">
                    <a:solidFill>
                      <a:srgbClr val="FF0000"/>
                    </a:solidFill>
                  </a:rPr>
                  <a:t>iz</a:t>
                </a:r>
                <a:r>
                  <a:rPr lang="en-US" sz="2000" baseline="0" dirty="0">
                    <a:solidFill>
                      <a:srgbClr val="FF0000"/>
                    </a:solidFill>
                  </a:rPr>
                  <a:t> </a:t>
                </a:r>
                <a:r>
                  <a:rPr lang="en-US" sz="2000" baseline="0" dirty="0" err="1">
                    <a:solidFill>
                      <a:srgbClr val="FF0000"/>
                    </a:solidFill>
                  </a:rPr>
                  <a:t>klasične</a:t>
                </a:r>
                <a:r>
                  <a:rPr lang="en-US" sz="2000" baseline="0" dirty="0">
                    <a:solidFill>
                      <a:srgbClr val="FF0000"/>
                    </a:solidFill>
                  </a:rPr>
                  <a:t> </a:t>
                </a:r>
                <a:r>
                  <a:rPr lang="en-US" sz="2000" baseline="0" dirty="0" err="1">
                    <a:solidFill>
                      <a:srgbClr val="FF0000"/>
                    </a:solidFill>
                  </a:rPr>
                  <a:t>tabele</a:t>
                </a:r>
                <a:r>
                  <a:rPr lang="en-US" sz="2000" baseline="0" dirty="0">
                    <a:solidFill>
                      <a:srgbClr val="FF0000"/>
                    </a:solidFill>
                  </a:rPr>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solidFill>
                      <a:srgbClr val="FF0000"/>
                    </a:solidFill>
                  </a:rPr>
                  <a:t>Kao </a:t>
                </a:r>
                <a:r>
                  <a:rPr lang="en-US" sz="2000" baseline="0" dirty="0" err="1">
                    <a:solidFill>
                      <a:srgbClr val="FF0000"/>
                    </a:solidFill>
                  </a:rPr>
                  <a:t>zaključak</a:t>
                </a:r>
                <a:r>
                  <a:rPr lang="en-US" sz="2000" baseline="0" dirty="0">
                    <a:solidFill>
                      <a:srgbClr val="FF0000"/>
                    </a:solidFill>
                  </a:rPr>
                  <a:t>, </a:t>
                </a:r>
                <a:r>
                  <a:rPr lang="en-US" sz="2000" baseline="0" dirty="0" err="1">
                    <a:solidFill>
                      <a:srgbClr val="FF0000"/>
                    </a:solidFill>
                  </a:rPr>
                  <a:t>za</a:t>
                </a:r>
                <a:r>
                  <a:rPr lang="en-US" sz="2000" baseline="0" dirty="0">
                    <a:solidFill>
                      <a:srgbClr val="FF0000"/>
                    </a:solidFill>
                  </a:rPr>
                  <a:t> </a:t>
                </a:r>
                <a:r>
                  <a:rPr lang="en-US" sz="2000" baseline="0" dirty="0" err="1">
                    <a:solidFill>
                      <a:srgbClr val="FF0000"/>
                    </a:solidFill>
                  </a:rPr>
                  <a:t>odabrane</a:t>
                </a:r>
                <a:r>
                  <a:rPr lang="en-US" sz="2000" baseline="0" dirty="0">
                    <a:solidFill>
                      <a:srgbClr val="FF0000"/>
                    </a:solidFill>
                  </a:rPr>
                  <a:t> </a:t>
                </a:r>
                <a:r>
                  <a:rPr lang="en-US" sz="2000" baseline="0" dirty="0" err="1">
                    <a:solidFill>
                      <a:srgbClr val="FF0000"/>
                    </a:solidFill>
                  </a:rPr>
                  <a:t>ose</a:t>
                </a:r>
                <a:r>
                  <a:rPr lang="en-US" sz="2000" baseline="0" dirty="0">
                    <a:solidFill>
                      <a:srgbClr val="FF0000"/>
                    </a:solidFill>
                  </a:rPr>
                  <a:t> </a:t>
                </a:r>
                <a:r>
                  <a:rPr lang="en-US" sz="2000" baseline="0" dirty="0" err="1">
                    <a:solidFill>
                      <a:srgbClr val="FF0000"/>
                    </a:solidFill>
                  </a:rPr>
                  <a:t>merenja</a:t>
                </a:r>
                <a:r>
                  <a:rPr lang="en-US" sz="2000" baseline="0" dirty="0">
                    <a:solidFill>
                      <a:srgbClr val="FF0000"/>
                    </a:solidFill>
                  </a:rPr>
                  <a:t> </a:t>
                </a:r>
                <a:r>
                  <a:rPr lang="en-US" sz="2000" baseline="0" dirty="0" err="1">
                    <a:solidFill>
                      <a:srgbClr val="FF0000"/>
                    </a:solidFill>
                  </a:rPr>
                  <a:t>i</a:t>
                </a:r>
                <a:r>
                  <a:rPr lang="en-US" sz="2000" baseline="0" dirty="0">
                    <a:solidFill>
                      <a:srgbClr val="FF0000"/>
                    </a:solidFill>
                  </a:rPr>
                  <a:t> </a:t>
                </a:r>
                <a:r>
                  <a:rPr lang="en-US" sz="2000" baseline="0" dirty="0" err="1">
                    <a:solidFill>
                      <a:srgbClr val="FF0000"/>
                    </a:solidFill>
                  </a:rPr>
                  <a:t>njihove</a:t>
                </a:r>
                <a:r>
                  <a:rPr lang="en-US" sz="2000" baseline="0" dirty="0">
                    <a:solidFill>
                      <a:srgbClr val="FF0000"/>
                    </a:solidFill>
                  </a:rPr>
                  <a:t> </a:t>
                </a:r>
                <a:r>
                  <a:rPr lang="en-US" sz="2000" baseline="0" dirty="0" err="1">
                    <a:solidFill>
                      <a:srgbClr val="FF0000"/>
                    </a:solidFill>
                  </a:rPr>
                  <a:t>kombinacije</a:t>
                </a:r>
                <a:r>
                  <a:rPr lang="en-US" sz="2000" baseline="0" dirty="0">
                    <a:solidFill>
                      <a:srgbClr val="FF0000"/>
                    </a:solidFill>
                  </a:rPr>
                  <a:t>, </a:t>
                </a:r>
                <a:r>
                  <a:rPr lang="en-US" sz="2000" baseline="0" dirty="0" err="1">
                    <a:solidFill>
                      <a:srgbClr val="FF0000"/>
                    </a:solidFill>
                  </a:rPr>
                  <a:t>svako</a:t>
                </a:r>
                <a:r>
                  <a:rPr lang="en-US" sz="2000" baseline="0" dirty="0">
                    <a:solidFill>
                      <a:srgbClr val="FF0000"/>
                    </a:solidFill>
                  </a:rPr>
                  <a:t> </a:t>
                </a:r>
                <a:r>
                  <a:rPr lang="en-US" sz="2000" baseline="0" dirty="0" err="1">
                    <a:solidFill>
                      <a:srgbClr val="FF0000"/>
                    </a:solidFill>
                  </a:rPr>
                  <a:t>merenje</a:t>
                </a:r>
                <a:r>
                  <a:rPr lang="en-US" sz="2000" baseline="0" dirty="0">
                    <a:solidFill>
                      <a:srgbClr val="FF0000"/>
                    </a:solidFill>
                  </a:rPr>
                  <a:t> </a:t>
                </a:r>
                <a:r>
                  <a:rPr lang="en-US" sz="2000" baseline="0" dirty="0" err="1">
                    <a:solidFill>
                      <a:srgbClr val="FF0000"/>
                    </a:solidFill>
                  </a:rPr>
                  <a:t>će</a:t>
                </a:r>
                <a:r>
                  <a:rPr lang="en-US" sz="2000" baseline="0" dirty="0">
                    <a:solidFill>
                      <a:srgbClr val="FF0000"/>
                    </a:solidFill>
                  </a:rPr>
                  <a:t> </a:t>
                </a:r>
                <a:r>
                  <a:rPr lang="en-US" sz="2000" baseline="0" dirty="0" err="1">
                    <a:solidFill>
                      <a:srgbClr val="FF0000"/>
                    </a:solidFill>
                  </a:rPr>
                  <a:t>dati</a:t>
                </a:r>
                <a:r>
                  <a:rPr lang="en-US" sz="2000" baseline="0" dirty="0">
                    <a:solidFill>
                      <a:srgbClr val="FF0000"/>
                    </a:solidFill>
                  </a:rPr>
                  <a:t> </a:t>
                </a:r>
                <a:r>
                  <a:rPr lang="en-US" sz="2000" baseline="0" dirty="0" err="1">
                    <a:solidFill>
                      <a:srgbClr val="FF0000"/>
                    </a:solidFill>
                  </a:rPr>
                  <a:t>željeni</a:t>
                </a:r>
                <a:r>
                  <a:rPr lang="en-US" sz="2000" baseline="0" dirty="0">
                    <a:solidFill>
                      <a:srgbClr val="FF0000"/>
                    </a:solidFill>
                  </a:rPr>
                  <a:t> </a:t>
                </a:r>
                <a:r>
                  <a:rPr lang="en-US" sz="2000" baseline="0" dirty="0" err="1">
                    <a:solidFill>
                      <a:srgbClr val="FF0000"/>
                    </a:solidFill>
                  </a:rPr>
                  <a:t>rezultat</a:t>
                </a:r>
                <a:r>
                  <a:rPr lang="en-US" sz="2000" baseline="0" dirty="0">
                    <a:solidFill>
                      <a:srgbClr val="FF0000"/>
                    </a:solidFill>
                  </a:rPr>
                  <a:t> </a:t>
                </a:r>
                <a:r>
                  <a:rPr lang="en-US" sz="2000" baseline="0" dirty="0" err="1">
                    <a:solidFill>
                      <a:srgbClr val="FF0000"/>
                    </a:solidFill>
                  </a:rPr>
                  <a:t>sa</a:t>
                </a:r>
                <a:r>
                  <a:rPr lang="en-US" sz="2000" baseline="0" dirty="0">
                    <a:solidFill>
                      <a:srgbClr val="FF0000"/>
                    </a:solidFill>
                  </a:rPr>
                  <a:t> </a:t>
                </a:r>
                <a:r>
                  <a:rPr lang="en-US" sz="2000" baseline="0" dirty="0" err="1">
                    <a:solidFill>
                      <a:srgbClr val="FF0000"/>
                    </a:solidFill>
                  </a:rPr>
                  <a:t>verovatnoćom</a:t>
                </a:r>
                <a:r>
                  <a:rPr lang="en-US" sz="2000" baseline="0" dirty="0">
                    <a:solidFill>
                      <a:srgbClr val="FF0000"/>
                    </a:solidFill>
                  </a:rPr>
                  <a:t> od 85%, </a:t>
                </a:r>
                <a:r>
                  <a:rPr lang="en-US" sz="2000" baseline="0" dirty="0" err="1">
                    <a:solidFill>
                      <a:srgbClr val="FF0000"/>
                    </a:solidFill>
                  </a:rPr>
                  <a:t>što</a:t>
                </a:r>
                <a:r>
                  <a:rPr lang="en-US" sz="2000" baseline="0" dirty="0">
                    <a:solidFill>
                      <a:srgbClr val="FF0000"/>
                    </a:solidFill>
                  </a:rPr>
                  <a:t> </a:t>
                </a:r>
                <a:r>
                  <a:rPr lang="en-US" sz="2000" baseline="0" dirty="0" err="1">
                    <a:solidFill>
                      <a:srgbClr val="FF0000"/>
                    </a:solidFill>
                  </a:rPr>
                  <a:t>je</a:t>
                </a:r>
                <a:r>
                  <a:rPr lang="en-US" sz="2000" baseline="0" dirty="0">
                    <a:solidFill>
                      <a:srgbClr val="FF0000"/>
                    </a:solidFill>
                  </a:rPr>
                  <a:t> </a:t>
                </a:r>
                <a:r>
                  <a:rPr lang="en-US" sz="2000" baseline="0" dirty="0" err="1">
                    <a:solidFill>
                      <a:srgbClr val="FF0000"/>
                    </a:solidFill>
                  </a:rPr>
                  <a:t>statistički</a:t>
                </a:r>
                <a:r>
                  <a:rPr lang="en-US" sz="2000" baseline="0" dirty="0">
                    <a:solidFill>
                      <a:srgbClr val="FF0000"/>
                    </a:solidFill>
                  </a:rPr>
                  <a:t> 10% </a:t>
                </a:r>
                <a:r>
                  <a:rPr lang="en-US" sz="2000" baseline="0" dirty="0" err="1">
                    <a:solidFill>
                      <a:srgbClr val="FF0000"/>
                    </a:solidFill>
                  </a:rPr>
                  <a:t>više</a:t>
                </a:r>
                <a:r>
                  <a:rPr lang="en-US" sz="2000" baseline="0" dirty="0">
                    <a:solidFill>
                      <a:srgbClr val="FF0000"/>
                    </a:solidFill>
                  </a:rPr>
                  <a:t> od  </a:t>
                </a:r>
                <a:r>
                  <a:rPr lang="en-US" sz="2000" baseline="0" dirty="0" err="1">
                    <a:solidFill>
                      <a:srgbClr val="FF0000"/>
                    </a:solidFill>
                  </a:rPr>
                  <a:t>najbolje</a:t>
                </a:r>
                <a:r>
                  <a:rPr lang="en-US" sz="2000" baseline="0" dirty="0">
                    <a:solidFill>
                      <a:srgbClr val="FF0000"/>
                    </a:solidFill>
                  </a:rPr>
                  <a:t> </a:t>
                </a:r>
                <a:r>
                  <a:rPr lang="en-US" sz="2000" baseline="0" dirty="0" err="1">
                    <a:solidFill>
                      <a:srgbClr val="FF0000"/>
                    </a:solidFill>
                  </a:rPr>
                  <a:t>klasične</a:t>
                </a:r>
                <a:r>
                  <a:rPr lang="en-US" sz="2000" baseline="0" dirty="0">
                    <a:solidFill>
                      <a:srgbClr val="FF0000"/>
                    </a:solidFill>
                  </a:rPr>
                  <a:t> </a:t>
                </a:r>
                <a:r>
                  <a:rPr lang="en-US" sz="2000" baseline="0" dirty="0" err="1">
                    <a:solidFill>
                      <a:srgbClr val="FF0000"/>
                    </a:solidFill>
                  </a:rPr>
                  <a:t>strategije</a:t>
                </a:r>
                <a:r>
                  <a:rPr lang="en-US" sz="2000" baseline="0" dirty="0">
                    <a:solidFill>
                      <a:srgbClr val="FF0000"/>
                    </a:solidFill>
                  </a:rPr>
                  <a:t>. </a:t>
                </a:r>
                <a:r>
                  <a:rPr lang="en-US" sz="2000" baseline="0" dirty="0" err="1">
                    <a:solidFill>
                      <a:srgbClr val="FF0000"/>
                    </a:solidFill>
                  </a:rPr>
                  <a:t>Ovaj</a:t>
                </a:r>
                <a:r>
                  <a:rPr lang="en-US" sz="2000" baseline="0" dirty="0">
                    <a:solidFill>
                      <a:srgbClr val="FF0000"/>
                    </a:solidFill>
                  </a:rPr>
                  <a:t> </a:t>
                </a:r>
                <a:r>
                  <a:rPr lang="en-US" sz="2000" baseline="0" dirty="0" err="1">
                    <a:solidFill>
                      <a:srgbClr val="FF0000"/>
                    </a:solidFill>
                  </a:rPr>
                  <a:t>rezultat</a:t>
                </a:r>
                <a:r>
                  <a:rPr lang="en-US" sz="2000" baseline="0" dirty="0">
                    <a:solidFill>
                      <a:srgbClr val="FF0000"/>
                    </a:solidFill>
                  </a:rPr>
                  <a:t> </a:t>
                </a:r>
                <a:r>
                  <a:rPr lang="en-US" sz="2000" baseline="0" dirty="0" err="1">
                    <a:solidFill>
                      <a:srgbClr val="FF0000"/>
                    </a:solidFill>
                  </a:rPr>
                  <a:t>je</a:t>
                </a:r>
                <a:r>
                  <a:rPr lang="en-US" sz="2000" baseline="0" dirty="0">
                    <a:solidFill>
                      <a:srgbClr val="FF0000"/>
                    </a:solidFill>
                  </a:rPr>
                  <a:t> </a:t>
                </a:r>
                <a:r>
                  <a:rPr lang="en-US" sz="2000" baseline="0" dirty="0" err="1">
                    <a:solidFill>
                      <a:srgbClr val="FF0000"/>
                    </a:solidFill>
                  </a:rPr>
                  <a:t>moguć</a:t>
                </a:r>
                <a:r>
                  <a:rPr lang="en-US" sz="2000" baseline="0" dirty="0">
                    <a:solidFill>
                      <a:srgbClr val="FF0000"/>
                    </a:solidFill>
                  </a:rPr>
                  <a:t> </a:t>
                </a:r>
                <a:r>
                  <a:rPr lang="en-US" sz="2000" baseline="0" dirty="0" err="1">
                    <a:solidFill>
                      <a:srgbClr val="FF0000"/>
                    </a:solidFill>
                  </a:rPr>
                  <a:t>samo</a:t>
                </a:r>
                <a:r>
                  <a:rPr lang="en-US" sz="2000" baseline="0" dirty="0">
                    <a:solidFill>
                      <a:srgbClr val="FF0000"/>
                    </a:solidFill>
                  </a:rPr>
                  <a:t> </a:t>
                </a:r>
                <a:r>
                  <a:rPr lang="en-US" sz="2000" baseline="0" dirty="0" err="1">
                    <a:solidFill>
                      <a:srgbClr val="FF0000"/>
                    </a:solidFill>
                  </a:rPr>
                  <a:t>zahvaljujući</a:t>
                </a:r>
                <a:r>
                  <a:rPr lang="en-US" sz="2000" baseline="0" dirty="0">
                    <a:solidFill>
                      <a:srgbClr val="FF0000"/>
                    </a:solidFill>
                  </a:rPr>
                  <a:t> </a:t>
                </a:r>
                <a:r>
                  <a:rPr lang="en-US" sz="2000" baseline="0" dirty="0" err="1">
                    <a:solidFill>
                      <a:srgbClr val="FF0000"/>
                    </a:solidFill>
                  </a:rPr>
                  <a:t>kvantnoj</a:t>
                </a:r>
                <a:r>
                  <a:rPr lang="en-US" sz="2000" baseline="0" dirty="0">
                    <a:solidFill>
                      <a:srgbClr val="FF0000"/>
                    </a:solidFill>
                  </a:rPr>
                  <a:t> </a:t>
                </a:r>
                <a:r>
                  <a:rPr lang="en-US" sz="2000" baseline="0" dirty="0" err="1">
                    <a:solidFill>
                      <a:srgbClr val="FF0000"/>
                    </a:solidFill>
                  </a:rPr>
                  <a:t>spletenosti</a:t>
                </a:r>
                <a:r>
                  <a:rPr lang="en-US" sz="2000" baseline="0" dirty="0">
                    <a:solidFill>
                      <a:srgbClr val="FF0000"/>
                    </a:solidFill>
                  </a:rPr>
                  <a:t> </a:t>
                </a:r>
                <a:r>
                  <a:rPr lang="en-US" sz="2000" baseline="0" dirty="0" err="1">
                    <a:solidFill>
                      <a:srgbClr val="FF0000"/>
                    </a:solidFill>
                  </a:rPr>
                  <a:t>koja</a:t>
                </a:r>
                <a:r>
                  <a:rPr lang="en-US" sz="2000" baseline="0" dirty="0">
                    <a:solidFill>
                      <a:srgbClr val="FF0000"/>
                    </a:solidFill>
                  </a:rPr>
                  <a:t> </a:t>
                </a:r>
                <a:r>
                  <a:rPr lang="en-US" sz="2000" baseline="0" dirty="0" err="1">
                    <a:solidFill>
                      <a:srgbClr val="FF0000"/>
                    </a:solidFill>
                  </a:rPr>
                  <a:t>sinhronizuje</a:t>
                </a:r>
                <a:r>
                  <a:rPr lang="en-US" sz="2000" baseline="0" dirty="0">
                    <a:solidFill>
                      <a:srgbClr val="FF0000"/>
                    </a:solidFill>
                  </a:rPr>
                  <a:t> </a:t>
                </a:r>
                <a:r>
                  <a:rPr lang="en-US" sz="2000" baseline="0" dirty="0" err="1">
                    <a:solidFill>
                      <a:srgbClr val="FF0000"/>
                    </a:solidFill>
                  </a:rPr>
                  <a:t>rezultate</a:t>
                </a:r>
                <a:r>
                  <a:rPr lang="en-US" sz="2000" baseline="0" dirty="0">
                    <a:solidFill>
                      <a:srgbClr val="FF0000"/>
                    </a:solidFill>
                  </a:rPr>
                  <a:t> </a:t>
                </a:r>
                <a:r>
                  <a:rPr lang="en-US" sz="2000" baseline="0" dirty="0" err="1">
                    <a:solidFill>
                      <a:srgbClr val="FF0000"/>
                    </a:solidFill>
                  </a:rPr>
                  <a:t>merenja</a:t>
                </a:r>
                <a:r>
                  <a:rPr lang="en-US" sz="2000" baseline="0" dirty="0">
                    <a:solidFill>
                      <a:srgbClr val="FF0000"/>
                    </a:solidFill>
                  </a:rPr>
                  <a:t>. </a:t>
                </a:r>
                <a:r>
                  <a:rPr lang="en-US" sz="2000" baseline="0" dirty="0" err="1">
                    <a:solidFill>
                      <a:srgbClr val="FF0000"/>
                    </a:solidFill>
                  </a:rPr>
                  <a:t>Primenjujući</a:t>
                </a:r>
                <a:r>
                  <a:rPr lang="en-US" sz="2000" baseline="0" dirty="0">
                    <a:solidFill>
                      <a:srgbClr val="FF0000"/>
                    </a:solidFill>
                  </a:rPr>
                  <a:t> </a:t>
                </a:r>
                <a:r>
                  <a:rPr lang="en-US" sz="2000" baseline="0" dirty="0" err="1">
                    <a:solidFill>
                      <a:srgbClr val="FF0000"/>
                    </a:solidFill>
                  </a:rPr>
                  <a:t>opisani</a:t>
                </a:r>
                <a:r>
                  <a:rPr lang="en-US" sz="2000" baseline="0" dirty="0">
                    <a:solidFill>
                      <a:srgbClr val="FF0000"/>
                    </a:solidFill>
                  </a:rPr>
                  <a:t> </a:t>
                </a:r>
                <a:r>
                  <a:rPr lang="en-US" sz="2000" baseline="0" dirty="0" err="1">
                    <a:solidFill>
                      <a:srgbClr val="FF0000"/>
                    </a:solidFill>
                  </a:rPr>
                  <a:t>metod</a:t>
                </a:r>
                <a:r>
                  <a:rPr lang="en-US" sz="2000" baseline="0" dirty="0">
                    <a:solidFill>
                      <a:srgbClr val="FF0000"/>
                    </a:solidFill>
                  </a:rPr>
                  <a:t> u </a:t>
                </a:r>
                <a:r>
                  <a:rPr lang="en-US" sz="2000" baseline="0" dirty="0" err="1">
                    <a:solidFill>
                      <a:srgbClr val="FF0000"/>
                    </a:solidFill>
                  </a:rPr>
                  <a:t>protokolu</a:t>
                </a:r>
                <a:r>
                  <a:rPr lang="en-US" sz="2000" baseline="0" dirty="0">
                    <a:solidFill>
                      <a:srgbClr val="FF0000"/>
                    </a:solidFill>
                  </a:rPr>
                  <a:t> </a:t>
                </a:r>
                <a:r>
                  <a:rPr lang="en-US" sz="2000" baseline="0" dirty="0" err="1">
                    <a:solidFill>
                      <a:srgbClr val="FF0000"/>
                    </a:solidFill>
                  </a:rPr>
                  <a:t>za</a:t>
                </a:r>
                <a:r>
                  <a:rPr lang="en-US" sz="2000" baseline="0" dirty="0">
                    <a:solidFill>
                      <a:srgbClr val="FF0000"/>
                    </a:solidFill>
                  </a:rPr>
                  <a:t> </a:t>
                </a:r>
                <a:r>
                  <a:rPr lang="en-US" sz="2000" baseline="0" dirty="0" err="1">
                    <a:solidFill>
                      <a:srgbClr val="FF0000"/>
                    </a:solidFill>
                  </a:rPr>
                  <a:t>razmenu</a:t>
                </a:r>
                <a:r>
                  <a:rPr lang="en-US" sz="2000" baseline="0" dirty="0">
                    <a:solidFill>
                      <a:srgbClr val="FF0000"/>
                    </a:solidFill>
                  </a:rPr>
                  <a:t> </a:t>
                </a:r>
                <a:r>
                  <a:rPr lang="en-US" sz="2000" baseline="0" dirty="0" err="1">
                    <a:solidFill>
                      <a:srgbClr val="FF0000"/>
                    </a:solidFill>
                  </a:rPr>
                  <a:t>ključa</a:t>
                </a:r>
                <a:r>
                  <a:rPr lang="en-US" sz="2000" baseline="0" dirty="0">
                    <a:solidFill>
                      <a:srgbClr val="FF0000"/>
                    </a:solidFill>
                  </a:rPr>
                  <a:t>, Ana </a:t>
                </a:r>
                <a:r>
                  <a:rPr lang="en-US" sz="2000" baseline="0" dirty="0" err="1">
                    <a:solidFill>
                      <a:srgbClr val="FF0000"/>
                    </a:solidFill>
                  </a:rPr>
                  <a:t>i</a:t>
                </a:r>
                <a:r>
                  <a:rPr lang="en-US" sz="2000" baseline="0" dirty="0">
                    <a:solidFill>
                      <a:srgbClr val="FF0000"/>
                    </a:solidFill>
                  </a:rPr>
                  <a:t> </a:t>
                </a:r>
                <a:r>
                  <a:rPr lang="en-US" sz="2000" baseline="0" dirty="0" err="1">
                    <a:solidFill>
                      <a:srgbClr val="FF0000"/>
                    </a:solidFill>
                  </a:rPr>
                  <a:t>Boban</a:t>
                </a:r>
                <a:r>
                  <a:rPr lang="en-US" sz="2000" baseline="0" dirty="0">
                    <a:solidFill>
                      <a:srgbClr val="FF0000"/>
                    </a:solidFill>
                  </a:rPr>
                  <a:t> </a:t>
                </a:r>
                <a:r>
                  <a:rPr lang="en-US" sz="2000" baseline="0" dirty="0" err="1">
                    <a:solidFill>
                      <a:srgbClr val="FF0000"/>
                    </a:solidFill>
                  </a:rPr>
                  <a:t>mogu</a:t>
                </a:r>
                <a:r>
                  <a:rPr lang="en-US" sz="2000" baseline="0" dirty="0">
                    <a:solidFill>
                      <a:srgbClr val="FF0000"/>
                    </a:solidFill>
                  </a:rPr>
                  <a:t> </a:t>
                </a:r>
                <a:r>
                  <a:rPr lang="en-US" sz="2000" baseline="0" dirty="0" err="1">
                    <a:solidFill>
                      <a:srgbClr val="FF0000"/>
                    </a:solidFill>
                  </a:rPr>
                  <a:t>proveriti</a:t>
                </a:r>
                <a:r>
                  <a:rPr lang="en-US" sz="2000" baseline="0" dirty="0">
                    <a:solidFill>
                      <a:srgbClr val="FF0000"/>
                    </a:solidFill>
                  </a:rPr>
                  <a:t> da li </a:t>
                </a:r>
                <a:r>
                  <a:rPr lang="en-US" sz="2000" baseline="0" dirty="0" err="1">
                    <a:solidFill>
                      <a:srgbClr val="FF0000"/>
                    </a:solidFill>
                  </a:rPr>
                  <a:t>su</a:t>
                </a:r>
                <a:r>
                  <a:rPr lang="en-US" sz="2000" baseline="0" dirty="0">
                    <a:solidFill>
                      <a:srgbClr val="FF0000"/>
                    </a:solidFill>
                  </a:rPr>
                  <a:t> </a:t>
                </a:r>
                <a:r>
                  <a:rPr lang="en-US" sz="2000" baseline="0" dirty="0" err="1">
                    <a:solidFill>
                      <a:srgbClr val="FF0000"/>
                    </a:solidFill>
                  </a:rPr>
                  <a:t>kubiti</a:t>
                </a:r>
                <a:r>
                  <a:rPr lang="en-US" sz="2000" baseline="0" dirty="0">
                    <a:solidFill>
                      <a:srgbClr val="FF0000"/>
                    </a:solidFill>
                  </a:rPr>
                  <a:t> </a:t>
                </a:r>
                <a:r>
                  <a:rPr lang="en-US" sz="2000" baseline="0" dirty="0" err="1">
                    <a:solidFill>
                      <a:srgbClr val="FF0000"/>
                    </a:solidFill>
                  </a:rPr>
                  <a:t>koje</a:t>
                </a:r>
                <a:r>
                  <a:rPr lang="en-US" sz="2000" baseline="0" dirty="0">
                    <a:solidFill>
                      <a:srgbClr val="FF0000"/>
                    </a:solidFill>
                  </a:rPr>
                  <a:t> </a:t>
                </a:r>
                <a:r>
                  <a:rPr lang="en-US" sz="2000" baseline="0" dirty="0" err="1">
                    <a:solidFill>
                      <a:srgbClr val="FF0000"/>
                    </a:solidFill>
                  </a:rPr>
                  <a:t>su</a:t>
                </a:r>
                <a:r>
                  <a:rPr lang="en-US" sz="2000" baseline="0" dirty="0">
                    <a:solidFill>
                      <a:srgbClr val="FF0000"/>
                    </a:solidFill>
                  </a:rPr>
                  <a:t> </a:t>
                </a:r>
                <a:r>
                  <a:rPr lang="en-US" sz="2000" baseline="0" dirty="0" err="1">
                    <a:solidFill>
                      <a:srgbClr val="FF0000"/>
                    </a:solidFill>
                  </a:rPr>
                  <a:t>koristili</a:t>
                </a:r>
                <a:r>
                  <a:rPr lang="en-US" sz="2000" baseline="0" dirty="0">
                    <a:solidFill>
                      <a:srgbClr val="FF0000"/>
                    </a:solidFill>
                  </a:rPr>
                  <a:t> </a:t>
                </a:r>
                <a:r>
                  <a:rPr lang="en-US" sz="2000" baseline="0" dirty="0" err="1">
                    <a:solidFill>
                      <a:srgbClr val="FF0000"/>
                    </a:solidFill>
                  </a:rPr>
                  <a:t>zaista</a:t>
                </a:r>
                <a:r>
                  <a:rPr lang="en-US" sz="2000" baseline="0" dirty="0">
                    <a:solidFill>
                      <a:srgbClr val="FF0000"/>
                    </a:solidFill>
                  </a:rPr>
                  <a:t> </a:t>
                </a:r>
                <a:r>
                  <a:rPr lang="en-US" sz="2000" baseline="0" dirty="0" err="1">
                    <a:solidFill>
                      <a:srgbClr val="FF0000"/>
                    </a:solidFill>
                  </a:rPr>
                  <a:t>bili</a:t>
                </a:r>
                <a:r>
                  <a:rPr lang="en-US" sz="2000" baseline="0" dirty="0">
                    <a:solidFill>
                      <a:srgbClr val="FF0000"/>
                    </a:solidFill>
                  </a:rPr>
                  <a:t> </a:t>
                </a:r>
                <a:r>
                  <a:rPr lang="en-US" sz="2000" baseline="0" dirty="0" err="1">
                    <a:solidFill>
                      <a:srgbClr val="FF0000"/>
                    </a:solidFill>
                  </a:rPr>
                  <a:t>spleteni</a:t>
                </a:r>
                <a:r>
                  <a:rPr lang="en-US" sz="2000" baseline="0" dirty="0">
                    <a:solidFill>
                      <a:srgbClr val="FF0000"/>
                    </a:solidFill>
                  </a:rPr>
                  <a:t>.</a:t>
                </a: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http://</a:t>
                </a:r>
                <a:r>
                  <a:rPr lang="en-US" sz="2000" dirty="0" err="1"/>
                  <a:t>quantumgazette.blogspot.com</a:t>
                </a:r>
                <a:r>
                  <a:rPr lang="en-US" sz="2000" dirty="0"/>
                  <a:t>/2016/07/</a:t>
                </a:r>
                <a:r>
                  <a:rPr lang="en-US" sz="2000" dirty="0" err="1"/>
                  <a:t>chsh</a:t>
                </a:r>
                <a:r>
                  <a:rPr lang="en-US" sz="2000" dirty="0"/>
                  <a:t>-game-and-quantum-</a:t>
                </a:r>
                <a:r>
                  <a:rPr lang="en-US" sz="2000" dirty="0" err="1"/>
                  <a:t>entanglement.html</a:t>
                </a:r>
                <a:endParaRPr lang="en-US" sz="2000" dirty="0"/>
              </a:p>
            </p:txBody>
          </p:sp>
        </mc:Fallback>
      </mc:AlternateContent>
      <p:sp>
        <p:nvSpPr>
          <p:cNvPr id="4" name="Slide Number Placeholder 3"/>
          <p:cNvSpPr>
            <a:spLocks noGrp="1"/>
          </p:cNvSpPr>
          <p:nvPr>
            <p:ph type="sldNum" sz="quarter" idx="5"/>
          </p:nvPr>
        </p:nvSpPr>
        <p:spPr/>
        <p:txBody>
          <a:bodyPr/>
          <a:lstStyle/>
          <a:p>
            <a:fld id="{965A8710-8889-7541-9BF7-E78AD03A798D}" type="slidenum">
              <a:rPr lang="en-US" smtClean="0"/>
              <a:t>22</a:t>
            </a:fld>
            <a:endParaRPr lang="en-US"/>
          </a:p>
        </p:txBody>
      </p:sp>
    </p:spTree>
    <p:extLst>
      <p:ext uri="{BB962C8B-B14F-4D97-AF65-F5344CB8AC3E}">
        <p14:creationId xmlns:p14="http://schemas.microsoft.com/office/powerpoint/2010/main" val="40321467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5A8710-8889-7541-9BF7-E78AD03A798D}" type="slidenum">
              <a:rPr lang="en-US" smtClean="0"/>
              <a:t>23</a:t>
            </a:fld>
            <a:endParaRPr lang="en-US"/>
          </a:p>
        </p:txBody>
      </p:sp>
    </p:spTree>
    <p:extLst>
      <p:ext uri="{BB962C8B-B14F-4D97-AF65-F5344CB8AC3E}">
        <p14:creationId xmlns:p14="http://schemas.microsoft.com/office/powerpoint/2010/main" val="1281139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Around 1968, Stephen Wiesner proposed using quantum states for communication and introduced another remarkable idea for its time: quantum money. Here, we will present Wiesner’s idea of quantum money in the context of modern quantum computing.</a:t>
                </a:r>
              </a:p>
              <a:p>
                <a:pPr algn="just"/>
                <a:endParaRPr lang="en-ZA" b="0" dirty="0"/>
              </a:p>
              <a:p>
                <a:pPr algn="just"/>
                <a:r>
                  <a:rPr lang="en-ZA" b="0" dirty="0"/>
                  <a:t>Just as a conventional banknote has a serial number and security features designed to make counterfeiting difficult, a quantum banknote, which we will call a Q-note, can be represented by an ordered pair: a classical serial number s and a qubit prepared in a secret quantum state ∣Q⟩.</a:t>
                </a:r>
              </a:p>
            </p:txBody>
          </p:sp>
        </mc:Choice>
        <mc:Fallback xmlns="">
          <p:sp>
            <p:nvSpPr>
              <p:cNvPr id="3" name="Notes Placeholder 2"/>
              <p:cNvSpPr>
                <a:spLocks noGrp="1"/>
              </p:cNvSpPr>
              <p:nvPr>
                <p:ph type="body" idx="1"/>
              </p:nvPr>
            </p:nvSpPr>
            <p:spPr/>
            <p:txBody>
              <a:bodyPr/>
              <a:lstStyle/>
              <a:p>
                <a:pPr algn="just"/>
                <a:r>
                  <a:rPr lang="en-ZA" dirty="0"/>
                  <a:t>We will present Wiesner’s idea of quantum money in the context of modern quantum computing.</a:t>
                </a:r>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Just as a paper banknote carries a serial number and anti-counterfeiting features based on hard-to-replicate printing, a quantum banknote—let us call it a </a:t>
                </a:r>
                <a:r>
                  <a:rPr lang="en-ZA" i="1" dirty="0"/>
                  <a:t>Q-note</a:t>
                </a:r>
                <a:r>
                  <a:rPr lang="en-ZA" dirty="0"/>
                  <a:t>—consists of an ordered pair: a classical serial number </a:t>
                </a:r>
                <a:r>
                  <a:rPr lang="en-ZA" i="1" dirty="0"/>
                  <a:t>s</a:t>
                </a:r>
                <a:r>
                  <a:rPr lang="en-ZA" dirty="0"/>
                  <a:t> and a qubit prepared in a secret quantum state </a:t>
                </a:r>
                <a:r>
                  <a:rPr lang="en-US" sz="1200" i="0">
                    <a:solidFill>
                      <a:schemeClr val="tx1">
                        <a:lumMod val="65000"/>
                        <a:lumOff val="35000"/>
                      </a:schemeClr>
                    </a:solidFill>
                    <a:latin typeface="Cambria Math" panose="02040503050406030204" pitchFamily="18" charset="0"/>
                    <a:ea typeface="Cambria Math" panose="02040503050406030204" pitchFamily="18" charset="0"/>
                  </a:rPr>
                  <a:t>|</a:t>
                </a:r>
                <a:r>
                  <a:rPr lang="en-US" sz="1200" b="0" i="0">
                    <a:solidFill>
                      <a:schemeClr val="tx1">
                        <a:lumMod val="65000"/>
                        <a:lumOff val="35000"/>
                      </a:schemeClr>
                    </a:solidFill>
                    <a:latin typeface="Cambria Math" panose="02040503050406030204" pitchFamily="18" charset="0"/>
                    <a:ea typeface="Cambria Math" panose="02040503050406030204" pitchFamily="18" charset="0"/>
                  </a:rPr>
                  <a:t>𝑄⟩</a:t>
                </a:r>
                <a:endParaRPr lang="en-US" sz="1200" dirty="0">
                  <a:solidFill>
                    <a:schemeClr val="tx1"/>
                  </a:solidFill>
                </a:endParaRPr>
              </a:p>
              <a:p>
                <a:pPr algn="just"/>
                <a:r>
                  <a:rPr lang="en-ZA"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2851495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lgn="just">
                  <a:buFont typeface="+mj-lt"/>
                  <a:buAutoNum type="arabicPeriod"/>
                </a:pPr>
                <a:r>
                  <a:rPr lang="en-ZA" dirty="0"/>
                  <a:t>In a quantum money system, a user obtains a quantum banknote from a bank. In our simplified example, the note consists of a serial number </a:t>
                </a:r>
                <a14:m>
                  <m:oMath xmlns:m="http://schemas.openxmlformats.org/officeDocument/2006/math">
                    <m: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t>𝑠</m:t>
                    </m:r>
                  </m:oMath>
                </a14:m>
                <a:r>
                  <a:rPr lang="en-ZA" dirty="0"/>
                  <a:t> and a secret quantum state </a:t>
                </a:r>
                <a14:m>
                  <m:oMath xmlns:m="http://schemas.openxmlformats.org/officeDocument/2006/math">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𝑄</m:t>
                        </m:r>
                      </m:e>
                    </m:d>
                    <m:r>
                      <a:rPr lang="en-US" sz="1200" b="0" i="0" smtClean="0">
                        <a:solidFill>
                          <a:schemeClr val="tx1">
                            <a:lumMod val="65000"/>
                            <a:lumOff val="35000"/>
                          </a:schemeClr>
                        </a:solidFill>
                        <a:latin typeface="Cambria Math" panose="02040503050406030204" pitchFamily="18" charset="0"/>
                        <a:ea typeface="Cambria Math" panose="02040503050406030204" pitchFamily="18" charset="0"/>
                      </a:rPr>
                      <m:t>:</m:t>
                    </m:r>
                  </m:oMath>
                </a14:m>
                <a:r>
                  <a:rPr lang="en-ZA" dirty="0"/>
                  <a:t> </a:t>
                </a:r>
                <a14:m>
                  <m:oMath xmlns:m="http://schemas.openxmlformats.org/officeDocument/2006/math">
                    <m:r>
                      <a:rPr lang="en-US" sz="1200" b="0" i="0" smtClean="0">
                        <a:solidFill>
                          <a:schemeClr val="tx1">
                            <a:lumMod val="65000"/>
                            <a:lumOff val="35000"/>
                          </a:schemeClr>
                        </a:solidFill>
                        <a:latin typeface="Cambria Math" panose="02040503050406030204" pitchFamily="18" charset="0"/>
                        <a:ea typeface="Cambria Math" panose="02040503050406030204" pitchFamily="18" charset="0"/>
                      </a:rPr>
                      <m:t>(</m:t>
                    </m:r>
                    <m:r>
                      <m:rPr>
                        <m:sty m:val="p"/>
                      </m:rPr>
                      <a:rPr lang="en-US" sz="1200" b="0" i="0" smtClean="0">
                        <a:solidFill>
                          <a:schemeClr val="tx1">
                            <a:lumMod val="65000"/>
                            <a:lumOff val="35000"/>
                          </a:schemeClr>
                        </a:solidFill>
                        <a:latin typeface="Cambria Math" panose="02040503050406030204" pitchFamily="18" charset="0"/>
                        <a:ea typeface="Cambria Math" panose="02040503050406030204" pitchFamily="18" charset="0"/>
                      </a:rPr>
                      <m:t>s</m:t>
                    </m:r>
                    <m:r>
                      <a:rPr lang="en-US" sz="1200" b="0" i="0" smtClean="0">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𝑄</m:t>
                        </m:r>
                      </m:e>
                    </m:d>
                    <m:r>
                      <a:rPr lang="en-US" sz="1200" b="0" i="0" smtClean="0">
                        <a:solidFill>
                          <a:schemeClr val="tx1">
                            <a:lumMod val="65000"/>
                            <a:lumOff val="35000"/>
                          </a:schemeClr>
                        </a:solidFill>
                        <a:latin typeface="Cambria Math" panose="02040503050406030204" pitchFamily="18" charset="0"/>
                        <a:ea typeface="Cambria Math" panose="02040503050406030204" pitchFamily="18" charset="0"/>
                      </a:rPr>
                      <m:t>)</m:t>
                    </m:r>
                  </m:oMath>
                </a14:m>
                <a:r>
                  <a:rPr lang="en-ZA" dirty="0"/>
                  <a:t>. The bank stores the serial number together with the information needed to verify the corresponding quantum state.</a:t>
                </a:r>
              </a:p>
              <a:p>
                <a:pPr marL="228600" indent="-228600" algn="just">
                  <a:buFont typeface="+mj-lt"/>
                  <a:buAutoNum type="arabicPeriod"/>
                </a:pPr>
                <a:endParaRPr lang="en-ZA" dirty="0"/>
              </a:p>
              <a:p>
                <a:pPr marL="228600" indent="-228600" algn="just">
                  <a:buFont typeface="+mj-lt"/>
                  <a:buAutoNum type="arabicPeriod"/>
                </a:pPr>
                <a:r>
                  <a:rPr lang="en-ZA" dirty="0"/>
                  <a:t>When the user wants to spend the note, they give it to a merchant, who sends it to the bank for verification. The bank uses the serial number to find the corresponding record and then performs the appropriate quantum measurement. If the measurement confirms the expected state, the note is accepted as valid and the payment can proceed. </a:t>
                </a:r>
                <a:r>
                  <a:rPr lang="en-ZA" b="0" dirty="0"/>
                  <a:t>An attacker cannot simply copy the quantum part of the banknote. According to the no-cloning theorem, an unknown quantum state cannot be perfectly duplicated.</a:t>
                </a:r>
              </a:p>
              <a:p>
                <a:pPr marL="228600" indent="-228600" algn="just">
                  <a:buFont typeface="+mj-lt"/>
                  <a:buAutoNum type="arabicPeriod"/>
                </a:pPr>
                <a:endParaRPr lang="en-ZA" dirty="0"/>
              </a:p>
              <a:p>
                <a:pPr marL="228600" indent="-228600" algn="just">
                  <a:buFont typeface="+mj-lt"/>
                  <a:buAutoNum type="arabicPeriod"/>
                </a:pPr>
                <a:r>
                  <a:rPr lang="en-ZA" b="0" dirty="0"/>
                  <a:t>An attacker could steal or copy the classical serial number, but that alone is not enough to create a valid banknote. They would also have to reproduce the correct secret quantum state. </a:t>
                </a:r>
                <a:endParaRPr lang="en-US" b="0" dirty="0"/>
              </a:p>
            </p:txBody>
          </p:sp>
        </mc:Choice>
        <mc:Fallback xmlns="">
          <p:sp>
            <p:nvSpPr>
              <p:cNvPr id="3" name="Notes Placeholder 2"/>
              <p:cNvSpPr>
                <a:spLocks noGrp="1"/>
              </p:cNvSpPr>
              <p:nvPr>
                <p:ph type="body" idx="1"/>
              </p:nvPr>
            </p:nvSpPr>
            <p:spPr/>
            <p:txBody>
              <a:bodyPr/>
              <a:lstStyle/>
              <a:p>
                <a:pPr marL="228600" indent="-228600" algn="just">
                  <a:buFont typeface="+mj-lt"/>
                  <a:buAutoNum type="arabicPeriod"/>
                </a:pPr>
                <a:r>
                  <a:rPr lang="en-ZA" dirty="0"/>
                  <a:t>In a quantum money banking system, a user purchases a quantum banknote from a bank, receiving it as an ordered pair consisting of a serial number and a secret quantum state: </a:t>
                </a:r>
                <a:r>
                  <a:rPr lang="en-US" sz="1200" b="0" i="0">
                    <a:solidFill>
                      <a:schemeClr val="tx1">
                        <a:lumMod val="65000"/>
                        <a:lumOff val="35000"/>
                      </a:schemeClr>
                    </a:solidFill>
                    <a:latin typeface="Cambria Math" panose="02040503050406030204" pitchFamily="18" charset="0"/>
                    <a:ea typeface="Cambria Math" panose="02040503050406030204" pitchFamily="18" charset="0"/>
                  </a:rPr>
                  <a:t>(s,</a:t>
                </a:r>
                <a:r>
                  <a:rPr lang="en-US" sz="1200" i="0">
                    <a:solidFill>
                      <a:schemeClr val="tx1">
                        <a:lumMod val="65000"/>
                        <a:lumOff val="35000"/>
                      </a:schemeClr>
                    </a:solidFill>
                    <a:latin typeface="Cambria Math" panose="02040503050406030204" pitchFamily="18" charset="0"/>
                    <a:ea typeface="Cambria Math" panose="02040503050406030204" pitchFamily="18" charset="0"/>
                  </a:rPr>
                  <a:t>|</a:t>
                </a:r>
                <a:r>
                  <a:rPr lang="en-US" sz="1200" b="0" i="0">
                    <a:solidFill>
                      <a:schemeClr val="tx1">
                        <a:lumMod val="65000"/>
                        <a:lumOff val="35000"/>
                      </a:schemeClr>
                    </a:solidFill>
                    <a:latin typeface="Cambria Math" panose="02040503050406030204" pitchFamily="18" charset="0"/>
                    <a:ea typeface="Cambria Math" panose="02040503050406030204" pitchFamily="18" charset="0"/>
                  </a:rPr>
                  <a:t>𝑄⟩)</a:t>
                </a:r>
                <a:r>
                  <a:rPr lang="en-ZA" dirty="0"/>
                  <a:t>. The bank records both the serial number and the corresponding quantum state in its secure database.</a:t>
                </a:r>
              </a:p>
              <a:p>
                <a:pPr marL="228600" indent="-228600" algn="just">
                  <a:buFont typeface="+mj-lt"/>
                  <a:buAutoNum type="arabicPeriod"/>
                </a:pPr>
                <a:endParaRPr lang="en-ZA" dirty="0"/>
              </a:p>
              <a:p>
                <a:pPr marL="228600" indent="-228600" algn="just">
                  <a:buFont typeface="+mj-lt"/>
                  <a:buAutoNum type="arabicPeriod"/>
                </a:pPr>
                <a:r>
                  <a:rPr lang="en-ZA" dirty="0"/>
                  <a:t>When the user wants to spend the note, he send it to a merchant, who then forwards it to the bank for verification. The bank locates the serial number in its database and compares the quantum state on the note with the stored reference state. If the states match, the note is deemed valid and returned to the merchant, who then provides the purchased goods to the user. If the quantum state is transmitted via quantum teleportation, the no-cloning theorem ensures that only one copy of the note can exist—preventing duplication.</a:t>
                </a:r>
              </a:p>
              <a:p>
                <a:pPr marL="228600" indent="-228600" algn="just">
                  <a:buFont typeface="+mj-lt"/>
                  <a:buAutoNum type="arabicPeriod"/>
                </a:pPr>
                <a:endParaRPr lang="en-ZA" dirty="0"/>
              </a:p>
              <a:p>
                <a:pPr marL="228600" indent="-228600" algn="just">
                  <a:buFont typeface="+mj-lt"/>
                  <a:buAutoNum type="arabicPeriod"/>
                </a:pPr>
                <a:r>
                  <a:rPr lang="en-ZA" dirty="0"/>
                  <a:t>Hackers may attempt to forge banknotes by stealing unprotected serial numbers and guessing the corresponding secret quantum states, but the probability of successfully reproducing the correct quantum state without knowledge of the preparation basis is exponentially small.</a:t>
                </a:r>
              </a:p>
              <a:p>
                <a:pPr marL="0" indent="0" algn="just">
                  <a:buFont typeface="+mj-lt"/>
                  <a:buNone/>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2305275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Wiesner's quantum money, each qubit is prepared in one of two possible bases: the computational basis </a:t>
                </a:r>
                <a:r>
                  <a:rPr lang="en-ZA" b="0" dirty="0"/>
                  <a:t>{∣0⟩,∣1⟩} </a:t>
                </a:r>
                <a:r>
                  <a:rPr lang="en-ZA" dirty="0"/>
                  <a:t>or the diagonal </a:t>
                </a:r>
                <a:r>
                  <a:rPr lang="en-ZA" dirty="0" err="1"/>
                  <a:t>basis</a:t>
                </a:r>
                <a:r>
                  <a:rPr lang="en-ZA" b="0" dirty="0" err="1"/>
                  <a:t>l</a:t>
                </a:r>
                <a:r>
                  <a:rPr lang="en-ZA" b="0" dirty="0"/>
                  <a:t> {∣+⟩,∣−⟩}).</a:t>
                </a:r>
                <a:r>
                  <a:rPr lang="en-ZA" b="0" baseline="0" dirty="0"/>
                  <a:t> </a:t>
                </a:r>
              </a:p>
              <a:p>
                <a:pPr algn="just"/>
                <a:endParaRPr lang="en-ZA" b="0" baseline="0" dirty="0"/>
              </a:p>
              <a:p>
                <a:pPr algn="just"/>
                <a:r>
                  <a:rPr lang="en-ZA" b="0" dirty="0"/>
                  <a:t>Instead of storing a copy of the quantum state, the bank stores classical information describing how the qubit was prepared. In our simplified Q-note, this information is represented by two secret bits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𝑏</m:t>
                        </m:r>
                      </m:e>
                      <m:sub>
                        <m:r>
                          <a:rPr lang="sr-Latn-RS" sz="1200" b="0" i="1" smtClean="0">
                            <a:latin typeface="Cambria Math" panose="02040503050406030204" pitchFamily="18" charset="0"/>
                            <a:ea typeface="Cambria Math" panose="02040503050406030204" pitchFamily="18" charset="0"/>
                          </a:rPr>
                          <m:t>1</m:t>
                        </m:r>
                      </m:sub>
                    </m:sSub>
                  </m:oMath>
                </a14:m>
                <a:r>
                  <a:rPr lang="en-ZA" b="0" dirty="0"/>
                  <a:t>​ and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b="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2</m:t>
                        </m:r>
                      </m:sub>
                    </m:sSub>
                  </m:oMath>
                </a14:m>
                <a:r>
                  <a:rPr lang="en-ZA" b="0" dirty="0"/>
                  <a:t>​, stored together with the serial number.</a:t>
                </a:r>
              </a:p>
              <a:p>
                <a:pPr algn="just"/>
                <a:endParaRPr lang="en-ZA" dirty="0"/>
              </a:p>
              <a:p>
                <a:pPr algn="just"/>
                <a:r>
                  <a:rPr lang="en-ZA" dirty="0"/>
                  <a:t>The bit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2</m:t>
                        </m:r>
                      </m:sub>
                    </m:sSub>
                  </m:oMath>
                </a14:m>
                <a:r>
                  <a:rPr lang="en-ZA" dirty="0"/>
                  <a:t>​ selects the basis, while</a:t>
                </a:r>
                <a14:m>
                  <m:oMath xmlns:m="http://schemas.openxmlformats.org/officeDocument/2006/math">
                    <m:r>
                      <a:rPr lang="en-US" sz="1200" b="0" i="0" smtClean="0">
                        <a:latin typeface="Cambria Math" panose="02040503050406030204" pitchFamily="18" charset="0"/>
                        <a:ea typeface="Cambria Math" panose="02040503050406030204" pitchFamily="18" charset="0"/>
                      </a:rPr>
                      <m:t> </m:t>
                    </m:r>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1</m:t>
                        </m:r>
                      </m:sub>
                    </m:sSub>
                  </m:oMath>
                </a14:m>
                <a:r>
                  <a:rPr lang="en-ZA" dirty="0"/>
                  <a:t>​selects the state within that basis.:</a:t>
                </a:r>
              </a:p>
              <a:p>
                <a:pPr algn="just"/>
                <a:r>
                  <a:rPr lang="en-ZA" dirty="0"/>
                  <a:t>If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=0</m:t>
                    </m:r>
                  </m:oMath>
                </a14:m>
                <a:r>
                  <a:rPr lang="en-ZA" dirty="0"/>
                  <a:t>, the Z-basis is used:</a:t>
                </a:r>
              </a:p>
              <a:p>
                <a:pPr marL="457200" marR="0" lvl="1"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=0</m:t>
                    </m:r>
                  </m:oMath>
                </a14:m>
                <a:r>
                  <a:rPr lang="en-ZA" dirty="0"/>
                  <a:t> corresponds to Q-note=</a:t>
                </a:r>
                <a14:m>
                  <m:oMath xmlns:m="http://schemas.openxmlformats.org/officeDocument/2006/math">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i="1">
                            <a:solidFill>
                              <a:schemeClr val="tx1">
                                <a:lumMod val="65000"/>
                                <a:lumOff val="35000"/>
                              </a:schemeClr>
                            </a:solidFill>
                            <a:latin typeface="Cambria Math" panose="02040503050406030204" pitchFamily="18" charset="0"/>
                            <a:ea typeface="Cambria Math" panose="02040503050406030204" pitchFamily="18" charset="0"/>
                          </a:rPr>
                          <m:t>0</m:t>
                        </m:r>
                      </m:e>
                    </m:d>
                  </m:oMath>
                </a14:m>
                <a:endParaRPr lang="en-ZA" dirty="0"/>
              </a:p>
              <a:p>
                <a:pPr lvl="1" algn="just"/>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=1</m:t>
                    </m:r>
                  </m:oMath>
                </a14:m>
                <a:r>
                  <a:rPr lang="en-ZA" dirty="0"/>
                  <a:t> corresponds to Q-note=</a:t>
                </a:r>
                <a14:m>
                  <m:oMath xmlns:m="http://schemas.openxmlformats.org/officeDocument/2006/math">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1</m:t>
                        </m:r>
                      </m:e>
                    </m:d>
                  </m:oMath>
                </a14:m>
                <a:endParaRPr lang="en-ZA" dirty="0"/>
              </a:p>
              <a:p>
                <a:pPr lvl="1" algn="just"/>
                <a:endParaRPr lang="en-ZA" dirty="0"/>
              </a:p>
              <a:p>
                <a:pPr algn="just"/>
                <a:r>
                  <a:rPr lang="en-ZA" dirty="0"/>
                  <a:t>If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2</m:t>
                        </m:r>
                      </m:sub>
                    </m:sSub>
                    <m:r>
                      <a:rPr lang="en-US" sz="1200" b="0" i="1" smtClean="0">
                        <a:latin typeface="Cambria Math" panose="02040503050406030204" pitchFamily="18" charset="0"/>
                        <a:ea typeface="Cambria Math" panose="02040503050406030204" pitchFamily="18" charset="0"/>
                      </a:rPr>
                      <m:t>=1</m:t>
                    </m:r>
                  </m:oMath>
                </a14:m>
                <a:r>
                  <a:rPr lang="en-ZA" dirty="0"/>
                  <a:t>,</a:t>
                </a:r>
                <a:r>
                  <a:rPr lang="en-ZA" baseline="0" dirty="0"/>
                  <a:t> </a:t>
                </a:r>
                <a:r>
                  <a:rPr lang="en-ZA" dirty="0"/>
                  <a:t>the X-basis is used:</a:t>
                </a:r>
              </a:p>
              <a:p>
                <a:pPr lvl="1" algn="just"/>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=0</m:t>
                    </m:r>
                  </m:oMath>
                </a14:m>
                <a:r>
                  <a:rPr lang="en-ZA" dirty="0"/>
                  <a:t> corresponds to Q-note=</a:t>
                </a:r>
                <a14:m>
                  <m:oMath xmlns:m="http://schemas.openxmlformats.org/officeDocument/2006/math">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m:t>
                        </m:r>
                      </m:e>
                    </m:d>
                  </m:oMath>
                </a14:m>
                <a:endParaRPr lang="en-ZA" dirty="0"/>
              </a:p>
              <a:p>
                <a:pPr lvl="1" algn="just"/>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𝑏</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=1</m:t>
                    </m:r>
                  </m:oMath>
                </a14:m>
                <a:r>
                  <a:rPr lang="en-ZA" dirty="0"/>
                  <a:t> corresponds to Q-note=</a:t>
                </a:r>
                <a14:m>
                  <m:oMath xmlns:m="http://schemas.openxmlformats.org/officeDocument/2006/math">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m:t>
                        </m:r>
                      </m:e>
                    </m:d>
                  </m:oMath>
                </a14:m>
                <a:endParaRPr lang="en-ZA" dirty="0"/>
              </a:p>
              <a:p>
                <a:pPr lvl="0" algn="just"/>
                <a:endParaRPr lang="en-ZA" dirty="0"/>
              </a:p>
              <a:p>
                <a:pPr lvl="0" algn="just"/>
                <a:r>
                  <a:rPr lang="en-ZA" b="0" dirty="0"/>
                  <a:t>So, using only two classical secret bits, the bank can specify one of four possible quantum states for each qubit in the Q-note.</a:t>
                </a:r>
              </a:p>
            </p:txBody>
          </p:sp>
        </mc:Choice>
        <mc:Fallback xmlns="">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chemeClr val="tx1"/>
                    </a:solidFill>
                  </a:rPr>
                  <a:t>A </a:t>
                </a:r>
                <a:r>
                  <a:rPr lang="en-US" dirty="0" err="1">
                    <a:solidFill>
                      <a:schemeClr val="tx1"/>
                    </a:solidFill>
                  </a:rPr>
                  <a:t>Qnote</a:t>
                </a:r>
                <a:r>
                  <a:rPr lang="en-US" dirty="0">
                    <a:solidFill>
                      <a:schemeClr val="tx1"/>
                    </a:solidFill>
                  </a:rPr>
                  <a:t> qubit can be in one of the following  secret states on</a:t>
                </a:r>
                <a:r>
                  <a:rPr lang="en-US" baseline="0" dirty="0">
                    <a:solidFill>
                      <a:schemeClr val="tx1"/>
                    </a:solidFill>
                  </a:rPr>
                  <a:t> the Bloch sphere</a:t>
                </a:r>
                <a:r>
                  <a:rPr lang="en-US" dirty="0">
                    <a:solidFill>
                      <a:schemeClr val="tx1"/>
                    </a:solidFill>
                  </a:rPr>
                  <a:t>: </a:t>
                </a:r>
                <a:r>
                  <a:rPr lang="en-US" sz="1200" i="0">
                    <a:solidFill>
                      <a:schemeClr val="tx1"/>
                    </a:solidFill>
                    <a:latin typeface="Cambria Math" panose="02040503050406030204" pitchFamily="18" charset="0"/>
                    <a:ea typeface="Cambria Math" panose="02040503050406030204" pitchFamily="18" charset="0"/>
                  </a:rPr>
                  <a:t>|</a:t>
                </a:r>
                <a:r>
                  <a:rPr lang="en-US" sz="1200" b="0" i="0">
                    <a:solidFill>
                      <a:schemeClr val="tx1"/>
                    </a:solidFill>
                    <a:latin typeface="Cambria Math" panose="02040503050406030204" pitchFamily="18" charset="0"/>
                    <a:ea typeface="Cambria Math" panose="02040503050406030204" pitchFamily="18" charset="0"/>
                  </a:rPr>
                  <a:t>0⟩,</a:t>
                </a:r>
                <a:r>
                  <a:rPr lang="en-US" sz="1200" i="0">
                    <a:solidFill>
                      <a:schemeClr val="tx1"/>
                    </a:solidFill>
                    <a:latin typeface="Cambria Math" panose="02040503050406030204" pitchFamily="18" charset="0"/>
                    <a:ea typeface="Cambria Math" panose="02040503050406030204" pitchFamily="18" charset="0"/>
                  </a:rPr>
                  <a:t>|</a:t>
                </a:r>
                <a:r>
                  <a:rPr lang="en-US" sz="1200" b="0" i="0">
                    <a:solidFill>
                      <a:schemeClr val="tx1"/>
                    </a:solidFill>
                    <a:latin typeface="Cambria Math" panose="02040503050406030204" pitchFamily="18" charset="0"/>
                    <a:ea typeface="Cambria Math" panose="02040503050406030204" pitchFamily="18" charset="0"/>
                  </a:rPr>
                  <a:t>1⟩,</a:t>
                </a:r>
                <a:r>
                  <a:rPr lang="en-US" sz="1200" i="0">
                    <a:solidFill>
                      <a:schemeClr val="tx1"/>
                    </a:solidFill>
                    <a:latin typeface="Cambria Math" panose="02040503050406030204" pitchFamily="18" charset="0"/>
                    <a:ea typeface="Cambria Math" panose="02040503050406030204" pitchFamily="18" charset="0"/>
                  </a:rPr>
                  <a:t>|</a:t>
                </a:r>
                <a:r>
                  <a:rPr lang="en-US" sz="1200" b="0" i="0">
                    <a:solidFill>
                      <a:schemeClr val="tx1"/>
                    </a:solidFill>
                    <a:latin typeface="Cambria Math" panose="02040503050406030204" pitchFamily="18" charset="0"/>
                    <a:ea typeface="Cambria Math" panose="02040503050406030204" pitchFamily="18" charset="0"/>
                  </a:rPr>
                  <a:t>+⟩  or </a:t>
                </a:r>
                <a:r>
                  <a:rPr lang="en-US" sz="1200" i="0">
                    <a:solidFill>
                      <a:schemeClr val="tx1"/>
                    </a:solidFill>
                    <a:latin typeface="Cambria Math" panose="02040503050406030204" pitchFamily="18" charset="0"/>
                    <a:ea typeface="Cambria Math" panose="02040503050406030204" pitchFamily="18" charset="0"/>
                  </a:rPr>
                  <a:t>|</a:t>
                </a:r>
                <a:r>
                  <a:rPr lang="en-US" sz="1200" b="0" i="0">
                    <a:solidFill>
                      <a:schemeClr val="tx1"/>
                    </a:solidFill>
                    <a:latin typeface="Cambria Math" panose="02040503050406030204" pitchFamily="18" charset="0"/>
                    <a:ea typeface="Cambria Math" panose="02040503050406030204" pitchFamily="18" charset="0"/>
                  </a:rPr>
                  <a:t>−⟩</a:t>
                </a:r>
                <a:r>
                  <a:rPr lang="en-US" sz="1200" dirty="0">
                    <a:solidFill>
                      <a:schemeClr val="tx1"/>
                    </a:solidFill>
                  </a:rPr>
                  <a:t>. </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The vector pair </a:t>
                </a:r>
                <a:r>
                  <a:rPr lang="en-US" sz="1200" b="0" i="0">
                    <a:solidFill>
                      <a:schemeClr val="tx1"/>
                    </a:solidFill>
                    <a:latin typeface="Cambria Math" panose="02040503050406030204" pitchFamily="18" charset="0"/>
                    <a:ea typeface="Cambria Math" panose="02040503050406030204" pitchFamily="18" charset="0"/>
                  </a:rPr>
                  <a:t>{├|0⟩,├|1⟩}</a:t>
                </a:r>
                <a:r>
                  <a:rPr lang="en-US" sz="1200" dirty="0">
                    <a:solidFill>
                      <a:schemeClr val="tx1"/>
                    </a:solidFill>
                  </a:rPr>
                  <a:t>, along the z-axis in the Bloch sphere is called the standard basis.</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The vector pair </a:t>
                </a:r>
                <a:r>
                  <a:rPr lang="en-US" sz="1200" b="0" i="0">
                    <a:solidFill>
                      <a:schemeClr val="tx1"/>
                    </a:solidFill>
                    <a:latin typeface="Cambria Math" panose="02040503050406030204" pitchFamily="18" charset="0"/>
                    <a:ea typeface="Cambria Math" panose="02040503050406030204" pitchFamily="18" charset="0"/>
                  </a:rPr>
                  <a:t>{├|+⟩,├|−⟩}</a:t>
                </a:r>
                <a:r>
                  <a:rPr lang="en-US" sz="1200" dirty="0">
                    <a:solidFill>
                      <a:schemeClr val="tx1"/>
                    </a:solidFill>
                  </a:rPr>
                  <a:t>, along the x-axis in the Bloch sphere is called the</a:t>
                </a:r>
                <a:r>
                  <a:rPr lang="en-US" sz="1200" baseline="0" dirty="0">
                    <a:solidFill>
                      <a:schemeClr val="tx1"/>
                    </a:solidFill>
                  </a:rPr>
                  <a:t> </a:t>
                </a:r>
                <a:r>
                  <a:rPr lang="en-US" sz="1200" dirty="0">
                    <a:solidFill>
                      <a:schemeClr val="tx1"/>
                    </a:solidFill>
                  </a:rPr>
                  <a:t>superposition or diagonal basis.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rPr>
                  <a:t>For improved security, a </a:t>
                </a:r>
                <a:r>
                  <a:rPr lang="en-ZA" b="0" dirty="0" err="1"/>
                  <a:t>Weisner</a:t>
                </a:r>
                <a:r>
                  <a:rPr lang="en-ZA" b="1" dirty="0"/>
                  <a:t> </a:t>
                </a:r>
                <a:r>
                  <a:rPr lang="en-US" sz="1200" dirty="0">
                    <a:solidFill>
                      <a:schemeClr val="tx1"/>
                    </a:solidFill>
                  </a:rPr>
                  <a:t> banknote can take more states, e.g. 6 (two additional states along y-axis), 8 (two additional states along Bloch sphere diagonals) or more, but for the purpose of this project we will use 4.</a:t>
                </a:r>
                <a:endParaRPr lang="en-US" dirty="0">
                  <a:solidFill>
                    <a:schemeClr val="tx1"/>
                  </a:solidFill>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1521933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Knowing the serial number of a quantum banknote, a hacker could try to create a forged qubit by guessing its secret state. The bank, however, stores two pieces of information for each qubit: the expected bit value and the basis in which it should be measured.</a:t>
                </a:r>
              </a:p>
              <a:p>
                <a:pPr algn="just"/>
                <a:endParaRPr lang="en-ZA" b="0" dirty="0"/>
              </a:p>
              <a:p>
                <a:pPr algn="just"/>
                <a:r>
                  <a:rPr lang="en-ZA" b="0" dirty="0"/>
                  <a:t>Without knowing the basis, the hacker has a 50% chance of choosing correctly, in which case the qubit passes the test with certainty. If the wrong basis is chosen, there is still a 50% chance of passing by accident. The overall probability of successfully forging one qubit is therefore P=0.5×1+0.5×0.5=0.75 </a:t>
                </a:r>
              </a:p>
              <a:p>
                <a:pPr algn="just"/>
                <a:r>
                  <a:rPr lang="en-ZA" b="0" dirty="0"/>
                  <a:t>So a single-qubit Q-note would have a 75% probability of successful forgery.</a:t>
                </a:r>
              </a:p>
              <a:p>
                <a:pPr algn="just"/>
                <a:endParaRPr lang="en-ZA" b="0" dirty="0"/>
              </a:p>
              <a:p>
                <a:pPr algn="just"/>
                <a:r>
                  <a:rPr lang="en-ZA" dirty="0"/>
                  <a:t>In the example shown, the secret state is ∣+⟩, which the bank verifies by measuring in the diagonal basis. The hacker instead sends the qubit ∣0⟩. Although this is the wrong state, measuring ∣0⟩ in the diagonal basis produces the expected ∣+⟩ outcome with a probability of 50%. </a:t>
                </a:r>
                <a:r>
                  <a:rPr lang="en-ZA" b="0" dirty="0"/>
                  <a:t> This is why a practical Q-note would contain many qubits. Assuming independent qubits, the probability of successfully forging all of them becomes</a:t>
                </a:r>
              </a:p>
              <a:p>
                <a:pPr algn="just"/>
                <a:endParaRPr lang="en-ZA" b="0" dirty="0"/>
              </a:p>
              <a:p>
                <a:pPr algn="just"/>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𝑃</m:t>
                          </m:r>
                        </m:e>
                        <m:sub>
                          <m:r>
                            <a:rPr lang="en-US" sz="1200" b="0" i="1" smtClean="0">
                              <a:latin typeface="Cambria Math" panose="02040503050406030204" pitchFamily="18" charset="0"/>
                            </a:rPr>
                            <m:t>𝑓𝑜𝑟𝑔𝑒</m:t>
                          </m:r>
                        </m:sub>
                      </m:sSub>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3</m:t>
                                  </m:r>
                                </m:num>
                                <m:den>
                                  <m:r>
                                    <a:rPr lang="en-US" sz="1200" b="0" i="1" smtClean="0">
                                      <a:latin typeface="Cambria Math" panose="02040503050406030204" pitchFamily="18" charset="0"/>
                                    </a:rPr>
                                    <m:t>4</m:t>
                                  </m:r>
                                </m:den>
                              </m:f>
                            </m:e>
                          </m:d>
                        </m:e>
                        <m:sup>
                          <m:r>
                            <a:rPr lang="en-US" sz="1200" b="0" i="1" smtClean="0">
                              <a:latin typeface="Cambria Math" panose="02040503050406030204" pitchFamily="18" charset="0"/>
                            </a:rPr>
                            <m:t>𝑛</m:t>
                          </m:r>
                        </m:sup>
                      </m:sSup>
                    </m:oMath>
                  </m:oMathPara>
                </a14:m>
                <a:endParaRPr lang="en-ZA" b="0" dirty="0"/>
              </a:p>
              <a:p>
                <a:pPr algn="just"/>
                <a:endParaRPr lang="en-ZA" b="0" dirty="0"/>
              </a:p>
              <a:p>
                <a:pPr algn="just"/>
                <a:r>
                  <a:rPr lang="en-ZA" dirty="0"/>
                  <a:t>With 32 qubits, the probability of successfully forging the entire Q-note drops to around </a:t>
                </a:r>
                <a14:m>
                  <m:oMath xmlns:m="http://schemas.openxmlformats.org/officeDocument/2006/math">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r>
                  <a:rPr lang="en-ZA" dirty="0"/>
                  <a:t>. With 64 qubits, it falls to about </a:t>
                </a:r>
                <a14:m>
                  <m:oMath xmlns:m="http://schemas.openxmlformats.org/officeDocument/2006/math">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−8</m:t>
                        </m:r>
                      </m:sup>
                    </m:sSup>
                  </m:oMath>
                </a14:m>
                <a:r>
                  <a:rPr lang="en-ZA" dirty="0"/>
                  <a:t>, or</a:t>
                </a:r>
                <a:r>
                  <a:rPr lang="en-ZA" b="0" dirty="0"/>
                  <a:t> roughly one chance in 100 million.</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The token state security primarily lies in the fundamental principles of quantum mechanics, particularly in the concepts of superposition, no-cloning theorem and measurement uncertainty.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dirty="0"/>
                  <a:t>No-Cloning theorem</a:t>
                </a:r>
                <a:r>
                  <a:rPr lang="en-ZA" dirty="0"/>
                  <a:t>: This theorem states that it is impossible to create an exact copy of an unknown quantum state. This protects quantum information from being duplicated by an unauthorized party.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dirty="0"/>
                  <a:t>Superposition</a:t>
                </a:r>
                <a:r>
                  <a:rPr lang="en-ZA" dirty="0"/>
                  <a:t>: Quantum token can exist in multiple states simultaneously until it is measured. This makes it extremely difficult for an eavesdropper to determine the exact state of a quantum system without disturbing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dirty="0"/>
                  <a:t>Measurement uncertainty</a:t>
                </a:r>
                <a:r>
                  <a:rPr lang="en-ZA" dirty="0"/>
                  <a:t>: Any attempt to measure a quantum state inevitably alters it. If an unauthorized party tries to measure a quantum state, the act of measurement will change the state, making it apparent that the state has been tampered with.</a:t>
                </a:r>
                <a:endParaRPr lang="en-US" dirty="0"/>
              </a:p>
              <a:p>
                <a:endParaRPr lang="en-US" dirty="0"/>
              </a:p>
              <a:p>
                <a:r>
                  <a:rPr lang="en-ZA" dirty="0"/>
                  <a:t>To create copies of a q-note, an attacker must know the qubit state, which he can attempt to obtain through measurement. However, without knowing the correct basis, the attacker can only randomly choose between the two possible bases: the standard basis {∣0⟩,∣1⟩ or the diagonal basis {∣+⟩,∣−⟩}.</a:t>
                </a:r>
                <a:endParaRPr lang="en-US" dirty="0"/>
              </a:p>
              <a:p>
                <a:endParaRPr lang="en-US" dirty="0"/>
              </a:p>
              <a:p>
                <a:r>
                  <a:rPr lang="en-US" b="1" dirty="0"/>
                  <a:t>Random Guessing:</a:t>
                </a:r>
                <a:r>
                  <a:rPr lang="en-US" dirty="0"/>
                  <a:t> If the attacker picks the correct basis (which happens with a probability of </a:t>
                </a:r>
                <a:r>
                  <a:rPr lang="en-US" dirty="0">
                    <a:solidFill>
                      <a:srgbClr val="FF0000"/>
                    </a:solidFill>
                  </a:rPr>
                  <a:t>50%</a:t>
                </a:r>
                <a:r>
                  <a:rPr lang="en-US" dirty="0"/>
                  <a:t>​), they will measure the qubit and obtain the correct state with a 100% probability, i.e. </a:t>
                </a:r>
                <a:r>
                  <a:rPr lang="en-US" sz="1200" b="0" i="0">
                    <a:solidFill>
                      <a:srgbClr val="FF0000"/>
                    </a:solidFill>
                    <a:latin typeface="Cambria Math" panose="02040503050406030204" pitchFamily="18" charset="0"/>
                  </a:rPr>
                  <a:t>1/2</a:t>
                </a:r>
                <a:r>
                  <a:rPr lang="en-US" sz="1200" b="0" i="0">
                    <a:latin typeface="Cambria Math" panose="02040503050406030204" pitchFamily="18" charset="0"/>
                    <a:ea typeface="Cambria Math" panose="02040503050406030204" pitchFamily="18" charset="0"/>
                  </a:rPr>
                  <a:t>×1</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Incorrect Basis:</a:t>
                </a:r>
                <a:r>
                  <a:rPr lang="en-US" dirty="0"/>
                  <a:t> If the attacker pick the incorrect basis (also a probability of 50%​), the measurement will collapse the qubit into one of the two states in the chosen basis, with a probability of 50%​ of measuring each state, i.e. </a:t>
                </a:r>
                <a:r>
                  <a:rPr lang="en-US" sz="1200" b="0" i="0">
                    <a:solidFill>
                      <a:srgbClr val="FF0000"/>
                    </a:solidFill>
                    <a:latin typeface="Cambria Math" panose="02040503050406030204" pitchFamily="18" charset="0"/>
                  </a:rPr>
                  <a:t>1/2</a:t>
                </a:r>
                <a:r>
                  <a:rPr lang="en-US" sz="1200" b="0" i="0">
                    <a:latin typeface="Cambria Math" panose="02040503050406030204" pitchFamily="18" charset="0"/>
                    <a:ea typeface="Cambria Math" panose="02040503050406030204" pitchFamily="18" charset="0"/>
                  </a:rPr>
                  <a:t>×</a:t>
                </a:r>
                <a:r>
                  <a:rPr lang="en-US" sz="1200" b="0" i="0">
                    <a:solidFill>
                      <a:srgbClr val="FF0000"/>
                    </a:solidFill>
                    <a:latin typeface="Cambria Math" panose="02040503050406030204" pitchFamily="18" charset="0"/>
                  </a:rPr>
                  <a:t>1/2</a:t>
                </a:r>
                <a:endParaRPr lang="en-US" dirty="0"/>
              </a:p>
              <a:p>
                <a:endParaRPr lang="en-US" dirty="0"/>
              </a:p>
              <a:p>
                <a:r>
                  <a:rPr lang="en-US" b="1" dirty="0"/>
                  <a:t>Total Probability</a:t>
                </a:r>
                <a:r>
                  <a:rPr lang="en-US" dirty="0"/>
                  <a:t>: The overall probability of guessing correctly is:</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a:t>correct basis</a:t>
                </a:r>
                <a:r>
                  <a:rPr lang="en-US" sz="1200" b="0" i="0">
                    <a:latin typeface="Cambria Math" panose="02040503050406030204" pitchFamily="18" charset="0"/>
                    <a:ea typeface="Cambria Math" panose="02040503050406030204" pitchFamily="18" charset="0"/>
                  </a:rPr>
                  <a:t> </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 1</a:t>
                </a:r>
                <a:r>
                  <a:rPr lang="en-ZA" sz="1200" dirty="0"/>
                  <a:t> </a:t>
                </a:r>
                <a:r>
                  <a:rPr lang="en-US" sz="1200" i="0">
                    <a:latin typeface="Cambria Math" panose="02040503050406030204" pitchFamily="18" charset="0"/>
                  </a:rPr>
                  <a:t>+</a:t>
                </a:r>
                <a:r>
                  <a:rPr lang="en-ZA" sz="1200" dirty="0"/>
                  <a:t> incorrect basis </a:t>
                </a:r>
                <a:r>
                  <a:rPr lang="en-US" sz="1200" i="0">
                    <a:latin typeface="Cambria Math" panose="02040503050406030204" pitchFamily="18" charset="0"/>
                    <a:ea typeface="Cambria Math" panose="02040503050406030204" pitchFamily="18" charset="0"/>
                  </a:rPr>
                  <a:t>× </a:t>
                </a:r>
                <a:r>
                  <a:rPr lang="en-US" sz="1200" i="0">
                    <a:latin typeface="Cambria Math" panose="02040503050406030204" pitchFamily="18" charset="0"/>
                  </a:rPr>
                  <a:t> 1/2</a:t>
                </a:r>
                <a:r>
                  <a:rPr lang="en-ZA" sz="1200" dirty="0"/>
                  <a:t>  </a:t>
                </a:r>
                <a:r>
                  <a:rPr lang="en-US" sz="1200" i="0">
                    <a:latin typeface="Cambria Math" panose="02040503050406030204" pitchFamily="18" charset="0"/>
                  </a:rPr>
                  <a:t>=</a:t>
                </a:r>
                <a:r>
                  <a:rPr lang="en-US" dirty="0"/>
                  <a:t> </a:t>
                </a:r>
                <a:r>
                  <a:rPr lang="en-US" sz="1200" b="0" i="0">
                    <a:latin typeface="Cambria Math" panose="02040503050406030204" pitchFamily="18" charset="0"/>
                  </a:rPr>
                  <a:t>1/2  </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 1+</a:t>
                </a:r>
                <a:r>
                  <a:rPr lang="en-US" sz="1200" i="0">
                    <a:latin typeface="Cambria Math" panose="02040503050406030204" pitchFamily="18" charset="0"/>
                  </a:rPr>
                  <a:t>1/2  </a:t>
                </a:r>
                <a:r>
                  <a:rPr lang="en-US" sz="1200" i="0">
                    <a:latin typeface="Cambria Math" panose="02040503050406030204" pitchFamily="18" charset="0"/>
                    <a:ea typeface="Cambria Math" panose="02040503050406030204" pitchFamily="18" charset="0"/>
                  </a:rPr>
                  <a:t>× </a:t>
                </a:r>
                <a:r>
                  <a:rPr lang="en-US" sz="1200" i="0">
                    <a:latin typeface="Cambria Math" panose="02040503050406030204" pitchFamily="18" charset="0"/>
                  </a:rPr>
                  <a:t> 1/2=  3/4</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1" dirty="0"/>
                  <a:t>Multiple Qubits:</a:t>
                </a:r>
                <a:r>
                  <a:rPr lang="en-ZA" dirty="0"/>
                  <a:t> When guessing the states of </a:t>
                </a:r>
                <a:r>
                  <a:rPr lang="sr-Latn-RS" sz="1200" i="0">
                    <a:latin typeface="Cambria Math" panose="02040503050406030204" pitchFamily="18" charset="0"/>
                  </a:rPr>
                  <a:t>𝑛</a:t>
                </a:r>
                <a:r>
                  <a:rPr lang="en-ZA" dirty="0"/>
                  <a:t> qubits independently, the probability of guessing all </a:t>
                </a:r>
                <a:r>
                  <a:rPr lang="sr-Latn-RS" sz="1200" i="0">
                    <a:latin typeface="Cambria Math" panose="02040503050406030204" pitchFamily="18" charset="0"/>
                  </a:rPr>
                  <a:t>𝑛</a:t>
                </a:r>
                <a:r>
                  <a:rPr lang="en-ZA" dirty="0"/>
                  <a:t> qubits correctly is the product of the individual probabilities: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ZA" sz="1200" i="0">
                    <a:latin typeface="Cambria Math" panose="02040503050406030204" pitchFamily="18" charset="0"/>
                  </a:rPr>
                  <a:t>(</a:t>
                </a:r>
                <a:r>
                  <a:rPr lang="sr-Latn-RS" sz="1200" i="0">
                    <a:latin typeface="Cambria Math" panose="02040503050406030204" pitchFamily="18" charset="0"/>
                  </a:rPr>
                  <a:t>3/4)</a:t>
                </a:r>
                <a:r>
                  <a:rPr lang="en-ZA" sz="1200" i="0">
                    <a:latin typeface="Cambria Math" panose="02040503050406030204" pitchFamily="18" charset="0"/>
                  </a:rPr>
                  <a:t>^</a:t>
                </a:r>
                <a:r>
                  <a:rPr lang="sr-Latn-RS" sz="1200" i="0">
                    <a:latin typeface="Cambria Math" panose="02040503050406030204" pitchFamily="18" charset="0"/>
                  </a:rPr>
                  <a:t>𝑛</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36890657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One important application of quantum cryptography is secure quantum computing. The idea is to allow a user to run a quantum program on a remote cloud quantum computer while keeping the input data and computation results private, even from the cloud provider itself. This could be particularly important when working with sensitive information, such as DNA data, new materials, or financial data.</a:t>
            </a:r>
          </a:p>
          <a:p>
            <a:pPr algn="just"/>
            <a:endParaRPr lang="en-ZA" b="0" dirty="0"/>
          </a:p>
          <a:p>
            <a:pPr algn="just"/>
            <a:r>
              <a:rPr lang="en-ZA" b="0" dirty="0"/>
              <a:t>For example, suppose Alice has a small quantum device but needs a more powerful cloud quantum computer to run her program. She wants to keep her data private from Bob, who operates the quantum computer, as well as from Eve, who might intercept their communication.</a:t>
            </a:r>
          </a:p>
          <a:p>
            <a:pPr algn="just"/>
            <a:endParaRPr lang="en-ZA" b="0" dirty="0"/>
          </a:p>
          <a:p>
            <a:pPr algn="just"/>
            <a:r>
              <a:rPr lang="en-ZA" dirty="0"/>
              <a:t>In this example</a:t>
            </a:r>
            <a:r>
              <a:rPr lang="en-ZA" b="0" dirty="0"/>
              <a:t>, Alice hides her quantum data using only three standard operations: Z, X, and SWAP. Bob then performs the computation on the hidden data using the gates H, T, and CNOT, followed by measurement.</a:t>
            </a:r>
          </a:p>
          <a:p>
            <a:pPr algn="just"/>
            <a:endParaRPr lang="en-ZA" b="0" dirty="0"/>
          </a:p>
          <a:p>
            <a:pPr algn="just"/>
            <a:endParaRPr lang="en-US" sz="1200" dirty="0"/>
          </a:p>
          <a:p>
            <a:pPr algn="just"/>
            <a:r>
              <a:rPr lang="en-US" sz="1200" dirty="0"/>
              <a:t>Reference</a:t>
            </a:r>
          </a:p>
          <a:p>
            <a:pPr algn="l"/>
            <a:r>
              <a:rPr lang="en-US" sz="1200" dirty="0"/>
              <a:t>Secure assisted quantum computation, AM Childs,  </a:t>
            </a:r>
            <a:r>
              <a:rPr lang="en-US" sz="1200" dirty="0" err="1"/>
              <a:t>arXiv</a:t>
            </a:r>
            <a:r>
              <a:rPr lang="en-US" sz="1200" dirty="0"/>
              <a:t> preprint quant-</a:t>
            </a:r>
            <a:r>
              <a:rPr lang="en-US" sz="1200" dirty="0" err="1"/>
              <a:t>ph</a:t>
            </a:r>
            <a:r>
              <a:rPr lang="en-US" sz="1200" dirty="0"/>
              <a:t>/0111046, 2001, https://</a:t>
            </a:r>
            <a:r>
              <a:rPr lang="en-US" sz="1200" dirty="0" err="1"/>
              <a:t>arxiv.org</a:t>
            </a:r>
            <a:r>
              <a:rPr lang="en-US" sz="1200" dirty="0"/>
              <a:t>/pdf/quant-</a:t>
            </a:r>
            <a:r>
              <a:rPr lang="en-US" sz="1200" dirty="0" err="1"/>
              <a:t>ph</a:t>
            </a:r>
            <a:r>
              <a:rPr lang="en-US" sz="1200" dirty="0"/>
              <a:t>/0111046.pdf</a:t>
            </a:r>
          </a:p>
        </p:txBody>
      </p:sp>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38959962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To keep the measurement private, Alice generates two random bits, </a:t>
                </a:r>
                <a14:m>
                  <m:oMath xmlns:m="http://schemas.openxmlformats.org/officeDocument/2006/math">
                    <m:r>
                      <a:rPr lang="en-US" sz="1200" b="0" i="1" smtClean="0">
                        <a:latin typeface="Cambria Math" panose="02040503050406030204" pitchFamily="18" charset="0"/>
                      </a:rPr>
                      <m:t>𝑗</m:t>
                    </m:r>
                  </m:oMath>
                </a14:m>
                <a:r>
                  <a:rPr lang="en-ZA" dirty="0"/>
                  <a:t> and </a:t>
                </a:r>
                <a14:m>
                  <m:oMath xmlns:m="http://schemas.openxmlformats.org/officeDocument/2006/math">
                    <m:r>
                      <a:rPr lang="en-US" sz="1200" b="0" i="1" smtClean="0">
                        <a:latin typeface="Cambria Math" panose="02040503050406030204" pitchFamily="18" charset="0"/>
                      </a:rPr>
                      <m:t>𝑘</m:t>
                    </m:r>
                  </m:oMath>
                </a14:m>
                <a:r>
                  <a:rPr lang="en-ZA" dirty="0"/>
                  <a:t>, and uses them to encrypt the qubit before sending it to Bob.</a:t>
                </a:r>
              </a:p>
              <a:p>
                <a:endParaRPr lang="en-ZA" dirty="0"/>
              </a:p>
              <a:p>
                <a:r>
                  <a:rPr lang="en-ZA" dirty="0"/>
                  <a:t>If </a:t>
                </a:r>
                <a14:m>
                  <m:oMath xmlns:m="http://schemas.openxmlformats.org/officeDocument/2006/math">
                    <m:r>
                      <a:rPr lang="en-US" sz="1200" b="0" i="1" smtClean="0">
                        <a:latin typeface="Cambria Math" panose="02040503050406030204" pitchFamily="18" charset="0"/>
                      </a:rPr>
                      <m:t>𝑗</m:t>
                    </m:r>
                    <m:r>
                      <a:rPr lang="en-US" sz="1200" b="0" i="1" smtClean="0">
                        <a:latin typeface="Cambria Math" panose="02040503050406030204" pitchFamily="18" charset="0"/>
                      </a:rPr>
                      <m:t>=1</m:t>
                    </m:r>
                  </m:oMath>
                </a14:m>
                <a:r>
                  <a:rPr lang="en-ZA" dirty="0"/>
                  <a:t>, she applies the Pauli X gate, which swaps the amplitudes of ∣0⟩ and ∣1⟩. </a:t>
                </a:r>
              </a:p>
              <a:p>
                <a:r>
                  <a:rPr lang="en-ZA" dirty="0"/>
                  <a:t>If </a:t>
                </a:r>
                <a14:m>
                  <m:oMath xmlns:m="http://schemas.openxmlformats.org/officeDocument/2006/math">
                    <m:r>
                      <a:rPr lang="en-US" sz="1200" b="0" i="1" smtClean="0">
                        <a:latin typeface="Cambria Math" panose="02040503050406030204" pitchFamily="18" charset="0"/>
                      </a:rPr>
                      <m:t>𝑘</m:t>
                    </m:r>
                    <m:r>
                      <a:rPr lang="en-US" sz="1200" b="0" i="1" smtClean="0">
                        <a:latin typeface="Cambria Math" panose="02040503050406030204" pitchFamily="18" charset="0"/>
                      </a:rPr>
                      <m:t>=1</m:t>
                    </m:r>
                  </m:oMath>
                </a14:m>
                <a:r>
                  <a:rPr lang="en-ZA" dirty="0"/>
                  <a:t>, she applies the Pauli Z gate, which changes their relative phase. </a:t>
                </a:r>
              </a:p>
              <a:p>
                <a:endParaRPr lang="en-ZA" dirty="0"/>
              </a:p>
              <a:p>
                <a:r>
                  <a:rPr lang="en-ZA" dirty="0"/>
                  <a:t>Although Z changes the quantum state, it does not change the probabilities of measuring 0 or 1 in the computational basis. Since Bob does not know </a:t>
                </a:r>
                <a14:m>
                  <m:oMath xmlns:m="http://schemas.openxmlformats.org/officeDocument/2006/math">
                    <m:r>
                      <a:rPr lang="en-US" sz="1200" b="0" i="1" smtClean="0">
                        <a:latin typeface="Cambria Math" panose="02040503050406030204" pitchFamily="18" charset="0"/>
                      </a:rPr>
                      <m:t>𝑗</m:t>
                    </m:r>
                  </m:oMath>
                </a14:m>
                <a:r>
                  <a:rPr lang="en-ZA" dirty="0"/>
                  <a:t> and </a:t>
                </a:r>
                <a14:m>
                  <m:oMath xmlns:m="http://schemas.openxmlformats.org/officeDocument/2006/math">
                    <m:r>
                      <a:rPr lang="en-US" sz="1200" b="0" i="1" smtClean="0">
                        <a:latin typeface="Cambria Math" panose="02040503050406030204" pitchFamily="18" charset="0"/>
                      </a:rPr>
                      <m:t>𝑘</m:t>
                    </m:r>
                  </m:oMath>
                </a14:m>
                <a:r>
                  <a:rPr lang="en-ZA" dirty="0"/>
                  <a:t>, the encrypted qubit reveals no information about Alice's original state.</a:t>
                </a:r>
              </a:p>
              <a:p>
                <a:endParaRPr lang="en-ZA" dirty="0"/>
              </a:p>
              <a:p>
                <a:r>
                  <a:rPr lang="en-ZA" b="0" dirty="0"/>
                  <a:t>Bob then measures the qubit and sends the classical result back to Alice. If </a:t>
                </a:r>
                <a14:m>
                  <m:oMath xmlns:m="http://schemas.openxmlformats.org/officeDocument/2006/math">
                    <m:r>
                      <a:rPr lang="en-US" sz="1200" b="0" i="1" smtClean="0">
                        <a:latin typeface="Cambria Math" panose="02040503050406030204" pitchFamily="18" charset="0"/>
                      </a:rPr>
                      <m:t>𝑗</m:t>
                    </m:r>
                    <m:r>
                      <a:rPr lang="en-US" sz="1200" b="0" i="1" smtClean="0">
                        <a:latin typeface="Cambria Math" panose="02040503050406030204" pitchFamily="18" charset="0"/>
                      </a:rPr>
                      <m:t>=1</m:t>
                    </m:r>
                  </m:oMath>
                </a14:m>
                <a:r>
                  <a:rPr lang="en-ZA" b="0" dirty="0"/>
                  <a:t>, Alice simply flips the result bit; </a:t>
                </a:r>
                <a14:m>
                  <m:oMath xmlns:m="http://schemas.openxmlformats.org/officeDocument/2006/math">
                    <m:r>
                      <a:rPr lang="en-US" sz="1200" b="0" i="1" smtClean="0">
                        <a:latin typeface="Cambria Math" panose="02040503050406030204" pitchFamily="18" charset="0"/>
                      </a:rPr>
                      <m:t>𝑗</m:t>
                    </m:r>
                    <m:r>
                      <a:rPr lang="en-US" sz="1200" b="0" i="1" smtClean="0">
                        <a:latin typeface="Cambria Math" panose="02040503050406030204" pitchFamily="18" charset="0"/>
                      </a:rPr>
                      <m:t>=0</m:t>
                    </m:r>
                  </m:oMath>
                </a14:m>
                <a:r>
                  <a:rPr lang="en-ZA" b="0" dirty="0"/>
                  <a:t>, she leaves it unchanged. In this way, she recovers the correct measurement result.</a:t>
                </a:r>
              </a:p>
            </p:txBody>
          </p:sp>
        </mc:Choice>
        <mc:Fallback xmlns="">
          <p:sp>
            <p:nvSpPr>
              <p:cNvPr id="3" name="Notes Placeholder 2"/>
              <p:cNvSpPr>
                <a:spLocks noGrp="1"/>
              </p:cNvSpPr>
              <p:nvPr>
                <p:ph type="body" idx="1"/>
              </p:nvPr>
            </p:nvSpPr>
            <p:spPr/>
            <p:txBody>
              <a:bodyPr/>
              <a:lstStyle/>
              <a:p>
                <a:pPr algn="just"/>
                <a:r>
                  <a:rPr lang="en-ZA" b="0" dirty="0"/>
                  <a:t>To ensure secure measurement, Alice generates two random bits, </a:t>
                </a:r>
                <a:r>
                  <a:rPr lang="en-US" b="0" i="0">
                    <a:latin typeface="Cambria Math" panose="02040503050406030204" pitchFamily="18" charset="0"/>
                  </a:rPr>
                  <a:t>𝑗</a:t>
                </a:r>
                <a:r>
                  <a:rPr lang="en-ZA" b="0" dirty="0"/>
                  <a:t> and </a:t>
                </a:r>
                <a:r>
                  <a:rPr lang="en-US" b="0" i="0">
                    <a:latin typeface="Cambria Math" panose="02040503050406030204" pitchFamily="18" charset="0"/>
                  </a:rPr>
                  <a:t>𝑘</a:t>
                </a:r>
                <a:r>
                  <a:rPr lang="en-ZA" b="0" dirty="0"/>
                  <a:t>, which she uses to encode the quantum state of the qubit she wants to measure.</a:t>
                </a:r>
              </a:p>
              <a:p>
                <a:pPr algn="just"/>
                <a:endParaRPr lang="en-ZA" b="0" dirty="0"/>
              </a:p>
              <a:p>
                <a:pPr marL="171450" indent="-171450" algn="l">
                  <a:buFont typeface="Arial" panose="020B0604020202020204" pitchFamily="34" charset="0"/>
                  <a:buChar char="•"/>
                </a:pPr>
                <a:r>
                  <a:rPr lang="en-ZA" b="0" dirty="0"/>
                  <a:t>If </a:t>
                </a:r>
                <a:r>
                  <a:rPr lang="en-US" b="0" i="0">
                    <a:latin typeface="Cambria Math" panose="02040503050406030204" pitchFamily="18" charset="0"/>
                  </a:rPr>
                  <a:t>𝑗=1</a:t>
                </a:r>
                <a:r>
                  <a:rPr lang="en-ZA" b="0" dirty="0"/>
                  <a:t>, she applies the Pauli X operator to flip the amplitudes of the superposition.</a:t>
                </a:r>
              </a:p>
              <a:p>
                <a:pPr marL="171450" indent="-171450" algn="l">
                  <a:buFont typeface="Arial" panose="020B0604020202020204" pitchFamily="34" charset="0"/>
                  <a:buChar char="•"/>
                </a:pPr>
                <a:r>
                  <a:rPr lang="en-ZA" b="0" dirty="0"/>
                  <a:t>If </a:t>
                </a:r>
                <a:r>
                  <a:rPr lang="en-US" b="0" i="0">
                    <a:latin typeface="Cambria Math" panose="02040503050406030204" pitchFamily="18" charset="0"/>
                  </a:rPr>
                  <a:t>𝑘=1</a:t>
                </a:r>
                <a:r>
                  <a:rPr lang="en-ZA" b="0" dirty="0"/>
                  <a:t>, she applies the Pauli Z operator, introducing a relative phase shift (a minus sign).</a:t>
                </a:r>
                <a:br>
                  <a:rPr lang="en-ZA" b="0" dirty="0"/>
                </a:br>
                <a:endParaRPr lang="en-ZA" b="0" dirty="0"/>
              </a:p>
              <a:p>
                <a:pPr algn="just"/>
                <a:r>
                  <a:rPr lang="en-ZA" b="0" dirty="0"/>
                  <a:t>Although the Z operator changes the qubit's quantum state, it does not affect the measurement outcome in the computational basis. As a result, Bob receives the qubit in a mixed state, a combination of classical and quantum uncertainty, and cannot extract any meaningful information about its original state.</a:t>
                </a:r>
              </a:p>
              <a:p>
                <a:pPr algn="just"/>
                <a:endParaRPr lang="en-ZA" b="0" dirty="0"/>
              </a:p>
              <a:p>
                <a:pPr algn="just"/>
                <a:r>
                  <a:rPr lang="en-ZA" b="0" dirty="0"/>
                  <a:t>After performing the measurement, Bob sends the result back to Alice.</a:t>
                </a:r>
              </a:p>
              <a:p>
                <a:pPr algn="just"/>
                <a:r>
                  <a:rPr lang="en-ZA" b="0" dirty="0"/>
                  <a:t>If </a:t>
                </a:r>
                <a:r>
                  <a:rPr lang="en-US" b="0" i="0">
                    <a:latin typeface="Cambria Math" panose="02040503050406030204" pitchFamily="18" charset="0"/>
                  </a:rPr>
                  <a:t>𝑗=1</a:t>
                </a:r>
                <a:r>
                  <a:rPr lang="en-ZA" b="0" dirty="0"/>
                  <a:t>, Alice applies the X operator to invert the measured bit and recover the correct outcome.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10017967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In a similar way, Alice can also ensure a </a:t>
            </a:r>
            <a:r>
              <a:rPr lang="en-ZA" b="0" dirty="0"/>
              <a:t>secure Hadamard operation.</a:t>
            </a:r>
          </a:p>
          <a:p>
            <a:endParaRPr lang="en-ZA" dirty="0"/>
          </a:p>
          <a:p>
            <a:r>
              <a:rPr lang="en-ZA" dirty="0"/>
              <a:t>Looking at the complete circuit, the sequence of operations, read from right to left, is ZXHZX. </a:t>
            </a:r>
          </a:p>
          <a:p>
            <a:endParaRPr lang="en-ZA" dirty="0"/>
          </a:p>
          <a:p>
            <a:r>
              <a:rPr lang="en-ZA" dirty="0"/>
              <a:t>Using the identities, HX=ZH, HZ=XH, the additional X and Z operations cancel out, leaving ZXHZX=H. </a:t>
            </a:r>
          </a:p>
          <a:p>
            <a:endParaRPr lang="en-ZA" dirty="0"/>
          </a:p>
          <a:p>
            <a:r>
              <a:rPr lang="en-ZA" dirty="0"/>
              <a:t>So, although the qubit remains hidden from Bob during the computation, the overall effect on Alice's original qubit is exactly the </a:t>
            </a:r>
            <a:r>
              <a:rPr lang="en-ZA" b="0" dirty="0"/>
              <a:t>Hadamard transformation.</a:t>
            </a:r>
          </a:p>
        </p:txBody>
      </p:sp>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21254640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To perform a secure CNOT operation on two qubits in states ∣S1​⟩ and ∣S2​⟩, Alice generates two pairs of random bits. The principle is similar to the previous secure quantum operations.</a:t>
            </a:r>
          </a:p>
          <a:p>
            <a:pPr algn="just"/>
            <a:endParaRPr lang="en-ZA" b="0" dirty="0"/>
          </a:p>
          <a:p>
            <a:pPr algn="just"/>
            <a:r>
              <a:rPr lang="en-ZA" b="0" dirty="0"/>
              <a:t>The first pair, (</a:t>
            </a:r>
            <a:r>
              <a:rPr lang="en-ZA" b="0" dirty="0" err="1"/>
              <a:t>j,k</a:t>
            </a:r>
            <a:r>
              <a:rPr lang="en-ZA" b="0" dirty="0"/>
              <a:t>), is associated with the first qubit, while the second pair, (</a:t>
            </a:r>
            <a:r>
              <a:rPr lang="en-ZA" b="0" dirty="0" err="1"/>
              <a:t>l,m</a:t>
            </a:r>
            <a:r>
              <a:rPr lang="en-ZA" b="0" dirty="0"/>
              <a:t>), is associated with the second qubit. These secret bits determine the operations used to encrypt the two qubits before they are sent to the cloud.</a:t>
            </a:r>
          </a:p>
          <a:p>
            <a:pPr algn="just"/>
            <a:endParaRPr lang="en-ZA" b="0" dirty="0"/>
          </a:p>
          <a:p>
            <a:pPr algn="just"/>
            <a:r>
              <a:rPr lang="en-ZA" b="0" dirty="0"/>
              <a:t>The cloud then performs the CNOT gate on the encrypted qubits. After receiving the result, Alice applies the corresponding decryption operations.</a:t>
            </a:r>
          </a:p>
          <a:p>
            <a:pPr algn="just"/>
            <a:endParaRPr lang="en-ZA" b="0" dirty="0"/>
          </a:p>
          <a:p>
            <a:pPr algn="just"/>
            <a:r>
              <a:rPr lang="en-ZA" b="0" dirty="0"/>
              <a:t>It can be shown mathematically that the encryption and decryption operations cancel appropriately, leaving the overall transformation equivalent to applying a CNOT gate directly to Alice's original qubits.</a:t>
            </a:r>
          </a:p>
        </p:txBody>
      </p:sp>
      <p:sp>
        <p:nvSpPr>
          <p:cNvPr id="4" name="Slide Number Placeholder 3"/>
          <p:cNvSpPr>
            <a:spLocks noGrp="1"/>
          </p:cNvSpPr>
          <p:nvPr>
            <p:ph type="sldNum" sz="quarter" idx="5"/>
          </p:nvPr>
        </p:nvSpPr>
        <p:spPr/>
        <p:txBody>
          <a:bodyPr/>
          <a:lstStyle/>
          <a:p>
            <a:fld id="{965A8710-8889-7541-9BF7-E78AD03A798D}" type="slidenum">
              <a:rPr lang="en-US" smtClean="0"/>
              <a:t>31</a:t>
            </a:fld>
            <a:endParaRPr lang="en-US"/>
          </a:p>
        </p:txBody>
      </p:sp>
    </p:spTree>
    <p:extLst>
      <p:ext uri="{BB962C8B-B14F-4D97-AF65-F5344CB8AC3E}">
        <p14:creationId xmlns:p14="http://schemas.microsoft.com/office/powerpoint/2010/main" val="31462141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 additional layer of security is provided by blind quantum computation.</a:t>
            </a:r>
          </a:p>
          <a:p>
            <a:pPr algn="just"/>
            <a:endParaRPr lang="en-ZA" b="0" dirty="0"/>
          </a:p>
          <a:p>
            <a:pPr algn="just"/>
            <a:r>
              <a:rPr lang="en-ZA" b="0" dirty="0"/>
              <a:t>The idea is that the quantum server performs the computation without learning the client's input data, the operations being performed, the intermediate results, or the final output.</a:t>
            </a:r>
          </a:p>
          <a:p>
            <a:pPr algn="just"/>
            <a:endParaRPr lang="en-ZA" b="0" dirty="0"/>
          </a:p>
          <a:p>
            <a:pPr algn="just"/>
            <a:r>
              <a:rPr lang="en-ZA" b="0" dirty="0"/>
              <a:t>Blind computation can also be made verifiable, allowing the client to check whether the server performed the computation correctly. One approach is to hide special trap qubits within the computation. The server does not know which qubits are traps, so any attempt to modify or interfere with the computation has a chance of disturbing them and revealing the tampering.</a:t>
            </a:r>
          </a:p>
          <a:p>
            <a:pPr algn="just"/>
            <a:endParaRPr lang="en-ZA" b="0" dirty="0"/>
          </a:p>
          <a:p>
            <a:pPr algn="just"/>
            <a:r>
              <a:rPr lang="en-ZA" b="0" dirty="0"/>
              <a:t>Verification can also be achieved using multiple quantum servers that share entanglement but are not allowed to communicate with each other. Their results can then be used to verify that the requested computation was performed correctly.</a:t>
            </a:r>
          </a:p>
        </p:txBody>
      </p:sp>
      <p:sp>
        <p:nvSpPr>
          <p:cNvPr id="4" name="Slide Number Placeholder 3"/>
          <p:cNvSpPr>
            <a:spLocks noGrp="1"/>
          </p:cNvSpPr>
          <p:nvPr>
            <p:ph type="sldNum" sz="quarter" idx="5"/>
          </p:nvPr>
        </p:nvSpPr>
        <p:spPr/>
        <p:txBody>
          <a:bodyPr/>
          <a:lstStyle/>
          <a:p>
            <a:fld id="{965A8710-8889-7541-9BF7-E78AD03A798D}" type="slidenum">
              <a:rPr lang="en-US" smtClean="0"/>
              <a:t>32</a:t>
            </a:fld>
            <a:endParaRPr lang="en-US"/>
          </a:p>
        </p:txBody>
      </p:sp>
    </p:spTree>
    <p:extLst>
      <p:ext uri="{BB962C8B-B14F-4D97-AF65-F5344CB8AC3E}">
        <p14:creationId xmlns:p14="http://schemas.microsoft.com/office/powerpoint/2010/main" val="3475743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ZA" dirty="0"/>
              <a:t>Today, QKD is the most widely used quantum communication technology and is increasingly being integrated into larger communication networks.</a:t>
            </a:r>
            <a:endParaRPr lang="en-ZA" b="0" dirty="0"/>
          </a:p>
          <a:p>
            <a:endParaRPr lang="en-ZA" b="0" dirty="0"/>
          </a:p>
          <a:p>
            <a:r>
              <a:rPr lang="en-ZA" b="0" dirty="0"/>
              <a:t>In the example shown, the data is still encrypted using AES, but the encryption key is generated and shared using QKD.</a:t>
            </a:r>
          </a:p>
          <a:p>
            <a:endParaRPr lang="en-ZA" b="0" dirty="0"/>
          </a:p>
          <a:p>
            <a:r>
              <a:rPr lang="en-ZA" b="0" dirty="0"/>
              <a:t>This is achieved by adding QKD devices connected through an optical quantum channel, while most of the existing classical network infrastructure remains unchanged.</a:t>
            </a:r>
          </a:p>
        </p:txBody>
      </p:sp>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24634107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a:t>The other widely used technology is quantum random number generation (QRNG).</a:t>
            </a:r>
          </a:p>
          <a:p>
            <a:pPr algn="just"/>
            <a:endParaRPr lang="en-ZA" b="0" dirty="0"/>
          </a:p>
          <a:p>
            <a:pPr algn="just"/>
            <a:r>
              <a:rPr lang="en-ZA" b="0" dirty="0"/>
              <a:t>For example, Samsung's Galaxy Quantum smartphones include a small quantum random number generator, or QRNG, which produces true random numbers that can be used for cryptographic key generation. </a:t>
            </a:r>
          </a:p>
          <a:p>
            <a:pPr algn="just"/>
            <a:endParaRPr lang="en-ZA" b="0" dirty="0"/>
          </a:p>
          <a:p>
            <a:pPr algn="just"/>
            <a:r>
              <a:rPr lang="en-ZA" b="0" dirty="0"/>
              <a:t>The chip uses an LED as a light source and a CMOS sensor to detect quantum fluctuations in the number of photons. Because this process works at room temperature, no special cooling is required, making the technology small enough to fit inside a smartphone. </a:t>
            </a:r>
          </a:p>
        </p:txBody>
      </p:sp>
      <p:sp>
        <p:nvSpPr>
          <p:cNvPr id="4" name="Slide Number Placeholder 3"/>
          <p:cNvSpPr>
            <a:spLocks noGrp="1"/>
          </p:cNvSpPr>
          <p:nvPr>
            <p:ph type="sldNum" sz="quarter" idx="5"/>
          </p:nvPr>
        </p:nvSpPr>
        <p:spPr/>
        <p:txBody>
          <a:bodyPr/>
          <a:lstStyle/>
          <a:p>
            <a:fld id="{965A8710-8889-7541-9BF7-E78AD03A798D}" type="slidenum">
              <a:rPr lang="en-US" smtClean="0"/>
              <a:t>34</a:t>
            </a:fld>
            <a:endParaRPr lang="en-US"/>
          </a:p>
        </p:txBody>
      </p:sp>
    </p:spTree>
    <p:extLst>
      <p:ext uri="{BB962C8B-B14F-4D97-AF65-F5344CB8AC3E}">
        <p14:creationId xmlns:p14="http://schemas.microsoft.com/office/powerpoint/2010/main" val="842116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20008220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19BAD7-D4B1-4646-B2F1-0F1275438C06}"/>
              </a:ext>
            </a:extLst>
          </p:cNvPr>
          <p:cNvSpPr>
            <a:spLocks noGrp="1"/>
          </p:cNvSpPr>
          <p:nvPr>
            <p:ph type="sldNum" sz="quarter" idx="12"/>
          </p:nvPr>
        </p:nvSpPr>
        <p:spPr>
          <a:xfrm>
            <a:off x="13063" y="6481989"/>
            <a:ext cx="596538" cy="365125"/>
          </a:xfrm>
        </p:spPr>
        <p:txBody>
          <a:bodyPr/>
          <a:lstStyle>
            <a:lvl1pPr algn="l">
              <a:defRPr/>
            </a:lvl1pPr>
          </a:lstStyle>
          <a:p>
            <a:fld id="{F9755F1A-B9A0-4847-95B6-A26175A266D6}" type="slidenum">
              <a:rPr lang="en-US" smtClean="0"/>
              <a:pPr/>
              <a:t>‹#›</a:t>
            </a:fld>
            <a:endParaRPr lang="en-US"/>
          </a:p>
        </p:txBody>
      </p:sp>
      <p:sp>
        <p:nvSpPr>
          <p:cNvPr id="5" name="Title 1">
            <a:extLst>
              <a:ext uri="{FF2B5EF4-FFF2-40B4-BE49-F238E27FC236}">
                <a16:creationId xmlns:a16="http://schemas.microsoft.com/office/drawing/2014/main" id="{9597F359-8EEF-B34E-908B-EA6295880535}"/>
              </a:ext>
            </a:extLst>
          </p:cNvPr>
          <p:cNvSpPr>
            <a:spLocks noGrp="1"/>
          </p:cNvSpPr>
          <p:nvPr>
            <p:ph type="title"/>
          </p:nvPr>
        </p:nvSpPr>
        <p:spPr>
          <a:xfrm>
            <a:off x="0" y="0"/>
            <a:ext cx="12192000" cy="928688"/>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pic>
        <p:nvPicPr>
          <p:cNvPr id="7" name="Picture 6">
            <a:extLst>
              <a:ext uri="{FF2B5EF4-FFF2-40B4-BE49-F238E27FC236}">
                <a16:creationId xmlns:a16="http://schemas.microsoft.com/office/drawing/2014/main" id="{2B24AF3E-4D16-6C4B-9396-7536498F66EC}"/>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6" name="Picture 5">
            <a:extLst>
              <a:ext uri="{FF2B5EF4-FFF2-40B4-BE49-F238E27FC236}">
                <a16:creationId xmlns:a16="http://schemas.microsoft.com/office/drawing/2014/main" id="{BFD6E725-A8FC-2C49-8432-80967837D973}"/>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2062490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7BCD1-5255-D74E-9D21-B2EAFBCBC9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ED9A7F-E6F1-4046-955C-C937A28450BB}"/>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4" name="Footer Placeholder 3">
            <a:extLst>
              <a:ext uri="{FF2B5EF4-FFF2-40B4-BE49-F238E27FC236}">
                <a16:creationId xmlns:a16="http://schemas.microsoft.com/office/drawing/2014/main" id="{B2C6EF5E-C442-9345-ADBE-914D87FD6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DB521C-39F6-9B4F-A653-FD5EE6C1307E}"/>
              </a:ext>
            </a:extLst>
          </p:cNvPr>
          <p:cNvSpPr>
            <a:spLocks noGrp="1"/>
          </p:cNvSpPr>
          <p:nvPr>
            <p:ph type="sldNum" sz="quarter" idx="12"/>
          </p:nvPr>
        </p:nvSpPr>
        <p:spPr/>
        <p:txBody>
          <a:bodyPr/>
          <a:lstStyle/>
          <a:p>
            <a:fld id="{F9755F1A-B9A0-4847-95B6-A26175A266D6}" type="slidenum">
              <a:rPr lang="en-US" smtClean="0"/>
              <a:t>‹#›</a:t>
            </a:fld>
            <a:endParaRPr lang="en-US"/>
          </a:p>
        </p:txBody>
      </p:sp>
      <p:sp>
        <p:nvSpPr>
          <p:cNvPr id="6" name="Slide Number Placeholder 3">
            <a:extLst>
              <a:ext uri="{FF2B5EF4-FFF2-40B4-BE49-F238E27FC236}">
                <a16:creationId xmlns:a16="http://schemas.microsoft.com/office/drawing/2014/main" id="{0EBB1E2B-8DF0-3746-AB4F-7698BA21D728}"/>
              </a:ext>
            </a:extLst>
          </p:cNvPr>
          <p:cNvSpPr txBox="1">
            <a:spLocks/>
          </p:cNvSpPr>
          <p:nvPr userDrawn="1"/>
        </p:nvSpPr>
        <p:spPr>
          <a:xfrm>
            <a:off x="13063" y="6481989"/>
            <a:ext cx="596538"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9755F1A-B9A0-4847-95B6-A26175A266D6}" type="slidenum">
              <a:rPr lang="en-US" smtClean="0"/>
              <a:pPr/>
              <a:t>‹#›</a:t>
            </a:fld>
            <a:endParaRPr lang="en-US"/>
          </a:p>
        </p:txBody>
      </p:sp>
      <p:pic>
        <p:nvPicPr>
          <p:cNvPr id="7" name="Picture 6">
            <a:extLst>
              <a:ext uri="{FF2B5EF4-FFF2-40B4-BE49-F238E27FC236}">
                <a16:creationId xmlns:a16="http://schemas.microsoft.com/office/drawing/2014/main" id="{BFCE5BD8-D42A-B541-B469-DA3F0F1ADC60}"/>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4009214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70F27-9F47-B842-AC30-222F6CFD8A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6FA2DB-E4D1-124A-AD5F-35CD76F67E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7006A2-72DF-8645-ACD4-8C0FF485C8F5}"/>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5" name="Footer Placeholder 4">
            <a:extLst>
              <a:ext uri="{FF2B5EF4-FFF2-40B4-BE49-F238E27FC236}">
                <a16:creationId xmlns:a16="http://schemas.microsoft.com/office/drawing/2014/main" id="{AF710C8A-8681-EA4E-86DA-136ABEE9D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BAAEF-751B-5641-A7C5-2F0E01648461}"/>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214467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AB754-F62F-2541-9BB2-6BCE6D03DC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C6FBC-CD91-4944-8C8B-AA9378E4A9B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AE06F0-23F8-F546-A89E-673E2C5EF39B}"/>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5" name="Footer Placeholder 4">
            <a:extLst>
              <a:ext uri="{FF2B5EF4-FFF2-40B4-BE49-F238E27FC236}">
                <a16:creationId xmlns:a16="http://schemas.microsoft.com/office/drawing/2014/main" id="{59A92C6D-6ABB-5A4A-A0E4-9690A9B1F6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7DBEE-23A9-F44E-8C77-FD0CB87FB2BF}"/>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325123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A7F07-058F-9348-8391-E2D0DEF6BF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630AC8-EEC0-E94C-A0C6-56C0B680F7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A9794A-774C-4D4A-B1AA-2BBFB04A8EAE}"/>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5" name="Footer Placeholder 4">
            <a:extLst>
              <a:ext uri="{FF2B5EF4-FFF2-40B4-BE49-F238E27FC236}">
                <a16:creationId xmlns:a16="http://schemas.microsoft.com/office/drawing/2014/main" id="{824CB83F-C1C2-224B-ADCF-4955755B7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2495D-559C-DE4F-A6DF-E588D84E842C}"/>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328272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7A89-9F5F-464C-A8C0-E306555524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FA425D-B226-BA4B-9113-89CB8CD502D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E6A057-662D-B34D-B228-45390970B25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3A4324-8FB5-6643-B2B8-0F3C4677621E}"/>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6" name="Footer Placeholder 5">
            <a:extLst>
              <a:ext uri="{FF2B5EF4-FFF2-40B4-BE49-F238E27FC236}">
                <a16:creationId xmlns:a16="http://schemas.microsoft.com/office/drawing/2014/main" id="{8DC4FB17-1EC3-2540-9AD7-F5FF43D45E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EB9FC6-A399-E141-81F7-EB6DE0CB2203}"/>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4287145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1692-7092-0645-AFD0-813D278ED2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1B3D8B-8A39-3649-8CA7-E2D90B012E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8C29F7-6007-2342-9354-62793F3CC71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110FC7-2226-2942-BEA9-8118A43787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ADFB3D8-8A00-624C-95C9-281162B7706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322EDC-63AB-2743-A710-F259A2320D7D}"/>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8" name="Footer Placeholder 7">
            <a:extLst>
              <a:ext uri="{FF2B5EF4-FFF2-40B4-BE49-F238E27FC236}">
                <a16:creationId xmlns:a16="http://schemas.microsoft.com/office/drawing/2014/main" id="{F040F29C-6B97-DF4A-9DA4-B49D67F1F9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BED92F-7961-0348-8573-9ECD665D6FC2}"/>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1739819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9B9E-1824-FB44-90C3-9DA1DC26B7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18F6E0-F878-3543-8AAA-6FD278EA80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57F350-E82C-C043-B7FE-B354410745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0501A10-A486-FA43-8B87-FDB529377881}"/>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6" name="Footer Placeholder 5">
            <a:extLst>
              <a:ext uri="{FF2B5EF4-FFF2-40B4-BE49-F238E27FC236}">
                <a16:creationId xmlns:a16="http://schemas.microsoft.com/office/drawing/2014/main" id="{E5B1BD3A-D0A4-C940-964B-76EEB3F35E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E00779-7371-DE46-8A00-E9056F2B72F7}"/>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2910420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247D-4CA7-7F40-B6F8-4F079BF62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50B4AF-FBAC-CA48-9067-6E068214A2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CF2B49-6892-624E-B99A-DD218FA216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A6E1984-BA61-7A42-99C4-CEA000D1F285}"/>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6" name="Footer Placeholder 5">
            <a:extLst>
              <a:ext uri="{FF2B5EF4-FFF2-40B4-BE49-F238E27FC236}">
                <a16:creationId xmlns:a16="http://schemas.microsoft.com/office/drawing/2014/main" id="{96A1D28C-6969-DB43-9133-33479858D0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1C1259-7475-1F46-82FB-9E8EEFE85C4A}"/>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708902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E44F-A03C-344E-BF92-AB341D14C0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9DE3C5-0984-B744-A03D-F54E802201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01E5A0-BEC1-B24E-BC1B-644F0A64950A}"/>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5" name="Footer Placeholder 4">
            <a:extLst>
              <a:ext uri="{FF2B5EF4-FFF2-40B4-BE49-F238E27FC236}">
                <a16:creationId xmlns:a16="http://schemas.microsoft.com/office/drawing/2014/main" id="{2767051B-C01D-1C4C-AE42-814428FCDE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576547-0DF8-7441-B970-42301F7871D3}"/>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1715147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9D7685-363F-FF40-B781-BDF1932389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094383-9AA5-284C-A1AD-2659DB1A17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639CF-574B-4741-AF9E-9B364C91CD1F}"/>
              </a:ext>
            </a:extLst>
          </p:cNvPr>
          <p:cNvSpPr>
            <a:spLocks noGrp="1"/>
          </p:cNvSpPr>
          <p:nvPr>
            <p:ph type="dt" sz="half" idx="10"/>
          </p:nvPr>
        </p:nvSpPr>
        <p:spPr/>
        <p:txBody>
          <a:bodyPr/>
          <a:lstStyle/>
          <a:p>
            <a:fld id="{C7943FDB-3647-5640-9DF6-2BCB120F3D40}" type="datetimeFigureOut">
              <a:rPr lang="en-US" smtClean="0"/>
              <a:t>10/8/26</a:t>
            </a:fld>
            <a:endParaRPr lang="en-US"/>
          </a:p>
        </p:txBody>
      </p:sp>
      <p:sp>
        <p:nvSpPr>
          <p:cNvPr id="5" name="Footer Placeholder 4">
            <a:extLst>
              <a:ext uri="{FF2B5EF4-FFF2-40B4-BE49-F238E27FC236}">
                <a16:creationId xmlns:a16="http://schemas.microsoft.com/office/drawing/2014/main" id="{47371CA4-D916-204B-B74C-6001E60CD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29F4B-4CEE-EE40-9EA8-99EEAE8CA99A}"/>
              </a:ext>
            </a:extLst>
          </p:cNvPr>
          <p:cNvSpPr>
            <a:spLocks noGrp="1"/>
          </p:cNvSpPr>
          <p:nvPr>
            <p:ph type="sldNum" sz="quarter" idx="12"/>
          </p:nvPr>
        </p:nvSpPr>
        <p:spPr/>
        <p:txBody>
          <a:bodyPr/>
          <a:lstStyle/>
          <a:p>
            <a:fld id="{F9755F1A-B9A0-4847-95B6-A26175A266D6}" type="slidenum">
              <a:rPr lang="en-US" smtClean="0"/>
              <a:t>‹#›</a:t>
            </a:fld>
            <a:endParaRPr lang="en-US"/>
          </a:p>
        </p:txBody>
      </p:sp>
    </p:spTree>
    <p:extLst>
      <p:ext uri="{BB962C8B-B14F-4D97-AF65-F5344CB8AC3E}">
        <p14:creationId xmlns:p14="http://schemas.microsoft.com/office/powerpoint/2010/main" val="3259437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10/8/26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4AA9F3A6-7D80-B94D-8AD0-A2E00966DB7A}"/>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720601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DF6086-44A9-1544-B5BA-1C7811C8A9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9A2E07-9D57-0A4E-B654-921F502A82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B1CB09-B030-E941-A6A0-54D450D4A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943FDB-3647-5640-9DF6-2BCB120F3D40}" type="datetimeFigureOut">
              <a:rPr lang="en-US" smtClean="0"/>
              <a:t>10/8/26</a:t>
            </a:fld>
            <a:endParaRPr lang="en-US"/>
          </a:p>
        </p:txBody>
      </p:sp>
      <p:sp>
        <p:nvSpPr>
          <p:cNvPr id="5" name="Footer Placeholder 4">
            <a:extLst>
              <a:ext uri="{FF2B5EF4-FFF2-40B4-BE49-F238E27FC236}">
                <a16:creationId xmlns:a16="http://schemas.microsoft.com/office/drawing/2014/main" id="{580FE173-EFE6-4448-BB06-C4604C19F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7A0217-AE82-FE47-93AC-2450546649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755F1A-B9A0-4847-95B6-A26175A266D6}" type="slidenum">
              <a:rPr lang="en-US" smtClean="0"/>
              <a:t>‹#›</a:t>
            </a:fld>
            <a:endParaRPr lang="en-US"/>
          </a:p>
        </p:txBody>
      </p:sp>
    </p:spTree>
    <p:extLst>
      <p:ext uri="{BB962C8B-B14F-4D97-AF65-F5344CB8AC3E}">
        <p14:creationId xmlns:p14="http://schemas.microsoft.com/office/powerpoint/2010/main" val="3967808015"/>
      </p:ext>
    </p:extLst>
  </p:cSld>
  <p:clrMap bg1="lt1" tx1="dk1" bg2="lt2" tx2="dk2" accent1="accent1" accent2="accent2" accent3="accent3" accent4="accent4" accent5="accent5" accent6="accent6" hlink="hlink" folHlink="folHlink"/>
  <p:sldLayoutIdLst>
    <p:sldLayoutId id="2147483655" r:id="rId1"/>
    <p:sldLayoutId id="2147483654" r:id="rId2"/>
    <p:sldLayoutId id="2147483649" r:id="rId3"/>
    <p:sldLayoutId id="2147483650" r:id="rId4"/>
    <p:sldLayoutId id="2147483651" r:id="rId5"/>
    <p:sldLayoutId id="2147483652" r:id="rId6"/>
    <p:sldLayoutId id="2147483653"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tiff"/></Relationships>
</file>

<file path=ppt/slides/_rels/slide5.xml.rels><?xml version="1.0" encoding="UTF-8" standalone="yes"?>
<Relationships xmlns="http://schemas.openxmlformats.org/package/2006/relationships"><Relationship Id="rId8" Type="http://schemas.openxmlformats.org/officeDocument/2006/relationships/image" Target="../media/image872.png"/><Relationship Id="rId13" Type="http://schemas.openxmlformats.org/officeDocument/2006/relationships/image" Target="../media/image8.png"/><Relationship Id="rId3" Type="http://schemas.openxmlformats.org/officeDocument/2006/relationships/image" Target="../media/image821.png"/><Relationship Id="rId7" Type="http://schemas.openxmlformats.org/officeDocument/2006/relationships/image" Target="../media/image860.png"/><Relationship Id="rId12" Type="http://schemas.openxmlformats.org/officeDocument/2006/relationships/image" Target="../media/image7.png"/><Relationship Id="rId17" Type="http://schemas.openxmlformats.org/officeDocument/2006/relationships/image" Target="../media/image962.png"/><Relationship Id="rId2" Type="http://schemas.openxmlformats.org/officeDocument/2006/relationships/notesSlide" Target="../notesSlides/notesSlide5.xml"/><Relationship Id="rId16" Type="http://schemas.openxmlformats.org/officeDocument/2006/relationships/image" Target="../media/image940.png"/><Relationship Id="rId1" Type="http://schemas.openxmlformats.org/officeDocument/2006/relationships/slideLayout" Target="../slideLayouts/slideLayout1.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1.png"/><Relationship Id="rId15" Type="http://schemas.openxmlformats.org/officeDocument/2006/relationships/image" Target="../media/image930.png"/><Relationship Id="rId10" Type="http://schemas.openxmlformats.org/officeDocument/2006/relationships/image" Target="../media/image89.png"/><Relationship Id="rId4" Type="http://schemas.openxmlformats.org/officeDocument/2006/relationships/image" Target="../media/image830.png"/><Relationship Id="rId9" Type="http://schemas.openxmlformats.org/officeDocument/2006/relationships/image" Target="../media/image882.png"/><Relationship Id="rId14" Type="http://schemas.openxmlformats.org/officeDocument/2006/relationships/image" Target="../media/image921.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s>
</file>

<file path=ppt/slides/_rels/slide9.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3.tiff"/><Relationship Id="rId4" Type="http://schemas.openxmlformats.org/officeDocument/2006/relationships/image" Target="../media/image12.tiff"/></Relationships>
</file>

<file path=ppt/slides/_rels/slide10.xml.rels><?xml version="1.0" encoding="UTF-8" standalone="yes"?>
<Relationships xmlns="http://schemas.openxmlformats.org/package/2006/relationships"><Relationship Id="rId8" Type="http://schemas.openxmlformats.org/officeDocument/2006/relationships/image" Target="../media/image1030.png"/><Relationship Id="rId13" Type="http://schemas.openxmlformats.org/officeDocument/2006/relationships/image" Target="../media/image7.png"/><Relationship Id="rId3" Type="http://schemas.openxmlformats.org/officeDocument/2006/relationships/image" Target="../media/image14.png"/><Relationship Id="rId7" Type="http://schemas.openxmlformats.org/officeDocument/2006/relationships/image" Target="../media/image1021.png"/><Relationship Id="rId12"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11" Type="http://schemas.openxmlformats.org/officeDocument/2006/relationships/image" Target="../media/image16.png"/><Relationship Id="rId10" Type="http://schemas.openxmlformats.org/officeDocument/2006/relationships/image" Target="../media/image10500.png"/><Relationship Id="rId4" Type="http://schemas.openxmlformats.org/officeDocument/2006/relationships/image" Target="../media/image15.png"/><Relationship Id="rId9" Type="http://schemas.openxmlformats.org/officeDocument/2006/relationships/image" Target="../media/image10400.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080.png"/><Relationship Id="rId13" Type="http://schemas.openxmlformats.org/officeDocument/2006/relationships/image" Target="../media/image11300.png"/><Relationship Id="rId18" Type="http://schemas.openxmlformats.org/officeDocument/2006/relationships/image" Target="../media/image1180.png"/><Relationship Id="rId3" Type="http://schemas.openxmlformats.org/officeDocument/2006/relationships/image" Target="../media/image16.png"/><Relationship Id="rId12" Type="http://schemas.openxmlformats.org/officeDocument/2006/relationships/image" Target="../media/image11200.png"/><Relationship Id="rId17" Type="http://schemas.openxmlformats.org/officeDocument/2006/relationships/image" Target="../media/image1170.png"/><Relationship Id="rId2" Type="http://schemas.openxmlformats.org/officeDocument/2006/relationships/notesSlide" Target="../notesSlides/notesSlide11.xml"/><Relationship Id="rId16" Type="http://schemas.openxmlformats.org/officeDocument/2006/relationships/image" Target="../media/image11600.png"/><Relationship Id="rId20" Type="http://schemas.openxmlformats.org/officeDocument/2006/relationships/image" Target="../media/image8.png"/><Relationship Id="rId1" Type="http://schemas.openxmlformats.org/officeDocument/2006/relationships/slideLayout" Target="../slideLayouts/slideLayout2.xml"/><Relationship Id="rId11" Type="http://schemas.openxmlformats.org/officeDocument/2006/relationships/image" Target="../media/image11100.png"/><Relationship Id="rId15" Type="http://schemas.openxmlformats.org/officeDocument/2006/relationships/image" Target="../media/image11500.png"/><Relationship Id="rId10" Type="http://schemas.openxmlformats.org/officeDocument/2006/relationships/image" Target="../media/image18.png"/><Relationship Id="rId19" Type="http://schemas.openxmlformats.org/officeDocument/2006/relationships/image" Target="../media/image7.png"/><Relationship Id="rId4" Type="http://schemas.openxmlformats.org/officeDocument/2006/relationships/image" Target="../media/image17.png"/><Relationship Id="rId9" Type="http://schemas.openxmlformats.org/officeDocument/2006/relationships/image" Target="../media/image10900.png"/><Relationship Id="rId14" Type="http://schemas.openxmlformats.org/officeDocument/2006/relationships/image" Target="../media/image11400.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270.png"/><Relationship Id="rId7" Type="http://schemas.openxmlformats.org/officeDocument/2006/relationships/image" Target="../media/image79.png"/><Relationship Id="rId12"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81.png"/><Relationship Id="rId11" Type="http://schemas.openxmlformats.org/officeDocument/2006/relationships/image" Target="../media/image7.png"/><Relationship Id="rId5" Type="http://schemas.openxmlformats.org/officeDocument/2006/relationships/image" Target="../media/image129.png"/><Relationship Id="rId10" Type="http://schemas.openxmlformats.org/officeDocument/2006/relationships/image" Target="../media/image190.png"/><Relationship Id="rId4" Type="http://schemas.openxmlformats.org/officeDocument/2006/relationships/image" Target="../media/image1280.png"/><Relationship Id="rId9" Type="http://schemas.openxmlformats.org/officeDocument/2006/relationships/image" Target="../media/image1330.png"/></Relationships>
</file>

<file path=ppt/slides/_rels/slide14.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8.png"/><Relationship Id="rId3" Type="http://schemas.openxmlformats.org/officeDocument/2006/relationships/image" Target="../media/image850.png"/><Relationship Id="rId7" Type="http://schemas.openxmlformats.org/officeDocument/2006/relationships/image" Target="NULL"/><Relationship Id="rId12"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11" Type="http://schemas.openxmlformats.org/officeDocument/2006/relationships/image" Target="../media/image22.png"/><Relationship Id="rId10" Type="http://schemas.openxmlformats.org/officeDocument/2006/relationships/image" Target="../media/image22.png"/><Relationship Id="rId9" Type="http://schemas.openxmlformats.org/officeDocument/2006/relationships/image" Target="../media/image211.png"/><Relationship Id="rId1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4.gif"/></Relationships>
</file>

<file path=ppt/slides/_rels/slide16.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8.png"/><Relationship Id="rId3" Type="http://schemas.openxmlformats.org/officeDocument/2006/relationships/image" Target="../media/image840.png"/><Relationship Id="rId7" Type="http://schemas.openxmlformats.org/officeDocument/2006/relationships/image" Target="../media/image141.png"/><Relationship Id="rId12"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11" Type="http://schemas.openxmlformats.org/officeDocument/2006/relationships/image" Target="../media/image27.png"/><Relationship Id="rId10" Type="http://schemas.openxmlformats.org/officeDocument/2006/relationships/image" Target="../media/image144.png"/><Relationship Id="rId9" Type="http://schemas.openxmlformats.org/officeDocument/2006/relationships/image" Target="../media/image143.png"/><Relationship Id="rId14"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image" Target="../media/image901.png"/><Relationship Id="rId3" Type="http://schemas.openxmlformats.org/officeDocument/2006/relationships/image" Target="../media/image28.png"/><Relationship Id="rId7" Type="http://schemas.openxmlformats.org/officeDocument/2006/relationships/image" Target="../media/image89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881.png"/><Relationship Id="rId5" Type="http://schemas.openxmlformats.org/officeDocument/2006/relationships/image" Target="../media/image871.png"/><Relationship Id="rId10" Type="http://schemas.openxmlformats.org/officeDocument/2006/relationships/image" Target="../media/image920.png"/><Relationship Id="rId4" Type="http://schemas.openxmlformats.org/officeDocument/2006/relationships/image" Target="../media/image29.tiff"/><Relationship Id="rId9" Type="http://schemas.openxmlformats.org/officeDocument/2006/relationships/image" Target="../media/image910.png"/></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941.png"/><Relationship Id="rId7" Type="http://schemas.openxmlformats.org/officeDocument/2006/relationships/image" Target="../media/image32.png"/><Relationship Id="rId17" Type="http://schemas.openxmlformats.org/officeDocument/2006/relationships/image" Target="../media/image14.png"/><Relationship Id="rId2" Type="http://schemas.openxmlformats.org/officeDocument/2006/relationships/notesSlide" Target="../notesSlides/notesSlide20.xml"/><Relationship Id="rId16"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31.tiff"/><Relationship Id="rId5" Type="http://schemas.openxmlformats.org/officeDocument/2006/relationships/image" Target="../media/image30.tiff"/><Relationship Id="rId15" Type="http://schemas.openxmlformats.org/officeDocument/2006/relationships/image" Target="../media/image7.png"/><Relationship Id="rId4" Type="http://schemas.openxmlformats.org/officeDocument/2006/relationships/image" Target="../media/image961.png"/><Relationship Id="rId9" Type="http://schemas.openxmlformats.org/officeDocument/2006/relationships/image" Target="../media/image34.png"/><Relationship Id="rId14" Type="http://schemas.openxmlformats.org/officeDocument/2006/relationships/image" Target="../media/image1010.png"/></Relationships>
</file>

<file path=ppt/slides/_rels/slide2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7.png"/><Relationship Id="rId3" Type="http://schemas.openxmlformats.org/officeDocument/2006/relationships/image" Target="../media/image35.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1.xml"/><Relationship Id="rId11" Type="http://schemas.openxmlformats.org/officeDocument/2006/relationships/image" Target="NULL"/><Relationship Id="rId15" Type="http://schemas.openxmlformats.org/officeDocument/2006/relationships/image" Target="../media/image36.png"/><Relationship Id="rId10" Type="http://schemas.openxmlformats.org/officeDocument/2006/relationships/image" Target="NULL"/><Relationship Id="rId9" Type="http://schemas.openxmlformats.org/officeDocument/2006/relationships/image" Target="NULL"/><Relationship Id="rId14" Type="http://schemas.openxmlformats.org/officeDocument/2006/relationships/image" Target="../media/image8.png"/></Relationships>
</file>

<file path=ppt/slides/_rels/slide22.xml.rels><?xml version="1.0" encoding="UTF-8" standalone="yes"?>
<Relationships xmlns="http://schemas.openxmlformats.org/package/2006/relationships"><Relationship Id="rId13" Type="http://schemas.openxmlformats.org/officeDocument/2006/relationships/image" Target="NULL"/><Relationship Id="rId18" Type="http://schemas.openxmlformats.org/officeDocument/2006/relationships/image" Target="NULL"/><Relationship Id="rId26" Type="http://schemas.openxmlformats.org/officeDocument/2006/relationships/image" Target="../media/image38.png"/><Relationship Id="rId21" Type="http://schemas.openxmlformats.org/officeDocument/2006/relationships/image" Target="../media/image361.png"/><Relationship Id="rId34"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5" Type="http://schemas.openxmlformats.org/officeDocument/2006/relationships/image" Target="NULL"/><Relationship Id="rId33" Type="http://schemas.openxmlformats.org/officeDocument/2006/relationships/image" Target="NULL"/><Relationship Id="rId38" Type="http://schemas.openxmlformats.org/officeDocument/2006/relationships/image" Target="../media/image8.png"/><Relationship Id="rId2" Type="http://schemas.openxmlformats.org/officeDocument/2006/relationships/notesSlide" Target="../notesSlides/notesSlide22.xml"/><Relationship Id="rId16" Type="http://schemas.openxmlformats.org/officeDocument/2006/relationships/image" Target="NULL"/><Relationship Id="rId20" Type="http://schemas.openxmlformats.org/officeDocument/2006/relationships/image" Target="../media/image351.png"/><Relationship Id="rId29"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NULL"/><Relationship Id="rId24" Type="http://schemas.openxmlformats.org/officeDocument/2006/relationships/image" Target="NULL"/><Relationship Id="rId32" Type="http://schemas.openxmlformats.org/officeDocument/2006/relationships/image" Target="NULL"/><Relationship Id="rId37" Type="http://schemas.openxmlformats.org/officeDocument/2006/relationships/image" Target="../media/image7.png"/><Relationship Id="rId15" Type="http://schemas.openxmlformats.org/officeDocument/2006/relationships/image" Target="NULL"/><Relationship Id="rId23" Type="http://schemas.openxmlformats.org/officeDocument/2006/relationships/image" Target="../media/image371.png"/><Relationship Id="rId28" Type="http://schemas.openxmlformats.org/officeDocument/2006/relationships/image" Target="NULL"/><Relationship Id="rId36"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31" Type="http://schemas.openxmlformats.org/officeDocument/2006/relationships/image" Target="../media/image40.png"/><Relationship Id="rId9" Type="http://schemas.openxmlformats.org/officeDocument/2006/relationships/image" Target="NULL"/><Relationship Id="rId14" Type="http://schemas.openxmlformats.org/officeDocument/2006/relationships/image" Target="NULL"/><Relationship Id="rId22" Type="http://schemas.openxmlformats.org/officeDocument/2006/relationships/image" Target="NULL"/><Relationship Id="rId27" Type="http://schemas.openxmlformats.org/officeDocument/2006/relationships/image" Target="NULL"/><Relationship Id="rId30" Type="http://schemas.openxmlformats.org/officeDocument/2006/relationships/image" Target="NULL"/><Relationship Id="rId35" Type="http://schemas.openxmlformats.org/officeDocument/2006/relationships/image" Target="NULL"/><Relationship Id="rId8" Type="http://schemas.openxmlformats.org/officeDocument/2006/relationships/image" Target="NULL"/></Relationships>
</file>

<file path=ppt/slides/_rels/slide23.xml.rels><?xml version="1.0" encoding="UTF-8" standalone="yes"?>
<Relationships xmlns="http://schemas.openxmlformats.org/package/2006/relationships"><Relationship Id="rId3" Type="http://schemas.openxmlformats.org/officeDocument/2006/relationships/image" Target="../media/image37.tif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9.tiff"/><Relationship Id="rId4" Type="http://schemas.openxmlformats.org/officeDocument/2006/relationships/image" Target="../media/image187.png"/></Relationships>
</file>

<file path=ppt/slides/_rels/slide25.xml.rels><?xml version="1.0" encoding="UTF-8" standalone="yes"?>
<Relationships xmlns="http://schemas.openxmlformats.org/package/2006/relationships"><Relationship Id="rId8" Type="http://schemas.openxmlformats.org/officeDocument/2006/relationships/image" Target="../media/image1141.png"/><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111.png"/><Relationship Id="rId11" Type="http://schemas.openxmlformats.org/officeDocument/2006/relationships/image" Target="../media/image45.tiff"/><Relationship Id="rId5" Type="http://schemas.openxmlformats.org/officeDocument/2006/relationships/image" Target="../media/image38.tiff"/><Relationship Id="rId10" Type="http://schemas.openxmlformats.org/officeDocument/2006/relationships/image" Target="../media/image44.tiff"/><Relationship Id="rId4" Type="http://schemas.openxmlformats.org/officeDocument/2006/relationships/image" Target="../media/image42.tiff"/><Relationship Id="rId9" Type="http://schemas.openxmlformats.org/officeDocument/2006/relationships/image" Target="../media/image43.tiff"/></Relationships>
</file>

<file path=ppt/slides/_rels/slide26.xml.rels><?xml version="1.0" encoding="UTF-8" standalone="yes"?>
<Relationships xmlns="http://schemas.openxmlformats.org/package/2006/relationships"><Relationship Id="rId8" Type="http://schemas.openxmlformats.org/officeDocument/2006/relationships/image" Target="../media/image290.png"/><Relationship Id="rId13" Type="http://schemas.openxmlformats.org/officeDocument/2006/relationships/image" Target="../media/image1710.png"/><Relationship Id="rId18" Type="http://schemas.openxmlformats.org/officeDocument/2006/relationships/image" Target="../media/image220.png"/><Relationship Id="rId26" Type="http://schemas.openxmlformats.org/officeDocument/2006/relationships/image" Target="../media/image340.png"/><Relationship Id="rId3" Type="http://schemas.openxmlformats.org/officeDocument/2006/relationships/image" Target="../media/image240.png"/><Relationship Id="rId21" Type="http://schemas.openxmlformats.org/officeDocument/2006/relationships/image" Target="../media/image270.png"/><Relationship Id="rId12" Type="http://schemas.openxmlformats.org/officeDocument/2006/relationships/image" Target="../media/image1610.png"/><Relationship Id="rId17" Type="http://schemas.openxmlformats.org/officeDocument/2006/relationships/image" Target="../media/image210.png"/><Relationship Id="rId25" Type="http://schemas.openxmlformats.org/officeDocument/2006/relationships/image" Target="../media/image330.png"/><Relationship Id="rId2" Type="http://schemas.openxmlformats.org/officeDocument/2006/relationships/notesSlide" Target="../notesSlides/notesSlide26.xml"/><Relationship Id="rId16" Type="http://schemas.openxmlformats.org/officeDocument/2006/relationships/image" Target="../media/image1181.png"/><Relationship Id="rId20" Type="http://schemas.openxmlformats.org/officeDocument/2006/relationships/image" Target="../media/image260.png"/><Relationship Id="rId29" Type="http://schemas.openxmlformats.org/officeDocument/2006/relationships/image" Target="../media/image370.png"/><Relationship Id="rId1" Type="http://schemas.openxmlformats.org/officeDocument/2006/relationships/slideLayout" Target="../slideLayouts/slideLayout1.xml"/><Relationship Id="rId6" Type="http://schemas.openxmlformats.org/officeDocument/2006/relationships/image" Target="../media/image131.png"/><Relationship Id="rId24" Type="http://schemas.openxmlformats.org/officeDocument/2006/relationships/image" Target="../media/image321.png"/><Relationship Id="rId5" Type="http://schemas.openxmlformats.org/officeDocument/2006/relationships/image" Target="../media/image1240.png"/><Relationship Id="rId15" Type="http://schemas.openxmlformats.org/officeDocument/2006/relationships/image" Target="../media/image1171.png"/><Relationship Id="rId23" Type="http://schemas.openxmlformats.org/officeDocument/2006/relationships/image" Target="../media/image310.png"/><Relationship Id="rId28" Type="http://schemas.openxmlformats.org/officeDocument/2006/relationships/image" Target="../media/image360.png"/><Relationship Id="rId19" Type="http://schemas.openxmlformats.org/officeDocument/2006/relationships/image" Target="../media/image230.png"/><Relationship Id="rId4" Type="http://schemas.openxmlformats.org/officeDocument/2006/relationships/image" Target="../media/image250.png"/><Relationship Id="rId9" Type="http://schemas.openxmlformats.org/officeDocument/2006/relationships/image" Target="../media/image300.png"/><Relationship Id="rId14" Type="http://schemas.openxmlformats.org/officeDocument/2006/relationships/image" Target="../media/image1850.png"/><Relationship Id="rId22" Type="http://schemas.openxmlformats.org/officeDocument/2006/relationships/image" Target="../media/image281.png"/><Relationship Id="rId27" Type="http://schemas.openxmlformats.org/officeDocument/2006/relationships/image" Target="../media/image350.png"/><Relationship Id="rId30" Type="http://schemas.openxmlformats.org/officeDocument/2006/relationships/image" Target="../media/image380.png"/></Relationships>
</file>

<file path=ppt/slides/_rels/slide27.xml.rels><?xml version="1.0" encoding="UTF-8" standalone="yes"?>
<Relationships xmlns="http://schemas.openxmlformats.org/package/2006/relationships"><Relationship Id="rId8" Type="http://schemas.openxmlformats.org/officeDocument/2006/relationships/image" Target="../media/image1200.png"/><Relationship Id="rId13" Type="http://schemas.openxmlformats.org/officeDocument/2006/relationships/image" Target="../media/image900.png"/><Relationship Id="rId3" Type="http://schemas.openxmlformats.org/officeDocument/2006/relationships/image" Target="../media/image46.png"/><Relationship Id="rId7" Type="http://schemas.openxmlformats.org/officeDocument/2006/relationships/image" Target="../media/image122.png"/><Relationship Id="rId12" Type="http://schemas.openxmlformats.org/officeDocument/2006/relationships/image" Target="../media/image8900.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210.png"/><Relationship Id="rId11" Type="http://schemas.openxmlformats.org/officeDocument/2006/relationships/image" Target="../media/image880.png"/><Relationship Id="rId5" Type="http://schemas.openxmlformats.org/officeDocument/2006/relationships/image" Target="../media/image820.png"/><Relationship Id="rId10" Type="http://schemas.openxmlformats.org/officeDocument/2006/relationships/image" Target="../media/image870.png"/><Relationship Id="rId4" Type="http://schemas.openxmlformats.org/officeDocument/2006/relationships/image" Target="../media/image1201.png"/><Relationship Id="rId9" Type="http://schemas.openxmlformats.org/officeDocument/2006/relationships/image" Target="../media/image861.png"/><Relationship Id="rId14" Type="http://schemas.openxmlformats.org/officeDocument/2006/relationships/image" Target="../media/image911.png"/></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7.png"/><Relationship Id="rId7"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9.tiff"/><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49.tiff"/><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48.png"/></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0.png"/><Relationship Id="rId7"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3.tiff"/><Relationship Id="rId5" Type="http://schemas.openxmlformats.org/officeDocument/2006/relationships/image" Target="../media/image52.tiff"/><Relationship Id="rId4" Type="http://schemas.openxmlformats.org/officeDocument/2006/relationships/image" Target="../media/image51.emf"/></Relationships>
</file>

<file path=ppt/slides/_rels/slide34.xml.rels><?xml version="1.0" encoding="UTF-8" standalone="yes"?>
<Relationships xmlns="http://schemas.openxmlformats.org/package/2006/relationships"><Relationship Id="rId3" Type="http://schemas.openxmlformats.org/officeDocument/2006/relationships/image" Target="../media/image54.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56.tiff"/><Relationship Id="rId4" Type="http://schemas.openxmlformats.org/officeDocument/2006/relationships/image" Target="../media/image55.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1" y="2681233"/>
            <a:ext cx="12192000" cy="1015663"/>
          </a:xfrm>
          <a:prstGeom prst="rect">
            <a:avLst/>
          </a:prstGeom>
          <a:noFill/>
        </p:spPr>
        <p:txBody>
          <a:bodyPr wrap="square" rtlCol="0">
            <a:spAutoFit/>
          </a:bodyPr>
          <a:lstStyle/>
          <a:p>
            <a:pPr algn="ctr"/>
            <a:r>
              <a:rPr lang="en-US" sz="6000" b="1" dirty="0">
                <a:solidFill>
                  <a:schemeClr val="bg1"/>
                </a:solidFill>
              </a:rPr>
              <a:t>7. Quantum Cryptography</a:t>
            </a:r>
          </a:p>
        </p:txBody>
      </p:sp>
      <p:sp>
        <p:nvSpPr>
          <p:cNvPr id="9" name="TextBox 8">
            <a:extLst>
              <a:ext uri="{FF2B5EF4-FFF2-40B4-BE49-F238E27FC236}">
                <a16:creationId xmlns:a16="http://schemas.microsoft.com/office/drawing/2014/main" id="{11A4F234-FF9B-EA46-AE54-9DABE86E95F8}"/>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E3847549-CCF5-B049-95E1-6B1A2FA2440D}"/>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2986165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643106-69C6-1844-93DB-54DFE61D2D76}"/>
              </a:ext>
            </a:extLst>
          </p:cNvPr>
          <p:cNvSpPr>
            <a:spLocks noGrp="1"/>
          </p:cNvSpPr>
          <p:nvPr>
            <p:ph type="title"/>
          </p:nvPr>
        </p:nvSpPr>
        <p:spPr/>
        <p:txBody>
          <a:bodyPr/>
          <a:lstStyle/>
          <a:p>
            <a:r>
              <a:rPr lang="en-ZA" dirty="0"/>
              <a:t>The Science of Information Protection</a:t>
            </a:r>
            <a:endParaRPr lang="en-US" dirty="0"/>
          </a:p>
        </p:txBody>
      </p:sp>
      <p:graphicFrame>
        <p:nvGraphicFramePr>
          <p:cNvPr id="5" name="Diagram 4">
            <a:extLst>
              <a:ext uri="{FF2B5EF4-FFF2-40B4-BE49-F238E27FC236}">
                <a16:creationId xmlns:a16="http://schemas.microsoft.com/office/drawing/2014/main" id="{EB88765D-B6F0-FF41-878E-81957996B657}"/>
              </a:ext>
            </a:extLst>
          </p:cNvPr>
          <p:cNvGraphicFramePr/>
          <p:nvPr>
            <p:extLst>
              <p:ext uri="{D42A27DB-BD31-4B8C-83A1-F6EECF244321}">
                <p14:modId xmlns:p14="http://schemas.microsoft.com/office/powerpoint/2010/main" val="3245922881"/>
              </p:ext>
            </p:extLst>
          </p:nvPr>
        </p:nvGraphicFramePr>
        <p:xfrm>
          <a:off x="0" y="1132026"/>
          <a:ext cx="12192000" cy="53667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val 1">
            <a:extLst>
              <a:ext uri="{FF2B5EF4-FFF2-40B4-BE49-F238E27FC236}">
                <a16:creationId xmlns:a16="http://schemas.microsoft.com/office/drawing/2014/main" id="{87373BDE-9D06-8C49-96B6-47C94A1140A5}"/>
              </a:ext>
            </a:extLst>
          </p:cNvPr>
          <p:cNvSpPr/>
          <p:nvPr/>
        </p:nvSpPr>
        <p:spPr>
          <a:xfrm>
            <a:off x="1469569" y="6228329"/>
            <a:ext cx="306000" cy="27044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309FAAF-83E6-6541-A706-88BD8369F417}"/>
              </a:ext>
            </a:extLst>
          </p:cNvPr>
          <p:cNvSpPr/>
          <p:nvPr/>
        </p:nvSpPr>
        <p:spPr>
          <a:xfrm>
            <a:off x="1997526" y="6228329"/>
            <a:ext cx="306000" cy="27044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0C030E4-3E8F-1C44-BEF5-29E0D9B403A1}"/>
              </a:ext>
            </a:extLst>
          </p:cNvPr>
          <p:cNvSpPr/>
          <p:nvPr/>
        </p:nvSpPr>
        <p:spPr>
          <a:xfrm>
            <a:off x="2525483" y="6228329"/>
            <a:ext cx="306000" cy="27044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88266A6-3FA7-6D43-A4BF-1C95902A11C6}"/>
              </a:ext>
            </a:extLst>
          </p:cNvPr>
          <p:cNvSpPr/>
          <p:nvPr/>
        </p:nvSpPr>
        <p:spPr>
          <a:xfrm>
            <a:off x="6536869" y="6163014"/>
            <a:ext cx="306000" cy="270442"/>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554840E-95FE-0B46-8A7C-99F5073CFB4F}"/>
              </a:ext>
            </a:extLst>
          </p:cNvPr>
          <p:cNvSpPr/>
          <p:nvPr/>
        </p:nvSpPr>
        <p:spPr>
          <a:xfrm>
            <a:off x="7064826" y="6163014"/>
            <a:ext cx="306000" cy="270442"/>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DD52D2D-C020-0A46-84AD-BB107EB0F47B}"/>
              </a:ext>
            </a:extLst>
          </p:cNvPr>
          <p:cNvSpPr/>
          <p:nvPr/>
        </p:nvSpPr>
        <p:spPr>
          <a:xfrm>
            <a:off x="7592783" y="6163014"/>
            <a:ext cx="306000" cy="270442"/>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2">
            <a:extLst>
              <a:ext uri="{FF2B5EF4-FFF2-40B4-BE49-F238E27FC236}">
                <a16:creationId xmlns:a16="http://schemas.microsoft.com/office/drawing/2014/main" id="{79C5F65E-E500-0A4D-BE00-047B133F1EC7}"/>
              </a:ext>
            </a:extLst>
          </p:cNvPr>
          <p:cNvSpPr>
            <a:spLocks noGrp="1"/>
          </p:cNvSpPr>
          <p:nvPr>
            <p:ph type="sldNum" sz="quarter" idx="12"/>
          </p:nvPr>
        </p:nvSpPr>
        <p:spPr>
          <a:xfrm>
            <a:off x="13063" y="6481989"/>
            <a:ext cx="596538" cy="365125"/>
          </a:xfrm>
        </p:spPr>
        <p:txBody>
          <a:bodyPr/>
          <a:lstStyle/>
          <a:p>
            <a:fld id="{591A223C-FA10-BC46-A853-03BA373D023C}" type="slidenum">
              <a:rPr lang="en-US" smtClean="0"/>
              <a:t>2</a:t>
            </a:fld>
            <a:endParaRPr lang="en-US"/>
          </a:p>
        </p:txBody>
      </p:sp>
    </p:spTree>
    <p:extLst>
      <p:ext uri="{BB962C8B-B14F-4D97-AF65-F5344CB8AC3E}">
        <p14:creationId xmlns:p14="http://schemas.microsoft.com/office/powerpoint/2010/main" val="2538516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9B917A23-C3AD-1843-9CB0-15E1481CC8AA}"/>
              </a:ext>
            </a:extLst>
          </p:cNvPr>
          <p:cNvGraphicFramePr/>
          <p:nvPr>
            <p:extLst>
              <p:ext uri="{D42A27DB-BD31-4B8C-83A1-F6EECF244321}">
                <p14:modId xmlns:p14="http://schemas.microsoft.com/office/powerpoint/2010/main" val="3511897902"/>
              </p:ext>
            </p:extLst>
          </p:nvPr>
        </p:nvGraphicFramePr>
        <p:xfrm>
          <a:off x="0" y="1190760"/>
          <a:ext cx="6232267" cy="45158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1670882D-F895-6B41-894D-9FAB39A98A71}"/>
              </a:ext>
            </a:extLst>
          </p:cNvPr>
          <p:cNvSpPr>
            <a:spLocks noGrp="1"/>
          </p:cNvSpPr>
          <p:nvPr>
            <p:ph type="sldNum" sz="quarter" idx="12"/>
          </p:nvPr>
        </p:nvSpPr>
        <p:spPr/>
        <p:txBody>
          <a:bodyPr/>
          <a:lstStyle/>
          <a:p>
            <a:fld id="{591A223C-FA10-BC46-A853-03BA373D023C}" type="slidenum">
              <a:rPr lang="en-US" smtClean="0"/>
              <a:t>3</a:t>
            </a:fld>
            <a:endParaRPr lang="en-US"/>
          </a:p>
        </p:txBody>
      </p:sp>
      <p:sp>
        <p:nvSpPr>
          <p:cNvPr id="2" name="Title 1">
            <a:extLst>
              <a:ext uri="{FF2B5EF4-FFF2-40B4-BE49-F238E27FC236}">
                <a16:creationId xmlns:a16="http://schemas.microsoft.com/office/drawing/2014/main" id="{C6037C46-5B8B-EC49-ABDD-63DE21D3C67E}"/>
              </a:ext>
            </a:extLst>
          </p:cNvPr>
          <p:cNvSpPr>
            <a:spLocks noGrp="1"/>
          </p:cNvSpPr>
          <p:nvPr>
            <p:ph type="title"/>
          </p:nvPr>
        </p:nvSpPr>
        <p:spPr/>
        <p:txBody>
          <a:bodyPr>
            <a:normAutofit/>
          </a:bodyPr>
          <a:lstStyle/>
          <a:p>
            <a:r>
              <a:rPr lang="en-US" dirty="0"/>
              <a:t>Cryptography</a:t>
            </a:r>
          </a:p>
        </p:txBody>
      </p:sp>
      <p:pic>
        <p:nvPicPr>
          <p:cNvPr id="17" name="Picture 16">
            <a:extLst>
              <a:ext uri="{FF2B5EF4-FFF2-40B4-BE49-F238E27FC236}">
                <a16:creationId xmlns:a16="http://schemas.microsoft.com/office/drawing/2014/main" id="{C916B823-F550-6A45-BC0B-332C4D4DF63E}"/>
              </a:ext>
            </a:extLst>
          </p:cNvPr>
          <p:cNvPicPr>
            <a:picLocks noChangeAspect="1"/>
          </p:cNvPicPr>
          <p:nvPr/>
        </p:nvPicPr>
        <p:blipFill>
          <a:blip r:embed="rId8"/>
          <a:stretch>
            <a:fillRect/>
          </a:stretch>
        </p:blipFill>
        <p:spPr>
          <a:xfrm>
            <a:off x="736307" y="4990145"/>
            <a:ext cx="1240657" cy="1240657"/>
          </a:xfrm>
          <a:prstGeom prst="rect">
            <a:avLst/>
          </a:prstGeom>
        </p:spPr>
      </p:pic>
      <p:sp>
        <p:nvSpPr>
          <p:cNvPr id="4" name="Rounded Rectangle 3">
            <a:extLst>
              <a:ext uri="{FF2B5EF4-FFF2-40B4-BE49-F238E27FC236}">
                <a16:creationId xmlns:a16="http://schemas.microsoft.com/office/drawing/2014/main" id="{6158B425-A227-994B-941B-30BE1C779F3C}"/>
              </a:ext>
            </a:extLst>
          </p:cNvPr>
          <p:cNvSpPr/>
          <p:nvPr/>
        </p:nvSpPr>
        <p:spPr>
          <a:xfrm>
            <a:off x="7015655" y="928689"/>
            <a:ext cx="4493173" cy="2019464"/>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EDD9B88-DF9D-AF48-99B4-26F5C3AE2F4E}"/>
              </a:ext>
            </a:extLst>
          </p:cNvPr>
          <p:cNvSpPr txBox="1"/>
          <p:nvPr/>
        </p:nvSpPr>
        <p:spPr>
          <a:xfrm>
            <a:off x="7401910" y="2044709"/>
            <a:ext cx="3720662" cy="830997"/>
          </a:xfrm>
          <a:prstGeom prst="rect">
            <a:avLst/>
          </a:prstGeom>
          <a:noFill/>
        </p:spPr>
        <p:txBody>
          <a:bodyPr wrap="square" rtlCol="0">
            <a:spAutoFit/>
          </a:bodyPr>
          <a:lstStyle/>
          <a:p>
            <a:pPr algn="ctr"/>
            <a:r>
              <a:rPr lang="en-ZA" sz="2400" dirty="0">
                <a:solidFill>
                  <a:schemeClr val="bg1"/>
                </a:solidFill>
              </a:rPr>
              <a:t>relies on mathematical principles</a:t>
            </a:r>
            <a:endParaRPr lang="en-US" sz="2200" dirty="0">
              <a:solidFill>
                <a:schemeClr val="bg1"/>
              </a:solidFill>
            </a:endParaRPr>
          </a:p>
        </p:txBody>
      </p:sp>
      <p:sp>
        <p:nvSpPr>
          <p:cNvPr id="9" name="TextBox 8">
            <a:extLst>
              <a:ext uri="{FF2B5EF4-FFF2-40B4-BE49-F238E27FC236}">
                <a16:creationId xmlns:a16="http://schemas.microsoft.com/office/drawing/2014/main" id="{01E33C1F-9746-2B4F-B864-4B3D8B8A4C74}"/>
              </a:ext>
            </a:extLst>
          </p:cNvPr>
          <p:cNvSpPr txBox="1"/>
          <p:nvPr/>
        </p:nvSpPr>
        <p:spPr>
          <a:xfrm>
            <a:off x="7220617" y="1080023"/>
            <a:ext cx="4155305" cy="954107"/>
          </a:xfrm>
          <a:prstGeom prst="rect">
            <a:avLst/>
          </a:prstGeom>
          <a:noFill/>
        </p:spPr>
        <p:txBody>
          <a:bodyPr wrap="none" rtlCol="0">
            <a:spAutoFit/>
          </a:bodyPr>
          <a:lstStyle/>
          <a:p>
            <a:pPr algn="ctr"/>
            <a:r>
              <a:rPr lang="en-US" sz="2800" dirty="0">
                <a:solidFill>
                  <a:schemeClr val="bg1"/>
                </a:solidFill>
              </a:rPr>
              <a:t>Classical &amp; </a:t>
            </a:r>
          </a:p>
          <a:p>
            <a:pPr algn="ctr"/>
            <a:r>
              <a:rPr lang="en-US" sz="2800" dirty="0">
                <a:solidFill>
                  <a:schemeClr val="bg1"/>
                </a:solidFill>
              </a:rPr>
              <a:t>postquantum cryptography</a:t>
            </a:r>
          </a:p>
        </p:txBody>
      </p:sp>
      <p:sp>
        <p:nvSpPr>
          <p:cNvPr id="10" name="Rounded Rectangle 9">
            <a:extLst>
              <a:ext uri="{FF2B5EF4-FFF2-40B4-BE49-F238E27FC236}">
                <a16:creationId xmlns:a16="http://schemas.microsoft.com/office/drawing/2014/main" id="{13CE3040-26DE-3D4F-A3D6-29AEF41DB0AE}"/>
              </a:ext>
            </a:extLst>
          </p:cNvPr>
          <p:cNvSpPr/>
          <p:nvPr/>
        </p:nvSpPr>
        <p:spPr>
          <a:xfrm>
            <a:off x="6968574" y="3534556"/>
            <a:ext cx="4493173" cy="1623849"/>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0A19A9F-5971-4146-B877-DFF89C2C088E}"/>
              </a:ext>
            </a:extLst>
          </p:cNvPr>
          <p:cNvSpPr txBox="1"/>
          <p:nvPr/>
        </p:nvSpPr>
        <p:spPr>
          <a:xfrm>
            <a:off x="7401910" y="4254962"/>
            <a:ext cx="3720662" cy="830997"/>
          </a:xfrm>
          <a:prstGeom prst="rect">
            <a:avLst/>
          </a:prstGeom>
          <a:noFill/>
        </p:spPr>
        <p:txBody>
          <a:bodyPr wrap="square" rtlCol="0">
            <a:spAutoFit/>
          </a:bodyPr>
          <a:lstStyle/>
          <a:p>
            <a:pPr algn="ctr"/>
            <a:r>
              <a:rPr lang="en-ZA" sz="2400" dirty="0">
                <a:solidFill>
                  <a:schemeClr val="bg1"/>
                </a:solidFill>
              </a:rPr>
              <a:t>uses the laws of quantum mechanics</a:t>
            </a:r>
            <a:endParaRPr lang="en-US" sz="2200" dirty="0">
              <a:solidFill>
                <a:schemeClr val="bg1"/>
              </a:solidFill>
            </a:endParaRPr>
          </a:p>
        </p:txBody>
      </p:sp>
      <p:sp>
        <p:nvSpPr>
          <p:cNvPr id="12" name="TextBox 11">
            <a:extLst>
              <a:ext uri="{FF2B5EF4-FFF2-40B4-BE49-F238E27FC236}">
                <a16:creationId xmlns:a16="http://schemas.microsoft.com/office/drawing/2014/main" id="{CF59CD6F-870C-6C40-910E-650F1C8B6156}"/>
              </a:ext>
            </a:extLst>
          </p:cNvPr>
          <p:cNvSpPr txBox="1"/>
          <p:nvPr/>
        </p:nvSpPr>
        <p:spPr>
          <a:xfrm>
            <a:off x="7426824" y="3633149"/>
            <a:ext cx="3576685" cy="523220"/>
          </a:xfrm>
          <a:prstGeom prst="rect">
            <a:avLst/>
          </a:prstGeom>
          <a:noFill/>
        </p:spPr>
        <p:txBody>
          <a:bodyPr wrap="none" rtlCol="0">
            <a:spAutoFit/>
          </a:bodyPr>
          <a:lstStyle/>
          <a:p>
            <a:pPr algn="ctr"/>
            <a:r>
              <a:rPr lang="en-US" sz="2800" dirty="0">
                <a:solidFill>
                  <a:schemeClr val="bg1"/>
                </a:solidFill>
              </a:rPr>
              <a:t>Quantum cryptography</a:t>
            </a:r>
          </a:p>
        </p:txBody>
      </p:sp>
    </p:spTree>
    <p:extLst>
      <p:ext uri="{BB962C8B-B14F-4D97-AF65-F5344CB8AC3E}">
        <p14:creationId xmlns:p14="http://schemas.microsoft.com/office/powerpoint/2010/main" val="25332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Down Arrow 36">
            <a:extLst>
              <a:ext uri="{FF2B5EF4-FFF2-40B4-BE49-F238E27FC236}">
                <a16:creationId xmlns:a16="http://schemas.microsoft.com/office/drawing/2014/main" id="{DBDE20F9-BAC8-4748-8D9F-5E2A440EDFBD}"/>
              </a:ext>
            </a:extLst>
          </p:cNvPr>
          <p:cNvSpPr/>
          <p:nvPr/>
        </p:nvSpPr>
        <p:spPr>
          <a:xfrm flipV="1">
            <a:off x="8148653" y="2759576"/>
            <a:ext cx="759417" cy="3115926"/>
          </a:xfrm>
          <a:prstGeom prst="down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Down Arrow 35">
            <a:extLst>
              <a:ext uri="{FF2B5EF4-FFF2-40B4-BE49-F238E27FC236}">
                <a16:creationId xmlns:a16="http://schemas.microsoft.com/office/drawing/2014/main" id="{F1AE95C6-880D-9A46-86F6-082551C28C51}"/>
              </a:ext>
            </a:extLst>
          </p:cNvPr>
          <p:cNvSpPr/>
          <p:nvPr/>
        </p:nvSpPr>
        <p:spPr>
          <a:xfrm>
            <a:off x="5099135" y="1757578"/>
            <a:ext cx="759417" cy="2970002"/>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2A26664-8EE2-0F45-9BAB-362CCF354852}"/>
              </a:ext>
            </a:extLst>
          </p:cNvPr>
          <p:cNvSpPr/>
          <p:nvPr/>
        </p:nvSpPr>
        <p:spPr>
          <a:xfrm>
            <a:off x="4330922" y="3406286"/>
            <a:ext cx="5260984" cy="687338"/>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5EA6E602-98BB-B04F-8EA2-C1F91BCE55DE}"/>
              </a:ext>
            </a:extLst>
          </p:cNvPr>
          <p:cNvSpPr>
            <a:spLocks noGrp="1"/>
          </p:cNvSpPr>
          <p:nvPr>
            <p:ph type="sldNum" sz="quarter" idx="12"/>
          </p:nvPr>
        </p:nvSpPr>
        <p:spPr/>
        <p:txBody>
          <a:bodyPr/>
          <a:lstStyle/>
          <a:p>
            <a:fld id="{591A223C-FA10-BC46-A853-03BA373D023C}" type="slidenum">
              <a:rPr lang="en-US" smtClean="0"/>
              <a:t>4</a:t>
            </a:fld>
            <a:endParaRPr lang="en-US"/>
          </a:p>
        </p:txBody>
      </p:sp>
      <p:sp>
        <p:nvSpPr>
          <p:cNvPr id="2" name="Title 1">
            <a:extLst>
              <a:ext uri="{FF2B5EF4-FFF2-40B4-BE49-F238E27FC236}">
                <a16:creationId xmlns:a16="http://schemas.microsoft.com/office/drawing/2014/main" id="{CFA82B8F-4144-7045-89AF-80F297D58484}"/>
              </a:ext>
            </a:extLst>
          </p:cNvPr>
          <p:cNvSpPr>
            <a:spLocks noGrp="1"/>
          </p:cNvSpPr>
          <p:nvPr>
            <p:ph type="title"/>
          </p:nvPr>
        </p:nvSpPr>
        <p:spPr/>
        <p:txBody>
          <a:bodyPr/>
          <a:lstStyle/>
          <a:p>
            <a:r>
              <a:rPr lang="en-US" dirty="0"/>
              <a:t>XOR One-time Pad</a:t>
            </a:r>
          </a:p>
        </p:txBody>
      </p:sp>
      <p:sp>
        <p:nvSpPr>
          <p:cNvPr id="5" name="Rectangle 4">
            <a:extLst>
              <a:ext uri="{FF2B5EF4-FFF2-40B4-BE49-F238E27FC236}">
                <a16:creationId xmlns:a16="http://schemas.microsoft.com/office/drawing/2014/main" id="{B48FB9C2-F178-694E-963A-AF88358C06FD}"/>
              </a:ext>
            </a:extLst>
          </p:cNvPr>
          <p:cNvSpPr/>
          <p:nvPr/>
        </p:nvSpPr>
        <p:spPr>
          <a:xfrm>
            <a:off x="4318484" y="2059486"/>
            <a:ext cx="5260984" cy="687338"/>
          </a:xfrm>
          <a:prstGeom prst="rect">
            <a:avLst/>
          </a:prstGeom>
          <a:solidFill>
            <a:schemeClr val="accent6">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1DC3CE5-B497-B343-8231-D6991892907E}"/>
              </a:ext>
            </a:extLst>
          </p:cNvPr>
          <p:cNvSpPr txBox="1"/>
          <p:nvPr/>
        </p:nvSpPr>
        <p:spPr>
          <a:xfrm>
            <a:off x="2742130" y="2185597"/>
            <a:ext cx="1279133" cy="461665"/>
          </a:xfrm>
          <a:prstGeom prst="rect">
            <a:avLst/>
          </a:prstGeom>
          <a:noFill/>
        </p:spPr>
        <p:txBody>
          <a:bodyPr wrap="none" rtlCol="0">
            <a:spAutoFit/>
          </a:bodyPr>
          <a:lstStyle/>
          <a:p>
            <a:pPr algn="r"/>
            <a:r>
              <a:rPr lang="en-ZA" sz="2400" dirty="0"/>
              <a:t>plaintext</a:t>
            </a:r>
            <a:endParaRPr lang="en-US" sz="2400" dirty="0">
              <a:latin typeface="+mj-lt"/>
            </a:endParaRPr>
          </a:p>
        </p:txBody>
      </p:sp>
      <p:sp>
        <p:nvSpPr>
          <p:cNvPr id="10" name="TextBox 9">
            <a:extLst>
              <a:ext uri="{FF2B5EF4-FFF2-40B4-BE49-F238E27FC236}">
                <a16:creationId xmlns:a16="http://schemas.microsoft.com/office/drawing/2014/main" id="{66618A65-C4B0-004E-AA6A-097FBE5C30B5}"/>
              </a:ext>
            </a:extLst>
          </p:cNvPr>
          <p:cNvSpPr txBox="1"/>
          <p:nvPr/>
        </p:nvSpPr>
        <p:spPr>
          <a:xfrm>
            <a:off x="4437543" y="3477281"/>
            <a:ext cx="601447" cy="523220"/>
          </a:xfrm>
          <a:prstGeom prst="rect">
            <a:avLst/>
          </a:prstGeom>
          <a:solidFill>
            <a:schemeClr val="accent4">
              <a:lumMod val="20000"/>
              <a:lumOff val="80000"/>
            </a:schemeClr>
          </a:solidFill>
        </p:spPr>
        <p:txBody>
          <a:bodyPr wrap="none" rtlCol="0">
            <a:spAutoFit/>
          </a:bodyPr>
          <a:lstStyle/>
          <a:p>
            <a:r>
              <a:rPr lang="en-US" sz="2800" dirty="0"/>
              <a:t>AA</a:t>
            </a:r>
          </a:p>
        </p:txBody>
      </p:sp>
      <p:sp>
        <p:nvSpPr>
          <p:cNvPr id="11" name="TextBox 10">
            <a:extLst>
              <a:ext uri="{FF2B5EF4-FFF2-40B4-BE49-F238E27FC236}">
                <a16:creationId xmlns:a16="http://schemas.microsoft.com/office/drawing/2014/main" id="{F9D56E5B-23E9-074B-B9AE-491ADE248627}"/>
              </a:ext>
            </a:extLst>
          </p:cNvPr>
          <p:cNvSpPr txBox="1"/>
          <p:nvPr/>
        </p:nvSpPr>
        <p:spPr>
          <a:xfrm>
            <a:off x="5476163" y="3477281"/>
            <a:ext cx="550151" cy="523220"/>
          </a:xfrm>
          <a:prstGeom prst="rect">
            <a:avLst/>
          </a:prstGeom>
          <a:solidFill>
            <a:schemeClr val="accent5">
              <a:lumMod val="20000"/>
              <a:lumOff val="80000"/>
            </a:schemeClr>
          </a:solidFill>
        </p:spPr>
        <p:txBody>
          <a:bodyPr wrap="none" rtlCol="0">
            <a:spAutoFit/>
          </a:bodyPr>
          <a:lstStyle/>
          <a:p>
            <a:r>
              <a:rPr lang="en-US" sz="2800" dirty="0"/>
              <a:t>05</a:t>
            </a:r>
          </a:p>
        </p:txBody>
      </p:sp>
      <p:sp>
        <p:nvSpPr>
          <p:cNvPr id="12" name="TextBox 11">
            <a:extLst>
              <a:ext uri="{FF2B5EF4-FFF2-40B4-BE49-F238E27FC236}">
                <a16:creationId xmlns:a16="http://schemas.microsoft.com/office/drawing/2014/main" id="{05721B88-9FA4-6A4C-9DEA-D752F267BB9C}"/>
              </a:ext>
            </a:extLst>
          </p:cNvPr>
          <p:cNvSpPr txBox="1"/>
          <p:nvPr/>
        </p:nvSpPr>
        <p:spPr>
          <a:xfrm>
            <a:off x="6611035" y="3477281"/>
            <a:ext cx="550151" cy="523220"/>
          </a:xfrm>
          <a:prstGeom prst="rect">
            <a:avLst/>
          </a:prstGeom>
          <a:solidFill>
            <a:schemeClr val="accent6">
              <a:lumMod val="20000"/>
              <a:lumOff val="80000"/>
            </a:schemeClr>
          </a:solidFill>
        </p:spPr>
        <p:txBody>
          <a:bodyPr wrap="none" rtlCol="0">
            <a:spAutoFit/>
          </a:bodyPr>
          <a:lstStyle/>
          <a:p>
            <a:r>
              <a:rPr lang="en-US" sz="2800" dirty="0"/>
              <a:t>4E</a:t>
            </a:r>
          </a:p>
        </p:txBody>
      </p:sp>
      <p:sp>
        <p:nvSpPr>
          <p:cNvPr id="13" name="TextBox 12">
            <a:extLst>
              <a:ext uri="{FF2B5EF4-FFF2-40B4-BE49-F238E27FC236}">
                <a16:creationId xmlns:a16="http://schemas.microsoft.com/office/drawing/2014/main" id="{F9318F18-3CBA-CD4A-9566-B472A1CC1592}"/>
              </a:ext>
            </a:extLst>
          </p:cNvPr>
          <p:cNvSpPr txBox="1"/>
          <p:nvPr/>
        </p:nvSpPr>
        <p:spPr>
          <a:xfrm>
            <a:off x="7665697" y="3477281"/>
            <a:ext cx="550151" cy="523220"/>
          </a:xfrm>
          <a:prstGeom prst="rect">
            <a:avLst/>
          </a:prstGeom>
          <a:solidFill>
            <a:schemeClr val="tx2">
              <a:lumMod val="20000"/>
              <a:lumOff val="80000"/>
            </a:schemeClr>
          </a:solidFill>
        </p:spPr>
        <p:txBody>
          <a:bodyPr wrap="none" rtlCol="0">
            <a:spAutoFit/>
          </a:bodyPr>
          <a:lstStyle/>
          <a:p>
            <a:r>
              <a:rPr lang="en-US" sz="2800" dirty="0"/>
              <a:t>F2</a:t>
            </a:r>
          </a:p>
        </p:txBody>
      </p:sp>
      <p:sp>
        <p:nvSpPr>
          <p:cNvPr id="14" name="TextBox 13">
            <a:extLst>
              <a:ext uri="{FF2B5EF4-FFF2-40B4-BE49-F238E27FC236}">
                <a16:creationId xmlns:a16="http://schemas.microsoft.com/office/drawing/2014/main" id="{3979010A-CF4B-C641-A355-62BAF16F80BA}"/>
              </a:ext>
            </a:extLst>
          </p:cNvPr>
          <p:cNvSpPr txBox="1"/>
          <p:nvPr/>
        </p:nvSpPr>
        <p:spPr>
          <a:xfrm>
            <a:off x="8816610" y="3477281"/>
            <a:ext cx="550151" cy="523220"/>
          </a:xfrm>
          <a:prstGeom prst="rect">
            <a:avLst/>
          </a:prstGeom>
          <a:solidFill>
            <a:srgbClr val="FFC000"/>
          </a:solidFill>
        </p:spPr>
        <p:txBody>
          <a:bodyPr wrap="none" rtlCol="0">
            <a:spAutoFit/>
          </a:bodyPr>
          <a:lstStyle/>
          <a:p>
            <a:r>
              <a:rPr lang="en-US" sz="2800" dirty="0"/>
              <a:t>35</a:t>
            </a:r>
          </a:p>
        </p:txBody>
      </p:sp>
      <p:sp>
        <p:nvSpPr>
          <p:cNvPr id="16" name="TextBox 15">
            <a:extLst>
              <a:ext uri="{FF2B5EF4-FFF2-40B4-BE49-F238E27FC236}">
                <a16:creationId xmlns:a16="http://schemas.microsoft.com/office/drawing/2014/main" id="{EBD19751-FA5F-B544-8783-739F4599138D}"/>
              </a:ext>
            </a:extLst>
          </p:cNvPr>
          <p:cNvSpPr txBox="1"/>
          <p:nvPr/>
        </p:nvSpPr>
        <p:spPr>
          <a:xfrm>
            <a:off x="3423792" y="3498876"/>
            <a:ext cx="597471" cy="461665"/>
          </a:xfrm>
          <a:prstGeom prst="rect">
            <a:avLst/>
          </a:prstGeom>
          <a:noFill/>
        </p:spPr>
        <p:txBody>
          <a:bodyPr wrap="none" rtlCol="0">
            <a:spAutoFit/>
          </a:bodyPr>
          <a:lstStyle/>
          <a:p>
            <a:pPr algn="r"/>
            <a:r>
              <a:rPr lang="en-US" sz="2400" b="1" dirty="0">
                <a:latin typeface="+mj-lt"/>
              </a:rPr>
              <a:t>key</a:t>
            </a:r>
          </a:p>
        </p:txBody>
      </p:sp>
      <p:sp>
        <p:nvSpPr>
          <p:cNvPr id="17" name="TextBox 16">
            <a:extLst>
              <a:ext uri="{FF2B5EF4-FFF2-40B4-BE49-F238E27FC236}">
                <a16:creationId xmlns:a16="http://schemas.microsoft.com/office/drawing/2014/main" id="{58B024E1-E957-044F-B2C3-090D549CF979}"/>
              </a:ext>
            </a:extLst>
          </p:cNvPr>
          <p:cNvSpPr txBox="1"/>
          <p:nvPr/>
        </p:nvSpPr>
        <p:spPr>
          <a:xfrm>
            <a:off x="4541751" y="2154820"/>
            <a:ext cx="409086" cy="523220"/>
          </a:xfrm>
          <a:prstGeom prst="rect">
            <a:avLst/>
          </a:prstGeom>
          <a:noFill/>
        </p:spPr>
        <p:txBody>
          <a:bodyPr wrap="none" rtlCol="0">
            <a:spAutoFit/>
          </a:bodyPr>
          <a:lstStyle/>
          <a:p>
            <a:r>
              <a:rPr lang="en-US" sz="2800" dirty="0"/>
              <a:t>H</a:t>
            </a:r>
          </a:p>
        </p:txBody>
      </p:sp>
      <p:sp>
        <p:nvSpPr>
          <p:cNvPr id="18" name="TextBox 17">
            <a:extLst>
              <a:ext uri="{FF2B5EF4-FFF2-40B4-BE49-F238E27FC236}">
                <a16:creationId xmlns:a16="http://schemas.microsoft.com/office/drawing/2014/main" id="{FAC3365F-B604-F54E-A163-F8D0C9566EA1}"/>
              </a:ext>
            </a:extLst>
          </p:cNvPr>
          <p:cNvSpPr txBox="1"/>
          <p:nvPr/>
        </p:nvSpPr>
        <p:spPr>
          <a:xfrm>
            <a:off x="5613596" y="2154820"/>
            <a:ext cx="359394" cy="523220"/>
          </a:xfrm>
          <a:prstGeom prst="rect">
            <a:avLst/>
          </a:prstGeom>
          <a:noFill/>
        </p:spPr>
        <p:txBody>
          <a:bodyPr wrap="none" rtlCol="0">
            <a:spAutoFit/>
          </a:bodyPr>
          <a:lstStyle/>
          <a:p>
            <a:r>
              <a:rPr lang="en-US" sz="2800" dirty="0"/>
              <a:t>E</a:t>
            </a:r>
          </a:p>
        </p:txBody>
      </p:sp>
      <p:sp>
        <p:nvSpPr>
          <p:cNvPr id="19" name="TextBox 18">
            <a:extLst>
              <a:ext uri="{FF2B5EF4-FFF2-40B4-BE49-F238E27FC236}">
                <a16:creationId xmlns:a16="http://schemas.microsoft.com/office/drawing/2014/main" id="{14175752-707E-C140-B08E-1DDDAFA86C23}"/>
              </a:ext>
            </a:extLst>
          </p:cNvPr>
          <p:cNvSpPr txBox="1"/>
          <p:nvPr/>
        </p:nvSpPr>
        <p:spPr>
          <a:xfrm>
            <a:off x="6733531" y="2154820"/>
            <a:ext cx="335348" cy="523220"/>
          </a:xfrm>
          <a:prstGeom prst="rect">
            <a:avLst/>
          </a:prstGeom>
          <a:noFill/>
        </p:spPr>
        <p:txBody>
          <a:bodyPr wrap="none" rtlCol="0">
            <a:spAutoFit/>
          </a:bodyPr>
          <a:lstStyle/>
          <a:p>
            <a:r>
              <a:rPr lang="en-US" sz="2800" dirty="0"/>
              <a:t>L</a:t>
            </a:r>
          </a:p>
        </p:txBody>
      </p:sp>
      <p:sp>
        <p:nvSpPr>
          <p:cNvPr id="20" name="TextBox 19">
            <a:extLst>
              <a:ext uri="{FF2B5EF4-FFF2-40B4-BE49-F238E27FC236}">
                <a16:creationId xmlns:a16="http://schemas.microsoft.com/office/drawing/2014/main" id="{309B7670-BA45-264F-950C-74A5A7E04F85}"/>
              </a:ext>
            </a:extLst>
          </p:cNvPr>
          <p:cNvSpPr txBox="1"/>
          <p:nvPr/>
        </p:nvSpPr>
        <p:spPr>
          <a:xfrm>
            <a:off x="7789346" y="2154820"/>
            <a:ext cx="335348" cy="523220"/>
          </a:xfrm>
          <a:prstGeom prst="rect">
            <a:avLst/>
          </a:prstGeom>
          <a:noFill/>
        </p:spPr>
        <p:txBody>
          <a:bodyPr wrap="none" rtlCol="0">
            <a:spAutoFit/>
          </a:bodyPr>
          <a:lstStyle/>
          <a:p>
            <a:r>
              <a:rPr lang="en-US" sz="2800" dirty="0"/>
              <a:t>L</a:t>
            </a:r>
          </a:p>
        </p:txBody>
      </p:sp>
      <p:sp>
        <p:nvSpPr>
          <p:cNvPr id="30" name="TextBox 29">
            <a:extLst>
              <a:ext uri="{FF2B5EF4-FFF2-40B4-BE49-F238E27FC236}">
                <a16:creationId xmlns:a16="http://schemas.microsoft.com/office/drawing/2014/main" id="{E4E80249-9024-6942-87BC-5FA002847D04}"/>
              </a:ext>
            </a:extLst>
          </p:cNvPr>
          <p:cNvSpPr txBox="1"/>
          <p:nvPr/>
        </p:nvSpPr>
        <p:spPr>
          <a:xfrm>
            <a:off x="4318484" y="2784167"/>
            <a:ext cx="868764" cy="584775"/>
          </a:xfrm>
          <a:prstGeom prst="rect">
            <a:avLst/>
          </a:prstGeom>
          <a:noFill/>
        </p:spPr>
        <p:txBody>
          <a:bodyPr wrap="none" rtlCol="0">
            <a:spAutoFit/>
          </a:bodyPr>
          <a:lstStyle/>
          <a:p>
            <a:pPr algn="r"/>
            <a:r>
              <a:rPr lang="en-US" sz="3200" b="1" dirty="0">
                <a:solidFill>
                  <a:srgbClr val="FF0000"/>
                </a:solidFill>
                <a:latin typeface="+mj-lt"/>
              </a:rPr>
              <a:t>XOR</a:t>
            </a:r>
          </a:p>
        </p:txBody>
      </p:sp>
      <p:sp>
        <p:nvSpPr>
          <p:cNvPr id="9" name="TextBox 8">
            <a:extLst>
              <a:ext uri="{FF2B5EF4-FFF2-40B4-BE49-F238E27FC236}">
                <a16:creationId xmlns:a16="http://schemas.microsoft.com/office/drawing/2014/main" id="{CF04BB93-E30B-B642-A85E-729ED093A585}"/>
              </a:ext>
            </a:extLst>
          </p:cNvPr>
          <p:cNvSpPr txBox="1"/>
          <p:nvPr/>
        </p:nvSpPr>
        <p:spPr>
          <a:xfrm>
            <a:off x="4709703" y="1235625"/>
            <a:ext cx="1532920" cy="461665"/>
          </a:xfrm>
          <a:prstGeom prst="rect">
            <a:avLst/>
          </a:prstGeom>
          <a:noFill/>
        </p:spPr>
        <p:txBody>
          <a:bodyPr wrap="none" rtlCol="0">
            <a:spAutoFit/>
          </a:bodyPr>
          <a:lstStyle/>
          <a:p>
            <a:r>
              <a:rPr lang="en-ZA" sz="2400" dirty="0"/>
              <a:t>Encryption</a:t>
            </a:r>
            <a:endParaRPr lang="en-US" sz="2200" dirty="0"/>
          </a:p>
        </p:txBody>
      </p:sp>
      <p:pic>
        <p:nvPicPr>
          <p:cNvPr id="42" name="Picture 41">
            <a:extLst>
              <a:ext uri="{FF2B5EF4-FFF2-40B4-BE49-F238E27FC236}">
                <a16:creationId xmlns:a16="http://schemas.microsoft.com/office/drawing/2014/main" id="{323815E1-C1F5-0842-A8B4-2DB0FD7FEE75}"/>
              </a:ext>
            </a:extLst>
          </p:cNvPr>
          <p:cNvPicPr>
            <a:picLocks noChangeAspect="1"/>
          </p:cNvPicPr>
          <p:nvPr/>
        </p:nvPicPr>
        <p:blipFill>
          <a:blip r:embed="rId3"/>
          <a:stretch>
            <a:fillRect/>
          </a:stretch>
        </p:blipFill>
        <p:spPr>
          <a:xfrm>
            <a:off x="2342252" y="3519327"/>
            <a:ext cx="1068609" cy="517607"/>
          </a:xfrm>
          <a:prstGeom prst="rect">
            <a:avLst/>
          </a:prstGeom>
        </p:spPr>
      </p:pic>
      <p:sp>
        <p:nvSpPr>
          <p:cNvPr id="43" name="TextBox 42">
            <a:extLst>
              <a:ext uri="{FF2B5EF4-FFF2-40B4-BE49-F238E27FC236}">
                <a16:creationId xmlns:a16="http://schemas.microsoft.com/office/drawing/2014/main" id="{8CA52284-3DC1-1A4C-9652-BA391F4C8F83}"/>
              </a:ext>
            </a:extLst>
          </p:cNvPr>
          <p:cNvSpPr txBox="1"/>
          <p:nvPr/>
        </p:nvSpPr>
        <p:spPr>
          <a:xfrm>
            <a:off x="8891649" y="2154820"/>
            <a:ext cx="421910" cy="523220"/>
          </a:xfrm>
          <a:prstGeom prst="rect">
            <a:avLst/>
          </a:prstGeom>
          <a:noFill/>
        </p:spPr>
        <p:txBody>
          <a:bodyPr wrap="none" rtlCol="0">
            <a:spAutoFit/>
          </a:bodyPr>
          <a:lstStyle/>
          <a:p>
            <a:r>
              <a:rPr lang="en-US" sz="2800" dirty="0"/>
              <a:t>O</a:t>
            </a:r>
          </a:p>
        </p:txBody>
      </p:sp>
      <p:sp>
        <p:nvSpPr>
          <p:cNvPr id="33" name="Rectangle 32">
            <a:extLst>
              <a:ext uri="{FF2B5EF4-FFF2-40B4-BE49-F238E27FC236}">
                <a16:creationId xmlns:a16="http://schemas.microsoft.com/office/drawing/2014/main" id="{1273EAFE-D0F3-454A-9C66-A18A398EAF72}"/>
              </a:ext>
            </a:extLst>
          </p:cNvPr>
          <p:cNvSpPr/>
          <p:nvPr/>
        </p:nvSpPr>
        <p:spPr>
          <a:xfrm>
            <a:off x="4330922" y="4730634"/>
            <a:ext cx="5260984" cy="687338"/>
          </a:xfrm>
          <a:prstGeom prst="rect">
            <a:avLst/>
          </a:prstGeom>
          <a:solidFill>
            <a:schemeClr val="accent2">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409EF01-8F6F-DF4F-A7FF-E17E420B89D7}"/>
              </a:ext>
            </a:extLst>
          </p:cNvPr>
          <p:cNvSpPr txBox="1"/>
          <p:nvPr/>
        </p:nvSpPr>
        <p:spPr>
          <a:xfrm>
            <a:off x="2566120" y="4850291"/>
            <a:ext cx="1455143" cy="461665"/>
          </a:xfrm>
          <a:prstGeom prst="rect">
            <a:avLst/>
          </a:prstGeom>
          <a:noFill/>
        </p:spPr>
        <p:txBody>
          <a:bodyPr wrap="none" rtlCol="0">
            <a:spAutoFit/>
          </a:bodyPr>
          <a:lstStyle/>
          <a:p>
            <a:pPr algn="r"/>
            <a:r>
              <a:rPr lang="en-ZA" sz="2400" dirty="0"/>
              <a:t>ciphertext</a:t>
            </a:r>
            <a:endParaRPr lang="en-US" sz="2400" dirty="0">
              <a:latin typeface="+mj-lt"/>
            </a:endParaRPr>
          </a:p>
        </p:txBody>
      </p:sp>
      <p:sp>
        <p:nvSpPr>
          <p:cNvPr id="25" name="TextBox 24">
            <a:extLst>
              <a:ext uri="{FF2B5EF4-FFF2-40B4-BE49-F238E27FC236}">
                <a16:creationId xmlns:a16="http://schemas.microsoft.com/office/drawing/2014/main" id="{EA7036EA-D591-BB4E-AD1D-107F08BE667D}"/>
              </a:ext>
            </a:extLst>
          </p:cNvPr>
          <p:cNvSpPr txBox="1"/>
          <p:nvPr/>
        </p:nvSpPr>
        <p:spPr>
          <a:xfrm>
            <a:off x="4540984" y="4812693"/>
            <a:ext cx="542136" cy="523220"/>
          </a:xfrm>
          <a:prstGeom prst="rect">
            <a:avLst/>
          </a:prstGeom>
          <a:noFill/>
        </p:spPr>
        <p:txBody>
          <a:bodyPr wrap="none" rtlCol="0">
            <a:spAutoFit/>
          </a:bodyPr>
          <a:lstStyle/>
          <a:p>
            <a:r>
              <a:rPr lang="en-ZA" sz="2800" dirty="0"/>
              <a:t>E2</a:t>
            </a:r>
            <a:endParaRPr lang="en-US" sz="2800" dirty="0"/>
          </a:p>
        </p:txBody>
      </p:sp>
      <p:sp>
        <p:nvSpPr>
          <p:cNvPr id="26" name="TextBox 25">
            <a:extLst>
              <a:ext uri="{FF2B5EF4-FFF2-40B4-BE49-F238E27FC236}">
                <a16:creationId xmlns:a16="http://schemas.microsoft.com/office/drawing/2014/main" id="{02B9C0BA-24F5-384A-84E8-BCB271B98CB6}"/>
              </a:ext>
            </a:extLst>
          </p:cNvPr>
          <p:cNvSpPr txBox="1"/>
          <p:nvPr/>
        </p:nvSpPr>
        <p:spPr>
          <a:xfrm>
            <a:off x="5576557" y="4812693"/>
            <a:ext cx="550151" cy="523220"/>
          </a:xfrm>
          <a:prstGeom prst="rect">
            <a:avLst/>
          </a:prstGeom>
          <a:noFill/>
        </p:spPr>
        <p:txBody>
          <a:bodyPr wrap="none" rtlCol="0">
            <a:spAutoFit/>
          </a:bodyPr>
          <a:lstStyle/>
          <a:p>
            <a:r>
              <a:rPr lang="en-ZA" sz="2800" dirty="0"/>
              <a:t>40</a:t>
            </a:r>
            <a:endParaRPr lang="en-US" sz="2800" dirty="0"/>
          </a:p>
        </p:txBody>
      </p:sp>
      <p:sp>
        <p:nvSpPr>
          <p:cNvPr id="27" name="TextBox 26">
            <a:extLst>
              <a:ext uri="{FF2B5EF4-FFF2-40B4-BE49-F238E27FC236}">
                <a16:creationId xmlns:a16="http://schemas.microsoft.com/office/drawing/2014/main" id="{F81D04C9-0B51-9046-9398-2713C364A865}"/>
              </a:ext>
            </a:extLst>
          </p:cNvPr>
          <p:cNvSpPr txBox="1"/>
          <p:nvPr/>
        </p:nvSpPr>
        <p:spPr>
          <a:xfrm>
            <a:off x="6713166" y="4812693"/>
            <a:ext cx="550151" cy="523220"/>
          </a:xfrm>
          <a:prstGeom prst="rect">
            <a:avLst/>
          </a:prstGeom>
          <a:noFill/>
        </p:spPr>
        <p:txBody>
          <a:bodyPr wrap="none" rtlCol="0">
            <a:spAutoFit/>
          </a:bodyPr>
          <a:lstStyle/>
          <a:p>
            <a:r>
              <a:rPr lang="en-ZA" sz="2800" dirty="0"/>
              <a:t>02</a:t>
            </a:r>
            <a:endParaRPr lang="en-US" sz="2800" dirty="0"/>
          </a:p>
        </p:txBody>
      </p:sp>
      <p:sp>
        <p:nvSpPr>
          <p:cNvPr id="28" name="TextBox 27">
            <a:extLst>
              <a:ext uri="{FF2B5EF4-FFF2-40B4-BE49-F238E27FC236}">
                <a16:creationId xmlns:a16="http://schemas.microsoft.com/office/drawing/2014/main" id="{5D4917A8-6D8D-524C-98DB-0FBD4503B03B}"/>
              </a:ext>
            </a:extLst>
          </p:cNvPr>
          <p:cNvSpPr txBox="1"/>
          <p:nvPr/>
        </p:nvSpPr>
        <p:spPr>
          <a:xfrm>
            <a:off x="7879814" y="4812693"/>
            <a:ext cx="554960" cy="523220"/>
          </a:xfrm>
          <a:prstGeom prst="rect">
            <a:avLst/>
          </a:prstGeom>
          <a:noFill/>
        </p:spPr>
        <p:txBody>
          <a:bodyPr wrap="none" rtlCol="0">
            <a:spAutoFit/>
          </a:bodyPr>
          <a:lstStyle/>
          <a:p>
            <a:r>
              <a:rPr lang="en-ZA" sz="2800" dirty="0"/>
              <a:t>BE</a:t>
            </a:r>
            <a:endParaRPr lang="en-US" sz="2800" dirty="0"/>
          </a:p>
        </p:txBody>
      </p:sp>
      <p:sp>
        <p:nvSpPr>
          <p:cNvPr id="29" name="TextBox 28">
            <a:extLst>
              <a:ext uri="{FF2B5EF4-FFF2-40B4-BE49-F238E27FC236}">
                <a16:creationId xmlns:a16="http://schemas.microsoft.com/office/drawing/2014/main" id="{CAE5CA8B-7949-8D46-8D06-C70657F66BC0}"/>
              </a:ext>
            </a:extLst>
          </p:cNvPr>
          <p:cNvSpPr txBox="1"/>
          <p:nvPr/>
        </p:nvSpPr>
        <p:spPr>
          <a:xfrm>
            <a:off x="8878984" y="4812693"/>
            <a:ext cx="575799" cy="523220"/>
          </a:xfrm>
          <a:prstGeom prst="rect">
            <a:avLst/>
          </a:prstGeom>
          <a:noFill/>
        </p:spPr>
        <p:txBody>
          <a:bodyPr wrap="none" rtlCol="0">
            <a:spAutoFit/>
          </a:bodyPr>
          <a:lstStyle/>
          <a:p>
            <a:r>
              <a:rPr lang="en-ZA" sz="2800" dirty="0"/>
              <a:t>7A</a:t>
            </a:r>
            <a:endParaRPr lang="en-US" sz="2800" dirty="0"/>
          </a:p>
        </p:txBody>
      </p:sp>
      <p:sp>
        <p:nvSpPr>
          <p:cNvPr id="35" name="TextBox 34">
            <a:extLst>
              <a:ext uri="{FF2B5EF4-FFF2-40B4-BE49-F238E27FC236}">
                <a16:creationId xmlns:a16="http://schemas.microsoft.com/office/drawing/2014/main" id="{56EB4C42-20C3-4F45-903A-2698D0874C68}"/>
              </a:ext>
            </a:extLst>
          </p:cNvPr>
          <p:cNvSpPr txBox="1"/>
          <p:nvPr/>
        </p:nvSpPr>
        <p:spPr>
          <a:xfrm>
            <a:off x="7853206" y="6031210"/>
            <a:ext cx="1563377" cy="461665"/>
          </a:xfrm>
          <a:prstGeom prst="rect">
            <a:avLst/>
          </a:prstGeom>
          <a:noFill/>
        </p:spPr>
        <p:txBody>
          <a:bodyPr wrap="none" rtlCol="0">
            <a:spAutoFit/>
          </a:bodyPr>
          <a:lstStyle/>
          <a:p>
            <a:r>
              <a:rPr lang="en-ZA" sz="2400" dirty="0"/>
              <a:t>Decryption</a:t>
            </a:r>
            <a:endParaRPr lang="en-US" sz="2200" dirty="0"/>
          </a:p>
        </p:txBody>
      </p:sp>
      <p:sp>
        <p:nvSpPr>
          <p:cNvPr id="31" name="TextBox 30">
            <a:extLst>
              <a:ext uri="{FF2B5EF4-FFF2-40B4-BE49-F238E27FC236}">
                <a16:creationId xmlns:a16="http://schemas.microsoft.com/office/drawing/2014/main" id="{143FC09F-2654-1B4C-A236-7A6A2A58D9CC}"/>
              </a:ext>
            </a:extLst>
          </p:cNvPr>
          <p:cNvSpPr txBox="1"/>
          <p:nvPr/>
        </p:nvSpPr>
        <p:spPr>
          <a:xfrm>
            <a:off x="8807519" y="4130968"/>
            <a:ext cx="868764" cy="584775"/>
          </a:xfrm>
          <a:prstGeom prst="rect">
            <a:avLst/>
          </a:prstGeom>
          <a:noFill/>
        </p:spPr>
        <p:txBody>
          <a:bodyPr wrap="none" rtlCol="0">
            <a:spAutoFit/>
          </a:bodyPr>
          <a:lstStyle/>
          <a:p>
            <a:pPr algn="r"/>
            <a:r>
              <a:rPr lang="en-US" sz="3200" b="1" dirty="0">
                <a:solidFill>
                  <a:srgbClr val="FF0000"/>
                </a:solidFill>
                <a:latin typeface="+mj-lt"/>
              </a:rPr>
              <a:t>XOR</a:t>
            </a:r>
          </a:p>
        </p:txBody>
      </p:sp>
      <p:sp>
        <p:nvSpPr>
          <p:cNvPr id="38" name="TextBox 37">
            <a:extLst>
              <a:ext uri="{FF2B5EF4-FFF2-40B4-BE49-F238E27FC236}">
                <a16:creationId xmlns:a16="http://schemas.microsoft.com/office/drawing/2014/main" id="{4332DF50-C31B-B54B-B7CC-ECB8B9C5FAD4}"/>
              </a:ext>
            </a:extLst>
          </p:cNvPr>
          <p:cNvSpPr txBox="1"/>
          <p:nvPr/>
        </p:nvSpPr>
        <p:spPr>
          <a:xfrm>
            <a:off x="3051126" y="2837197"/>
            <a:ext cx="970137" cy="461665"/>
          </a:xfrm>
          <a:prstGeom prst="rect">
            <a:avLst/>
          </a:prstGeom>
          <a:noFill/>
        </p:spPr>
        <p:txBody>
          <a:bodyPr wrap="none" rtlCol="0">
            <a:spAutoFit/>
          </a:bodyPr>
          <a:lstStyle/>
          <a:p>
            <a:pPr algn="r"/>
            <a:r>
              <a:rPr lang="en-ZA" sz="2400" dirty="0"/>
              <a:t>cipher</a:t>
            </a:r>
            <a:endParaRPr lang="en-US" sz="2400" dirty="0">
              <a:latin typeface="+mj-lt"/>
            </a:endParaRPr>
          </a:p>
        </p:txBody>
      </p:sp>
      <p:sp>
        <p:nvSpPr>
          <p:cNvPr id="4" name="TextBox 3">
            <a:extLst>
              <a:ext uri="{FF2B5EF4-FFF2-40B4-BE49-F238E27FC236}">
                <a16:creationId xmlns:a16="http://schemas.microsoft.com/office/drawing/2014/main" id="{5FA02176-B252-8849-93F6-FD28B48F72E4}"/>
              </a:ext>
            </a:extLst>
          </p:cNvPr>
          <p:cNvSpPr txBox="1"/>
          <p:nvPr/>
        </p:nvSpPr>
        <p:spPr>
          <a:xfrm>
            <a:off x="78934" y="4257399"/>
            <a:ext cx="3011722" cy="646331"/>
          </a:xfrm>
          <a:prstGeom prst="rect">
            <a:avLst/>
          </a:prstGeom>
          <a:solidFill>
            <a:schemeClr val="accent4">
              <a:lumMod val="20000"/>
              <a:lumOff val="80000"/>
            </a:schemeClr>
          </a:solidFill>
        </p:spPr>
        <p:txBody>
          <a:bodyPr wrap="none" rtlCol="0">
            <a:spAutoFit/>
          </a:bodyPr>
          <a:lstStyle/>
          <a:p>
            <a:pPr algn="ctr"/>
            <a:r>
              <a:rPr lang="en-ZA" dirty="0"/>
              <a:t>A cipher is the algorithm that</a:t>
            </a:r>
          </a:p>
          <a:p>
            <a:pPr algn="ctr"/>
            <a:r>
              <a:rPr lang="en-ZA" dirty="0"/>
              <a:t>defines how the key is applied</a:t>
            </a:r>
            <a:endParaRPr lang="en-US" dirty="0"/>
          </a:p>
        </p:txBody>
      </p:sp>
      <p:pic>
        <p:nvPicPr>
          <p:cNvPr id="7" name="Picture 6">
            <a:extLst>
              <a:ext uri="{FF2B5EF4-FFF2-40B4-BE49-F238E27FC236}">
                <a16:creationId xmlns:a16="http://schemas.microsoft.com/office/drawing/2014/main" id="{2A627641-F0F7-9540-96B7-4886AB5037EA}"/>
              </a:ext>
            </a:extLst>
          </p:cNvPr>
          <p:cNvPicPr>
            <a:picLocks noChangeAspect="1"/>
          </p:cNvPicPr>
          <p:nvPr/>
        </p:nvPicPr>
        <p:blipFill>
          <a:blip r:embed="rId4"/>
          <a:stretch>
            <a:fillRect/>
          </a:stretch>
        </p:blipFill>
        <p:spPr>
          <a:xfrm rot="1087372">
            <a:off x="1324522" y="3603799"/>
            <a:ext cx="769650" cy="793405"/>
          </a:xfrm>
          <a:prstGeom prst="rect">
            <a:avLst/>
          </a:prstGeom>
        </p:spPr>
      </p:pic>
    </p:spTree>
    <p:extLst>
      <p:ext uri="{BB962C8B-B14F-4D97-AF65-F5344CB8AC3E}">
        <p14:creationId xmlns:p14="http://schemas.microsoft.com/office/powerpoint/2010/main" val="834548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656C33E-BE02-5D4E-84B4-525C8A0F983A}"/>
              </a:ext>
            </a:extLst>
          </p:cNvPr>
          <p:cNvCxnSpPr>
            <a:cxnSpLocks/>
          </p:cNvCxnSpPr>
          <p:nvPr/>
        </p:nvCxnSpPr>
        <p:spPr>
          <a:xfrm flipV="1">
            <a:off x="4458811" y="2651242"/>
            <a:ext cx="0" cy="8125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6581A44F-F728-E44D-AB50-73025FF3D819}"/>
              </a:ext>
            </a:extLst>
          </p:cNvPr>
          <p:cNvSpPr>
            <a:spLocks noGrp="1"/>
          </p:cNvSpPr>
          <p:nvPr>
            <p:ph type="title"/>
          </p:nvPr>
        </p:nvSpPr>
        <p:spPr/>
        <p:txBody>
          <a:bodyPr/>
          <a:lstStyle/>
          <a:p>
            <a:r>
              <a:rPr lang="en-ZA" dirty="0"/>
              <a:t>The </a:t>
            </a:r>
            <a:r>
              <a:rPr lang="en-ZA" b="1" dirty="0"/>
              <a:t>Quantum One-Time Pad (QOTP)</a:t>
            </a:r>
            <a:r>
              <a:rPr lang="en-ZA" dirty="0"/>
              <a:t> / </a:t>
            </a:r>
            <a:r>
              <a:rPr lang="en-ZA" b="1" dirty="0"/>
              <a:t>Pauli Encryption</a:t>
            </a:r>
            <a:endParaRPr lang="en-US" dirty="0"/>
          </a:p>
        </p:txBody>
      </p:sp>
      <p:cxnSp>
        <p:nvCxnSpPr>
          <p:cNvPr id="7" name="Straight Connector 6">
            <a:extLst>
              <a:ext uri="{FF2B5EF4-FFF2-40B4-BE49-F238E27FC236}">
                <a16:creationId xmlns:a16="http://schemas.microsoft.com/office/drawing/2014/main" id="{2EB6AA4F-55C4-2D4F-9996-4862B3585035}"/>
              </a:ext>
            </a:extLst>
          </p:cNvPr>
          <p:cNvCxnSpPr>
            <a:cxnSpLocks/>
          </p:cNvCxnSpPr>
          <p:nvPr/>
        </p:nvCxnSpPr>
        <p:spPr>
          <a:xfrm flipV="1">
            <a:off x="2858114" y="2178391"/>
            <a:ext cx="654151" cy="114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B49C529-AB8B-CB49-A5EE-09AEC8AC7913}"/>
              </a:ext>
            </a:extLst>
          </p:cNvPr>
          <p:cNvCxnSpPr>
            <a:cxnSpLocks/>
          </p:cNvCxnSpPr>
          <p:nvPr/>
        </p:nvCxnSpPr>
        <p:spPr>
          <a:xfrm flipV="1">
            <a:off x="2965084" y="3365889"/>
            <a:ext cx="6430159" cy="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FD79331-1C44-134F-9399-0B21B2D78824}"/>
              </a:ext>
            </a:extLst>
          </p:cNvPr>
          <p:cNvCxnSpPr>
            <a:cxnSpLocks/>
            <a:endCxn id="11" idx="4"/>
          </p:cNvCxnSpPr>
          <p:nvPr/>
        </p:nvCxnSpPr>
        <p:spPr>
          <a:xfrm flipH="1" flipV="1">
            <a:off x="3422265" y="2268391"/>
            <a:ext cx="6350" cy="8314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1B38D40-F181-2A4B-B72B-175ABFC4864E}"/>
              </a:ext>
            </a:extLst>
          </p:cNvPr>
          <p:cNvSpPr/>
          <p:nvPr/>
        </p:nvSpPr>
        <p:spPr>
          <a:xfrm>
            <a:off x="3332265" y="2088391"/>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44888CD6-8244-B043-9BCE-214C76EF41AF}"/>
                  </a:ext>
                </a:extLst>
              </p:cNvPr>
              <p:cNvSpPr/>
              <p:nvPr/>
            </p:nvSpPr>
            <p:spPr>
              <a:xfrm>
                <a:off x="1282405" y="3071905"/>
                <a:ext cx="1503810" cy="5057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𝑚</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13" name="Rectangle 12">
                <a:extLst>
                  <a:ext uri="{FF2B5EF4-FFF2-40B4-BE49-F238E27FC236}">
                    <a16:creationId xmlns:a16="http://schemas.microsoft.com/office/drawing/2014/main" id="{44888CD6-8244-B043-9BCE-214C76EF41AF}"/>
                  </a:ext>
                </a:extLst>
              </p:cNvPr>
              <p:cNvSpPr>
                <a:spLocks noRot="1" noChangeAspect="1" noMove="1" noResize="1" noEditPoints="1" noAdjustHandles="1" noChangeArrowheads="1" noChangeShapeType="1" noTextEdit="1"/>
              </p:cNvSpPr>
              <p:nvPr/>
            </p:nvSpPr>
            <p:spPr>
              <a:xfrm>
                <a:off x="1282405" y="3071905"/>
                <a:ext cx="1503810" cy="505779"/>
              </a:xfrm>
              <a:prstGeom prst="rect">
                <a:avLst/>
              </a:prstGeom>
              <a:blipFill>
                <a:blip r:embed="rId3"/>
                <a:stretch>
                  <a:fillRect l="-4202" t="-156098" r="-32773" b="-239024"/>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2A1E3681-B9D4-4847-B384-76347A2AE633}"/>
              </a:ext>
            </a:extLst>
          </p:cNvPr>
          <p:cNvSpPr/>
          <p:nvPr/>
        </p:nvSpPr>
        <p:spPr>
          <a:xfrm>
            <a:off x="3152265" y="3099795"/>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15" name="Rectangle 14">
            <a:extLst>
              <a:ext uri="{FF2B5EF4-FFF2-40B4-BE49-F238E27FC236}">
                <a16:creationId xmlns:a16="http://schemas.microsoft.com/office/drawing/2014/main" id="{B04DFD91-CB30-C345-BAB8-8C8BD7FB3941}"/>
              </a:ext>
            </a:extLst>
          </p:cNvPr>
          <p:cNvSpPr/>
          <p:nvPr/>
        </p:nvSpPr>
        <p:spPr>
          <a:xfrm>
            <a:off x="4154367" y="3009795"/>
            <a:ext cx="630000" cy="63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3466AF9-8E25-3045-B45D-24ED91685A20}"/>
                  </a:ext>
                </a:extLst>
              </p:cNvPr>
              <p:cNvSpPr/>
              <p:nvPr/>
            </p:nvSpPr>
            <p:spPr>
              <a:xfrm>
                <a:off x="1824565" y="1895899"/>
                <a:ext cx="100271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𝑎</m:t>
                      </m:r>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18" name="Rectangle 17">
                <a:extLst>
                  <a:ext uri="{FF2B5EF4-FFF2-40B4-BE49-F238E27FC236}">
                    <a16:creationId xmlns:a16="http://schemas.microsoft.com/office/drawing/2014/main" id="{93466AF9-8E25-3045-B45D-24ED91685A20}"/>
                  </a:ext>
                </a:extLst>
              </p:cNvPr>
              <p:cNvSpPr>
                <a:spLocks noRot="1" noChangeAspect="1" noMove="1" noResize="1" noEditPoints="1" noAdjustHandles="1" noChangeArrowheads="1" noChangeShapeType="1" noTextEdit="1"/>
              </p:cNvSpPr>
              <p:nvPr/>
            </p:nvSpPr>
            <p:spPr>
              <a:xfrm>
                <a:off x="1824565" y="1895899"/>
                <a:ext cx="1002710"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59347323-A436-E043-AB0E-CFA0ECCC70E5}"/>
                  </a:ext>
                </a:extLst>
              </p:cNvPr>
              <p:cNvSpPr/>
              <p:nvPr/>
            </p:nvSpPr>
            <p:spPr>
              <a:xfrm>
                <a:off x="1836240" y="2316826"/>
                <a:ext cx="99552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𝑏</m:t>
                      </m:r>
                      <m:r>
                        <a:rPr lang="en-US" sz="2400" b="0" i="1" smtClean="0">
                          <a:latin typeface="Cambria Math" panose="02040503050406030204" pitchFamily="18" charset="0"/>
                        </a:rPr>
                        <m:t>=0</m:t>
                      </m:r>
                    </m:oMath>
                  </m:oMathPara>
                </a14:m>
                <a:endParaRPr lang="en-US" sz="2400" dirty="0"/>
              </a:p>
            </p:txBody>
          </p:sp>
        </mc:Choice>
        <mc:Fallback xmlns="">
          <p:sp>
            <p:nvSpPr>
              <p:cNvPr id="19" name="Rectangle 18">
                <a:extLst>
                  <a:ext uri="{FF2B5EF4-FFF2-40B4-BE49-F238E27FC236}">
                    <a16:creationId xmlns:a16="http://schemas.microsoft.com/office/drawing/2014/main" id="{59347323-A436-E043-AB0E-CFA0ECCC70E5}"/>
                  </a:ext>
                </a:extLst>
              </p:cNvPr>
              <p:cNvSpPr>
                <a:spLocks noRot="1" noChangeAspect="1" noMove="1" noResize="1" noEditPoints="1" noAdjustHandles="1" noChangeArrowheads="1" noChangeShapeType="1" noTextEdit="1"/>
              </p:cNvSpPr>
              <p:nvPr/>
            </p:nvSpPr>
            <p:spPr>
              <a:xfrm>
                <a:off x="1836240" y="2316826"/>
                <a:ext cx="995529" cy="461665"/>
              </a:xfrm>
              <a:prstGeom prst="rect">
                <a:avLst/>
              </a:prstGeom>
              <a:blipFill>
                <a:blip r:embed="rId5"/>
                <a:stretch>
                  <a:fillRect/>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52A34CC1-EBA0-AD43-981A-1C4D7A15F4EB}"/>
              </a:ext>
            </a:extLst>
          </p:cNvPr>
          <p:cNvCxnSpPr>
            <a:cxnSpLocks/>
            <a:endCxn id="24" idx="6"/>
          </p:cNvCxnSpPr>
          <p:nvPr/>
        </p:nvCxnSpPr>
        <p:spPr>
          <a:xfrm>
            <a:off x="2858114" y="2537420"/>
            <a:ext cx="1690697" cy="119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26EF6808-A07D-5848-B555-24F988A27224}"/>
              </a:ext>
            </a:extLst>
          </p:cNvPr>
          <p:cNvSpPr/>
          <p:nvPr/>
        </p:nvSpPr>
        <p:spPr>
          <a:xfrm>
            <a:off x="4368811" y="2459334"/>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30CF75EB-37B8-974D-9C8B-6FF0720D7AD2}"/>
                  </a:ext>
                </a:extLst>
              </p:cNvPr>
              <p:cNvSpPr/>
              <p:nvPr/>
            </p:nvSpPr>
            <p:spPr>
              <a:xfrm>
                <a:off x="3028543" y="1649567"/>
                <a:ext cx="967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25" name="Rectangle 24">
                <a:extLst>
                  <a:ext uri="{FF2B5EF4-FFF2-40B4-BE49-F238E27FC236}">
                    <a16:creationId xmlns:a16="http://schemas.microsoft.com/office/drawing/2014/main" id="{30CF75EB-37B8-974D-9C8B-6FF0720D7AD2}"/>
                  </a:ext>
                </a:extLst>
              </p:cNvPr>
              <p:cNvSpPr>
                <a:spLocks noRot="1" noChangeAspect="1" noMove="1" noResize="1" noEditPoints="1" noAdjustHandles="1" noChangeArrowheads="1" noChangeShapeType="1" noTextEdit="1"/>
              </p:cNvSpPr>
              <p:nvPr/>
            </p:nvSpPr>
            <p:spPr>
              <a:xfrm>
                <a:off x="3028543" y="1649567"/>
                <a:ext cx="967444"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3DFAC6BC-2AB7-B646-8B9A-A31C53EAC0C2}"/>
                  </a:ext>
                </a:extLst>
              </p:cNvPr>
              <p:cNvSpPr/>
              <p:nvPr/>
            </p:nvSpPr>
            <p:spPr>
              <a:xfrm>
                <a:off x="4056190" y="2069801"/>
                <a:ext cx="967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26" name="Rectangle 25">
                <a:extLst>
                  <a:ext uri="{FF2B5EF4-FFF2-40B4-BE49-F238E27FC236}">
                    <a16:creationId xmlns:a16="http://schemas.microsoft.com/office/drawing/2014/main" id="{3DFAC6BC-2AB7-B646-8B9A-A31C53EAC0C2}"/>
                  </a:ext>
                </a:extLst>
              </p:cNvPr>
              <p:cNvSpPr>
                <a:spLocks noRot="1" noChangeAspect="1" noMove="1" noResize="1" noEditPoints="1" noAdjustHandles="1" noChangeArrowheads="1" noChangeShapeType="1" noTextEdit="1"/>
              </p:cNvSpPr>
              <p:nvPr/>
            </p:nvSpPr>
            <p:spPr>
              <a:xfrm>
                <a:off x="4056190" y="2069801"/>
                <a:ext cx="967444" cy="461665"/>
              </a:xfrm>
              <a:prstGeom prst="rect">
                <a:avLst/>
              </a:prstGeom>
              <a:blipFill>
                <a:blip r:embed="rId6"/>
                <a:stretch>
                  <a:fillRect/>
                </a:stretch>
              </a:blipFill>
            </p:spPr>
            <p:txBody>
              <a:bodyPr/>
              <a:lstStyle/>
              <a:p>
                <a:r>
                  <a:rPr lang="en-US">
                    <a:noFill/>
                  </a:rPr>
                  <a:t> </a:t>
                </a:r>
              </a:p>
            </p:txBody>
          </p:sp>
        </mc:Fallback>
      </mc:AlternateContent>
      <p:sp>
        <p:nvSpPr>
          <p:cNvPr id="29" name="Can 28">
            <a:extLst>
              <a:ext uri="{FF2B5EF4-FFF2-40B4-BE49-F238E27FC236}">
                <a16:creationId xmlns:a16="http://schemas.microsoft.com/office/drawing/2014/main" id="{5C66B2B9-9462-4340-995F-E63F612E17C6}"/>
              </a:ext>
            </a:extLst>
          </p:cNvPr>
          <p:cNvSpPr/>
          <p:nvPr/>
        </p:nvSpPr>
        <p:spPr>
          <a:xfrm rot="16200000">
            <a:off x="5892733" y="2809846"/>
            <a:ext cx="406533" cy="1112087"/>
          </a:xfrm>
          <a:prstGeom prst="can">
            <a:avLst/>
          </a:prstGeom>
          <a:gradFill>
            <a:gsLst>
              <a:gs pos="0">
                <a:schemeClr val="accent3">
                  <a:lumMod val="5000"/>
                  <a:lumOff val="95000"/>
                  <a:alpha val="2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2700000" scaled="1"/>
          </a:gra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A987025C-597B-454F-ADB4-59D2F8A68109}"/>
              </a:ext>
            </a:extLst>
          </p:cNvPr>
          <p:cNvCxnSpPr>
            <a:cxnSpLocks/>
          </p:cNvCxnSpPr>
          <p:nvPr/>
        </p:nvCxnSpPr>
        <p:spPr>
          <a:xfrm flipH="1" flipV="1">
            <a:off x="8643143" y="2111636"/>
            <a:ext cx="0" cy="13419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468EF83-5360-AE4E-B218-B8994F298BFE}"/>
              </a:ext>
            </a:extLst>
          </p:cNvPr>
          <p:cNvCxnSpPr>
            <a:cxnSpLocks/>
            <a:endCxn id="39" idx="2"/>
          </p:cNvCxnSpPr>
          <p:nvPr/>
        </p:nvCxnSpPr>
        <p:spPr>
          <a:xfrm flipH="1" flipV="1">
            <a:off x="8549548" y="2175276"/>
            <a:ext cx="811398" cy="31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D9583CB-5525-D34B-9A2A-CCA58F321683}"/>
              </a:ext>
            </a:extLst>
          </p:cNvPr>
          <p:cNvCxnSpPr>
            <a:cxnSpLocks/>
          </p:cNvCxnSpPr>
          <p:nvPr/>
        </p:nvCxnSpPr>
        <p:spPr>
          <a:xfrm flipV="1">
            <a:off x="7592447" y="2527265"/>
            <a:ext cx="0" cy="5016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0F090929-76C4-F042-A517-802F1F3FE36E}"/>
              </a:ext>
            </a:extLst>
          </p:cNvPr>
          <p:cNvSpPr/>
          <p:nvPr/>
        </p:nvSpPr>
        <p:spPr>
          <a:xfrm>
            <a:off x="7480720" y="2449179"/>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42081595-85FF-1047-BDB8-EDD74E502878}"/>
              </a:ext>
            </a:extLst>
          </p:cNvPr>
          <p:cNvCxnSpPr>
            <a:cxnSpLocks/>
            <a:stCxn id="35" idx="2"/>
          </p:cNvCxnSpPr>
          <p:nvPr/>
        </p:nvCxnSpPr>
        <p:spPr>
          <a:xfrm>
            <a:off x="7480720" y="2539179"/>
            <a:ext cx="19145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9A8785CD-B462-AB45-B450-B86996532ACB}"/>
              </a:ext>
            </a:extLst>
          </p:cNvPr>
          <p:cNvSpPr/>
          <p:nvPr/>
        </p:nvSpPr>
        <p:spPr>
          <a:xfrm>
            <a:off x="8549548" y="2085276"/>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A08B3BF-FFEE-1A41-A940-EC93CA3DFBA9}"/>
              </a:ext>
            </a:extLst>
          </p:cNvPr>
          <p:cNvSpPr/>
          <p:nvPr/>
        </p:nvSpPr>
        <p:spPr>
          <a:xfrm>
            <a:off x="8394265" y="3061750"/>
            <a:ext cx="540000" cy="5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37" name="Rectangle 36">
            <a:extLst>
              <a:ext uri="{FF2B5EF4-FFF2-40B4-BE49-F238E27FC236}">
                <a16:creationId xmlns:a16="http://schemas.microsoft.com/office/drawing/2014/main" id="{E1B215E3-86B8-2E43-998F-994B2506E741}"/>
              </a:ext>
            </a:extLst>
          </p:cNvPr>
          <p:cNvSpPr/>
          <p:nvPr/>
        </p:nvSpPr>
        <p:spPr>
          <a:xfrm>
            <a:off x="7277447" y="3028960"/>
            <a:ext cx="630000" cy="630000"/>
          </a:xfrm>
          <a:prstGeom prst="rect">
            <a:avLst/>
          </a:prstGeom>
          <a:solidFill>
            <a:srgbClr val="33B1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pitchFamily="2" charset="0"/>
              </a:rPr>
              <a:t>Z</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BF2BD8A4-0600-3544-961C-C87391C89F5F}"/>
                  </a:ext>
                </a:extLst>
              </p:cNvPr>
              <p:cNvSpPr/>
              <p:nvPr/>
            </p:nvSpPr>
            <p:spPr>
              <a:xfrm>
                <a:off x="9485320" y="3074872"/>
                <a:ext cx="1503810" cy="5057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𝑚</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e>
                      </m:d>
                    </m:oMath>
                  </m:oMathPara>
                </a14:m>
                <a:endParaRPr lang="en-US" sz="2400" dirty="0"/>
              </a:p>
            </p:txBody>
          </p:sp>
        </mc:Choice>
        <mc:Fallback xmlns="">
          <p:sp>
            <p:nvSpPr>
              <p:cNvPr id="42" name="Rectangle 41">
                <a:extLst>
                  <a:ext uri="{FF2B5EF4-FFF2-40B4-BE49-F238E27FC236}">
                    <a16:creationId xmlns:a16="http://schemas.microsoft.com/office/drawing/2014/main" id="{BF2BD8A4-0600-3544-961C-C87391C89F5F}"/>
                  </a:ext>
                </a:extLst>
              </p:cNvPr>
              <p:cNvSpPr>
                <a:spLocks noRot="1" noChangeAspect="1" noMove="1" noResize="1" noEditPoints="1" noAdjustHandles="1" noChangeArrowheads="1" noChangeShapeType="1" noTextEdit="1"/>
              </p:cNvSpPr>
              <p:nvPr/>
            </p:nvSpPr>
            <p:spPr>
              <a:xfrm>
                <a:off x="9485320" y="3074872"/>
                <a:ext cx="1503810" cy="505779"/>
              </a:xfrm>
              <a:prstGeom prst="rect">
                <a:avLst/>
              </a:prstGeom>
              <a:blipFill>
                <a:blip r:embed="rId7"/>
                <a:stretch>
                  <a:fillRect l="-4202" t="-156098" r="-32773" b="-2414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B676DB71-1C31-8244-8E70-DEDA14744B1D}"/>
                  </a:ext>
                </a:extLst>
              </p:cNvPr>
              <p:cNvSpPr/>
              <p:nvPr/>
            </p:nvSpPr>
            <p:spPr>
              <a:xfrm>
                <a:off x="9507126" y="1746587"/>
                <a:ext cx="100271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𝑎</m:t>
                      </m:r>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49" name="Rectangle 48">
                <a:extLst>
                  <a:ext uri="{FF2B5EF4-FFF2-40B4-BE49-F238E27FC236}">
                    <a16:creationId xmlns:a16="http://schemas.microsoft.com/office/drawing/2014/main" id="{B676DB71-1C31-8244-8E70-DEDA14744B1D}"/>
                  </a:ext>
                </a:extLst>
              </p:cNvPr>
              <p:cNvSpPr>
                <a:spLocks noRot="1" noChangeAspect="1" noMove="1" noResize="1" noEditPoints="1" noAdjustHandles="1" noChangeArrowheads="1" noChangeShapeType="1" noTextEdit="1"/>
              </p:cNvSpPr>
              <p:nvPr/>
            </p:nvSpPr>
            <p:spPr>
              <a:xfrm>
                <a:off x="9507126" y="1746587"/>
                <a:ext cx="1002710"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D6C8CA31-464F-8B42-88FE-9B16509388DB}"/>
                  </a:ext>
                </a:extLst>
              </p:cNvPr>
              <p:cNvSpPr/>
              <p:nvPr/>
            </p:nvSpPr>
            <p:spPr>
              <a:xfrm>
                <a:off x="9518801" y="2167514"/>
                <a:ext cx="99552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𝑏</m:t>
                      </m:r>
                      <m:r>
                        <a:rPr lang="en-US" sz="2400" b="0" i="1" smtClean="0">
                          <a:latin typeface="Cambria Math" panose="02040503050406030204" pitchFamily="18" charset="0"/>
                        </a:rPr>
                        <m:t>=0</m:t>
                      </m:r>
                    </m:oMath>
                  </m:oMathPara>
                </a14:m>
                <a:endParaRPr lang="en-US" sz="2400" dirty="0"/>
              </a:p>
            </p:txBody>
          </p:sp>
        </mc:Choice>
        <mc:Fallback xmlns="">
          <p:sp>
            <p:nvSpPr>
              <p:cNvPr id="50" name="Rectangle 49">
                <a:extLst>
                  <a:ext uri="{FF2B5EF4-FFF2-40B4-BE49-F238E27FC236}">
                    <a16:creationId xmlns:a16="http://schemas.microsoft.com/office/drawing/2014/main" id="{D6C8CA31-464F-8B42-88FE-9B16509388DB}"/>
                  </a:ext>
                </a:extLst>
              </p:cNvPr>
              <p:cNvSpPr>
                <a:spLocks noRot="1" noChangeAspect="1" noMove="1" noResize="1" noEditPoints="1" noAdjustHandles="1" noChangeArrowheads="1" noChangeShapeType="1" noTextEdit="1"/>
              </p:cNvSpPr>
              <p:nvPr/>
            </p:nvSpPr>
            <p:spPr>
              <a:xfrm>
                <a:off x="9518801" y="2167514"/>
                <a:ext cx="995529"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1884A92A-EF1A-7D4B-A336-3751095EEDF9}"/>
                  </a:ext>
                </a:extLst>
              </p:cNvPr>
              <p:cNvSpPr/>
              <p:nvPr/>
            </p:nvSpPr>
            <p:spPr>
              <a:xfrm>
                <a:off x="8245826" y="1664159"/>
                <a:ext cx="967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54" name="Rectangle 53">
                <a:extLst>
                  <a:ext uri="{FF2B5EF4-FFF2-40B4-BE49-F238E27FC236}">
                    <a16:creationId xmlns:a16="http://schemas.microsoft.com/office/drawing/2014/main" id="{1884A92A-EF1A-7D4B-A336-3751095EEDF9}"/>
                  </a:ext>
                </a:extLst>
              </p:cNvPr>
              <p:cNvSpPr>
                <a:spLocks noRot="1" noChangeAspect="1" noMove="1" noResize="1" noEditPoints="1" noAdjustHandles="1" noChangeArrowheads="1" noChangeShapeType="1" noTextEdit="1"/>
              </p:cNvSpPr>
              <p:nvPr/>
            </p:nvSpPr>
            <p:spPr>
              <a:xfrm>
                <a:off x="8245826" y="1664159"/>
                <a:ext cx="967444"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C2D9D720-7DFB-1A46-9861-9CC418DAB5F3}"/>
                  </a:ext>
                </a:extLst>
              </p:cNvPr>
              <p:cNvSpPr/>
              <p:nvPr/>
            </p:nvSpPr>
            <p:spPr>
              <a:xfrm>
                <a:off x="7144276" y="2003364"/>
                <a:ext cx="9674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55" name="Rectangle 54">
                <a:extLst>
                  <a:ext uri="{FF2B5EF4-FFF2-40B4-BE49-F238E27FC236}">
                    <a16:creationId xmlns:a16="http://schemas.microsoft.com/office/drawing/2014/main" id="{C2D9D720-7DFB-1A46-9861-9CC418DAB5F3}"/>
                  </a:ext>
                </a:extLst>
              </p:cNvPr>
              <p:cNvSpPr>
                <a:spLocks noRot="1" noChangeAspect="1" noMove="1" noResize="1" noEditPoints="1" noAdjustHandles="1" noChangeArrowheads="1" noChangeShapeType="1" noTextEdit="1"/>
              </p:cNvSpPr>
              <p:nvPr/>
            </p:nvSpPr>
            <p:spPr>
              <a:xfrm>
                <a:off x="7144276" y="2003364"/>
                <a:ext cx="967444" cy="461665"/>
              </a:xfrm>
              <a:prstGeom prst="rect">
                <a:avLst/>
              </a:prstGeom>
              <a:blipFill>
                <a:blip r:embed="rId11"/>
                <a:stretch>
                  <a:fillRect/>
                </a:stretch>
              </a:blipFill>
            </p:spPr>
            <p:txBody>
              <a:bodyPr/>
              <a:lstStyle/>
              <a:p>
                <a:r>
                  <a:rPr lang="en-US">
                    <a:noFill/>
                  </a:rPr>
                  <a:t> </a:t>
                </a:r>
              </a:p>
            </p:txBody>
          </p:sp>
        </mc:Fallback>
      </mc:AlternateContent>
      <p:pic>
        <p:nvPicPr>
          <p:cNvPr id="56" name="Picture 55">
            <a:extLst>
              <a:ext uri="{FF2B5EF4-FFF2-40B4-BE49-F238E27FC236}">
                <a16:creationId xmlns:a16="http://schemas.microsoft.com/office/drawing/2014/main" id="{961BA031-A192-A14B-875D-48A43297A01C}"/>
              </a:ext>
            </a:extLst>
          </p:cNvPr>
          <p:cNvPicPr>
            <a:picLocks noChangeAspect="1"/>
          </p:cNvPicPr>
          <p:nvPr/>
        </p:nvPicPr>
        <p:blipFill>
          <a:blip r:embed="rId12"/>
          <a:stretch>
            <a:fillRect/>
          </a:stretch>
        </p:blipFill>
        <p:spPr>
          <a:xfrm>
            <a:off x="453742" y="2144394"/>
            <a:ext cx="661021" cy="1018228"/>
          </a:xfrm>
          <a:prstGeom prst="rect">
            <a:avLst/>
          </a:prstGeom>
        </p:spPr>
      </p:pic>
      <p:pic>
        <p:nvPicPr>
          <p:cNvPr id="57" name="Picture 56">
            <a:extLst>
              <a:ext uri="{FF2B5EF4-FFF2-40B4-BE49-F238E27FC236}">
                <a16:creationId xmlns:a16="http://schemas.microsoft.com/office/drawing/2014/main" id="{8371CB59-0EA7-B846-A36C-1CA59B5C96F7}"/>
              </a:ext>
            </a:extLst>
          </p:cNvPr>
          <p:cNvPicPr>
            <a:picLocks noChangeAspect="1"/>
          </p:cNvPicPr>
          <p:nvPr/>
        </p:nvPicPr>
        <p:blipFill>
          <a:blip r:embed="rId13"/>
          <a:stretch>
            <a:fillRect/>
          </a:stretch>
        </p:blipFill>
        <p:spPr>
          <a:xfrm>
            <a:off x="11097158" y="1948359"/>
            <a:ext cx="833157" cy="1234056"/>
          </a:xfrm>
          <a:prstGeom prst="rect">
            <a:avLst/>
          </a:prstGeom>
        </p:spPr>
      </p:pic>
      <p:sp>
        <p:nvSpPr>
          <p:cNvPr id="58" name="TextBox 57">
            <a:extLst>
              <a:ext uri="{FF2B5EF4-FFF2-40B4-BE49-F238E27FC236}">
                <a16:creationId xmlns:a16="http://schemas.microsoft.com/office/drawing/2014/main" id="{0C10DDDF-D4DF-F840-85F4-9AA4E632932C}"/>
              </a:ext>
            </a:extLst>
          </p:cNvPr>
          <p:cNvSpPr txBox="1"/>
          <p:nvPr/>
        </p:nvSpPr>
        <p:spPr>
          <a:xfrm>
            <a:off x="986298" y="4348303"/>
            <a:ext cx="2472280" cy="461665"/>
          </a:xfrm>
          <a:prstGeom prst="rect">
            <a:avLst/>
          </a:prstGeom>
          <a:noFill/>
        </p:spPr>
        <p:txBody>
          <a:bodyPr wrap="none" rtlCol="0">
            <a:spAutoFit/>
          </a:bodyPr>
          <a:lstStyle/>
          <a:p>
            <a:r>
              <a:rPr lang="en-ZA" sz="2400" dirty="0"/>
              <a:t>Encryption (Alice):</a:t>
            </a:r>
            <a:endParaRPr lang="en-US" sz="2400" dirty="0"/>
          </a:p>
        </p:txBody>
      </p:sp>
      <p:sp>
        <p:nvSpPr>
          <p:cNvPr id="59" name="TextBox 58">
            <a:extLst>
              <a:ext uri="{FF2B5EF4-FFF2-40B4-BE49-F238E27FC236}">
                <a16:creationId xmlns:a16="http://schemas.microsoft.com/office/drawing/2014/main" id="{6490A387-73AE-8E4B-82C0-9DDC97F038C6}"/>
              </a:ext>
            </a:extLst>
          </p:cNvPr>
          <p:cNvSpPr txBox="1"/>
          <p:nvPr/>
        </p:nvSpPr>
        <p:spPr>
          <a:xfrm>
            <a:off x="7927853" y="4348303"/>
            <a:ext cx="2390526" cy="461665"/>
          </a:xfrm>
          <a:prstGeom prst="rect">
            <a:avLst/>
          </a:prstGeom>
          <a:noFill/>
        </p:spPr>
        <p:txBody>
          <a:bodyPr wrap="none" rtlCol="0">
            <a:spAutoFit/>
          </a:bodyPr>
          <a:lstStyle/>
          <a:p>
            <a:r>
              <a:rPr lang="en-ZA" sz="2400" dirty="0"/>
              <a:t>Decryption (Bob):</a:t>
            </a:r>
            <a:endParaRPr lang="en-US" sz="2400" dirty="0"/>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BF0941DC-9A98-D64E-91AE-631095B8D9E3}"/>
                  </a:ext>
                </a:extLst>
              </p:cNvPr>
              <p:cNvSpPr/>
              <p:nvPr/>
            </p:nvSpPr>
            <p:spPr>
              <a:xfrm>
                <a:off x="986298" y="5101371"/>
                <a:ext cx="2715102" cy="468205"/>
              </a:xfrm>
              <a:prstGeom prst="rect">
                <a:avLst/>
              </a:prstGeom>
            </p:spPr>
            <p:txBody>
              <a:bodyPr wrap="none">
                <a:spAutoFit/>
              </a:bodyPr>
              <a:lstStyle/>
              <a:p>
                <a14:m>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𝑚</m:t>
                            </m:r>
                          </m:e>
                          <m:sub>
                            <m:r>
                              <a:rPr lang="en-US" sz="2400" b="0" i="1" smtClean="0">
                                <a:solidFill>
                                  <a:srgbClr val="002060"/>
                                </a:solidFill>
                                <a:latin typeface="Cambria Math" panose="02040503050406030204" pitchFamily="18" charset="0"/>
                                <a:ea typeface="Cambria Math" panose="02040503050406030204" pitchFamily="18" charset="0"/>
                              </a:rPr>
                              <m:t>𝑒𝑛𝑐</m:t>
                            </m:r>
                          </m:sub>
                        </m:sSub>
                      </m:e>
                    </m:d>
                    <m:r>
                      <a:rPr lang="en-US" sz="2400" b="0" i="1" smtClean="0">
                        <a:solidFill>
                          <a:srgbClr val="002060"/>
                        </a:solidFill>
                        <a:latin typeface="Cambria Math" panose="02040503050406030204" pitchFamily="18" charset="0"/>
                        <a:ea typeface="Cambria Math" panose="02040503050406030204" pitchFamily="18" charset="0"/>
                      </a:rPr>
                      <m:t>=</m:t>
                    </m:r>
                    <m:sSup>
                      <m:sSupPr>
                        <m:ctrlPr>
                          <a:rPr lang="en-US" sz="2400" b="0" i="1" smtClean="0">
                            <a:solidFill>
                              <a:srgbClr val="002060"/>
                            </a:solidFill>
                            <a:latin typeface="Cambria Math" panose="02040503050406030204" pitchFamily="18" charset="0"/>
                            <a:ea typeface="Cambria Math" panose="02040503050406030204" pitchFamily="18" charset="0"/>
                          </a:rPr>
                        </m:ctrlPr>
                      </m:sSupPr>
                      <m:e>
                        <m:r>
                          <a:rPr lang="en-US" sz="2400" b="0" i="1" smtClean="0">
                            <a:solidFill>
                              <a:srgbClr val="002060"/>
                            </a:solidFill>
                            <a:latin typeface="Cambria Math" panose="02040503050406030204" pitchFamily="18" charset="0"/>
                            <a:ea typeface="Cambria Math" panose="02040503050406030204" pitchFamily="18" charset="0"/>
                          </a:rPr>
                          <m:t>𝑍</m:t>
                        </m:r>
                      </m:e>
                      <m:sup>
                        <m:r>
                          <a:rPr lang="en-US" sz="2400" b="0" i="1" smtClean="0">
                            <a:solidFill>
                              <a:srgbClr val="002060"/>
                            </a:solidFill>
                            <a:latin typeface="Cambria Math" panose="02040503050406030204" pitchFamily="18" charset="0"/>
                            <a:ea typeface="Cambria Math" panose="02040503050406030204" pitchFamily="18" charset="0"/>
                          </a:rPr>
                          <m:t>𝑏</m:t>
                        </m:r>
                      </m:sup>
                    </m:sSup>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b="0" i="1" smtClean="0">
                            <a:solidFill>
                              <a:srgbClr val="002060"/>
                            </a:solidFill>
                            <a:latin typeface="Cambria Math" panose="02040503050406030204" pitchFamily="18" charset="0"/>
                            <a:ea typeface="Cambria Math" panose="02040503050406030204" pitchFamily="18" charset="0"/>
                          </a:rPr>
                          <m:t>𝑋</m:t>
                        </m:r>
                      </m:e>
                      <m:sup>
                        <m:r>
                          <a:rPr lang="en-US" sz="2400" b="0" i="1" smtClean="0">
                            <a:solidFill>
                              <a:srgbClr val="002060"/>
                            </a:solidFill>
                            <a:latin typeface="Cambria Math" panose="02040503050406030204" pitchFamily="18" charset="0"/>
                            <a:ea typeface="Cambria Math" panose="02040503050406030204" pitchFamily="18" charset="0"/>
                          </a:rPr>
                          <m:t>𝑎</m:t>
                        </m:r>
                      </m:sup>
                    </m:sSup>
                  </m:oMath>
                </a14:m>
                <a:r>
                  <a:rPr lang="en-US" sz="2400" dirty="0">
                    <a:solidFill>
                      <a:srgbClr val="002060"/>
                    </a:solidFill>
                    <a:ea typeface="Cambria Math" panose="02040503050406030204" pitchFamily="18" charset="0"/>
                  </a:rPr>
                  <a:t> </a:t>
                </a:r>
                <a14:m>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𝑚</m:t>
                        </m:r>
                      </m:e>
                    </m:d>
                  </m:oMath>
                </a14:m>
                <a:endParaRPr lang="en-US" sz="2400" dirty="0"/>
              </a:p>
            </p:txBody>
          </p:sp>
        </mc:Choice>
        <mc:Fallback xmlns="">
          <p:sp>
            <p:nvSpPr>
              <p:cNvPr id="60" name="Rectangle 59">
                <a:extLst>
                  <a:ext uri="{FF2B5EF4-FFF2-40B4-BE49-F238E27FC236}">
                    <a16:creationId xmlns:a16="http://schemas.microsoft.com/office/drawing/2014/main" id="{BF0941DC-9A98-D64E-91AE-631095B8D9E3}"/>
                  </a:ext>
                </a:extLst>
              </p:cNvPr>
              <p:cNvSpPr>
                <a:spLocks noRot="1" noChangeAspect="1" noMove="1" noResize="1" noEditPoints="1" noAdjustHandles="1" noChangeArrowheads="1" noChangeShapeType="1" noTextEdit="1"/>
              </p:cNvSpPr>
              <p:nvPr/>
            </p:nvSpPr>
            <p:spPr>
              <a:xfrm>
                <a:off x="986298" y="5101371"/>
                <a:ext cx="2715102" cy="468205"/>
              </a:xfrm>
              <a:prstGeom prst="rect">
                <a:avLst/>
              </a:prstGeom>
              <a:blipFill>
                <a:blip r:embed="rId14"/>
                <a:stretch>
                  <a:fillRect l="-1869" t="-121053" r="-12150" b="-18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1CD68C22-1B22-D84F-A44E-A16A392D9CAC}"/>
                  </a:ext>
                </a:extLst>
              </p:cNvPr>
              <p:cNvSpPr/>
              <p:nvPr/>
            </p:nvSpPr>
            <p:spPr>
              <a:xfrm>
                <a:off x="7927853" y="5131583"/>
                <a:ext cx="3141373" cy="475579"/>
              </a:xfrm>
              <a:prstGeom prst="rect">
                <a:avLst/>
              </a:prstGeom>
            </p:spPr>
            <p:txBody>
              <a:bodyPr wrap="none">
                <a:spAutoFit/>
              </a:bodyPr>
              <a:lstStyle/>
              <a:p>
                <a14:m>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b="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rPr>
                              <m:t>𝑚</m:t>
                            </m:r>
                          </m:e>
                          <m:sub>
                            <m:r>
                              <a:rPr lang="en-US" sz="2400" b="0" i="1" smtClean="0">
                                <a:solidFill>
                                  <a:srgbClr val="002060"/>
                                </a:solidFill>
                                <a:latin typeface="Cambria Math" panose="02040503050406030204" pitchFamily="18" charset="0"/>
                                <a:ea typeface="Cambria Math" panose="02040503050406030204" pitchFamily="18" charset="0"/>
                              </a:rPr>
                              <m:t>𝑒𝑛𝑐</m:t>
                            </m:r>
                          </m:sub>
                        </m:sSub>
                      </m:e>
                    </m:d>
                    <m:r>
                      <a:rPr lang="en-US" sz="2400" b="0" i="1" smtClean="0">
                        <a:solidFill>
                          <a:srgbClr val="002060"/>
                        </a:solidFill>
                        <a:latin typeface="Cambria Math" panose="02040503050406030204" pitchFamily="18" charset="0"/>
                        <a:ea typeface="Cambria Math" panose="02040503050406030204" pitchFamily="18" charset="0"/>
                      </a:rPr>
                      <m:t>=</m:t>
                    </m:r>
                    <m:sSup>
                      <m:sSupPr>
                        <m:ctrlPr>
                          <a:rPr lang="en-US" sz="2400" i="1" smtClean="0">
                            <a:solidFill>
                              <a:srgbClr val="002060"/>
                            </a:solidFill>
                            <a:latin typeface="Cambria Math" panose="02040503050406030204" pitchFamily="18" charset="0"/>
                            <a:ea typeface="Cambria Math" panose="02040503050406030204" pitchFamily="18" charset="0"/>
                          </a:rPr>
                        </m:ctrlPr>
                      </m:sSupPr>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b="0" i="1">
                                <a:solidFill>
                                  <a:srgbClr val="002060"/>
                                </a:solidFill>
                                <a:latin typeface="Cambria Math" panose="02040503050406030204" pitchFamily="18" charset="0"/>
                                <a:ea typeface="Cambria Math" panose="02040503050406030204" pitchFamily="18" charset="0"/>
                              </a:rPr>
                              <m:t>𝑋</m:t>
                            </m:r>
                          </m:e>
                          <m:sup>
                            <m:r>
                              <a:rPr lang="en-US" sz="2400" b="0" i="1">
                                <a:solidFill>
                                  <a:srgbClr val="002060"/>
                                </a:solidFill>
                                <a:latin typeface="Cambria Math" panose="02040503050406030204" pitchFamily="18" charset="0"/>
                                <a:ea typeface="Cambria Math" panose="02040503050406030204" pitchFamily="18" charset="0"/>
                              </a:rPr>
                              <m:t>𝑎</m:t>
                            </m:r>
                          </m:sup>
                        </m:sSup>
                        <m:r>
                          <a:rPr lang="en-US" sz="2400" b="0" i="1" smtClean="0">
                            <a:solidFill>
                              <a:srgbClr val="002060"/>
                            </a:solidFill>
                            <a:latin typeface="Cambria Math" panose="02040503050406030204" pitchFamily="18" charset="0"/>
                            <a:ea typeface="Cambria Math" panose="02040503050406030204" pitchFamily="18" charset="0"/>
                          </a:rPr>
                          <m:t>𝑍</m:t>
                        </m:r>
                      </m:e>
                      <m:sup>
                        <m:r>
                          <a:rPr lang="en-US" sz="2400" b="0" i="1" smtClean="0">
                            <a:solidFill>
                              <a:srgbClr val="002060"/>
                            </a:solidFill>
                            <a:latin typeface="Cambria Math" panose="02040503050406030204" pitchFamily="18" charset="0"/>
                            <a:ea typeface="Cambria Math" panose="02040503050406030204" pitchFamily="18" charset="0"/>
                          </a:rPr>
                          <m:t>𝑏</m:t>
                        </m:r>
                      </m:sup>
                    </m:sSup>
                  </m:oMath>
                </a14:m>
                <a:r>
                  <a:rPr lang="en-US" sz="2400" dirty="0">
                    <a:solidFill>
                      <a:srgbClr val="002060"/>
                    </a:solidFill>
                    <a:ea typeface="Cambria Math" panose="02040503050406030204" pitchFamily="18" charset="0"/>
                  </a:rPr>
                  <a:t> </a:t>
                </a:r>
                <a14:m>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b="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b="0" i="1">
                                <a:solidFill>
                                  <a:srgbClr val="002060"/>
                                </a:solidFill>
                                <a:latin typeface="Cambria Math" panose="02040503050406030204" pitchFamily="18" charset="0"/>
                                <a:ea typeface="Cambria Math" panose="02040503050406030204" pitchFamily="18" charset="0"/>
                              </a:rPr>
                              <m:t>𝑚</m:t>
                            </m:r>
                          </m:e>
                          <m:sub>
                            <m:r>
                              <a:rPr lang="en-US" sz="2400" b="0" i="1">
                                <a:solidFill>
                                  <a:srgbClr val="002060"/>
                                </a:solidFill>
                                <a:latin typeface="Cambria Math" panose="02040503050406030204" pitchFamily="18" charset="0"/>
                                <a:ea typeface="Cambria Math" panose="02040503050406030204" pitchFamily="18" charset="0"/>
                              </a:rPr>
                              <m:t>𝑒𝑛𝑐</m:t>
                            </m:r>
                          </m:sub>
                        </m:sSub>
                      </m:e>
                    </m:d>
                  </m:oMath>
                </a14:m>
                <a:endParaRPr lang="en-US" sz="2400" dirty="0"/>
              </a:p>
            </p:txBody>
          </p:sp>
        </mc:Choice>
        <mc:Fallback xmlns="">
          <p:sp>
            <p:nvSpPr>
              <p:cNvPr id="62" name="Rectangle 61">
                <a:extLst>
                  <a:ext uri="{FF2B5EF4-FFF2-40B4-BE49-F238E27FC236}">
                    <a16:creationId xmlns:a16="http://schemas.microsoft.com/office/drawing/2014/main" id="{1CD68C22-1B22-D84F-A44E-A16A392D9CAC}"/>
                  </a:ext>
                </a:extLst>
              </p:cNvPr>
              <p:cNvSpPr>
                <a:spLocks noRot="1" noChangeAspect="1" noMove="1" noResize="1" noEditPoints="1" noAdjustHandles="1" noChangeArrowheads="1" noChangeShapeType="1" noTextEdit="1"/>
              </p:cNvSpPr>
              <p:nvPr/>
            </p:nvSpPr>
            <p:spPr>
              <a:xfrm>
                <a:off x="7927853" y="5131583"/>
                <a:ext cx="3141373" cy="475579"/>
              </a:xfrm>
              <a:prstGeom prst="rect">
                <a:avLst/>
              </a:prstGeom>
              <a:blipFill>
                <a:blip r:embed="rId15"/>
                <a:stretch>
                  <a:fillRect l="-1613" t="-117949" r="-9274" b="-17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B84A0157-3EF4-1E46-B6FA-54CDFF586926}"/>
                  </a:ext>
                </a:extLst>
              </p:cNvPr>
              <p:cNvSpPr txBox="1"/>
              <p:nvPr/>
            </p:nvSpPr>
            <p:spPr>
              <a:xfrm>
                <a:off x="4784367" y="1117521"/>
                <a:ext cx="2765565" cy="523220"/>
              </a:xfrm>
              <a:prstGeom prst="rect">
                <a:avLst/>
              </a:prstGeom>
              <a:noFill/>
            </p:spPr>
            <p:txBody>
              <a:bodyPr wrap="none" rtlCol="0">
                <a:spAutoFit/>
              </a:bodyPr>
              <a:lstStyle/>
              <a:p>
                <a:r>
                  <a:rPr lang="en-US" sz="2800" dirty="0">
                    <a:solidFill>
                      <a:srgbClr val="002060"/>
                    </a:solidFill>
                    <a:ea typeface="Cambria Math" panose="02040503050406030204" pitchFamily="18" charset="0"/>
                  </a:rPr>
                  <a:t>s</a:t>
                </a:r>
                <a:r>
                  <a:rPr lang="en-US" sz="2800" b="0" dirty="0">
                    <a:solidFill>
                      <a:srgbClr val="002060"/>
                    </a:solidFill>
                    <a:ea typeface="Cambria Math" panose="02040503050406030204" pitchFamily="18" charset="0"/>
                  </a:rPr>
                  <a:t>hared key: </a:t>
                </a:r>
                <a14:m>
                  <m:oMath xmlns:m="http://schemas.openxmlformats.org/officeDocument/2006/math">
                    <m:d>
                      <m:dPr>
                        <m:ctrlPr>
                          <a:rPr lang="en-US" sz="2800" b="0" i="1" smtClean="0">
                            <a:solidFill>
                              <a:srgbClr val="002060"/>
                            </a:solidFill>
                            <a:latin typeface="Cambria Math" panose="02040503050406030204" pitchFamily="18" charset="0"/>
                            <a:ea typeface="Cambria Math" panose="02040503050406030204" pitchFamily="18" charset="0"/>
                          </a:rPr>
                        </m:ctrlPr>
                      </m:dPr>
                      <m:e>
                        <m:r>
                          <a:rPr lang="en-US" sz="2800" i="1">
                            <a:solidFill>
                              <a:srgbClr val="002060"/>
                            </a:solidFill>
                            <a:latin typeface="Cambria Math" panose="02040503050406030204" pitchFamily="18" charset="0"/>
                            <a:ea typeface="Cambria Math" panose="02040503050406030204" pitchFamily="18" charset="0"/>
                          </a:rPr>
                          <m:t>𝑎</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𝑏</m:t>
                        </m:r>
                      </m:e>
                    </m:d>
                  </m:oMath>
                </a14:m>
                <a:endParaRPr lang="en-US" sz="2800" dirty="0"/>
              </a:p>
            </p:txBody>
          </p:sp>
        </mc:Choice>
        <mc:Fallback xmlns="">
          <p:sp>
            <p:nvSpPr>
              <p:cNvPr id="63" name="TextBox 62">
                <a:extLst>
                  <a:ext uri="{FF2B5EF4-FFF2-40B4-BE49-F238E27FC236}">
                    <a16:creationId xmlns:a16="http://schemas.microsoft.com/office/drawing/2014/main" id="{B84A0157-3EF4-1E46-B6FA-54CDFF586926}"/>
                  </a:ext>
                </a:extLst>
              </p:cNvPr>
              <p:cNvSpPr txBox="1">
                <a:spLocks noRot="1" noChangeAspect="1" noMove="1" noResize="1" noEditPoints="1" noAdjustHandles="1" noChangeArrowheads="1" noChangeShapeType="1" noTextEdit="1"/>
              </p:cNvSpPr>
              <p:nvPr/>
            </p:nvSpPr>
            <p:spPr>
              <a:xfrm>
                <a:off x="4784367" y="1117521"/>
                <a:ext cx="2765565" cy="523220"/>
              </a:xfrm>
              <a:prstGeom prst="rect">
                <a:avLst/>
              </a:prstGeom>
              <a:blipFill>
                <a:blip r:embed="rId16"/>
                <a:stretch>
                  <a:fillRect l="-4587" t="-9524"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C3E65D27-484B-1142-B0D0-A1384D36FFFD}"/>
                  </a:ext>
                </a:extLst>
              </p:cNvPr>
              <p:cNvSpPr txBox="1"/>
              <p:nvPr/>
            </p:nvSpPr>
            <p:spPr>
              <a:xfrm>
                <a:off x="4539912" y="5920353"/>
                <a:ext cx="3178562" cy="468205"/>
              </a:xfrm>
              <a:prstGeom prst="rect">
                <a:avLst/>
              </a:prstGeom>
              <a:solidFill>
                <a:schemeClr val="accent4">
                  <a:lumMod val="20000"/>
                  <a:lumOff val="80000"/>
                </a:schemeClr>
              </a:solidFill>
            </p:spPr>
            <p:txBody>
              <a:bodyPr wrap="none" rtlCol="0">
                <a:spAutoFit/>
              </a:bodyPr>
              <a:lstStyle/>
              <a:p>
                <a:r>
                  <a:rPr lang="en-US" sz="2400" dirty="0">
                    <a:solidFill>
                      <a:srgbClr val="002060"/>
                    </a:solidFill>
                    <a:ea typeface="Cambria Math" panose="02040503050406030204" pitchFamily="18" charset="0"/>
                  </a:rPr>
                  <a:t> </a:t>
                </a:r>
                <a14:m>
                  <m:oMath xmlns:m="http://schemas.openxmlformats.org/officeDocument/2006/math">
                    <m:sSup>
                      <m:sSupPr>
                        <m:ctrlPr>
                          <a:rPr lang="en-US" sz="2400" i="1">
                            <a:solidFill>
                              <a:srgbClr val="002060"/>
                            </a:solidFill>
                            <a:latin typeface="Cambria Math" panose="02040503050406030204" pitchFamily="18" charset="0"/>
                            <a:ea typeface="Cambria Math" panose="02040503050406030204" pitchFamily="18" charset="0"/>
                          </a:rPr>
                        </m:ctrlPr>
                      </m:sSupPr>
                      <m:e>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𝑋</m:t>
                            </m:r>
                          </m:e>
                          <m:sup>
                            <m:r>
                              <a:rPr lang="en-US" sz="2400" i="1">
                                <a:solidFill>
                                  <a:srgbClr val="002060"/>
                                </a:solidFill>
                                <a:latin typeface="Cambria Math" panose="02040503050406030204" pitchFamily="18" charset="0"/>
                                <a:ea typeface="Cambria Math" panose="02040503050406030204" pitchFamily="18" charset="0"/>
                              </a:rPr>
                              <m:t>𝑎</m:t>
                            </m:r>
                          </m:sup>
                        </m:sSup>
                        <m:r>
                          <a:rPr lang="en-US" sz="2400" i="1">
                            <a:solidFill>
                              <a:srgbClr val="002060"/>
                            </a:solidFill>
                            <a:latin typeface="Cambria Math" panose="02040503050406030204" pitchFamily="18" charset="0"/>
                            <a:ea typeface="Cambria Math" panose="02040503050406030204" pitchFamily="18" charset="0"/>
                          </a:rPr>
                          <m:t>𝑍</m:t>
                        </m:r>
                      </m:e>
                      <m:sup>
                        <m:r>
                          <a:rPr lang="en-US" sz="2400" i="1">
                            <a:solidFill>
                              <a:srgbClr val="002060"/>
                            </a:solidFill>
                            <a:latin typeface="Cambria Math" panose="02040503050406030204" pitchFamily="18" charset="0"/>
                            <a:ea typeface="Cambria Math" panose="02040503050406030204" pitchFamily="18" charset="0"/>
                          </a:rPr>
                          <m:t>𝑏</m:t>
                        </m:r>
                      </m:sup>
                    </m:sSup>
                  </m:oMath>
                </a14:m>
                <a:r>
                  <a:rPr lang="en-US" sz="2400" dirty="0">
                    <a:solidFill>
                      <a:srgbClr val="002060"/>
                    </a:solidFill>
                    <a:ea typeface="Cambria Math" panose="02040503050406030204" pitchFamily="18" charset="0"/>
                  </a:rPr>
                  <a:t> </a:t>
                </a:r>
                <a14:m>
                  <m:oMath xmlns:m="http://schemas.openxmlformats.org/officeDocument/2006/math">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𝑍</m:t>
                        </m:r>
                      </m:e>
                      <m:sup>
                        <m:r>
                          <a:rPr lang="en-US" sz="2400" i="1">
                            <a:solidFill>
                              <a:srgbClr val="002060"/>
                            </a:solidFill>
                            <a:latin typeface="Cambria Math" panose="02040503050406030204" pitchFamily="18" charset="0"/>
                            <a:ea typeface="Cambria Math" panose="02040503050406030204" pitchFamily="18" charset="0"/>
                          </a:rPr>
                          <m:t>𝑏</m:t>
                        </m:r>
                      </m:sup>
                    </m:sSup>
                    <m:sSup>
                      <m:sSupPr>
                        <m:ctrlPr>
                          <a:rPr lang="en-US" sz="2400" i="1">
                            <a:solidFill>
                              <a:srgbClr val="002060"/>
                            </a:solidFill>
                            <a:latin typeface="Cambria Math" panose="02040503050406030204" pitchFamily="18" charset="0"/>
                            <a:ea typeface="Cambria Math" panose="02040503050406030204" pitchFamily="18" charset="0"/>
                          </a:rPr>
                        </m:ctrlPr>
                      </m:sSupPr>
                      <m:e>
                        <m:r>
                          <a:rPr lang="en-US" sz="2400" i="1">
                            <a:solidFill>
                              <a:srgbClr val="002060"/>
                            </a:solidFill>
                            <a:latin typeface="Cambria Math" panose="02040503050406030204" pitchFamily="18" charset="0"/>
                            <a:ea typeface="Cambria Math" panose="02040503050406030204" pitchFamily="18" charset="0"/>
                          </a:rPr>
                          <m:t>𝑋</m:t>
                        </m:r>
                      </m:e>
                      <m:sup>
                        <m:r>
                          <a:rPr lang="en-US" sz="2400" i="1">
                            <a:solidFill>
                              <a:srgbClr val="002060"/>
                            </a:solidFill>
                            <a:latin typeface="Cambria Math" panose="02040503050406030204" pitchFamily="18" charset="0"/>
                            <a:ea typeface="Cambria Math" panose="02040503050406030204" pitchFamily="18" charset="0"/>
                          </a:rPr>
                          <m:t>𝑎</m:t>
                        </m:r>
                      </m:sup>
                    </m:sSup>
                  </m:oMath>
                </a14:m>
                <a:r>
                  <a:rPr lang="en-US" sz="2400" dirty="0">
                    <a:solidFill>
                      <a:srgbClr val="002060"/>
                    </a:solidFill>
                    <a:ea typeface="Cambria Math" panose="02040503050406030204" pitchFamily="18" charset="0"/>
                  </a:rPr>
                  <a:t> </a:t>
                </a:r>
                <a14:m>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𝑚</m:t>
                        </m:r>
                      </m:e>
                    </m:d>
                    <m:r>
                      <a:rPr lang="en-US" sz="24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𝑚</m:t>
                        </m:r>
                      </m:e>
                    </m:d>
                  </m:oMath>
                </a14:m>
                <a:endParaRPr lang="en-US" sz="2400" dirty="0"/>
              </a:p>
            </p:txBody>
          </p:sp>
        </mc:Choice>
        <mc:Fallback xmlns="">
          <p:sp>
            <p:nvSpPr>
              <p:cNvPr id="64" name="TextBox 63">
                <a:extLst>
                  <a:ext uri="{FF2B5EF4-FFF2-40B4-BE49-F238E27FC236}">
                    <a16:creationId xmlns:a16="http://schemas.microsoft.com/office/drawing/2014/main" id="{C3E65D27-484B-1142-B0D0-A1384D36FFFD}"/>
                  </a:ext>
                </a:extLst>
              </p:cNvPr>
              <p:cNvSpPr txBox="1">
                <a:spLocks noRot="1" noChangeAspect="1" noMove="1" noResize="1" noEditPoints="1" noAdjustHandles="1" noChangeArrowheads="1" noChangeShapeType="1" noTextEdit="1"/>
              </p:cNvSpPr>
              <p:nvPr/>
            </p:nvSpPr>
            <p:spPr>
              <a:xfrm>
                <a:off x="4539912" y="5920353"/>
                <a:ext cx="3178562" cy="468205"/>
              </a:xfrm>
              <a:prstGeom prst="rect">
                <a:avLst/>
              </a:prstGeom>
              <a:blipFill>
                <a:blip r:embed="rId17"/>
                <a:stretch>
                  <a:fillRect t="-121053" r="-10317" b="-186842"/>
                </a:stretch>
              </a:blipFill>
            </p:spPr>
            <p:txBody>
              <a:bodyPr/>
              <a:lstStyle/>
              <a:p>
                <a:r>
                  <a:rPr lang="en-US">
                    <a:noFill/>
                  </a:rPr>
                  <a:t> </a:t>
                </a:r>
              </a:p>
            </p:txBody>
          </p:sp>
        </mc:Fallback>
      </mc:AlternateContent>
      <p:sp>
        <p:nvSpPr>
          <p:cNvPr id="41" name="Slide Number Placeholder 2">
            <a:extLst>
              <a:ext uri="{FF2B5EF4-FFF2-40B4-BE49-F238E27FC236}">
                <a16:creationId xmlns:a16="http://schemas.microsoft.com/office/drawing/2014/main" id="{FF8A92CA-7F4A-E946-BB67-B4309731B5B3}"/>
              </a:ext>
            </a:extLst>
          </p:cNvPr>
          <p:cNvSpPr>
            <a:spLocks noGrp="1"/>
          </p:cNvSpPr>
          <p:nvPr>
            <p:ph type="sldNum" sz="quarter" idx="12"/>
          </p:nvPr>
        </p:nvSpPr>
        <p:spPr>
          <a:xfrm>
            <a:off x="13063" y="6481989"/>
            <a:ext cx="596538" cy="365125"/>
          </a:xfrm>
        </p:spPr>
        <p:txBody>
          <a:bodyPr/>
          <a:lstStyle/>
          <a:p>
            <a:fld id="{591A223C-FA10-BC46-A853-03BA373D023C}" type="slidenum">
              <a:rPr lang="en-US" smtClean="0"/>
              <a:t>5</a:t>
            </a:fld>
            <a:endParaRPr lang="en-US"/>
          </a:p>
        </p:txBody>
      </p:sp>
    </p:spTree>
    <p:extLst>
      <p:ext uri="{BB962C8B-B14F-4D97-AF65-F5344CB8AC3E}">
        <p14:creationId xmlns:p14="http://schemas.microsoft.com/office/powerpoint/2010/main" val="144244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dissolve">
                                      <p:cBhvr>
                                        <p:cTn id="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EC9507-1C0B-EF46-BF28-5BBDA6B447ED}"/>
              </a:ext>
            </a:extLst>
          </p:cNvPr>
          <p:cNvSpPr>
            <a:spLocks noGrp="1"/>
          </p:cNvSpPr>
          <p:nvPr>
            <p:ph type="title"/>
          </p:nvPr>
        </p:nvSpPr>
        <p:spPr/>
        <p:txBody>
          <a:bodyPr/>
          <a:lstStyle/>
          <a:p>
            <a:r>
              <a:rPr lang="en-US" dirty="0"/>
              <a:t>Hash Function</a:t>
            </a:r>
          </a:p>
        </p:txBody>
      </p:sp>
      <p:sp>
        <p:nvSpPr>
          <p:cNvPr id="5" name="TextBox 4">
            <a:extLst>
              <a:ext uri="{FF2B5EF4-FFF2-40B4-BE49-F238E27FC236}">
                <a16:creationId xmlns:a16="http://schemas.microsoft.com/office/drawing/2014/main" id="{0E4AFE87-E427-AB47-9732-A1E82D17FE06}"/>
              </a:ext>
            </a:extLst>
          </p:cNvPr>
          <p:cNvSpPr txBox="1"/>
          <p:nvPr/>
        </p:nvSpPr>
        <p:spPr>
          <a:xfrm>
            <a:off x="424535" y="5135915"/>
            <a:ext cx="11196734" cy="461665"/>
          </a:xfrm>
          <a:prstGeom prst="rect">
            <a:avLst/>
          </a:prstGeom>
          <a:noFill/>
        </p:spPr>
        <p:txBody>
          <a:bodyPr wrap="square" rtlCol="0">
            <a:spAutoFit/>
          </a:bodyPr>
          <a:lstStyle/>
          <a:p>
            <a:pPr algn="ctr"/>
            <a:r>
              <a:rPr lang="en-ZA" sz="2400" dirty="0"/>
              <a:t>A hash is a mapping of an input of arbitrary length to an output of fixed length.</a:t>
            </a:r>
            <a:endParaRPr lang="en-US" sz="2400" dirty="0">
              <a:latin typeface="+mj-lt"/>
            </a:endParaRPr>
          </a:p>
        </p:txBody>
      </p:sp>
      <p:pic>
        <p:nvPicPr>
          <p:cNvPr id="19" name="Picture 18">
            <a:extLst>
              <a:ext uri="{FF2B5EF4-FFF2-40B4-BE49-F238E27FC236}">
                <a16:creationId xmlns:a16="http://schemas.microsoft.com/office/drawing/2014/main" id="{F48449AA-FBCA-5246-83BC-38BB3E59F3F2}"/>
              </a:ext>
            </a:extLst>
          </p:cNvPr>
          <p:cNvPicPr>
            <a:picLocks noChangeAspect="1"/>
          </p:cNvPicPr>
          <p:nvPr/>
        </p:nvPicPr>
        <p:blipFill>
          <a:blip r:embed="rId3"/>
          <a:stretch>
            <a:fillRect/>
          </a:stretch>
        </p:blipFill>
        <p:spPr>
          <a:xfrm>
            <a:off x="609600" y="2319738"/>
            <a:ext cx="2723381" cy="2014022"/>
          </a:xfrm>
          <a:prstGeom prst="rect">
            <a:avLst/>
          </a:prstGeom>
        </p:spPr>
      </p:pic>
      <p:sp>
        <p:nvSpPr>
          <p:cNvPr id="20" name="TextBox 19">
            <a:extLst>
              <a:ext uri="{FF2B5EF4-FFF2-40B4-BE49-F238E27FC236}">
                <a16:creationId xmlns:a16="http://schemas.microsoft.com/office/drawing/2014/main" id="{A877859C-1D63-DE41-91AF-BE88D90D8157}"/>
              </a:ext>
            </a:extLst>
          </p:cNvPr>
          <p:cNvSpPr txBox="1"/>
          <p:nvPr/>
        </p:nvSpPr>
        <p:spPr>
          <a:xfrm>
            <a:off x="490227" y="2730201"/>
            <a:ext cx="2772188" cy="1107996"/>
          </a:xfrm>
          <a:prstGeom prst="rect">
            <a:avLst/>
          </a:prstGeom>
          <a:noFill/>
        </p:spPr>
        <p:txBody>
          <a:bodyPr wrap="square" rtlCol="0">
            <a:spAutoFit/>
          </a:bodyPr>
          <a:lstStyle/>
          <a:p>
            <a:pPr algn="ctr"/>
            <a:r>
              <a:rPr lang="en-ZA" sz="2200" dirty="0">
                <a:latin typeface="Comic Sans MS" panose="030F0902030302020204" pitchFamily="66" charset="0"/>
              </a:rPr>
              <a:t>In cryptography, trust is encrypted</a:t>
            </a:r>
          </a:p>
          <a:p>
            <a:pPr algn="ctr"/>
            <a:r>
              <a:rPr lang="en-ZA" sz="2200" dirty="0">
                <a:latin typeface="Comic Sans MS" panose="030F0902030302020204" pitchFamily="66" charset="0"/>
              </a:rPr>
              <a:t>in every bit.</a:t>
            </a:r>
            <a:endParaRPr lang="en-US" sz="2200" dirty="0">
              <a:latin typeface="Comic Sans MS" panose="030F0902030302020204" pitchFamily="66" charset="0"/>
            </a:endParaRPr>
          </a:p>
        </p:txBody>
      </p:sp>
      <p:sp>
        <p:nvSpPr>
          <p:cNvPr id="18" name="TextBox 17">
            <a:extLst>
              <a:ext uri="{FF2B5EF4-FFF2-40B4-BE49-F238E27FC236}">
                <a16:creationId xmlns:a16="http://schemas.microsoft.com/office/drawing/2014/main" id="{721DC324-2A58-D146-ADAB-ADD619D7F68C}"/>
              </a:ext>
            </a:extLst>
          </p:cNvPr>
          <p:cNvSpPr txBox="1"/>
          <p:nvPr/>
        </p:nvSpPr>
        <p:spPr>
          <a:xfrm>
            <a:off x="6558745" y="2975424"/>
            <a:ext cx="4700926" cy="769441"/>
          </a:xfrm>
          <a:prstGeom prst="rect">
            <a:avLst/>
          </a:prstGeom>
          <a:solidFill>
            <a:schemeClr val="accent4">
              <a:lumMod val="20000"/>
              <a:lumOff val="80000"/>
            </a:schemeClr>
          </a:solidFill>
        </p:spPr>
        <p:txBody>
          <a:bodyPr wrap="square" rtlCol="0">
            <a:spAutoFit/>
          </a:bodyPr>
          <a:lstStyle/>
          <a:p>
            <a:r>
              <a:rPr lang="en-US" sz="2200" dirty="0">
                <a:latin typeface="+mj-lt"/>
              </a:rPr>
              <a:t>4e64bdf98bd6db782d654d4a3b259f27b1284e9bfb8d8c4267fbe8e42d3aa685</a:t>
            </a:r>
          </a:p>
        </p:txBody>
      </p:sp>
      <p:sp>
        <p:nvSpPr>
          <p:cNvPr id="23" name="Cube 22">
            <a:extLst>
              <a:ext uri="{FF2B5EF4-FFF2-40B4-BE49-F238E27FC236}">
                <a16:creationId xmlns:a16="http://schemas.microsoft.com/office/drawing/2014/main" id="{9D32EBAC-13AE-3148-9D10-E26F373F8404}"/>
              </a:ext>
            </a:extLst>
          </p:cNvPr>
          <p:cNvSpPr/>
          <p:nvPr/>
        </p:nvSpPr>
        <p:spPr>
          <a:xfrm>
            <a:off x="3655224" y="2237971"/>
            <a:ext cx="2099586" cy="2095789"/>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HASH</a:t>
            </a:r>
          </a:p>
        </p:txBody>
      </p:sp>
      <p:sp>
        <p:nvSpPr>
          <p:cNvPr id="2" name="TextBox 1">
            <a:extLst>
              <a:ext uri="{FF2B5EF4-FFF2-40B4-BE49-F238E27FC236}">
                <a16:creationId xmlns:a16="http://schemas.microsoft.com/office/drawing/2014/main" id="{AE630882-90A5-8A49-B343-7A4867136512}"/>
              </a:ext>
            </a:extLst>
          </p:cNvPr>
          <p:cNvSpPr txBox="1"/>
          <p:nvPr/>
        </p:nvSpPr>
        <p:spPr>
          <a:xfrm>
            <a:off x="3881197" y="3746200"/>
            <a:ext cx="1254831" cy="461665"/>
          </a:xfrm>
          <a:prstGeom prst="rect">
            <a:avLst/>
          </a:prstGeom>
          <a:noFill/>
        </p:spPr>
        <p:txBody>
          <a:bodyPr wrap="none" rtlCol="0">
            <a:spAutoFit/>
          </a:bodyPr>
          <a:lstStyle/>
          <a:p>
            <a:r>
              <a:rPr lang="en-US" sz="2400" dirty="0">
                <a:solidFill>
                  <a:schemeClr val="bg1"/>
                </a:solidFill>
              </a:rPr>
              <a:t>SHA-256</a:t>
            </a:r>
          </a:p>
        </p:txBody>
      </p:sp>
      <p:sp>
        <p:nvSpPr>
          <p:cNvPr id="3" name="Rectangle 2">
            <a:extLst>
              <a:ext uri="{FF2B5EF4-FFF2-40B4-BE49-F238E27FC236}">
                <a16:creationId xmlns:a16="http://schemas.microsoft.com/office/drawing/2014/main" id="{57AA81AF-EF77-FC40-AB13-9C33E687DA5E}"/>
              </a:ext>
            </a:extLst>
          </p:cNvPr>
          <p:cNvSpPr/>
          <p:nvPr/>
        </p:nvSpPr>
        <p:spPr>
          <a:xfrm>
            <a:off x="3380709" y="3112589"/>
            <a:ext cx="274515" cy="482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0C243941-4B64-4549-9FF0-694277BF657A}"/>
              </a:ext>
            </a:extLst>
          </p:cNvPr>
          <p:cNvSpPr/>
          <p:nvPr/>
        </p:nvSpPr>
        <p:spPr>
          <a:xfrm>
            <a:off x="5504328" y="2861771"/>
            <a:ext cx="1037149" cy="996748"/>
          </a:xfrm>
          <a:prstGeom prst="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E08DCED-D21C-1248-B5FF-71450D09395F}"/>
              </a:ext>
            </a:extLst>
          </p:cNvPr>
          <p:cNvSpPr txBox="1"/>
          <p:nvPr/>
        </p:nvSpPr>
        <p:spPr>
          <a:xfrm>
            <a:off x="1242653" y="1636626"/>
            <a:ext cx="1267335" cy="461665"/>
          </a:xfrm>
          <a:prstGeom prst="rect">
            <a:avLst/>
          </a:prstGeom>
          <a:noFill/>
        </p:spPr>
        <p:txBody>
          <a:bodyPr wrap="none" rtlCol="0">
            <a:spAutoFit/>
          </a:bodyPr>
          <a:lstStyle/>
          <a:p>
            <a:r>
              <a:rPr lang="en-US" sz="2400" dirty="0"/>
              <a:t>message</a:t>
            </a:r>
          </a:p>
        </p:txBody>
      </p:sp>
      <p:sp>
        <p:nvSpPr>
          <p:cNvPr id="12" name="TextBox 11">
            <a:extLst>
              <a:ext uri="{FF2B5EF4-FFF2-40B4-BE49-F238E27FC236}">
                <a16:creationId xmlns:a16="http://schemas.microsoft.com/office/drawing/2014/main" id="{E681ADDA-B787-A745-93C1-F7E1BEF2ACC0}"/>
              </a:ext>
            </a:extLst>
          </p:cNvPr>
          <p:cNvSpPr txBox="1"/>
          <p:nvPr/>
        </p:nvSpPr>
        <p:spPr>
          <a:xfrm>
            <a:off x="7929203" y="1695568"/>
            <a:ext cx="776175" cy="461665"/>
          </a:xfrm>
          <a:prstGeom prst="rect">
            <a:avLst/>
          </a:prstGeom>
          <a:noFill/>
        </p:spPr>
        <p:txBody>
          <a:bodyPr wrap="none" rtlCol="0">
            <a:spAutoFit/>
          </a:bodyPr>
          <a:lstStyle/>
          <a:p>
            <a:r>
              <a:rPr lang="en-US" sz="2400" dirty="0"/>
              <a:t>hash</a:t>
            </a:r>
          </a:p>
        </p:txBody>
      </p:sp>
      <p:sp>
        <p:nvSpPr>
          <p:cNvPr id="13" name="Slide Number Placeholder 2">
            <a:extLst>
              <a:ext uri="{FF2B5EF4-FFF2-40B4-BE49-F238E27FC236}">
                <a16:creationId xmlns:a16="http://schemas.microsoft.com/office/drawing/2014/main" id="{E297222C-DB4C-6149-92B4-FE7D2001715D}"/>
              </a:ext>
            </a:extLst>
          </p:cNvPr>
          <p:cNvSpPr>
            <a:spLocks noGrp="1"/>
          </p:cNvSpPr>
          <p:nvPr>
            <p:ph type="sldNum" sz="quarter" idx="12"/>
          </p:nvPr>
        </p:nvSpPr>
        <p:spPr>
          <a:xfrm>
            <a:off x="13063" y="6481989"/>
            <a:ext cx="596538" cy="365125"/>
          </a:xfrm>
        </p:spPr>
        <p:txBody>
          <a:bodyPr/>
          <a:lstStyle/>
          <a:p>
            <a:fld id="{591A223C-FA10-BC46-A853-03BA373D023C}" type="slidenum">
              <a:rPr lang="en-US" smtClean="0"/>
              <a:t>6</a:t>
            </a:fld>
            <a:endParaRPr lang="en-US"/>
          </a:p>
        </p:txBody>
      </p:sp>
    </p:spTree>
    <p:extLst>
      <p:ext uri="{BB962C8B-B14F-4D97-AF65-F5344CB8AC3E}">
        <p14:creationId xmlns:p14="http://schemas.microsoft.com/office/powerpoint/2010/main" val="3082637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1BC8D3-0119-1348-B479-9DC87B47C7BF}"/>
              </a:ext>
            </a:extLst>
          </p:cNvPr>
          <p:cNvSpPr>
            <a:spLocks noGrp="1"/>
          </p:cNvSpPr>
          <p:nvPr>
            <p:ph type="sldNum" sz="quarter" idx="12"/>
          </p:nvPr>
        </p:nvSpPr>
        <p:spPr/>
        <p:txBody>
          <a:bodyPr/>
          <a:lstStyle/>
          <a:p>
            <a:fld id="{591A223C-FA10-BC46-A853-03BA373D023C}" type="slidenum">
              <a:rPr lang="en-US" smtClean="0"/>
              <a:t>7</a:t>
            </a:fld>
            <a:endParaRPr lang="en-US"/>
          </a:p>
        </p:txBody>
      </p:sp>
      <p:sp>
        <p:nvSpPr>
          <p:cNvPr id="2" name="Title 1">
            <a:extLst>
              <a:ext uri="{FF2B5EF4-FFF2-40B4-BE49-F238E27FC236}">
                <a16:creationId xmlns:a16="http://schemas.microsoft.com/office/drawing/2014/main" id="{19F8C163-E037-F842-B632-C7FE9F280291}"/>
              </a:ext>
            </a:extLst>
          </p:cNvPr>
          <p:cNvSpPr>
            <a:spLocks noGrp="1"/>
          </p:cNvSpPr>
          <p:nvPr>
            <p:ph type="title"/>
          </p:nvPr>
        </p:nvSpPr>
        <p:spPr/>
        <p:txBody>
          <a:bodyPr/>
          <a:lstStyle/>
          <a:p>
            <a:r>
              <a:rPr lang="en-ZA" dirty="0"/>
              <a:t>Quantum Attacks on Hash Functions</a:t>
            </a:r>
            <a:endParaRPr lang="en-US" dirty="0"/>
          </a:p>
        </p:txBody>
      </p:sp>
      <p:pic>
        <p:nvPicPr>
          <p:cNvPr id="9" name="Picture 8">
            <a:extLst>
              <a:ext uri="{FF2B5EF4-FFF2-40B4-BE49-F238E27FC236}">
                <a16:creationId xmlns:a16="http://schemas.microsoft.com/office/drawing/2014/main" id="{141A1E45-3DC1-A643-933B-6D4D78E5900B}"/>
              </a:ext>
            </a:extLst>
          </p:cNvPr>
          <p:cNvPicPr>
            <a:picLocks noChangeAspect="1"/>
          </p:cNvPicPr>
          <p:nvPr/>
        </p:nvPicPr>
        <p:blipFill>
          <a:blip r:embed="rId3"/>
          <a:stretch>
            <a:fillRect/>
          </a:stretch>
        </p:blipFill>
        <p:spPr>
          <a:xfrm>
            <a:off x="914399" y="1365643"/>
            <a:ext cx="10363201" cy="5056441"/>
          </a:xfrm>
          <a:prstGeom prst="rect">
            <a:avLst/>
          </a:prstGeom>
        </p:spPr>
      </p:pic>
      <p:cxnSp>
        <p:nvCxnSpPr>
          <p:cNvPr id="11" name="Straight Connector 10">
            <a:extLst>
              <a:ext uri="{FF2B5EF4-FFF2-40B4-BE49-F238E27FC236}">
                <a16:creationId xmlns:a16="http://schemas.microsoft.com/office/drawing/2014/main" id="{B6D65908-926D-294A-8474-B2AC5BE1E850}"/>
              </a:ext>
            </a:extLst>
          </p:cNvPr>
          <p:cNvCxnSpPr>
            <a:cxnSpLocks/>
          </p:cNvCxnSpPr>
          <p:nvPr/>
        </p:nvCxnSpPr>
        <p:spPr>
          <a:xfrm>
            <a:off x="1102194" y="5411449"/>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D73563-756B-A640-868E-E5814FC4F3A9}"/>
              </a:ext>
            </a:extLst>
          </p:cNvPr>
          <p:cNvCxnSpPr>
            <a:cxnSpLocks/>
          </p:cNvCxnSpPr>
          <p:nvPr/>
        </p:nvCxnSpPr>
        <p:spPr>
          <a:xfrm>
            <a:off x="1102194" y="4932024"/>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1C1EA30-D187-7B47-AB5C-BC50C5B5C98D}"/>
              </a:ext>
            </a:extLst>
          </p:cNvPr>
          <p:cNvCxnSpPr>
            <a:cxnSpLocks/>
          </p:cNvCxnSpPr>
          <p:nvPr/>
        </p:nvCxnSpPr>
        <p:spPr>
          <a:xfrm>
            <a:off x="1102194" y="4452599"/>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53D9E95-DDBC-3A4C-AEAB-DB9942FD872F}"/>
              </a:ext>
            </a:extLst>
          </p:cNvPr>
          <p:cNvCxnSpPr>
            <a:cxnSpLocks/>
          </p:cNvCxnSpPr>
          <p:nvPr/>
        </p:nvCxnSpPr>
        <p:spPr>
          <a:xfrm>
            <a:off x="1102194" y="3973174"/>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41F06AE-4B2B-C745-9DB9-D438AA36AB9D}"/>
              </a:ext>
            </a:extLst>
          </p:cNvPr>
          <p:cNvCxnSpPr>
            <a:cxnSpLocks/>
          </p:cNvCxnSpPr>
          <p:nvPr/>
        </p:nvCxnSpPr>
        <p:spPr>
          <a:xfrm>
            <a:off x="1102194" y="3493749"/>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6105DB2-19C7-FB42-BF73-64DAC3E3E48E}"/>
              </a:ext>
            </a:extLst>
          </p:cNvPr>
          <p:cNvCxnSpPr>
            <a:cxnSpLocks/>
          </p:cNvCxnSpPr>
          <p:nvPr/>
        </p:nvCxnSpPr>
        <p:spPr>
          <a:xfrm>
            <a:off x="1102194" y="3014324"/>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419EED8-A56F-1D47-BF8C-20BA17CC6981}"/>
              </a:ext>
            </a:extLst>
          </p:cNvPr>
          <p:cNvCxnSpPr>
            <a:cxnSpLocks/>
          </p:cNvCxnSpPr>
          <p:nvPr/>
        </p:nvCxnSpPr>
        <p:spPr>
          <a:xfrm>
            <a:off x="1102194" y="2534899"/>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144081B-B459-3148-8954-9F98E30C6CD9}"/>
              </a:ext>
            </a:extLst>
          </p:cNvPr>
          <p:cNvCxnSpPr>
            <a:cxnSpLocks/>
          </p:cNvCxnSpPr>
          <p:nvPr/>
        </p:nvCxnSpPr>
        <p:spPr>
          <a:xfrm>
            <a:off x="1102194" y="2055474"/>
            <a:ext cx="101483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D68963D-39E2-B045-865F-4F0328B1515B}"/>
              </a:ext>
            </a:extLst>
          </p:cNvPr>
          <p:cNvCxnSpPr>
            <a:cxnSpLocks/>
          </p:cNvCxnSpPr>
          <p:nvPr/>
        </p:nvCxnSpPr>
        <p:spPr>
          <a:xfrm>
            <a:off x="1102194" y="1576049"/>
            <a:ext cx="10148341"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B23D7D1-060B-0240-BF0A-D513F8FA54A8}"/>
              </a:ext>
            </a:extLst>
          </p:cNvPr>
          <p:cNvSpPr txBox="1"/>
          <p:nvPr/>
        </p:nvSpPr>
        <p:spPr>
          <a:xfrm>
            <a:off x="276046" y="6488668"/>
            <a:ext cx="9870844" cy="369332"/>
          </a:xfrm>
          <a:prstGeom prst="rect">
            <a:avLst/>
          </a:prstGeom>
          <a:noFill/>
        </p:spPr>
        <p:txBody>
          <a:bodyPr wrap="none" rtlCol="0">
            <a:spAutoFit/>
          </a:bodyPr>
          <a:lstStyle/>
          <a:p>
            <a:r>
              <a:rPr lang="en-US" dirty="0"/>
              <a:t>https://</a:t>
            </a:r>
            <a:r>
              <a:rPr lang="en-US" dirty="0" err="1"/>
              <a:t>www.linkedin.com</a:t>
            </a:r>
            <a:r>
              <a:rPr lang="en-US" dirty="0"/>
              <a:t>/pulse/quantum-acceleration-fraud-real-lets-try-break-hash-function-parisel/</a:t>
            </a:r>
          </a:p>
        </p:txBody>
      </p:sp>
      <p:sp>
        <p:nvSpPr>
          <p:cNvPr id="22" name="TextBox 21">
            <a:extLst>
              <a:ext uri="{FF2B5EF4-FFF2-40B4-BE49-F238E27FC236}">
                <a16:creationId xmlns:a16="http://schemas.microsoft.com/office/drawing/2014/main" id="{3466DA86-F7B9-9B42-9BF2-2917D5CA54A5}"/>
              </a:ext>
            </a:extLst>
          </p:cNvPr>
          <p:cNvSpPr txBox="1"/>
          <p:nvPr/>
        </p:nvSpPr>
        <p:spPr>
          <a:xfrm>
            <a:off x="431321" y="1242204"/>
            <a:ext cx="490840" cy="369332"/>
          </a:xfrm>
          <a:prstGeom prst="rect">
            <a:avLst/>
          </a:prstGeom>
          <a:noFill/>
        </p:spPr>
        <p:txBody>
          <a:bodyPr wrap="none" rtlCol="0">
            <a:spAutoFit/>
          </a:bodyPr>
          <a:lstStyle/>
          <a:p>
            <a:r>
              <a:rPr lang="en-US" dirty="0"/>
              <a:t>[%]</a:t>
            </a:r>
          </a:p>
        </p:txBody>
      </p:sp>
      <p:sp>
        <p:nvSpPr>
          <p:cNvPr id="4" name="TextBox 3">
            <a:extLst>
              <a:ext uri="{FF2B5EF4-FFF2-40B4-BE49-F238E27FC236}">
                <a16:creationId xmlns:a16="http://schemas.microsoft.com/office/drawing/2014/main" id="{851D6FF3-19EB-7A4A-B3F1-501C306273E5}"/>
              </a:ext>
            </a:extLst>
          </p:cNvPr>
          <p:cNvSpPr txBox="1"/>
          <p:nvPr/>
        </p:nvSpPr>
        <p:spPr>
          <a:xfrm>
            <a:off x="8824229" y="5460996"/>
            <a:ext cx="2354619" cy="523220"/>
          </a:xfrm>
          <a:prstGeom prst="rect">
            <a:avLst/>
          </a:prstGeom>
          <a:noFill/>
        </p:spPr>
        <p:txBody>
          <a:bodyPr wrap="none" rtlCol="0">
            <a:spAutoFit/>
          </a:bodyPr>
          <a:lstStyle/>
          <a:p>
            <a:r>
              <a:rPr lang="en-US" sz="2800" b="1" dirty="0">
                <a:solidFill>
                  <a:schemeClr val="bg1"/>
                </a:solidFill>
              </a:rPr>
              <a:t>classical</a:t>
            </a:r>
            <a:r>
              <a:rPr lang="en-ZA" sz="2800" dirty="0">
                <a:solidFill>
                  <a:schemeClr val="bg1"/>
                </a:solidFill>
              </a:rPr>
              <a:t> ~ 15%</a:t>
            </a:r>
            <a:endParaRPr lang="en-US" sz="2800" b="1" dirty="0">
              <a:solidFill>
                <a:schemeClr val="bg1"/>
              </a:solidFill>
            </a:endParaRPr>
          </a:p>
        </p:txBody>
      </p:sp>
      <p:sp>
        <p:nvSpPr>
          <p:cNvPr id="23" name="TextBox 22">
            <a:extLst>
              <a:ext uri="{FF2B5EF4-FFF2-40B4-BE49-F238E27FC236}">
                <a16:creationId xmlns:a16="http://schemas.microsoft.com/office/drawing/2014/main" id="{D0932515-2F8C-F947-9C09-E16E5C0DB8D7}"/>
              </a:ext>
            </a:extLst>
          </p:cNvPr>
          <p:cNvSpPr txBox="1"/>
          <p:nvPr/>
        </p:nvSpPr>
        <p:spPr>
          <a:xfrm>
            <a:off x="8685537" y="3137764"/>
            <a:ext cx="2510495" cy="523220"/>
          </a:xfrm>
          <a:prstGeom prst="rect">
            <a:avLst/>
          </a:prstGeom>
          <a:noFill/>
        </p:spPr>
        <p:txBody>
          <a:bodyPr wrap="none" rtlCol="0">
            <a:spAutoFit/>
          </a:bodyPr>
          <a:lstStyle/>
          <a:p>
            <a:r>
              <a:rPr lang="en-US" sz="2800" b="1" dirty="0">
                <a:solidFill>
                  <a:schemeClr val="bg1"/>
                </a:solidFill>
              </a:rPr>
              <a:t>quantum </a:t>
            </a:r>
            <a:r>
              <a:rPr lang="en-ZA" sz="2800" dirty="0">
                <a:solidFill>
                  <a:schemeClr val="bg1"/>
                </a:solidFill>
              </a:rPr>
              <a:t>~ 75%</a:t>
            </a:r>
            <a:endParaRPr lang="en-US" sz="2800" b="1" dirty="0">
              <a:solidFill>
                <a:schemeClr val="bg1"/>
              </a:solidFill>
            </a:endParaRPr>
          </a:p>
        </p:txBody>
      </p:sp>
    </p:spTree>
    <p:extLst>
      <p:ext uri="{BB962C8B-B14F-4D97-AF65-F5344CB8AC3E}">
        <p14:creationId xmlns:p14="http://schemas.microsoft.com/office/powerpoint/2010/main" val="1371721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FB87E0-BD71-0F44-A22B-22C21ACEE6F8}"/>
              </a:ext>
            </a:extLst>
          </p:cNvPr>
          <p:cNvSpPr>
            <a:spLocks noGrp="1"/>
          </p:cNvSpPr>
          <p:nvPr>
            <p:ph type="title"/>
          </p:nvPr>
        </p:nvSpPr>
        <p:spPr/>
        <p:txBody>
          <a:bodyPr/>
          <a:lstStyle/>
          <a:p>
            <a:r>
              <a:rPr lang="en-ZA" dirty="0"/>
              <a:t>Quantum Hashing with Controlled Rotations</a:t>
            </a:r>
            <a:endParaRPr lang="en-US" dirty="0"/>
          </a:p>
        </p:txBody>
      </p:sp>
      <p:cxnSp>
        <p:nvCxnSpPr>
          <p:cNvPr id="5" name="Straight Connector 4">
            <a:extLst>
              <a:ext uri="{FF2B5EF4-FFF2-40B4-BE49-F238E27FC236}">
                <a16:creationId xmlns:a16="http://schemas.microsoft.com/office/drawing/2014/main" id="{CB64B3AA-F155-6A40-87AD-417F06A6AA62}"/>
              </a:ext>
            </a:extLst>
          </p:cNvPr>
          <p:cNvCxnSpPr>
            <a:cxnSpLocks/>
            <a:endCxn id="16" idx="4"/>
          </p:cNvCxnSpPr>
          <p:nvPr/>
        </p:nvCxnSpPr>
        <p:spPr>
          <a:xfrm flipV="1">
            <a:off x="4282787" y="1494102"/>
            <a:ext cx="0" cy="13352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0A587A6-39AB-3441-A8D9-9E7F7FDCC8F4}"/>
              </a:ext>
            </a:extLst>
          </p:cNvPr>
          <p:cNvCxnSpPr>
            <a:cxnSpLocks/>
          </p:cNvCxnSpPr>
          <p:nvPr/>
        </p:nvCxnSpPr>
        <p:spPr>
          <a:xfrm>
            <a:off x="3511576" y="3192561"/>
            <a:ext cx="27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4F336C2-A4BC-634B-AABD-F27D79D08480}"/>
                  </a:ext>
                </a:extLst>
              </p:cNvPr>
              <p:cNvSpPr/>
              <p:nvPr/>
            </p:nvSpPr>
            <p:spPr>
              <a:xfrm>
                <a:off x="2095932" y="2939671"/>
                <a:ext cx="1415644" cy="5057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h</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p>
            </p:txBody>
          </p:sp>
        </mc:Choice>
        <mc:Fallback xmlns="">
          <p:sp>
            <p:nvSpPr>
              <p:cNvPr id="10" name="Rectangle 9">
                <a:extLst>
                  <a:ext uri="{FF2B5EF4-FFF2-40B4-BE49-F238E27FC236}">
                    <a16:creationId xmlns:a16="http://schemas.microsoft.com/office/drawing/2014/main" id="{A4F336C2-A4BC-634B-AABD-F27D79D08480}"/>
                  </a:ext>
                </a:extLst>
              </p:cNvPr>
              <p:cNvSpPr>
                <a:spLocks noRot="1" noChangeAspect="1" noMove="1" noResize="1" noEditPoints="1" noAdjustHandles="1" noChangeArrowheads="1" noChangeShapeType="1" noTextEdit="1"/>
              </p:cNvSpPr>
              <p:nvPr/>
            </p:nvSpPr>
            <p:spPr>
              <a:xfrm>
                <a:off x="2095932" y="2939671"/>
                <a:ext cx="1415644" cy="505779"/>
              </a:xfrm>
              <a:prstGeom prst="rect">
                <a:avLst/>
              </a:prstGeom>
              <a:blipFill>
                <a:blip r:embed="rId3"/>
                <a:stretch>
                  <a:fillRect l="-10619" t="-153659" r="-33628" b="-241463"/>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1C5487FE-1191-674B-9F16-473285B85172}"/>
              </a:ext>
            </a:extLst>
          </p:cNvPr>
          <p:cNvSpPr/>
          <p:nvPr/>
        </p:nvSpPr>
        <p:spPr>
          <a:xfrm>
            <a:off x="3922787" y="2832561"/>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Times" pitchFamily="2" charset="0"/>
              </a:rPr>
              <a:t>RY</a:t>
            </a:r>
          </a:p>
        </p:txBody>
      </p:sp>
      <p:sp>
        <p:nvSpPr>
          <p:cNvPr id="16" name="Oval 15">
            <a:extLst>
              <a:ext uri="{FF2B5EF4-FFF2-40B4-BE49-F238E27FC236}">
                <a16:creationId xmlns:a16="http://schemas.microsoft.com/office/drawing/2014/main" id="{BB86FF32-8D42-6E4C-A145-4245870F3846}"/>
              </a:ext>
            </a:extLst>
          </p:cNvPr>
          <p:cNvSpPr/>
          <p:nvPr/>
        </p:nvSpPr>
        <p:spPr>
          <a:xfrm>
            <a:off x="4192787" y="1314102"/>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93B328F-6B68-DF45-838B-93D6FE43F1AD}"/>
              </a:ext>
            </a:extLst>
          </p:cNvPr>
          <p:cNvSpPr/>
          <p:nvPr/>
        </p:nvSpPr>
        <p:spPr>
          <a:xfrm>
            <a:off x="5013671" y="2832561"/>
            <a:ext cx="720000" cy="72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Times" pitchFamily="2" charset="0"/>
              </a:rPr>
              <a:t>RY</a:t>
            </a:r>
          </a:p>
        </p:txBody>
      </p:sp>
      <p:cxnSp>
        <p:nvCxnSpPr>
          <p:cNvPr id="41" name="Straight Connector 40">
            <a:extLst>
              <a:ext uri="{FF2B5EF4-FFF2-40B4-BE49-F238E27FC236}">
                <a16:creationId xmlns:a16="http://schemas.microsoft.com/office/drawing/2014/main" id="{E58325D4-F4B5-1543-BCF1-6E37A70FD9FB}"/>
              </a:ext>
            </a:extLst>
          </p:cNvPr>
          <p:cNvCxnSpPr>
            <a:cxnSpLocks/>
            <a:endCxn id="42" idx="4"/>
          </p:cNvCxnSpPr>
          <p:nvPr/>
        </p:nvCxnSpPr>
        <p:spPr>
          <a:xfrm flipV="1">
            <a:off x="5373671" y="1946700"/>
            <a:ext cx="0" cy="8934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41780693-D562-0D42-8AF3-522E6154A568}"/>
              </a:ext>
            </a:extLst>
          </p:cNvPr>
          <p:cNvSpPr/>
          <p:nvPr/>
        </p:nvSpPr>
        <p:spPr>
          <a:xfrm>
            <a:off x="5283671" y="1766700"/>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4792A7C7-05A3-3042-8293-B19218985D3C}"/>
              </a:ext>
            </a:extLst>
          </p:cNvPr>
          <p:cNvCxnSpPr>
            <a:cxnSpLocks/>
          </p:cNvCxnSpPr>
          <p:nvPr/>
        </p:nvCxnSpPr>
        <p:spPr>
          <a:xfrm flipV="1">
            <a:off x="3511576" y="1436433"/>
            <a:ext cx="2699135" cy="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E3697512-2A8E-6944-9BF0-C6F6773E9A0B}"/>
                  </a:ext>
                </a:extLst>
              </p:cNvPr>
              <p:cNvSpPr/>
              <p:nvPr/>
            </p:nvSpPr>
            <p:spPr>
              <a:xfrm>
                <a:off x="2744234" y="1177188"/>
                <a:ext cx="76508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i="1">
                                  <a:solidFill>
                                    <a:srgbClr val="002060"/>
                                  </a:solidFill>
                                  <a:latin typeface="Cambria Math" panose="02040503050406030204" pitchFamily="18" charset="0"/>
                                  <a:ea typeface="Cambria Math" panose="02040503050406030204" pitchFamily="18" charset="0"/>
                                </a:rPr>
                                <m:t>0</m:t>
                              </m:r>
                            </m:sub>
                          </m:sSub>
                        </m:e>
                      </m:d>
                    </m:oMath>
                  </m:oMathPara>
                </a14:m>
                <a:endParaRPr lang="en-US" sz="2400" dirty="0"/>
              </a:p>
            </p:txBody>
          </p:sp>
        </mc:Choice>
        <mc:Fallback xmlns="">
          <p:sp>
            <p:nvSpPr>
              <p:cNvPr id="47" name="Rectangle 46">
                <a:extLst>
                  <a:ext uri="{FF2B5EF4-FFF2-40B4-BE49-F238E27FC236}">
                    <a16:creationId xmlns:a16="http://schemas.microsoft.com/office/drawing/2014/main" id="{E3697512-2A8E-6944-9BF0-C6F6773E9A0B}"/>
                  </a:ext>
                </a:extLst>
              </p:cNvPr>
              <p:cNvSpPr>
                <a:spLocks noRot="1" noChangeAspect="1" noMove="1" noResize="1" noEditPoints="1" noAdjustHandles="1" noChangeArrowheads="1" noChangeShapeType="1" noTextEdit="1"/>
              </p:cNvSpPr>
              <p:nvPr/>
            </p:nvSpPr>
            <p:spPr>
              <a:xfrm>
                <a:off x="2744234" y="1177188"/>
                <a:ext cx="765081" cy="461665"/>
              </a:xfrm>
              <a:prstGeom prst="rect">
                <a:avLst/>
              </a:prstGeom>
              <a:blipFill>
                <a:blip r:embed="rId4"/>
                <a:stretch>
                  <a:fillRect l="-5000" t="-124324" r="-41667"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91B8FE8B-0EFD-7245-8BBF-CEF91CEC2E2D}"/>
                  </a:ext>
                </a:extLst>
              </p:cNvPr>
              <p:cNvSpPr/>
              <p:nvPr/>
            </p:nvSpPr>
            <p:spPr>
              <a:xfrm>
                <a:off x="2744234" y="1651205"/>
                <a:ext cx="7579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b="0" i="1" smtClean="0">
                                  <a:solidFill>
                                    <a:srgbClr val="002060"/>
                                  </a:solidFill>
                                  <a:latin typeface="Cambria Math" panose="02040503050406030204" pitchFamily="18" charset="0"/>
                                  <a:ea typeface="Cambria Math" panose="02040503050406030204" pitchFamily="18" charset="0"/>
                                </a:rPr>
                                <m:t>1</m:t>
                              </m:r>
                            </m:sub>
                          </m:sSub>
                        </m:e>
                      </m:d>
                    </m:oMath>
                  </m:oMathPara>
                </a14:m>
                <a:endParaRPr lang="en-US" sz="2400" dirty="0"/>
              </a:p>
            </p:txBody>
          </p:sp>
        </mc:Choice>
        <mc:Fallback xmlns="">
          <p:sp>
            <p:nvSpPr>
              <p:cNvPr id="49" name="Rectangle 48">
                <a:extLst>
                  <a:ext uri="{FF2B5EF4-FFF2-40B4-BE49-F238E27FC236}">
                    <a16:creationId xmlns:a16="http://schemas.microsoft.com/office/drawing/2014/main" id="{91B8FE8B-0EFD-7245-8BBF-CEF91CEC2E2D}"/>
                  </a:ext>
                </a:extLst>
              </p:cNvPr>
              <p:cNvSpPr>
                <a:spLocks noRot="1" noChangeAspect="1" noMove="1" noResize="1" noEditPoints="1" noAdjustHandles="1" noChangeArrowheads="1" noChangeShapeType="1" noTextEdit="1"/>
              </p:cNvSpPr>
              <p:nvPr/>
            </p:nvSpPr>
            <p:spPr>
              <a:xfrm>
                <a:off x="2744234" y="1651205"/>
                <a:ext cx="757963" cy="461665"/>
              </a:xfrm>
              <a:prstGeom prst="rect">
                <a:avLst/>
              </a:prstGeom>
              <a:blipFill>
                <a:blip r:embed="rId5"/>
                <a:stretch>
                  <a:fillRect l="-6667" t="-124324" r="-41667" b="-194595"/>
                </a:stretch>
              </a:blipFill>
            </p:spPr>
            <p:txBody>
              <a:bodyPr/>
              <a:lstStyle/>
              <a:p>
                <a:r>
                  <a:rPr lang="en-US">
                    <a:noFill/>
                  </a:rPr>
                  <a:t> </a:t>
                </a:r>
              </a:p>
            </p:txBody>
          </p:sp>
        </mc:Fallback>
      </mc:AlternateContent>
      <p:cxnSp>
        <p:nvCxnSpPr>
          <p:cNvPr id="50" name="Straight Connector 49">
            <a:extLst>
              <a:ext uri="{FF2B5EF4-FFF2-40B4-BE49-F238E27FC236}">
                <a16:creationId xmlns:a16="http://schemas.microsoft.com/office/drawing/2014/main" id="{F8335B7A-E044-9A4A-AB3B-CF868C77F2D2}"/>
              </a:ext>
            </a:extLst>
          </p:cNvPr>
          <p:cNvCxnSpPr>
            <a:cxnSpLocks/>
          </p:cNvCxnSpPr>
          <p:nvPr/>
        </p:nvCxnSpPr>
        <p:spPr>
          <a:xfrm>
            <a:off x="3511576" y="1874197"/>
            <a:ext cx="2700000" cy="78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0E213C61-2D12-D642-81AB-8B79DA9564A9}"/>
                  </a:ext>
                </a:extLst>
              </p:cNvPr>
              <p:cNvSpPr/>
              <p:nvPr/>
            </p:nvSpPr>
            <p:spPr>
              <a:xfrm>
                <a:off x="6300711" y="2939671"/>
                <a:ext cx="3237809" cy="719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h</m:t>
                          </m:r>
                        </m:e>
                      </m:d>
                      <m:r>
                        <a:rPr lang="en-US" sz="2400" b="0" i="1" smtClean="0">
                          <a:solidFill>
                            <a:srgbClr val="002060"/>
                          </a:solidFill>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𝑅𝑦</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𝜋</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b="0" i="1" smtClean="0">
                                  <a:solidFill>
                                    <a:srgbClr val="002060"/>
                                  </a:solidFill>
                                  <a:latin typeface="Cambria Math" panose="02040503050406030204" pitchFamily="18" charset="0"/>
                                  <a:ea typeface="Cambria Math" panose="02040503050406030204" pitchFamily="18" charset="0"/>
                                </a:rPr>
                                <m:t>1</m:t>
                              </m:r>
                            </m:sub>
                          </m:sSub>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b="0" i="1" smtClean="0">
                                  <a:solidFill>
                                    <a:srgbClr val="002060"/>
                                  </a:solidFill>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solidFill>
                                    <a:srgbClr val="002060"/>
                                  </a:solidFill>
                                  <a:latin typeface="Cambria Math" panose="02040503050406030204" pitchFamily="18" charset="0"/>
                                  <a:ea typeface="Cambria Math" panose="02040503050406030204" pitchFamily="18" charset="0"/>
                                </a:rPr>
                                <m:t>2</m:t>
                              </m:r>
                            </m:den>
                          </m:f>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b="0" i="1" smtClean="0">
                                  <a:solidFill>
                                    <a:srgbClr val="002060"/>
                                  </a:solidFill>
                                  <a:latin typeface="Cambria Math" panose="02040503050406030204" pitchFamily="18" charset="0"/>
                                  <a:ea typeface="Cambria Math" panose="02040503050406030204" pitchFamily="18" charset="0"/>
                                </a:rPr>
                                <m:t>0</m:t>
                              </m:r>
                            </m:sub>
                          </m:sSub>
                        </m:e>
                      </m:d>
                    </m:oMath>
                  </m:oMathPara>
                </a14:m>
                <a:endParaRPr lang="en-US" sz="2400" dirty="0"/>
              </a:p>
            </p:txBody>
          </p:sp>
        </mc:Choice>
        <mc:Fallback xmlns="">
          <p:sp>
            <p:nvSpPr>
              <p:cNvPr id="51" name="Rectangle 50">
                <a:extLst>
                  <a:ext uri="{FF2B5EF4-FFF2-40B4-BE49-F238E27FC236}">
                    <a16:creationId xmlns:a16="http://schemas.microsoft.com/office/drawing/2014/main" id="{0E213C61-2D12-D642-81AB-8B79DA9564A9}"/>
                  </a:ext>
                </a:extLst>
              </p:cNvPr>
              <p:cNvSpPr>
                <a:spLocks noRot="1" noChangeAspect="1" noMove="1" noResize="1" noEditPoints="1" noAdjustHandles="1" noChangeArrowheads="1" noChangeShapeType="1" noTextEdit="1"/>
              </p:cNvSpPr>
              <p:nvPr/>
            </p:nvSpPr>
            <p:spPr>
              <a:xfrm>
                <a:off x="6300711" y="2939671"/>
                <a:ext cx="3237809" cy="719941"/>
              </a:xfrm>
              <a:prstGeom prst="rect">
                <a:avLst/>
              </a:prstGeom>
              <a:blipFill>
                <a:blip r:embed="rId6"/>
                <a:stretch>
                  <a:fillRect l="-3125" t="-62069" b="-1051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B2CE30FE-DFE1-F347-AA27-F95793B6A431}"/>
                  </a:ext>
                </a:extLst>
              </p:cNvPr>
              <p:cNvSpPr/>
              <p:nvPr/>
            </p:nvSpPr>
            <p:spPr>
              <a:xfrm>
                <a:off x="233014" y="4835923"/>
                <a:ext cx="4353371" cy="786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𝑅</m:t>
                      </m:r>
                      <m:r>
                        <a:rPr lang="en-US" sz="2400" b="0" i="1" smtClean="0">
                          <a:latin typeface="Cambria Math" panose="02040503050406030204" pitchFamily="18" charset="0"/>
                        </a:rPr>
                        <m:t>𝑦</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func>
                        <m:funcPr>
                          <m:ctrlPr>
                            <a:rPr lang="en-US" sz="24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2400" b="0" i="0" smtClean="0">
                              <a:solidFill>
                                <a:srgbClr val="002060"/>
                              </a:solidFill>
                              <a:latin typeface="Cambria Math" panose="02040503050406030204" pitchFamily="18" charset="0"/>
                              <a:ea typeface="Cambria Math" panose="02040503050406030204" pitchFamily="18" charset="0"/>
                            </a:rPr>
                            <m:t>cos</m:t>
                          </m:r>
                        </m:fName>
                        <m:e>
                          <m:f>
                            <m:fPr>
                              <m:ctrlPr>
                                <a:rPr lang="en-US" sz="2400" b="0" i="1" smtClean="0">
                                  <a:solidFill>
                                    <a:srgbClr val="002060"/>
                                  </a:solidFill>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𝜃</m:t>
                              </m:r>
                            </m:num>
                            <m:den>
                              <m:r>
                                <a:rPr lang="en-US" sz="2400" b="0" i="1" smtClean="0">
                                  <a:solidFill>
                                    <a:srgbClr val="002060"/>
                                  </a:solidFill>
                                  <a:latin typeface="Cambria Math" panose="02040503050406030204" pitchFamily="18" charset="0"/>
                                  <a:ea typeface="Cambria Math" panose="02040503050406030204" pitchFamily="18" charset="0"/>
                                </a:rPr>
                                <m:t>2</m:t>
                              </m:r>
                            </m:den>
                          </m:f>
                        </m:e>
                      </m:func>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r>
                        <a:rPr lang="en-US" sz="2400" b="0" i="1" smtClean="0">
                          <a:solidFill>
                            <a:srgbClr val="002060"/>
                          </a:solidFill>
                          <a:latin typeface="Cambria Math" panose="02040503050406030204" pitchFamily="18" charset="0"/>
                          <a:ea typeface="Cambria Math" panose="02040503050406030204" pitchFamily="18" charset="0"/>
                        </a:rPr>
                        <m:t>+</m:t>
                      </m:r>
                      <m:func>
                        <m:funcPr>
                          <m:ctrlPr>
                            <a:rPr lang="en-US" sz="2400" i="1">
                              <a:solidFill>
                                <a:srgbClr val="002060"/>
                              </a:solidFill>
                              <a:latin typeface="Cambria Math" panose="02040503050406030204" pitchFamily="18" charset="0"/>
                              <a:ea typeface="Cambria Math" panose="02040503050406030204" pitchFamily="18" charset="0"/>
                            </a:rPr>
                          </m:ctrlPr>
                        </m:funcPr>
                        <m:fName>
                          <m:r>
                            <m:rPr>
                              <m:sty m:val="p"/>
                            </m:rPr>
                            <a:rPr lang="en-US" sz="2400" b="0" i="0" smtClean="0">
                              <a:solidFill>
                                <a:srgbClr val="002060"/>
                              </a:solidFill>
                              <a:latin typeface="Cambria Math" panose="02040503050406030204" pitchFamily="18" charset="0"/>
                              <a:ea typeface="Cambria Math" panose="02040503050406030204" pitchFamily="18" charset="0"/>
                            </a:rPr>
                            <m:t>sin</m:t>
                          </m:r>
                        </m:fName>
                        <m:e>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𝜃</m:t>
                              </m:r>
                            </m:num>
                            <m:den>
                              <m:r>
                                <a:rPr lang="en-US" sz="2400" i="1">
                                  <a:solidFill>
                                    <a:srgbClr val="002060"/>
                                  </a:solidFill>
                                  <a:latin typeface="Cambria Math" panose="02040503050406030204" pitchFamily="18" charset="0"/>
                                  <a:ea typeface="Cambria Math" panose="02040503050406030204" pitchFamily="18" charset="0"/>
                                </a:rPr>
                                <m:t>2</m:t>
                              </m:r>
                            </m:den>
                          </m:f>
                        </m:e>
                      </m:func>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2</m:t>
                          </m:r>
                        </m:e>
                      </m:d>
                    </m:oMath>
                  </m:oMathPara>
                </a14:m>
                <a:endParaRPr lang="en-US" sz="2400" dirty="0"/>
              </a:p>
            </p:txBody>
          </p:sp>
        </mc:Choice>
        <mc:Fallback xmlns="">
          <p:sp>
            <p:nvSpPr>
              <p:cNvPr id="54" name="Rectangle 53">
                <a:extLst>
                  <a:ext uri="{FF2B5EF4-FFF2-40B4-BE49-F238E27FC236}">
                    <a16:creationId xmlns:a16="http://schemas.microsoft.com/office/drawing/2014/main" id="{B2CE30FE-DFE1-F347-AA27-F95793B6A431}"/>
                  </a:ext>
                </a:extLst>
              </p:cNvPr>
              <p:cNvSpPr>
                <a:spLocks noRot="1" noChangeAspect="1" noMove="1" noResize="1" noEditPoints="1" noAdjustHandles="1" noChangeArrowheads="1" noChangeShapeType="1" noTextEdit="1"/>
              </p:cNvSpPr>
              <p:nvPr/>
            </p:nvSpPr>
            <p:spPr>
              <a:xfrm>
                <a:off x="233014" y="4835923"/>
                <a:ext cx="4353371" cy="786947"/>
              </a:xfrm>
              <a:prstGeom prst="rect">
                <a:avLst/>
              </a:prstGeom>
              <a:blipFill>
                <a:blip r:embed="rId7"/>
                <a:stretch>
                  <a:fillRect t="-50794" r="-6977" b="-952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1" name="Table 60">
                <a:extLst>
                  <a:ext uri="{FF2B5EF4-FFF2-40B4-BE49-F238E27FC236}">
                    <a16:creationId xmlns:a16="http://schemas.microsoft.com/office/drawing/2014/main" id="{5C27E588-E009-F14E-9875-0F0EC53B8812}"/>
                  </a:ext>
                </a:extLst>
              </p:cNvPr>
              <p:cNvGraphicFramePr>
                <a:graphicFrameLocks noGrp="1"/>
              </p:cNvGraphicFramePr>
              <p:nvPr>
                <p:extLst>
                  <p:ext uri="{D42A27DB-BD31-4B8C-83A1-F6EECF244321}">
                    <p14:modId xmlns:p14="http://schemas.microsoft.com/office/powerpoint/2010/main" val="1267566020"/>
                  </p:ext>
                </p:extLst>
              </p:nvPr>
            </p:nvGraphicFramePr>
            <p:xfrm>
              <a:off x="9538520" y="4086396"/>
              <a:ext cx="2143594" cy="2286000"/>
            </p:xfrm>
            <a:graphic>
              <a:graphicData uri="http://schemas.openxmlformats.org/drawingml/2006/table">
                <a:tbl>
                  <a:tblPr firstRow="1" bandRow="1">
                    <a:tableStyleId>{00A15C55-8517-42AA-B614-E9B94910E393}</a:tableStyleId>
                  </a:tblPr>
                  <a:tblGrid>
                    <a:gridCol w="1071797">
                      <a:extLst>
                        <a:ext uri="{9D8B030D-6E8A-4147-A177-3AD203B41FA5}">
                          <a16:colId xmlns:a16="http://schemas.microsoft.com/office/drawing/2014/main" val="788433896"/>
                        </a:ext>
                      </a:extLst>
                    </a:gridCol>
                    <a:gridCol w="1071797">
                      <a:extLst>
                        <a:ext uri="{9D8B030D-6E8A-4147-A177-3AD203B41FA5}">
                          <a16:colId xmlns:a16="http://schemas.microsoft.com/office/drawing/2014/main" val="2011902306"/>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7030A0"/>
                                        </a:solidFill>
                                        <a:latin typeface="Cambria Math" panose="02040503050406030204" pitchFamily="18" charset="0"/>
                                      </a:rPr>
                                    </m:ctrlPr>
                                  </m:sSubPr>
                                  <m:e>
                                    <m:r>
                                      <a:rPr lang="en-US" sz="2400">
                                        <a:solidFill>
                                          <a:srgbClr val="7030A0"/>
                                        </a:solidFill>
                                        <a:latin typeface="Cambria Math" panose="02040503050406030204" pitchFamily="18" charset="0"/>
                                      </a:rPr>
                                      <m:t>𝑥</m:t>
                                    </m:r>
                                  </m:e>
                                  <m:sub>
                                    <m:r>
                                      <a:rPr lang="en-US" sz="2400">
                                        <a:solidFill>
                                          <a:srgbClr val="7030A0"/>
                                        </a:solidFill>
                                        <a:latin typeface="Cambria Math" panose="02040503050406030204" pitchFamily="18" charset="0"/>
                                      </a:rPr>
                                      <m:t>0</m:t>
                                    </m:r>
                                  </m:sub>
                                </m:sSub>
                                <m:sSub>
                                  <m:sSubPr>
                                    <m:ctrlPr>
                                      <a:rPr lang="en-US" sz="2400" i="1">
                                        <a:solidFill>
                                          <a:srgbClr val="7030A0"/>
                                        </a:solidFill>
                                        <a:latin typeface="Cambria Math" panose="02040503050406030204" pitchFamily="18" charset="0"/>
                                      </a:rPr>
                                    </m:ctrlPr>
                                  </m:sSubPr>
                                  <m:e>
                                    <m:r>
                                      <a:rPr lang="en-US" sz="2400">
                                        <a:solidFill>
                                          <a:srgbClr val="7030A0"/>
                                        </a:solidFill>
                                        <a:latin typeface="Cambria Math" panose="02040503050406030204" pitchFamily="18" charset="0"/>
                                      </a:rPr>
                                      <m:t>𝑥</m:t>
                                    </m:r>
                                  </m:e>
                                  <m:sub>
                                    <m:r>
                                      <a:rPr lang="en-US" sz="2400" smtClean="0">
                                        <a:solidFill>
                                          <a:srgbClr val="7030A0"/>
                                        </a:solidFill>
                                        <a:latin typeface="Cambria Math" panose="02040503050406030204" pitchFamily="18" charset="0"/>
                                      </a:rPr>
                                      <m:t>1</m:t>
                                    </m:r>
                                  </m:sub>
                                </m:sSub>
                              </m:oMath>
                            </m:oMathPara>
                          </a14:m>
                          <a:endParaRPr lang="en-US" sz="2400" dirty="0">
                            <a:solidFill>
                              <a:srgbClr val="7030A0"/>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2400" smtClean="0">
                                    <a:solidFill>
                                      <a:srgbClr val="7030A0"/>
                                    </a:solidFill>
                                    <a:latin typeface="Cambria Math" panose="02040503050406030204" pitchFamily="18" charset="0"/>
                                  </a:rPr>
                                  <m:t>h</m:t>
                                </m:r>
                              </m:oMath>
                            </m:oMathPara>
                          </a14:m>
                          <a:endParaRPr lang="en-US" sz="2400" dirty="0">
                            <a:solidFill>
                              <a:srgbClr val="7030A0"/>
                            </a:solidFill>
                          </a:endParaRPr>
                        </a:p>
                      </a:txBody>
                      <a:tcPr/>
                    </a:tc>
                    <a:extLst>
                      <a:ext uri="{0D108BD9-81ED-4DB2-BD59-A6C34878D82A}">
                        <a16:rowId xmlns:a16="http://schemas.microsoft.com/office/drawing/2014/main" val="4630697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solidFill>
                                      <a:srgbClr val="7030A0"/>
                                    </a:solidFill>
                                    <a:latin typeface="Cambria Math" panose="02040503050406030204" pitchFamily="18" charset="0"/>
                                  </a:rPr>
                                  <m:t>00</m:t>
                                </m:r>
                              </m:oMath>
                            </m:oMathPara>
                          </a14:m>
                          <a:endParaRPr lang="en-US" sz="2400" dirty="0">
                            <a:solidFill>
                              <a:srgbClr val="7030A0"/>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0</m:t>
                                    </m:r>
                                  </m:e>
                                </m:d>
                              </m:oMath>
                            </m:oMathPara>
                          </a14:m>
                          <a:endParaRPr lang="en-US" sz="2400" dirty="0">
                            <a:solidFill>
                              <a:srgbClr val="7030A0"/>
                            </a:solidFill>
                          </a:endParaRPr>
                        </a:p>
                      </a:txBody>
                      <a:tcPr/>
                    </a:tc>
                    <a:extLst>
                      <a:ext uri="{0D108BD9-81ED-4DB2-BD59-A6C34878D82A}">
                        <a16:rowId xmlns:a16="http://schemas.microsoft.com/office/drawing/2014/main" val="2959265682"/>
                      </a:ext>
                    </a:extLst>
                  </a:tr>
                  <a:tr h="370840">
                    <a:tc>
                      <a:txBody>
                        <a:bodyPr/>
                        <a:lstStyle/>
                        <a:p>
                          <a:pPr/>
                          <a14:m>
                            <m:oMathPara xmlns:m="http://schemas.openxmlformats.org/officeDocument/2006/math">
                              <m:oMathParaPr>
                                <m:jc m:val="centerGroup"/>
                              </m:oMathParaPr>
                              <m:oMath xmlns:m="http://schemas.openxmlformats.org/officeDocument/2006/math">
                                <m:r>
                                  <a:rPr lang="en-US" sz="2400" b="0" i="1" smtClean="0">
                                    <a:solidFill>
                                      <a:srgbClr val="7030A0"/>
                                    </a:solidFill>
                                    <a:latin typeface="Cambria Math" panose="02040503050406030204" pitchFamily="18" charset="0"/>
                                  </a:rPr>
                                  <m:t>01</m:t>
                                </m:r>
                              </m:oMath>
                            </m:oMathPara>
                          </a14:m>
                          <a:endParaRPr lang="en-US" sz="2400" dirty="0">
                            <a:solidFill>
                              <a:srgbClr val="7030A0"/>
                            </a:solidFill>
                          </a:endParaRP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e>
                                </m:d>
                              </m:oMath>
                            </m:oMathPara>
                          </a14:m>
                          <a:endParaRPr lang="en-US" sz="2400" dirty="0">
                            <a:solidFill>
                              <a:srgbClr val="7030A0"/>
                            </a:solidFill>
                          </a:endParaRPr>
                        </a:p>
                      </a:txBody>
                      <a:tcPr/>
                    </a:tc>
                    <a:extLst>
                      <a:ext uri="{0D108BD9-81ED-4DB2-BD59-A6C34878D82A}">
                        <a16:rowId xmlns:a16="http://schemas.microsoft.com/office/drawing/2014/main" val="1369935276"/>
                      </a:ext>
                    </a:extLst>
                  </a:tr>
                  <a:tr h="370840">
                    <a:tc>
                      <a:txBody>
                        <a:bodyPr/>
                        <a:lstStyle/>
                        <a:p>
                          <a:pPr/>
                          <a14:m>
                            <m:oMathPara xmlns:m="http://schemas.openxmlformats.org/officeDocument/2006/math">
                              <m:oMathParaPr>
                                <m:jc m:val="centerGroup"/>
                              </m:oMathParaPr>
                              <m:oMath xmlns:m="http://schemas.openxmlformats.org/officeDocument/2006/math">
                                <m:r>
                                  <a:rPr lang="en-US" sz="2400" b="0" i="1" smtClean="0">
                                    <a:solidFill>
                                      <a:srgbClr val="7030A0"/>
                                    </a:solidFill>
                                    <a:latin typeface="Cambria Math" panose="02040503050406030204" pitchFamily="18" charset="0"/>
                                  </a:rPr>
                                  <m:t>10</m:t>
                                </m:r>
                              </m:oMath>
                            </m:oMathPara>
                          </a14:m>
                          <a:endParaRPr lang="en-US" sz="2400" dirty="0">
                            <a:solidFill>
                              <a:srgbClr val="7030A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m:t>
                                    </m:r>
                                  </m:e>
                                </m:d>
                              </m:oMath>
                            </m:oMathPara>
                          </a14:m>
                          <a:endParaRPr lang="en-US" sz="2400" dirty="0">
                            <a:solidFill>
                              <a:srgbClr val="7030A0"/>
                            </a:solidFill>
                          </a:endParaRPr>
                        </a:p>
                      </a:txBody>
                      <a:tcPr/>
                    </a:tc>
                    <a:extLst>
                      <a:ext uri="{0D108BD9-81ED-4DB2-BD59-A6C34878D82A}">
                        <a16:rowId xmlns:a16="http://schemas.microsoft.com/office/drawing/2014/main" val="3715949626"/>
                      </a:ext>
                    </a:extLst>
                  </a:tr>
                  <a:tr h="370840">
                    <a:tc>
                      <a:txBody>
                        <a:bodyPr/>
                        <a:lstStyle/>
                        <a:p>
                          <a:pPr/>
                          <a14:m>
                            <m:oMathPara xmlns:m="http://schemas.openxmlformats.org/officeDocument/2006/math">
                              <m:oMathParaPr>
                                <m:jc m:val="centerGroup"/>
                              </m:oMathParaPr>
                              <m:oMath xmlns:m="http://schemas.openxmlformats.org/officeDocument/2006/math">
                                <m:r>
                                  <a:rPr lang="en-US" sz="2400" b="0" i="1" smtClean="0">
                                    <a:solidFill>
                                      <a:srgbClr val="7030A0"/>
                                    </a:solidFill>
                                    <a:latin typeface="Cambria Math" panose="02040503050406030204" pitchFamily="18" charset="0"/>
                                  </a:rPr>
                                  <m:t>11</m:t>
                                </m:r>
                              </m:oMath>
                            </m:oMathPara>
                          </a14:m>
                          <a:endParaRPr lang="en-US" sz="2400" dirty="0">
                            <a:solidFill>
                              <a:srgbClr val="7030A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m:t>
                                    </m:r>
                                  </m:e>
                                </m:d>
                              </m:oMath>
                            </m:oMathPara>
                          </a14:m>
                          <a:endParaRPr lang="en-US" sz="2400" dirty="0">
                            <a:solidFill>
                              <a:srgbClr val="7030A0"/>
                            </a:solidFill>
                          </a:endParaRPr>
                        </a:p>
                      </a:txBody>
                      <a:tcPr/>
                    </a:tc>
                    <a:extLst>
                      <a:ext uri="{0D108BD9-81ED-4DB2-BD59-A6C34878D82A}">
                        <a16:rowId xmlns:a16="http://schemas.microsoft.com/office/drawing/2014/main" val="3570475783"/>
                      </a:ext>
                    </a:extLst>
                  </a:tr>
                </a:tbl>
              </a:graphicData>
            </a:graphic>
          </p:graphicFrame>
        </mc:Choice>
        <mc:Fallback xmlns="">
          <p:graphicFrame>
            <p:nvGraphicFramePr>
              <p:cNvPr id="61" name="Table 60">
                <a:extLst>
                  <a:ext uri="{FF2B5EF4-FFF2-40B4-BE49-F238E27FC236}">
                    <a16:creationId xmlns:a16="http://schemas.microsoft.com/office/drawing/2014/main" id="{5C27E588-E009-F14E-9875-0F0EC53B8812}"/>
                  </a:ext>
                </a:extLst>
              </p:cNvPr>
              <p:cNvGraphicFramePr>
                <a:graphicFrameLocks noGrp="1"/>
              </p:cNvGraphicFramePr>
              <p:nvPr>
                <p:extLst>
                  <p:ext uri="{D42A27DB-BD31-4B8C-83A1-F6EECF244321}">
                    <p14:modId xmlns:p14="http://schemas.microsoft.com/office/powerpoint/2010/main" val="1267566020"/>
                  </p:ext>
                </p:extLst>
              </p:nvPr>
            </p:nvGraphicFramePr>
            <p:xfrm>
              <a:off x="9538520" y="4086396"/>
              <a:ext cx="2143594" cy="2286000"/>
            </p:xfrm>
            <a:graphic>
              <a:graphicData uri="http://schemas.openxmlformats.org/drawingml/2006/table">
                <a:tbl>
                  <a:tblPr firstRow="1" bandRow="1">
                    <a:tableStyleId>{00A15C55-8517-42AA-B614-E9B94910E393}</a:tableStyleId>
                  </a:tblPr>
                  <a:tblGrid>
                    <a:gridCol w="1071797">
                      <a:extLst>
                        <a:ext uri="{9D8B030D-6E8A-4147-A177-3AD203B41FA5}">
                          <a16:colId xmlns:a16="http://schemas.microsoft.com/office/drawing/2014/main" val="788433896"/>
                        </a:ext>
                      </a:extLst>
                    </a:gridCol>
                    <a:gridCol w="1071797">
                      <a:extLst>
                        <a:ext uri="{9D8B030D-6E8A-4147-A177-3AD203B41FA5}">
                          <a16:colId xmlns:a16="http://schemas.microsoft.com/office/drawing/2014/main" val="2011902306"/>
                        </a:ext>
                      </a:extLst>
                    </a:gridCol>
                  </a:tblGrid>
                  <a:tr h="457200">
                    <a:tc>
                      <a:txBody>
                        <a:bodyPr/>
                        <a:lstStyle/>
                        <a:p>
                          <a:endParaRPr lang="en-US"/>
                        </a:p>
                      </a:txBody>
                      <a:tcPr>
                        <a:blipFill>
                          <a:blip r:embed="rId8"/>
                          <a:stretch>
                            <a:fillRect l="-1176" t="-27778" r="-101176" b="-600000"/>
                          </a:stretch>
                        </a:blipFill>
                      </a:tcPr>
                    </a:tc>
                    <a:tc>
                      <a:txBody>
                        <a:bodyPr/>
                        <a:lstStyle/>
                        <a:p>
                          <a:endParaRPr lang="en-US"/>
                        </a:p>
                      </a:txBody>
                      <a:tcPr>
                        <a:blipFill>
                          <a:blip r:embed="rId8"/>
                          <a:stretch>
                            <a:fillRect l="-102381" t="-27778" r="-2381" b="-600000"/>
                          </a:stretch>
                        </a:blipFill>
                      </a:tcPr>
                    </a:tc>
                    <a:extLst>
                      <a:ext uri="{0D108BD9-81ED-4DB2-BD59-A6C34878D82A}">
                        <a16:rowId xmlns:a16="http://schemas.microsoft.com/office/drawing/2014/main" val="463069753"/>
                      </a:ext>
                    </a:extLst>
                  </a:tr>
                  <a:tr h="457200">
                    <a:tc>
                      <a:txBody>
                        <a:bodyPr/>
                        <a:lstStyle/>
                        <a:p>
                          <a:endParaRPr lang="en-US"/>
                        </a:p>
                      </a:txBody>
                      <a:tcPr>
                        <a:blipFill>
                          <a:blip r:embed="rId8"/>
                          <a:stretch>
                            <a:fillRect l="-1176" t="-127778" r="-101176" b="-500000"/>
                          </a:stretch>
                        </a:blipFill>
                      </a:tcPr>
                    </a:tc>
                    <a:tc>
                      <a:txBody>
                        <a:bodyPr/>
                        <a:lstStyle/>
                        <a:p>
                          <a:endParaRPr lang="en-US"/>
                        </a:p>
                      </a:txBody>
                      <a:tcPr>
                        <a:blipFill>
                          <a:blip r:embed="rId8"/>
                          <a:stretch>
                            <a:fillRect l="-102381" t="-127778" r="-2381" b="-500000"/>
                          </a:stretch>
                        </a:blipFill>
                      </a:tcPr>
                    </a:tc>
                    <a:extLst>
                      <a:ext uri="{0D108BD9-81ED-4DB2-BD59-A6C34878D82A}">
                        <a16:rowId xmlns:a16="http://schemas.microsoft.com/office/drawing/2014/main" val="2959265682"/>
                      </a:ext>
                    </a:extLst>
                  </a:tr>
                  <a:tr h="457200">
                    <a:tc>
                      <a:txBody>
                        <a:bodyPr/>
                        <a:lstStyle/>
                        <a:p>
                          <a:endParaRPr lang="en-US"/>
                        </a:p>
                      </a:txBody>
                      <a:tcPr>
                        <a:blipFill>
                          <a:blip r:embed="rId8"/>
                          <a:stretch>
                            <a:fillRect l="-1176" t="-221622" r="-101176" b="-386486"/>
                          </a:stretch>
                        </a:blipFill>
                      </a:tcPr>
                    </a:tc>
                    <a:tc>
                      <a:txBody>
                        <a:bodyPr/>
                        <a:lstStyle/>
                        <a:p>
                          <a:endParaRPr lang="en-US"/>
                        </a:p>
                      </a:txBody>
                      <a:tcPr>
                        <a:blipFill>
                          <a:blip r:embed="rId8"/>
                          <a:stretch>
                            <a:fillRect l="-102381" t="-221622" r="-2381" b="-386486"/>
                          </a:stretch>
                        </a:blipFill>
                      </a:tcPr>
                    </a:tc>
                    <a:extLst>
                      <a:ext uri="{0D108BD9-81ED-4DB2-BD59-A6C34878D82A}">
                        <a16:rowId xmlns:a16="http://schemas.microsoft.com/office/drawing/2014/main" val="1369935276"/>
                      </a:ext>
                    </a:extLst>
                  </a:tr>
                  <a:tr h="457200">
                    <a:tc>
                      <a:txBody>
                        <a:bodyPr/>
                        <a:lstStyle/>
                        <a:p>
                          <a:endParaRPr lang="en-US"/>
                        </a:p>
                      </a:txBody>
                      <a:tcPr>
                        <a:blipFill>
                          <a:blip r:embed="rId8"/>
                          <a:stretch>
                            <a:fillRect l="-1176" t="-330556" r="-101176" b="-297222"/>
                          </a:stretch>
                        </a:blipFill>
                      </a:tcPr>
                    </a:tc>
                    <a:tc>
                      <a:txBody>
                        <a:bodyPr/>
                        <a:lstStyle/>
                        <a:p>
                          <a:endParaRPr lang="en-US"/>
                        </a:p>
                      </a:txBody>
                      <a:tcPr>
                        <a:blipFill>
                          <a:blip r:embed="rId8"/>
                          <a:stretch>
                            <a:fillRect l="-102381" t="-330556" r="-2381" b="-297222"/>
                          </a:stretch>
                        </a:blipFill>
                      </a:tcPr>
                    </a:tc>
                    <a:extLst>
                      <a:ext uri="{0D108BD9-81ED-4DB2-BD59-A6C34878D82A}">
                        <a16:rowId xmlns:a16="http://schemas.microsoft.com/office/drawing/2014/main" val="3715949626"/>
                      </a:ext>
                    </a:extLst>
                  </a:tr>
                  <a:tr h="457200">
                    <a:tc>
                      <a:txBody>
                        <a:bodyPr/>
                        <a:lstStyle/>
                        <a:p>
                          <a:endParaRPr lang="en-US"/>
                        </a:p>
                      </a:txBody>
                      <a:tcPr>
                        <a:blipFill>
                          <a:blip r:embed="rId8"/>
                          <a:stretch>
                            <a:fillRect l="-1176" t="-430556" r="-101176" b="-197222"/>
                          </a:stretch>
                        </a:blipFill>
                      </a:tcPr>
                    </a:tc>
                    <a:tc>
                      <a:txBody>
                        <a:bodyPr/>
                        <a:lstStyle/>
                        <a:p>
                          <a:endParaRPr lang="en-US"/>
                        </a:p>
                      </a:txBody>
                      <a:tcPr>
                        <a:blipFill>
                          <a:blip r:embed="rId8"/>
                          <a:stretch>
                            <a:fillRect l="-102381" t="-430556" r="-2381" b="-197222"/>
                          </a:stretch>
                        </a:blipFill>
                      </a:tcPr>
                    </a:tc>
                    <a:extLst>
                      <a:ext uri="{0D108BD9-81ED-4DB2-BD59-A6C34878D82A}">
                        <a16:rowId xmlns:a16="http://schemas.microsoft.com/office/drawing/2014/main" val="3570475783"/>
                      </a:ext>
                    </a:extLst>
                  </a:tr>
                </a:tbl>
              </a:graphicData>
            </a:graphic>
          </p:graphicFrame>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9DC1CD50-5920-AB49-836C-235A7EA5EB08}"/>
                  </a:ext>
                </a:extLst>
              </p:cNvPr>
              <p:cNvSpPr/>
              <p:nvPr/>
            </p:nvSpPr>
            <p:spPr>
              <a:xfrm>
                <a:off x="6300711" y="1169991"/>
                <a:ext cx="76508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i="1">
                                  <a:solidFill>
                                    <a:srgbClr val="002060"/>
                                  </a:solidFill>
                                  <a:latin typeface="Cambria Math" panose="02040503050406030204" pitchFamily="18" charset="0"/>
                                  <a:ea typeface="Cambria Math" panose="02040503050406030204" pitchFamily="18" charset="0"/>
                                </a:rPr>
                                <m:t>0</m:t>
                              </m:r>
                            </m:sub>
                          </m:sSub>
                        </m:e>
                      </m:d>
                    </m:oMath>
                  </m:oMathPara>
                </a14:m>
                <a:endParaRPr lang="en-US" sz="2400" dirty="0"/>
              </a:p>
            </p:txBody>
          </p:sp>
        </mc:Choice>
        <mc:Fallback xmlns="">
          <p:sp>
            <p:nvSpPr>
              <p:cNvPr id="65" name="Rectangle 64">
                <a:extLst>
                  <a:ext uri="{FF2B5EF4-FFF2-40B4-BE49-F238E27FC236}">
                    <a16:creationId xmlns:a16="http://schemas.microsoft.com/office/drawing/2014/main" id="{9DC1CD50-5920-AB49-836C-235A7EA5EB08}"/>
                  </a:ext>
                </a:extLst>
              </p:cNvPr>
              <p:cNvSpPr>
                <a:spLocks noRot="1" noChangeAspect="1" noMove="1" noResize="1" noEditPoints="1" noAdjustHandles="1" noChangeArrowheads="1" noChangeShapeType="1" noTextEdit="1"/>
              </p:cNvSpPr>
              <p:nvPr/>
            </p:nvSpPr>
            <p:spPr>
              <a:xfrm>
                <a:off x="6300711" y="1169991"/>
                <a:ext cx="765081" cy="461665"/>
              </a:xfrm>
              <a:prstGeom prst="rect">
                <a:avLst/>
              </a:prstGeom>
              <a:blipFill>
                <a:blip r:embed="rId9"/>
                <a:stretch>
                  <a:fillRect l="-3279" t="-124324" r="-40984"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44C8E2A3-D5FA-494E-8376-0DAF0D1C78F3}"/>
                  </a:ext>
                </a:extLst>
              </p:cNvPr>
              <p:cNvSpPr/>
              <p:nvPr/>
            </p:nvSpPr>
            <p:spPr>
              <a:xfrm>
                <a:off x="6300711" y="1644008"/>
                <a:ext cx="7579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en-US" sz="2400" i="1">
                                  <a:solidFill>
                                    <a:srgbClr val="002060"/>
                                  </a:solidFill>
                                  <a:latin typeface="Cambria Math" panose="02040503050406030204" pitchFamily="18" charset="0"/>
                                  <a:ea typeface="Cambria Math" panose="02040503050406030204" pitchFamily="18" charset="0"/>
                                </a:rPr>
                                <m:t>𝑥</m:t>
                              </m:r>
                            </m:e>
                            <m:sub>
                              <m:r>
                                <a:rPr lang="en-US" sz="2400" b="0" i="1" smtClean="0">
                                  <a:solidFill>
                                    <a:srgbClr val="002060"/>
                                  </a:solidFill>
                                  <a:latin typeface="Cambria Math" panose="02040503050406030204" pitchFamily="18" charset="0"/>
                                  <a:ea typeface="Cambria Math" panose="02040503050406030204" pitchFamily="18" charset="0"/>
                                </a:rPr>
                                <m:t>1</m:t>
                              </m:r>
                            </m:sub>
                          </m:sSub>
                        </m:e>
                      </m:d>
                    </m:oMath>
                  </m:oMathPara>
                </a14:m>
                <a:endParaRPr lang="en-US" sz="2400" dirty="0"/>
              </a:p>
            </p:txBody>
          </p:sp>
        </mc:Choice>
        <mc:Fallback xmlns="">
          <p:sp>
            <p:nvSpPr>
              <p:cNvPr id="66" name="Rectangle 65">
                <a:extLst>
                  <a:ext uri="{FF2B5EF4-FFF2-40B4-BE49-F238E27FC236}">
                    <a16:creationId xmlns:a16="http://schemas.microsoft.com/office/drawing/2014/main" id="{44C8E2A3-D5FA-494E-8376-0DAF0D1C78F3}"/>
                  </a:ext>
                </a:extLst>
              </p:cNvPr>
              <p:cNvSpPr>
                <a:spLocks noRot="1" noChangeAspect="1" noMove="1" noResize="1" noEditPoints="1" noAdjustHandles="1" noChangeArrowheads="1" noChangeShapeType="1" noTextEdit="1"/>
              </p:cNvSpPr>
              <p:nvPr/>
            </p:nvSpPr>
            <p:spPr>
              <a:xfrm>
                <a:off x="6300711" y="1644008"/>
                <a:ext cx="757963" cy="461665"/>
              </a:xfrm>
              <a:prstGeom prst="rect">
                <a:avLst/>
              </a:prstGeom>
              <a:blipFill>
                <a:blip r:embed="rId10"/>
                <a:stretch>
                  <a:fillRect l="-4918" t="-118421" r="-40984"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6D6D749-451C-324E-A1C7-76AA3F1B0E5D}"/>
                  </a:ext>
                </a:extLst>
              </p:cNvPr>
              <p:cNvSpPr txBox="1"/>
              <p:nvPr/>
            </p:nvSpPr>
            <p:spPr>
              <a:xfrm>
                <a:off x="4043423" y="3516773"/>
                <a:ext cx="532646" cy="369332"/>
              </a:xfrm>
              <a:prstGeom prst="rect">
                <a:avLst/>
              </a:prstGeom>
              <a:noFill/>
            </p:spPr>
            <p:txBody>
              <a:bodyPr wrap="none" rtlCol="0">
                <a:spAutoFit/>
              </a:bodyPr>
              <a:lstStyle/>
              <a:p>
                <a14:m>
                  <m:oMath xmlns:m="http://schemas.openxmlformats.org/officeDocument/2006/math">
                    <m:r>
                      <a:rPr lang="en-US" i="1">
                        <a:latin typeface="Cambria Math" panose="02040503050406030204" pitchFamily="18" charset="0"/>
                        <a:ea typeface="Cambria Math" panose="02040503050406030204" pitchFamily="18" charset="0"/>
                      </a:rPr>
                      <m:t>𝜋</m:t>
                    </m:r>
                  </m:oMath>
                </a14:m>
                <a:r>
                  <a:rPr lang="en-US" dirty="0"/>
                  <a:t>/2</a:t>
                </a:r>
              </a:p>
            </p:txBody>
          </p:sp>
        </mc:Choice>
        <mc:Fallback xmlns="">
          <p:sp>
            <p:nvSpPr>
              <p:cNvPr id="3" name="TextBox 2">
                <a:extLst>
                  <a:ext uri="{FF2B5EF4-FFF2-40B4-BE49-F238E27FC236}">
                    <a16:creationId xmlns:a16="http://schemas.microsoft.com/office/drawing/2014/main" id="{C6D6D749-451C-324E-A1C7-76AA3F1B0E5D}"/>
                  </a:ext>
                </a:extLst>
              </p:cNvPr>
              <p:cNvSpPr txBox="1">
                <a:spLocks noRot="1" noChangeAspect="1" noMove="1" noResize="1" noEditPoints="1" noAdjustHandles="1" noChangeArrowheads="1" noChangeShapeType="1" noTextEdit="1"/>
              </p:cNvSpPr>
              <p:nvPr/>
            </p:nvSpPr>
            <p:spPr>
              <a:xfrm>
                <a:off x="4043423" y="3516773"/>
                <a:ext cx="532646" cy="369332"/>
              </a:xfrm>
              <a:prstGeom prst="rect">
                <a:avLst/>
              </a:prstGeom>
              <a:blipFill>
                <a:blip r:embed="rId11"/>
                <a:stretch>
                  <a:fillRect t="-6667" r="-697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A089F74-7762-9C47-B300-947E0B344DA9}"/>
                  </a:ext>
                </a:extLst>
              </p:cNvPr>
              <p:cNvSpPr txBox="1"/>
              <p:nvPr/>
            </p:nvSpPr>
            <p:spPr>
              <a:xfrm>
                <a:off x="5143109" y="3516773"/>
                <a:ext cx="3787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𝜋</m:t>
                      </m:r>
                    </m:oMath>
                  </m:oMathPara>
                </a14:m>
                <a:endParaRPr lang="en-US" dirty="0"/>
              </a:p>
            </p:txBody>
          </p:sp>
        </mc:Choice>
        <mc:Fallback xmlns="">
          <p:sp>
            <p:nvSpPr>
              <p:cNvPr id="25" name="TextBox 24">
                <a:extLst>
                  <a:ext uri="{FF2B5EF4-FFF2-40B4-BE49-F238E27FC236}">
                    <a16:creationId xmlns:a16="http://schemas.microsoft.com/office/drawing/2014/main" id="{7A089F74-7762-9C47-B300-947E0B344DA9}"/>
                  </a:ext>
                </a:extLst>
              </p:cNvPr>
              <p:cNvSpPr txBox="1">
                <a:spLocks noRot="1" noChangeAspect="1" noMove="1" noResize="1" noEditPoints="1" noAdjustHandles="1" noChangeArrowheads="1" noChangeShapeType="1" noTextEdit="1"/>
              </p:cNvSpPr>
              <p:nvPr/>
            </p:nvSpPr>
            <p:spPr>
              <a:xfrm>
                <a:off x="5143109" y="3516773"/>
                <a:ext cx="378757" cy="369332"/>
              </a:xfrm>
              <a:prstGeom prst="rect">
                <a:avLst/>
              </a:prstGeom>
              <a:blipFill>
                <a:blip r:embed="rId12"/>
                <a:stretch>
                  <a:fillRect/>
                </a:stretch>
              </a:blipFill>
            </p:spPr>
            <p:txBody>
              <a:bodyPr/>
              <a:lstStyle/>
              <a:p>
                <a:r>
                  <a:rPr lang="en-US">
                    <a:noFill/>
                  </a:rPr>
                  <a:t> </a:t>
                </a:r>
              </a:p>
            </p:txBody>
          </p:sp>
        </mc:Fallback>
      </mc:AlternateContent>
      <p:sp>
        <p:nvSpPr>
          <p:cNvPr id="6" name="Right Arrow 5">
            <a:extLst>
              <a:ext uri="{FF2B5EF4-FFF2-40B4-BE49-F238E27FC236}">
                <a16:creationId xmlns:a16="http://schemas.microsoft.com/office/drawing/2014/main" id="{E09FD5BA-5AB9-AF41-A5F1-96FDD1C7A64D}"/>
              </a:ext>
            </a:extLst>
          </p:cNvPr>
          <p:cNvSpPr/>
          <p:nvPr/>
        </p:nvSpPr>
        <p:spPr>
          <a:xfrm>
            <a:off x="4696864" y="5061146"/>
            <a:ext cx="495300" cy="336500"/>
          </a:xfrm>
          <a:prstGeom prst="rightArrow">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912C51-AEFD-D84F-968D-D3C3731ACB65}"/>
                  </a:ext>
                </a:extLst>
              </p:cNvPr>
              <p:cNvSpPr txBox="1"/>
              <p:nvPr/>
            </p:nvSpPr>
            <p:spPr>
              <a:xfrm>
                <a:off x="5302643" y="4421579"/>
                <a:ext cx="3290388" cy="161563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sz="2400" i="1" smtClean="0">
                              <a:solidFill>
                                <a:srgbClr val="002060"/>
                              </a:solidFill>
                              <a:latin typeface="Cambria Math" panose="02040503050406030204" pitchFamily="18" charset="0"/>
                              <a:ea typeface="Cambria Math" panose="02040503050406030204" pitchFamily="18" charset="0"/>
                            </a:rPr>
                          </m:ctrlPr>
                        </m:mPr>
                        <m:mr>
                          <m:e>
                            <m:r>
                              <a:rPr lang="en-US" sz="2400" i="1">
                                <a:latin typeface="Cambria Math" panose="02040503050406030204" pitchFamily="18" charset="0"/>
                              </a:rPr>
                              <m:t>𝑅𝑦</m:t>
                            </m:r>
                            <m:d>
                              <m:dPr>
                                <m:ctrlPr>
                                  <a:rPr lang="en-US" sz="2400" i="1">
                                    <a:latin typeface="Cambria Math" panose="02040503050406030204" pitchFamily="18" charset="0"/>
                                  </a:rPr>
                                </m:ctrlPr>
                              </m:dPr>
                              <m:e>
                                <m:r>
                                  <a:rPr lang="en-US" sz="2400" b="0" i="1" smtClean="0">
                                    <a:latin typeface="Cambria Math" panose="02040503050406030204" pitchFamily="18" charset="0"/>
                                  </a:rPr>
                                  <m:t>0</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e>
                          <m:e>
                            <m:r>
                              <a:rPr lang="en-US" sz="2400" i="1">
                                <a:solidFill>
                                  <a:srgbClr val="002060"/>
                                </a:solidFill>
                                <a:latin typeface="Cambria Math" panose="02040503050406030204" pitchFamily="18" charset="0"/>
                                <a:ea typeface="Cambria Math" panose="02040503050406030204" pitchFamily="18" charset="0"/>
                              </a:rPr>
                              <m:t>=</m:t>
                            </m:r>
                          </m:e>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e>
                        </m:mr>
                        <m:mr>
                          <m:e>
                            <m:r>
                              <a:rPr lang="en-US" sz="2400" i="1">
                                <a:latin typeface="Cambria Math" panose="02040503050406030204" pitchFamily="18" charset="0"/>
                              </a:rPr>
                              <m:t>𝑅𝑦</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/2</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e>
                          <m:e>
                            <m:r>
                              <a:rPr lang="en-US" sz="2400" i="1">
                                <a:solidFill>
                                  <a:srgbClr val="002060"/>
                                </a:solidFill>
                                <a:latin typeface="Cambria Math" panose="02040503050406030204" pitchFamily="18" charset="0"/>
                                <a:ea typeface="Cambria Math" panose="02040503050406030204" pitchFamily="18" charset="0"/>
                              </a:rPr>
                              <m:t>=</m:t>
                            </m:r>
                          </m:e>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m:t>
                                </m:r>
                              </m:e>
                            </m:d>
                          </m:e>
                        </m:mr>
                        <m:mr>
                          <m:e>
                            <m:r>
                              <a:rPr lang="en-US" sz="2400" i="1">
                                <a:latin typeface="Cambria Math" panose="02040503050406030204" pitchFamily="18" charset="0"/>
                              </a:rPr>
                              <m:t>𝑅𝑦</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𝜋</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e>
                          <m:e>
                            <m:r>
                              <a:rPr lang="en-US" sz="2400" i="1">
                                <a:solidFill>
                                  <a:srgbClr val="002060"/>
                                </a:solidFill>
                                <a:latin typeface="Cambria Math" panose="02040503050406030204" pitchFamily="18" charset="0"/>
                                <a:ea typeface="Cambria Math" panose="02040503050406030204" pitchFamily="18" charset="0"/>
                              </a:rPr>
                              <m:t>=</m:t>
                            </m:r>
                          </m:e>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1</m:t>
                                </m:r>
                              </m:e>
                            </m:d>
                          </m:e>
                        </m:mr>
                        <m:mr>
                          <m:e>
                            <m:r>
                              <a:rPr lang="en-US" sz="2400" i="1">
                                <a:latin typeface="Cambria Math" panose="02040503050406030204" pitchFamily="18" charset="0"/>
                              </a:rPr>
                              <m:t>𝑅𝑦</m:t>
                            </m:r>
                            <m:d>
                              <m:dPr>
                                <m:ctrlPr>
                                  <a:rPr lang="en-US" sz="2400" i="1">
                                    <a:latin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/2</m:t>
                                </m:r>
                              </m:e>
                            </m:d>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|0</m:t>
                                </m:r>
                              </m:e>
                            </m:d>
                          </m:e>
                          <m:e>
                            <m:r>
                              <a:rPr lang="en-US" sz="2400" i="1">
                                <a:solidFill>
                                  <a:srgbClr val="002060"/>
                                </a:solidFill>
                                <a:latin typeface="Cambria Math" panose="02040503050406030204" pitchFamily="18" charset="0"/>
                                <a:ea typeface="Cambria Math" panose="02040503050406030204" pitchFamily="18" charset="0"/>
                              </a:rPr>
                              <m:t>=</m:t>
                            </m:r>
                          </m:e>
                          <m:e>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en-US" sz="2400" i="1">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m:t>
                                </m:r>
                              </m:e>
                            </m:d>
                          </m:e>
                        </m:mr>
                      </m:m>
                    </m:oMath>
                  </m:oMathPara>
                </a14:m>
                <a:endParaRPr lang="en-US" sz="2400" dirty="0"/>
              </a:p>
            </p:txBody>
          </p:sp>
        </mc:Choice>
        <mc:Fallback xmlns="">
          <p:sp>
            <p:nvSpPr>
              <p:cNvPr id="8" name="TextBox 7">
                <a:extLst>
                  <a:ext uri="{FF2B5EF4-FFF2-40B4-BE49-F238E27FC236}">
                    <a16:creationId xmlns:a16="http://schemas.microsoft.com/office/drawing/2014/main" id="{B4912C51-AEFD-D84F-968D-D3C3731ACB65}"/>
                  </a:ext>
                </a:extLst>
              </p:cNvPr>
              <p:cNvSpPr txBox="1">
                <a:spLocks noRot="1" noChangeAspect="1" noMove="1" noResize="1" noEditPoints="1" noAdjustHandles="1" noChangeArrowheads="1" noChangeShapeType="1" noTextEdit="1"/>
              </p:cNvSpPr>
              <p:nvPr/>
            </p:nvSpPr>
            <p:spPr>
              <a:xfrm>
                <a:off x="5302643" y="4421579"/>
                <a:ext cx="3290388" cy="1615635"/>
              </a:xfrm>
              <a:prstGeom prst="rect">
                <a:avLst/>
              </a:prstGeom>
              <a:blipFill>
                <a:blip r:embed="rId13"/>
                <a:stretch>
                  <a:fillRect t="-37795" r="-9231" b="-55906"/>
                </a:stretch>
              </a:blipFill>
            </p:spPr>
            <p:txBody>
              <a:bodyPr/>
              <a:lstStyle/>
              <a:p>
                <a:r>
                  <a:rPr lang="en-US">
                    <a:noFill/>
                  </a:rPr>
                  <a:t> </a:t>
                </a:r>
              </a:p>
            </p:txBody>
          </p:sp>
        </mc:Fallback>
      </mc:AlternateContent>
      <p:sp>
        <p:nvSpPr>
          <p:cNvPr id="28" name="Right Arrow 27">
            <a:extLst>
              <a:ext uri="{FF2B5EF4-FFF2-40B4-BE49-F238E27FC236}">
                <a16:creationId xmlns:a16="http://schemas.microsoft.com/office/drawing/2014/main" id="{75E1B54B-A827-A547-A68B-9760D82E6AA1}"/>
              </a:ext>
            </a:extLst>
          </p:cNvPr>
          <p:cNvSpPr/>
          <p:nvPr/>
        </p:nvSpPr>
        <p:spPr>
          <a:xfrm>
            <a:off x="8932740" y="5061146"/>
            <a:ext cx="495300" cy="336500"/>
          </a:xfrm>
          <a:prstGeom prst="rightArrow">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lide Number Placeholder 2">
            <a:extLst>
              <a:ext uri="{FF2B5EF4-FFF2-40B4-BE49-F238E27FC236}">
                <a16:creationId xmlns:a16="http://schemas.microsoft.com/office/drawing/2014/main" id="{F7184B1E-CED8-614F-92F2-90C48980F2EB}"/>
              </a:ext>
            </a:extLst>
          </p:cNvPr>
          <p:cNvSpPr>
            <a:spLocks noGrp="1"/>
          </p:cNvSpPr>
          <p:nvPr>
            <p:ph type="sldNum" sz="quarter" idx="12"/>
          </p:nvPr>
        </p:nvSpPr>
        <p:spPr>
          <a:xfrm>
            <a:off x="13063" y="6481989"/>
            <a:ext cx="596538" cy="365125"/>
          </a:xfrm>
        </p:spPr>
        <p:txBody>
          <a:bodyPr/>
          <a:lstStyle/>
          <a:p>
            <a:fld id="{591A223C-FA10-BC46-A853-03BA373D023C}" type="slidenum">
              <a:rPr lang="en-US" smtClean="0"/>
              <a:t>8</a:t>
            </a:fld>
            <a:endParaRPr lang="en-US"/>
          </a:p>
        </p:txBody>
      </p:sp>
    </p:spTree>
    <p:extLst>
      <p:ext uri="{BB962C8B-B14F-4D97-AF65-F5344CB8AC3E}">
        <p14:creationId xmlns:p14="http://schemas.microsoft.com/office/powerpoint/2010/main" val="3052296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9D0C75-E5C4-B745-B3EC-817CFCCD060B}"/>
              </a:ext>
            </a:extLst>
          </p:cNvPr>
          <p:cNvPicPr>
            <a:picLocks noChangeAspect="1"/>
          </p:cNvPicPr>
          <p:nvPr/>
        </p:nvPicPr>
        <p:blipFill>
          <a:blip r:embed="rId3"/>
          <a:stretch>
            <a:fillRect/>
          </a:stretch>
        </p:blipFill>
        <p:spPr>
          <a:xfrm>
            <a:off x="387350" y="859988"/>
            <a:ext cx="3726746" cy="4830618"/>
          </a:xfrm>
          <a:prstGeom prst="rect">
            <a:avLst/>
          </a:prstGeom>
        </p:spPr>
      </p:pic>
      <p:pic>
        <p:nvPicPr>
          <p:cNvPr id="6" name="Picture 5">
            <a:extLst>
              <a:ext uri="{FF2B5EF4-FFF2-40B4-BE49-F238E27FC236}">
                <a16:creationId xmlns:a16="http://schemas.microsoft.com/office/drawing/2014/main" id="{2C38CAC8-00E9-3A41-8FC5-FAA194EDB4C8}"/>
              </a:ext>
            </a:extLst>
          </p:cNvPr>
          <p:cNvPicPr>
            <a:picLocks noChangeAspect="1"/>
          </p:cNvPicPr>
          <p:nvPr/>
        </p:nvPicPr>
        <p:blipFill>
          <a:blip r:embed="rId4"/>
          <a:stretch>
            <a:fillRect/>
          </a:stretch>
        </p:blipFill>
        <p:spPr>
          <a:xfrm>
            <a:off x="8406823" y="1000842"/>
            <a:ext cx="3575789" cy="4830618"/>
          </a:xfrm>
          <a:prstGeom prst="rect">
            <a:avLst/>
          </a:prstGeom>
        </p:spPr>
      </p:pic>
      <p:sp>
        <p:nvSpPr>
          <p:cNvPr id="8" name="TextBox 7">
            <a:extLst>
              <a:ext uri="{FF2B5EF4-FFF2-40B4-BE49-F238E27FC236}">
                <a16:creationId xmlns:a16="http://schemas.microsoft.com/office/drawing/2014/main" id="{D6E6D1D7-FE31-F949-92CD-4232564B952F}"/>
              </a:ext>
            </a:extLst>
          </p:cNvPr>
          <p:cNvSpPr txBox="1"/>
          <p:nvPr/>
        </p:nvSpPr>
        <p:spPr>
          <a:xfrm>
            <a:off x="1938996" y="5997714"/>
            <a:ext cx="8773556" cy="707886"/>
          </a:xfrm>
          <a:prstGeom prst="rect">
            <a:avLst/>
          </a:prstGeom>
          <a:noFill/>
        </p:spPr>
        <p:txBody>
          <a:bodyPr wrap="none" rtlCol="0">
            <a:spAutoFit/>
          </a:bodyPr>
          <a:lstStyle/>
          <a:p>
            <a:r>
              <a:rPr lang="en-US" sz="4000" dirty="0">
                <a:latin typeface="Comic Sans MS" panose="030F0902030302020204" pitchFamily="66" charset="0"/>
              </a:rPr>
              <a:t>Quantum Key Distribution Protocols</a:t>
            </a:r>
          </a:p>
        </p:txBody>
      </p:sp>
      <p:pic>
        <p:nvPicPr>
          <p:cNvPr id="9" name="Picture 8">
            <a:extLst>
              <a:ext uri="{FF2B5EF4-FFF2-40B4-BE49-F238E27FC236}">
                <a16:creationId xmlns:a16="http://schemas.microsoft.com/office/drawing/2014/main" id="{0DCD4667-63B9-A24B-ADE1-3C84AB18DECF}"/>
              </a:ext>
            </a:extLst>
          </p:cNvPr>
          <p:cNvPicPr>
            <a:picLocks noChangeAspect="1"/>
          </p:cNvPicPr>
          <p:nvPr/>
        </p:nvPicPr>
        <p:blipFill>
          <a:blip r:embed="rId5"/>
          <a:stretch>
            <a:fillRect/>
          </a:stretch>
        </p:blipFill>
        <p:spPr>
          <a:xfrm>
            <a:off x="4648200" y="301913"/>
            <a:ext cx="2895600" cy="2222500"/>
          </a:xfrm>
          <a:prstGeom prst="rect">
            <a:avLst/>
          </a:prstGeom>
        </p:spPr>
      </p:pic>
      <p:sp>
        <p:nvSpPr>
          <p:cNvPr id="7" name="Slide Number Placeholder 2">
            <a:extLst>
              <a:ext uri="{FF2B5EF4-FFF2-40B4-BE49-F238E27FC236}">
                <a16:creationId xmlns:a16="http://schemas.microsoft.com/office/drawing/2014/main" id="{FE11E428-4018-FC45-9F2C-72304F11E8B3}"/>
              </a:ext>
            </a:extLst>
          </p:cNvPr>
          <p:cNvSpPr>
            <a:spLocks noGrp="1"/>
          </p:cNvSpPr>
          <p:nvPr>
            <p:ph type="sldNum" sz="quarter" idx="12"/>
          </p:nvPr>
        </p:nvSpPr>
        <p:spPr>
          <a:xfrm>
            <a:off x="13063" y="6481989"/>
            <a:ext cx="596538" cy="365125"/>
          </a:xfrm>
        </p:spPr>
        <p:txBody>
          <a:bodyPr/>
          <a:lstStyle/>
          <a:p>
            <a:fld id="{591A223C-FA10-BC46-A853-03BA373D023C}" type="slidenum">
              <a:rPr lang="en-US" smtClean="0"/>
              <a:t>9</a:t>
            </a:fld>
            <a:endParaRPr lang="en-US"/>
          </a:p>
        </p:txBody>
      </p:sp>
    </p:spTree>
    <p:extLst>
      <p:ext uri="{BB962C8B-B14F-4D97-AF65-F5344CB8AC3E}">
        <p14:creationId xmlns:p14="http://schemas.microsoft.com/office/powerpoint/2010/main" val="4243709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E5AF697E-5AEE-4742-91C1-05ED046E0845}"/>
              </a:ext>
            </a:extLst>
          </p:cNvPr>
          <p:cNvPicPr>
            <a:picLocks noChangeAspect="1"/>
          </p:cNvPicPr>
          <p:nvPr/>
        </p:nvPicPr>
        <p:blipFill>
          <a:blip r:embed="rId3"/>
          <a:stretch>
            <a:fillRect/>
          </a:stretch>
        </p:blipFill>
        <p:spPr>
          <a:xfrm>
            <a:off x="5412255" y="1440952"/>
            <a:ext cx="984588" cy="1713983"/>
          </a:xfrm>
          <a:prstGeom prst="rect">
            <a:avLst/>
          </a:prstGeom>
        </p:spPr>
      </p:pic>
      <p:sp>
        <p:nvSpPr>
          <p:cNvPr id="3" name="Slide Number Placeholder 2">
            <a:extLst>
              <a:ext uri="{FF2B5EF4-FFF2-40B4-BE49-F238E27FC236}">
                <a16:creationId xmlns:a16="http://schemas.microsoft.com/office/drawing/2014/main" id="{5658E4D8-2EA5-9949-A27E-32E412B08C36}"/>
              </a:ext>
            </a:extLst>
          </p:cNvPr>
          <p:cNvSpPr>
            <a:spLocks noGrp="1"/>
          </p:cNvSpPr>
          <p:nvPr>
            <p:ph type="sldNum" sz="quarter" idx="12"/>
          </p:nvPr>
        </p:nvSpPr>
        <p:spPr/>
        <p:txBody>
          <a:bodyPr/>
          <a:lstStyle/>
          <a:p>
            <a:fld id="{591A223C-FA10-BC46-A853-03BA373D023C}" type="slidenum">
              <a:rPr lang="en-US" smtClean="0"/>
              <a:t>10</a:t>
            </a:fld>
            <a:endParaRPr lang="en-US" dirty="0"/>
          </a:p>
        </p:txBody>
      </p:sp>
      <p:sp>
        <p:nvSpPr>
          <p:cNvPr id="2" name="Title 1">
            <a:extLst>
              <a:ext uri="{FF2B5EF4-FFF2-40B4-BE49-F238E27FC236}">
                <a16:creationId xmlns:a16="http://schemas.microsoft.com/office/drawing/2014/main" id="{A79F7821-A87B-BE49-824D-4FAD583575D2}"/>
              </a:ext>
            </a:extLst>
          </p:cNvPr>
          <p:cNvSpPr>
            <a:spLocks noGrp="1"/>
          </p:cNvSpPr>
          <p:nvPr>
            <p:ph type="title"/>
          </p:nvPr>
        </p:nvSpPr>
        <p:spPr/>
        <p:txBody>
          <a:bodyPr>
            <a:normAutofit/>
          </a:bodyPr>
          <a:lstStyle/>
          <a:p>
            <a:r>
              <a:rPr lang="en-US" dirty="0"/>
              <a:t>BB84 (Bennett and Brassard 1984) Quantum Key Distribution (QKD) </a:t>
            </a:r>
          </a:p>
        </p:txBody>
      </p:sp>
      <p:grpSp>
        <p:nvGrpSpPr>
          <p:cNvPr id="11" name="Group 10">
            <a:extLst>
              <a:ext uri="{FF2B5EF4-FFF2-40B4-BE49-F238E27FC236}">
                <a16:creationId xmlns:a16="http://schemas.microsoft.com/office/drawing/2014/main" id="{0723C89D-C70B-D94C-800E-BFE1931A9725}"/>
              </a:ext>
            </a:extLst>
          </p:cNvPr>
          <p:cNvGrpSpPr/>
          <p:nvPr/>
        </p:nvGrpSpPr>
        <p:grpSpPr>
          <a:xfrm>
            <a:off x="1481387" y="696267"/>
            <a:ext cx="10548384" cy="711084"/>
            <a:chOff x="3860803" y="1218308"/>
            <a:chExt cx="10548384" cy="711084"/>
          </a:xfrm>
        </p:grpSpPr>
        <p:sp>
          <p:nvSpPr>
            <p:cNvPr id="12" name="Rounded Rectangular Callout 11">
              <a:extLst>
                <a:ext uri="{FF2B5EF4-FFF2-40B4-BE49-F238E27FC236}">
                  <a16:creationId xmlns:a16="http://schemas.microsoft.com/office/drawing/2014/main" id="{9CCFCF01-0243-8947-83BF-4FAF7519F42D}"/>
                </a:ext>
              </a:extLst>
            </p:cNvPr>
            <p:cNvSpPr/>
            <p:nvPr/>
          </p:nvSpPr>
          <p:spPr>
            <a:xfrm>
              <a:off x="3860803" y="1263698"/>
              <a:ext cx="10032637" cy="665694"/>
            </a:xfrm>
            <a:prstGeom prst="wedgeRoundRectCallout">
              <a:avLst>
                <a:gd name="adj1" fmla="val -53918"/>
                <a:gd name="adj2" fmla="val 48794"/>
                <a:gd name="adj3" fmla="val 16667"/>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2F9C897-3599-7A4F-A2E4-A86C64CBBACD}"/>
                </a:ext>
              </a:extLst>
            </p:cNvPr>
            <p:cNvSpPr txBox="1"/>
            <p:nvPr/>
          </p:nvSpPr>
          <p:spPr>
            <a:xfrm>
              <a:off x="4449930" y="1374025"/>
              <a:ext cx="9959257" cy="461665"/>
            </a:xfrm>
            <a:prstGeom prst="rect">
              <a:avLst/>
            </a:prstGeom>
            <a:noFill/>
          </p:spPr>
          <p:txBody>
            <a:bodyPr wrap="square" rtlCol="0">
              <a:spAutoFit/>
            </a:bodyPr>
            <a:lstStyle/>
            <a:p>
              <a:r>
                <a:rPr lang="en-ZA" sz="2400" dirty="0">
                  <a:latin typeface="Comic Sans MS" panose="030F0902030302020204" pitchFamily="66" charset="0"/>
                </a:rPr>
                <a:t>Alice sends key bits as polarized photons in random bases.</a:t>
              </a:r>
              <a:endParaRPr lang="en-US" sz="2100" dirty="0">
                <a:latin typeface="Comic Sans MS" panose="030F0902030302020204" pitchFamily="66" charset="0"/>
              </a:endParaRPr>
            </a:p>
          </p:txBody>
        </p:sp>
        <p:sp>
          <p:nvSpPr>
            <p:cNvPr id="14" name="TextBox 13">
              <a:extLst>
                <a:ext uri="{FF2B5EF4-FFF2-40B4-BE49-F238E27FC236}">
                  <a16:creationId xmlns:a16="http://schemas.microsoft.com/office/drawing/2014/main" id="{820D804B-E654-6A44-A037-F297969FBBEE}"/>
                </a:ext>
              </a:extLst>
            </p:cNvPr>
            <p:cNvSpPr txBox="1"/>
            <p:nvPr/>
          </p:nvSpPr>
          <p:spPr>
            <a:xfrm>
              <a:off x="3947886" y="1218308"/>
              <a:ext cx="543739" cy="707886"/>
            </a:xfrm>
            <a:prstGeom prst="rect">
              <a:avLst/>
            </a:prstGeom>
            <a:noFill/>
          </p:spPr>
          <p:txBody>
            <a:bodyPr wrap="none" rtlCol="0">
              <a:spAutoFit/>
            </a:bodyPr>
            <a:lstStyle/>
            <a:p>
              <a:r>
                <a:rPr lang="en-US" sz="4000" dirty="0">
                  <a:latin typeface="Comic Sans MS" panose="030F0902030302020204" pitchFamily="66" charset="0"/>
                </a:rPr>
                <a:t>1.</a:t>
              </a:r>
            </a:p>
          </p:txBody>
        </p:sp>
      </p:grpSp>
      <p:sp>
        <p:nvSpPr>
          <p:cNvPr id="15" name="Freeform 14">
            <a:extLst>
              <a:ext uri="{FF2B5EF4-FFF2-40B4-BE49-F238E27FC236}">
                <a16:creationId xmlns:a16="http://schemas.microsoft.com/office/drawing/2014/main" id="{A9B50521-E997-7244-B7CE-404FAD76B9B4}"/>
              </a:ext>
            </a:extLst>
          </p:cNvPr>
          <p:cNvSpPr/>
          <p:nvPr/>
        </p:nvSpPr>
        <p:spPr>
          <a:xfrm>
            <a:off x="2848053" y="1954231"/>
            <a:ext cx="6008911" cy="652147"/>
          </a:xfrm>
          <a:custGeom>
            <a:avLst/>
            <a:gdLst>
              <a:gd name="connsiteX0" fmla="*/ 0 w 2204357"/>
              <a:gd name="connsiteY0" fmla="*/ 1129391 h 1609036"/>
              <a:gd name="connsiteX1" fmla="*/ 522514 w 2204357"/>
              <a:gd name="connsiteY1" fmla="*/ 1553934 h 1609036"/>
              <a:gd name="connsiteX2" fmla="*/ 1118507 w 2204357"/>
              <a:gd name="connsiteY2" fmla="*/ 35377 h 1609036"/>
              <a:gd name="connsiteX3" fmla="*/ 2204357 w 2204357"/>
              <a:gd name="connsiteY3" fmla="*/ 631370 h 1609036"/>
            </a:gdLst>
            <a:ahLst/>
            <a:cxnLst>
              <a:cxn ang="0">
                <a:pos x="connsiteX0" y="connsiteY0"/>
              </a:cxn>
              <a:cxn ang="0">
                <a:pos x="connsiteX1" y="connsiteY1"/>
              </a:cxn>
              <a:cxn ang="0">
                <a:pos x="connsiteX2" y="connsiteY2"/>
              </a:cxn>
              <a:cxn ang="0">
                <a:pos x="connsiteX3" y="connsiteY3"/>
              </a:cxn>
            </a:cxnLst>
            <a:rect l="l" t="t" r="r" b="b"/>
            <a:pathLst>
              <a:path w="2204357" h="1609036">
                <a:moveTo>
                  <a:pt x="0" y="1129391"/>
                </a:moveTo>
                <a:cubicBezTo>
                  <a:pt x="168048" y="1432830"/>
                  <a:pt x="336096" y="1736270"/>
                  <a:pt x="522514" y="1553934"/>
                </a:cubicBezTo>
                <a:cubicBezTo>
                  <a:pt x="708932" y="1371598"/>
                  <a:pt x="838200" y="189138"/>
                  <a:pt x="1118507" y="35377"/>
                </a:cubicBezTo>
                <a:cubicBezTo>
                  <a:pt x="1398814" y="-118384"/>
                  <a:pt x="1801585" y="256493"/>
                  <a:pt x="2204357" y="631370"/>
                </a:cubicBezTo>
              </a:path>
            </a:pathLst>
          </a:custGeom>
          <a:noFill/>
          <a:ln>
            <a:solidFill>
              <a:schemeClr val="bg1"/>
            </a:solidFill>
          </a:ln>
          <a:effectLst>
            <a:glow rad="228600">
              <a:schemeClr val="bg1">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DD2F40B2-2679-1F48-8C88-008943783A34}"/>
              </a:ext>
            </a:extLst>
          </p:cNvPr>
          <p:cNvGrpSpPr/>
          <p:nvPr/>
        </p:nvGrpSpPr>
        <p:grpSpPr>
          <a:xfrm>
            <a:off x="4375526" y="1715861"/>
            <a:ext cx="6579367" cy="2456309"/>
            <a:chOff x="4181486" y="2071276"/>
            <a:chExt cx="6579367" cy="2456309"/>
          </a:xfrm>
        </p:grpSpPr>
        <p:grpSp>
          <p:nvGrpSpPr>
            <p:cNvPr id="17" name="Group 16">
              <a:extLst>
                <a:ext uri="{FF2B5EF4-FFF2-40B4-BE49-F238E27FC236}">
                  <a16:creationId xmlns:a16="http://schemas.microsoft.com/office/drawing/2014/main" id="{D84B3FBA-8DA1-0645-9243-8F2D38E1F8F6}"/>
                </a:ext>
              </a:extLst>
            </p:cNvPr>
            <p:cNvGrpSpPr/>
            <p:nvPr/>
          </p:nvGrpSpPr>
          <p:grpSpPr>
            <a:xfrm>
              <a:off x="4181486" y="3649948"/>
              <a:ext cx="6579367" cy="877637"/>
              <a:chOff x="7829759" y="2667415"/>
              <a:chExt cx="6579367" cy="877637"/>
            </a:xfrm>
          </p:grpSpPr>
          <p:sp>
            <p:nvSpPr>
              <p:cNvPr id="30" name="Rounded Rectangular Callout 29">
                <a:extLst>
                  <a:ext uri="{FF2B5EF4-FFF2-40B4-BE49-F238E27FC236}">
                    <a16:creationId xmlns:a16="http://schemas.microsoft.com/office/drawing/2014/main" id="{4E717CA4-611F-2F43-84A1-77EC384C9A21}"/>
                  </a:ext>
                </a:extLst>
              </p:cNvPr>
              <p:cNvSpPr/>
              <p:nvPr/>
            </p:nvSpPr>
            <p:spPr>
              <a:xfrm>
                <a:off x="7829759" y="2667415"/>
                <a:ext cx="6579367" cy="845980"/>
              </a:xfrm>
              <a:prstGeom prst="wedgeRoundRectCallout">
                <a:avLst>
                  <a:gd name="adj1" fmla="val 23192"/>
                  <a:gd name="adj2" fmla="val -70364"/>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997BB87-DE29-0B43-B1D1-0D3EA30A8ED8}"/>
                  </a:ext>
                </a:extLst>
              </p:cNvPr>
              <p:cNvSpPr txBox="1"/>
              <p:nvPr/>
            </p:nvSpPr>
            <p:spPr>
              <a:xfrm>
                <a:off x="8390213" y="2714055"/>
                <a:ext cx="5458458" cy="830997"/>
              </a:xfrm>
              <a:prstGeom prst="rect">
                <a:avLst/>
              </a:prstGeom>
              <a:noFill/>
            </p:spPr>
            <p:txBody>
              <a:bodyPr wrap="square" rtlCol="0">
                <a:spAutoFit/>
              </a:bodyPr>
              <a:lstStyle/>
              <a:p>
                <a:r>
                  <a:rPr lang="en-ZA" sz="2400" dirty="0">
                    <a:latin typeface="Comic Sans MS" panose="030F0902030302020204" pitchFamily="66" charset="0"/>
                  </a:rPr>
                  <a:t>Bob receives the qubits and measures them in a random basis.</a:t>
                </a:r>
                <a:endParaRPr lang="en-US" sz="2200" dirty="0">
                  <a:latin typeface="Comic Sans MS" panose="030F0902030302020204" pitchFamily="66" charset="0"/>
                </a:endParaRPr>
              </a:p>
            </p:txBody>
          </p:sp>
          <p:sp>
            <p:nvSpPr>
              <p:cNvPr id="32" name="TextBox 31">
                <a:extLst>
                  <a:ext uri="{FF2B5EF4-FFF2-40B4-BE49-F238E27FC236}">
                    <a16:creationId xmlns:a16="http://schemas.microsoft.com/office/drawing/2014/main" id="{A28F5BB0-BA9B-1347-ABEC-4C5408910DA7}"/>
                  </a:ext>
                </a:extLst>
              </p:cNvPr>
              <p:cNvSpPr txBox="1"/>
              <p:nvPr/>
            </p:nvSpPr>
            <p:spPr>
              <a:xfrm>
                <a:off x="7829760" y="2724295"/>
                <a:ext cx="625492" cy="707886"/>
              </a:xfrm>
              <a:prstGeom prst="rect">
                <a:avLst/>
              </a:prstGeom>
              <a:noFill/>
            </p:spPr>
            <p:txBody>
              <a:bodyPr wrap="none" rtlCol="0">
                <a:spAutoFit/>
              </a:bodyPr>
              <a:lstStyle/>
              <a:p>
                <a:r>
                  <a:rPr lang="en-US" sz="4000" dirty="0">
                    <a:latin typeface="Comic Sans MS" panose="030F0902030302020204" pitchFamily="66" charset="0"/>
                  </a:rPr>
                  <a:t>2.</a:t>
                </a:r>
              </a:p>
            </p:txBody>
          </p:sp>
        </p:grpSp>
        <p:grpSp>
          <p:nvGrpSpPr>
            <p:cNvPr id="18" name="Group 17">
              <a:extLst>
                <a:ext uri="{FF2B5EF4-FFF2-40B4-BE49-F238E27FC236}">
                  <a16:creationId xmlns:a16="http://schemas.microsoft.com/office/drawing/2014/main" id="{0BAFF942-493A-1B43-B1FF-6093D8D77773}"/>
                </a:ext>
              </a:extLst>
            </p:cNvPr>
            <p:cNvGrpSpPr/>
            <p:nvPr/>
          </p:nvGrpSpPr>
          <p:grpSpPr>
            <a:xfrm>
              <a:off x="9050982" y="2071276"/>
              <a:ext cx="753691" cy="1077432"/>
              <a:chOff x="8962409" y="2016844"/>
              <a:chExt cx="753691" cy="1077432"/>
            </a:xfrm>
          </p:grpSpPr>
          <p:sp>
            <p:nvSpPr>
              <p:cNvPr id="25" name="Up-Down Arrow 24">
                <a:extLst>
                  <a:ext uri="{FF2B5EF4-FFF2-40B4-BE49-F238E27FC236}">
                    <a16:creationId xmlns:a16="http://schemas.microsoft.com/office/drawing/2014/main" id="{02DCEDD0-5B03-3A47-B5DC-82AC1BA84E0C}"/>
                  </a:ext>
                </a:extLst>
              </p:cNvPr>
              <p:cNvSpPr/>
              <p:nvPr/>
            </p:nvSpPr>
            <p:spPr>
              <a:xfrm>
                <a:off x="9179190" y="2323455"/>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Up-Down Arrow 25">
                <a:extLst>
                  <a:ext uri="{FF2B5EF4-FFF2-40B4-BE49-F238E27FC236}">
                    <a16:creationId xmlns:a16="http://schemas.microsoft.com/office/drawing/2014/main" id="{E1EA8942-F20F-044F-B2E5-CFBDB62A1413}"/>
                  </a:ext>
                </a:extLst>
              </p:cNvPr>
              <p:cNvSpPr/>
              <p:nvPr/>
            </p:nvSpPr>
            <p:spPr>
              <a:xfrm rot="17720198">
                <a:off x="9191009" y="2324190"/>
                <a:ext cx="144000" cy="6012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Rectangle 3">
                <a:extLst>
                  <a:ext uri="{FF2B5EF4-FFF2-40B4-BE49-F238E27FC236}">
                    <a16:creationId xmlns:a16="http://schemas.microsoft.com/office/drawing/2014/main" id="{1B619079-D14E-CF45-B7C3-34FAD4E52540}"/>
                  </a:ext>
                </a:extLst>
              </p:cNvPr>
              <p:cNvSpPr/>
              <p:nvPr/>
            </p:nvSpPr>
            <p:spPr>
              <a:xfrm>
                <a:off x="9108429" y="2016844"/>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28" name="Straight Arrow Connector 27">
                <a:extLst>
                  <a:ext uri="{FF2B5EF4-FFF2-40B4-BE49-F238E27FC236}">
                    <a16:creationId xmlns:a16="http://schemas.microsoft.com/office/drawing/2014/main" id="{B7B3E0CE-E38F-A445-A76C-EF413A35112F}"/>
                  </a:ext>
                </a:extLst>
              </p:cNvPr>
              <p:cNvCxnSpPr>
                <a:cxnSpLocks/>
              </p:cNvCxnSpPr>
              <p:nvPr/>
            </p:nvCxnSpPr>
            <p:spPr>
              <a:xfrm>
                <a:off x="9379310" y="2223536"/>
                <a:ext cx="0" cy="644998"/>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5EC442C-95E1-B749-92AB-4E1A26A77DB8}"/>
                  </a:ext>
                </a:extLst>
              </p:cNvPr>
              <p:cNvCxnSpPr>
                <a:cxnSpLocks/>
              </p:cNvCxnSpPr>
              <p:nvPr/>
            </p:nvCxnSpPr>
            <p:spPr>
              <a:xfrm flipH="1" flipV="1">
                <a:off x="9160806" y="2442856"/>
                <a:ext cx="468000" cy="225408"/>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D555234-A1F0-CF46-B45E-4C33E90E667E}"/>
                </a:ext>
              </a:extLst>
            </p:cNvPr>
            <p:cNvGrpSpPr/>
            <p:nvPr/>
          </p:nvGrpSpPr>
          <p:grpSpPr>
            <a:xfrm>
              <a:off x="8702038" y="2464657"/>
              <a:ext cx="725624" cy="1077432"/>
              <a:chOff x="8980611" y="2896730"/>
              <a:chExt cx="725624" cy="1077432"/>
            </a:xfrm>
          </p:grpSpPr>
          <p:sp>
            <p:nvSpPr>
              <p:cNvPr id="20" name="Up-Down Arrow 19">
                <a:extLst>
                  <a:ext uri="{FF2B5EF4-FFF2-40B4-BE49-F238E27FC236}">
                    <a16:creationId xmlns:a16="http://schemas.microsoft.com/office/drawing/2014/main" id="{5D4B0AE1-D187-2446-AE99-FA38E80CD3D5}"/>
                  </a:ext>
                </a:extLst>
              </p:cNvPr>
              <p:cNvSpPr/>
              <p:nvPr/>
            </p:nvSpPr>
            <p:spPr>
              <a:xfrm rot="19737961">
                <a:off x="9177809" y="3087089"/>
                <a:ext cx="144000" cy="7200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Up-Down Arrow 20">
                <a:extLst>
                  <a:ext uri="{FF2B5EF4-FFF2-40B4-BE49-F238E27FC236}">
                    <a16:creationId xmlns:a16="http://schemas.microsoft.com/office/drawing/2014/main" id="{FF455F07-9ABF-2D47-8244-97AFF2D495FC}"/>
                  </a:ext>
                </a:extLst>
              </p:cNvPr>
              <p:cNvSpPr/>
              <p:nvPr/>
            </p:nvSpPr>
            <p:spPr>
              <a:xfrm rot="3168139">
                <a:off x="9209947" y="3176136"/>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Rectangle 3">
                <a:extLst>
                  <a:ext uri="{FF2B5EF4-FFF2-40B4-BE49-F238E27FC236}">
                    <a16:creationId xmlns:a16="http://schemas.microsoft.com/office/drawing/2014/main" id="{ACA770EE-092B-D047-BA9B-E2093CA375B3}"/>
                  </a:ext>
                </a:extLst>
              </p:cNvPr>
              <p:cNvSpPr/>
              <p:nvPr/>
            </p:nvSpPr>
            <p:spPr>
              <a:xfrm>
                <a:off x="9098564" y="2896730"/>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23" name="Straight Arrow Connector 22">
                <a:extLst>
                  <a:ext uri="{FF2B5EF4-FFF2-40B4-BE49-F238E27FC236}">
                    <a16:creationId xmlns:a16="http://schemas.microsoft.com/office/drawing/2014/main" id="{FC054C05-5720-5342-8A3E-483A37410B8C}"/>
                  </a:ext>
                </a:extLst>
              </p:cNvPr>
              <p:cNvCxnSpPr>
                <a:cxnSpLocks/>
              </p:cNvCxnSpPr>
              <p:nvPr/>
            </p:nvCxnSpPr>
            <p:spPr>
              <a:xfrm flipH="1">
                <a:off x="9191223" y="3234633"/>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5151DCF-5DA4-9B49-B7C2-1676D91F4E32}"/>
                  </a:ext>
                </a:extLst>
              </p:cNvPr>
              <p:cNvCxnSpPr>
                <a:cxnSpLocks/>
              </p:cNvCxnSpPr>
              <p:nvPr/>
            </p:nvCxnSpPr>
            <p:spPr>
              <a:xfrm flipH="1" flipV="1">
                <a:off x="9203267" y="3086313"/>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33" name="Group 32">
            <a:extLst>
              <a:ext uri="{FF2B5EF4-FFF2-40B4-BE49-F238E27FC236}">
                <a16:creationId xmlns:a16="http://schemas.microsoft.com/office/drawing/2014/main" id="{8FB1AE45-5201-8B45-889A-9BD3A65007AC}"/>
              </a:ext>
            </a:extLst>
          </p:cNvPr>
          <p:cNvGrpSpPr/>
          <p:nvPr/>
        </p:nvGrpSpPr>
        <p:grpSpPr>
          <a:xfrm>
            <a:off x="1747765" y="1321809"/>
            <a:ext cx="1267297" cy="2225628"/>
            <a:chOff x="1432953" y="1210126"/>
            <a:chExt cx="1267297" cy="2225628"/>
          </a:xfrm>
        </p:grpSpPr>
        <p:sp>
          <p:nvSpPr>
            <p:cNvPr id="34" name="Rectangle 3">
              <a:extLst>
                <a:ext uri="{FF2B5EF4-FFF2-40B4-BE49-F238E27FC236}">
                  <a16:creationId xmlns:a16="http://schemas.microsoft.com/office/drawing/2014/main" id="{4A866299-257E-D042-8091-A07EAC328ECF}"/>
                </a:ext>
              </a:extLst>
            </p:cNvPr>
            <p:cNvSpPr/>
            <p:nvPr/>
          </p:nvSpPr>
          <p:spPr>
            <a:xfrm>
              <a:off x="2092579" y="1509731"/>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Rectangle 3">
              <a:extLst>
                <a:ext uri="{FF2B5EF4-FFF2-40B4-BE49-F238E27FC236}">
                  <a16:creationId xmlns:a16="http://schemas.microsoft.com/office/drawing/2014/main" id="{81B3323A-B5D4-3743-85EC-F5C18CEB0240}"/>
                </a:ext>
              </a:extLst>
            </p:cNvPr>
            <p:cNvSpPr/>
            <p:nvPr/>
          </p:nvSpPr>
          <p:spPr>
            <a:xfrm>
              <a:off x="1432953" y="1210126"/>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Rectangle 3">
              <a:extLst>
                <a:ext uri="{FF2B5EF4-FFF2-40B4-BE49-F238E27FC236}">
                  <a16:creationId xmlns:a16="http://schemas.microsoft.com/office/drawing/2014/main" id="{4089E0AC-7029-8740-9C79-C23D5FD6140B}"/>
                </a:ext>
              </a:extLst>
            </p:cNvPr>
            <p:cNvSpPr/>
            <p:nvPr/>
          </p:nvSpPr>
          <p:spPr>
            <a:xfrm>
              <a:off x="2092579" y="2358322"/>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Rectangle 3">
              <a:extLst>
                <a:ext uri="{FF2B5EF4-FFF2-40B4-BE49-F238E27FC236}">
                  <a16:creationId xmlns:a16="http://schemas.microsoft.com/office/drawing/2014/main" id="{32D41226-17C4-4F42-AEAE-FAF16890AF07}"/>
                </a:ext>
              </a:extLst>
            </p:cNvPr>
            <p:cNvSpPr/>
            <p:nvPr/>
          </p:nvSpPr>
          <p:spPr>
            <a:xfrm>
              <a:off x="1432953" y="2058717"/>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TextBox 37">
              <a:extLst>
                <a:ext uri="{FF2B5EF4-FFF2-40B4-BE49-F238E27FC236}">
                  <a16:creationId xmlns:a16="http://schemas.microsoft.com/office/drawing/2014/main" id="{3B06C115-7743-674D-A827-EA812B1129BB}"/>
                </a:ext>
              </a:extLst>
            </p:cNvPr>
            <p:cNvSpPr txBox="1"/>
            <p:nvPr/>
          </p:nvSpPr>
          <p:spPr>
            <a:xfrm rot="356084">
              <a:off x="1773989" y="1401478"/>
              <a:ext cx="301686" cy="369332"/>
            </a:xfrm>
            <a:prstGeom prst="rect">
              <a:avLst/>
            </a:prstGeom>
            <a:noFill/>
          </p:spPr>
          <p:txBody>
            <a:bodyPr wrap="none" rtlCol="0">
              <a:spAutoFit/>
            </a:bodyPr>
            <a:lstStyle/>
            <a:p>
              <a:r>
                <a:rPr lang="en-US" dirty="0">
                  <a:solidFill>
                    <a:schemeClr val="bg1"/>
                  </a:solidFill>
                </a:rPr>
                <a:t>0</a:t>
              </a:r>
            </a:p>
          </p:txBody>
        </p:sp>
        <p:sp>
          <p:nvSpPr>
            <p:cNvPr id="39" name="TextBox 38">
              <a:extLst>
                <a:ext uri="{FF2B5EF4-FFF2-40B4-BE49-F238E27FC236}">
                  <a16:creationId xmlns:a16="http://schemas.microsoft.com/office/drawing/2014/main" id="{AC274BA0-B801-0847-A7CA-7246EF3B4F9D}"/>
                </a:ext>
              </a:extLst>
            </p:cNvPr>
            <p:cNvSpPr txBox="1"/>
            <p:nvPr/>
          </p:nvSpPr>
          <p:spPr>
            <a:xfrm rot="214823">
              <a:off x="1782002" y="2731728"/>
              <a:ext cx="301686" cy="369332"/>
            </a:xfrm>
            <a:prstGeom prst="rect">
              <a:avLst/>
            </a:prstGeom>
            <a:noFill/>
          </p:spPr>
          <p:txBody>
            <a:bodyPr wrap="none" rtlCol="0">
              <a:spAutoFit/>
            </a:bodyPr>
            <a:lstStyle/>
            <a:p>
              <a:r>
                <a:rPr lang="en-US" dirty="0">
                  <a:solidFill>
                    <a:schemeClr val="bg1"/>
                  </a:solidFill>
                </a:rPr>
                <a:t>0</a:t>
              </a:r>
            </a:p>
          </p:txBody>
        </p:sp>
        <p:sp>
          <p:nvSpPr>
            <p:cNvPr id="40" name="TextBox 39">
              <a:extLst>
                <a:ext uri="{FF2B5EF4-FFF2-40B4-BE49-F238E27FC236}">
                  <a16:creationId xmlns:a16="http://schemas.microsoft.com/office/drawing/2014/main" id="{C2C64FF2-8A32-A143-83F6-77C666576790}"/>
                </a:ext>
              </a:extLst>
            </p:cNvPr>
            <p:cNvSpPr txBox="1"/>
            <p:nvPr/>
          </p:nvSpPr>
          <p:spPr>
            <a:xfrm rot="458626">
              <a:off x="2057520" y="1528173"/>
              <a:ext cx="301686" cy="369332"/>
            </a:xfrm>
            <a:prstGeom prst="rect">
              <a:avLst/>
            </a:prstGeom>
            <a:noFill/>
          </p:spPr>
          <p:txBody>
            <a:bodyPr wrap="none" rtlCol="0">
              <a:spAutoFit/>
            </a:bodyPr>
            <a:lstStyle/>
            <a:p>
              <a:r>
                <a:rPr lang="en-US" dirty="0">
                  <a:solidFill>
                    <a:schemeClr val="bg1"/>
                  </a:solidFill>
                </a:rPr>
                <a:t>1</a:t>
              </a:r>
            </a:p>
          </p:txBody>
        </p:sp>
        <p:sp>
          <p:nvSpPr>
            <p:cNvPr id="41" name="TextBox 40">
              <a:extLst>
                <a:ext uri="{FF2B5EF4-FFF2-40B4-BE49-F238E27FC236}">
                  <a16:creationId xmlns:a16="http://schemas.microsoft.com/office/drawing/2014/main" id="{86A4BB28-1C81-2E4D-B3B7-DA6C5198C2EC}"/>
                </a:ext>
              </a:extLst>
            </p:cNvPr>
            <p:cNvSpPr txBox="1"/>
            <p:nvPr/>
          </p:nvSpPr>
          <p:spPr>
            <a:xfrm rot="382899">
              <a:off x="2057520" y="2861216"/>
              <a:ext cx="301686" cy="369332"/>
            </a:xfrm>
            <a:prstGeom prst="rect">
              <a:avLst/>
            </a:prstGeom>
            <a:noFill/>
          </p:spPr>
          <p:txBody>
            <a:bodyPr wrap="none" rtlCol="0">
              <a:spAutoFit/>
            </a:bodyPr>
            <a:lstStyle/>
            <a:p>
              <a:r>
                <a:rPr lang="en-US" dirty="0">
                  <a:solidFill>
                    <a:schemeClr val="bg1"/>
                  </a:solidFill>
                </a:rPr>
                <a:t>1</a:t>
              </a:r>
            </a:p>
          </p:txBody>
        </p:sp>
        <p:cxnSp>
          <p:nvCxnSpPr>
            <p:cNvPr id="42" name="Straight Arrow Connector 41">
              <a:extLst>
                <a:ext uri="{FF2B5EF4-FFF2-40B4-BE49-F238E27FC236}">
                  <a16:creationId xmlns:a16="http://schemas.microsoft.com/office/drawing/2014/main" id="{614F21BE-849E-A84F-BA9F-D26552282F4A}"/>
                </a:ext>
              </a:extLst>
            </p:cNvPr>
            <p:cNvCxnSpPr>
              <a:cxnSpLocks/>
            </p:cNvCxnSpPr>
            <p:nvPr/>
          </p:nvCxnSpPr>
          <p:spPr>
            <a:xfrm flipH="1" flipV="1">
              <a:off x="1489133" y="1697258"/>
              <a:ext cx="468000" cy="225408"/>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2B5EF33-2E5E-2442-99B7-7CC3B3CBB40A}"/>
                </a:ext>
              </a:extLst>
            </p:cNvPr>
            <p:cNvCxnSpPr>
              <a:cxnSpLocks/>
            </p:cNvCxnSpPr>
            <p:nvPr/>
          </p:nvCxnSpPr>
          <p:spPr>
            <a:xfrm>
              <a:off x="2373329" y="1717444"/>
              <a:ext cx="0" cy="644998"/>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834CF98-809A-494C-926F-4F7A15699E9B}"/>
                </a:ext>
              </a:extLst>
            </p:cNvPr>
            <p:cNvCxnSpPr>
              <a:cxnSpLocks/>
            </p:cNvCxnSpPr>
            <p:nvPr/>
          </p:nvCxnSpPr>
          <p:spPr>
            <a:xfrm flipH="1" flipV="1">
              <a:off x="2184986" y="2497892"/>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A7B8096-1041-734C-8679-1F6CA53BAC34}"/>
                </a:ext>
              </a:extLst>
            </p:cNvPr>
            <p:cNvCxnSpPr>
              <a:cxnSpLocks/>
            </p:cNvCxnSpPr>
            <p:nvPr/>
          </p:nvCxnSpPr>
          <p:spPr>
            <a:xfrm flipH="1">
              <a:off x="1496510" y="2385205"/>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pic>
        <p:nvPicPr>
          <p:cNvPr id="46" name="Picture 45">
            <a:extLst>
              <a:ext uri="{FF2B5EF4-FFF2-40B4-BE49-F238E27FC236}">
                <a16:creationId xmlns:a16="http://schemas.microsoft.com/office/drawing/2014/main" id="{9248780B-BE81-BA4E-96AE-534793531897}"/>
              </a:ext>
            </a:extLst>
          </p:cNvPr>
          <p:cNvPicPr>
            <a:picLocks noChangeAspect="1"/>
          </p:cNvPicPr>
          <p:nvPr/>
        </p:nvPicPr>
        <p:blipFill>
          <a:blip r:embed="rId4"/>
          <a:stretch>
            <a:fillRect/>
          </a:stretch>
        </p:blipFill>
        <p:spPr>
          <a:xfrm rot="10800000" flipV="1">
            <a:off x="493466" y="3344768"/>
            <a:ext cx="1581034" cy="760178"/>
          </a:xfrm>
          <a:prstGeom prst="rect">
            <a:avLst/>
          </a:prstGeom>
        </p:spPr>
      </p:pic>
      <p:grpSp>
        <p:nvGrpSpPr>
          <p:cNvPr id="96" name="Group 95">
            <a:extLst>
              <a:ext uri="{FF2B5EF4-FFF2-40B4-BE49-F238E27FC236}">
                <a16:creationId xmlns:a16="http://schemas.microsoft.com/office/drawing/2014/main" id="{5FA8A5FC-C753-CE4A-96AE-ABF20A447047}"/>
              </a:ext>
            </a:extLst>
          </p:cNvPr>
          <p:cNvGrpSpPr/>
          <p:nvPr/>
        </p:nvGrpSpPr>
        <p:grpSpPr>
          <a:xfrm>
            <a:off x="3437018" y="2137901"/>
            <a:ext cx="180000" cy="900000"/>
            <a:chOff x="3481065" y="3161074"/>
            <a:chExt cx="180000" cy="900000"/>
          </a:xfrm>
        </p:grpSpPr>
        <p:cxnSp>
          <p:nvCxnSpPr>
            <p:cNvPr id="97" name="Straight Arrow Connector 96">
              <a:extLst>
                <a:ext uri="{FF2B5EF4-FFF2-40B4-BE49-F238E27FC236}">
                  <a16:creationId xmlns:a16="http://schemas.microsoft.com/office/drawing/2014/main" id="{B4C0ACFF-3B46-D740-BFBE-AD24C8C94AD5}"/>
                </a:ext>
              </a:extLst>
            </p:cNvPr>
            <p:cNvCxnSpPr/>
            <p:nvPr/>
          </p:nvCxnSpPr>
          <p:spPr>
            <a:xfrm>
              <a:off x="3571065" y="3161074"/>
              <a:ext cx="0" cy="900000"/>
            </a:xfrm>
            <a:prstGeom prst="straightConnector1">
              <a:avLst/>
            </a:prstGeom>
            <a:ln w="635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D9BD55A2-10F4-F14F-97E3-ADAB903339C6}"/>
                </a:ext>
              </a:extLst>
            </p:cNvPr>
            <p:cNvSpPr/>
            <p:nvPr/>
          </p:nvSpPr>
          <p:spPr>
            <a:xfrm>
              <a:off x="3481065" y="3521074"/>
              <a:ext cx="180000" cy="180000"/>
            </a:xfrm>
            <a:prstGeom prst="ellipse">
              <a:avLst/>
            </a:prstGeom>
            <a:solidFill>
              <a:schemeClr val="bg1"/>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a:extLst>
              <a:ext uri="{FF2B5EF4-FFF2-40B4-BE49-F238E27FC236}">
                <a16:creationId xmlns:a16="http://schemas.microsoft.com/office/drawing/2014/main" id="{3B86E471-15EF-3149-A03F-5A835F72C301}"/>
              </a:ext>
            </a:extLst>
          </p:cNvPr>
          <p:cNvGrpSpPr/>
          <p:nvPr/>
        </p:nvGrpSpPr>
        <p:grpSpPr>
          <a:xfrm>
            <a:off x="4551019" y="2185158"/>
            <a:ext cx="900000" cy="180000"/>
            <a:chOff x="3777867" y="3495206"/>
            <a:chExt cx="900000" cy="180000"/>
          </a:xfrm>
        </p:grpSpPr>
        <p:cxnSp>
          <p:nvCxnSpPr>
            <p:cNvPr id="100" name="Straight Arrow Connector 99">
              <a:extLst>
                <a:ext uri="{FF2B5EF4-FFF2-40B4-BE49-F238E27FC236}">
                  <a16:creationId xmlns:a16="http://schemas.microsoft.com/office/drawing/2014/main" id="{7A083C80-B850-7B4A-A049-A3896D921A8D}"/>
                </a:ext>
              </a:extLst>
            </p:cNvPr>
            <p:cNvCxnSpPr>
              <a:cxnSpLocks/>
            </p:cNvCxnSpPr>
            <p:nvPr/>
          </p:nvCxnSpPr>
          <p:spPr>
            <a:xfrm rot="5400000">
              <a:off x="4227867" y="3151148"/>
              <a:ext cx="0" cy="900000"/>
            </a:xfrm>
            <a:prstGeom prst="straightConnector1">
              <a:avLst/>
            </a:prstGeom>
            <a:ln w="635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Oval 100">
              <a:extLst>
                <a:ext uri="{FF2B5EF4-FFF2-40B4-BE49-F238E27FC236}">
                  <a16:creationId xmlns:a16="http://schemas.microsoft.com/office/drawing/2014/main" id="{662A796C-CE4C-2C4E-ABA2-218E3B7C80B9}"/>
                </a:ext>
              </a:extLst>
            </p:cNvPr>
            <p:cNvSpPr/>
            <p:nvPr/>
          </p:nvSpPr>
          <p:spPr>
            <a:xfrm>
              <a:off x="4131164" y="3495206"/>
              <a:ext cx="180000" cy="180000"/>
            </a:xfrm>
            <a:prstGeom prst="ellipse">
              <a:avLst/>
            </a:prstGeom>
            <a:solidFill>
              <a:schemeClr val="bg1"/>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C5D3E010-BCF0-7841-A3BB-7162E8305D9C}"/>
              </a:ext>
            </a:extLst>
          </p:cNvPr>
          <p:cNvGrpSpPr/>
          <p:nvPr/>
        </p:nvGrpSpPr>
        <p:grpSpPr>
          <a:xfrm>
            <a:off x="6387840" y="1530627"/>
            <a:ext cx="180000" cy="900000"/>
            <a:chOff x="4887947" y="3153207"/>
            <a:chExt cx="180000" cy="900000"/>
          </a:xfrm>
        </p:grpSpPr>
        <p:cxnSp>
          <p:nvCxnSpPr>
            <p:cNvPr id="103" name="Straight Arrow Connector 102">
              <a:extLst>
                <a:ext uri="{FF2B5EF4-FFF2-40B4-BE49-F238E27FC236}">
                  <a16:creationId xmlns:a16="http://schemas.microsoft.com/office/drawing/2014/main" id="{F8A1DDD5-1FF4-884E-A7D9-37EAB23865EE}"/>
                </a:ext>
              </a:extLst>
            </p:cNvPr>
            <p:cNvCxnSpPr>
              <a:cxnSpLocks/>
            </p:cNvCxnSpPr>
            <p:nvPr/>
          </p:nvCxnSpPr>
          <p:spPr>
            <a:xfrm rot="18900000">
              <a:off x="4977947" y="3153207"/>
              <a:ext cx="0" cy="900000"/>
            </a:xfrm>
            <a:prstGeom prst="straightConnector1">
              <a:avLst/>
            </a:prstGeom>
            <a:ln w="635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96B64DF6-88FE-B34D-BDC9-32A398BCF1AA}"/>
                </a:ext>
              </a:extLst>
            </p:cNvPr>
            <p:cNvSpPr/>
            <p:nvPr/>
          </p:nvSpPr>
          <p:spPr>
            <a:xfrm>
              <a:off x="4887947" y="3506923"/>
              <a:ext cx="180000" cy="180000"/>
            </a:xfrm>
            <a:prstGeom prst="ellipse">
              <a:avLst/>
            </a:prstGeom>
            <a:solidFill>
              <a:schemeClr val="bg1"/>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 name="Group 104">
            <a:extLst>
              <a:ext uri="{FF2B5EF4-FFF2-40B4-BE49-F238E27FC236}">
                <a16:creationId xmlns:a16="http://schemas.microsoft.com/office/drawing/2014/main" id="{93B4EA55-DC2E-D047-9A7E-7D288CDE1F2D}"/>
              </a:ext>
            </a:extLst>
          </p:cNvPr>
          <p:cNvGrpSpPr/>
          <p:nvPr/>
        </p:nvGrpSpPr>
        <p:grpSpPr>
          <a:xfrm>
            <a:off x="7498189" y="2011032"/>
            <a:ext cx="900000" cy="180000"/>
            <a:chOff x="5215049" y="3519095"/>
            <a:chExt cx="900000" cy="180000"/>
          </a:xfrm>
        </p:grpSpPr>
        <p:cxnSp>
          <p:nvCxnSpPr>
            <p:cNvPr id="106" name="Straight Arrow Connector 105">
              <a:extLst>
                <a:ext uri="{FF2B5EF4-FFF2-40B4-BE49-F238E27FC236}">
                  <a16:creationId xmlns:a16="http://schemas.microsoft.com/office/drawing/2014/main" id="{A6B35400-28AC-6746-B628-B4B2BABC61B3}"/>
                </a:ext>
              </a:extLst>
            </p:cNvPr>
            <p:cNvCxnSpPr>
              <a:cxnSpLocks/>
            </p:cNvCxnSpPr>
            <p:nvPr/>
          </p:nvCxnSpPr>
          <p:spPr>
            <a:xfrm rot="2700000">
              <a:off x="5665049" y="3185754"/>
              <a:ext cx="0" cy="900000"/>
            </a:xfrm>
            <a:prstGeom prst="straightConnector1">
              <a:avLst/>
            </a:prstGeom>
            <a:ln w="635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55A64402-F3E9-5740-BD56-5D59B8F832D9}"/>
                </a:ext>
              </a:extLst>
            </p:cNvPr>
            <p:cNvSpPr/>
            <p:nvPr/>
          </p:nvSpPr>
          <p:spPr>
            <a:xfrm>
              <a:off x="5575049" y="3519095"/>
              <a:ext cx="180000" cy="180000"/>
            </a:xfrm>
            <a:prstGeom prst="ellipse">
              <a:avLst/>
            </a:prstGeom>
            <a:solidFill>
              <a:schemeClr val="bg1"/>
            </a:solidFill>
            <a:ln>
              <a:no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8" name="TextBox 107">
            <a:extLst>
              <a:ext uri="{FF2B5EF4-FFF2-40B4-BE49-F238E27FC236}">
                <a16:creationId xmlns:a16="http://schemas.microsoft.com/office/drawing/2014/main" id="{B936E4FF-8371-BC4D-858A-D4E7FF9709E2}"/>
              </a:ext>
            </a:extLst>
          </p:cNvPr>
          <p:cNvSpPr txBox="1"/>
          <p:nvPr/>
        </p:nvSpPr>
        <p:spPr>
          <a:xfrm>
            <a:off x="983964" y="3201867"/>
            <a:ext cx="806631" cy="461665"/>
          </a:xfrm>
          <a:prstGeom prst="rect">
            <a:avLst/>
          </a:prstGeom>
          <a:noFill/>
        </p:spPr>
        <p:txBody>
          <a:bodyPr wrap="none" rtlCol="0">
            <a:spAutoFit/>
          </a:bodyPr>
          <a:lstStyle/>
          <a:p>
            <a:r>
              <a:rPr lang="en-US" sz="2400" dirty="0"/>
              <a:t>1010</a:t>
            </a:r>
          </a:p>
        </p:txBody>
      </p:sp>
      <mc:AlternateContent xmlns:mc="http://schemas.openxmlformats.org/markup-compatibility/2006" xmlns:a14="http://schemas.microsoft.com/office/drawing/2010/main">
        <mc:Choice Requires="a14">
          <p:sp>
            <p:nvSpPr>
              <p:cNvPr id="109" name="Rectangle 108">
                <a:extLst>
                  <a:ext uri="{FF2B5EF4-FFF2-40B4-BE49-F238E27FC236}">
                    <a16:creationId xmlns:a16="http://schemas.microsoft.com/office/drawing/2014/main" id="{3F768813-FCD2-4545-B688-B76736BCBAAF}"/>
                  </a:ext>
                </a:extLst>
              </p:cNvPr>
              <p:cNvSpPr/>
              <p:nvPr/>
            </p:nvSpPr>
            <p:spPr>
              <a:xfrm>
                <a:off x="3579214" y="1957469"/>
                <a:ext cx="631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109" name="Rectangle 108">
                <a:extLst>
                  <a:ext uri="{FF2B5EF4-FFF2-40B4-BE49-F238E27FC236}">
                    <a16:creationId xmlns:a16="http://schemas.microsoft.com/office/drawing/2014/main" id="{3F768813-FCD2-4545-B688-B76736BCBAAF}"/>
                  </a:ext>
                </a:extLst>
              </p:cNvPr>
              <p:cNvSpPr>
                <a:spLocks noRot="1" noChangeAspect="1" noMove="1" noResize="1" noEditPoints="1" noAdjustHandles="1" noChangeArrowheads="1" noChangeShapeType="1" noTextEdit="1"/>
              </p:cNvSpPr>
              <p:nvPr/>
            </p:nvSpPr>
            <p:spPr>
              <a:xfrm>
                <a:off x="3579214" y="1957469"/>
                <a:ext cx="631519"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E3F85018-7A03-B847-813D-55FA9D314DCD}"/>
                  </a:ext>
                </a:extLst>
              </p:cNvPr>
              <p:cNvSpPr/>
              <p:nvPr/>
            </p:nvSpPr>
            <p:spPr>
              <a:xfrm>
                <a:off x="6363571" y="1399015"/>
                <a:ext cx="69083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m:t>
                          </m:r>
                        </m:e>
                      </m:d>
                    </m:oMath>
                  </m:oMathPara>
                </a14:m>
                <a:endParaRPr lang="en-US" sz="2400" dirty="0"/>
              </a:p>
            </p:txBody>
          </p:sp>
        </mc:Choice>
        <mc:Fallback xmlns="">
          <p:sp>
            <p:nvSpPr>
              <p:cNvPr id="110" name="Rectangle 109">
                <a:extLst>
                  <a:ext uri="{FF2B5EF4-FFF2-40B4-BE49-F238E27FC236}">
                    <a16:creationId xmlns:a16="http://schemas.microsoft.com/office/drawing/2014/main" id="{E3F85018-7A03-B847-813D-55FA9D314DCD}"/>
                  </a:ext>
                </a:extLst>
              </p:cNvPr>
              <p:cNvSpPr>
                <a:spLocks noRot="1" noChangeAspect="1" noMove="1" noResize="1" noEditPoints="1" noAdjustHandles="1" noChangeArrowheads="1" noChangeShapeType="1" noTextEdit="1"/>
              </p:cNvSpPr>
              <p:nvPr/>
            </p:nvSpPr>
            <p:spPr>
              <a:xfrm>
                <a:off x="6363571" y="1399015"/>
                <a:ext cx="690830"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Rectangle 110">
                <a:extLst>
                  <a:ext uri="{FF2B5EF4-FFF2-40B4-BE49-F238E27FC236}">
                    <a16:creationId xmlns:a16="http://schemas.microsoft.com/office/drawing/2014/main" id="{33F4CC3F-FF2C-0F4E-88D6-65B38495FE2A}"/>
                  </a:ext>
                </a:extLst>
              </p:cNvPr>
              <p:cNvSpPr/>
              <p:nvPr/>
            </p:nvSpPr>
            <p:spPr>
              <a:xfrm>
                <a:off x="4946985" y="1565144"/>
                <a:ext cx="631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111" name="Rectangle 110">
                <a:extLst>
                  <a:ext uri="{FF2B5EF4-FFF2-40B4-BE49-F238E27FC236}">
                    <a16:creationId xmlns:a16="http://schemas.microsoft.com/office/drawing/2014/main" id="{33F4CC3F-FF2C-0F4E-88D6-65B38495FE2A}"/>
                  </a:ext>
                </a:extLst>
              </p:cNvPr>
              <p:cNvSpPr>
                <a:spLocks noRot="1" noChangeAspect="1" noMove="1" noResize="1" noEditPoints="1" noAdjustHandles="1" noChangeArrowheads="1" noChangeShapeType="1" noTextEdit="1"/>
              </p:cNvSpPr>
              <p:nvPr/>
            </p:nvSpPr>
            <p:spPr>
              <a:xfrm>
                <a:off x="4946985" y="1565144"/>
                <a:ext cx="631519"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B97D983E-39D5-7945-9DE3-09FB8AE99229}"/>
                  </a:ext>
                </a:extLst>
              </p:cNvPr>
              <p:cNvSpPr/>
              <p:nvPr/>
            </p:nvSpPr>
            <p:spPr>
              <a:xfrm>
                <a:off x="7549374" y="1470531"/>
                <a:ext cx="69083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m:t>
                          </m:r>
                        </m:e>
                      </m:d>
                    </m:oMath>
                  </m:oMathPara>
                </a14:m>
                <a:endParaRPr lang="en-US" sz="2400" dirty="0"/>
              </a:p>
            </p:txBody>
          </p:sp>
        </mc:Choice>
        <mc:Fallback xmlns="">
          <p:sp>
            <p:nvSpPr>
              <p:cNvPr id="112" name="Rectangle 111">
                <a:extLst>
                  <a:ext uri="{FF2B5EF4-FFF2-40B4-BE49-F238E27FC236}">
                    <a16:creationId xmlns:a16="http://schemas.microsoft.com/office/drawing/2014/main" id="{B97D983E-39D5-7945-9DE3-09FB8AE99229}"/>
                  </a:ext>
                </a:extLst>
              </p:cNvPr>
              <p:cNvSpPr>
                <a:spLocks noRot="1" noChangeAspect="1" noMove="1" noResize="1" noEditPoints="1" noAdjustHandles="1" noChangeArrowheads="1" noChangeShapeType="1" noTextEdit="1"/>
              </p:cNvSpPr>
              <p:nvPr/>
            </p:nvSpPr>
            <p:spPr>
              <a:xfrm>
                <a:off x="7549374" y="1470531"/>
                <a:ext cx="690830" cy="461665"/>
              </a:xfrm>
              <a:prstGeom prst="rect">
                <a:avLst/>
              </a:prstGeom>
              <a:blipFill>
                <a:blip r:embed="rId10"/>
                <a:stretch>
                  <a:fillRect/>
                </a:stretch>
              </a:blipFill>
            </p:spPr>
            <p:txBody>
              <a:bodyPr/>
              <a:lstStyle/>
              <a:p>
                <a:r>
                  <a:rPr lang="en-US">
                    <a:noFill/>
                  </a:rPr>
                  <a:t> </a:t>
                </a:r>
              </a:p>
            </p:txBody>
          </p:sp>
        </mc:Fallback>
      </mc:AlternateContent>
      <p:grpSp>
        <p:nvGrpSpPr>
          <p:cNvPr id="117" name="Group 116">
            <a:extLst>
              <a:ext uri="{FF2B5EF4-FFF2-40B4-BE49-F238E27FC236}">
                <a16:creationId xmlns:a16="http://schemas.microsoft.com/office/drawing/2014/main" id="{D5B803C5-7A5C-4C41-BA3C-893C8DA6A240}"/>
              </a:ext>
            </a:extLst>
          </p:cNvPr>
          <p:cNvGrpSpPr/>
          <p:nvPr/>
        </p:nvGrpSpPr>
        <p:grpSpPr>
          <a:xfrm>
            <a:off x="170597" y="4533534"/>
            <a:ext cx="11859175" cy="2267560"/>
            <a:chOff x="170597" y="4533534"/>
            <a:chExt cx="11859175" cy="2267560"/>
          </a:xfrm>
        </p:grpSpPr>
        <p:grpSp>
          <p:nvGrpSpPr>
            <p:cNvPr id="4" name="Group 3">
              <a:extLst>
                <a:ext uri="{FF2B5EF4-FFF2-40B4-BE49-F238E27FC236}">
                  <a16:creationId xmlns:a16="http://schemas.microsoft.com/office/drawing/2014/main" id="{1B5BDF2A-2187-7640-8D62-3F67B13122EF}"/>
                </a:ext>
              </a:extLst>
            </p:cNvPr>
            <p:cNvGrpSpPr/>
            <p:nvPr/>
          </p:nvGrpSpPr>
          <p:grpSpPr>
            <a:xfrm>
              <a:off x="9649631" y="4582929"/>
              <a:ext cx="725624" cy="1077432"/>
              <a:chOff x="4548358" y="5044652"/>
              <a:chExt cx="725624" cy="1077432"/>
            </a:xfrm>
          </p:grpSpPr>
          <p:sp>
            <p:nvSpPr>
              <p:cNvPr id="5" name="Up-Down Arrow 4">
                <a:extLst>
                  <a:ext uri="{FF2B5EF4-FFF2-40B4-BE49-F238E27FC236}">
                    <a16:creationId xmlns:a16="http://schemas.microsoft.com/office/drawing/2014/main" id="{9E2408DD-7A2B-0E4C-A249-2AB5969B2211}"/>
                  </a:ext>
                </a:extLst>
              </p:cNvPr>
              <p:cNvSpPr/>
              <p:nvPr/>
            </p:nvSpPr>
            <p:spPr>
              <a:xfrm rot="19737961">
                <a:off x="4745556" y="5235011"/>
                <a:ext cx="144000" cy="7200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Up-Down Arrow 5">
                <a:extLst>
                  <a:ext uri="{FF2B5EF4-FFF2-40B4-BE49-F238E27FC236}">
                    <a16:creationId xmlns:a16="http://schemas.microsoft.com/office/drawing/2014/main" id="{3A773311-180D-4341-9B75-B4FE6C5762FD}"/>
                  </a:ext>
                </a:extLst>
              </p:cNvPr>
              <p:cNvSpPr/>
              <p:nvPr/>
            </p:nvSpPr>
            <p:spPr>
              <a:xfrm rot="3168139">
                <a:off x="4777694" y="5324058"/>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3">
                <a:extLst>
                  <a:ext uri="{FF2B5EF4-FFF2-40B4-BE49-F238E27FC236}">
                    <a16:creationId xmlns:a16="http://schemas.microsoft.com/office/drawing/2014/main" id="{529F240C-49E7-1A4A-9AD2-607899615837}"/>
                  </a:ext>
                </a:extLst>
              </p:cNvPr>
              <p:cNvSpPr/>
              <p:nvPr/>
            </p:nvSpPr>
            <p:spPr>
              <a:xfrm>
                <a:off x="4666311" y="5044652"/>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8" name="Straight Arrow Connector 7">
                <a:extLst>
                  <a:ext uri="{FF2B5EF4-FFF2-40B4-BE49-F238E27FC236}">
                    <a16:creationId xmlns:a16="http://schemas.microsoft.com/office/drawing/2014/main" id="{2D756407-1331-7248-A408-765B4CC59791}"/>
                  </a:ext>
                </a:extLst>
              </p:cNvPr>
              <p:cNvCxnSpPr>
                <a:cxnSpLocks/>
              </p:cNvCxnSpPr>
              <p:nvPr/>
            </p:nvCxnSpPr>
            <p:spPr>
              <a:xfrm flipH="1" flipV="1">
                <a:off x="4771014" y="5234235"/>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sp>
          <p:nvSpPr>
            <p:cNvPr id="49" name="Rounded Rectangular Callout 48">
              <a:extLst>
                <a:ext uri="{FF2B5EF4-FFF2-40B4-BE49-F238E27FC236}">
                  <a16:creationId xmlns:a16="http://schemas.microsoft.com/office/drawing/2014/main" id="{0DAB33F7-A706-5543-AE02-9DFF1C737F92}"/>
                </a:ext>
              </a:extLst>
            </p:cNvPr>
            <p:cNvSpPr/>
            <p:nvPr/>
          </p:nvSpPr>
          <p:spPr>
            <a:xfrm>
              <a:off x="170597" y="4720619"/>
              <a:ext cx="5121391" cy="1626592"/>
            </a:xfrm>
            <a:prstGeom prst="wedgeRoundRectCallout">
              <a:avLst>
                <a:gd name="adj1" fmla="val 58394"/>
                <a:gd name="adj2" fmla="val -11246"/>
                <a:gd name="adj3" fmla="val 16667"/>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9B830139-0E2A-9E4A-B562-EE57222AF759}"/>
                </a:ext>
              </a:extLst>
            </p:cNvPr>
            <p:cNvSpPr txBox="1"/>
            <p:nvPr/>
          </p:nvSpPr>
          <p:spPr>
            <a:xfrm>
              <a:off x="857191" y="4748114"/>
              <a:ext cx="4288674" cy="1569660"/>
            </a:xfrm>
            <a:prstGeom prst="rect">
              <a:avLst/>
            </a:prstGeom>
            <a:noFill/>
          </p:spPr>
          <p:txBody>
            <a:bodyPr wrap="square" rtlCol="0">
              <a:spAutoFit/>
            </a:bodyPr>
            <a:lstStyle/>
            <a:p>
              <a:r>
                <a:rPr lang="en-ZA" sz="2400" dirty="0">
                  <a:latin typeface="Comic Sans MS" panose="030F0902030302020204" pitchFamily="66" charset="0"/>
                </a:rPr>
                <a:t>Alice and Bob exchange their basis information and discard key bits with mismatched bases.</a:t>
              </a:r>
              <a:endParaRPr lang="en-US" sz="2400" dirty="0">
                <a:latin typeface="Comic Sans MS" panose="030F0902030302020204" pitchFamily="66" charset="0"/>
              </a:endParaRPr>
            </a:p>
          </p:txBody>
        </p:sp>
        <p:sp>
          <p:nvSpPr>
            <p:cNvPr id="51" name="TextBox 50">
              <a:extLst>
                <a:ext uri="{FF2B5EF4-FFF2-40B4-BE49-F238E27FC236}">
                  <a16:creationId xmlns:a16="http://schemas.microsoft.com/office/drawing/2014/main" id="{BD1CF96E-FFE5-594F-882C-B3287DF9C477}"/>
                </a:ext>
              </a:extLst>
            </p:cNvPr>
            <p:cNvSpPr txBox="1"/>
            <p:nvPr/>
          </p:nvSpPr>
          <p:spPr>
            <a:xfrm>
              <a:off x="288958" y="5164185"/>
              <a:ext cx="625492" cy="707887"/>
            </a:xfrm>
            <a:prstGeom prst="rect">
              <a:avLst/>
            </a:prstGeom>
            <a:noFill/>
          </p:spPr>
          <p:txBody>
            <a:bodyPr wrap="none" rtlCol="0">
              <a:spAutoFit/>
            </a:bodyPr>
            <a:lstStyle/>
            <a:p>
              <a:r>
                <a:rPr lang="en-US" sz="4000" dirty="0">
                  <a:latin typeface="Comic Sans MS" panose="030F0902030302020204" pitchFamily="66" charset="0"/>
                </a:rPr>
                <a:t>3.</a:t>
              </a:r>
            </a:p>
          </p:txBody>
        </p:sp>
        <p:sp>
          <p:nvSpPr>
            <p:cNvPr id="52" name="Up-Down Arrow 51">
              <a:extLst>
                <a:ext uri="{FF2B5EF4-FFF2-40B4-BE49-F238E27FC236}">
                  <a16:creationId xmlns:a16="http://schemas.microsoft.com/office/drawing/2014/main" id="{53E1CD00-0A7D-C641-A415-AE41061643F7}"/>
                </a:ext>
              </a:extLst>
            </p:cNvPr>
            <p:cNvSpPr/>
            <p:nvPr/>
          </p:nvSpPr>
          <p:spPr>
            <a:xfrm>
              <a:off x="7260780" y="4796315"/>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Up-Down Arrow 52">
              <a:extLst>
                <a:ext uri="{FF2B5EF4-FFF2-40B4-BE49-F238E27FC236}">
                  <a16:creationId xmlns:a16="http://schemas.microsoft.com/office/drawing/2014/main" id="{70B4E5E0-1956-EA41-A8F7-16BB4DACB960}"/>
                </a:ext>
              </a:extLst>
            </p:cNvPr>
            <p:cNvSpPr/>
            <p:nvPr/>
          </p:nvSpPr>
          <p:spPr>
            <a:xfrm rot="17720198">
              <a:off x="7272599" y="4797050"/>
              <a:ext cx="144000" cy="6012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3">
              <a:extLst>
                <a:ext uri="{FF2B5EF4-FFF2-40B4-BE49-F238E27FC236}">
                  <a16:creationId xmlns:a16="http://schemas.microsoft.com/office/drawing/2014/main" id="{1BEBBC9A-B0D9-C446-BA20-AA1FBD5F52FE}"/>
                </a:ext>
              </a:extLst>
            </p:cNvPr>
            <p:cNvSpPr/>
            <p:nvPr/>
          </p:nvSpPr>
          <p:spPr>
            <a:xfrm>
              <a:off x="7189731" y="4595813"/>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a:ln w="254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5" name="Straight Arrow Connector 54">
              <a:extLst>
                <a:ext uri="{FF2B5EF4-FFF2-40B4-BE49-F238E27FC236}">
                  <a16:creationId xmlns:a16="http://schemas.microsoft.com/office/drawing/2014/main" id="{ABF1ABB1-9258-3B44-82A3-034E572D3316}"/>
                </a:ext>
              </a:extLst>
            </p:cNvPr>
            <p:cNvCxnSpPr>
              <a:cxnSpLocks/>
            </p:cNvCxnSpPr>
            <p:nvPr/>
          </p:nvCxnSpPr>
          <p:spPr>
            <a:xfrm>
              <a:off x="7464121" y="4790537"/>
              <a:ext cx="0" cy="644998"/>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6" name="Up-Down Arrow 55">
              <a:extLst>
                <a:ext uri="{FF2B5EF4-FFF2-40B4-BE49-F238E27FC236}">
                  <a16:creationId xmlns:a16="http://schemas.microsoft.com/office/drawing/2014/main" id="{7C3DBB79-BA5B-FF43-93FC-D639A651B8FD}"/>
                </a:ext>
              </a:extLst>
            </p:cNvPr>
            <p:cNvSpPr/>
            <p:nvPr/>
          </p:nvSpPr>
          <p:spPr>
            <a:xfrm>
              <a:off x="8468703" y="4852212"/>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7" name="Up-Down Arrow 56">
              <a:extLst>
                <a:ext uri="{FF2B5EF4-FFF2-40B4-BE49-F238E27FC236}">
                  <a16:creationId xmlns:a16="http://schemas.microsoft.com/office/drawing/2014/main" id="{F045B9A4-39F8-2E4A-806A-1BE3B6B29E26}"/>
                </a:ext>
              </a:extLst>
            </p:cNvPr>
            <p:cNvSpPr/>
            <p:nvPr/>
          </p:nvSpPr>
          <p:spPr>
            <a:xfrm rot="17720198">
              <a:off x="8480522" y="4852947"/>
              <a:ext cx="144000" cy="6012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8" name="Rectangle 3">
              <a:extLst>
                <a:ext uri="{FF2B5EF4-FFF2-40B4-BE49-F238E27FC236}">
                  <a16:creationId xmlns:a16="http://schemas.microsoft.com/office/drawing/2014/main" id="{8E7BC734-44E2-E547-A329-580315E03D27}"/>
                </a:ext>
              </a:extLst>
            </p:cNvPr>
            <p:cNvSpPr/>
            <p:nvPr/>
          </p:nvSpPr>
          <p:spPr>
            <a:xfrm>
              <a:off x="8419681" y="4588104"/>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59" name="Straight Arrow Connector 58">
              <a:extLst>
                <a:ext uri="{FF2B5EF4-FFF2-40B4-BE49-F238E27FC236}">
                  <a16:creationId xmlns:a16="http://schemas.microsoft.com/office/drawing/2014/main" id="{DB28679D-B4FA-1C4F-B4F0-6A1E635678E7}"/>
                </a:ext>
              </a:extLst>
            </p:cNvPr>
            <p:cNvCxnSpPr>
              <a:cxnSpLocks/>
            </p:cNvCxnSpPr>
            <p:nvPr/>
          </p:nvCxnSpPr>
          <p:spPr>
            <a:xfrm flipH="1" flipV="1">
              <a:off x="8450319" y="4971613"/>
              <a:ext cx="468000" cy="225408"/>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pic>
          <p:nvPicPr>
            <p:cNvPr id="60" name="Picture 59">
              <a:extLst>
                <a:ext uri="{FF2B5EF4-FFF2-40B4-BE49-F238E27FC236}">
                  <a16:creationId xmlns:a16="http://schemas.microsoft.com/office/drawing/2014/main" id="{B53FEFC1-2C80-5940-B525-31F09F5D5902}"/>
                </a:ext>
              </a:extLst>
            </p:cNvPr>
            <p:cNvPicPr>
              <a:picLocks noChangeAspect="1"/>
            </p:cNvPicPr>
            <p:nvPr/>
          </p:nvPicPr>
          <p:blipFill>
            <a:blip r:embed="rId11"/>
            <a:stretch>
              <a:fillRect/>
            </a:stretch>
          </p:blipFill>
          <p:spPr>
            <a:xfrm>
              <a:off x="7419359" y="5835637"/>
              <a:ext cx="396000" cy="396000"/>
            </a:xfrm>
            <a:prstGeom prst="rect">
              <a:avLst/>
            </a:prstGeom>
          </p:spPr>
        </p:pic>
        <p:pic>
          <p:nvPicPr>
            <p:cNvPr id="61" name="Picture 60">
              <a:extLst>
                <a:ext uri="{FF2B5EF4-FFF2-40B4-BE49-F238E27FC236}">
                  <a16:creationId xmlns:a16="http://schemas.microsoft.com/office/drawing/2014/main" id="{2DFB6379-C73D-974D-8C1F-1BA8ACD66ACD}"/>
                </a:ext>
              </a:extLst>
            </p:cNvPr>
            <p:cNvPicPr>
              <a:picLocks noChangeAspect="1"/>
            </p:cNvPicPr>
            <p:nvPr/>
          </p:nvPicPr>
          <p:blipFill>
            <a:blip r:embed="rId12"/>
            <a:stretch>
              <a:fillRect/>
            </a:stretch>
          </p:blipFill>
          <p:spPr>
            <a:xfrm>
              <a:off x="8775973" y="5824197"/>
              <a:ext cx="522000" cy="396000"/>
            </a:xfrm>
            <a:prstGeom prst="rect">
              <a:avLst/>
            </a:prstGeom>
          </p:spPr>
        </p:pic>
        <p:cxnSp>
          <p:nvCxnSpPr>
            <p:cNvPr id="62" name="Straight Connector 61">
              <a:extLst>
                <a:ext uri="{FF2B5EF4-FFF2-40B4-BE49-F238E27FC236}">
                  <a16:creationId xmlns:a16="http://schemas.microsoft.com/office/drawing/2014/main" id="{7117199A-39A0-D245-956C-44EEAF902B64}"/>
                </a:ext>
              </a:extLst>
            </p:cNvPr>
            <p:cNvCxnSpPr>
              <a:cxnSpLocks/>
            </p:cNvCxnSpPr>
            <p:nvPr/>
          </p:nvCxnSpPr>
          <p:spPr>
            <a:xfrm>
              <a:off x="5852508" y="5277827"/>
              <a:ext cx="5953578" cy="0"/>
            </a:xfrm>
            <a:prstGeom prst="line">
              <a:avLst/>
            </a:prstGeom>
            <a:ln w="50800" cap="rnd">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37E8C8FC-4623-5B4A-AA8C-443E2F13FA3C}"/>
                </a:ext>
              </a:extLst>
            </p:cNvPr>
            <p:cNvGrpSpPr/>
            <p:nvPr/>
          </p:nvGrpSpPr>
          <p:grpSpPr>
            <a:xfrm>
              <a:off x="6640724" y="4997400"/>
              <a:ext cx="725624" cy="1077432"/>
              <a:chOff x="8980611" y="2896730"/>
              <a:chExt cx="725624" cy="1077432"/>
            </a:xfrm>
          </p:grpSpPr>
          <p:sp>
            <p:nvSpPr>
              <p:cNvPr id="64" name="Up-Down Arrow 63">
                <a:extLst>
                  <a:ext uri="{FF2B5EF4-FFF2-40B4-BE49-F238E27FC236}">
                    <a16:creationId xmlns:a16="http://schemas.microsoft.com/office/drawing/2014/main" id="{C60D5A94-1A3A-FD4A-A619-367082E7CC66}"/>
                  </a:ext>
                </a:extLst>
              </p:cNvPr>
              <p:cNvSpPr/>
              <p:nvPr/>
            </p:nvSpPr>
            <p:spPr>
              <a:xfrm rot="19737961">
                <a:off x="9177809" y="3087089"/>
                <a:ext cx="144000" cy="7200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5" name="Up-Down Arrow 64">
                <a:extLst>
                  <a:ext uri="{FF2B5EF4-FFF2-40B4-BE49-F238E27FC236}">
                    <a16:creationId xmlns:a16="http://schemas.microsoft.com/office/drawing/2014/main" id="{7AA75337-2DCB-0249-8BBF-083B54D01FE7}"/>
                  </a:ext>
                </a:extLst>
              </p:cNvPr>
              <p:cNvSpPr/>
              <p:nvPr/>
            </p:nvSpPr>
            <p:spPr>
              <a:xfrm rot="3168139">
                <a:off x="9209947" y="3176136"/>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6" name="Rectangle 3">
                <a:extLst>
                  <a:ext uri="{FF2B5EF4-FFF2-40B4-BE49-F238E27FC236}">
                    <a16:creationId xmlns:a16="http://schemas.microsoft.com/office/drawing/2014/main" id="{67AE4DAD-3862-9848-AA3D-9EB34AAEADA5}"/>
                  </a:ext>
                </a:extLst>
              </p:cNvPr>
              <p:cNvSpPr/>
              <p:nvPr/>
            </p:nvSpPr>
            <p:spPr>
              <a:xfrm>
                <a:off x="9098564" y="2896730"/>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67" name="Straight Arrow Connector 66">
                <a:extLst>
                  <a:ext uri="{FF2B5EF4-FFF2-40B4-BE49-F238E27FC236}">
                    <a16:creationId xmlns:a16="http://schemas.microsoft.com/office/drawing/2014/main" id="{EAC28DEA-9DC2-9247-BF4B-844444970688}"/>
                  </a:ext>
                </a:extLst>
              </p:cNvPr>
              <p:cNvCxnSpPr>
                <a:cxnSpLocks/>
              </p:cNvCxnSpPr>
              <p:nvPr/>
            </p:nvCxnSpPr>
            <p:spPr>
              <a:xfrm flipH="1">
                <a:off x="9191223" y="3234633"/>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A79D01E-C39E-1543-BC99-FC75D3A073C6}"/>
                  </a:ext>
                </a:extLst>
              </p:cNvPr>
              <p:cNvCxnSpPr>
                <a:cxnSpLocks/>
              </p:cNvCxnSpPr>
              <p:nvPr/>
            </p:nvCxnSpPr>
            <p:spPr>
              <a:xfrm flipH="1" flipV="1">
                <a:off x="9203267" y="3086313"/>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1513C442-EBCF-F04B-B55B-54C85F2AD5BA}"/>
                </a:ext>
              </a:extLst>
            </p:cNvPr>
            <p:cNvGrpSpPr/>
            <p:nvPr/>
          </p:nvGrpSpPr>
          <p:grpSpPr>
            <a:xfrm>
              <a:off x="7985505" y="4995199"/>
              <a:ext cx="753691" cy="1077432"/>
              <a:chOff x="8962409" y="2016844"/>
              <a:chExt cx="753691" cy="1077432"/>
            </a:xfrm>
          </p:grpSpPr>
          <p:sp>
            <p:nvSpPr>
              <p:cNvPr id="70" name="Up-Down Arrow 69">
                <a:extLst>
                  <a:ext uri="{FF2B5EF4-FFF2-40B4-BE49-F238E27FC236}">
                    <a16:creationId xmlns:a16="http://schemas.microsoft.com/office/drawing/2014/main" id="{E551BEFF-D7A6-5A47-AB1B-0A229CADD8E6}"/>
                  </a:ext>
                </a:extLst>
              </p:cNvPr>
              <p:cNvSpPr/>
              <p:nvPr/>
            </p:nvSpPr>
            <p:spPr>
              <a:xfrm>
                <a:off x="9179190" y="2323455"/>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1" name="Up-Down Arrow 70">
                <a:extLst>
                  <a:ext uri="{FF2B5EF4-FFF2-40B4-BE49-F238E27FC236}">
                    <a16:creationId xmlns:a16="http://schemas.microsoft.com/office/drawing/2014/main" id="{EDA6974F-EECD-0E46-A4E9-8210D4DCC0F2}"/>
                  </a:ext>
                </a:extLst>
              </p:cNvPr>
              <p:cNvSpPr/>
              <p:nvPr/>
            </p:nvSpPr>
            <p:spPr>
              <a:xfrm rot="17720198">
                <a:off x="9191009" y="2324190"/>
                <a:ext cx="144000" cy="6012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2" name="Rectangle 3">
                <a:extLst>
                  <a:ext uri="{FF2B5EF4-FFF2-40B4-BE49-F238E27FC236}">
                    <a16:creationId xmlns:a16="http://schemas.microsoft.com/office/drawing/2014/main" id="{1C2D0639-31E8-9D42-A944-531FA9C753CE}"/>
                  </a:ext>
                </a:extLst>
              </p:cNvPr>
              <p:cNvSpPr/>
              <p:nvPr/>
            </p:nvSpPr>
            <p:spPr>
              <a:xfrm>
                <a:off x="9108429" y="2016844"/>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73" name="Straight Arrow Connector 72">
                <a:extLst>
                  <a:ext uri="{FF2B5EF4-FFF2-40B4-BE49-F238E27FC236}">
                    <a16:creationId xmlns:a16="http://schemas.microsoft.com/office/drawing/2014/main" id="{92199C5B-D0B4-734E-B95F-F819FC9D0064}"/>
                  </a:ext>
                </a:extLst>
              </p:cNvPr>
              <p:cNvCxnSpPr>
                <a:cxnSpLocks/>
              </p:cNvCxnSpPr>
              <p:nvPr/>
            </p:nvCxnSpPr>
            <p:spPr>
              <a:xfrm>
                <a:off x="9379310" y="2223536"/>
                <a:ext cx="0" cy="644998"/>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D3CFA22-A226-6843-92D3-E86621D1A012}"/>
                  </a:ext>
                </a:extLst>
              </p:cNvPr>
              <p:cNvCxnSpPr>
                <a:cxnSpLocks/>
              </p:cNvCxnSpPr>
              <p:nvPr/>
            </p:nvCxnSpPr>
            <p:spPr>
              <a:xfrm flipH="1" flipV="1">
                <a:off x="9160806" y="2442856"/>
                <a:ext cx="468000" cy="225408"/>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DEEC42F7-7E1D-1C42-9DAD-B9C46FCF0D73}"/>
                </a:ext>
              </a:extLst>
            </p:cNvPr>
            <p:cNvGrpSpPr/>
            <p:nvPr/>
          </p:nvGrpSpPr>
          <p:grpSpPr>
            <a:xfrm>
              <a:off x="10997535" y="4582929"/>
              <a:ext cx="725624" cy="1077432"/>
              <a:chOff x="8980611" y="2896730"/>
              <a:chExt cx="725624" cy="1077432"/>
            </a:xfrm>
          </p:grpSpPr>
          <p:sp>
            <p:nvSpPr>
              <p:cNvPr id="76" name="Up-Down Arrow 75">
                <a:extLst>
                  <a:ext uri="{FF2B5EF4-FFF2-40B4-BE49-F238E27FC236}">
                    <a16:creationId xmlns:a16="http://schemas.microsoft.com/office/drawing/2014/main" id="{7C4CB1F6-319B-C04D-B3D5-103F33D6E738}"/>
                  </a:ext>
                </a:extLst>
              </p:cNvPr>
              <p:cNvSpPr/>
              <p:nvPr/>
            </p:nvSpPr>
            <p:spPr>
              <a:xfrm rot="19737961">
                <a:off x="9177809" y="3087089"/>
                <a:ext cx="144000" cy="7200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7" name="Up-Down Arrow 76">
                <a:extLst>
                  <a:ext uri="{FF2B5EF4-FFF2-40B4-BE49-F238E27FC236}">
                    <a16:creationId xmlns:a16="http://schemas.microsoft.com/office/drawing/2014/main" id="{2F314CA5-7EA3-AC4E-B3DF-E2603B9D2E72}"/>
                  </a:ext>
                </a:extLst>
              </p:cNvPr>
              <p:cNvSpPr/>
              <p:nvPr/>
            </p:nvSpPr>
            <p:spPr>
              <a:xfrm rot="3168139">
                <a:off x="9209947" y="3176136"/>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8" name="Rectangle 3">
                <a:extLst>
                  <a:ext uri="{FF2B5EF4-FFF2-40B4-BE49-F238E27FC236}">
                    <a16:creationId xmlns:a16="http://schemas.microsoft.com/office/drawing/2014/main" id="{95BEEE64-1EFD-EE45-BD3F-D8B5270E2C56}"/>
                  </a:ext>
                </a:extLst>
              </p:cNvPr>
              <p:cNvSpPr/>
              <p:nvPr/>
            </p:nvSpPr>
            <p:spPr>
              <a:xfrm>
                <a:off x="9098564" y="2896730"/>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9" name="Straight Arrow Connector 78">
                <a:extLst>
                  <a:ext uri="{FF2B5EF4-FFF2-40B4-BE49-F238E27FC236}">
                    <a16:creationId xmlns:a16="http://schemas.microsoft.com/office/drawing/2014/main" id="{BA2E254E-417C-B241-9275-6C9CAB852CE7}"/>
                  </a:ext>
                </a:extLst>
              </p:cNvPr>
              <p:cNvCxnSpPr>
                <a:cxnSpLocks/>
              </p:cNvCxnSpPr>
              <p:nvPr/>
            </p:nvCxnSpPr>
            <p:spPr>
              <a:xfrm flipH="1">
                <a:off x="9191223" y="3234633"/>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31175ECD-FAE2-9148-8BC7-E88588E4B156}"/>
                </a:ext>
              </a:extLst>
            </p:cNvPr>
            <p:cNvGrpSpPr/>
            <p:nvPr/>
          </p:nvGrpSpPr>
          <p:grpSpPr>
            <a:xfrm>
              <a:off x="9395991" y="5004465"/>
              <a:ext cx="1308392" cy="1197360"/>
              <a:chOff x="10812613" y="6251878"/>
              <a:chExt cx="1308392" cy="1197360"/>
            </a:xfrm>
          </p:grpSpPr>
          <p:pic>
            <p:nvPicPr>
              <p:cNvPr id="81" name="Picture 80">
                <a:extLst>
                  <a:ext uri="{FF2B5EF4-FFF2-40B4-BE49-F238E27FC236}">
                    <a16:creationId xmlns:a16="http://schemas.microsoft.com/office/drawing/2014/main" id="{644FF7AD-4C12-5F41-9C4C-17F57399F337}"/>
                  </a:ext>
                </a:extLst>
              </p:cNvPr>
              <p:cNvPicPr>
                <a:picLocks noChangeAspect="1"/>
              </p:cNvPicPr>
              <p:nvPr/>
            </p:nvPicPr>
            <p:blipFill>
              <a:blip r:embed="rId12"/>
              <a:stretch>
                <a:fillRect/>
              </a:stretch>
            </p:blipFill>
            <p:spPr>
              <a:xfrm>
                <a:off x="11599005" y="7053238"/>
                <a:ext cx="522000" cy="396000"/>
              </a:xfrm>
              <a:prstGeom prst="rect">
                <a:avLst/>
              </a:prstGeom>
            </p:spPr>
          </p:pic>
          <p:grpSp>
            <p:nvGrpSpPr>
              <p:cNvPr id="82" name="Group 81">
                <a:extLst>
                  <a:ext uri="{FF2B5EF4-FFF2-40B4-BE49-F238E27FC236}">
                    <a16:creationId xmlns:a16="http://schemas.microsoft.com/office/drawing/2014/main" id="{4BD8B0F8-0E08-1A43-AE2C-487B80B1175E}"/>
                  </a:ext>
                </a:extLst>
              </p:cNvPr>
              <p:cNvGrpSpPr/>
              <p:nvPr/>
            </p:nvGrpSpPr>
            <p:grpSpPr>
              <a:xfrm>
                <a:off x="10812613" y="6251878"/>
                <a:ext cx="725624" cy="1077432"/>
                <a:chOff x="8980611" y="2896730"/>
                <a:chExt cx="725624" cy="1077432"/>
              </a:xfrm>
            </p:grpSpPr>
            <p:sp>
              <p:nvSpPr>
                <p:cNvPr id="83" name="Up-Down Arrow 82">
                  <a:extLst>
                    <a:ext uri="{FF2B5EF4-FFF2-40B4-BE49-F238E27FC236}">
                      <a16:creationId xmlns:a16="http://schemas.microsoft.com/office/drawing/2014/main" id="{1DCEC946-A856-754D-90A5-09584C7ADD37}"/>
                    </a:ext>
                  </a:extLst>
                </p:cNvPr>
                <p:cNvSpPr/>
                <p:nvPr/>
              </p:nvSpPr>
              <p:spPr>
                <a:xfrm rot="19737961">
                  <a:off x="9177809" y="3087089"/>
                  <a:ext cx="144000" cy="7200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4" name="Up-Down Arrow 83">
                  <a:extLst>
                    <a:ext uri="{FF2B5EF4-FFF2-40B4-BE49-F238E27FC236}">
                      <a16:creationId xmlns:a16="http://schemas.microsoft.com/office/drawing/2014/main" id="{4AEF779E-FE41-FC4E-9723-D01773526839}"/>
                    </a:ext>
                  </a:extLst>
                </p:cNvPr>
                <p:cNvSpPr/>
                <p:nvPr/>
              </p:nvSpPr>
              <p:spPr>
                <a:xfrm rot="3168139">
                  <a:off x="9209947" y="3176136"/>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5" name="Rectangle 3">
                  <a:extLst>
                    <a:ext uri="{FF2B5EF4-FFF2-40B4-BE49-F238E27FC236}">
                      <a16:creationId xmlns:a16="http://schemas.microsoft.com/office/drawing/2014/main" id="{C49C03D4-3CA1-C647-8E9E-B2D3C053359F}"/>
                    </a:ext>
                  </a:extLst>
                </p:cNvPr>
                <p:cNvSpPr/>
                <p:nvPr/>
              </p:nvSpPr>
              <p:spPr>
                <a:xfrm>
                  <a:off x="9098564" y="2896730"/>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86" name="Straight Arrow Connector 85">
                  <a:extLst>
                    <a:ext uri="{FF2B5EF4-FFF2-40B4-BE49-F238E27FC236}">
                      <a16:creationId xmlns:a16="http://schemas.microsoft.com/office/drawing/2014/main" id="{A5E86C0C-7CD5-5F4D-A726-567FB9B63E9B}"/>
                    </a:ext>
                  </a:extLst>
                </p:cNvPr>
                <p:cNvCxnSpPr>
                  <a:cxnSpLocks/>
                </p:cNvCxnSpPr>
                <p:nvPr/>
              </p:nvCxnSpPr>
              <p:spPr>
                <a:xfrm flipH="1">
                  <a:off x="9191223" y="3234633"/>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717A1B5-8AE6-524E-B632-E0987CF4B2AE}"/>
                    </a:ext>
                  </a:extLst>
                </p:cNvPr>
                <p:cNvCxnSpPr>
                  <a:cxnSpLocks/>
                </p:cNvCxnSpPr>
                <p:nvPr/>
              </p:nvCxnSpPr>
              <p:spPr>
                <a:xfrm flipH="1" flipV="1">
                  <a:off x="9203267" y="3086313"/>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6019CF3-8C67-594C-B1BD-44111A9770C0}"/>
                </a:ext>
              </a:extLst>
            </p:cNvPr>
            <p:cNvGrpSpPr/>
            <p:nvPr/>
          </p:nvGrpSpPr>
          <p:grpSpPr>
            <a:xfrm>
              <a:off x="10808873" y="5008493"/>
              <a:ext cx="1220899" cy="1222797"/>
              <a:chOff x="9439764" y="6215001"/>
              <a:chExt cx="1220899" cy="1222797"/>
            </a:xfrm>
          </p:grpSpPr>
          <p:pic>
            <p:nvPicPr>
              <p:cNvPr id="89" name="Picture 88">
                <a:extLst>
                  <a:ext uri="{FF2B5EF4-FFF2-40B4-BE49-F238E27FC236}">
                    <a16:creationId xmlns:a16="http://schemas.microsoft.com/office/drawing/2014/main" id="{0AA59143-C713-BF42-B84F-5FA92FACF319}"/>
                  </a:ext>
                </a:extLst>
              </p:cNvPr>
              <p:cNvPicPr>
                <a:picLocks noChangeAspect="1"/>
              </p:cNvPicPr>
              <p:nvPr/>
            </p:nvPicPr>
            <p:blipFill>
              <a:blip r:embed="rId11"/>
              <a:stretch>
                <a:fillRect/>
              </a:stretch>
            </p:blipFill>
            <p:spPr>
              <a:xfrm>
                <a:off x="10264663" y="7041798"/>
                <a:ext cx="396000" cy="396000"/>
              </a:xfrm>
              <a:prstGeom prst="rect">
                <a:avLst/>
              </a:prstGeom>
            </p:spPr>
          </p:pic>
          <p:grpSp>
            <p:nvGrpSpPr>
              <p:cNvPr id="90" name="Group 89">
                <a:extLst>
                  <a:ext uri="{FF2B5EF4-FFF2-40B4-BE49-F238E27FC236}">
                    <a16:creationId xmlns:a16="http://schemas.microsoft.com/office/drawing/2014/main" id="{C7F8C8B7-A378-D74F-926A-26052E701845}"/>
                  </a:ext>
                </a:extLst>
              </p:cNvPr>
              <p:cNvGrpSpPr/>
              <p:nvPr/>
            </p:nvGrpSpPr>
            <p:grpSpPr>
              <a:xfrm>
                <a:off x="9439764" y="6215001"/>
                <a:ext cx="753691" cy="1077432"/>
                <a:chOff x="8962409" y="2016844"/>
                <a:chExt cx="753691" cy="1077432"/>
              </a:xfrm>
            </p:grpSpPr>
            <p:sp>
              <p:nvSpPr>
                <p:cNvPr id="91" name="Up-Down Arrow 90">
                  <a:extLst>
                    <a:ext uri="{FF2B5EF4-FFF2-40B4-BE49-F238E27FC236}">
                      <a16:creationId xmlns:a16="http://schemas.microsoft.com/office/drawing/2014/main" id="{15BB3081-07E9-FC4A-A2AA-7EED9E1E41C1}"/>
                    </a:ext>
                  </a:extLst>
                </p:cNvPr>
                <p:cNvSpPr/>
                <p:nvPr/>
              </p:nvSpPr>
              <p:spPr>
                <a:xfrm>
                  <a:off x="9179190" y="2323455"/>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2" name="Up-Down Arrow 91">
                  <a:extLst>
                    <a:ext uri="{FF2B5EF4-FFF2-40B4-BE49-F238E27FC236}">
                      <a16:creationId xmlns:a16="http://schemas.microsoft.com/office/drawing/2014/main" id="{D9F8B20F-32E7-6C43-8028-E0E168BBD51D}"/>
                    </a:ext>
                  </a:extLst>
                </p:cNvPr>
                <p:cNvSpPr/>
                <p:nvPr/>
              </p:nvSpPr>
              <p:spPr>
                <a:xfrm rot="17720198">
                  <a:off x="9191009" y="2324190"/>
                  <a:ext cx="144000" cy="6012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3" name="Rectangle 3">
                  <a:extLst>
                    <a:ext uri="{FF2B5EF4-FFF2-40B4-BE49-F238E27FC236}">
                      <a16:creationId xmlns:a16="http://schemas.microsoft.com/office/drawing/2014/main" id="{140FAFA4-9EC8-D34A-B3FC-ECDF424FCAE6}"/>
                    </a:ext>
                  </a:extLst>
                </p:cNvPr>
                <p:cNvSpPr/>
                <p:nvPr/>
              </p:nvSpPr>
              <p:spPr>
                <a:xfrm>
                  <a:off x="9108429" y="2016844"/>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94" name="Straight Arrow Connector 93">
                  <a:extLst>
                    <a:ext uri="{FF2B5EF4-FFF2-40B4-BE49-F238E27FC236}">
                      <a16:creationId xmlns:a16="http://schemas.microsoft.com/office/drawing/2014/main" id="{F620662A-A5BC-354E-BED3-E2E4169D03A0}"/>
                    </a:ext>
                  </a:extLst>
                </p:cNvPr>
                <p:cNvCxnSpPr>
                  <a:cxnSpLocks/>
                </p:cNvCxnSpPr>
                <p:nvPr/>
              </p:nvCxnSpPr>
              <p:spPr>
                <a:xfrm>
                  <a:off x="9379310" y="2223536"/>
                  <a:ext cx="0" cy="644998"/>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33DA5D8-F6EA-3541-9DB0-3470373E1199}"/>
                    </a:ext>
                  </a:extLst>
                </p:cNvPr>
                <p:cNvCxnSpPr>
                  <a:cxnSpLocks/>
                </p:cNvCxnSpPr>
                <p:nvPr/>
              </p:nvCxnSpPr>
              <p:spPr>
                <a:xfrm flipH="1" flipV="1">
                  <a:off x="9160806" y="2442856"/>
                  <a:ext cx="468000" cy="225408"/>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sp>
          <p:nvSpPr>
            <p:cNvPr id="113" name="TextBox 112">
              <a:extLst>
                <a:ext uri="{FF2B5EF4-FFF2-40B4-BE49-F238E27FC236}">
                  <a16:creationId xmlns:a16="http://schemas.microsoft.com/office/drawing/2014/main" id="{E79B97B2-A592-3046-8032-B60ED4752736}"/>
                </a:ext>
              </a:extLst>
            </p:cNvPr>
            <p:cNvSpPr txBox="1"/>
            <p:nvPr/>
          </p:nvSpPr>
          <p:spPr>
            <a:xfrm>
              <a:off x="6878690" y="6333817"/>
              <a:ext cx="4493538" cy="461665"/>
            </a:xfrm>
            <a:prstGeom prst="rect">
              <a:avLst/>
            </a:prstGeom>
            <a:solidFill>
              <a:schemeClr val="accent4">
                <a:lumMod val="20000"/>
                <a:lumOff val="80000"/>
              </a:schemeClr>
            </a:solidFill>
          </p:spPr>
          <p:txBody>
            <a:bodyPr wrap="none" rtlCol="0">
              <a:spAutoFit/>
            </a:bodyPr>
            <a:lstStyle/>
            <a:p>
              <a:r>
                <a:rPr lang="en-US" sz="2400" dirty="0"/>
                <a:t>                     </a:t>
              </a:r>
              <a:r>
                <a:rPr lang="en-US" sz="2400" b="1" dirty="0"/>
                <a:t>0</a:t>
              </a:r>
              <a:r>
                <a:rPr lang="en-US" sz="2400" dirty="0"/>
                <a:t>                   </a:t>
              </a:r>
              <a:r>
                <a:rPr lang="en-US" sz="2400" b="1" dirty="0"/>
                <a:t>1</a:t>
              </a:r>
              <a:r>
                <a:rPr lang="en-US" sz="2400" dirty="0"/>
                <a:t>                  </a:t>
              </a:r>
            </a:p>
          </p:txBody>
        </p:sp>
        <p:sp>
          <p:nvSpPr>
            <p:cNvPr id="114" name="TextBox 113">
              <a:extLst>
                <a:ext uri="{FF2B5EF4-FFF2-40B4-BE49-F238E27FC236}">
                  <a16:creationId xmlns:a16="http://schemas.microsoft.com/office/drawing/2014/main" id="{0C45FCDC-FDF1-B741-9229-F1F878EB2F98}"/>
                </a:ext>
              </a:extLst>
            </p:cNvPr>
            <p:cNvSpPr txBox="1"/>
            <p:nvPr/>
          </p:nvSpPr>
          <p:spPr>
            <a:xfrm>
              <a:off x="5746599" y="4533534"/>
              <a:ext cx="907621" cy="461665"/>
            </a:xfrm>
            <a:prstGeom prst="rect">
              <a:avLst/>
            </a:prstGeom>
            <a:noFill/>
          </p:spPr>
          <p:txBody>
            <a:bodyPr wrap="none" rtlCol="0">
              <a:spAutoFit/>
            </a:bodyPr>
            <a:lstStyle/>
            <a:p>
              <a:r>
                <a:rPr lang="en-US" sz="2400" dirty="0">
                  <a:latin typeface="Comic Sans MS" panose="030F0902030302020204" pitchFamily="66" charset="0"/>
                </a:rPr>
                <a:t>Alice</a:t>
              </a:r>
            </a:p>
          </p:txBody>
        </p:sp>
        <p:sp>
          <p:nvSpPr>
            <p:cNvPr id="115" name="TextBox 114">
              <a:extLst>
                <a:ext uri="{FF2B5EF4-FFF2-40B4-BE49-F238E27FC236}">
                  <a16:creationId xmlns:a16="http://schemas.microsoft.com/office/drawing/2014/main" id="{7137453E-AE0B-F642-B72B-19332B68D8C2}"/>
                </a:ext>
              </a:extLst>
            </p:cNvPr>
            <p:cNvSpPr txBox="1"/>
            <p:nvPr/>
          </p:nvSpPr>
          <p:spPr>
            <a:xfrm>
              <a:off x="5681533" y="5580261"/>
              <a:ext cx="723275" cy="461665"/>
            </a:xfrm>
            <a:prstGeom prst="rect">
              <a:avLst/>
            </a:prstGeom>
            <a:noFill/>
          </p:spPr>
          <p:txBody>
            <a:bodyPr wrap="none" rtlCol="0">
              <a:spAutoFit/>
            </a:bodyPr>
            <a:lstStyle/>
            <a:p>
              <a:r>
                <a:rPr lang="en-US" sz="2400" dirty="0">
                  <a:latin typeface="Comic Sans MS" panose="030F0902030302020204" pitchFamily="66" charset="0"/>
                </a:rPr>
                <a:t>Bob</a:t>
              </a:r>
            </a:p>
          </p:txBody>
        </p:sp>
        <p:sp>
          <p:nvSpPr>
            <p:cNvPr id="116" name="TextBox 115">
              <a:extLst>
                <a:ext uri="{FF2B5EF4-FFF2-40B4-BE49-F238E27FC236}">
                  <a16:creationId xmlns:a16="http://schemas.microsoft.com/office/drawing/2014/main" id="{C6FD3683-8B03-7444-BD84-597BFD974E60}"/>
                </a:ext>
              </a:extLst>
            </p:cNvPr>
            <p:cNvSpPr txBox="1"/>
            <p:nvPr/>
          </p:nvSpPr>
          <p:spPr>
            <a:xfrm>
              <a:off x="5657580" y="6339429"/>
              <a:ext cx="792205" cy="461665"/>
            </a:xfrm>
            <a:prstGeom prst="rect">
              <a:avLst/>
            </a:prstGeom>
            <a:noFill/>
          </p:spPr>
          <p:txBody>
            <a:bodyPr wrap="none" rtlCol="0">
              <a:spAutoFit/>
            </a:bodyPr>
            <a:lstStyle/>
            <a:p>
              <a:r>
                <a:rPr lang="en-US" sz="2400" dirty="0">
                  <a:latin typeface="Comic Sans MS" panose="030F0902030302020204" pitchFamily="66" charset="0"/>
                </a:rPr>
                <a:t>Key </a:t>
              </a:r>
            </a:p>
          </p:txBody>
        </p:sp>
      </p:grpSp>
      <p:pic>
        <p:nvPicPr>
          <p:cNvPr id="119" name="Picture 118">
            <a:extLst>
              <a:ext uri="{FF2B5EF4-FFF2-40B4-BE49-F238E27FC236}">
                <a16:creationId xmlns:a16="http://schemas.microsoft.com/office/drawing/2014/main" id="{4CAB592F-492B-2E47-AD11-697E79829D6C}"/>
              </a:ext>
            </a:extLst>
          </p:cNvPr>
          <p:cNvPicPr>
            <a:picLocks noChangeAspect="1"/>
          </p:cNvPicPr>
          <p:nvPr/>
        </p:nvPicPr>
        <p:blipFill>
          <a:blip r:embed="rId13"/>
          <a:stretch>
            <a:fillRect/>
          </a:stretch>
        </p:blipFill>
        <p:spPr>
          <a:xfrm>
            <a:off x="369073" y="1657664"/>
            <a:ext cx="918520" cy="1414873"/>
          </a:xfrm>
          <a:prstGeom prst="rect">
            <a:avLst/>
          </a:prstGeom>
        </p:spPr>
      </p:pic>
      <p:pic>
        <p:nvPicPr>
          <p:cNvPr id="120" name="Picture 119">
            <a:extLst>
              <a:ext uri="{FF2B5EF4-FFF2-40B4-BE49-F238E27FC236}">
                <a16:creationId xmlns:a16="http://schemas.microsoft.com/office/drawing/2014/main" id="{B4EACDF0-FAB2-A243-AF6F-C766EC1EBCC8}"/>
              </a:ext>
            </a:extLst>
          </p:cNvPr>
          <p:cNvPicPr>
            <a:picLocks noChangeAspect="1"/>
          </p:cNvPicPr>
          <p:nvPr/>
        </p:nvPicPr>
        <p:blipFill>
          <a:blip r:embed="rId14"/>
          <a:stretch>
            <a:fillRect/>
          </a:stretch>
        </p:blipFill>
        <p:spPr>
          <a:xfrm>
            <a:off x="10772540" y="1386965"/>
            <a:ext cx="1082025" cy="1602672"/>
          </a:xfrm>
          <a:prstGeom prst="rect">
            <a:avLst/>
          </a:prstGeom>
        </p:spPr>
      </p:pic>
    </p:spTree>
    <p:extLst>
      <p:ext uri="{BB962C8B-B14F-4D97-AF65-F5344CB8AC3E}">
        <p14:creationId xmlns:p14="http://schemas.microsoft.com/office/powerpoint/2010/main" val="17952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blinds(horizontal)">
                                      <p:cBhvr>
                                        <p:cTn id="12" dur="5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dissolve">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Box 82">
            <a:extLst>
              <a:ext uri="{FF2B5EF4-FFF2-40B4-BE49-F238E27FC236}">
                <a16:creationId xmlns:a16="http://schemas.microsoft.com/office/drawing/2014/main" id="{3B61A021-3F7E-9C4F-9B00-4095CF1650A7}"/>
              </a:ext>
            </a:extLst>
          </p:cNvPr>
          <p:cNvSpPr txBox="1"/>
          <p:nvPr/>
        </p:nvSpPr>
        <p:spPr>
          <a:xfrm>
            <a:off x="3464314" y="804362"/>
            <a:ext cx="393056" cy="584775"/>
          </a:xfrm>
          <a:prstGeom prst="rect">
            <a:avLst/>
          </a:prstGeom>
          <a:noFill/>
        </p:spPr>
        <p:txBody>
          <a:bodyPr wrap="none" rtlCol="0">
            <a:spAutoFit/>
          </a:bodyPr>
          <a:lstStyle/>
          <a:p>
            <a:r>
              <a:rPr lang="en-US" sz="3200" dirty="0"/>
              <a:t>1</a:t>
            </a:r>
          </a:p>
        </p:txBody>
      </p:sp>
      <p:sp>
        <p:nvSpPr>
          <p:cNvPr id="84" name="TextBox 83">
            <a:extLst>
              <a:ext uri="{FF2B5EF4-FFF2-40B4-BE49-F238E27FC236}">
                <a16:creationId xmlns:a16="http://schemas.microsoft.com/office/drawing/2014/main" id="{BB1EFAA0-2B59-BA49-BE71-8FFB077F202F}"/>
              </a:ext>
            </a:extLst>
          </p:cNvPr>
          <p:cNvSpPr txBox="1"/>
          <p:nvPr/>
        </p:nvSpPr>
        <p:spPr>
          <a:xfrm>
            <a:off x="4165522" y="804362"/>
            <a:ext cx="393056" cy="584775"/>
          </a:xfrm>
          <a:prstGeom prst="rect">
            <a:avLst/>
          </a:prstGeom>
          <a:noFill/>
        </p:spPr>
        <p:txBody>
          <a:bodyPr wrap="none" rtlCol="0">
            <a:spAutoFit/>
          </a:bodyPr>
          <a:lstStyle/>
          <a:p>
            <a:r>
              <a:rPr lang="en-US" sz="3200" dirty="0"/>
              <a:t>0</a:t>
            </a:r>
          </a:p>
        </p:txBody>
      </p:sp>
      <p:sp>
        <p:nvSpPr>
          <p:cNvPr id="85" name="TextBox 84">
            <a:extLst>
              <a:ext uri="{FF2B5EF4-FFF2-40B4-BE49-F238E27FC236}">
                <a16:creationId xmlns:a16="http://schemas.microsoft.com/office/drawing/2014/main" id="{6E5B76C3-F794-AF4C-8FEF-22CC87567A29}"/>
              </a:ext>
            </a:extLst>
          </p:cNvPr>
          <p:cNvSpPr txBox="1"/>
          <p:nvPr/>
        </p:nvSpPr>
        <p:spPr>
          <a:xfrm>
            <a:off x="4866730" y="804362"/>
            <a:ext cx="393056" cy="584775"/>
          </a:xfrm>
          <a:prstGeom prst="rect">
            <a:avLst/>
          </a:prstGeom>
          <a:noFill/>
        </p:spPr>
        <p:txBody>
          <a:bodyPr wrap="none" rtlCol="0">
            <a:spAutoFit/>
          </a:bodyPr>
          <a:lstStyle/>
          <a:p>
            <a:r>
              <a:rPr lang="en-US" sz="3200" dirty="0"/>
              <a:t>1</a:t>
            </a:r>
          </a:p>
        </p:txBody>
      </p:sp>
      <p:sp>
        <p:nvSpPr>
          <p:cNvPr id="86" name="TextBox 85">
            <a:extLst>
              <a:ext uri="{FF2B5EF4-FFF2-40B4-BE49-F238E27FC236}">
                <a16:creationId xmlns:a16="http://schemas.microsoft.com/office/drawing/2014/main" id="{267AC9D1-9F87-0448-A5F8-6C53093A01AB}"/>
              </a:ext>
            </a:extLst>
          </p:cNvPr>
          <p:cNvSpPr txBox="1"/>
          <p:nvPr/>
        </p:nvSpPr>
        <p:spPr>
          <a:xfrm>
            <a:off x="5567938" y="804362"/>
            <a:ext cx="393056" cy="584775"/>
          </a:xfrm>
          <a:prstGeom prst="rect">
            <a:avLst/>
          </a:prstGeom>
          <a:noFill/>
        </p:spPr>
        <p:txBody>
          <a:bodyPr wrap="none" rtlCol="0">
            <a:spAutoFit/>
          </a:bodyPr>
          <a:lstStyle/>
          <a:p>
            <a:r>
              <a:rPr lang="en-US" sz="3200" dirty="0"/>
              <a:t>0</a:t>
            </a:r>
          </a:p>
        </p:txBody>
      </p:sp>
      <p:sp>
        <p:nvSpPr>
          <p:cNvPr id="87" name="TextBox 86">
            <a:extLst>
              <a:ext uri="{FF2B5EF4-FFF2-40B4-BE49-F238E27FC236}">
                <a16:creationId xmlns:a16="http://schemas.microsoft.com/office/drawing/2014/main" id="{6A30ABE8-D8A7-CE46-A1D9-98DBBF24B4B1}"/>
              </a:ext>
            </a:extLst>
          </p:cNvPr>
          <p:cNvSpPr txBox="1"/>
          <p:nvPr/>
        </p:nvSpPr>
        <p:spPr>
          <a:xfrm>
            <a:off x="6269146" y="804362"/>
            <a:ext cx="393056" cy="584775"/>
          </a:xfrm>
          <a:prstGeom prst="rect">
            <a:avLst/>
          </a:prstGeom>
          <a:noFill/>
        </p:spPr>
        <p:txBody>
          <a:bodyPr wrap="none" rtlCol="0">
            <a:spAutoFit/>
          </a:bodyPr>
          <a:lstStyle/>
          <a:p>
            <a:r>
              <a:rPr lang="en-US" sz="3200" dirty="0"/>
              <a:t>0</a:t>
            </a:r>
          </a:p>
        </p:txBody>
      </p:sp>
      <p:sp>
        <p:nvSpPr>
          <p:cNvPr id="88" name="TextBox 87">
            <a:extLst>
              <a:ext uri="{FF2B5EF4-FFF2-40B4-BE49-F238E27FC236}">
                <a16:creationId xmlns:a16="http://schemas.microsoft.com/office/drawing/2014/main" id="{7871126A-02F6-3A46-8028-480965D8FFB2}"/>
              </a:ext>
            </a:extLst>
          </p:cNvPr>
          <p:cNvSpPr txBox="1"/>
          <p:nvPr/>
        </p:nvSpPr>
        <p:spPr>
          <a:xfrm>
            <a:off x="6970354" y="804362"/>
            <a:ext cx="393056" cy="584775"/>
          </a:xfrm>
          <a:prstGeom prst="rect">
            <a:avLst/>
          </a:prstGeom>
          <a:noFill/>
        </p:spPr>
        <p:txBody>
          <a:bodyPr wrap="none" rtlCol="0">
            <a:spAutoFit/>
          </a:bodyPr>
          <a:lstStyle/>
          <a:p>
            <a:r>
              <a:rPr lang="en-US" sz="3200" dirty="0"/>
              <a:t>1</a:t>
            </a:r>
          </a:p>
        </p:txBody>
      </p:sp>
      <p:sp>
        <p:nvSpPr>
          <p:cNvPr id="89" name="TextBox 88">
            <a:extLst>
              <a:ext uri="{FF2B5EF4-FFF2-40B4-BE49-F238E27FC236}">
                <a16:creationId xmlns:a16="http://schemas.microsoft.com/office/drawing/2014/main" id="{84716F06-DDDF-334C-83DD-A9C5245D2103}"/>
              </a:ext>
            </a:extLst>
          </p:cNvPr>
          <p:cNvSpPr txBox="1"/>
          <p:nvPr/>
        </p:nvSpPr>
        <p:spPr>
          <a:xfrm>
            <a:off x="7671562" y="804362"/>
            <a:ext cx="393056" cy="584775"/>
          </a:xfrm>
          <a:prstGeom prst="rect">
            <a:avLst/>
          </a:prstGeom>
          <a:noFill/>
        </p:spPr>
        <p:txBody>
          <a:bodyPr wrap="none" rtlCol="0">
            <a:spAutoFit/>
          </a:bodyPr>
          <a:lstStyle/>
          <a:p>
            <a:r>
              <a:rPr lang="en-US" sz="3200" dirty="0"/>
              <a:t>1</a:t>
            </a:r>
          </a:p>
        </p:txBody>
      </p:sp>
      <p:sp>
        <p:nvSpPr>
          <p:cNvPr id="90" name="TextBox 89">
            <a:extLst>
              <a:ext uri="{FF2B5EF4-FFF2-40B4-BE49-F238E27FC236}">
                <a16:creationId xmlns:a16="http://schemas.microsoft.com/office/drawing/2014/main" id="{BEFC0D3D-F14F-1D49-9036-D7E1891CC2C2}"/>
              </a:ext>
            </a:extLst>
          </p:cNvPr>
          <p:cNvSpPr txBox="1"/>
          <p:nvPr/>
        </p:nvSpPr>
        <p:spPr>
          <a:xfrm>
            <a:off x="8372770" y="804362"/>
            <a:ext cx="393056" cy="584775"/>
          </a:xfrm>
          <a:prstGeom prst="rect">
            <a:avLst/>
          </a:prstGeom>
          <a:noFill/>
        </p:spPr>
        <p:txBody>
          <a:bodyPr wrap="none" rtlCol="0">
            <a:spAutoFit/>
          </a:bodyPr>
          <a:lstStyle/>
          <a:p>
            <a:r>
              <a:rPr lang="en-US" sz="3200" dirty="0"/>
              <a:t>0</a:t>
            </a:r>
          </a:p>
        </p:txBody>
      </p:sp>
      <p:sp>
        <p:nvSpPr>
          <p:cNvPr id="99" name="TextBox 98">
            <a:extLst>
              <a:ext uri="{FF2B5EF4-FFF2-40B4-BE49-F238E27FC236}">
                <a16:creationId xmlns:a16="http://schemas.microsoft.com/office/drawing/2014/main" id="{3AB008AE-AABA-4149-A9ED-AEC623D931E0}"/>
              </a:ext>
            </a:extLst>
          </p:cNvPr>
          <p:cNvSpPr txBox="1"/>
          <p:nvPr/>
        </p:nvSpPr>
        <p:spPr>
          <a:xfrm>
            <a:off x="1669402" y="865360"/>
            <a:ext cx="1464696" cy="461665"/>
          </a:xfrm>
          <a:prstGeom prst="rect">
            <a:avLst/>
          </a:prstGeom>
          <a:noFill/>
        </p:spPr>
        <p:txBody>
          <a:bodyPr wrap="none" rtlCol="0">
            <a:spAutoFit/>
          </a:bodyPr>
          <a:lstStyle/>
          <a:p>
            <a:r>
              <a:rPr lang="en-US" sz="2400" dirty="0"/>
              <a:t>binary key</a:t>
            </a:r>
          </a:p>
        </p:txBody>
      </p:sp>
      <p:grpSp>
        <p:nvGrpSpPr>
          <p:cNvPr id="156" name="Group 155">
            <a:extLst>
              <a:ext uri="{FF2B5EF4-FFF2-40B4-BE49-F238E27FC236}">
                <a16:creationId xmlns:a16="http://schemas.microsoft.com/office/drawing/2014/main" id="{AA437990-D038-8A4D-8061-03BB4980171B}"/>
              </a:ext>
            </a:extLst>
          </p:cNvPr>
          <p:cNvGrpSpPr/>
          <p:nvPr/>
        </p:nvGrpSpPr>
        <p:grpSpPr>
          <a:xfrm>
            <a:off x="3435458" y="5205019"/>
            <a:ext cx="6578358" cy="461665"/>
            <a:chOff x="3435458" y="5205019"/>
            <a:chExt cx="6578358" cy="461665"/>
          </a:xfrm>
        </p:grpSpPr>
        <p:sp>
          <p:nvSpPr>
            <p:cNvPr id="103" name="TextBox 102">
              <a:extLst>
                <a:ext uri="{FF2B5EF4-FFF2-40B4-BE49-F238E27FC236}">
                  <a16:creationId xmlns:a16="http://schemas.microsoft.com/office/drawing/2014/main" id="{241AEF84-316D-B942-A4DF-6FC8C8963EDB}"/>
                </a:ext>
              </a:extLst>
            </p:cNvPr>
            <p:cNvSpPr txBox="1"/>
            <p:nvPr/>
          </p:nvSpPr>
          <p:spPr>
            <a:xfrm>
              <a:off x="9064517" y="5205019"/>
              <a:ext cx="949299" cy="461665"/>
            </a:xfrm>
            <a:prstGeom prst="rect">
              <a:avLst/>
            </a:prstGeom>
            <a:noFill/>
          </p:spPr>
          <p:txBody>
            <a:bodyPr wrap="none" rtlCol="0">
              <a:spAutoFit/>
            </a:bodyPr>
            <a:lstStyle/>
            <a:p>
              <a:r>
                <a:rPr lang="en-US" sz="2400" dirty="0"/>
                <a:t>sifting</a:t>
              </a:r>
            </a:p>
          </p:txBody>
        </p:sp>
        <p:pic>
          <p:nvPicPr>
            <p:cNvPr id="129" name="Picture 128">
              <a:extLst>
                <a:ext uri="{FF2B5EF4-FFF2-40B4-BE49-F238E27FC236}">
                  <a16:creationId xmlns:a16="http://schemas.microsoft.com/office/drawing/2014/main" id="{79103FDC-9D7C-084F-B27D-E97DEBBB93B1}"/>
                </a:ext>
              </a:extLst>
            </p:cNvPr>
            <p:cNvPicPr>
              <a:picLocks noChangeAspect="1"/>
            </p:cNvPicPr>
            <p:nvPr/>
          </p:nvPicPr>
          <p:blipFill>
            <a:blip r:embed="rId3"/>
            <a:stretch>
              <a:fillRect/>
            </a:stretch>
          </p:blipFill>
          <p:spPr>
            <a:xfrm>
              <a:off x="4212622" y="5245273"/>
              <a:ext cx="396000" cy="396000"/>
            </a:xfrm>
            <a:prstGeom prst="rect">
              <a:avLst/>
            </a:prstGeom>
          </p:spPr>
        </p:pic>
        <p:pic>
          <p:nvPicPr>
            <p:cNvPr id="130" name="Picture 129">
              <a:extLst>
                <a:ext uri="{FF2B5EF4-FFF2-40B4-BE49-F238E27FC236}">
                  <a16:creationId xmlns:a16="http://schemas.microsoft.com/office/drawing/2014/main" id="{8599774B-EAF6-2945-BAED-6C3CEA45395E}"/>
                </a:ext>
              </a:extLst>
            </p:cNvPr>
            <p:cNvPicPr>
              <a:picLocks noChangeAspect="1"/>
            </p:cNvPicPr>
            <p:nvPr/>
          </p:nvPicPr>
          <p:blipFill>
            <a:blip r:embed="rId4"/>
            <a:stretch>
              <a:fillRect/>
            </a:stretch>
          </p:blipFill>
          <p:spPr>
            <a:xfrm>
              <a:off x="3435458" y="5245273"/>
              <a:ext cx="522000" cy="396000"/>
            </a:xfrm>
            <a:prstGeom prst="rect">
              <a:avLst/>
            </a:prstGeom>
          </p:spPr>
        </p:pic>
        <p:pic>
          <p:nvPicPr>
            <p:cNvPr id="131" name="Picture 130">
              <a:extLst>
                <a:ext uri="{FF2B5EF4-FFF2-40B4-BE49-F238E27FC236}">
                  <a16:creationId xmlns:a16="http://schemas.microsoft.com/office/drawing/2014/main" id="{D68AB940-0B34-A946-99ED-7361D088F049}"/>
                </a:ext>
              </a:extLst>
            </p:cNvPr>
            <p:cNvPicPr>
              <a:picLocks noChangeAspect="1"/>
            </p:cNvPicPr>
            <p:nvPr/>
          </p:nvPicPr>
          <p:blipFill>
            <a:blip r:embed="rId3"/>
            <a:stretch>
              <a:fillRect/>
            </a:stretch>
          </p:blipFill>
          <p:spPr>
            <a:xfrm>
              <a:off x="4880826" y="5245273"/>
              <a:ext cx="396000" cy="396000"/>
            </a:xfrm>
            <a:prstGeom prst="rect">
              <a:avLst/>
            </a:prstGeom>
          </p:spPr>
        </p:pic>
        <p:pic>
          <p:nvPicPr>
            <p:cNvPr id="132" name="Picture 131">
              <a:extLst>
                <a:ext uri="{FF2B5EF4-FFF2-40B4-BE49-F238E27FC236}">
                  <a16:creationId xmlns:a16="http://schemas.microsoft.com/office/drawing/2014/main" id="{BF6DA425-1D1A-9643-9DCB-EBD85789BAD7}"/>
                </a:ext>
              </a:extLst>
            </p:cNvPr>
            <p:cNvPicPr>
              <a:picLocks noChangeAspect="1"/>
            </p:cNvPicPr>
            <p:nvPr/>
          </p:nvPicPr>
          <p:blipFill>
            <a:blip r:embed="rId4"/>
            <a:stretch>
              <a:fillRect/>
            </a:stretch>
          </p:blipFill>
          <p:spPr>
            <a:xfrm>
              <a:off x="5566070" y="5245273"/>
              <a:ext cx="522000" cy="396000"/>
            </a:xfrm>
            <a:prstGeom prst="rect">
              <a:avLst/>
            </a:prstGeom>
          </p:spPr>
        </p:pic>
        <p:pic>
          <p:nvPicPr>
            <p:cNvPr id="133" name="Picture 132">
              <a:extLst>
                <a:ext uri="{FF2B5EF4-FFF2-40B4-BE49-F238E27FC236}">
                  <a16:creationId xmlns:a16="http://schemas.microsoft.com/office/drawing/2014/main" id="{95C5A682-7F22-CD41-8B38-F0AA6FFBB941}"/>
                </a:ext>
              </a:extLst>
            </p:cNvPr>
            <p:cNvPicPr>
              <a:picLocks noChangeAspect="1"/>
            </p:cNvPicPr>
            <p:nvPr/>
          </p:nvPicPr>
          <p:blipFill>
            <a:blip r:embed="rId4"/>
            <a:stretch>
              <a:fillRect/>
            </a:stretch>
          </p:blipFill>
          <p:spPr>
            <a:xfrm>
              <a:off x="7720442" y="5245273"/>
              <a:ext cx="522000" cy="396000"/>
            </a:xfrm>
            <a:prstGeom prst="rect">
              <a:avLst/>
            </a:prstGeom>
          </p:spPr>
        </p:pic>
        <p:pic>
          <p:nvPicPr>
            <p:cNvPr id="134" name="Picture 133">
              <a:extLst>
                <a:ext uri="{FF2B5EF4-FFF2-40B4-BE49-F238E27FC236}">
                  <a16:creationId xmlns:a16="http://schemas.microsoft.com/office/drawing/2014/main" id="{8318D656-4F74-024A-B3DC-E305E761D595}"/>
                </a:ext>
              </a:extLst>
            </p:cNvPr>
            <p:cNvPicPr>
              <a:picLocks noChangeAspect="1"/>
            </p:cNvPicPr>
            <p:nvPr/>
          </p:nvPicPr>
          <p:blipFill>
            <a:blip r:embed="rId4"/>
            <a:stretch>
              <a:fillRect/>
            </a:stretch>
          </p:blipFill>
          <p:spPr>
            <a:xfrm>
              <a:off x="6297794" y="5245273"/>
              <a:ext cx="522000" cy="396000"/>
            </a:xfrm>
            <a:prstGeom prst="rect">
              <a:avLst/>
            </a:prstGeom>
          </p:spPr>
        </p:pic>
        <p:pic>
          <p:nvPicPr>
            <p:cNvPr id="135" name="Picture 134">
              <a:extLst>
                <a:ext uri="{FF2B5EF4-FFF2-40B4-BE49-F238E27FC236}">
                  <a16:creationId xmlns:a16="http://schemas.microsoft.com/office/drawing/2014/main" id="{8EEFF7FD-F95E-B14E-BAEF-A8DD4F4CCD8F}"/>
                </a:ext>
              </a:extLst>
            </p:cNvPr>
            <p:cNvPicPr>
              <a:picLocks noChangeAspect="1"/>
            </p:cNvPicPr>
            <p:nvPr/>
          </p:nvPicPr>
          <p:blipFill>
            <a:blip r:embed="rId3"/>
            <a:stretch>
              <a:fillRect/>
            </a:stretch>
          </p:blipFill>
          <p:spPr>
            <a:xfrm>
              <a:off x="7046558" y="5245273"/>
              <a:ext cx="396000" cy="396000"/>
            </a:xfrm>
            <a:prstGeom prst="rect">
              <a:avLst/>
            </a:prstGeom>
          </p:spPr>
        </p:pic>
        <p:pic>
          <p:nvPicPr>
            <p:cNvPr id="136" name="Picture 135">
              <a:extLst>
                <a:ext uri="{FF2B5EF4-FFF2-40B4-BE49-F238E27FC236}">
                  <a16:creationId xmlns:a16="http://schemas.microsoft.com/office/drawing/2014/main" id="{267B67D7-9A89-5E4D-84AF-1AE6CA325E5D}"/>
                </a:ext>
              </a:extLst>
            </p:cNvPr>
            <p:cNvPicPr>
              <a:picLocks noChangeAspect="1"/>
            </p:cNvPicPr>
            <p:nvPr/>
          </p:nvPicPr>
          <p:blipFill>
            <a:blip r:embed="rId3"/>
            <a:stretch>
              <a:fillRect/>
            </a:stretch>
          </p:blipFill>
          <p:spPr>
            <a:xfrm>
              <a:off x="8497607" y="5245273"/>
              <a:ext cx="396000" cy="396000"/>
            </a:xfrm>
            <a:prstGeom prst="rect">
              <a:avLst/>
            </a:prstGeom>
          </p:spPr>
        </p:pic>
      </p:grpSp>
      <p:grpSp>
        <p:nvGrpSpPr>
          <p:cNvPr id="157" name="Group 156">
            <a:extLst>
              <a:ext uri="{FF2B5EF4-FFF2-40B4-BE49-F238E27FC236}">
                <a16:creationId xmlns:a16="http://schemas.microsoft.com/office/drawing/2014/main" id="{98C767E5-AFE1-B44A-AB13-92BEC66CC299}"/>
              </a:ext>
            </a:extLst>
          </p:cNvPr>
          <p:cNvGrpSpPr/>
          <p:nvPr/>
        </p:nvGrpSpPr>
        <p:grpSpPr>
          <a:xfrm>
            <a:off x="3432077" y="5945145"/>
            <a:ext cx="7007368" cy="653813"/>
            <a:chOff x="3432077" y="5945145"/>
            <a:chExt cx="7007368" cy="653813"/>
          </a:xfrm>
        </p:grpSpPr>
        <p:sp>
          <p:nvSpPr>
            <p:cNvPr id="104" name="TextBox 103">
              <a:extLst>
                <a:ext uri="{FF2B5EF4-FFF2-40B4-BE49-F238E27FC236}">
                  <a16:creationId xmlns:a16="http://schemas.microsoft.com/office/drawing/2014/main" id="{4A091370-4F08-5A4C-AC21-A6D919E66789}"/>
                </a:ext>
              </a:extLst>
            </p:cNvPr>
            <p:cNvSpPr txBox="1"/>
            <p:nvPr/>
          </p:nvSpPr>
          <p:spPr>
            <a:xfrm>
              <a:off x="9064517" y="6075738"/>
              <a:ext cx="1374928" cy="461665"/>
            </a:xfrm>
            <a:prstGeom prst="rect">
              <a:avLst/>
            </a:prstGeom>
            <a:noFill/>
          </p:spPr>
          <p:txBody>
            <a:bodyPr wrap="none" rtlCol="0">
              <a:spAutoFit/>
            </a:bodyPr>
            <a:lstStyle/>
            <a:p>
              <a:r>
                <a:rPr lang="en-US" sz="2400" dirty="0"/>
                <a:t>sifted key</a:t>
              </a:r>
            </a:p>
          </p:txBody>
        </p:sp>
        <p:cxnSp>
          <p:nvCxnSpPr>
            <p:cNvPr id="119" name="Straight Connector 118">
              <a:extLst>
                <a:ext uri="{FF2B5EF4-FFF2-40B4-BE49-F238E27FC236}">
                  <a16:creationId xmlns:a16="http://schemas.microsoft.com/office/drawing/2014/main" id="{C7C4BD47-436F-8D44-83FA-50F6C341EDC9}"/>
                </a:ext>
              </a:extLst>
            </p:cNvPr>
            <p:cNvCxnSpPr>
              <a:cxnSpLocks/>
            </p:cNvCxnSpPr>
            <p:nvPr/>
          </p:nvCxnSpPr>
          <p:spPr>
            <a:xfrm>
              <a:off x="3432077" y="5945145"/>
              <a:ext cx="5600670" cy="8848"/>
            </a:xfrm>
            <a:prstGeom prst="line">
              <a:avLst/>
            </a:prstGeom>
            <a:ln w="12700" cmpd="sng">
              <a:prstDash val="solid"/>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CA81D9AD-9014-5049-A13D-4B7A540EF193}"/>
                </a:ext>
              </a:extLst>
            </p:cNvPr>
            <p:cNvSpPr txBox="1"/>
            <p:nvPr/>
          </p:nvSpPr>
          <p:spPr>
            <a:xfrm>
              <a:off x="3464314" y="6014183"/>
              <a:ext cx="393056" cy="584775"/>
            </a:xfrm>
            <a:prstGeom prst="rect">
              <a:avLst/>
            </a:prstGeom>
            <a:solidFill>
              <a:schemeClr val="bg1">
                <a:lumMod val="95000"/>
              </a:schemeClr>
            </a:solidFill>
          </p:spPr>
          <p:txBody>
            <a:bodyPr wrap="none" rtlCol="0">
              <a:spAutoFit/>
            </a:bodyPr>
            <a:lstStyle/>
            <a:p>
              <a:r>
                <a:rPr lang="en-US" sz="3200" dirty="0"/>
                <a:t>1</a:t>
              </a:r>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34A98F27-5435-3C4C-821B-0DD67D185639}"/>
                    </a:ext>
                  </a:extLst>
                </p:cNvPr>
                <p:cNvSpPr txBox="1"/>
                <p:nvPr/>
              </p:nvSpPr>
              <p:spPr>
                <a:xfrm>
                  <a:off x="4104137" y="6014183"/>
                  <a:ext cx="583813"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en-US" sz="3200" dirty="0"/>
                </a:p>
              </p:txBody>
            </p:sp>
          </mc:Choice>
          <mc:Fallback xmlns="">
            <p:sp>
              <p:nvSpPr>
                <p:cNvPr id="138" name="TextBox 137">
                  <a:extLst>
                    <a:ext uri="{FF2B5EF4-FFF2-40B4-BE49-F238E27FC236}">
                      <a16:creationId xmlns:a16="http://schemas.microsoft.com/office/drawing/2014/main" id="{34A98F27-5435-3C4C-821B-0DD67D185639}"/>
                    </a:ext>
                  </a:extLst>
                </p:cNvPr>
                <p:cNvSpPr txBox="1">
                  <a:spLocks noRot="1" noChangeAspect="1" noMove="1" noResize="1" noEditPoints="1" noAdjustHandles="1" noChangeArrowheads="1" noChangeShapeType="1" noTextEdit="1"/>
                </p:cNvSpPr>
                <p:nvPr/>
              </p:nvSpPr>
              <p:spPr>
                <a:xfrm>
                  <a:off x="4104137" y="6014183"/>
                  <a:ext cx="583813" cy="58477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E03D432B-466D-F148-8CCD-B6B9557C90FA}"/>
                    </a:ext>
                  </a:extLst>
                </p:cNvPr>
                <p:cNvSpPr txBox="1"/>
                <p:nvPr/>
              </p:nvSpPr>
              <p:spPr>
                <a:xfrm>
                  <a:off x="4793116" y="6014183"/>
                  <a:ext cx="583813"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en-US" sz="3200" dirty="0"/>
                </a:p>
              </p:txBody>
            </p:sp>
          </mc:Choice>
          <mc:Fallback xmlns="">
            <p:sp>
              <p:nvSpPr>
                <p:cNvPr id="139" name="TextBox 138">
                  <a:extLst>
                    <a:ext uri="{FF2B5EF4-FFF2-40B4-BE49-F238E27FC236}">
                      <a16:creationId xmlns:a16="http://schemas.microsoft.com/office/drawing/2014/main" id="{E03D432B-466D-F148-8CCD-B6B9557C90FA}"/>
                    </a:ext>
                  </a:extLst>
                </p:cNvPr>
                <p:cNvSpPr txBox="1">
                  <a:spLocks noRot="1" noChangeAspect="1" noMove="1" noResize="1" noEditPoints="1" noAdjustHandles="1" noChangeArrowheads="1" noChangeShapeType="1" noTextEdit="1"/>
                </p:cNvSpPr>
                <p:nvPr/>
              </p:nvSpPr>
              <p:spPr>
                <a:xfrm>
                  <a:off x="4793116" y="6014183"/>
                  <a:ext cx="583813" cy="584775"/>
                </a:xfrm>
                <a:prstGeom prst="rect">
                  <a:avLst/>
                </a:prstGeom>
                <a:blipFill>
                  <a:blip r:embed="rId8"/>
                  <a:stretch>
                    <a:fillRect/>
                  </a:stretch>
                </a:blipFill>
              </p:spPr>
              <p:txBody>
                <a:bodyPr/>
                <a:lstStyle/>
                <a:p>
                  <a:r>
                    <a:rPr lang="en-US">
                      <a:noFill/>
                    </a:rPr>
                    <a:t> </a:t>
                  </a:r>
                </a:p>
              </p:txBody>
            </p:sp>
          </mc:Fallback>
        </mc:AlternateContent>
        <p:sp>
          <p:nvSpPr>
            <p:cNvPr id="140" name="TextBox 139">
              <a:extLst>
                <a:ext uri="{FF2B5EF4-FFF2-40B4-BE49-F238E27FC236}">
                  <a16:creationId xmlns:a16="http://schemas.microsoft.com/office/drawing/2014/main" id="{709B59D7-C716-534A-8622-7F6AFF54DDFA}"/>
                </a:ext>
              </a:extLst>
            </p:cNvPr>
            <p:cNvSpPr txBox="1"/>
            <p:nvPr/>
          </p:nvSpPr>
          <p:spPr>
            <a:xfrm>
              <a:off x="5611938" y="6014183"/>
              <a:ext cx="393056" cy="584775"/>
            </a:xfrm>
            <a:prstGeom prst="rect">
              <a:avLst/>
            </a:prstGeom>
            <a:solidFill>
              <a:schemeClr val="bg1">
                <a:lumMod val="95000"/>
              </a:schemeClr>
            </a:solidFill>
          </p:spPr>
          <p:txBody>
            <a:bodyPr wrap="none" rtlCol="0">
              <a:spAutoFit/>
            </a:bodyPr>
            <a:lstStyle/>
            <a:p>
              <a:r>
                <a:rPr lang="en-US" sz="3200" dirty="0"/>
                <a:t>0</a:t>
              </a:r>
            </a:p>
          </p:txBody>
        </p:sp>
        <p:sp>
          <p:nvSpPr>
            <p:cNvPr id="141" name="TextBox 140">
              <a:extLst>
                <a:ext uri="{FF2B5EF4-FFF2-40B4-BE49-F238E27FC236}">
                  <a16:creationId xmlns:a16="http://schemas.microsoft.com/office/drawing/2014/main" id="{D4278E8C-FA54-7E42-ACEB-EEA2DAE69AFB}"/>
                </a:ext>
              </a:extLst>
            </p:cNvPr>
            <p:cNvSpPr txBox="1"/>
            <p:nvPr/>
          </p:nvSpPr>
          <p:spPr>
            <a:xfrm>
              <a:off x="6312666" y="6014183"/>
              <a:ext cx="393056" cy="584775"/>
            </a:xfrm>
            <a:prstGeom prst="rect">
              <a:avLst/>
            </a:prstGeom>
            <a:solidFill>
              <a:schemeClr val="bg1">
                <a:lumMod val="95000"/>
              </a:schemeClr>
            </a:solidFill>
          </p:spPr>
          <p:txBody>
            <a:bodyPr wrap="none" rtlCol="0">
              <a:spAutoFit/>
            </a:bodyPr>
            <a:lstStyle/>
            <a:p>
              <a:r>
                <a:rPr lang="en-US" sz="3200" dirty="0"/>
                <a:t>0</a:t>
              </a:r>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2D1A4318-3AC8-8448-A783-FF64AD4CE76A}"/>
                    </a:ext>
                  </a:extLst>
                </p:cNvPr>
                <p:cNvSpPr txBox="1"/>
                <p:nvPr/>
              </p:nvSpPr>
              <p:spPr>
                <a:xfrm>
                  <a:off x="6941958" y="6014183"/>
                  <a:ext cx="583813"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en-US" sz="3200" dirty="0"/>
                </a:p>
              </p:txBody>
            </p:sp>
          </mc:Choice>
          <mc:Fallback xmlns="">
            <p:sp>
              <p:nvSpPr>
                <p:cNvPr id="142" name="TextBox 141">
                  <a:extLst>
                    <a:ext uri="{FF2B5EF4-FFF2-40B4-BE49-F238E27FC236}">
                      <a16:creationId xmlns:a16="http://schemas.microsoft.com/office/drawing/2014/main" id="{2D1A4318-3AC8-8448-A783-FF64AD4CE76A}"/>
                    </a:ext>
                  </a:extLst>
                </p:cNvPr>
                <p:cNvSpPr txBox="1">
                  <a:spLocks noRot="1" noChangeAspect="1" noMove="1" noResize="1" noEditPoints="1" noAdjustHandles="1" noChangeArrowheads="1" noChangeShapeType="1" noTextEdit="1"/>
                </p:cNvSpPr>
                <p:nvPr/>
              </p:nvSpPr>
              <p:spPr>
                <a:xfrm>
                  <a:off x="6941958" y="6014183"/>
                  <a:ext cx="583813" cy="584775"/>
                </a:xfrm>
                <a:prstGeom prst="rect">
                  <a:avLst/>
                </a:prstGeom>
                <a:blipFill>
                  <a:blip r:embed="rId9"/>
                  <a:stretch>
                    <a:fillRect/>
                  </a:stretch>
                </a:blipFill>
              </p:spPr>
              <p:txBody>
                <a:bodyPr/>
                <a:lstStyle/>
                <a:p>
                  <a:r>
                    <a:rPr lang="en-US">
                      <a:noFill/>
                    </a:rPr>
                    <a:t> </a:t>
                  </a:r>
                </a:p>
              </p:txBody>
            </p:sp>
          </mc:Fallback>
        </mc:AlternateContent>
        <p:sp>
          <p:nvSpPr>
            <p:cNvPr id="143" name="TextBox 142">
              <a:extLst>
                <a:ext uri="{FF2B5EF4-FFF2-40B4-BE49-F238E27FC236}">
                  <a16:creationId xmlns:a16="http://schemas.microsoft.com/office/drawing/2014/main" id="{5B729DB2-DACF-0244-AFA2-1423487B41D1}"/>
                </a:ext>
              </a:extLst>
            </p:cNvPr>
            <p:cNvSpPr txBox="1"/>
            <p:nvPr/>
          </p:nvSpPr>
          <p:spPr>
            <a:xfrm>
              <a:off x="7736842" y="6014183"/>
              <a:ext cx="393056" cy="584775"/>
            </a:xfrm>
            <a:prstGeom prst="rect">
              <a:avLst/>
            </a:prstGeom>
            <a:solidFill>
              <a:schemeClr val="bg1">
                <a:lumMod val="95000"/>
              </a:schemeClr>
            </a:solidFill>
          </p:spPr>
          <p:txBody>
            <a:bodyPr wrap="none" rtlCol="0">
              <a:spAutoFit/>
            </a:bodyPr>
            <a:lstStyle/>
            <a:p>
              <a:r>
                <a:rPr lang="en-US" sz="3200" dirty="0"/>
                <a:t>1</a:t>
              </a:r>
            </a:p>
          </p:txBody>
        </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156AAEAF-51F1-F74F-B534-74029C2981EA}"/>
                    </a:ext>
                  </a:extLst>
                </p:cNvPr>
                <p:cNvSpPr txBox="1"/>
                <p:nvPr/>
              </p:nvSpPr>
              <p:spPr>
                <a:xfrm>
                  <a:off x="8448934" y="6014183"/>
                  <a:ext cx="583813"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m:t>
                        </m:r>
                      </m:oMath>
                    </m:oMathPara>
                  </a14:m>
                  <a:endParaRPr lang="en-US" sz="3200" dirty="0"/>
                </a:p>
              </p:txBody>
            </p:sp>
          </mc:Choice>
          <mc:Fallback xmlns="">
            <p:sp>
              <p:nvSpPr>
                <p:cNvPr id="144" name="TextBox 143">
                  <a:extLst>
                    <a:ext uri="{FF2B5EF4-FFF2-40B4-BE49-F238E27FC236}">
                      <a16:creationId xmlns:a16="http://schemas.microsoft.com/office/drawing/2014/main" id="{156AAEAF-51F1-F74F-B534-74029C2981EA}"/>
                    </a:ext>
                  </a:extLst>
                </p:cNvPr>
                <p:cNvSpPr txBox="1">
                  <a:spLocks noRot="1" noChangeAspect="1" noMove="1" noResize="1" noEditPoints="1" noAdjustHandles="1" noChangeArrowheads="1" noChangeShapeType="1" noTextEdit="1"/>
                </p:cNvSpPr>
                <p:nvPr/>
              </p:nvSpPr>
              <p:spPr>
                <a:xfrm>
                  <a:off x="8448934" y="6014183"/>
                  <a:ext cx="583813" cy="584775"/>
                </a:xfrm>
                <a:prstGeom prst="rect">
                  <a:avLst/>
                </a:prstGeom>
                <a:blipFill>
                  <a:blip r:embed="rId8"/>
                  <a:stretch>
                    <a:fillRect/>
                  </a:stretch>
                </a:blipFill>
              </p:spPr>
              <p:txBody>
                <a:bodyPr/>
                <a:lstStyle/>
                <a:p>
                  <a:r>
                    <a:rPr lang="en-US">
                      <a:noFill/>
                    </a:rPr>
                    <a:t> </a:t>
                  </a:r>
                </a:p>
              </p:txBody>
            </p:sp>
          </mc:Fallback>
        </mc:AlternateContent>
      </p:grpSp>
      <p:cxnSp>
        <p:nvCxnSpPr>
          <p:cNvPr id="145" name="Straight Connector 144">
            <a:extLst>
              <a:ext uri="{FF2B5EF4-FFF2-40B4-BE49-F238E27FC236}">
                <a16:creationId xmlns:a16="http://schemas.microsoft.com/office/drawing/2014/main" id="{2C2C6841-CC28-424F-9CFE-D4A086EEE83B}"/>
              </a:ext>
            </a:extLst>
          </p:cNvPr>
          <p:cNvCxnSpPr>
            <a:cxnSpLocks/>
          </p:cNvCxnSpPr>
          <p:nvPr/>
        </p:nvCxnSpPr>
        <p:spPr>
          <a:xfrm flipH="1">
            <a:off x="9036122" y="3251022"/>
            <a:ext cx="0" cy="3347936"/>
          </a:xfrm>
          <a:prstGeom prst="line">
            <a:avLst/>
          </a:prstGeom>
          <a:ln w="12700" cmpd="sng">
            <a:prstDash val="solid"/>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6A1CD11-BDC1-DA46-9477-19D3F959B5FF}"/>
              </a:ext>
            </a:extLst>
          </p:cNvPr>
          <p:cNvGrpSpPr/>
          <p:nvPr/>
        </p:nvGrpSpPr>
        <p:grpSpPr>
          <a:xfrm>
            <a:off x="2517974" y="1083387"/>
            <a:ext cx="8052533" cy="4095414"/>
            <a:chOff x="2517974" y="1083387"/>
            <a:chExt cx="8052533" cy="4095414"/>
          </a:xfrm>
        </p:grpSpPr>
        <p:grpSp>
          <p:nvGrpSpPr>
            <p:cNvPr id="154" name="Group 153">
              <a:extLst>
                <a:ext uri="{FF2B5EF4-FFF2-40B4-BE49-F238E27FC236}">
                  <a16:creationId xmlns:a16="http://schemas.microsoft.com/office/drawing/2014/main" id="{F9610FE8-FBCB-ED45-8F1A-414D06B11ED9}"/>
                </a:ext>
              </a:extLst>
            </p:cNvPr>
            <p:cNvGrpSpPr/>
            <p:nvPr/>
          </p:nvGrpSpPr>
          <p:grpSpPr>
            <a:xfrm>
              <a:off x="3470140" y="4594026"/>
              <a:ext cx="6735010" cy="584775"/>
              <a:chOff x="3470140" y="4594026"/>
              <a:chExt cx="6735010" cy="584775"/>
            </a:xfrm>
          </p:grpSpPr>
          <p:sp>
            <p:nvSpPr>
              <p:cNvPr id="61" name="TextBox 60">
                <a:extLst>
                  <a:ext uri="{FF2B5EF4-FFF2-40B4-BE49-F238E27FC236}">
                    <a16:creationId xmlns:a16="http://schemas.microsoft.com/office/drawing/2014/main" id="{9FDC1639-7376-B149-956F-D48FB84A1EC0}"/>
                  </a:ext>
                </a:extLst>
              </p:cNvPr>
              <p:cNvSpPr txBox="1"/>
              <p:nvPr/>
            </p:nvSpPr>
            <p:spPr>
              <a:xfrm>
                <a:off x="3470140" y="4594026"/>
                <a:ext cx="393056" cy="584775"/>
              </a:xfrm>
              <a:prstGeom prst="rect">
                <a:avLst/>
              </a:prstGeom>
              <a:noFill/>
            </p:spPr>
            <p:txBody>
              <a:bodyPr wrap="none" rtlCol="0">
                <a:spAutoFit/>
              </a:bodyPr>
              <a:lstStyle/>
              <a:p>
                <a:r>
                  <a:rPr lang="en-US" sz="3200" dirty="0"/>
                  <a:t>1</a:t>
                </a:r>
              </a:p>
            </p:txBody>
          </p:sp>
          <p:sp>
            <p:nvSpPr>
              <p:cNvPr id="62" name="TextBox 61">
                <a:extLst>
                  <a:ext uri="{FF2B5EF4-FFF2-40B4-BE49-F238E27FC236}">
                    <a16:creationId xmlns:a16="http://schemas.microsoft.com/office/drawing/2014/main" id="{67067467-BB4E-3D4F-ADB4-D7DC764FBE3F}"/>
                  </a:ext>
                </a:extLst>
              </p:cNvPr>
              <p:cNvSpPr txBox="1"/>
              <p:nvPr/>
            </p:nvSpPr>
            <p:spPr>
              <a:xfrm>
                <a:off x="4182228" y="4594026"/>
                <a:ext cx="393056" cy="584775"/>
              </a:xfrm>
              <a:prstGeom prst="rect">
                <a:avLst/>
              </a:prstGeom>
              <a:noFill/>
            </p:spPr>
            <p:txBody>
              <a:bodyPr wrap="none" rtlCol="0">
                <a:spAutoFit/>
              </a:bodyPr>
              <a:lstStyle/>
              <a:p>
                <a:r>
                  <a:rPr lang="en-US" sz="3200" dirty="0"/>
                  <a:t>0</a:t>
                </a:r>
              </a:p>
            </p:txBody>
          </p:sp>
          <p:sp>
            <p:nvSpPr>
              <p:cNvPr id="63" name="TextBox 62">
                <a:extLst>
                  <a:ext uri="{FF2B5EF4-FFF2-40B4-BE49-F238E27FC236}">
                    <a16:creationId xmlns:a16="http://schemas.microsoft.com/office/drawing/2014/main" id="{9E45F5CA-C3F8-D840-8F26-CCCEE16E537A}"/>
                  </a:ext>
                </a:extLst>
              </p:cNvPr>
              <p:cNvSpPr txBox="1"/>
              <p:nvPr/>
            </p:nvSpPr>
            <p:spPr>
              <a:xfrm>
                <a:off x="4894316" y="4594026"/>
                <a:ext cx="393056" cy="584775"/>
              </a:xfrm>
              <a:prstGeom prst="rect">
                <a:avLst/>
              </a:prstGeom>
              <a:noFill/>
            </p:spPr>
            <p:txBody>
              <a:bodyPr wrap="none" rtlCol="0">
                <a:spAutoFit/>
              </a:bodyPr>
              <a:lstStyle/>
              <a:p>
                <a:r>
                  <a:rPr lang="en-US" sz="3200" dirty="0"/>
                  <a:t>0</a:t>
                </a:r>
              </a:p>
            </p:txBody>
          </p:sp>
          <p:sp>
            <p:nvSpPr>
              <p:cNvPr id="64" name="TextBox 63">
                <a:extLst>
                  <a:ext uri="{FF2B5EF4-FFF2-40B4-BE49-F238E27FC236}">
                    <a16:creationId xmlns:a16="http://schemas.microsoft.com/office/drawing/2014/main" id="{2C467316-0231-BD4D-B65F-F79571FF1477}"/>
                  </a:ext>
                </a:extLst>
              </p:cNvPr>
              <p:cNvSpPr txBox="1"/>
              <p:nvPr/>
            </p:nvSpPr>
            <p:spPr>
              <a:xfrm>
                <a:off x="5606404" y="4594026"/>
                <a:ext cx="393056" cy="584775"/>
              </a:xfrm>
              <a:prstGeom prst="rect">
                <a:avLst/>
              </a:prstGeom>
              <a:noFill/>
            </p:spPr>
            <p:txBody>
              <a:bodyPr wrap="none" rtlCol="0">
                <a:spAutoFit/>
              </a:bodyPr>
              <a:lstStyle/>
              <a:p>
                <a:r>
                  <a:rPr lang="en-US" sz="3200" dirty="0"/>
                  <a:t>0</a:t>
                </a:r>
              </a:p>
            </p:txBody>
          </p:sp>
          <p:sp>
            <p:nvSpPr>
              <p:cNvPr id="65" name="TextBox 64">
                <a:extLst>
                  <a:ext uri="{FF2B5EF4-FFF2-40B4-BE49-F238E27FC236}">
                    <a16:creationId xmlns:a16="http://schemas.microsoft.com/office/drawing/2014/main" id="{188494CB-7A64-E349-B006-9271329D9854}"/>
                  </a:ext>
                </a:extLst>
              </p:cNvPr>
              <p:cNvSpPr txBox="1"/>
              <p:nvPr/>
            </p:nvSpPr>
            <p:spPr>
              <a:xfrm>
                <a:off x="6318492" y="4594026"/>
                <a:ext cx="393056" cy="584775"/>
              </a:xfrm>
              <a:prstGeom prst="rect">
                <a:avLst/>
              </a:prstGeom>
              <a:noFill/>
            </p:spPr>
            <p:txBody>
              <a:bodyPr wrap="none" rtlCol="0">
                <a:spAutoFit/>
              </a:bodyPr>
              <a:lstStyle/>
              <a:p>
                <a:r>
                  <a:rPr lang="en-US" sz="3200" dirty="0"/>
                  <a:t>0</a:t>
                </a:r>
              </a:p>
            </p:txBody>
          </p:sp>
          <p:sp>
            <p:nvSpPr>
              <p:cNvPr id="66" name="TextBox 65">
                <a:extLst>
                  <a:ext uri="{FF2B5EF4-FFF2-40B4-BE49-F238E27FC236}">
                    <a16:creationId xmlns:a16="http://schemas.microsoft.com/office/drawing/2014/main" id="{6E83225E-2A65-9F48-9114-7E4B11BE9976}"/>
                  </a:ext>
                </a:extLst>
              </p:cNvPr>
              <p:cNvSpPr txBox="1"/>
              <p:nvPr/>
            </p:nvSpPr>
            <p:spPr>
              <a:xfrm>
                <a:off x="7030580" y="4594026"/>
                <a:ext cx="393056" cy="584775"/>
              </a:xfrm>
              <a:prstGeom prst="rect">
                <a:avLst/>
              </a:prstGeom>
              <a:noFill/>
            </p:spPr>
            <p:txBody>
              <a:bodyPr wrap="none" rtlCol="0">
                <a:spAutoFit/>
              </a:bodyPr>
              <a:lstStyle/>
              <a:p>
                <a:r>
                  <a:rPr lang="en-US" sz="3200" dirty="0"/>
                  <a:t>1</a:t>
                </a:r>
              </a:p>
            </p:txBody>
          </p:sp>
          <p:sp>
            <p:nvSpPr>
              <p:cNvPr id="67" name="TextBox 66">
                <a:extLst>
                  <a:ext uri="{FF2B5EF4-FFF2-40B4-BE49-F238E27FC236}">
                    <a16:creationId xmlns:a16="http://schemas.microsoft.com/office/drawing/2014/main" id="{406F5D24-E121-EE48-8FD1-F0AC05A85E72}"/>
                  </a:ext>
                </a:extLst>
              </p:cNvPr>
              <p:cNvSpPr txBox="1"/>
              <p:nvPr/>
            </p:nvSpPr>
            <p:spPr>
              <a:xfrm>
                <a:off x="7742668" y="4594026"/>
                <a:ext cx="393056" cy="584775"/>
              </a:xfrm>
              <a:prstGeom prst="rect">
                <a:avLst/>
              </a:prstGeom>
              <a:noFill/>
            </p:spPr>
            <p:txBody>
              <a:bodyPr wrap="none" rtlCol="0">
                <a:spAutoFit/>
              </a:bodyPr>
              <a:lstStyle/>
              <a:p>
                <a:r>
                  <a:rPr lang="en-US" sz="3200" dirty="0"/>
                  <a:t>1</a:t>
                </a:r>
              </a:p>
            </p:txBody>
          </p:sp>
          <p:sp>
            <p:nvSpPr>
              <p:cNvPr id="68" name="TextBox 67">
                <a:extLst>
                  <a:ext uri="{FF2B5EF4-FFF2-40B4-BE49-F238E27FC236}">
                    <a16:creationId xmlns:a16="http://schemas.microsoft.com/office/drawing/2014/main" id="{57C61388-4C08-694A-B88E-470E62030175}"/>
                  </a:ext>
                </a:extLst>
              </p:cNvPr>
              <p:cNvSpPr txBox="1"/>
              <p:nvPr/>
            </p:nvSpPr>
            <p:spPr>
              <a:xfrm>
                <a:off x="8454756" y="4594026"/>
                <a:ext cx="393056" cy="584775"/>
              </a:xfrm>
              <a:prstGeom prst="rect">
                <a:avLst/>
              </a:prstGeom>
              <a:noFill/>
            </p:spPr>
            <p:txBody>
              <a:bodyPr wrap="none" rtlCol="0">
                <a:spAutoFit/>
              </a:bodyPr>
              <a:lstStyle/>
              <a:p>
                <a:r>
                  <a:rPr lang="en-US" sz="3200" dirty="0"/>
                  <a:t>1</a:t>
                </a:r>
              </a:p>
            </p:txBody>
          </p:sp>
          <p:sp>
            <p:nvSpPr>
              <p:cNvPr id="102" name="TextBox 101">
                <a:extLst>
                  <a:ext uri="{FF2B5EF4-FFF2-40B4-BE49-F238E27FC236}">
                    <a16:creationId xmlns:a16="http://schemas.microsoft.com/office/drawing/2014/main" id="{1F650001-CA2C-DF4E-9C6E-6FA5DD5F27A5}"/>
                  </a:ext>
                </a:extLst>
              </p:cNvPr>
              <p:cNvSpPr txBox="1"/>
              <p:nvPr/>
            </p:nvSpPr>
            <p:spPr>
              <a:xfrm>
                <a:off x="9064517" y="4655581"/>
                <a:ext cx="1140633" cy="461665"/>
              </a:xfrm>
              <a:prstGeom prst="rect">
                <a:avLst/>
              </a:prstGeom>
              <a:noFill/>
            </p:spPr>
            <p:txBody>
              <a:bodyPr wrap="none" rtlCol="0">
                <a:spAutoFit/>
              </a:bodyPr>
              <a:lstStyle/>
              <a:p>
                <a:r>
                  <a:rPr lang="en-US" sz="2400" dirty="0"/>
                  <a:t>raw key</a:t>
                </a:r>
              </a:p>
            </p:txBody>
          </p:sp>
        </p:grpSp>
        <p:grpSp>
          <p:nvGrpSpPr>
            <p:cNvPr id="153" name="Group 152">
              <a:extLst>
                <a:ext uri="{FF2B5EF4-FFF2-40B4-BE49-F238E27FC236}">
                  <a16:creationId xmlns:a16="http://schemas.microsoft.com/office/drawing/2014/main" id="{EAEE70AF-2301-5B4F-A8FE-4FC94DE30BCF}"/>
                </a:ext>
              </a:extLst>
            </p:cNvPr>
            <p:cNvGrpSpPr/>
            <p:nvPr/>
          </p:nvGrpSpPr>
          <p:grpSpPr>
            <a:xfrm>
              <a:off x="2517974" y="1083387"/>
              <a:ext cx="8052533" cy="3411420"/>
              <a:chOff x="2517974" y="1083387"/>
              <a:chExt cx="8052533" cy="3411420"/>
            </a:xfrm>
          </p:grpSpPr>
          <p:grpSp>
            <p:nvGrpSpPr>
              <p:cNvPr id="150" name="Group 149">
                <a:extLst>
                  <a:ext uri="{FF2B5EF4-FFF2-40B4-BE49-F238E27FC236}">
                    <a16:creationId xmlns:a16="http://schemas.microsoft.com/office/drawing/2014/main" id="{FE2BE785-2792-594C-9EED-E88CD69296BA}"/>
                  </a:ext>
                </a:extLst>
              </p:cNvPr>
              <p:cNvGrpSpPr/>
              <p:nvPr/>
            </p:nvGrpSpPr>
            <p:grpSpPr>
              <a:xfrm>
                <a:off x="9456405" y="1083387"/>
                <a:ext cx="735489" cy="1957318"/>
                <a:chOff x="9456405" y="1083387"/>
                <a:chExt cx="735489" cy="1957318"/>
              </a:xfrm>
            </p:grpSpPr>
            <p:sp>
              <p:nvSpPr>
                <p:cNvPr id="13" name="Up-Down Arrow 12">
                  <a:extLst>
                    <a:ext uri="{FF2B5EF4-FFF2-40B4-BE49-F238E27FC236}">
                      <a16:creationId xmlns:a16="http://schemas.microsoft.com/office/drawing/2014/main" id="{6C6FE5B8-55B8-844C-96CB-9965891CBD50}"/>
                    </a:ext>
                  </a:extLst>
                </p:cNvPr>
                <p:cNvSpPr/>
                <p:nvPr/>
              </p:nvSpPr>
              <p:spPr>
                <a:xfrm>
                  <a:off x="9654984" y="1389998"/>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Up-Down Arrow 14">
                  <a:extLst>
                    <a:ext uri="{FF2B5EF4-FFF2-40B4-BE49-F238E27FC236}">
                      <a16:creationId xmlns:a16="http://schemas.microsoft.com/office/drawing/2014/main" id="{C0C4E41A-704B-7640-B9BD-1F41AF5C456B}"/>
                    </a:ext>
                  </a:extLst>
                </p:cNvPr>
                <p:cNvSpPr/>
                <p:nvPr/>
              </p:nvSpPr>
              <p:spPr>
                <a:xfrm rot="19737961">
                  <a:off x="9653603" y="2153632"/>
                  <a:ext cx="144000" cy="720000"/>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Up-Down Arrow 15">
                  <a:extLst>
                    <a:ext uri="{FF2B5EF4-FFF2-40B4-BE49-F238E27FC236}">
                      <a16:creationId xmlns:a16="http://schemas.microsoft.com/office/drawing/2014/main" id="{34B617E8-6A6E-7148-B0C8-26BAACB0D617}"/>
                    </a:ext>
                  </a:extLst>
                </p:cNvPr>
                <p:cNvSpPr/>
                <p:nvPr/>
              </p:nvSpPr>
              <p:spPr>
                <a:xfrm rot="3168139">
                  <a:off x="9685741" y="2242679"/>
                  <a:ext cx="144000" cy="602672"/>
                </a:xfrm>
                <a:prstGeom prst="upDown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5" name="Rectangle 3">
                  <a:extLst>
                    <a:ext uri="{FF2B5EF4-FFF2-40B4-BE49-F238E27FC236}">
                      <a16:creationId xmlns:a16="http://schemas.microsoft.com/office/drawing/2014/main" id="{0BEF5767-DC89-DC45-A19E-C2F329F5D01A}"/>
                    </a:ext>
                  </a:extLst>
                </p:cNvPr>
                <p:cNvSpPr/>
                <p:nvPr/>
              </p:nvSpPr>
              <p:spPr>
                <a:xfrm>
                  <a:off x="9584223" y="1083387"/>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06" name="Straight Arrow Connector 105">
                  <a:extLst>
                    <a:ext uri="{FF2B5EF4-FFF2-40B4-BE49-F238E27FC236}">
                      <a16:creationId xmlns:a16="http://schemas.microsoft.com/office/drawing/2014/main" id="{DB4D1D07-AF81-C345-B42F-A2F014A043A7}"/>
                    </a:ext>
                  </a:extLst>
                </p:cNvPr>
                <p:cNvCxnSpPr>
                  <a:cxnSpLocks/>
                </p:cNvCxnSpPr>
                <p:nvPr/>
              </p:nvCxnSpPr>
              <p:spPr>
                <a:xfrm>
                  <a:off x="9855104" y="1290079"/>
                  <a:ext cx="0" cy="644998"/>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6F5D0C0-7D99-0E4A-9C14-D12CD6DE84C1}"/>
                    </a:ext>
                  </a:extLst>
                </p:cNvPr>
                <p:cNvCxnSpPr>
                  <a:cxnSpLocks/>
                </p:cNvCxnSpPr>
                <p:nvPr/>
              </p:nvCxnSpPr>
              <p:spPr>
                <a:xfrm flipH="1" flipV="1">
                  <a:off x="9636600" y="1509399"/>
                  <a:ext cx="468000" cy="225408"/>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sp>
              <p:nvSpPr>
                <p:cNvPr id="108" name="Rectangle 3">
                  <a:extLst>
                    <a:ext uri="{FF2B5EF4-FFF2-40B4-BE49-F238E27FC236}">
                      <a16:creationId xmlns:a16="http://schemas.microsoft.com/office/drawing/2014/main" id="{F2B34FFE-D258-194D-98B3-1CE875B6ECBD}"/>
                    </a:ext>
                  </a:extLst>
                </p:cNvPr>
                <p:cNvSpPr/>
                <p:nvPr/>
              </p:nvSpPr>
              <p:spPr>
                <a:xfrm>
                  <a:off x="9574358" y="1963273"/>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09" name="Straight Arrow Connector 108">
                  <a:extLst>
                    <a:ext uri="{FF2B5EF4-FFF2-40B4-BE49-F238E27FC236}">
                      <a16:creationId xmlns:a16="http://schemas.microsoft.com/office/drawing/2014/main" id="{0139AB23-7DD7-D641-A26C-71B68B8E1820}"/>
                    </a:ext>
                  </a:extLst>
                </p:cNvPr>
                <p:cNvCxnSpPr>
                  <a:cxnSpLocks/>
                </p:cNvCxnSpPr>
                <p:nvPr/>
              </p:nvCxnSpPr>
              <p:spPr>
                <a:xfrm flipH="1">
                  <a:off x="9667017" y="2301176"/>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C019A07A-9C31-FE4F-A72C-6D02C6FBA553}"/>
                    </a:ext>
                  </a:extLst>
                </p:cNvPr>
                <p:cNvCxnSpPr>
                  <a:cxnSpLocks/>
                </p:cNvCxnSpPr>
                <p:nvPr/>
              </p:nvCxnSpPr>
              <p:spPr>
                <a:xfrm flipH="1" flipV="1">
                  <a:off x="9679061" y="2152856"/>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52" name="Group 151">
                <a:extLst>
                  <a:ext uri="{FF2B5EF4-FFF2-40B4-BE49-F238E27FC236}">
                    <a16:creationId xmlns:a16="http://schemas.microsoft.com/office/drawing/2014/main" id="{533C09D1-1BD0-3B41-B142-599FCC66FBC1}"/>
                  </a:ext>
                </a:extLst>
              </p:cNvPr>
              <p:cNvGrpSpPr/>
              <p:nvPr/>
            </p:nvGrpSpPr>
            <p:grpSpPr>
              <a:xfrm>
                <a:off x="2517974" y="3797911"/>
                <a:ext cx="8052533" cy="696896"/>
                <a:chOff x="2517974" y="3797911"/>
                <a:chExt cx="8052533" cy="696896"/>
              </a:xfrm>
            </p:grpSpPr>
            <p:grpSp>
              <p:nvGrpSpPr>
                <p:cNvPr id="43" name="Group 42">
                  <a:extLst>
                    <a:ext uri="{FF2B5EF4-FFF2-40B4-BE49-F238E27FC236}">
                      <a16:creationId xmlns:a16="http://schemas.microsoft.com/office/drawing/2014/main" id="{2794D5B3-F214-994E-80ED-0A2C6B42B923}"/>
                    </a:ext>
                  </a:extLst>
                </p:cNvPr>
                <p:cNvGrpSpPr/>
                <p:nvPr/>
              </p:nvGrpSpPr>
              <p:grpSpPr>
                <a:xfrm>
                  <a:off x="3366597" y="3880030"/>
                  <a:ext cx="576000" cy="576000"/>
                  <a:chOff x="2982611" y="3583101"/>
                  <a:chExt cx="576000" cy="576000"/>
                </a:xfrm>
              </p:grpSpPr>
              <p:cxnSp>
                <p:nvCxnSpPr>
                  <p:cNvPr id="45" name="Straight Arrow Connector 44">
                    <a:extLst>
                      <a:ext uri="{FF2B5EF4-FFF2-40B4-BE49-F238E27FC236}">
                        <a16:creationId xmlns:a16="http://schemas.microsoft.com/office/drawing/2014/main" id="{E0C41CAF-32F1-DB42-9B0E-32CF5152B742}"/>
                      </a:ext>
                    </a:extLst>
                  </p:cNvPr>
                  <p:cNvCxnSpPr>
                    <a:cxnSpLocks/>
                  </p:cNvCxnSpPr>
                  <p:nvPr/>
                </p:nvCxnSpPr>
                <p:spPr>
                  <a:xfrm flipH="1">
                    <a:off x="3270611" y="3583101"/>
                    <a:ext cx="752" cy="576000"/>
                  </a:xfrm>
                  <a:prstGeom prst="straightConnector1">
                    <a:avLst/>
                  </a:prstGeom>
                  <a:ln w="50800">
                    <a:solidFill>
                      <a:schemeClr val="accent5">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28E5810-6440-5C44-8E95-0F99F11487EF}"/>
                      </a:ext>
                    </a:extLst>
                  </p:cNvPr>
                  <p:cNvCxnSpPr>
                    <a:cxnSpLocks/>
                  </p:cNvCxnSpPr>
                  <p:nvPr/>
                </p:nvCxnSpPr>
                <p:spPr>
                  <a:xfrm rot="5400000" flipH="1">
                    <a:off x="3270235" y="3556570"/>
                    <a:ext cx="752" cy="576000"/>
                  </a:xfrm>
                  <a:prstGeom prst="straightConnector1">
                    <a:avLst/>
                  </a:prstGeom>
                  <a:ln w="50800">
                    <a:solidFill>
                      <a:schemeClr val="accent5">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8D42434A-738C-7F46-801A-35671079A04B}"/>
                    </a:ext>
                  </a:extLst>
                </p:cNvPr>
                <p:cNvGrpSpPr/>
                <p:nvPr/>
              </p:nvGrpSpPr>
              <p:grpSpPr>
                <a:xfrm>
                  <a:off x="6207986" y="3864814"/>
                  <a:ext cx="576000" cy="576000"/>
                  <a:chOff x="5816284" y="3567885"/>
                  <a:chExt cx="576000" cy="576000"/>
                </a:xfrm>
              </p:grpSpPr>
              <p:cxnSp>
                <p:nvCxnSpPr>
                  <p:cNvPr id="49" name="Straight Arrow Connector 48">
                    <a:extLst>
                      <a:ext uri="{FF2B5EF4-FFF2-40B4-BE49-F238E27FC236}">
                        <a16:creationId xmlns:a16="http://schemas.microsoft.com/office/drawing/2014/main" id="{DA90957C-77CE-5243-B2DA-B38B74BC6B93}"/>
                      </a:ext>
                    </a:extLst>
                  </p:cNvPr>
                  <p:cNvCxnSpPr>
                    <a:cxnSpLocks/>
                  </p:cNvCxnSpPr>
                  <p:nvPr/>
                </p:nvCxnSpPr>
                <p:spPr>
                  <a:xfrm flipH="1">
                    <a:off x="6092178" y="3567885"/>
                    <a:ext cx="752" cy="576000"/>
                  </a:xfrm>
                  <a:prstGeom prst="straightConnector1">
                    <a:avLst/>
                  </a:prstGeom>
                  <a:ln w="50800">
                    <a:solidFill>
                      <a:schemeClr val="accent5">
                        <a:lumMod val="75000"/>
                      </a:schemeClr>
                    </a:solidFill>
                    <a:headEnd type="triangle"/>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302B4E0-6337-BA4E-B357-E1D0AC78F64A}"/>
                      </a:ext>
                    </a:extLst>
                  </p:cNvPr>
                  <p:cNvCxnSpPr>
                    <a:cxnSpLocks/>
                  </p:cNvCxnSpPr>
                  <p:nvPr/>
                </p:nvCxnSpPr>
                <p:spPr>
                  <a:xfrm rot="5400000" flipH="1">
                    <a:off x="6103908" y="3570911"/>
                    <a:ext cx="752" cy="576000"/>
                  </a:xfrm>
                  <a:prstGeom prst="straightConnector1">
                    <a:avLst/>
                  </a:prstGeom>
                  <a:ln w="50800">
                    <a:solidFill>
                      <a:schemeClr val="accent5">
                        <a:lumMod val="75000"/>
                      </a:schemeClr>
                    </a:solidFill>
                    <a:headEnd type="triangle"/>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70CCE565-DB57-8447-ADDC-57BC8ADBEFCC}"/>
                    </a:ext>
                  </a:extLst>
                </p:cNvPr>
                <p:cNvGrpSpPr/>
                <p:nvPr/>
              </p:nvGrpSpPr>
              <p:grpSpPr>
                <a:xfrm>
                  <a:off x="8357992" y="3872344"/>
                  <a:ext cx="576000" cy="576000"/>
                  <a:chOff x="6902884" y="3845093"/>
                  <a:chExt cx="576000" cy="576000"/>
                </a:xfrm>
              </p:grpSpPr>
              <p:cxnSp>
                <p:nvCxnSpPr>
                  <p:cNvPr id="53" name="Straight Arrow Connector 52">
                    <a:extLst>
                      <a:ext uri="{FF2B5EF4-FFF2-40B4-BE49-F238E27FC236}">
                        <a16:creationId xmlns:a16="http://schemas.microsoft.com/office/drawing/2014/main" id="{BE18D455-6528-5A4C-BEB8-69B8BDA3B170}"/>
                      </a:ext>
                    </a:extLst>
                  </p:cNvPr>
                  <p:cNvCxnSpPr>
                    <a:cxnSpLocks/>
                  </p:cNvCxnSpPr>
                  <p:nvPr/>
                </p:nvCxnSpPr>
                <p:spPr>
                  <a:xfrm flipH="1">
                    <a:off x="7169017" y="3845093"/>
                    <a:ext cx="752" cy="576000"/>
                  </a:xfrm>
                  <a:prstGeom prst="straightConnector1">
                    <a:avLst/>
                  </a:prstGeom>
                  <a:ln w="50800">
                    <a:solidFill>
                      <a:schemeClr val="accent5">
                        <a:lumMod val="75000"/>
                      </a:schemeClr>
                    </a:solidFill>
                    <a:headEnd type="triangle"/>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ED26E6D-569E-B546-9E3E-13190E1AD1D2}"/>
                      </a:ext>
                    </a:extLst>
                  </p:cNvPr>
                  <p:cNvCxnSpPr>
                    <a:cxnSpLocks/>
                  </p:cNvCxnSpPr>
                  <p:nvPr/>
                </p:nvCxnSpPr>
                <p:spPr>
                  <a:xfrm rot="5400000" flipH="1">
                    <a:off x="7190508" y="3843624"/>
                    <a:ext cx="752" cy="576000"/>
                  </a:xfrm>
                  <a:prstGeom prst="straightConnector1">
                    <a:avLst/>
                  </a:prstGeom>
                  <a:ln w="50800">
                    <a:solidFill>
                      <a:schemeClr val="accent5">
                        <a:lumMod val="75000"/>
                      </a:schemeClr>
                    </a:solidFill>
                    <a:headEnd type="triangle"/>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758D5476-7CDD-4342-A9DE-5BCD6FE3836B}"/>
                    </a:ext>
                  </a:extLst>
                </p:cNvPr>
                <p:cNvGrpSpPr/>
                <p:nvPr/>
              </p:nvGrpSpPr>
              <p:grpSpPr>
                <a:xfrm rot="2700000">
                  <a:off x="7588939" y="3846807"/>
                  <a:ext cx="648000" cy="648000"/>
                  <a:chOff x="3308687" y="3809093"/>
                  <a:chExt cx="648000" cy="648000"/>
                </a:xfrm>
              </p:grpSpPr>
              <p:cxnSp>
                <p:nvCxnSpPr>
                  <p:cNvPr id="56" name="Straight Arrow Connector 55">
                    <a:extLst>
                      <a:ext uri="{FF2B5EF4-FFF2-40B4-BE49-F238E27FC236}">
                        <a16:creationId xmlns:a16="http://schemas.microsoft.com/office/drawing/2014/main" id="{72A45BE6-0573-DB4E-B535-D669357E327D}"/>
                      </a:ext>
                    </a:extLst>
                  </p:cNvPr>
                  <p:cNvCxnSpPr>
                    <a:cxnSpLocks/>
                  </p:cNvCxnSpPr>
                  <p:nvPr/>
                </p:nvCxnSpPr>
                <p:spPr>
                  <a:xfrm flipH="1">
                    <a:off x="3621662"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DCDF209-BDCE-6E45-AC20-53AAD5695509}"/>
                      </a:ext>
                    </a:extLst>
                  </p:cNvPr>
                  <p:cNvCxnSpPr>
                    <a:cxnSpLocks/>
                  </p:cNvCxnSpPr>
                  <p:nvPr/>
                </p:nvCxnSpPr>
                <p:spPr>
                  <a:xfrm rot="5400000" flipH="1">
                    <a:off x="3632311"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1D2BFA55-3618-E94F-80B5-815B2BA59140}"/>
                    </a:ext>
                  </a:extLst>
                </p:cNvPr>
                <p:cNvGrpSpPr/>
                <p:nvPr/>
              </p:nvGrpSpPr>
              <p:grpSpPr>
                <a:xfrm rot="2700000">
                  <a:off x="5460571" y="3833455"/>
                  <a:ext cx="648000" cy="648000"/>
                  <a:chOff x="3308687" y="3809093"/>
                  <a:chExt cx="648000" cy="648000"/>
                </a:xfrm>
              </p:grpSpPr>
              <p:cxnSp>
                <p:nvCxnSpPr>
                  <p:cNvPr id="59" name="Straight Arrow Connector 58">
                    <a:extLst>
                      <a:ext uri="{FF2B5EF4-FFF2-40B4-BE49-F238E27FC236}">
                        <a16:creationId xmlns:a16="http://schemas.microsoft.com/office/drawing/2014/main" id="{47B7DA2E-C242-7444-B949-EAE7490C5CF9}"/>
                      </a:ext>
                    </a:extLst>
                  </p:cNvPr>
                  <p:cNvCxnSpPr>
                    <a:cxnSpLocks/>
                  </p:cNvCxnSpPr>
                  <p:nvPr/>
                </p:nvCxnSpPr>
                <p:spPr>
                  <a:xfrm flipH="1">
                    <a:off x="3621662"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D9134D6-FDDF-894C-8018-7CDF91E45358}"/>
                      </a:ext>
                    </a:extLst>
                  </p:cNvPr>
                  <p:cNvCxnSpPr>
                    <a:cxnSpLocks/>
                  </p:cNvCxnSpPr>
                  <p:nvPr/>
                </p:nvCxnSpPr>
                <p:spPr>
                  <a:xfrm rot="5400000" flipH="1">
                    <a:off x="3632311"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36709DA1-7616-9347-8626-E472E7C344D0}"/>
                    </a:ext>
                  </a:extLst>
                </p:cNvPr>
                <p:cNvGrpSpPr/>
                <p:nvPr/>
              </p:nvGrpSpPr>
              <p:grpSpPr>
                <a:xfrm rot="2700000">
                  <a:off x="6888349" y="3836344"/>
                  <a:ext cx="648000" cy="648000"/>
                  <a:chOff x="3308687" y="3809093"/>
                  <a:chExt cx="648000" cy="648000"/>
                </a:xfrm>
              </p:grpSpPr>
              <p:cxnSp>
                <p:nvCxnSpPr>
                  <p:cNvPr id="72" name="Straight Arrow Connector 71">
                    <a:extLst>
                      <a:ext uri="{FF2B5EF4-FFF2-40B4-BE49-F238E27FC236}">
                        <a16:creationId xmlns:a16="http://schemas.microsoft.com/office/drawing/2014/main" id="{724B994B-F70B-DD4A-BE17-665C42F60D87}"/>
                      </a:ext>
                    </a:extLst>
                  </p:cNvPr>
                  <p:cNvCxnSpPr>
                    <a:cxnSpLocks/>
                  </p:cNvCxnSpPr>
                  <p:nvPr/>
                </p:nvCxnSpPr>
                <p:spPr>
                  <a:xfrm flipH="1">
                    <a:off x="3621662"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634145D-9BC5-8E4F-BA38-02FE9CD1B7E3}"/>
                      </a:ext>
                    </a:extLst>
                  </p:cNvPr>
                  <p:cNvCxnSpPr>
                    <a:cxnSpLocks/>
                  </p:cNvCxnSpPr>
                  <p:nvPr/>
                </p:nvCxnSpPr>
                <p:spPr>
                  <a:xfrm rot="5400000" flipH="1">
                    <a:off x="3632311"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05B36B03-2BAA-8941-85E2-051A7C98B86A}"/>
                    </a:ext>
                  </a:extLst>
                </p:cNvPr>
                <p:cNvGrpSpPr/>
                <p:nvPr/>
              </p:nvGrpSpPr>
              <p:grpSpPr>
                <a:xfrm rot="2700000">
                  <a:off x="4042749" y="3836344"/>
                  <a:ext cx="648000" cy="648000"/>
                  <a:chOff x="3308687" y="3809093"/>
                  <a:chExt cx="648000" cy="648000"/>
                </a:xfrm>
              </p:grpSpPr>
              <p:cxnSp>
                <p:nvCxnSpPr>
                  <p:cNvPr id="77" name="Straight Arrow Connector 76">
                    <a:extLst>
                      <a:ext uri="{FF2B5EF4-FFF2-40B4-BE49-F238E27FC236}">
                        <a16:creationId xmlns:a16="http://schemas.microsoft.com/office/drawing/2014/main" id="{DD86B61E-6A78-2B43-AA78-6105A1F6F77B}"/>
                      </a:ext>
                    </a:extLst>
                  </p:cNvPr>
                  <p:cNvCxnSpPr>
                    <a:cxnSpLocks/>
                  </p:cNvCxnSpPr>
                  <p:nvPr/>
                </p:nvCxnSpPr>
                <p:spPr>
                  <a:xfrm flipH="1">
                    <a:off x="3621662"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AD88B6D-FAFD-8D44-91FD-DFDFCA8BFDF1}"/>
                      </a:ext>
                    </a:extLst>
                  </p:cNvPr>
                  <p:cNvCxnSpPr>
                    <a:cxnSpLocks/>
                  </p:cNvCxnSpPr>
                  <p:nvPr/>
                </p:nvCxnSpPr>
                <p:spPr>
                  <a:xfrm rot="5400000" flipH="1">
                    <a:off x="3632311" y="3809093"/>
                    <a:ext cx="752" cy="648000"/>
                  </a:xfrm>
                  <a:prstGeom prst="straightConnector1">
                    <a:avLst/>
                  </a:prstGeom>
                  <a:ln w="508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015FE6BD-EAFC-C040-8D40-C47B737F7781}"/>
                    </a:ext>
                  </a:extLst>
                </p:cNvPr>
                <p:cNvGrpSpPr/>
                <p:nvPr/>
              </p:nvGrpSpPr>
              <p:grpSpPr>
                <a:xfrm>
                  <a:off x="4786239" y="3872344"/>
                  <a:ext cx="576000" cy="576000"/>
                  <a:chOff x="6888132" y="3845093"/>
                  <a:chExt cx="576000" cy="576000"/>
                </a:xfrm>
              </p:grpSpPr>
              <p:cxnSp>
                <p:nvCxnSpPr>
                  <p:cNvPr id="81" name="Straight Arrow Connector 80">
                    <a:extLst>
                      <a:ext uri="{FF2B5EF4-FFF2-40B4-BE49-F238E27FC236}">
                        <a16:creationId xmlns:a16="http://schemas.microsoft.com/office/drawing/2014/main" id="{CEA28BA5-AE6B-9443-BE32-D2F26C97C0F0}"/>
                      </a:ext>
                    </a:extLst>
                  </p:cNvPr>
                  <p:cNvCxnSpPr>
                    <a:cxnSpLocks/>
                  </p:cNvCxnSpPr>
                  <p:nvPr/>
                </p:nvCxnSpPr>
                <p:spPr>
                  <a:xfrm flipH="1">
                    <a:off x="7169017" y="3845093"/>
                    <a:ext cx="752" cy="576000"/>
                  </a:xfrm>
                  <a:prstGeom prst="straightConnector1">
                    <a:avLst/>
                  </a:prstGeom>
                  <a:ln w="50800">
                    <a:solidFill>
                      <a:schemeClr val="accent5">
                        <a:lumMod val="75000"/>
                      </a:schemeClr>
                    </a:solidFill>
                    <a:headEnd type="triangle"/>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BA379D11-EE00-7A44-BAEC-DD3B4885DCF4}"/>
                      </a:ext>
                    </a:extLst>
                  </p:cNvPr>
                  <p:cNvCxnSpPr>
                    <a:cxnSpLocks/>
                  </p:cNvCxnSpPr>
                  <p:nvPr/>
                </p:nvCxnSpPr>
                <p:spPr>
                  <a:xfrm rot="5400000" flipH="1">
                    <a:off x="7175756" y="3844355"/>
                    <a:ext cx="752" cy="576000"/>
                  </a:xfrm>
                  <a:prstGeom prst="straightConnector1">
                    <a:avLst/>
                  </a:prstGeom>
                  <a:ln w="50800">
                    <a:solidFill>
                      <a:schemeClr val="accent5">
                        <a:lumMod val="75000"/>
                      </a:schemeClr>
                    </a:solidFill>
                    <a:headEnd type="triangle"/>
                    <a:tailEnd type="triangle" w="med" len="med"/>
                  </a:ln>
                </p:spPr>
                <p:style>
                  <a:lnRef idx="1">
                    <a:schemeClr val="accent1"/>
                  </a:lnRef>
                  <a:fillRef idx="0">
                    <a:schemeClr val="accent1"/>
                  </a:fillRef>
                  <a:effectRef idx="0">
                    <a:schemeClr val="accent1"/>
                  </a:effectRef>
                  <a:fontRef idx="minor">
                    <a:schemeClr val="tx1"/>
                  </a:fontRef>
                </p:style>
              </p:cxnSp>
            </p:grpSp>
            <p:sp>
              <p:nvSpPr>
                <p:cNvPr id="101" name="TextBox 100">
                  <a:extLst>
                    <a:ext uri="{FF2B5EF4-FFF2-40B4-BE49-F238E27FC236}">
                      <a16:creationId xmlns:a16="http://schemas.microsoft.com/office/drawing/2014/main" id="{0B47B0DD-DF7B-314C-9634-F5E5F7A93014}"/>
                    </a:ext>
                  </a:extLst>
                </p:cNvPr>
                <p:cNvSpPr txBox="1"/>
                <p:nvPr/>
              </p:nvSpPr>
              <p:spPr>
                <a:xfrm>
                  <a:off x="9064517" y="3937201"/>
                  <a:ext cx="1505990" cy="461665"/>
                </a:xfrm>
                <a:prstGeom prst="rect">
                  <a:avLst/>
                </a:prstGeom>
                <a:noFill/>
              </p:spPr>
              <p:txBody>
                <a:bodyPr wrap="none" rtlCol="0">
                  <a:spAutoFit/>
                </a:bodyPr>
                <a:lstStyle/>
                <a:p>
                  <a:r>
                    <a:rPr lang="en-US" sz="2400" dirty="0"/>
                    <a:t>Bob’s base</a:t>
                  </a:r>
                </a:p>
              </p:txBody>
            </p:sp>
            <p:pic>
              <p:nvPicPr>
                <p:cNvPr id="146" name="Picture 145">
                  <a:extLst>
                    <a:ext uri="{FF2B5EF4-FFF2-40B4-BE49-F238E27FC236}">
                      <a16:creationId xmlns:a16="http://schemas.microsoft.com/office/drawing/2014/main" id="{221C0CD0-8B41-9244-A4BD-BDB096911898}"/>
                    </a:ext>
                  </a:extLst>
                </p:cNvPr>
                <p:cNvPicPr>
                  <a:picLocks noChangeAspect="1"/>
                </p:cNvPicPr>
                <p:nvPr/>
              </p:nvPicPr>
              <p:blipFill>
                <a:blip r:embed="rId10"/>
                <a:stretch>
                  <a:fillRect/>
                </a:stretch>
              </p:blipFill>
              <p:spPr>
                <a:xfrm>
                  <a:off x="2517974" y="3797911"/>
                  <a:ext cx="686424" cy="686424"/>
                </a:xfrm>
                <a:prstGeom prst="rect">
                  <a:avLst/>
                </a:prstGeom>
              </p:spPr>
            </p:pic>
          </p:grpSp>
        </p:grpSp>
      </p:grpSp>
      <p:grpSp>
        <p:nvGrpSpPr>
          <p:cNvPr id="151" name="Group 150">
            <a:extLst>
              <a:ext uri="{FF2B5EF4-FFF2-40B4-BE49-F238E27FC236}">
                <a16:creationId xmlns:a16="http://schemas.microsoft.com/office/drawing/2014/main" id="{497AAFF8-12AF-C740-A649-340992BE31A8}"/>
              </a:ext>
            </a:extLst>
          </p:cNvPr>
          <p:cNvGrpSpPr/>
          <p:nvPr/>
        </p:nvGrpSpPr>
        <p:grpSpPr>
          <a:xfrm>
            <a:off x="2659527" y="1361653"/>
            <a:ext cx="7276037" cy="2338888"/>
            <a:chOff x="2752205" y="1352089"/>
            <a:chExt cx="7276037" cy="2338888"/>
          </a:xfrm>
        </p:grpSpPr>
        <p:pic>
          <p:nvPicPr>
            <p:cNvPr id="147" name="Picture 146">
              <a:extLst>
                <a:ext uri="{FF2B5EF4-FFF2-40B4-BE49-F238E27FC236}">
                  <a16:creationId xmlns:a16="http://schemas.microsoft.com/office/drawing/2014/main" id="{1AF059FE-38D0-004F-9D2B-C72B0DCFCA4C}"/>
                </a:ext>
              </a:extLst>
            </p:cNvPr>
            <p:cNvPicPr>
              <a:picLocks noChangeAspect="1"/>
            </p:cNvPicPr>
            <p:nvPr/>
          </p:nvPicPr>
          <p:blipFill>
            <a:blip r:embed="rId10"/>
            <a:stretch>
              <a:fillRect/>
            </a:stretch>
          </p:blipFill>
          <p:spPr>
            <a:xfrm>
              <a:off x="2752205" y="1809644"/>
              <a:ext cx="686424" cy="686424"/>
            </a:xfrm>
            <a:prstGeom prst="rect">
              <a:avLst/>
            </a:prstGeom>
          </p:spPr>
        </p:pic>
        <p:cxnSp>
          <p:nvCxnSpPr>
            <p:cNvPr id="4" name="Straight Connector 3">
              <a:extLst>
                <a:ext uri="{FF2B5EF4-FFF2-40B4-BE49-F238E27FC236}">
                  <a16:creationId xmlns:a16="http://schemas.microsoft.com/office/drawing/2014/main" id="{4FDF2EE9-D64D-404E-B0AA-D5B6053BB038}"/>
                </a:ext>
              </a:extLst>
            </p:cNvPr>
            <p:cNvCxnSpPr>
              <a:cxnSpLocks/>
            </p:cNvCxnSpPr>
            <p:nvPr/>
          </p:nvCxnSpPr>
          <p:spPr>
            <a:xfrm>
              <a:off x="3064485" y="2301035"/>
              <a:ext cx="60000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6AAF951-434F-494E-A925-49C6717DCABF}"/>
                </a:ext>
              </a:extLst>
            </p:cNvPr>
            <p:cNvCxnSpPr/>
            <p:nvPr/>
          </p:nvCxnSpPr>
          <p:spPr>
            <a:xfrm>
              <a:off x="3647764" y="1937994"/>
              <a:ext cx="0" cy="720000"/>
            </a:xfrm>
            <a:prstGeom prst="straightConnector1">
              <a:avLst/>
            </a:prstGeom>
            <a:ln w="63500">
              <a:solidFill>
                <a:schemeClr val="accent4">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5D897A1-154D-7640-A86B-89A711E09BC9}"/>
                </a:ext>
              </a:extLst>
            </p:cNvPr>
            <p:cNvCxnSpPr/>
            <p:nvPr/>
          </p:nvCxnSpPr>
          <p:spPr>
            <a:xfrm>
              <a:off x="7159623" y="1937994"/>
              <a:ext cx="0" cy="720000"/>
            </a:xfrm>
            <a:prstGeom prst="straightConnector1">
              <a:avLst/>
            </a:prstGeom>
            <a:ln w="63500">
              <a:solidFill>
                <a:schemeClr val="accent4">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FBA55D7-2576-5549-9255-6D84003828FC}"/>
                </a:ext>
              </a:extLst>
            </p:cNvPr>
            <p:cNvCxnSpPr>
              <a:cxnSpLocks/>
            </p:cNvCxnSpPr>
            <p:nvPr/>
          </p:nvCxnSpPr>
          <p:spPr>
            <a:xfrm rot="18900000">
              <a:off x="5055611" y="1937994"/>
              <a:ext cx="0" cy="720000"/>
            </a:xfrm>
            <a:prstGeom prst="straightConnector1">
              <a:avLst/>
            </a:prstGeom>
            <a:ln w="635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F1B10F1-4D0C-1440-AEDE-D4C64563D545}"/>
                </a:ext>
              </a:extLst>
            </p:cNvPr>
            <p:cNvCxnSpPr>
              <a:cxnSpLocks/>
            </p:cNvCxnSpPr>
            <p:nvPr/>
          </p:nvCxnSpPr>
          <p:spPr>
            <a:xfrm rot="18900000">
              <a:off x="7858641" y="1937994"/>
              <a:ext cx="0" cy="720000"/>
            </a:xfrm>
            <a:prstGeom prst="straightConnector1">
              <a:avLst/>
            </a:prstGeom>
            <a:ln w="6350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6A3EAA2-2E2A-4B4C-AFB1-5D48BD6EE92B}"/>
                </a:ext>
              </a:extLst>
            </p:cNvPr>
            <p:cNvCxnSpPr>
              <a:cxnSpLocks/>
            </p:cNvCxnSpPr>
            <p:nvPr/>
          </p:nvCxnSpPr>
          <p:spPr>
            <a:xfrm rot="5400000">
              <a:off x="4306941" y="1937994"/>
              <a:ext cx="0" cy="720000"/>
            </a:xfrm>
            <a:prstGeom prst="straightConnector1">
              <a:avLst/>
            </a:prstGeom>
            <a:ln w="6350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EC0CE51-FBFC-994F-94D8-83ECFE20B8A4}"/>
                </a:ext>
              </a:extLst>
            </p:cNvPr>
            <p:cNvCxnSpPr>
              <a:cxnSpLocks/>
            </p:cNvCxnSpPr>
            <p:nvPr/>
          </p:nvCxnSpPr>
          <p:spPr>
            <a:xfrm rot="2700000">
              <a:off x="5747776" y="1937994"/>
              <a:ext cx="0" cy="720000"/>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61AF534-1778-C645-A454-8DB26D6CD76A}"/>
                </a:ext>
              </a:extLst>
            </p:cNvPr>
            <p:cNvCxnSpPr>
              <a:cxnSpLocks/>
            </p:cNvCxnSpPr>
            <p:nvPr/>
          </p:nvCxnSpPr>
          <p:spPr>
            <a:xfrm rot="5400000">
              <a:off x="6455016" y="1937994"/>
              <a:ext cx="0" cy="720000"/>
            </a:xfrm>
            <a:prstGeom prst="straightConnector1">
              <a:avLst/>
            </a:prstGeom>
            <a:ln w="6350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4DDFD23-4696-0342-A2FA-7DF6F28A3740}"/>
                </a:ext>
              </a:extLst>
            </p:cNvPr>
            <p:cNvCxnSpPr>
              <a:cxnSpLocks/>
            </p:cNvCxnSpPr>
            <p:nvPr/>
          </p:nvCxnSpPr>
          <p:spPr>
            <a:xfrm rot="2700000">
              <a:off x="8567470" y="1937994"/>
              <a:ext cx="0" cy="720000"/>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DDCB8E-B6C1-9F46-8547-D990E4AF25DD}"/>
                </a:ext>
              </a:extLst>
            </p:cNvPr>
            <p:cNvCxnSpPr>
              <a:cxnSpLocks/>
            </p:cNvCxnSpPr>
            <p:nvPr/>
          </p:nvCxnSpPr>
          <p:spPr>
            <a:xfrm flipV="1">
              <a:off x="3647764"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ED1185-542C-304C-AE0D-15F25754CF39}"/>
                </a:ext>
              </a:extLst>
            </p:cNvPr>
            <p:cNvCxnSpPr>
              <a:cxnSpLocks/>
            </p:cNvCxnSpPr>
            <p:nvPr/>
          </p:nvCxnSpPr>
          <p:spPr>
            <a:xfrm flipV="1">
              <a:off x="4349577"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1692C7-6C93-294C-BBA4-3139BD7FE7DE}"/>
                </a:ext>
              </a:extLst>
            </p:cNvPr>
            <p:cNvCxnSpPr>
              <a:cxnSpLocks/>
            </p:cNvCxnSpPr>
            <p:nvPr/>
          </p:nvCxnSpPr>
          <p:spPr>
            <a:xfrm flipV="1">
              <a:off x="5051390"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B4F447A-A42A-3F49-9944-DCA4E57486B1}"/>
                </a:ext>
              </a:extLst>
            </p:cNvPr>
            <p:cNvCxnSpPr>
              <a:cxnSpLocks/>
            </p:cNvCxnSpPr>
            <p:nvPr/>
          </p:nvCxnSpPr>
          <p:spPr>
            <a:xfrm flipV="1">
              <a:off x="5753203"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4D200A-817A-FE4E-A175-EF9DEABA8BB0}"/>
                </a:ext>
              </a:extLst>
            </p:cNvPr>
            <p:cNvCxnSpPr>
              <a:cxnSpLocks/>
            </p:cNvCxnSpPr>
            <p:nvPr/>
          </p:nvCxnSpPr>
          <p:spPr>
            <a:xfrm flipV="1">
              <a:off x="6455016"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338641D-BA59-4F44-A015-80077B61DEF1}"/>
                </a:ext>
              </a:extLst>
            </p:cNvPr>
            <p:cNvCxnSpPr>
              <a:cxnSpLocks/>
            </p:cNvCxnSpPr>
            <p:nvPr/>
          </p:nvCxnSpPr>
          <p:spPr>
            <a:xfrm flipV="1">
              <a:off x="7156829"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B8BE36A-DE48-C14D-ACB4-E194ABA60914}"/>
                </a:ext>
              </a:extLst>
            </p:cNvPr>
            <p:cNvCxnSpPr>
              <a:cxnSpLocks/>
            </p:cNvCxnSpPr>
            <p:nvPr/>
          </p:nvCxnSpPr>
          <p:spPr>
            <a:xfrm flipV="1">
              <a:off x="7858642"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07481BC-098C-D947-87DC-89CF1FB815A1}"/>
                </a:ext>
              </a:extLst>
            </p:cNvPr>
            <p:cNvCxnSpPr>
              <a:cxnSpLocks/>
            </p:cNvCxnSpPr>
            <p:nvPr/>
          </p:nvCxnSpPr>
          <p:spPr>
            <a:xfrm flipV="1">
              <a:off x="8560458" y="2688663"/>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A520C89-FE8D-EC4F-A21B-70B72307ED93}"/>
                    </a:ext>
                  </a:extLst>
                </p:cNvPr>
                <p:cNvSpPr txBox="1"/>
                <p:nvPr/>
              </p:nvSpPr>
              <p:spPr>
                <a:xfrm>
                  <a:off x="3319766" y="3100280"/>
                  <a:ext cx="70788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1</m:t>
                            </m:r>
                          </m:e>
                        </m:d>
                      </m:oMath>
                    </m:oMathPara>
                  </a14:m>
                  <a:endParaRPr lang="en-US" sz="2800" dirty="0"/>
                </a:p>
              </p:txBody>
            </p:sp>
          </mc:Choice>
          <mc:Fallback xmlns="">
            <p:sp>
              <p:nvSpPr>
                <p:cNvPr id="33" name="TextBox 32">
                  <a:extLst>
                    <a:ext uri="{FF2B5EF4-FFF2-40B4-BE49-F238E27FC236}">
                      <a16:creationId xmlns:a16="http://schemas.microsoft.com/office/drawing/2014/main" id="{FA520C89-FE8D-EC4F-A21B-70B72307ED93}"/>
                    </a:ext>
                  </a:extLst>
                </p:cNvPr>
                <p:cNvSpPr txBox="1">
                  <a:spLocks noRot="1" noChangeAspect="1" noMove="1" noResize="1" noEditPoints="1" noAdjustHandles="1" noChangeArrowheads="1" noChangeShapeType="1" noTextEdit="1"/>
                </p:cNvSpPr>
                <p:nvPr/>
              </p:nvSpPr>
              <p:spPr>
                <a:xfrm>
                  <a:off x="3319766" y="3100280"/>
                  <a:ext cx="707886"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009654D-6FFB-DD43-9A97-AC455FB528C4}"/>
                    </a:ext>
                  </a:extLst>
                </p:cNvPr>
                <p:cNvSpPr txBox="1"/>
                <p:nvPr/>
              </p:nvSpPr>
              <p:spPr>
                <a:xfrm>
                  <a:off x="3997712" y="3100280"/>
                  <a:ext cx="70788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oMath>
                    </m:oMathPara>
                  </a14:m>
                  <a:endParaRPr lang="en-US" sz="2800" dirty="0"/>
                </a:p>
              </p:txBody>
            </p:sp>
          </mc:Choice>
          <mc:Fallback xmlns="">
            <p:sp>
              <p:nvSpPr>
                <p:cNvPr id="34" name="TextBox 33">
                  <a:extLst>
                    <a:ext uri="{FF2B5EF4-FFF2-40B4-BE49-F238E27FC236}">
                      <a16:creationId xmlns:a16="http://schemas.microsoft.com/office/drawing/2014/main" id="{F009654D-6FFB-DD43-9A97-AC455FB528C4}"/>
                    </a:ext>
                  </a:extLst>
                </p:cNvPr>
                <p:cNvSpPr txBox="1">
                  <a:spLocks noRot="1" noChangeAspect="1" noMove="1" noResize="1" noEditPoints="1" noAdjustHandles="1" noChangeArrowheads="1" noChangeShapeType="1" noTextEdit="1"/>
                </p:cNvSpPr>
                <p:nvPr/>
              </p:nvSpPr>
              <p:spPr>
                <a:xfrm>
                  <a:off x="3997712" y="3100280"/>
                  <a:ext cx="707886"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994EBB5-07B8-D84C-AB3E-C424FB916E28}"/>
                    </a:ext>
                  </a:extLst>
                </p:cNvPr>
                <p:cNvSpPr txBox="1"/>
                <p:nvPr/>
              </p:nvSpPr>
              <p:spPr>
                <a:xfrm>
                  <a:off x="4678589" y="3100280"/>
                  <a:ext cx="77681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m:t>
                            </m:r>
                          </m:e>
                        </m:d>
                      </m:oMath>
                    </m:oMathPara>
                  </a14:m>
                  <a:endParaRPr lang="en-US" sz="2800" dirty="0"/>
                </a:p>
              </p:txBody>
            </p:sp>
          </mc:Choice>
          <mc:Fallback xmlns="">
            <p:sp>
              <p:nvSpPr>
                <p:cNvPr id="35" name="TextBox 34">
                  <a:extLst>
                    <a:ext uri="{FF2B5EF4-FFF2-40B4-BE49-F238E27FC236}">
                      <a16:creationId xmlns:a16="http://schemas.microsoft.com/office/drawing/2014/main" id="{A994EBB5-07B8-D84C-AB3E-C424FB916E28}"/>
                    </a:ext>
                  </a:extLst>
                </p:cNvPr>
                <p:cNvSpPr txBox="1">
                  <a:spLocks noRot="1" noChangeAspect="1" noMove="1" noResize="1" noEditPoints="1" noAdjustHandles="1" noChangeArrowheads="1" noChangeShapeType="1" noTextEdit="1"/>
                </p:cNvSpPr>
                <p:nvPr/>
              </p:nvSpPr>
              <p:spPr>
                <a:xfrm>
                  <a:off x="4678589" y="3100280"/>
                  <a:ext cx="776815"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8815240-21B3-5E4A-8A8E-D1EC145419D2}"/>
                    </a:ext>
                  </a:extLst>
                </p:cNvPr>
                <p:cNvSpPr txBox="1"/>
                <p:nvPr/>
              </p:nvSpPr>
              <p:spPr>
                <a:xfrm>
                  <a:off x="5387926" y="3100280"/>
                  <a:ext cx="77681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m:t>
                            </m:r>
                          </m:e>
                        </m:d>
                      </m:oMath>
                    </m:oMathPara>
                  </a14:m>
                  <a:endParaRPr lang="en-US" sz="2800" dirty="0"/>
                </a:p>
              </p:txBody>
            </p:sp>
          </mc:Choice>
          <mc:Fallback xmlns="">
            <p:sp>
              <p:nvSpPr>
                <p:cNvPr id="36" name="TextBox 35">
                  <a:extLst>
                    <a:ext uri="{FF2B5EF4-FFF2-40B4-BE49-F238E27FC236}">
                      <a16:creationId xmlns:a16="http://schemas.microsoft.com/office/drawing/2014/main" id="{98815240-21B3-5E4A-8A8E-D1EC145419D2}"/>
                    </a:ext>
                  </a:extLst>
                </p:cNvPr>
                <p:cNvSpPr txBox="1">
                  <a:spLocks noRot="1" noChangeAspect="1" noMove="1" noResize="1" noEditPoints="1" noAdjustHandles="1" noChangeArrowheads="1" noChangeShapeType="1" noTextEdit="1"/>
                </p:cNvSpPr>
                <p:nvPr/>
              </p:nvSpPr>
              <p:spPr>
                <a:xfrm>
                  <a:off x="5387926" y="3100280"/>
                  <a:ext cx="776815"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99CD4C-6F3D-EA47-8BE8-053CA0721A74}"/>
                    </a:ext>
                  </a:extLst>
                </p:cNvPr>
                <p:cNvSpPr txBox="1"/>
                <p:nvPr/>
              </p:nvSpPr>
              <p:spPr>
                <a:xfrm>
                  <a:off x="6102107" y="3100280"/>
                  <a:ext cx="70788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0</m:t>
                            </m:r>
                          </m:e>
                        </m:d>
                      </m:oMath>
                    </m:oMathPara>
                  </a14:m>
                  <a:endParaRPr lang="en-US" sz="2800" dirty="0"/>
                </a:p>
              </p:txBody>
            </p:sp>
          </mc:Choice>
          <mc:Fallback xmlns="">
            <p:sp>
              <p:nvSpPr>
                <p:cNvPr id="37" name="TextBox 36">
                  <a:extLst>
                    <a:ext uri="{FF2B5EF4-FFF2-40B4-BE49-F238E27FC236}">
                      <a16:creationId xmlns:a16="http://schemas.microsoft.com/office/drawing/2014/main" id="{CE99CD4C-6F3D-EA47-8BE8-053CA0721A74}"/>
                    </a:ext>
                  </a:extLst>
                </p:cNvPr>
                <p:cNvSpPr txBox="1">
                  <a:spLocks noRot="1" noChangeAspect="1" noMove="1" noResize="1" noEditPoints="1" noAdjustHandles="1" noChangeArrowheads="1" noChangeShapeType="1" noTextEdit="1"/>
                </p:cNvSpPr>
                <p:nvPr/>
              </p:nvSpPr>
              <p:spPr>
                <a:xfrm>
                  <a:off x="6102107" y="3100280"/>
                  <a:ext cx="707886" cy="52322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405F267-D1EA-2041-BE76-8011383FDF36}"/>
                    </a:ext>
                  </a:extLst>
                </p:cNvPr>
                <p:cNvSpPr txBox="1"/>
                <p:nvPr/>
              </p:nvSpPr>
              <p:spPr>
                <a:xfrm>
                  <a:off x="6817648" y="3100280"/>
                  <a:ext cx="78643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1</m:t>
                            </m:r>
                          </m:e>
                        </m:d>
                        <m:r>
                          <a:rPr lang="en-US" sz="2800" i="1">
                            <a:latin typeface="Cambria Math" panose="02040503050406030204" pitchFamily="18" charset="0"/>
                          </a:rPr>
                          <m:t> </m:t>
                        </m:r>
                      </m:oMath>
                    </m:oMathPara>
                  </a14:m>
                  <a:endParaRPr lang="en-US" sz="2800" dirty="0"/>
                </a:p>
              </p:txBody>
            </p:sp>
          </mc:Choice>
          <mc:Fallback xmlns="">
            <p:sp>
              <p:nvSpPr>
                <p:cNvPr id="38" name="TextBox 37">
                  <a:extLst>
                    <a:ext uri="{FF2B5EF4-FFF2-40B4-BE49-F238E27FC236}">
                      <a16:creationId xmlns:a16="http://schemas.microsoft.com/office/drawing/2014/main" id="{2405F267-D1EA-2041-BE76-8011383FDF36}"/>
                    </a:ext>
                  </a:extLst>
                </p:cNvPr>
                <p:cNvSpPr txBox="1">
                  <a:spLocks noRot="1" noChangeAspect="1" noMove="1" noResize="1" noEditPoints="1" noAdjustHandles="1" noChangeArrowheads="1" noChangeShapeType="1" noTextEdit="1"/>
                </p:cNvSpPr>
                <p:nvPr/>
              </p:nvSpPr>
              <p:spPr>
                <a:xfrm>
                  <a:off x="6817648" y="3100280"/>
                  <a:ext cx="786434" cy="523220"/>
                </a:xfrm>
                <a:prstGeom prst="rect">
                  <a:avLst/>
                </a:prstGeom>
                <a:blipFill>
                  <a:blip r:embed="rId16"/>
                  <a:stretch>
                    <a:fillRect r="-6452"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C213FAC-8174-374F-8269-E30FA37A0BEA}"/>
                    </a:ext>
                  </a:extLst>
                </p:cNvPr>
                <p:cNvSpPr txBox="1"/>
                <p:nvPr/>
              </p:nvSpPr>
              <p:spPr>
                <a:xfrm>
                  <a:off x="7482822" y="3100280"/>
                  <a:ext cx="77681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m:t>
                            </m:r>
                          </m:e>
                        </m:d>
                      </m:oMath>
                    </m:oMathPara>
                  </a14:m>
                  <a:endParaRPr lang="en-US" sz="2800" dirty="0"/>
                </a:p>
              </p:txBody>
            </p:sp>
          </mc:Choice>
          <mc:Fallback xmlns="">
            <p:sp>
              <p:nvSpPr>
                <p:cNvPr id="39" name="TextBox 38">
                  <a:extLst>
                    <a:ext uri="{FF2B5EF4-FFF2-40B4-BE49-F238E27FC236}">
                      <a16:creationId xmlns:a16="http://schemas.microsoft.com/office/drawing/2014/main" id="{BC213FAC-8174-374F-8269-E30FA37A0BEA}"/>
                    </a:ext>
                  </a:extLst>
                </p:cNvPr>
                <p:cNvSpPr txBox="1">
                  <a:spLocks noRot="1" noChangeAspect="1" noMove="1" noResize="1" noEditPoints="1" noAdjustHandles="1" noChangeArrowheads="1" noChangeShapeType="1" noTextEdit="1"/>
                </p:cNvSpPr>
                <p:nvPr/>
              </p:nvSpPr>
              <p:spPr>
                <a:xfrm>
                  <a:off x="7482822" y="3100280"/>
                  <a:ext cx="776815" cy="52322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F259CD9-50E6-EF44-990F-CDAFB19EA4C8}"/>
                    </a:ext>
                  </a:extLst>
                </p:cNvPr>
                <p:cNvSpPr txBox="1"/>
                <p:nvPr/>
              </p:nvSpPr>
              <p:spPr>
                <a:xfrm>
                  <a:off x="8190451" y="3100280"/>
                  <a:ext cx="77681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m:t>
                            </m:r>
                          </m:e>
                        </m:d>
                      </m:oMath>
                    </m:oMathPara>
                  </a14:m>
                  <a:endParaRPr lang="en-US" sz="2800" dirty="0"/>
                </a:p>
              </p:txBody>
            </p:sp>
          </mc:Choice>
          <mc:Fallback xmlns="">
            <p:sp>
              <p:nvSpPr>
                <p:cNvPr id="40" name="TextBox 39">
                  <a:extLst>
                    <a:ext uri="{FF2B5EF4-FFF2-40B4-BE49-F238E27FC236}">
                      <a16:creationId xmlns:a16="http://schemas.microsoft.com/office/drawing/2014/main" id="{5F259CD9-50E6-EF44-990F-CDAFB19EA4C8}"/>
                    </a:ext>
                  </a:extLst>
                </p:cNvPr>
                <p:cNvSpPr txBox="1">
                  <a:spLocks noRot="1" noChangeAspect="1" noMove="1" noResize="1" noEditPoints="1" noAdjustHandles="1" noChangeArrowheads="1" noChangeShapeType="1" noTextEdit="1"/>
                </p:cNvSpPr>
                <p:nvPr/>
              </p:nvSpPr>
              <p:spPr>
                <a:xfrm>
                  <a:off x="8190451" y="3100280"/>
                  <a:ext cx="776816" cy="523220"/>
                </a:xfrm>
                <a:prstGeom prst="rect">
                  <a:avLst/>
                </a:prstGeom>
                <a:blipFill>
                  <a:blip r:embed="rId18"/>
                  <a:stretch>
                    <a:fillRect/>
                  </a:stretch>
                </a:blipFill>
              </p:spPr>
              <p:txBody>
                <a:bodyPr/>
                <a:lstStyle/>
                <a:p>
                  <a:r>
                    <a:rPr lang="en-US">
                      <a:noFill/>
                    </a:rPr>
                    <a:t> </a:t>
                  </a:r>
                </a:p>
              </p:txBody>
            </p:sp>
          </mc:Fallback>
        </mc:AlternateContent>
        <p:cxnSp>
          <p:nvCxnSpPr>
            <p:cNvPr id="91" name="Straight Connector 90">
              <a:extLst>
                <a:ext uri="{FF2B5EF4-FFF2-40B4-BE49-F238E27FC236}">
                  <a16:creationId xmlns:a16="http://schemas.microsoft.com/office/drawing/2014/main" id="{4EF056F2-334B-AE42-89EB-C2ABFF682F0D}"/>
                </a:ext>
              </a:extLst>
            </p:cNvPr>
            <p:cNvCxnSpPr>
              <a:cxnSpLocks/>
            </p:cNvCxnSpPr>
            <p:nvPr/>
          </p:nvCxnSpPr>
          <p:spPr>
            <a:xfrm flipV="1">
              <a:off x="3647764"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4A064DF9-1396-3045-B8F5-571537864AB4}"/>
                </a:ext>
              </a:extLst>
            </p:cNvPr>
            <p:cNvCxnSpPr>
              <a:cxnSpLocks/>
            </p:cNvCxnSpPr>
            <p:nvPr/>
          </p:nvCxnSpPr>
          <p:spPr>
            <a:xfrm flipV="1">
              <a:off x="4349577"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55479E1-79E4-4D43-8995-3BEE3D088414}"/>
                </a:ext>
              </a:extLst>
            </p:cNvPr>
            <p:cNvCxnSpPr>
              <a:cxnSpLocks/>
            </p:cNvCxnSpPr>
            <p:nvPr/>
          </p:nvCxnSpPr>
          <p:spPr>
            <a:xfrm flipV="1">
              <a:off x="5051390"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C3EBB90-B646-1B48-9B7D-9D61EDDFA3C3}"/>
                </a:ext>
              </a:extLst>
            </p:cNvPr>
            <p:cNvCxnSpPr>
              <a:cxnSpLocks/>
            </p:cNvCxnSpPr>
            <p:nvPr/>
          </p:nvCxnSpPr>
          <p:spPr>
            <a:xfrm flipV="1">
              <a:off x="5753203"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C19878F-F50E-D34B-84B4-03796A5D369E}"/>
                </a:ext>
              </a:extLst>
            </p:cNvPr>
            <p:cNvCxnSpPr>
              <a:cxnSpLocks/>
            </p:cNvCxnSpPr>
            <p:nvPr/>
          </p:nvCxnSpPr>
          <p:spPr>
            <a:xfrm flipV="1">
              <a:off x="6455016"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4040271-F476-FE43-A0C3-80F4D61EA2CE}"/>
                </a:ext>
              </a:extLst>
            </p:cNvPr>
            <p:cNvCxnSpPr>
              <a:cxnSpLocks/>
            </p:cNvCxnSpPr>
            <p:nvPr/>
          </p:nvCxnSpPr>
          <p:spPr>
            <a:xfrm flipV="1">
              <a:off x="7156829"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5D51E2B-A6D5-9B44-BC1C-C77232C1B296}"/>
                </a:ext>
              </a:extLst>
            </p:cNvPr>
            <p:cNvCxnSpPr>
              <a:cxnSpLocks/>
            </p:cNvCxnSpPr>
            <p:nvPr/>
          </p:nvCxnSpPr>
          <p:spPr>
            <a:xfrm flipV="1">
              <a:off x="7858642"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EE5A95C-6981-A944-ADF9-351C5D2E022E}"/>
                </a:ext>
              </a:extLst>
            </p:cNvPr>
            <p:cNvCxnSpPr>
              <a:cxnSpLocks/>
            </p:cNvCxnSpPr>
            <p:nvPr/>
          </p:nvCxnSpPr>
          <p:spPr>
            <a:xfrm flipV="1">
              <a:off x="8560458" y="1352089"/>
              <a:ext cx="0" cy="472171"/>
            </a:xfrm>
            <a:prstGeom prst="line">
              <a:avLst/>
            </a:prstGeom>
            <a:ln>
              <a:headEnd type="none"/>
              <a:tailEnd type="non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EF6F04D8-6066-BC4E-A08A-D7B3516052C7}"/>
                </a:ext>
              </a:extLst>
            </p:cNvPr>
            <p:cNvSpPr txBox="1"/>
            <p:nvPr/>
          </p:nvSpPr>
          <p:spPr>
            <a:xfrm>
              <a:off x="9064517" y="3229312"/>
              <a:ext cx="963725" cy="461665"/>
            </a:xfrm>
            <a:prstGeom prst="rect">
              <a:avLst/>
            </a:prstGeom>
            <a:noFill/>
          </p:spPr>
          <p:txBody>
            <a:bodyPr wrap="none" rtlCol="0">
              <a:spAutoFit/>
            </a:bodyPr>
            <a:lstStyle/>
            <a:p>
              <a:r>
                <a:rPr lang="en-US" sz="2400" dirty="0"/>
                <a:t>qubits</a:t>
              </a:r>
            </a:p>
          </p:txBody>
        </p:sp>
      </p:grpSp>
      <p:grpSp>
        <p:nvGrpSpPr>
          <p:cNvPr id="149" name="Group 148">
            <a:extLst>
              <a:ext uri="{FF2B5EF4-FFF2-40B4-BE49-F238E27FC236}">
                <a16:creationId xmlns:a16="http://schemas.microsoft.com/office/drawing/2014/main" id="{9633F0FB-2A36-B64C-A66F-8A21FD2DCB69}"/>
              </a:ext>
            </a:extLst>
          </p:cNvPr>
          <p:cNvGrpSpPr/>
          <p:nvPr/>
        </p:nvGrpSpPr>
        <p:grpSpPr>
          <a:xfrm>
            <a:off x="1432953" y="1210126"/>
            <a:ext cx="1267297" cy="2225628"/>
            <a:chOff x="1432953" y="1210126"/>
            <a:chExt cx="1267297" cy="2225628"/>
          </a:xfrm>
        </p:grpSpPr>
        <p:sp>
          <p:nvSpPr>
            <p:cNvPr id="5" name="Rectangle 3">
              <a:extLst>
                <a:ext uri="{FF2B5EF4-FFF2-40B4-BE49-F238E27FC236}">
                  <a16:creationId xmlns:a16="http://schemas.microsoft.com/office/drawing/2014/main" id="{8C2C8E50-0BDB-A048-808D-61F5DDEF559B}"/>
                </a:ext>
              </a:extLst>
            </p:cNvPr>
            <p:cNvSpPr/>
            <p:nvPr/>
          </p:nvSpPr>
          <p:spPr>
            <a:xfrm>
              <a:off x="2092579" y="1509731"/>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rgbClr val="A68118"/>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3">
              <a:extLst>
                <a:ext uri="{FF2B5EF4-FFF2-40B4-BE49-F238E27FC236}">
                  <a16:creationId xmlns:a16="http://schemas.microsoft.com/office/drawing/2014/main" id="{F7901EB0-202C-7048-8ECD-F5A163B4BCC8}"/>
                </a:ext>
              </a:extLst>
            </p:cNvPr>
            <p:cNvSpPr/>
            <p:nvPr/>
          </p:nvSpPr>
          <p:spPr>
            <a:xfrm>
              <a:off x="1432953" y="1210126"/>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rgbClr val="A68118"/>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3">
              <a:extLst>
                <a:ext uri="{FF2B5EF4-FFF2-40B4-BE49-F238E27FC236}">
                  <a16:creationId xmlns:a16="http://schemas.microsoft.com/office/drawing/2014/main" id="{65C2BFF3-253B-8F4F-826D-6EB05B7F2525}"/>
                </a:ext>
              </a:extLst>
            </p:cNvPr>
            <p:cNvSpPr/>
            <p:nvPr/>
          </p:nvSpPr>
          <p:spPr>
            <a:xfrm>
              <a:off x="2092579" y="2358322"/>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Rectangle 3">
              <a:extLst>
                <a:ext uri="{FF2B5EF4-FFF2-40B4-BE49-F238E27FC236}">
                  <a16:creationId xmlns:a16="http://schemas.microsoft.com/office/drawing/2014/main" id="{F7E22599-E08E-6142-8E6C-66520F299EF3}"/>
                </a:ext>
              </a:extLst>
            </p:cNvPr>
            <p:cNvSpPr/>
            <p:nvPr/>
          </p:nvSpPr>
          <p:spPr>
            <a:xfrm>
              <a:off x="1432953" y="2058717"/>
              <a:ext cx="607671" cy="1077432"/>
            </a:xfrm>
            <a:custGeom>
              <a:avLst/>
              <a:gdLst>
                <a:gd name="connsiteX0" fmla="*/ 0 w 722235"/>
                <a:gd name="connsiteY0" fmla="*/ 0 h 796878"/>
                <a:gd name="connsiteX1" fmla="*/ 722235 w 722235"/>
                <a:gd name="connsiteY1" fmla="*/ 0 h 796878"/>
                <a:gd name="connsiteX2" fmla="*/ 722235 w 722235"/>
                <a:gd name="connsiteY2" fmla="*/ 796878 h 796878"/>
                <a:gd name="connsiteX3" fmla="*/ 0 w 722235"/>
                <a:gd name="connsiteY3" fmla="*/ 796878 h 796878"/>
                <a:gd name="connsiteX4" fmla="*/ 0 w 722235"/>
                <a:gd name="connsiteY4" fmla="*/ 0 h 796878"/>
                <a:gd name="connsiteX0" fmla="*/ 119496 w 722235"/>
                <a:gd name="connsiteY0" fmla="*/ 0 h 1077432"/>
                <a:gd name="connsiteX1" fmla="*/ 722235 w 722235"/>
                <a:gd name="connsiteY1" fmla="*/ 280554 h 1077432"/>
                <a:gd name="connsiteX2" fmla="*/ 722235 w 722235"/>
                <a:gd name="connsiteY2" fmla="*/ 1077432 h 1077432"/>
                <a:gd name="connsiteX3" fmla="*/ 0 w 722235"/>
                <a:gd name="connsiteY3" fmla="*/ 1077432 h 1077432"/>
                <a:gd name="connsiteX4" fmla="*/ 119496 w 722235"/>
                <a:gd name="connsiteY4" fmla="*/ 0 h 1077432"/>
                <a:gd name="connsiteX0" fmla="*/ 0 w 602739"/>
                <a:gd name="connsiteY0" fmla="*/ 0 h 1077432"/>
                <a:gd name="connsiteX1" fmla="*/ 602739 w 602739"/>
                <a:gd name="connsiteY1" fmla="*/ 280554 h 1077432"/>
                <a:gd name="connsiteX2" fmla="*/ 602739 w 602739"/>
                <a:gd name="connsiteY2" fmla="*/ 1077432 h 1077432"/>
                <a:gd name="connsiteX3" fmla="*/ 36367 w 602739"/>
                <a:gd name="connsiteY3" fmla="*/ 791682 h 1077432"/>
                <a:gd name="connsiteX4" fmla="*/ 0 w 602739"/>
                <a:gd name="connsiteY4" fmla="*/ 0 h 1077432"/>
                <a:gd name="connsiteX0" fmla="*/ 1 w 602740"/>
                <a:gd name="connsiteY0" fmla="*/ 0 h 1077432"/>
                <a:gd name="connsiteX1" fmla="*/ 602740 w 602740"/>
                <a:gd name="connsiteY1" fmla="*/ 280554 h 1077432"/>
                <a:gd name="connsiteX2" fmla="*/ 602740 w 602740"/>
                <a:gd name="connsiteY2" fmla="*/ 1077432 h 1077432"/>
                <a:gd name="connsiteX3" fmla="*/ 0 w 602740"/>
                <a:gd name="connsiteY3" fmla="*/ 791682 h 1077432"/>
                <a:gd name="connsiteX4" fmla="*/ 1 w 602740"/>
                <a:gd name="connsiteY4" fmla="*/ 0 h 107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40" h="1077432">
                  <a:moveTo>
                    <a:pt x="1" y="0"/>
                  </a:moveTo>
                  <a:lnTo>
                    <a:pt x="602740" y="280554"/>
                  </a:lnTo>
                  <a:lnTo>
                    <a:pt x="602740" y="1077432"/>
                  </a:lnTo>
                  <a:lnTo>
                    <a:pt x="0" y="791682"/>
                  </a:lnTo>
                  <a:cubicBezTo>
                    <a:pt x="0" y="527788"/>
                    <a:pt x="1" y="263894"/>
                    <a:pt x="1" y="0"/>
                  </a:cubicBezTo>
                  <a:close/>
                </a:path>
              </a:pathLst>
            </a:cu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Box 8">
              <a:extLst>
                <a:ext uri="{FF2B5EF4-FFF2-40B4-BE49-F238E27FC236}">
                  <a16:creationId xmlns:a16="http://schemas.microsoft.com/office/drawing/2014/main" id="{E90A36BF-5AA7-AD41-8DF1-DA5F952015CF}"/>
                </a:ext>
              </a:extLst>
            </p:cNvPr>
            <p:cNvSpPr txBox="1"/>
            <p:nvPr/>
          </p:nvSpPr>
          <p:spPr>
            <a:xfrm rot="356084">
              <a:off x="1773989" y="1401478"/>
              <a:ext cx="301686" cy="369332"/>
            </a:xfrm>
            <a:prstGeom prst="rect">
              <a:avLst/>
            </a:prstGeom>
            <a:noFill/>
          </p:spPr>
          <p:txBody>
            <a:bodyPr wrap="none" rtlCol="0">
              <a:spAutoFit/>
            </a:bodyPr>
            <a:lstStyle/>
            <a:p>
              <a:r>
                <a:rPr lang="en-US" dirty="0">
                  <a:solidFill>
                    <a:schemeClr val="bg1"/>
                  </a:solidFill>
                </a:rPr>
                <a:t>0</a:t>
              </a:r>
            </a:p>
          </p:txBody>
        </p:sp>
        <p:sp>
          <p:nvSpPr>
            <p:cNvPr id="10" name="TextBox 9">
              <a:extLst>
                <a:ext uri="{FF2B5EF4-FFF2-40B4-BE49-F238E27FC236}">
                  <a16:creationId xmlns:a16="http://schemas.microsoft.com/office/drawing/2014/main" id="{BB16B493-D957-3048-A3CA-84B8DB74F5A0}"/>
                </a:ext>
              </a:extLst>
            </p:cNvPr>
            <p:cNvSpPr txBox="1"/>
            <p:nvPr/>
          </p:nvSpPr>
          <p:spPr>
            <a:xfrm rot="214823">
              <a:off x="1782002" y="2731728"/>
              <a:ext cx="301686" cy="369332"/>
            </a:xfrm>
            <a:prstGeom prst="rect">
              <a:avLst/>
            </a:prstGeom>
            <a:noFill/>
          </p:spPr>
          <p:txBody>
            <a:bodyPr wrap="none" rtlCol="0">
              <a:spAutoFit/>
            </a:bodyPr>
            <a:lstStyle/>
            <a:p>
              <a:r>
                <a:rPr lang="en-US" dirty="0">
                  <a:solidFill>
                    <a:schemeClr val="bg1"/>
                  </a:solidFill>
                </a:rPr>
                <a:t>0</a:t>
              </a:r>
            </a:p>
          </p:txBody>
        </p:sp>
        <p:sp>
          <p:nvSpPr>
            <p:cNvPr id="11" name="TextBox 10">
              <a:extLst>
                <a:ext uri="{FF2B5EF4-FFF2-40B4-BE49-F238E27FC236}">
                  <a16:creationId xmlns:a16="http://schemas.microsoft.com/office/drawing/2014/main" id="{70EEB133-3A39-F64B-B91A-3DABAECD339C}"/>
                </a:ext>
              </a:extLst>
            </p:cNvPr>
            <p:cNvSpPr txBox="1"/>
            <p:nvPr/>
          </p:nvSpPr>
          <p:spPr>
            <a:xfrm rot="458626">
              <a:off x="2057520" y="1528173"/>
              <a:ext cx="301686" cy="369332"/>
            </a:xfrm>
            <a:prstGeom prst="rect">
              <a:avLst/>
            </a:prstGeom>
            <a:noFill/>
          </p:spPr>
          <p:txBody>
            <a:bodyPr wrap="none" rtlCol="0">
              <a:spAutoFit/>
            </a:bodyPr>
            <a:lstStyle/>
            <a:p>
              <a:r>
                <a:rPr lang="en-US" dirty="0">
                  <a:solidFill>
                    <a:schemeClr val="bg1"/>
                  </a:solidFill>
                </a:rPr>
                <a:t>1</a:t>
              </a:r>
            </a:p>
          </p:txBody>
        </p:sp>
        <p:sp>
          <p:nvSpPr>
            <p:cNvPr id="12" name="TextBox 11">
              <a:extLst>
                <a:ext uri="{FF2B5EF4-FFF2-40B4-BE49-F238E27FC236}">
                  <a16:creationId xmlns:a16="http://schemas.microsoft.com/office/drawing/2014/main" id="{F3789D57-CF47-2640-9DD2-B0D529469F22}"/>
                </a:ext>
              </a:extLst>
            </p:cNvPr>
            <p:cNvSpPr txBox="1"/>
            <p:nvPr/>
          </p:nvSpPr>
          <p:spPr>
            <a:xfrm rot="382899">
              <a:off x="2057520" y="2861216"/>
              <a:ext cx="301686" cy="369332"/>
            </a:xfrm>
            <a:prstGeom prst="rect">
              <a:avLst/>
            </a:prstGeom>
            <a:noFill/>
          </p:spPr>
          <p:txBody>
            <a:bodyPr wrap="none" rtlCol="0">
              <a:spAutoFit/>
            </a:bodyPr>
            <a:lstStyle/>
            <a:p>
              <a:r>
                <a:rPr lang="en-US" dirty="0">
                  <a:solidFill>
                    <a:schemeClr val="bg1"/>
                  </a:solidFill>
                </a:rPr>
                <a:t>1</a:t>
              </a:r>
            </a:p>
          </p:txBody>
        </p:sp>
        <p:cxnSp>
          <p:nvCxnSpPr>
            <p:cNvPr id="111" name="Straight Arrow Connector 110">
              <a:extLst>
                <a:ext uri="{FF2B5EF4-FFF2-40B4-BE49-F238E27FC236}">
                  <a16:creationId xmlns:a16="http://schemas.microsoft.com/office/drawing/2014/main" id="{C1670F6C-79B4-8C43-B4E0-26C1F99C95C8}"/>
                </a:ext>
              </a:extLst>
            </p:cNvPr>
            <p:cNvCxnSpPr>
              <a:cxnSpLocks/>
            </p:cNvCxnSpPr>
            <p:nvPr/>
          </p:nvCxnSpPr>
          <p:spPr>
            <a:xfrm flipH="1" flipV="1">
              <a:off x="1489133" y="1697258"/>
              <a:ext cx="468000" cy="225408"/>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3DF90195-E5D0-2C41-A401-B7693067F334}"/>
                </a:ext>
              </a:extLst>
            </p:cNvPr>
            <p:cNvCxnSpPr>
              <a:cxnSpLocks/>
            </p:cNvCxnSpPr>
            <p:nvPr/>
          </p:nvCxnSpPr>
          <p:spPr>
            <a:xfrm>
              <a:off x="2373329" y="1717444"/>
              <a:ext cx="0" cy="644998"/>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35BFD052-16E8-BC47-92EA-8803F8548118}"/>
                </a:ext>
              </a:extLst>
            </p:cNvPr>
            <p:cNvCxnSpPr>
              <a:cxnSpLocks/>
            </p:cNvCxnSpPr>
            <p:nvPr/>
          </p:nvCxnSpPr>
          <p:spPr>
            <a:xfrm flipH="1" flipV="1">
              <a:off x="2184986" y="2497892"/>
              <a:ext cx="392400" cy="709200"/>
            </a:xfrm>
            <a:prstGeom prst="straightConnector1">
              <a:avLst/>
            </a:prstGeom>
            <a:ln w="508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BD1D28BD-1147-7A4F-8983-08AA7324A346}"/>
                </a:ext>
              </a:extLst>
            </p:cNvPr>
            <p:cNvCxnSpPr>
              <a:cxnSpLocks/>
            </p:cNvCxnSpPr>
            <p:nvPr/>
          </p:nvCxnSpPr>
          <p:spPr>
            <a:xfrm flipH="1">
              <a:off x="1496510" y="2385205"/>
              <a:ext cx="396000" cy="401626"/>
            </a:xfrm>
            <a:prstGeom prst="straightConnector1">
              <a:avLst/>
            </a:prstGeom>
            <a:ln w="63500" cap="rnd">
              <a:solidFill>
                <a:schemeClr val="bg1">
                  <a:alpha val="96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pic>
        <p:nvPicPr>
          <p:cNvPr id="148" name="Picture 147">
            <a:extLst>
              <a:ext uri="{FF2B5EF4-FFF2-40B4-BE49-F238E27FC236}">
                <a16:creationId xmlns:a16="http://schemas.microsoft.com/office/drawing/2014/main" id="{0C6B93A6-9F7C-5E49-AFF1-A22B2C3EE144}"/>
              </a:ext>
            </a:extLst>
          </p:cNvPr>
          <p:cNvPicPr>
            <a:picLocks noChangeAspect="1"/>
          </p:cNvPicPr>
          <p:nvPr/>
        </p:nvPicPr>
        <p:blipFill>
          <a:blip r:embed="rId19"/>
          <a:stretch>
            <a:fillRect/>
          </a:stretch>
        </p:blipFill>
        <p:spPr>
          <a:xfrm>
            <a:off x="271878" y="1111771"/>
            <a:ext cx="918520" cy="1414873"/>
          </a:xfrm>
          <a:prstGeom prst="rect">
            <a:avLst/>
          </a:prstGeom>
        </p:spPr>
      </p:pic>
      <p:pic>
        <p:nvPicPr>
          <p:cNvPr id="158" name="Picture 157">
            <a:extLst>
              <a:ext uri="{FF2B5EF4-FFF2-40B4-BE49-F238E27FC236}">
                <a16:creationId xmlns:a16="http://schemas.microsoft.com/office/drawing/2014/main" id="{8719B746-A153-1E42-8C15-329F8D588C46}"/>
              </a:ext>
            </a:extLst>
          </p:cNvPr>
          <p:cNvPicPr>
            <a:picLocks noChangeAspect="1"/>
          </p:cNvPicPr>
          <p:nvPr/>
        </p:nvPicPr>
        <p:blipFill>
          <a:blip r:embed="rId20"/>
          <a:stretch>
            <a:fillRect/>
          </a:stretch>
        </p:blipFill>
        <p:spPr>
          <a:xfrm>
            <a:off x="10732225" y="1121330"/>
            <a:ext cx="1082025" cy="1602672"/>
          </a:xfrm>
          <a:prstGeom prst="rect">
            <a:avLst/>
          </a:prstGeom>
        </p:spPr>
      </p:pic>
    </p:spTree>
    <p:extLst>
      <p:ext uri="{BB962C8B-B14F-4D97-AF65-F5344CB8AC3E}">
        <p14:creationId xmlns:p14="http://schemas.microsoft.com/office/powerpoint/2010/main" val="38433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blinds(horizontal)">
                                      <p:cBhvr>
                                        <p:cTn id="7" dur="500"/>
                                        <p:tgtEl>
                                          <p:spTgt spid="1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5"/>
                                        </p:tgtEl>
                                        <p:attrNameLst>
                                          <p:attrName>style.visibility</p:attrName>
                                        </p:attrNameLst>
                                      </p:cBhvr>
                                      <p:to>
                                        <p:strVal val="visible"/>
                                      </p:to>
                                    </p:set>
                                    <p:animEffect transition="in" filter="blinds(horizontal)">
                                      <p:cBhvr>
                                        <p:cTn id="12" dur="500"/>
                                        <p:tgtEl>
                                          <p:spTgt spid="1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6"/>
                                        </p:tgtEl>
                                        <p:attrNameLst>
                                          <p:attrName>style.visibility</p:attrName>
                                        </p:attrNameLst>
                                      </p:cBhvr>
                                      <p:to>
                                        <p:strVal val="visible"/>
                                      </p:to>
                                    </p:set>
                                    <p:animEffect transition="in" filter="blinds(horizontal)">
                                      <p:cBhvr>
                                        <p:cTn id="17" dur="500"/>
                                        <p:tgtEl>
                                          <p:spTgt spid="15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7"/>
                                        </p:tgtEl>
                                        <p:attrNameLst>
                                          <p:attrName>style.visibility</p:attrName>
                                        </p:attrNameLst>
                                      </p:cBhvr>
                                      <p:to>
                                        <p:strVal val="visible"/>
                                      </p:to>
                                    </p:set>
                                    <p:animEffect transition="in" filter="blinds(horizontal)">
                                      <p:cBhvr>
                                        <p:cTn id="22" dur="5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97276F-F088-E64E-9001-DAAC6DF4B2E0}"/>
              </a:ext>
            </a:extLst>
          </p:cNvPr>
          <p:cNvSpPr>
            <a:spLocks noGrp="1"/>
          </p:cNvSpPr>
          <p:nvPr>
            <p:ph type="title"/>
          </p:nvPr>
        </p:nvSpPr>
        <p:spPr/>
        <p:txBody>
          <a:bodyPr/>
          <a:lstStyle/>
          <a:p>
            <a:r>
              <a:rPr lang="en-ZA" dirty="0"/>
              <a:t>BB84 Protocol: 1-Bit Example</a:t>
            </a:r>
            <a:endParaRPr lang="en-US" dirty="0"/>
          </a:p>
        </p:txBody>
      </p:sp>
      <p:pic>
        <p:nvPicPr>
          <p:cNvPr id="10" name="Picture 9">
            <a:extLst>
              <a:ext uri="{FF2B5EF4-FFF2-40B4-BE49-F238E27FC236}">
                <a16:creationId xmlns:a16="http://schemas.microsoft.com/office/drawing/2014/main" id="{E61B4E42-B2F5-1C42-B536-2EA880E308E1}"/>
              </a:ext>
            </a:extLst>
          </p:cNvPr>
          <p:cNvPicPr>
            <a:picLocks noChangeAspect="1"/>
          </p:cNvPicPr>
          <p:nvPr/>
        </p:nvPicPr>
        <p:blipFill>
          <a:blip r:embed="rId3"/>
          <a:stretch>
            <a:fillRect/>
          </a:stretch>
        </p:blipFill>
        <p:spPr>
          <a:xfrm>
            <a:off x="2045768" y="1069463"/>
            <a:ext cx="634282" cy="977037"/>
          </a:xfrm>
          <a:prstGeom prst="rect">
            <a:avLst/>
          </a:prstGeom>
        </p:spPr>
      </p:pic>
      <p:pic>
        <p:nvPicPr>
          <p:cNvPr id="11" name="Picture 10">
            <a:extLst>
              <a:ext uri="{FF2B5EF4-FFF2-40B4-BE49-F238E27FC236}">
                <a16:creationId xmlns:a16="http://schemas.microsoft.com/office/drawing/2014/main" id="{1A8853D1-27CF-E541-8177-AFF1BFD9F9FD}"/>
              </a:ext>
            </a:extLst>
          </p:cNvPr>
          <p:cNvPicPr>
            <a:picLocks noChangeAspect="1"/>
          </p:cNvPicPr>
          <p:nvPr/>
        </p:nvPicPr>
        <p:blipFill>
          <a:blip r:embed="rId4"/>
          <a:stretch>
            <a:fillRect/>
          </a:stretch>
        </p:blipFill>
        <p:spPr>
          <a:xfrm>
            <a:off x="9709876" y="939779"/>
            <a:ext cx="747190" cy="1106721"/>
          </a:xfrm>
          <a:prstGeom prst="rect">
            <a:avLst/>
          </a:prstGeom>
        </p:spPr>
      </p:pic>
      <p:pic>
        <p:nvPicPr>
          <p:cNvPr id="19" name="Graphic 18">
            <a:extLst>
              <a:ext uri="{FF2B5EF4-FFF2-40B4-BE49-F238E27FC236}">
                <a16:creationId xmlns:a16="http://schemas.microsoft.com/office/drawing/2014/main" id="{9806756E-5860-384B-91C4-C5ECF385946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5437" y="2483426"/>
            <a:ext cx="11976563" cy="3709555"/>
          </a:xfrm>
          <a:prstGeom prst="rect">
            <a:avLst/>
          </a:prstGeom>
        </p:spPr>
      </p:pic>
    </p:spTree>
    <p:extLst>
      <p:ext uri="{BB962C8B-B14F-4D97-AF65-F5344CB8AC3E}">
        <p14:creationId xmlns:p14="http://schemas.microsoft.com/office/powerpoint/2010/main" val="1056580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A68BE9-5224-CD4E-B6D2-9013E857E2EA}"/>
              </a:ext>
            </a:extLst>
          </p:cNvPr>
          <p:cNvSpPr>
            <a:spLocks noGrp="1"/>
          </p:cNvSpPr>
          <p:nvPr>
            <p:ph type="sldNum" sz="quarter" idx="12"/>
          </p:nvPr>
        </p:nvSpPr>
        <p:spPr/>
        <p:txBody>
          <a:bodyPr/>
          <a:lstStyle/>
          <a:p>
            <a:fld id="{591A223C-FA10-BC46-A853-03BA373D023C}" type="slidenum">
              <a:rPr lang="en-US" smtClean="0"/>
              <a:t>13</a:t>
            </a:fld>
            <a:endParaRPr lang="en-US"/>
          </a:p>
        </p:txBody>
      </p:sp>
      <p:sp>
        <p:nvSpPr>
          <p:cNvPr id="2" name="Title 1">
            <a:extLst>
              <a:ext uri="{FF2B5EF4-FFF2-40B4-BE49-F238E27FC236}">
                <a16:creationId xmlns:a16="http://schemas.microsoft.com/office/drawing/2014/main" id="{708B8EDA-2096-E44C-890A-B6849E8A752B}"/>
              </a:ext>
            </a:extLst>
          </p:cNvPr>
          <p:cNvSpPr>
            <a:spLocks noGrp="1"/>
          </p:cNvSpPr>
          <p:nvPr>
            <p:ph type="title"/>
          </p:nvPr>
        </p:nvSpPr>
        <p:spPr/>
        <p:txBody>
          <a:bodyPr/>
          <a:lstStyle/>
          <a:p>
            <a:r>
              <a:rPr lang="en-US" dirty="0"/>
              <a:t>B92 Protocol / Bennett (1992) </a:t>
            </a:r>
          </a:p>
        </p:txBody>
      </p:sp>
      <p:cxnSp>
        <p:nvCxnSpPr>
          <p:cNvPr id="5" name="Straight Arrow Connector 4">
            <a:extLst>
              <a:ext uri="{FF2B5EF4-FFF2-40B4-BE49-F238E27FC236}">
                <a16:creationId xmlns:a16="http://schemas.microsoft.com/office/drawing/2014/main" id="{010043C8-B913-0B49-ACB3-786981385395}"/>
              </a:ext>
            </a:extLst>
          </p:cNvPr>
          <p:cNvCxnSpPr>
            <a:cxnSpLocks/>
          </p:cNvCxnSpPr>
          <p:nvPr/>
        </p:nvCxnSpPr>
        <p:spPr>
          <a:xfrm flipV="1">
            <a:off x="1382522" y="2504276"/>
            <a:ext cx="1138153" cy="1419"/>
          </a:xfrm>
          <a:prstGeom prst="straightConnector1">
            <a:avLst/>
          </a:prstGeom>
          <a:ln w="1016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0C373D7-FAC9-0D4A-AE84-5EACC9E36CA3}"/>
                  </a:ext>
                </a:extLst>
              </p:cNvPr>
              <p:cNvSpPr/>
              <p:nvPr/>
            </p:nvSpPr>
            <p:spPr>
              <a:xfrm>
                <a:off x="2860921" y="2273444"/>
                <a:ext cx="1560894" cy="461665"/>
              </a:xfrm>
              <a:prstGeom prst="rect">
                <a:avLst/>
              </a:prstGeom>
            </p:spPr>
            <p:txBody>
              <a:bodyPr wrap="square">
                <a:spAutoFit/>
              </a:bodyPr>
              <a:lstStyle/>
              <a:p>
                <a:r>
                  <a:rPr lang="en-US" sz="2400" dirty="0">
                    <a:ea typeface="Cambria Math" panose="02040503050406030204" pitchFamily="18" charset="0"/>
                  </a:rPr>
                  <a:t>0  </a:t>
                </a:r>
                <a14:m>
                  <m:oMath xmlns:m="http://schemas.openxmlformats.org/officeDocument/2006/math">
                    <m:r>
                      <a:rPr lang="en-US" sz="2400" i="1">
                        <a:latin typeface="Cambria Math" panose="02040503050406030204" pitchFamily="18" charset="0"/>
                        <a:ea typeface="Cambria Math" panose="02040503050406030204" pitchFamily="18" charset="0"/>
                      </a:rPr>
                      <m:t>⟶ </m:t>
                    </m:r>
                    <m:d>
                      <m:dPr>
                        <m:begChr m:val="|"/>
                        <m:endChr m:val="⟩"/>
                        <m:ctrlPr>
                          <a:rPr lang="en-US" sz="2400" i="1" smtClean="0">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0</m:t>
                        </m:r>
                      </m:e>
                    </m:d>
                  </m:oMath>
                </a14:m>
                <a:endParaRPr lang="en-US" sz="2400" dirty="0">
                  <a:solidFill>
                    <a:schemeClr val="tx1"/>
                  </a:solidFill>
                </a:endParaRPr>
              </a:p>
            </p:txBody>
          </p:sp>
        </mc:Choice>
        <mc:Fallback xmlns="">
          <p:sp>
            <p:nvSpPr>
              <p:cNvPr id="13" name="Rectangle 12">
                <a:extLst>
                  <a:ext uri="{FF2B5EF4-FFF2-40B4-BE49-F238E27FC236}">
                    <a16:creationId xmlns:a16="http://schemas.microsoft.com/office/drawing/2014/main" id="{00C373D7-FAC9-0D4A-AE84-5EACC9E36CA3}"/>
                  </a:ext>
                </a:extLst>
              </p:cNvPr>
              <p:cNvSpPr>
                <a:spLocks noRot="1" noChangeAspect="1" noMove="1" noResize="1" noEditPoints="1" noAdjustHandles="1" noChangeArrowheads="1" noChangeShapeType="1" noTextEdit="1"/>
              </p:cNvSpPr>
              <p:nvPr/>
            </p:nvSpPr>
            <p:spPr>
              <a:xfrm>
                <a:off x="2860921" y="2273444"/>
                <a:ext cx="1560894" cy="461665"/>
              </a:xfrm>
              <a:prstGeom prst="rect">
                <a:avLst/>
              </a:prstGeom>
              <a:blipFill>
                <a:blip r:embed="rId3"/>
                <a:stretch>
                  <a:fillRect l="-5645" t="-5405"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F4F12B3-3DCB-D84F-BC58-2F1E5EB8E538}"/>
                  </a:ext>
                </a:extLst>
              </p:cNvPr>
              <p:cNvSpPr/>
              <p:nvPr/>
            </p:nvSpPr>
            <p:spPr>
              <a:xfrm>
                <a:off x="2860921" y="1326933"/>
                <a:ext cx="1708201" cy="461665"/>
              </a:xfrm>
              <a:prstGeom prst="rect">
                <a:avLst/>
              </a:prstGeom>
            </p:spPr>
            <p:txBody>
              <a:bodyPr wrap="square">
                <a:spAutoFit/>
              </a:bodyPr>
              <a:lstStyle/>
              <a:p>
                <a:r>
                  <a:rPr lang="en-US" sz="2400" dirty="0">
                    <a:solidFill>
                      <a:schemeClr val="tx1"/>
                    </a:solidFill>
                    <a:ea typeface="Cambria Math" panose="02040503050406030204" pitchFamily="18" charset="0"/>
                  </a:rPr>
                  <a:t>1 </a:t>
                </a:r>
                <a14:m>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m:t>
                        </m:r>
                      </m:e>
                    </m:d>
                  </m:oMath>
                </a14:m>
                <a:endParaRPr lang="en-US" sz="2400" dirty="0">
                  <a:solidFill>
                    <a:schemeClr val="tx1"/>
                  </a:solidFill>
                </a:endParaRPr>
              </a:p>
            </p:txBody>
          </p:sp>
        </mc:Choice>
        <mc:Fallback xmlns="">
          <p:sp>
            <p:nvSpPr>
              <p:cNvPr id="14" name="Rectangle 13">
                <a:extLst>
                  <a:ext uri="{FF2B5EF4-FFF2-40B4-BE49-F238E27FC236}">
                    <a16:creationId xmlns:a16="http://schemas.microsoft.com/office/drawing/2014/main" id="{1F4F12B3-3DCB-D84F-BC58-2F1E5EB8E538}"/>
                  </a:ext>
                </a:extLst>
              </p:cNvPr>
              <p:cNvSpPr>
                <a:spLocks noRot="1" noChangeAspect="1" noMove="1" noResize="1" noEditPoints="1" noAdjustHandles="1" noChangeArrowheads="1" noChangeShapeType="1" noTextEdit="1"/>
              </p:cNvSpPr>
              <p:nvPr/>
            </p:nvSpPr>
            <p:spPr>
              <a:xfrm>
                <a:off x="2860921" y="1326933"/>
                <a:ext cx="1708201" cy="461665"/>
              </a:xfrm>
              <a:prstGeom prst="rect">
                <a:avLst/>
              </a:prstGeom>
              <a:blipFill>
                <a:blip r:embed="rId4"/>
                <a:stretch>
                  <a:fillRect l="-5147" t="-5263" b="-26316"/>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4115D0EC-7CD1-C543-8CA7-2645A68696F6}"/>
              </a:ext>
            </a:extLst>
          </p:cNvPr>
          <p:cNvCxnSpPr>
            <a:cxnSpLocks/>
          </p:cNvCxnSpPr>
          <p:nvPr/>
        </p:nvCxnSpPr>
        <p:spPr>
          <a:xfrm flipV="1">
            <a:off x="1380688" y="1601261"/>
            <a:ext cx="846035" cy="896231"/>
          </a:xfrm>
          <a:prstGeom prst="straightConnector1">
            <a:avLst/>
          </a:prstGeom>
          <a:ln w="1016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108D8941-9D33-584E-81C5-4A0E36C8B8B8}"/>
              </a:ext>
            </a:extLst>
          </p:cNvPr>
          <p:cNvGrpSpPr/>
          <p:nvPr/>
        </p:nvGrpSpPr>
        <p:grpSpPr>
          <a:xfrm>
            <a:off x="7897499" y="1053663"/>
            <a:ext cx="1807155" cy="1800653"/>
            <a:chOff x="1414952" y="4471073"/>
            <a:chExt cx="1807155" cy="1800653"/>
          </a:xfrm>
        </p:grpSpPr>
        <p:grpSp>
          <p:nvGrpSpPr>
            <p:cNvPr id="24" name="Group 23">
              <a:extLst>
                <a:ext uri="{FF2B5EF4-FFF2-40B4-BE49-F238E27FC236}">
                  <a16:creationId xmlns:a16="http://schemas.microsoft.com/office/drawing/2014/main" id="{4ED30155-CE36-2047-95B3-C176EDA06C92}"/>
                </a:ext>
              </a:extLst>
            </p:cNvPr>
            <p:cNvGrpSpPr/>
            <p:nvPr/>
          </p:nvGrpSpPr>
          <p:grpSpPr>
            <a:xfrm>
              <a:off x="1422107" y="4471073"/>
              <a:ext cx="1800000" cy="1800000"/>
              <a:chOff x="6008421" y="2525708"/>
              <a:chExt cx="1800000" cy="1800000"/>
            </a:xfrm>
          </p:grpSpPr>
          <p:cxnSp>
            <p:nvCxnSpPr>
              <p:cNvPr id="18" name="Straight Arrow Connector 17">
                <a:extLst>
                  <a:ext uri="{FF2B5EF4-FFF2-40B4-BE49-F238E27FC236}">
                    <a16:creationId xmlns:a16="http://schemas.microsoft.com/office/drawing/2014/main" id="{5C85112E-75D9-6648-BE3F-34E8B5E0F9DF}"/>
                  </a:ext>
                </a:extLst>
              </p:cNvPr>
              <p:cNvCxnSpPr>
                <a:cxnSpLocks/>
              </p:cNvCxnSpPr>
              <p:nvPr/>
            </p:nvCxnSpPr>
            <p:spPr>
              <a:xfrm rot="16200000">
                <a:off x="5959675" y="3425708"/>
                <a:ext cx="1800000" cy="0"/>
              </a:xfrm>
              <a:prstGeom prst="straightConnector1">
                <a:avLst/>
              </a:prstGeom>
              <a:ln w="101600" cap="rnd">
                <a:solidFill>
                  <a:schemeClr val="bg1">
                    <a:lumMod val="85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3F0AD8F-21AA-0A40-9F78-DC180EBEE438}"/>
                  </a:ext>
                </a:extLst>
              </p:cNvPr>
              <p:cNvCxnSpPr>
                <a:cxnSpLocks/>
              </p:cNvCxnSpPr>
              <p:nvPr/>
            </p:nvCxnSpPr>
            <p:spPr>
              <a:xfrm>
                <a:off x="6008421" y="3396140"/>
                <a:ext cx="1800000" cy="0"/>
              </a:xfrm>
              <a:prstGeom prst="straightConnector1">
                <a:avLst/>
              </a:prstGeom>
              <a:ln w="101600" cap="rnd">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7294C4A2-4FCB-1B49-87F5-3BE15D85813A}"/>
                </a:ext>
              </a:extLst>
            </p:cNvPr>
            <p:cNvGrpSpPr/>
            <p:nvPr/>
          </p:nvGrpSpPr>
          <p:grpSpPr>
            <a:xfrm>
              <a:off x="1414952" y="4471726"/>
              <a:ext cx="1800000" cy="1800000"/>
              <a:chOff x="6236138" y="2274066"/>
              <a:chExt cx="1800000" cy="1800000"/>
            </a:xfrm>
          </p:grpSpPr>
          <p:cxnSp>
            <p:nvCxnSpPr>
              <p:cNvPr id="12" name="Straight Arrow Connector 11">
                <a:extLst>
                  <a:ext uri="{FF2B5EF4-FFF2-40B4-BE49-F238E27FC236}">
                    <a16:creationId xmlns:a16="http://schemas.microsoft.com/office/drawing/2014/main" id="{2BD161FC-68E1-F546-9CC5-DAC279F1606A}"/>
                  </a:ext>
                </a:extLst>
              </p:cNvPr>
              <p:cNvCxnSpPr>
                <a:cxnSpLocks/>
              </p:cNvCxnSpPr>
              <p:nvPr/>
            </p:nvCxnSpPr>
            <p:spPr>
              <a:xfrm rot="18900000" flipH="1" flipV="1">
                <a:off x="7131981" y="2274066"/>
                <a:ext cx="0" cy="1800000"/>
              </a:xfrm>
              <a:prstGeom prst="straightConnector1">
                <a:avLst/>
              </a:prstGeom>
              <a:ln w="101600" cap="rnd">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00900EF-69DF-5B44-8822-D8F3569BBD94}"/>
                  </a:ext>
                </a:extLst>
              </p:cNvPr>
              <p:cNvCxnSpPr>
                <a:cxnSpLocks/>
              </p:cNvCxnSpPr>
              <p:nvPr/>
            </p:nvCxnSpPr>
            <p:spPr>
              <a:xfrm rot="2700000" flipV="1">
                <a:off x="7136138" y="2209793"/>
                <a:ext cx="0" cy="1800000"/>
              </a:xfrm>
              <a:prstGeom prst="straightConnector1">
                <a:avLst/>
              </a:prstGeom>
              <a:ln w="101600" cap="rnd">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7D0D012C-AEA8-EB42-8A39-E4460A834ADB}"/>
              </a:ext>
            </a:extLst>
          </p:cNvPr>
          <p:cNvGrpSpPr/>
          <p:nvPr/>
        </p:nvGrpSpPr>
        <p:grpSpPr>
          <a:xfrm>
            <a:off x="268582" y="3186581"/>
            <a:ext cx="5444038" cy="2318729"/>
            <a:chOff x="5223059" y="735269"/>
            <a:chExt cx="5444038" cy="2318729"/>
          </a:xfrm>
        </p:grpSpPr>
        <p:grpSp>
          <p:nvGrpSpPr>
            <p:cNvPr id="72" name="Group 71">
              <a:extLst>
                <a:ext uri="{FF2B5EF4-FFF2-40B4-BE49-F238E27FC236}">
                  <a16:creationId xmlns:a16="http://schemas.microsoft.com/office/drawing/2014/main" id="{F63A0B16-E263-2F42-B0EB-70491F396E56}"/>
                </a:ext>
              </a:extLst>
            </p:cNvPr>
            <p:cNvGrpSpPr/>
            <p:nvPr/>
          </p:nvGrpSpPr>
          <p:grpSpPr>
            <a:xfrm>
              <a:off x="5223059" y="1368435"/>
              <a:ext cx="5444038" cy="1685563"/>
              <a:chOff x="5223059" y="1368435"/>
              <a:chExt cx="5444038" cy="1685563"/>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679E7AB4-9850-1D4F-8FDB-ECAF614456F4}"/>
                      </a:ext>
                    </a:extLst>
                  </p:cNvPr>
                  <p:cNvSpPr/>
                  <p:nvPr/>
                </p:nvSpPr>
                <p:spPr>
                  <a:xfrm>
                    <a:off x="5292946" y="2623111"/>
                    <a:ext cx="1237443"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1">
                                  <a:latin typeface="Cambria Math" panose="02040503050406030204" pitchFamily="18" charset="0"/>
                                </a:rPr>
                                <m:t>0</m:t>
                              </m:r>
                            </m:e>
                          </m:d>
                          <m:r>
                            <a:rPr lang="en-US" sz="2200" i="1">
                              <a:latin typeface="Cambria Math" panose="02040503050406030204" pitchFamily="18" charset="0"/>
                              <a:ea typeface="Cambria Math" panose="02040503050406030204" pitchFamily="18" charset="0"/>
                            </a:rPr>
                            <m:t>⟶</m:t>
                          </m:r>
                          <m:r>
                            <a:rPr lang="sr-Latn-RS" sz="2200" b="0" i="0" smtClean="0">
                              <a:latin typeface="Cambria Math" panose="02040503050406030204" pitchFamily="18" charset="0"/>
                              <a:ea typeface="Cambria Math" panose="02040503050406030204" pitchFamily="18" charset="0"/>
                            </a:rPr>
                            <m:t>0</m:t>
                          </m:r>
                        </m:oMath>
                      </m:oMathPara>
                    </a14:m>
                    <a:endParaRPr lang="en-US" sz="2200" dirty="0"/>
                  </a:p>
                </p:txBody>
              </p:sp>
            </mc:Choice>
            <mc:Fallback xmlns="">
              <p:sp>
                <p:nvSpPr>
                  <p:cNvPr id="39" name="Rectangle 38">
                    <a:extLst>
                      <a:ext uri="{FF2B5EF4-FFF2-40B4-BE49-F238E27FC236}">
                        <a16:creationId xmlns:a16="http://schemas.microsoft.com/office/drawing/2014/main" id="{679E7AB4-9850-1D4F-8FDB-ECAF614456F4}"/>
                      </a:ext>
                    </a:extLst>
                  </p:cNvPr>
                  <p:cNvSpPr>
                    <a:spLocks noRot="1" noChangeAspect="1" noMove="1" noResize="1" noEditPoints="1" noAdjustHandles="1" noChangeArrowheads="1" noChangeShapeType="1" noTextEdit="1"/>
                  </p:cNvSpPr>
                  <p:nvPr/>
                </p:nvSpPr>
                <p:spPr>
                  <a:xfrm>
                    <a:off x="5292946" y="2623111"/>
                    <a:ext cx="1237443" cy="430887"/>
                  </a:xfrm>
                  <a:prstGeom prst="rect">
                    <a:avLst/>
                  </a:prstGeom>
                  <a:blipFill>
                    <a:blip r:embed="rId5"/>
                    <a:stretch>
                      <a:fillRect/>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E9A1926B-BE7E-274E-8B8F-7AC53979910F}"/>
                  </a:ext>
                </a:extLst>
              </p:cNvPr>
              <p:cNvSpPr/>
              <p:nvPr/>
            </p:nvSpPr>
            <p:spPr>
              <a:xfrm>
                <a:off x="7381922" y="2455015"/>
                <a:ext cx="184731" cy="461665"/>
              </a:xfrm>
              <a:prstGeom prst="rect">
                <a:avLst/>
              </a:prstGeom>
            </p:spPr>
            <p:txBody>
              <a:bodyPr wrap="none">
                <a:spAutoFit/>
              </a:bodyPr>
              <a:lstStyle/>
              <a:p>
                <a:endParaRPr lang="en-US" sz="2400" dirty="0"/>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A23F757C-419F-B04C-B65A-F0D44F3C6397}"/>
                      </a:ext>
                    </a:extLst>
                  </p:cNvPr>
                  <p:cNvSpPr/>
                  <p:nvPr/>
                </p:nvSpPr>
                <p:spPr>
                  <a:xfrm>
                    <a:off x="5408244" y="1368435"/>
                    <a:ext cx="1867114"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b="0" i="1" smtClean="0">
                                  <a:latin typeface="Cambria Math" panose="02040503050406030204" pitchFamily="18" charset="0"/>
                                </a:rPr>
                                <m:t>+</m:t>
                              </m:r>
                            </m:e>
                          </m:d>
                          <m:r>
                            <a:rPr lang="en-US" sz="2200" i="1">
                              <a:latin typeface="Cambria Math" panose="02040503050406030204" pitchFamily="18" charset="0"/>
                              <a:ea typeface="Cambria Math" panose="02040503050406030204" pitchFamily="18" charset="0"/>
                            </a:rPr>
                            <m:t>⟶</m:t>
                          </m:r>
                          <m:r>
                            <a:rPr lang="sr-Latn-RS" sz="2200" b="0" i="1" smtClean="0">
                              <a:latin typeface="Cambria Math" panose="02040503050406030204" pitchFamily="18" charset="0"/>
                              <a:ea typeface="Cambria Math" panose="02040503050406030204" pitchFamily="18" charset="0"/>
                            </a:rPr>
                            <m:t>0 </m:t>
                          </m:r>
                          <m:r>
                            <m:rPr>
                              <m:sty m:val="p"/>
                            </m:rPr>
                            <a:rPr lang="en-US" sz="2200" b="0" i="0" smtClean="0">
                              <a:latin typeface="Cambria Math" panose="02040503050406030204" pitchFamily="18" charset="0"/>
                              <a:ea typeface="Cambria Math" panose="02040503050406030204" pitchFamily="18" charset="0"/>
                            </a:rPr>
                            <m:t>or</m:t>
                          </m:r>
                          <m:r>
                            <a:rPr lang="sr-Latn-RS" sz="2200" b="0" i="1" smtClean="0">
                              <a:latin typeface="Cambria Math" panose="02040503050406030204" pitchFamily="18" charset="0"/>
                              <a:ea typeface="Cambria Math" panose="02040503050406030204" pitchFamily="18" charset="0"/>
                            </a:rPr>
                            <m:t> 1</m:t>
                          </m:r>
                        </m:oMath>
                      </m:oMathPara>
                    </a14:m>
                    <a:endParaRPr lang="en-US" sz="2200" dirty="0"/>
                  </a:p>
                </p:txBody>
              </p:sp>
            </mc:Choice>
            <mc:Fallback xmlns="">
              <p:sp>
                <p:nvSpPr>
                  <p:cNvPr id="52" name="Rectangle 51">
                    <a:extLst>
                      <a:ext uri="{FF2B5EF4-FFF2-40B4-BE49-F238E27FC236}">
                        <a16:creationId xmlns:a16="http://schemas.microsoft.com/office/drawing/2014/main" id="{A23F757C-419F-B04C-B65A-F0D44F3C6397}"/>
                      </a:ext>
                    </a:extLst>
                  </p:cNvPr>
                  <p:cNvSpPr>
                    <a:spLocks noRot="1" noChangeAspect="1" noMove="1" noResize="1" noEditPoints="1" noAdjustHandles="1" noChangeArrowheads="1" noChangeShapeType="1" noTextEdit="1"/>
                  </p:cNvSpPr>
                  <p:nvPr/>
                </p:nvSpPr>
                <p:spPr>
                  <a:xfrm>
                    <a:off x="5408244" y="1368435"/>
                    <a:ext cx="1867114" cy="430887"/>
                  </a:xfrm>
                  <a:prstGeom prst="rect">
                    <a:avLst/>
                  </a:prstGeom>
                  <a:blipFill>
                    <a:blip r:embed="rId6"/>
                    <a:stretch>
                      <a:fillRect b="-17143"/>
                    </a:stretch>
                  </a:blipFill>
                </p:spPr>
                <p:txBody>
                  <a:bodyPr/>
                  <a:lstStyle/>
                  <a:p>
                    <a:r>
                      <a:rPr lang="en-US">
                        <a:noFill/>
                      </a:rPr>
                      <a:t> </a:t>
                    </a:r>
                  </a:p>
                </p:txBody>
              </p:sp>
            </mc:Fallback>
          </mc:AlternateContent>
          <p:cxnSp>
            <p:nvCxnSpPr>
              <p:cNvPr id="53" name="Straight Arrow Connector 52">
                <a:extLst>
                  <a:ext uri="{FF2B5EF4-FFF2-40B4-BE49-F238E27FC236}">
                    <a16:creationId xmlns:a16="http://schemas.microsoft.com/office/drawing/2014/main" id="{BCA8A7BE-C1CE-624E-ACBA-31845C4AC5D5}"/>
                  </a:ext>
                </a:extLst>
              </p:cNvPr>
              <p:cNvCxnSpPr>
                <a:cxnSpLocks/>
              </p:cNvCxnSpPr>
              <p:nvPr/>
            </p:nvCxnSpPr>
            <p:spPr>
              <a:xfrm rot="18900000">
                <a:off x="5223059" y="2125466"/>
                <a:ext cx="1080000" cy="0"/>
              </a:xfrm>
              <a:prstGeom prst="straightConnector1">
                <a:avLst/>
              </a:prstGeom>
              <a:ln w="635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CF55C94-EDBA-4F45-BE47-3A9FDB24686F}"/>
                  </a:ext>
                </a:extLst>
              </p:cNvPr>
              <p:cNvSpPr/>
              <p:nvPr/>
            </p:nvSpPr>
            <p:spPr>
              <a:xfrm>
                <a:off x="7769957" y="1488140"/>
                <a:ext cx="2897140" cy="830997"/>
              </a:xfrm>
              <a:prstGeom prst="rect">
                <a:avLst/>
              </a:prstGeom>
            </p:spPr>
            <p:txBody>
              <a:bodyPr wrap="none">
                <a:spAutoFit/>
              </a:bodyPr>
              <a:lstStyle/>
              <a:p>
                <a:pPr algn="ctr"/>
                <a:r>
                  <a:rPr lang="en-ZA" sz="2400" dirty="0">
                    <a:latin typeface="+mj-lt"/>
                  </a:rPr>
                  <a:t>if 1 is measured,</a:t>
                </a:r>
              </a:p>
              <a:p>
                <a:pPr algn="ctr"/>
                <a:r>
                  <a:rPr lang="en-ZA" sz="2400" dirty="0">
                    <a:latin typeface="+mj-lt"/>
                  </a:rPr>
                  <a:t> then a bit 1 was sent</a:t>
                </a:r>
                <a:endParaRPr lang="en-US" sz="2200" dirty="0">
                  <a:latin typeface="+mj-lt"/>
                </a:endParaRPr>
              </a:p>
            </p:txBody>
          </p:sp>
          <p:sp>
            <p:nvSpPr>
              <p:cNvPr id="55" name="Right Brace 54">
                <a:extLst>
                  <a:ext uri="{FF2B5EF4-FFF2-40B4-BE49-F238E27FC236}">
                    <a16:creationId xmlns:a16="http://schemas.microsoft.com/office/drawing/2014/main" id="{C74EA7A9-6BE0-2742-8FEB-8CA791453574}"/>
                  </a:ext>
                </a:extLst>
              </p:cNvPr>
              <p:cNvSpPr/>
              <p:nvPr/>
            </p:nvSpPr>
            <p:spPr>
              <a:xfrm>
                <a:off x="7349648" y="1368435"/>
                <a:ext cx="386467" cy="1347406"/>
              </a:xfrm>
              <a:prstGeom prst="rightBrace">
                <a:avLst>
                  <a:gd name="adj1" fmla="val 4588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8" name="Group 67">
                <a:extLst>
                  <a:ext uri="{FF2B5EF4-FFF2-40B4-BE49-F238E27FC236}">
                    <a16:creationId xmlns:a16="http://schemas.microsoft.com/office/drawing/2014/main" id="{F5EC5E63-B2CE-BC45-8C29-661C8C41AD56}"/>
                  </a:ext>
                </a:extLst>
              </p:cNvPr>
              <p:cNvGrpSpPr/>
              <p:nvPr/>
            </p:nvGrpSpPr>
            <p:grpSpPr>
              <a:xfrm>
                <a:off x="5356936" y="1427305"/>
                <a:ext cx="1393884" cy="1080000"/>
                <a:chOff x="5371668" y="3772077"/>
                <a:chExt cx="1393884" cy="1080000"/>
              </a:xfrm>
            </p:grpSpPr>
            <p:cxnSp>
              <p:nvCxnSpPr>
                <p:cNvPr id="69" name="Straight Arrow Connector 68">
                  <a:extLst>
                    <a:ext uri="{FF2B5EF4-FFF2-40B4-BE49-F238E27FC236}">
                      <a16:creationId xmlns:a16="http://schemas.microsoft.com/office/drawing/2014/main" id="{59B87DF1-D43B-A24E-A4EC-23F4F4F831CA}"/>
                    </a:ext>
                  </a:extLst>
                </p:cNvPr>
                <p:cNvCxnSpPr>
                  <a:cxnSpLocks/>
                </p:cNvCxnSpPr>
                <p:nvPr/>
              </p:nvCxnSpPr>
              <p:spPr>
                <a:xfrm rot="16200000">
                  <a:off x="4831668" y="4312077"/>
                  <a:ext cx="1080000" cy="0"/>
                </a:xfrm>
                <a:prstGeom prst="straightConnector1">
                  <a:avLst/>
                </a:prstGeom>
                <a:ln w="2540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31BCBDD-5355-7541-83BF-CE87944D9792}"/>
                    </a:ext>
                  </a:extLst>
                </p:cNvPr>
                <p:cNvCxnSpPr>
                  <a:cxnSpLocks/>
                </p:cNvCxnSpPr>
                <p:nvPr/>
              </p:nvCxnSpPr>
              <p:spPr>
                <a:xfrm>
                  <a:off x="5514687" y="4852075"/>
                  <a:ext cx="1250865" cy="0"/>
                </a:xfrm>
                <a:prstGeom prst="straightConnector1">
                  <a:avLst/>
                </a:prstGeom>
                <a:ln w="25400"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5" name="Straight Arrow Connector 34">
                <a:extLst>
                  <a:ext uri="{FF2B5EF4-FFF2-40B4-BE49-F238E27FC236}">
                    <a16:creationId xmlns:a16="http://schemas.microsoft.com/office/drawing/2014/main" id="{E7235481-C512-614A-92CD-95944DD5BBB2}"/>
                  </a:ext>
                </a:extLst>
              </p:cNvPr>
              <p:cNvCxnSpPr>
                <a:cxnSpLocks/>
              </p:cNvCxnSpPr>
              <p:nvPr/>
            </p:nvCxnSpPr>
            <p:spPr>
              <a:xfrm>
                <a:off x="5371668" y="2507305"/>
                <a:ext cx="1080000" cy="0"/>
              </a:xfrm>
              <a:prstGeom prst="straightConnector1">
                <a:avLst/>
              </a:prstGeom>
              <a:ln w="635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008D0F5A-D6EF-8A42-B50F-FB628AD1B6E6}"/>
                </a:ext>
              </a:extLst>
            </p:cNvPr>
            <p:cNvSpPr txBox="1"/>
            <p:nvPr/>
          </p:nvSpPr>
          <p:spPr>
            <a:xfrm>
              <a:off x="5235294" y="735269"/>
              <a:ext cx="3124060" cy="461665"/>
            </a:xfrm>
            <a:prstGeom prst="rect">
              <a:avLst/>
            </a:prstGeom>
            <a:solidFill>
              <a:schemeClr val="accent4">
                <a:lumMod val="20000"/>
                <a:lumOff val="80000"/>
              </a:schemeClr>
            </a:solidFill>
          </p:spPr>
          <p:txBody>
            <a:bodyPr wrap="none" rtlCol="0">
              <a:spAutoFit/>
            </a:bodyPr>
            <a:lstStyle/>
            <a:p>
              <a:r>
                <a:rPr lang="en-US" sz="2400" dirty="0"/>
                <a:t>Standard measurement</a:t>
              </a:r>
            </a:p>
          </p:txBody>
        </p:sp>
      </p:grpSp>
      <p:grpSp>
        <p:nvGrpSpPr>
          <p:cNvPr id="78" name="Group 77">
            <a:extLst>
              <a:ext uri="{FF2B5EF4-FFF2-40B4-BE49-F238E27FC236}">
                <a16:creationId xmlns:a16="http://schemas.microsoft.com/office/drawing/2014/main" id="{2002A6F6-9111-4B4A-9860-770188781EAE}"/>
              </a:ext>
            </a:extLst>
          </p:cNvPr>
          <p:cNvGrpSpPr/>
          <p:nvPr/>
        </p:nvGrpSpPr>
        <p:grpSpPr>
          <a:xfrm>
            <a:off x="6571422" y="3158541"/>
            <a:ext cx="5600245" cy="2498015"/>
            <a:chOff x="5085501" y="3280439"/>
            <a:chExt cx="5600245" cy="2498015"/>
          </a:xfrm>
        </p:grpSpPr>
        <p:grpSp>
          <p:nvGrpSpPr>
            <p:cNvPr id="73" name="Group 72">
              <a:extLst>
                <a:ext uri="{FF2B5EF4-FFF2-40B4-BE49-F238E27FC236}">
                  <a16:creationId xmlns:a16="http://schemas.microsoft.com/office/drawing/2014/main" id="{3F485F08-8CC7-D846-850E-DAD03F54D9F1}"/>
                </a:ext>
              </a:extLst>
            </p:cNvPr>
            <p:cNvGrpSpPr/>
            <p:nvPr/>
          </p:nvGrpSpPr>
          <p:grpSpPr>
            <a:xfrm>
              <a:off x="5327956" y="3870954"/>
              <a:ext cx="5357790" cy="1907500"/>
              <a:chOff x="5327956" y="3870954"/>
              <a:chExt cx="5357790" cy="1907500"/>
            </a:xfrm>
          </p:grpSpPr>
          <p:cxnSp>
            <p:nvCxnSpPr>
              <p:cNvPr id="56" name="Straight Arrow Connector 55">
                <a:extLst>
                  <a:ext uri="{FF2B5EF4-FFF2-40B4-BE49-F238E27FC236}">
                    <a16:creationId xmlns:a16="http://schemas.microsoft.com/office/drawing/2014/main" id="{95F5FFFF-B1B5-2A4E-9C47-51A712D7A67D}"/>
                  </a:ext>
                </a:extLst>
              </p:cNvPr>
              <p:cNvCxnSpPr>
                <a:cxnSpLocks/>
              </p:cNvCxnSpPr>
              <p:nvPr/>
            </p:nvCxnSpPr>
            <p:spPr>
              <a:xfrm>
                <a:off x="6096000" y="5000722"/>
                <a:ext cx="1080000" cy="0"/>
              </a:xfrm>
              <a:prstGeom prst="straightConnector1">
                <a:avLst/>
              </a:prstGeom>
              <a:ln w="635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106A8946-89A4-E042-9D15-8FE6BB365453}"/>
                      </a:ext>
                    </a:extLst>
                  </p:cNvPr>
                  <p:cNvSpPr/>
                  <p:nvPr/>
                </p:nvSpPr>
                <p:spPr>
                  <a:xfrm>
                    <a:off x="5536441" y="5141930"/>
                    <a:ext cx="1869871" cy="461665"/>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0</m:t>
                            </m:r>
                          </m:e>
                        </m:d>
                      </m:oMath>
                    </a14:m>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0 </m:t>
                        </m:r>
                        <m:r>
                          <m:rPr>
                            <m:sty m:val="p"/>
                          </m:rPr>
                          <a:rPr lang="en-US" sz="2400" b="0" i="0" smtClean="0">
                            <a:latin typeface="Cambria Math" panose="02040503050406030204" pitchFamily="18" charset="0"/>
                          </a:rPr>
                          <m:t>or</m:t>
                        </m:r>
                        <m:r>
                          <a:rPr lang="en-US" sz="2400" i="1">
                            <a:latin typeface="Cambria Math" panose="02040503050406030204" pitchFamily="18" charset="0"/>
                          </a:rPr>
                          <m:t> 1</m:t>
                        </m:r>
                      </m:oMath>
                    </a14:m>
                    <a:endParaRPr lang="en-US" sz="2400" dirty="0"/>
                  </a:p>
                </p:txBody>
              </p:sp>
            </mc:Choice>
            <mc:Fallback xmlns="">
              <p:sp>
                <p:nvSpPr>
                  <p:cNvPr id="59" name="Rectangle 58">
                    <a:extLst>
                      <a:ext uri="{FF2B5EF4-FFF2-40B4-BE49-F238E27FC236}">
                        <a16:creationId xmlns:a16="http://schemas.microsoft.com/office/drawing/2014/main" id="{106A8946-89A4-E042-9D15-8FE6BB365453}"/>
                      </a:ext>
                    </a:extLst>
                  </p:cNvPr>
                  <p:cNvSpPr>
                    <a:spLocks noRot="1" noChangeAspect="1" noMove="1" noResize="1" noEditPoints="1" noAdjustHandles="1" noChangeArrowheads="1" noChangeShapeType="1" noTextEdit="1"/>
                  </p:cNvSpPr>
                  <p:nvPr/>
                </p:nvSpPr>
                <p:spPr>
                  <a:xfrm>
                    <a:off x="5536441" y="5141930"/>
                    <a:ext cx="1869871" cy="461665"/>
                  </a:xfrm>
                  <a:prstGeom prst="rect">
                    <a:avLst/>
                  </a:prstGeom>
                  <a:blipFill>
                    <a:blip r:embed="rId7"/>
                    <a:stretch>
                      <a:fillRect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7F5BB1E7-D2AC-1B44-9136-DDAF205DC372}"/>
                      </a:ext>
                    </a:extLst>
                  </p:cNvPr>
                  <p:cNvSpPr/>
                  <p:nvPr/>
                </p:nvSpPr>
                <p:spPr>
                  <a:xfrm>
                    <a:off x="5465495" y="3899266"/>
                    <a:ext cx="13939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m:t>
                              </m:r>
                            </m:e>
                          </m:d>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61" name="Rectangle 60">
                    <a:extLst>
                      <a:ext uri="{FF2B5EF4-FFF2-40B4-BE49-F238E27FC236}">
                        <a16:creationId xmlns:a16="http://schemas.microsoft.com/office/drawing/2014/main" id="{7F5BB1E7-D2AC-1B44-9136-DDAF205DC372}"/>
                      </a:ext>
                    </a:extLst>
                  </p:cNvPr>
                  <p:cNvSpPr>
                    <a:spLocks noRot="1" noChangeAspect="1" noMove="1" noResize="1" noEditPoints="1" noAdjustHandles="1" noChangeArrowheads="1" noChangeShapeType="1" noTextEdit="1"/>
                  </p:cNvSpPr>
                  <p:nvPr/>
                </p:nvSpPr>
                <p:spPr>
                  <a:xfrm>
                    <a:off x="5465495" y="3899266"/>
                    <a:ext cx="1393971" cy="461665"/>
                  </a:xfrm>
                  <a:prstGeom prst="rect">
                    <a:avLst/>
                  </a:prstGeom>
                  <a:blipFill>
                    <a:blip r:embed="rId9"/>
                    <a:stretch>
                      <a:fillRect/>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D08B226B-4E77-F44F-A4CE-EFF4E8F86217}"/>
                  </a:ext>
                </a:extLst>
              </p:cNvPr>
              <p:cNvCxnSpPr>
                <a:cxnSpLocks/>
              </p:cNvCxnSpPr>
              <p:nvPr/>
            </p:nvCxnSpPr>
            <p:spPr>
              <a:xfrm rot="18900000">
                <a:off x="5947390" y="4590909"/>
                <a:ext cx="1080000" cy="0"/>
              </a:xfrm>
              <a:prstGeom prst="straightConnector1">
                <a:avLst/>
              </a:prstGeom>
              <a:ln w="635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AC77EA17-61B3-7C44-8C9B-33B12EF02A66}"/>
                  </a:ext>
                </a:extLst>
              </p:cNvPr>
              <p:cNvSpPr/>
              <p:nvPr/>
            </p:nvSpPr>
            <p:spPr>
              <a:xfrm>
                <a:off x="7983211" y="4061350"/>
                <a:ext cx="2702535" cy="707886"/>
              </a:xfrm>
              <a:prstGeom prst="rect">
                <a:avLst/>
              </a:prstGeom>
            </p:spPr>
            <p:txBody>
              <a:bodyPr wrap="square">
                <a:spAutoFit/>
              </a:bodyPr>
              <a:lstStyle/>
              <a:p>
                <a:pPr algn="ctr"/>
                <a:r>
                  <a:rPr lang="en-ZA" sz="2000" dirty="0"/>
                  <a:t>if 1 is measured,</a:t>
                </a:r>
              </a:p>
              <a:p>
                <a:pPr algn="ctr"/>
                <a:r>
                  <a:rPr lang="en-ZA" sz="2000" dirty="0"/>
                  <a:t> then a bit 0 was sent</a:t>
                </a:r>
                <a:endParaRPr lang="en-US" sz="2000" dirty="0"/>
              </a:p>
            </p:txBody>
          </p:sp>
          <p:sp>
            <p:nvSpPr>
              <p:cNvPr id="64" name="Right Brace 63">
                <a:extLst>
                  <a:ext uri="{FF2B5EF4-FFF2-40B4-BE49-F238E27FC236}">
                    <a16:creationId xmlns:a16="http://schemas.microsoft.com/office/drawing/2014/main" id="{33EADD69-3907-F946-91C0-E716E28DD046}"/>
                  </a:ext>
                </a:extLst>
              </p:cNvPr>
              <p:cNvSpPr/>
              <p:nvPr/>
            </p:nvSpPr>
            <p:spPr>
              <a:xfrm>
                <a:off x="7534499" y="3870954"/>
                <a:ext cx="386467" cy="1347406"/>
              </a:xfrm>
              <a:prstGeom prst="rightBrace">
                <a:avLst>
                  <a:gd name="adj1" fmla="val 4588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7A282394-1CDC-D349-AA39-DBD2918039BB}"/>
                  </a:ext>
                </a:extLst>
              </p:cNvPr>
              <p:cNvCxnSpPr>
                <a:cxnSpLocks/>
              </p:cNvCxnSpPr>
              <p:nvPr/>
            </p:nvCxnSpPr>
            <p:spPr>
              <a:xfrm>
                <a:off x="5327956" y="4223819"/>
                <a:ext cx="1531510" cy="1554635"/>
              </a:xfrm>
              <a:prstGeom prst="straightConnector1">
                <a:avLst/>
              </a:prstGeom>
              <a:ln w="25400" cap="rnd">
                <a:solidFill>
                  <a:srgbClr val="0000FF"/>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B0405BC-A24F-774F-8E9B-5F5F110B7510}"/>
                  </a:ext>
                </a:extLst>
              </p:cNvPr>
              <p:cNvCxnSpPr>
                <a:cxnSpLocks/>
              </p:cNvCxnSpPr>
              <p:nvPr/>
            </p:nvCxnSpPr>
            <p:spPr>
              <a:xfrm flipV="1">
                <a:off x="6101394" y="4110853"/>
                <a:ext cx="886259" cy="879635"/>
              </a:xfrm>
              <a:prstGeom prst="straightConnector1">
                <a:avLst/>
              </a:prstGeom>
              <a:ln w="25400" cap="rnd">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8C161E1D-971B-D041-A7A7-E3065155960E}"/>
                  </a:ext>
                </a:extLst>
              </p:cNvPr>
              <p:cNvSpPr/>
              <p:nvPr/>
            </p:nvSpPr>
            <p:spPr>
              <a:xfrm>
                <a:off x="6393610" y="5316789"/>
                <a:ext cx="1480670" cy="461665"/>
              </a:xfrm>
              <a:prstGeom prst="rect">
                <a:avLst/>
              </a:prstGeom>
            </p:spPr>
            <p:txBody>
              <a:bodyPr wrap="square">
                <a:spAutoFit/>
              </a:bodyPr>
              <a:lstStyle/>
              <a:p>
                <a:endParaRPr lang="en-US" sz="2400" dirty="0"/>
              </a:p>
            </p:txBody>
          </p:sp>
        </p:grpSp>
        <p:sp>
          <p:nvSpPr>
            <p:cNvPr id="75" name="TextBox 74">
              <a:extLst>
                <a:ext uri="{FF2B5EF4-FFF2-40B4-BE49-F238E27FC236}">
                  <a16:creationId xmlns:a16="http://schemas.microsoft.com/office/drawing/2014/main" id="{E72542DD-DBB2-5A4C-BD8A-C29AA4484B98}"/>
                </a:ext>
              </a:extLst>
            </p:cNvPr>
            <p:cNvSpPr txBox="1"/>
            <p:nvPr/>
          </p:nvSpPr>
          <p:spPr>
            <a:xfrm>
              <a:off x="5085501" y="3280439"/>
              <a:ext cx="3091487" cy="461665"/>
            </a:xfrm>
            <a:prstGeom prst="rect">
              <a:avLst/>
            </a:prstGeom>
            <a:solidFill>
              <a:schemeClr val="accent4">
                <a:lumMod val="20000"/>
                <a:lumOff val="80000"/>
              </a:schemeClr>
            </a:solidFill>
          </p:spPr>
          <p:txBody>
            <a:bodyPr wrap="none" rtlCol="0">
              <a:spAutoFit/>
            </a:bodyPr>
            <a:lstStyle/>
            <a:p>
              <a:r>
                <a:rPr lang="en-US" sz="2400" dirty="0"/>
                <a:t>Diagonal measurement</a:t>
              </a:r>
            </a:p>
          </p:txBody>
        </p:sp>
      </p:grpSp>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734B2133-E0BC-6247-A73D-83D888618A98}"/>
                  </a:ext>
                </a:extLst>
              </p:cNvPr>
              <p:cNvSpPr/>
              <p:nvPr/>
            </p:nvSpPr>
            <p:spPr>
              <a:xfrm>
                <a:off x="2875972" y="5811470"/>
                <a:ext cx="5842305" cy="847540"/>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𝑏𝑖𝑡</m:t>
                      </m:r>
                      <m:r>
                        <a:rPr lang="en-US" sz="2200" b="0" i="1" smtClean="0">
                          <a:latin typeface="Cambria Math" panose="02040503050406030204" pitchFamily="18" charset="0"/>
                        </a:rPr>
                        <m:t>=1−</m:t>
                      </m:r>
                      <m:r>
                        <a:rPr lang="en-US" sz="2200" b="0" i="1" smtClean="0">
                          <a:latin typeface="Cambria Math" panose="02040503050406030204" pitchFamily="18" charset="0"/>
                        </a:rPr>
                        <m:t>𝑏</m:t>
                      </m:r>
                      <m:r>
                        <a:rPr lang="en-US" sz="2200" b="0" i="1" smtClean="0">
                          <a:latin typeface="Cambria Math" panose="02040503050406030204" pitchFamily="18" charset="0"/>
                        </a:rPr>
                        <m:t> </m:t>
                      </m:r>
                      <m:r>
                        <a:rPr lang="en-US" sz="2200" b="0" i="1" smtClean="0">
                          <a:latin typeface="Cambria Math" panose="02040503050406030204" pitchFamily="18" charset="0"/>
                        </a:rPr>
                        <m:t>𝑤h𝑒𝑟𝑒</m:t>
                      </m:r>
                      <m:r>
                        <a:rPr lang="en-US" sz="2200" b="0" i="1" smtClean="0">
                          <a:latin typeface="Cambria Math" panose="02040503050406030204" pitchFamily="18" charset="0"/>
                        </a:rPr>
                        <m:t> </m:t>
                      </m:r>
                      <m:r>
                        <a:rPr lang="en-US" sz="2200" b="0" i="1" smtClean="0">
                          <a:latin typeface="Cambria Math" panose="02040503050406030204" pitchFamily="18" charset="0"/>
                        </a:rPr>
                        <m:t>𝑏</m:t>
                      </m:r>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eqArr>
                            <m:eqArrPr>
                              <m:ctrlPr>
                                <a:rPr lang="en-US" sz="2200" b="0" i="1" smtClean="0">
                                  <a:latin typeface="Cambria Math" panose="02040503050406030204" pitchFamily="18" charset="0"/>
                                </a:rPr>
                              </m:ctrlPr>
                            </m:eqArrPr>
                            <m:e>
                              <m:r>
                                <a:rPr lang="en-US" sz="2200" b="0" i="1" smtClean="0">
                                  <a:latin typeface="Cambria Math" panose="02040503050406030204" pitchFamily="18" charset="0"/>
                                </a:rPr>
                                <m:t>0 </m:t>
                              </m:r>
                              <m:r>
                                <a:rPr lang="en-US" sz="2200" b="0" i="1" smtClean="0">
                                  <a:latin typeface="Cambria Math" panose="02040503050406030204" pitchFamily="18" charset="0"/>
                                </a:rPr>
                                <m:t>𝑓𝑜𝑟</m:t>
                              </m:r>
                              <m:r>
                                <a:rPr lang="en-US" sz="2200" b="0" i="1" smtClean="0">
                                  <a:latin typeface="Cambria Math" panose="02040503050406030204" pitchFamily="18" charset="0"/>
                                </a:rPr>
                                <m:t> </m:t>
                              </m:r>
                              <m:r>
                                <a:rPr lang="en-US" sz="2200" b="0" i="1" smtClean="0">
                                  <a:latin typeface="Cambria Math" panose="02040503050406030204" pitchFamily="18" charset="0"/>
                                </a:rPr>
                                <m:t>𝑠𝑡𝑎𝑛𝑑𝑎𝑟𝑑</m:t>
                              </m:r>
                              <m:r>
                                <a:rPr lang="en-US" sz="2200" b="0" i="1" smtClean="0">
                                  <a:latin typeface="Cambria Math" panose="02040503050406030204" pitchFamily="18" charset="0"/>
                                </a:rPr>
                                <m:t> </m:t>
                              </m:r>
                              <m:r>
                                <a:rPr lang="en-US" sz="2200" b="0" i="1" smtClean="0">
                                  <a:latin typeface="Cambria Math" panose="02040503050406030204" pitchFamily="18" charset="0"/>
                                </a:rPr>
                                <m:t>𝑏𝑎𝑠𝑖𝑠</m:t>
                              </m:r>
                            </m:e>
                            <m:e>
                              <m:r>
                                <a:rPr lang="en-US" sz="2200" b="0" i="1" smtClean="0">
                                  <a:latin typeface="Cambria Math" panose="02040503050406030204" pitchFamily="18" charset="0"/>
                                </a:rPr>
                                <m:t>1 </m:t>
                              </m:r>
                              <m:r>
                                <a:rPr lang="en-US" sz="2200" b="0" i="1" smtClean="0">
                                  <a:latin typeface="Cambria Math" panose="02040503050406030204" pitchFamily="18" charset="0"/>
                                </a:rPr>
                                <m:t>𝑓𝑜𝑟</m:t>
                              </m:r>
                              <m:r>
                                <a:rPr lang="en-US" sz="2200" b="0" i="1" smtClean="0">
                                  <a:latin typeface="Cambria Math" panose="02040503050406030204" pitchFamily="18" charset="0"/>
                                </a:rPr>
                                <m:t> </m:t>
                              </m:r>
                              <m:r>
                                <a:rPr lang="en-US" sz="2200" b="0" i="1" smtClean="0">
                                  <a:latin typeface="Cambria Math" panose="02040503050406030204" pitchFamily="18" charset="0"/>
                                </a:rPr>
                                <m:t>𝑑𝑖𝑎𝑔𝑜𝑛𝑎𝑙</m:t>
                              </m:r>
                              <m:r>
                                <a:rPr lang="en-US" sz="2200" b="0" i="1" smtClean="0">
                                  <a:latin typeface="Cambria Math" panose="02040503050406030204" pitchFamily="18" charset="0"/>
                                </a:rPr>
                                <m:t> </m:t>
                              </m:r>
                              <m:r>
                                <a:rPr lang="en-US" sz="2200" b="0" i="1" smtClean="0">
                                  <a:latin typeface="Cambria Math" panose="02040503050406030204" pitchFamily="18" charset="0"/>
                                </a:rPr>
                                <m:t>𝑏𝑎𝑠𝑖𝑠</m:t>
                              </m:r>
                            </m:e>
                          </m:eqArr>
                        </m:e>
                      </m:d>
                    </m:oMath>
                  </m:oMathPara>
                </a14:m>
                <a:endParaRPr lang="en-US" sz="2200" dirty="0"/>
              </a:p>
            </p:txBody>
          </p:sp>
        </mc:Choice>
        <mc:Fallback xmlns="">
          <p:sp>
            <p:nvSpPr>
              <p:cNvPr id="80" name="Rectangle 79">
                <a:extLst>
                  <a:ext uri="{FF2B5EF4-FFF2-40B4-BE49-F238E27FC236}">
                    <a16:creationId xmlns:a16="http://schemas.microsoft.com/office/drawing/2014/main" id="{734B2133-E0BC-6247-A73D-83D888618A98}"/>
                  </a:ext>
                </a:extLst>
              </p:cNvPr>
              <p:cNvSpPr>
                <a:spLocks noRot="1" noChangeAspect="1" noMove="1" noResize="1" noEditPoints="1" noAdjustHandles="1" noChangeArrowheads="1" noChangeShapeType="1" noTextEdit="1"/>
              </p:cNvSpPr>
              <p:nvPr/>
            </p:nvSpPr>
            <p:spPr>
              <a:xfrm>
                <a:off x="2875972" y="5811470"/>
                <a:ext cx="5842305" cy="847540"/>
              </a:xfrm>
              <a:prstGeom prst="rect">
                <a:avLst/>
              </a:prstGeom>
              <a:blipFill>
                <a:blip r:embed="rId10"/>
                <a:stretch>
                  <a:fillRect t="-198507" b="-286567"/>
                </a:stretch>
              </a:blipFill>
            </p:spPr>
            <p:txBody>
              <a:bodyPr/>
              <a:lstStyle/>
              <a:p>
                <a:r>
                  <a:rPr lang="en-US">
                    <a:noFill/>
                  </a:rPr>
                  <a:t> </a:t>
                </a:r>
              </a:p>
            </p:txBody>
          </p:sp>
        </mc:Fallback>
      </mc:AlternateContent>
      <p:pic>
        <p:nvPicPr>
          <p:cNvPr id="47" name="Picture 46">
            <a:extLst>
              <a:ext uri="{FF2B5EF4-FFF2-40B4-BE49-F238E27FC236}">
                <a16:creationId xmlns:a16="http://schemas.microsoft.com/office/drawing/2014/main" id="{6FB1E971-302E-1844-90A3-6BDD667776EF}"/>
              </a:ext>
            </a:extLst>
          </p:cNvPr>
          <p:cNvPicPr>
            <a:picLocks noChangeAspect="1"/>
          </p:cNvPicPr>
          <p:nvPr/>
        </p:nvPicPr>
        <p:blipFill>
          <a:blip r:embed="rId11"/>
          <a:stretch>
            <a:fillRect/>
          </a:stretch>
        </p:blipFill>
        <p:spPr>
          <a:xfrm>
            <a:off x="271878" y="1111771"/>
            <a:ext cx="918520" cy="1414873"/>
          </a:xfrm>
          <a:prstGeom prst="rect">
            <a:avLst/>
          </a:prstGeom>
        </p:spPr>
      </p:pic>
      <p:pic>
        <p:nvPicPr>
          <p:cNvPr id="48" name="Picture 47">
            <a:extLst>
              <a:ext uri="{FF2B5EF4-FFF2-40B4-BE49-F238E27FC236}">
                <a16:creationId xmlns:a16="http://schemas.microsoft.com/office/drawing/2014/main" id="{53234435-DB68-B749-B611-359A5F708380}"/>
              </a:ext>
            </a:extLst>
          </p:cNvPr>
          <p:cNvPicPr>
            <a:picLocks noChangeAspect="1"/>
          </p:cNvPicPr>
          <p:nvPr/>
        </p:nvPicPr>
        <p:blipFill>
          <a:blip r:embed="rId12"/>
          <a:stretch>
            <a:fillRect/>
          </a:stretch>
        </p:blipFill>
        <p:spPr>
          <a:xfrm>
            <a:off x="10732225" y="1121330"/>
            <a:ext cx="1082025" cy="1602672"/>
          </a:xfrm>
          <a:prstGeom prst="rect">
            <a:avLst/>
          </a:prstGeom>
        </p:spPr>
      </p:pic>
    </p:spTree>
    <p:extLst>
      <p:ext uri="{BB962C8B-B14F-4D97-AF65-F5344CB8AC3E}">
        <p14:creationId xmlns:p14="http://schemas.microsoft.com/office/powerpoint/2010/main" val="26791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blinds(horizontal)">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blinds(horizontal)">
                                      <p:cBhvr>
                                        <p:cTn id="12" dur="500"/>
                                        <p:tgtEl>
                                          <p:spTgt spid="7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blinds(horizontal)">
                                      <p:cBhvr>
                                        <p:cTn id="1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66" name="Table 165">
                <a:extLst>
                  <a:ext uri="{FF2B5EF4-FFF2-40B4-BE49-F238E27FC236}">
                    <a16:creationId xmlns:a16="http://schemas.microsoft.com/office/drawing/2014/main" id="{F884C701-B08E-CB46-A068-A2C58D6D4BC8}"/>
                  </a:ext>
                </a:extLst>
              </p:cNvPr>
              <p:cNvGraphicFramePr>
                <a:graphicFrameLocks noGrp="1"/>
              </p:cNvGraphicFramePr>
              <p:nvPr>
                <p:extLst>
                  <p:ext uri="{D42A27DB-BD31-4B8C-83A1-F6EECF244321}">
                    <p14:modId xmlns:p14="http://schemas.microsoft.com/office/powerpoint/2010/main" val="3152126351"/>
                  </p:ext>
                </p:extLst>
              </p:nvPr>
            </p:nvGraphicFramePr>
            <p:xfrm>
              <a:off x="1656121" y="3675656"/>
              <a:ext cx="1538322" cy="2590800"/>
            </p:xfrm>
            <a:graphic>
              <a:graphicData uri="http://schemas.openxmlformats.org/drawingml/2006/table">
                <a:tbl>
                  <a:tblPr firstRow="1" bandRow="1">
                    <a:tableStyleId>{21E4AEA4-8DFA-4A89-87EB-49C32662AFE0}</a:tableStyleId>
                  </a:tblPr>
                  <a:tblGrid>
                    <a:gridCol w="1538322">
                      <a:extLst>
                        <a:ext uri="{9D8B030D-6E8A-4147-A177-3AD203B41FA5}">
                          <a16:colId xmlns:a16="http://schemas.microsoft.com/office/drawing/2014/main" val="1983566876"/>
                        </a:ext>
                      </a:extLst>
                    </a:gridCol>
                  </a:tblGrid>
                  <a:tr h="370840">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1" i="1" smtClean="0">
                                        <a:latin typeface="Cambria Math" panose="02040503050406030204" pitchFamily="18" charset="0"/>
                                      </a:rPr>
                                      <m:t>𝒂</m:t>
                                    </m:r>
                                  </m:e>
                                </m:d>
                              </m:oMath>
                            </m:oMathPara>
                          </a14:m>
                          <a:endParaRPr lang="en-US" sz="2800" i="0" dirty="0"/>
                        </a:p>
                      </a:txBody>
                      <a:tcPr/>
                    </a:tc>
                    <a:extLst>
                      <a:ext uri="{0D108BD9-81ED-4DB2-BD59-A6C34878D82A}">
                        <a16:rowId xmlns:a16="http://schemas.microsoft.com/office/drawing/2014/main" val="1804482349"/>
                      </a:ext>
                    </a:extLst>
                  </a:tr>
                  <a:tr h="370840">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a:latin typeface="Cambria Math" panose="02040503050406030204" pitchFamily="18" charset="0"/>
                                      </a:rPr>
                                      <m:t>0</m:t>
                                    </m:r>
                                  </m:e>
                                </m:d>
                              </m:oMath>
                            </m:oMathPara>
                          </a14:m>
                          <a:endParaRPr lang="en-US" sz="2800" dirty="0"/>
                        </a:p>
                      </a:txBody>
                      <a:tcPr/>
                    </a:tc>
                    <a:extLst>
                      <a:ext uri="{0D108BD9-81ED-4DB2-BD59-A6C34878D82A}">
                        <a16:rowId xmlns:a16="http://schemas.microsoft.com/office/drawing/2014/main" val="113115922"/>
                      </a:ext>
                    </a:extLst>
                  </a:tr>
                  <a:tr h="370840">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0" smtClean="0">
                                        <a:latin typeface="Cambria Math" panose="02040503050406030204" pitchFamily="18" charset="0"/>
                                      </a:rPr>
                                      <m:t>0</m:t>
                                    </m:r>
                                  </m:e>
                                </m:d>
                              </m:oMath>
                            </m:oMathPara>
                          </a14:m>
                          <a:endParaRPr lang="en-US" sz="2800" dirty="0"/>
                        </a:p>
                      </a:txBody>
                      <a:tcPr/>
                    </a:tc>
                    <a:extLst>
                      <a:ext uri="{0D108BD9-81ED-4DB2-BD59-A6C34878D82A}">
                        <a16:rowId xmlns:a16="http://schemas.microsoft.com/office/drawing/2014/main" val="3686749637"/>
                      </a:ext>
                    </a:extLst>
                  </a:tr>
                  <a:tr h="370840">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0" smtClean="0">
                                        <a:latin typeface="Cambria Math" panose="02040503050406030204" pitchFamily="18" charset="0"/>
                                      </a:rPr>
                                      <m:t>+</m:t>
                                    </m:r>
                                  </m:e>
                                </m:d>
                              </m:oMath>
                            </m:oMathPara>
                          </a14:m>
                          <a:endParaRPr lang="en-US" sz="2800" dirty="0"/>
                        </a:p>
                      </a:txBody>
                      <a:tcPr/>
                    </a:tc>
                    <a:extLst>
                      <a:ext uri="{0D108BD9-81ED-4DB2-BD59-A6C34878D82A}">
                        <a16:rowId xmlns:a16="http://schemas.microsoft.com/office/drawing/2014/main" val="1466937764"/>
                      </a:ext>
                    </a:extLst>
                  </a:tr>
                  <a:tr h="370840">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0" smtClean="0">
                                        <a:latin typeface="Cambria Math" panose="02040503050406030204" pitchFamily="18" charset="0"/>
                                      </a:rPr>
                                      <m:t>+</m:t>
                                    </m:r>
                                  </m:e>
                                </m:d>
                              </m:oMath>
                            </m:oMathPara>
                          </a14:m>
                          <a:endParaRPr lang="en-US" sz="2800" dirty="0"/>
                        </a:p>
                      </a:txBody>
                      <a:tcPr/>
                    </a:tc>
                    <a:extLst>
                      <a:ext uri="{0D108BD9-81ED-4DB2-BD59-A6C34878D82A}">
                        <a16:rowId xmlns:a16="http://schemas.microsoft.com/office/drawing/2014/main" val="1923217373"/>
                      </a:ext>
                    </a:extLst>
                  </a:tr>
                </a:tbl>
              </a:graphicData>
            </a:graphic>
          </p:graphicFrame>
        </mc:Choice>
        <mc:Fallback xmlns="">
          <p:graphicFrame>
            <p:nvGraphicFramePr>
              <p:cNvPr id="166" name="Table 165">
                <a:extLst>
                  <a:ext uri="{FF2B5EF4-FFF2-40B4-BE49-F238E27FC236}">
                    <a16:creationId xmlns:a16="http://schemas.microsoft.com/office/drawing/2014/main" id="{F884C701-B08E-CB46-A068-A2C58D6D4BC8}"/>
                  </a:ext>
                </a:extLst>
              </p:cNvPr>
              <p:cNvGraphicFramePr>
                <a:graphicFrameLocks noGrp="1"/>
              </p:cNvGraphicFramePr>
              <p:nvPr>
                <p:extLst>
                  <p:ext uri="{D42A27DB-BD31-4B8C-83A1-F6EECF244321}">
                    <p14:modId xmlns:p14="http://schemas.microsoft.com/office/powerpoint/2010/main" val="3152126351"/>
                  </p:ext>
                </p:extLst>
              </p:nvPr>
            </p:nvGraphicFramePr>
            <p:xfrm>
              <a:off x="1656121" y="3675656"/>
              <a:ext cx="1538322" cy="2590800"/>
            </p:xfrm>
            <a:graphic>
              <a:graphicData uri="http://schemas.openxmlformats.org/drawingml/2006/table">
                <a:tbl>
                  <a:tblPr firstRow="1" bandRow="1">
                    <a:tableStyleId>{21E4AEA4-8DFA-4A89-87EB-49C32662AFE0}</a:tableStyleId>
                  </a:tblPr>
                  <a:tblGrid>
                    <a:gridCol w="1538322">
                      <a:extLst>
                        <a:ext uri="{9D8B030D-6E8A-4147-A177-3AD203B41FA5}">
                          <a16:colId xmlns:a16="http://schemas.microsoft.com/office/drawing/2014/main" val="1983566876"/>
                        </a:ext>
                      </a:extLst>
                    </a:gridCol>
                  </a:tblGrid>
                  <a:tr h="518160">
                    <a:tc>
                      <a:txBody>
                        <a:bodyPr/>
                        <a:lstStyle/>
                        <a:p>
                          <a:endParaRPr lang="en-US"/>
                        </a:p>
                      </a:txBody>
                      <a:tcPr>
                        <a:blipFill>
                          <a:blip r:embed="rId3"/>
                          <a:stretch>
                            <a:fillRect l="-820" t="-2439" r="-820" b="-400000"/>
                          </a:stretch>
                        </a:blipFill>
                      </a:tcPr>
                    </a:tc>
                    <a:extLst>
                      <a:ext uri="{0D108BD9-81ED-4DB2-BD59-A6C34878D82A}">
                        <a16:rowId xmlns:a16="http://schemas.microsoft.com/office/drawing/2014/main" val="1804482349"/>
                      </a:ext>
                    </a:extLst>
                  </a:tr>
                  <a:tr h="518160">
                    <a:tc>
                      <a:txBody>
                        <a:bodyPr/>
                        <a:lstStyle/>
                        <a:p>
                          <a:endParaRPr lang="en-US"/>
                        </a:p>
                      </a:txBody>
                      <a:tcPr>
                        <a:blipFill>
                          <a:blip r:embed="rId3"/>
                          <a:stretch>
                            <a:fillRect l="-820" t="-102439" r="-820" b="-300000"/>
                          </a:stretch>
                        </a:blipFill>
                      </a:tcPr>
                    </a:tc>
                    <a:extLst>
                      <a:ext uri="{0D108BD9-81ED-4DB2-BD59-A6C34878D82A}">
                        <a16:rowId xmlns:a16="http://schemas.microsoft.com/office/drawing/2014/main" val="113115922"/>
                      </a:ext>
                    </a:extLst>
                  </a:tr>
                  <a:tr h="518160">
                    <a:tc>
                      <a:txBody>
                        <a:bodyPr/>
                        <a:lstStyle/>
                        <a:p>
                          <a:endParaRPr lang="en-US"/>
                        </a:p>
                      </a:txBody>
                      <a:tcPr>
                        <a:blipFill>
                          <a:blip r:embed="rId3"/>
                          <a:stretch>
                            <a:fillRect l="-820" t="-202439" r="-820" b="-200000"/>
                          </a:stretch>
                        </a:blipFill>
                      </a:tcPr>
                    </a:tc>
                    <a:extLst>
                      <a:ext uri="{0D108BD9-81ED-4DB2-BD59-A6C34878D82A}">
                        <a16:rowId xmlns:a16="http://schemas.microsoft.com/office/drawing/2014/main" val="3686749637"/>
                      </a:ext>
                    </a:extLst>
                  </a:tr>
                  <a:tr h="518160">
                    <a:tc>
                      <a:txBody>
                        <a:bodyPr/>
                        <a:lstStyle/>
                        <a:p>
                          <a:endParaRPr lang="en-US"/>
                        </a:p>
                      </a:txBody>
                      <a:tcPr>
                        <a:blipFill>
                          <a:blip r:embed="rId3"/>
                          <a:stretch>
                            <a:fillRect l="-820" t="-302439" r="-820" b="-100000"/>
                          </a:stretch>
                        </a:blipFill>
                      </a:tcPr>
                    </a:tc>
                    <a:extLst>
                      <a:ext uri="{0D108BD9-81ED-4DB2-BD59-A6C34878D82A}">
                        <a16:rowId xmlns:a16="http://schemas.microsoft.com/office/drawing/2014/main" val="1466937764"/>
                      </a:ext>
                    </a:extLst>
                  </a:tr>
                  <a:tr h="518160">
                    <a:tc>
                      <a:txBody>
                        <a:bodyPr/>
                        <a:lstStyle/>
                        <a:p>
                          <a:endParaRPr lang="en-US"/>
                        </a:p>
                      </a:txBody>
                      <a:tcPr>
                        <a:blipFill>
                          <a:blip r:embed="rId3"/>
                          <a:stretch>
                            <a:fillRect l="-820" t="-402439" r="-820"/>
                          </a:stretch>
                        </a:blipFill>
                      </a:tcPr>
                    </a:tc>
                    <a:extLst>
                      <a:ext uri="{0D108BD9-81ED-4DB2-BD59-A6C34878D82A}">
                        <a16:rowId xmlns:a16="http://schemas.microsoft.com/office/drawing/2014/main" val="1923217373"/>
                      </a:ext>
                    </a:extLst>
                  </a:tr>
                </a:tbl>
              </a:graphicData>
            </a:graphic>
          </p:graphicFrame>
        </mc:Fallback>
      </mc:AlternateContent>
      <p:sp>
        <p:nvSpPr>
          <p:cNvPr id="3" name="Slide Number Placeholder 2">
            <a:extLst>
              <a:ext uri="{FF2B5EF4-FFF2-40B4-BE49-F238E27FC236}">
                <a16:creationId xmlns:a16="http://schemas.microsoft.com/office/drawing/2014/main" id="{8EF92299-7B72-E941-AACA-E080369D7C37}"/>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14</a:t>
            </a:fld>
            <a:endParaRPr lang="en-US"/>
          </a:p>
        </p:txBody>
      </p:sp>
      <p:sp>
        <p:nvSpPr>
          <p:cNvPr id="2" name="Title 1">
            <a:extLst>
              <a:ext uri="{FF2B5EF4-FFF2-40B4-BE49-F238E27FC236}">
                <a16:creationId xmlns:a16="http://schemas.microsoft.com/office/drawing/2014/main" id="{2E8A01CD-510F-EB45-9143-A465178DD5D1}"/>
              </a:ext>
            </a:extLst>
          </p:cNvPr>
          <p:cNvSpPr>
            <a:spLocks noGrp="1"/>
          </p:cNvSpPr>
          <p:nvPr>
            <p:ph type="title"/>
          </p:nvPr>
        </p:nvSpPr>
        <p:spPr/>
        <p:txBody>
          <a:bodyPr/>
          <a:lstStyle/>
          <a:p>
            <a:r>
              <a:rPr lang="en-US" dirty="0"/>
              <a:t>B92 Protocol Example</a:t>
            </a:r>
          </a:p>
        </p:txBody>
      </p:sp>
      <mc:AlternateContent xmlns:mc="http://schemas.openxmlformats.org/markup-compatibility/2006" xmlns:a14="http://schemas.microsoft.com/office/drawing/2010/main">
        <mc:Choice Requires="a14">
          <p:graphicFrame>
            <p:nvGraphicFramePr>
              <p:cNvPr id="24" name="Table 23">
                <a:extLst>
                  <a:ext uri="{FF2B5EF4-FFF2-40B4-BE49-F238E27FC236}">
                    <a16:creationId xmlns:a16="http://schemas.microsoft.com/office/drawing/2014/main" id="{86D4E526-F140-3347-9F46-DFE18A258500}"/>
                  </a:ext>
                </a:extLst>
              </p:cNvPr>
              <p:cNvGraphicFramePr>
                <a:graphicFrameLocks noGrp="1"/>
              </p:cNvGraphicFramePr>
              <p:nvPr>
                <p:extLst/>
              </p:nvPr>
            </p:nvGraphicFramePr>
            <p:xfrm>
              <a:off x="252175" y="3675656"/>
              <a:ext cx="1247816" cy="2590800"/>
            </p:xfrm>
            <a:graphic>
              <a:graphicData uri="http://schemas.openxmlformats.org/drawingml/2006/table">
                <a:tbl>
                  <a:tblPr firstRow="1" bandRow="1">
                    <a:tableStyleId>{21E4AEA4-8DFA-4A89-87EB-49C32662AFE0}</a:tableStyleId>
                  </a:tblPr>
                  <a:tblGrid>
                    <a:gridCol w="1247816">
                      <a:extLst>
                        <a:ext uri="{9D8B030D-6E8A-4147-A177-3AD203B41FA5}">
                          <a16:colId xmlns:a16="http://schemas.microsoft.com/office/drawing/2014/main" val="3649558995"/>
                        </a:ext>
                      </a:extLst>
                    </a:gridCol>
                  </a:tblGrid>
                  <a:tr h="370840">
                    <a:tc>
                      <a:txBody>
                        <a:bodyPr/>
                        <a:lstStyle/>
                        <a:p>
                          <a:pPr algn="ctr"/>
                          <a:r>
                            <a:rPr lang="en-US" sz="2800" dirty="0"/>
                            <a:t>a</a:t>
                          </a:r>
                        </a:p>
                      </a:txBody>
                      <a:tcPr/>
                    </a:tc>
                    <a:extLst>
                      <a:ext uri="{0D108BD9-81ED-4DB2-BD59-A6C34878D82A}">
                        <a16:rowId xmlns:a16="http://schemas.microsoft.com/office/drawing/2014/main" val="1365402015"/>
                      </a:ext>
                    </a:extLst>
                  </a:tr>
                  <a:tr h="370840">
                    <a:tc>
                      <a:txBody>
                        <a:bodyPr/>
                        <a:lstStyle/>
                        <a:p>
                          <a:pPr algn="ct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0</m:t>
                                </m:r>
                              </m:oMath>
                            </m:oMathPara>
                          </a14:m>
                          <a:endParaRPr lang="en-US" sz="2800" dirty="0"/>
                        </a:p>
                      </a:txBody>
                      <a:tcPr/>
                    </a:tc>
                    <a:extLst>
                      <a:ext uri="{0D108BD9-81ED-4DB2-BD59-A6C34878D82A}">
                        <a16:rowId xmlns:a16="http://schemas.microsoft.com/office/drawing/2014/main" val="733468901"/>
                      </a:ext>
                    </a:extLst>
                  </a:tr>
                  <a:tr h="370840">
                    <a:tc>
                      <a:txBody>
                        <a:bodyPr/>
                        <a:lstStyle/>
                        <a:p>
                          <a:pPr algn="ctr"/>
                          <a:r>
                            <a:rPr lang="en-US" sz="2800" dirty="0"/>
                            <a:t>0</a:t>
                          </a:r>
                        </a:p>
                      </a:txBody>
                      <a:tcPr/>
                    </a:tc>
                    <a:extLst>
                      <a:ext uri="{0D108BD9-81ED-4DB2-BD59-A6C34878D82A}">
                        <a16:rowId xmlns:a16="http://schemas.microsoft.com/office/drawing/2014/main" val="2003645429"/>
                      </a:ext>
                    </a:extLst>
                  </a:tr>
                  <a:tr h="370840">
                    <a:tc>
                      <a:txBody>
                        <a:bodyPr/>
                        <a:lstStyle/>
                        <a:p>
                          <a:pPr algn="ctr"/>
                          <a:r>
                            <a:rPr lang="en-US" sz="2800" dirty="0"/>
                            <a:t>1</a:t>
                          </a:r>
                        </a:p>
                      </a:txBody>
                      <a:tcPr/>
                    </a:tc>
                    <a:extLst>
                      <a:ext uri="{0D108BD9-81ED-4DB2-BD59-A6C34878D82A}">
                        <a16:rowId xmlns:a16="http://schemas.microsoft.com/office/drawing/2014/main" val="505929847"/>
                      </a:ext>
                    </a:extLst>
                  </a:tr>
                  <a:tr h="370840">
                    <a:tc>
                      <a:txBody>
                        <a:bodyPr/>
                        <a:lstStyle/>
                        <a:p>
                          <a:pPr algn="ctr"/>
                          <a:r>
                            <a:rPr lang="en-US" sz="2800" dirty="0"/>
                            <a:t>1</a:t>
                          </a:r>
                        </a:p>
                      </a:txBody>
                      <a:tcPr/>
                    </a:tc>
                    <a:extLst>
                      <a:ext uri="{0D108BD9-81ED-4DB2-BD59-A6C34878D82A}">
                        <a16:rowId xmlns:a16="http://schemas.microsoft.com/office/drawing/2014/main" val="3932435310"/>
                      </a:ext>
                    </a:extLst>
                  </a:tr>
                </a:tbl>
              </a:graphicData>
            </a:graphic>
          </p:graphicFrame>
        </mc:Choice>
        <mc:Fallback xmlns="">
          <p:graphicFrame>
            <p:nvGraphicFramePr>
              <p:cNvPr id="24" name="Table 23">
                <a:extLst>
                  <a:ext uri="{FF2B5EF4-FFF2-40B4-BE49-F238E27FC236}">
                    <a16:creationId xmlns:a16="http://schemas.microsoft.com/office/drawing/2014/main" id="{86D4E526-F140-3347-9F46-DFE18A258500}"/>
                  </a:ext>
                </a:extLst>
              </p:cNvPr>
              <p:cNvGraphicFramePr>
                <a:graphicFrameLocks noGrp="1"/>
              </p:cNvGraphicFramePr>
              <p:nvPr>
                <p:extLst>
                  <p:ext uri="{D42A27DB-BD31-4B8C-83A1-F6EECF244321}">
                    <p14:modId xmlns:p14="http://schemas.microsoft.com/office/powerpoint/2010/main" val="2233389920"/>
                  </p:ext>
                </p:extLst>
              </p:nvPr>
            </p:nvGraphicFramePr>
            <p:xfrm>
              <a:off x="252175" y="3675656"/>
              <a:ext cx="1247816" cy="2590800"/>
            </p:xfrm>
            <a:graphic>
              <a:graphicData uri="http://schemas.openxmlformats.org/drawingml/2006/table">
                <a:tbl>
                  <a:tblPr firstRow="1" bandRow="1">
                    <a:tableStyleId>{21E4AEA4-8DFA-4A89-87EB-49C32662AFE0}</a:tableStyleId>
                  </a:tblPr>
                  <a:tblGrid>
                    <a:gridCol w="1247816">
                      <a:extLst>
                        <a:ext uri="{9D8B030D-6E8A-4147-A177-3AD203B41FA5}">
                          <a16:colId xmlns:a16="http://schemas.microsoft.com/office/drawing/2014/main" val="3649558995"/>
                        </a:ext>
                      </a:extLst>
                    </a:gridCol>
                  </a:tblGrid>
                  <a:tr h="518160">
                    <a:tc>
                      <a:txBody>
                        <a:bodyPr/>
                        <a:lstStyle/>
                        <a:p>
                          <a:pPr algn="ctr"/>
                          <a:r>
                            <a:rPr lang="en-US" sz="2800" dirty="0"/>
                            <a:t>a</a:t>
                          </a:r>
                        </a:p>
                      </a:txBody>
                      <a:tcPr/>
                    </a:tc>
                    <a:extLst>
                      <a:ext uri="{0D108BD9-81ED-4DB2-BD59-A6C34878D82A}">
                        <a16:rowId xmlns:a16="http://schemas.microsoft.com/office/drawing/2014/main" val="1365402015"/>
                      </a:ext>
                    </a:extLst>
                  </a:tr>
                  <a:tr h="518160">
                    <a:tc>
                      <a:txBody>
                        <a:bodyPr/>
                        <a:lstStyle/>
                        <a:p>
                          <a:endParaRPr lang="en-US"/>
                        </a:p>
                      </a:txBody>
                      <a:tcPr>
                        <a:blipFill>
                          <a:blip r:embed="rId7"/>
                          <a:stretch>
                            <a:fillRect t="-112195" r="-1000" b="-329268"/>
                          </a:stretch>
                        </a:blipFill>
                      </a:tcPr>
                    </a:tc>
                    <a:extLst>
                      <a:ext uri="{0D108BD9-81ED-4DB2-BD59-A6C34878D82A}">
                        <a16:rowId xmlns:a16="http://schemas.microsoft.com/office/drawing/2014/main" val="733468901"/>
                      </a:ext>
                    </a:extLst>
                  </a:tr>
                  <a:tr h="518160">
                    <a:tc>
                      <a:txBody>
                        <a:bodyPr/>
                        <a:lstStyle/>
                        <a:p>
                          <a:pPr algn="ctr"/>
                          <a:r>
                            <a:rPr lang="en-US" sz="2800" dirty="0"/>
                            <a:t>0</a:t>
                          </a:r>
                        </a:p>
                      </a:txBody>
                      <a:tcPr/>
                    </a:tc>
                    <a:extLst>
                      <a:ext uri="{0D108BD9-81ED-4DB2-BD59-A6C34878D82A}">
                        <a16:rowId xmlns:a16="http://schemas.microsoft.com/office/drawing/2014/main" val="2003645429"/>
                      </a:ext>
                    </a:extLst>
                  </a:tr>
                  <a:tr h="518160">
                    <a:tc>
                      <a:txBody>
                        <a:bodyPr/>
                        <a:lstStyle/>
                        <a:p>
                          <a:pPr algn="ctr"/>
                          <a:r>
                            <a:rPr lang="en-US" sz="2800" dirty="0"/>
                            <a:t>1</a:t>
                          </a:r>
                        </a:p>
                      </a:txBody>
                      <a:tcPr/>
                    </a:tc>
                    <a:extLst>
                      <a:ext uri="{0D108BD9-81ED-4DB2-BD59-A6C34878D82A}">
                        <a16:rowId xmlns:a16="http://schemas.microsoft.com/office/drawing/2014/main" val="505929847"/>
                      </a:ext>
                    </a:extLst>
                  </a:tr>
                  <a:tr h="518160">
                    <a:tc>
                      <a:txBody>
                        <a:bodyPr/>
                        <a:lstStyle/>
                        <a:p>
                          <a:pPr algn="ctr"/>
                          <a:r>
                            <a:rPr lang="en-US" sz="2800" dirty="0"/>
                            <a:t>1</a:t>
                          </a:r>
                        </a:p>
                      </a:txBody>
                      <a:tcPr/>
                    </a:tc>
                    <a:extLst>
                      <a:ext uri="{0D108BD9-81ED-4DB2-BD59-A6C34878D82A}">
                        <a16:rowId xmlns:a16="http://schemas.microsoft.com/office/drawing/2014/main" val="393243531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0" name="Table 49">
                <a:extLst>
                  <a:ext uri="{FF2B5EF4-FFF2-40B4-BE49-F238E27FC236}">
                    <a16:creationId xmlns:a16="http://schemas.microsoft.com/office/drawing/2014/main" id="{18ACA4D1-B0BB-B443-9AA0-262477BB5FA3}"/>
                  </a:ext>
                </a:extLst>
              </p:cNvPr>
              <p:cNvGraphicFramePr>
                <a:graphicFrameLocks noGrp="1"/>
              </p:cNvGraphicFramePr>
              <p:nvPr>
                <p:extLst>
                  <p:ext uri="{D42A27DB-BD31-4B8C-83A1-F6EECF244321}">
                    <p14:modId xmlns:p14="http://schemas.microsoft.com/office/powerpoint/2010/main" val="1708281179"/>
                  </p:ext>
                </p:extLst>
              </p:nvPr>
            </p:nvGraphicFramePr>
            <p:xfrm>
              <a:off x="7726328" y="3675656"/>
              <a:ext cx="1380353" cy="2590800"/>
            </p:xfrm>
            <a:graphic>
              <a:graphicData uri="http://schemas.openxmlformats.org/drawingml/2006/table">
                <a:tbl>
                  <a:tblPr firstRow="1" bandRow="1">
                    <a:tableStyleId>{073A0DAA-6AF3-43AB-8588-CEC1D06C72B9}</a:tableStyleId>
                  </a:tblPr>
                  <a:tblGrid>
                    <a:gridCol w="1380353">
                      <a:extLst>
                        <a:ext uri="{9D8B030D-6E8A-4147-A177-3AD203B41FA5}">
                          <a16:colId xmlns:a16="http://schemas.microsoft.com/office/drawing/2014/main" val="2443207743"/>
                        </a:ext>
                      </a:extLst>
                    </a:gridCol>
                  </a:tblGrid>
                  <a:tr h="3833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b</a:t>
                          </a:r>
                        </a:p>
                      </a:txBody>
                      <a:tcPr/>
                    </a:tc>
                    <a:extLst>
                      <a:ext uri="{0D108BD9-81ED-4DB2-BD59-A6C34878D82A}">
                        <a16:rowId xmlns:a16="http://schemas.microsoft.com/office/drawing/2014/main" val="447493337"/>
                      </a:ext>
                    </a:extLst>
                  </a:tr>
                  <a:tr h="3833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800" b="0" i="1" smtClean="0">
                                  <a:latin typeface="Cambria Math" panose="02040503050406030204" pitchFamily="18" charset="0"/>
                                </a:rPr>
                                <m:t>0</m:t>
                              </m:r>
                            </m:oMath>
                          </a14:m>
                          <a:r>
                            <a:rPr lang="en-US" sz="2800" i="1" dirty="0"/>
                            <a:t> </a:t>
                          </a: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oMath>
                          </a14:m>
                          <a:endParaRPr lang="en-US" sz="2800" i="0" dirty="0"/>
                        </a:p>
                      </a:txBody>
                      <a:tcPr/>
                    </a:tc>
                    <a:extLst>
                      <a:ext uri="{0D108BD9-81ED-4DB2-BD59-A6C34878D82A}">
                        <a16:rowId xmlns:a16="http://schemas.microsoft.com/office/drawing/2014/main" val="2517485846"/>
                      </a:ext>
                    </a:extLst>
                  </a:tr>
                  <a:tr h="3833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sz="2800" b="0" i="1" smtClean="0">
                                    <a:latin typeface="Cambria Math" panose="02040503050406030204" pitchFamily="18" charset="0"/>
                                  </a:rPr>
                                  <m:t>1</m:t>
                                </m:r>
                                <m:r>
                                  <a:rPr lang="en-US" sz="2800" i="1" smtClean="0">
                                    <a:solidFill>
                                      <a:srgbClr val="FF0000"/>
                                    </a:solidFill>
                                    <a:latin typeface="Cambria Math" panose="02040503050406030204" pitchFamily="18" charset="0"/>
                                    <a:ea typeface="Cambria Math" panose="02040503050406030204" pitchFamily="18" charset="0"/>
                                  </a:rPr>
                                  <m:t>↗</m:t>
                                </m:r>
                              </m:oMath>
                            </m:oMathPara>
                          </a14:m>
                          <a:endParaRPr lang="en-US" sz="2800" i="0" dirty="0"/>
                        </a:p>
                      </a:txBody>
                      <a:tcPr/>
                    </a:tc>
                    <a:extLst>
                      <a:ext uri="{0D108BD9-81ED-4DB2-BD59-A6C34878D82A}">
                        <a16:rowId xmlns:a16="http://schemas.microsoft.com/office/drawing/2014/main" val="4026186168"/>
                      </a:ext>
                    </a:extLst>
                  </a:tr>
                  <a:tr h="3833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i="0" dirty="0"/>
                            <a:t>0 </a:t>
                          </a: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oMath>
                          </a14:m>
                          <a:endParaRPr lang="en-US" sz="2800" i="0" dirty="0"/>
                        </a:p>
                      </a:txBody>
                      <a:tcPr/>
                    </a:tc>
                    <a:extLst>
                      <a:ext uri="{0D108BD9-81ED-4DB2-BD59-A6C34878D82A}">
                        <a16:rowId xmlns:a16="http://schemas.microsoft.com/office/drawing/2014/main" val="396451753"/>
                      </a:ext>
                    </a:extLst>
                  </a:tr>
                  <a:tr h="3833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i="0" dirty="0"/>
                            <a:t>1 </a:t>
                          </a: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oMath>
                          </a14:m>
                          <a:endParaRPr lang="en-US" sz="2800" i="0" dirty="0"/>
                        </a:p>
                      </a:txBody>
                      <a:tcPr/>
                    </a:tc>
                    <a:extLst>
                      <a:ext uri="{0D108BD9-81ED-4DB2-BD59-A6C34878D82A}">
                        <a16:rowId xmlns:a16="http://schemas.microsoft.com/office/drawing/2014/main" val="1878624376"/>
                      </a:ext>
                    </a:extLst>
                  </a:tr>
                </a:tbl>
              </a:graphicData>
            </a:graphic>
          </p:graphicFrame>
        </mc:Choice>
        <mc:Fallback xmlns="">
          <p:graphicFrame>
            <p:nvGraphicFramePr>
              <p:cNvPr id="50" name="Table 49">
                <a:extLst>
                  <a:ext uri="{FF2B5EF4-FFF2-40B4-BE49-F238E27FC236}">
                    <a16:creationId xmlns:a16="http://schemas.microsoft.com/office/drawing/2014/main" id="{18ACA4D1-B0BB-B443-9AA0-262477BB5FA3}"/>
                  </a:ext>
                </a:extLst>
              </p:cNvPr>
              <p:cNvGraphicFramePr>
                <a:graphicFrameLocks noGrp="1"/>
              </p:cNvGraphicFramePr>
              <p:nvPr>
                <p:extLst>
                  <p:ext uri="{D42A27DB-BD31-4B8C-83A1-F6EECF244321}">
                    <p14:modId xmlns:p14="http://schemas.microsoft.com/office/powerpoint/2010/main" val="1708281179"/>
                  </p:ext>
                </p:extLst>
              </p:nvPr>
            </p:nvGraphicFramePr>
            <p:xfrm>
              <a:off x="7726328" y="3675656"/>
              <a:ext cx="1380353" cy="2590800"/>
            </p:xfrm>
            <a:graphic>
              <a:graphicData uri="http://schemas.openxmlformats.org/drawingml/2006/table">
                <a:tbl>
                  <a:tblPr firstRow="1" bandRow="1">
                    <a:tableStyleId>{073A0DAA-6AF3-43AB-8588-CEC1D06C72B9}</a:tableStyleId>
                  </a:tblPr>
                  <a:tblGrid>
                    <a:gridCol w="1380353">
                      <a:extLst>
                        <a:ext uri="{9D8B030D-6E8A-4147-A177-3AD203B41FA5}">
                          <a16:colId xmlns:a16="http://schemas.microsoft.com/office/drawing/2014/main" val="2443207743"/>
                        </a:ext>
                      </a:extLst>
                    </a:gridCol>
                  </a:tblGrid>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b</a:t>
                          </a:r>
                        </a:p>
                      </a:txBody>
                      <a:tcPr/>
                    </a:tc>
                    <a:extLst>
                      <a:ext uri="{0D108BD9-81ED-4DB2-BD59-A6C34878D82A}">
                        <a16:rowId xmlns:a16="http://schemas.microsoft.com/office/drawing/2014/main" val="447493337"/>
                      </a:ext>
                    </a:extLst>
                  </a:tr>
                  <a:tr h="518160">
                    <a:tc>
                      <a:txBody>
                        <a:bodyPr/>
                        <a:lstStyle/>
                        <a:p>
                          <a:endParaRPr lang="en-US"/>
                        </a:p>
                      </a:txBody>
                      <a:tcPr>
                        <a:blipFill>
                          <a:blip r:embed="rId8"/>
                          <a:stretch>
                            <a:fillRect l="-909" t="-112195" r="-909" b="-329268"/>
                          </a:stretch>
                        </a:blipFill>
                      </a:tcPr>
                    </a:tc>
                    <a:extLst>
                      <a:ext uri="{0D108BD9-81ED-4DB2-BD59-A6C34878D82A}">
                        <a16:rowId xmlns:a16="http://schemas.microsoft.com/office/drawing/2014/main" val="2517485846"/>
                      </a:ext>
                    </a:extLst>
                  </a:tr>
                  <a:tr h="518160">
                    <a:tc>
                      <a:txBody>
                        <a:bodyPr/>
                        <a:lstStyle/>
                        <a:p>
                          <a:endParaRPr lang="en-US"/>
                        </a:p>
                      </a:txBody>
                      <a:tcPr>
                        <a:blipFill>
                          <a:blip r:embed="rId8"/>
                          <a:stretch>
                            <a:fillRect l="-909" t="-212195" r="-909" b="-229268"/>
                          </a:stretch>
                        </a:blipFill>
                      </a:tcPr>
                    </a:tc>
                    <a:extLst>
                      <a:ext uri="{0D108BD9-81ED-4DB2-BD59-A6C34878D82A}">
                        <a16:rowId xmlns:a16="http://schemas.microsoft.com/office/drawing/2014/main" val="4026186168"/>
                      </a:ext>
                    </a:extLst>
                  </a:tr>
                  <a:tr h="518160">
                    <a:tc>
                      <a:txBody>
                        <a:bodyPr/>
                        <a:lstStyle/>
                        <a:p>
                          <a:endParaRPr lang="en-US"/>
                        </a:p>
                      </a:txBody>
                      <a:tcPr>
                        <a:blipFill>
                          <a:blip r:embed="rId8"/>
                          <a:stretch>
                            <a:fillRect l="-909" t="-312195" r="-909" b="-129268"/>
                          </a:stretch>
                        </a:blipFill>
                      </a:tcPr>
                    </a:tc>
                    <a:extLst>
                      <a:ext uri="{0D108BD9-81ED-4DB2-BD59-A6C34878D82A}">
                        <a16:rowId xmlns:a16="http://schemas.microsoft.com/office/drawing/2014/main" val="396451753"/>
                      </a:ext>
                    </a:extLst>
                  </a:tr>
                  <a:tr h="518160">
                    <a:tc>
                      <a:txBody>
                        <a:bodyPr/>
                        <a:lstStyle/>
                        <a:p>
                          <a:endParaRPr lang="en-US"/>
                        </a:p>
                      </a:txBody>
                      <a:tcPr>
                        <a:blipFill>
                          <a:blip r:embed="rId8"/>
                          <a:stretch>
                            <a:fillRect l="-909" t="-412195" r="-909" b="-29268"/>
                          </a:stretch>
                        </a:blipFill>
                      </a:tcPr>
                    </a:tc>
                    <a:extLst>
                      <a:ext uri="{0D108BD9-81ED-4DB2-BD59-A6C34878D82A}">
                        <a16:rowId xmlns:a16="http://schemas.microsoft.com/office/drawing/2014/main" val="187862437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1" name="Table 50">
                <a:extLst>
                  <a:ext uri="{FF2B5EF4-FFF2-40B4-BE49-F238E27FC236}">
                    <a16:creationId xmlns:a16="http://schemas.microsoft.com/office/drawing/2014/main" id="{4D8ABE91-81D8-0746-A8C0-C93B10BDCB47}"/>
                  </a:ext>
                </a:extLst>
              </p:cNvPr>
              <p:cNvGraphicFramePr>
                <a:graphicFrameLocks noGrp="1"/>
              </p:cNvGraphicFramePr>
              <p:nvPr>
                <p:extLst>
                  <p:ext uri="{D42A27DB-BD31-4B8C-83A1-F6EECF244321}">
                    <p14:modId xmlns:p14="http://schemas.microsoft.com/office/powerpoint/2010/main" val="3765485951"/>
                  </p:ext>
                </p:extLst>
              </p:nvPr>
            </p:nvGraphicFramePr>
            <p:xfrm>
              <a:off x="9136475" y="3675657"/>
              <a:ext cx="1380353" cy="2590800"/>
            </p:xfrm>
            <a:graphic>
              <a:graphicData uri="http://schemas.openxmlformats.org/drawingml/2006/table">
                <a:tbl>
                  <a:tblPr firstRow="1" bandRow="1">
                    <a:tableStyleId>{073A0DAA-6AF3-43AB-8588-CEC1D06C72B9}</a:tableStyleId>
                  </a:tblPr>
                  <a:tblGrid>
                    <a:gridCol w="1380353">
                      <a:extLst>
                        <a:ext uri="{9D8B030D-6E8A-4147-A177-3AD203B41FA5}">
                          <a16:colId xmlns:a16="http://schemas.microsoft.com/office/drawing/2014/main" val="2443207743"/>
                        </a:ext>
                      </a:extLst>
                    </a:gridCol>
                  </a:tblGrid>
                  <a:tr h="3833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r</a:t>
                          </a:r>
                        </a:p>
                      </a:txBody>
                      <a:tcPr/>
                    </a:tc>
                    <a:extLst>
                      <a:ext uri="{0D108BD9-81ED-4DB2-BD59-A6C34878D82A}">
                        <a16:rowId xmlns:a16="http://schemas.microsoft.com/office/drawing/2014/main" val="447493337"/>
                      </a:ext>
                    </a:extLst>
                  </a:tr>
                  <a:tr h="383322">
                    <a:tc>
                      <a:txBody>
                        <a:bodyPr/>
                        <a:lstStyle/>
                        <a:p>
                          <a:pPr algn="ctr"/>
                          <a14:m>
                            <m:oMathPara xmlns:m="http://schemas.openxmlformats.org/officeDocument/2006/math">
                              <m:oMathParaPr>
                                <m:jc m:val="center"/>
                              </m:oMathParaPr>
                              <m:oMath xmlns:m="http://schemas.openxmlformats.org/officeDocument/2006/math">
                                <m:r>
                                  <a:rPr lang="en-US" sz="2800" b="0" i="1" smtClean="0">
                                    <a:latin typeface="Cambria Math" panose="02040503050406030204" pitchFamily="18" charset="0"/>
                                  </a:rPr>
                                  <m:t>0</m:t>
                                </m:r>
                              </m:oMath>
                            </m:oMathPara>
                          </a14:m>
                          <a:endParaRPr lang="en-US" sz="2800" i="1" dirty="0"/>
                        </a:p>
                      </a:txBody>
                      <a:tcPr/>
                    </a:tc>
                    <a:extLst>
                      <a:ext uri="{0D108BD9-81ED-4DB2-BD59-A6C34878D82A}">
                        <a16:rowId xmlns:a16="http://schemas.microsoft.com/office/drawing/2014/main" val="2517485846"/>
                      </a:ext>
                    </a:extLst>
                  </a:tr>
                  <a:tr h="383322">
                    <a:tc>
                      <a:txBody>
                        <a:bodyPr/>
                        <a:lstStyle/>
                        <a:p>
                          <a:pPr algn="ctr"/>
                          <a14:m>
                            <m:oMathPara xmlns:m="http://schemas.openxmlformats.org/officeDocument/2006/math">
                              <m:oMathParaPr>
                                <m:jc m:val="center"/>
                              </m:oMathParaPr>
                              <m:oMath xmlns:m="http://schemas.openxmlformats.org/officeDocument/2006/math">
                                <m:r>
                                  <a:rPr lang="en-US" sz="2800" b="0" i="1" smtClean="0">
                                    <a:latin typeface="Cambria Math" panose="02040503050406030204" pitchFamily="18" charset="0"/>
                                  </a:rPr>
                                  <m:t>1</m:t>
                                </m:r>
                              </m:oMath>
                            </m:oMathPara>
                          </a14:m>
                          <a:endParaRPr lang="en-US" sz="2800" i="1" dirty="0"/>
                        </a:p>
                      </a:txBody>
                      <a:tcPr/>
                    </a:tc>
                    <a:extLst>
                      <a:ext uri="{0D108BD9-81ED-4DB2-BD59-A6C34878D82A}">
                        <a16:rowId xmlns:a16="http://schemas.microsoft.com/office/drawing/2014/main" val="4026186168"/>
                      </a:ext>
                    </a:extLst>
                  </a:tr>
                  <a:tr h="383322">
                    <a:tc>
                      <a:txBody>
                        <a:bodyPr/>
                        <a:lstStyle/>
                        <a:p>
                          <a:pPr algn="ctr"/>
                          <a:r>
                            <a:rPr lang="en-US" sz="2800" i="0" dirty="0"/>
                            <a:t>1</a:t>
                          </a:r>
                        </a:p>
                      </a:txBody>
                      <a:tcPr/>
                    </a:tc>
                    <a:extLst>
                      <a:ext uri="{0D108BD9-81ED-4DB2-BD59-A6C34878D82A}">
                        <a16:rowId xmlns:a16="http://schemas.microsoft.com/office/drawing/2014/main" val="1807755445"/>
                      </a:ext>
                    </a:extLst>
                  </a:tr>
                  <a:tr h="383322">
                    <a:tc>
                      <a:txBody>
                        <a:bodyPr/>
                        <a:lstStyle/>
                        <a:p>
                          <a:pPr algn="ctr"/>
                          <a:r>
                            <a:rPr lang="en-US" sz="2800" i="0" dirty="0"/>
                            <a:t>0</a:t>
                          </a:r>
                        </a:p>
                      </a:txBody>
                      <a:tcPr/>
                    </a:tc>
                    <a:extLst>
                      <a:ext uri="{0D108BD9-81ED-4DB2-BD59-A6C34878D82A}">
                        <a16:rowId xmlns:a16="http://schemas.microsoft.com/office/drawing/2014/main" val="3500119432"/>
                      </a:ext>
                    </a:extLst>
                  </a:tr>
                </a:tbl>
              </a:graphicData>
            </a:graphic>
          </p:graphicFrame>
        </mc:Choice>
        <mc:Fallback xmlns="">
          <p:graphicFrame>
            <p:nvGraphicFramePr>
              <p:cNvPr id="51" name="Table 50">
                <a:extLst>
                  <a:ext uri="{FF2B5EF4-FFF2-40B4-BE49-F238E27FC236}">
                    <a16:creationId xmlns:a16="http://schemas.microsoft.com/office/drawing/2014/main" id="{4D8ABE91-81D8-0746-A8C0-C93B10BDCB47}"/>
                  </a:ext>
                </a:extLst>
              </p:cNvPr>
              <p:cNvGraphicFramePr>
                <a:graphicFrameLocks noGrp="1"/>
              </p:cNvGraphicFramePr>
              <p:nvPr>
                <p:extLst>
                  <p:ext uri="{D42A27DB-BD31-4B8C-83A1-F6EECF244321}">
                    <p14:modId xmlns:p14="http://schemas.microsoft.com/office/powerpoint/2010/main" val="3765485951"/>
                  </p:ext>
                </p:extLst>
              </p:nvPr>
            </p:nvGraphicFramePr>
            <p:xfrm>
              <a:off x="9136475" y="3675657"/>
              <a:ext cx="1380353" cy="2590800"/>
            </p:xfrm>
            <a:graphic>
              <a:graphicData uri="http://schemas.openxmlformats.org/drawingml/2006/table">
                <a:tbl>
                  <a:tblPr firstRow="1" bandRow="1">
                    <a:tableStyleId>{073A0DAA-6AF3-43AB-8588-CEC1D06C72B9}</a:tableStyleId>
                  </a:tblPr>
                  <a:tblGrid>
                    <a:gridCol w="1380353">
                      <a:extLst>
                        <a:ext uri="{9D8B030D-6E8A-4147-A177-3AD203B41FA5}">
                          <a16:colId xmlns:a16="http://schemas.microsoft.com/office/drawing/2014/main" val="2443207743"/>
                        </a:ext>
                      </a:extLst>
                    </a:gridCol>
                  </a:tblGrid>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r</a:t>
                          </a:r>
                        </a:p>
                      </a:txBody>
                      <a:tcPr/>
                    </a:tc>
                    <a:extLst>
                      <a:ext uri="{0D108BD9-81ED-4DB2-BD59-A6C34878D82A}">
                        <a16:rowId xmlns:a16="http://schemas.microsoft.com/office/drawing/2014/main" val="447493337"/>
                      </a:ext>
                    </a:extLst>
                  </a:tr>
                  <a:tr h="518160">
                    <a:tc>
                      <a:txBody>
                        <a:bodyPr/>
                        <a:lstStyle/>
                        <a:p>
                          <a:endParaRPr lang="en-US"/>
                        </a:p>
                      </a:txBody>
                      <a:tcPr>
                        <a:blipFill>
                          <a:blip r:embed="rId9"/>
                          <a:stretch>
                            <a:fillRect l="-909" t="-112195" r="-909" b="-329268"/>
                          </a:stretch>
                        </a:blipFill>
                      </a:tcPr>
                    </a:tc>
                    <a:extLst>
                      <a:ext uri="{0D108BD9-81ED-4DB2-BD59-A6C34878D82A}">
                        <a16:rowId xmlns:a16="http://schemas.microsoft.com/office/drawing/2014/main" val="2517485846"/>
                      </a:ext>
                    </a:extLst>
                  </a:tr>
                  <a:tr h="518160">
                    <a:tc>
                      <a:txBody>
                        <a:bodyPr/>
                        <a:lstStyle/>
                        <a:p>
                          <a:endParaRPr lang="en-US"/>
                        </a:p>
                      </a:txBody>
                      <a:tcPr>
                        <a:blipFill>
                          <a:blip r:embed="rId9"/>
                          <a:stretch>
                            <a:fillRect l="-909" t="-212195" r="-909" b="-229268"/>
                          </a:stretch>
                        </a:blipFill>
                      </a:tcPr>
                    </a:tc>
                    <a:extLst>
                      <a:ext uri="{0D108BD9-81ED-4DB2-BD59-A6C34878D82A}">
                        <a16:rowId xmlns:a16="http://schemas.microsoft.com/office/drawing/2014/main" val="4026186168"/>
                      </a:ext>
                    </a:extLst>
                  </a:tr>
                  <a:tr h="518160">
                    <a:tc>
                      <a:txBody>
                        <a:bodyPr/>
                        <a:lstStyle/>
                        <a:p>
                          <a:pPr algn="ctr"/>
                          <a:r>
                            <a:rPr lang="en-US" sz="2800" i="0" dirty="0"/>
                            <a:t>1</a:t>
                          </a:r>
                        </a:p>
                      </a:txBody>
                      <a:tcPr/>
                    </a:tc>
                    <a:extLst>
                      <a:ext uri="{0D108BD9-81ED-4DB2-BD59-A6C34878D82A}">
                        <a16:rowId xmlns:a16="http://schemas.microsoft.com/office/drawing/2014/main" val="1807755445"/>
                      </a:ext>
                    </a:extLst>
                  </a:tr>
                  <a:tr h="518160">
                    <a:tc>
                      <a:txBody>
                        <a:bodyPr/>
                        <a:lstStyle/>
                        <a:p>
                          <a:pPr algn="ctr"/>
                          <a:r>
                            <a:rPr lang="en-US" sz="2800" i="0" dirty="0"/>
                            <a:t>0</a:t>
                          </a:r>
                        </a:p>
                      </a:txBody>
                      <a:tcPr/>
                    </a:tc>
                    <a:extLst>
                      <a:ext uri="{0D108BD9-81ED-4DB2-BD59-A6C34878D82A}">
                        <a16:rowId xmlns:a16="http://schemas.microsoft.com/office/drawing/2014/main" val="3500119432"/>
                      </a:ext>
                    </a:extLst>
                  </a:tr>
                </a:tbl>
              </a:graphicData>
            </a:graphic>
          </p:graphicFrame>
        </mc:Fallback>
      </mc:AlternateContent>
      <p:grpSp>
        <p:nvGrpSpPr>
          <p:cNvPr id="6" name="Group 5">
            <a:extLst>
              <a:ext uri="{FF2B5EF4-FFF2-40B4-BE49-F238E27FC236}">
                <a16:creationId xmlns:a16="http://schemas.microsoft.com/office/drawing/2014/main" id="{22EA9FC0-C1CB-FE4C-AFE0-F3A43D53AC17}"/>
              </a:ext>
            </a:extLst>
          </p:cNvPr>
          <p:cNvGrpSpPr/>
          <p:nvPr/>
        </p:nvGrpSpPr>
        <p:grpSpPr>
          <a:xfrm>
            <a:off x="1499991" y="2615824"/>
            <a:ext cx="8326660" cy="1059832"/>
            <a:chOff x="1499991" y="2615824"/>
            <a:chExt cx="8326660" cy="1059832"/>
          </a:xfrm>
        </p:grpSpPr>
        <p:cxnSp>
          <p:nvCxnSpPr>
            <p:cNvPr id="27" name="Straight Connector 26">
              <a:extLst>
                <a:ext uri="{FF2B5EF4-FFF2-40B4-BE49-F238E27FC236}">
                  <a16:creationId xmlns:a16="http://schemas.microsoft.com/office/drawing/2014/main" id="{249A8149-4301-9B46-90B3-C97B42263077}"/>
                </a:ext>
              </a:extLst>
            </p:cNvPr>
            <p:cNvCxnSpPr>
              <a:cxnSpLocks/>
            </p:cNvCxnSpPr>
            <p:nvPr/>
          </p:nvCxnSpPr>
          <p:spPr>
            <a:xfrm>
              <a:off x="9826651" y="2615824"/>
              <a:ext cx="0" cy="105983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2E8E6FA-1C6E-FA4E-8514-DFB2E62FEC49}"/>
                </a:ext>
              </a:extLst>
            </p:cNvPr>
            <p:cNvCxnSpPr>
              <a:cxnSpLocks/>
            </p:cNvCxnSpPr>
            <p:nvPr/>
          </p:nvCxnSpPr>
          <p:spPr>
            <a:xfrm flipH="1">
              <a:off x="1499991" y="2615824"/>
              <a:ext cx="8326660" cy="0"/>
            </a:xfrm>
            <a:prstGeom prst="line">
              <a:avLst/>
            </a:prstGeom>
            <a:ln w="7620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80" name="Table 79">
                <a:extLst>
                  <a:ext uri="{FF2B5EF4-FFF2-40B4-BE49-F238E27FC236}">
                    <a16:creationId xmlns:a16="http://schemas.microsoft.com/office/drawing/2014/main" id="{571E7041-776C-9A4B-8D4A-F7D2519C21B6}"/>
                  </a:ext>
                </a:extLst>
              </p:cNvPr>
              <p:cNvGraphicFramePr>
                <a:graphicFrameLocks noGrp="1"/>
              </p:cNvGraphicFramePr>
              <p:nvPr>
                <p:extLst>
                  <p:ext uri="{D42A27DB-BD31-4B8C-83A1-F6EECF244321}">
                    <p14:modId xmlns:p14="http://schemas.microsoft.com/office/powerpoint/2010/main" val="4048395786"/>
                  </p:ext>
                </p:extLst>
              </p:nvPr>
            </p:nvGraphicFramePr>
            <p:xfrm>
              <a:off x="10531630" y="3675657"/>
              <a:ext cx="1380353" cy="2590800"/>
            </p:xfrm>
            <a:graphic>
              <a:graphicData uri="http://schemas.openxmlformats.org/drawingml/2006/table">
                <a:tbl>
                  <a:tblPr firstRow="1" bandRow="1">
                    <a:tableStyleId>{073A0DAA-6AF3-43AB-8588-CEC1D06C72B9}</a:tableStyleId>
                  </a:tblPr>
                  <a:tblGrid>
                    <a:gridCol w="1380353">
                      <a:extLst>
                        <a:ext uri="{9D8B030D-6E8A-4147-A177-3AD203B41FA5}">
                          <a16:colId xmlns:a16="http://schemas.microsoft.com/office/drawing/2014/main" val="2443207743"/>
                        </a:ext>
                      </a:extLst>
                    </a:gridCol>
                  </a:tblGrid>
                  <a:tr h="3833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k=1-b</a:t>
                          </a:r>
                        </a:p>
                      </a:txBody>
                      <a:tcPr/>
                    </a:tc>
                    <a:extLst>
                      <a:ext uri="{0D108BD9-81ED-4DB2-BD59-A6C34878D82A}">
                        <a16:rowId xmlns:a16="http://schemas.microsoft.com/office/drawing/2014/main" val="447493337"/>
                      </a:ext>
                    </a:extLst>
                  </a:tr>
                  <a:tr h="383322">
                    <a:tc>
                      <a:txBody>
                        <a:bodyPr/>
                        <a:lstStyle/>
                        <a:p>
                          <a:pPr algn="ctr"/>
                          <a:endParaRPr lang="en-US" sz="28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7485846"/>
                      </a:ext>
                    </a:extLst>
                  </a:tr>
                  <a:tr h="383322">
                    <a:tc>
                      <a:txBody>
                        <a:bodyPr/>
                        <a:lstStyle/>
                        <a:p>
                          <a:pPr algn="ctr"/>
                          <a:r>
                            <a:rPr lang="en-US" sz="2800" b="0" dirty="0">
                              <a:latin typeface="Times New Roman" panose="02020603050405020304" pitchFamily="18" charset="0"/>
                              <a:cs typeface="Times New Roman" panose="02020603050405020304" pitchFamily="18" charset="0"/>
                            </a:rPr>
                            <a:t>1-</a:t>
                          </a:r>
                          <a:r>
                            <a:rPr lang="en-US" sz="2800" b="0" i="1" dirty="0">
                              <a:latin typeface="Times New Roman" panose="02020603050405020304" pitchFamily="18" charset="0"/>
                              <a:cs typeface="Times New Roman" panose="02020603050405020304" pitchFamily="18" charset="0"/>
                            </a:rPr>
                            <a:t>b</a:t>
                          </a:r>
                          <a:r>
                            <a:rPr lang="en-US" sz="2800" b="0" dirty="0">
                              <a:latin typeface="Times New Roman" panose="02020603050405020304" pitchFamily="18" charset="0"/>
                              <a:cs typeface="Times New Roman" panose="02020603050405020304" pitchFamily="18" charset="0"/>
                            </a:rPr>
                            <a:t>=</a:t>
                          </a:r>
                          <a14:m>
                            <m:oMath xmlns:m="http://schemas.openxmlformats.org/officeDocument/2006/math">
                              <m:r>
                                <a:rPr lang="en-US" sz="2800" b="0" i="1" smtClean="0">
                                  <a:latin typeface="Cambria Math" panose="02040503050406030204" pitchFamily="18" charset="0"/>
                                </a:rPr>
                                <m:t>0</m:t>
                              </m:r>
                            </m:oMath>
                          </a14:m>
                          <a:endParaRPr lang="en-US" sz="2800" i="1" dirty="0"/>
                        </a:p>
                      </a:txBody>
                      <a:tcPr/>
                    </a:tc>
                    <a:extLst>
                      <a:ext uri="{0D108BD9-81ED-4DB2-BD59-A6C34878D82A}">
                        <a16:rowId xmlns:a16="http://schemas.microsoft.com/office/drawing/2014/main" val="4026186168"/>
                      </a:ext>
                    </a:extLst>
                  </a:tr>
                  <a:tr h="383322">
                    <a:tc>
                      <a:txBody>
                        <a:bodyPr/>
                        <a:lstStyle/>
                        <a:p>
                          <a:pPr algn="ctr"/>
                          <a:r>
                            <a:rPr lang="en-US" sz="2800" b="0" dirty="0">
                              <a:latin typeface="Times New Roman" panose="02020603050405020304" pitchFamily="18" charset="0"/>
                              <a:cs typeface="Times New Roman" panose="02020603050405020304" pitchFamily="18" charset="0"/>
                            </a:rPr>
                            <a:t>1-</a:t>
                          </a:r>
                          <a:r>
                            <a:rPr lang="en-US" sz="2800" b="0" i="1" dirty="0">
                              <a:latin typeface="Times New Roman" panose="02020603050405020304" pitchFamily="18" charset="0"/>
                              <a:cs typeface="Times New Roman" panose="02020603050405020304" pitchFamily="18" charset="0"/>
                            </a:rPr>
                            <a:t>b</a:t>
                          </a:r>
                          <a:r>
                            <a:rPr lang="en-US" sz="2800" b="0" dirty="0">
                              <a:latin typeface="Times New Roman" panose="02020603050405020304" pitchFamily="18" charset="0"/>
                              <a:cs typeface="Times New Roman" panose="02020603050405020304" pitchFamily="18" charset="0"/>
                            </a:rPr>
                            <a:t>=</a:t>
                          </a:r>
                          <a14:m>
                            <m:oMath xmlns:m="http://schemas.openxmlformats.org/officeDocument/2006/math">
                              <m:r>
                                <a:rPr lang="en-US" sz="2800" b="0" i="1" smtClean="0">
                                  <a:latin typeface="Cambria Math" panose="02040503050406030204" pitchFamily="18" charset="0"/>
                                  <a:cs typeface="Times New Roman" panose="02020603050405020304" pitchFamily="18" charset="0"/>
                                </a:rPr>
                                <m:t>1</m:t>
                              </m:r>
                            </m:oMath>
                          </a14:m>
                          <a:endParaRPr lang="en-US" sz="2800" i="1" dirty="0"/>
                        </a:p>
                      </a:txBody>
                      <a:tcPr/>
                    </a:tc>
                    <a:extLst>
                      <a:ext uri="{0D108BD9-81ED-4DB2-BD59-A6C34878D82A}">
                        <a16:rowId xmlns:a16="http://schemas.microsoft.com/office/drawing/2014/main" val="4216593263"/>
                      </a:ext>
                    </a:extLst>
                  </a:tr>
                  <a:tr h="383322">
                    <a:tc>
                      <a:txBody>
                        <a:bodyPr/>
                        <a:lstStyle/>
                        <a:p>
                          <a:pPr algn="ctr"/>
                          <a:endParaRPr lang="en-US" sz="2800" i="1" dirty="0"/>
                        </a:p>
                      </a:txBody>
                      <a:tcPr/>
                    </a:tc>
                    <a:extLst>
                      <a:ext uri="{0D108BD9-81ED-4DB2-BD59-A6C34878D82A}">
                        <a16:rowId xmlns:a16="http://schemas.microsoft.com/office/drawing/2014/main" val="1723528192"/>
                      </a:ext>
                    </a:extLst>
                  </a:tr>
                </a:tbl>
              </a:graphicData>
            </a:graphic>
          </p:graphicFrame>
        </mc:Choice>
        <mc:Fallback xmlns="">
          <p:graphicFrame>
            <p:nvGraphicFramePr>
              <p:cNvPr id="80" name="Table 79">
                <a:extLst>
                  <a:ext uri="{FF2B5EF4-FFF2-40B4-BE49-F238E27FC236}">
                    <a16:creationId xmlns:a16="http://schemas.microsoft.com/office/drawing/2014/main" id="{571E7041-776C-9A4B-8D4A-F7D2519C21B6}"/>
                  </a:ext>
                </a:extLst>
              </p:cNvPr>
              <p:cNvGraphicFramePr>
                <a:graphicFrameLocks noGrp="1"/>
              </p:cNvGraphicFramePr>
              <p:nvPr>
                <p:extLst>
                  <p:ext uri="{D42A27DB-BD31-4B8C-83A1-F6EECF244321}">
                    <p14:modId xmlns:p14="http://schemas.microsoft.com/office/powerpoint/2010/main" val="4048395786"/>
                  </p:ext>
                </p:extLst>
              </p:nvPr>
            </p:nvGraphicFramePr>
            <p:xfrm>
              <a:off x="10531630" y="3675657"/>
              <a:ext cx="1380353" cy="2590800"/>
            </p:xfrm>
            <a:graphic>
              <a:graphicData uri="http://schemas.openxmlformats.org/drawingml/2006/table">
                <a:tbl>
                  <a:tblPr firstRow="1" bandRow="1">
                    <a:tableStyleId>{073A0DAA-6AF3-43AB-8588-CEC1D06C72B9}</a:tableStyleId>
                  </a:tblPr>
                  <a:tblGrid>
                    <a:gridCol w="1380353">
                      <a:extLst>
                        <a:ext uri="{9D8B030D-6E8A-4147-A177-3AD203B41FA5}">
                          <a16:colId xmlns:a16="http://schemas.microsoft.com/office/drawing/2014/main" val="2443207743"/>
                        </a:ext>
                      </a:extLst>
                    </a:gridCol>
                  </a:tblGrid>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k=1-b</a:t>
                          </a:r>
                        </a:p>
                      </a:txBody>
                      <a:tcPr/>
                    </a:tc>
                    <a:extLst>
                      <a:ext uri="{0D108BD9-81ED-4DB2-BD59-A6C34878D82A}">
                        <a16:rowId xmlns:a16="http://schemas.microsoft.com/office/drawing/2014/main" val="447493337"/>
                      </a:ext>
                    </a:extLst>
                  </a:tr>
                  <a:tr h="518160">
                    <a:tc>
                      <a:txBody>
                        <a:bodyPr/>
                        <a:lstStyle/>
                        <a:p>
                          <a:pPr algn="ctr"/>
                          <a:endParaRPr lang="en-US" sz="28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7485846"/>
                      </a:ext>
                    </a:extLst>
                  </a:tr>
                  <a:tr h="518160">
                    <a:tc>
                      <a:txBody>
                        <a:bodyPr/>
                        <a:lstStyle/>
                        <a:p>
                          <a:endParaRPr lang="en-US"/>
                        </a:p>
                      </a:txBody>
                      <a:tcPr>
                        <a:blipFill>
                          <a:blip r:embed="rId10"/>
                          <a:stretch>
                            <a:fillRect l="-917" t="-212195" r="-1835" b="-200000"/>
                          </a:stretch>
                        </a:blipFill>
                      </a:tcPr>
                    </a:tc>
                    <a:extLst>
                      <a:ext uri="{0D108BD9-81ED-4DB2-BD59-A6C34878D82A}">
                        <a16:rowId xmlns:a16="http://schemas.microsoft.com/office/drawing/2014/main" val="4026186168"/>
                      </a:ext>
                    </a:extLst>
                  </a:tr>
                  <a:tr h="518160">
                    <a:tc>
                      <a:txBody>
                        <a:bodyPr/>
                        <a:lstStyle/>
                        <a:p>
                          <a:endParaRPr lang="en-US"/>
                        </a:p>
                      </a:txBody>
                      <a:tcPr>
                        <a:blipFill>
                          <a:blip r:embed="rId10"/>
                          <a:stretch>
                            <a:fillRect l="-917" t="-312195" r="-1835" b="-100000"/>
                          </a:stretch>
                        </a:blipFill>
                      </a:tcPr>
                    </a:tc>
                    <a:extLst>
                      <a:ext uri="{0D108BD9-81ED-4DB2-BD59-A6C34878D82A}">
                        <a16:rowId xmlns:a16="http://schemas.microsoft.com/office/drawing/2014/main" val="4216593263"/>
                      </a:ext>
                    </a:extLst>
                  </a:tr>
                  <a:tr h="518160">
                    <a:tc>
                      <a:txBody>
                        <a:bodyPr/>
                        <a:lstStyle/>
                        <a:p>
                          <a:pPr algn="ctr"/>
                          <a:endParaRPr lang="en-US" sz="2800" i="1" dirty="0"/>
                        </a:p>
                      </a:txBody>
                      <a:tcPr/>
                    </a:tc>
                    <a:extLst>
                      <a:ext uri="{0D108BD9-81ED-4DB2-BD59-A6C34878D82A}">
                        <a16:rowId xmlns:a16="http://schemas.microsoft.com/office/drawing/2014/main" val="1723528192"/>
                      </a:ext>
                    </a:extLst>
                  </a:tr>
                </a:tbl>
              </a:graphicData>
            </a:graphic>
          </p:graphicFrame>
        </mc:Fallback>
      </mc:AlternateContent>
      <p:grpSp>
        <p:nvGrpSpPr>
          <p:cNvPr id="5" name="Group 4">
            <a:extLst>
              <a:ext uri="{FF2B5EF4-FFF2-40B4-BE49-F238E27FC236}">
                <a16:creationId xmlns:a16="http://schemas.microsoft.com/office/drawing/2014/main" id="{129DAE51-EECB-CB40-8524-AEE4FD293067}"/>
              </a:ext>
            </a:extLst>
          </p:cNvPr>
          <p:cNvGrpSpPr/>
          <p:nvPr/>
        </p:nvGrpSpPr>
        <p:grpSpPr>
          <a:xfrm>
            <a:off x="3245461" y="4882098"/>
            <a:ext cx="4381704" cy="707886"/>
            <a:chOff x="3245461" y="4882098"/>
            <a:chExt cx="4381704" cy="707886"/>
          </a:xfrm>
        </p:grpSpPr>
        <p:cxnSp>
          <p:nvCxnSpPr>
            <p:cNvPr id="55" name="Straight Connector 54">
              <a:extLst>
                <a:ext uri="{FF2B5EF4-FFF2-40B4-BE49-F238E27FC236}">
                  <a16:creationId xmlns:a16="http://schemas.microsoft.com/office/drawing/2014/main" id="{D7FF70C8-0F5F-8043-B87D-38EBE78D6ADD}"/>
                </a:ext>
              </a:extLst>
            </p:cNvPr>
            <p:cNvCxnSpPr>
              <a:cxnSpLocks/>
            </p:cNvCxnSpPr>
            <p:nvPr/>
          </p:nvCxnSpPr>
          <p:spPr>
            <a:xfrm flipV="1">
              <a:off x="3245461" y="4882098"/>
              <a:ext cx="4381704" cy="2"/>
            </a:xfrm>
            <a:prstGeom prst="line">
              <a:avLst/>
            </a:prstGeom>
            <a:ln w="1270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70D4E22-3880-8D4C-BD84-9A83DFD5748D}"/>
                </a:ext>
              </a:extLst>
            </p:cNvPr>
            <p:cNvSpPr txBox="1"/>
            <p:nvPr/>
          </p:nvSpPr>
          <p:spPr>
            <a:xfrm>
              <a:off x="4931073" y="4882098"/>
              <a:ext cx="529312" cy="707886"/>
            </a:xfrm>
            <a:prstGeom prst="rect">
              <a:avLst/>
            </a:prstGeom>
            <a:noFill/>
          </p:spPr>
          <p:txBody>
            <a:bodyPr wrap="none" rtlCol="0">
              <a:spAutoFit/>
            </a:bodyPr>
            <a:lstStyle/>
            <a:p>
              <a:r>
                <a:rPr lang="en-US" sz="4000" dirty="0"/>
                <a:t>Q</a:t>
              </a:r>
            </a:p>
          </p:txBody>
        </p:sp>
      </p:grpSp>
      <p:pic>
        <p:nvPicPr>
          <p:cNvPr id="25" name="Picture 24">
            <a:extLst>
              <a:ext uri="{FF2B5EF4-FFF2-40B4-BE49-F238E27FC236}">
                <a16:creationId xmlns:a16="http://schemas.microsoft.com/office/drawing/2014/main" id="{91282A36-62BB-E34F-A5D6-F0CA1BEF133C}"/>
              </a:ext>
            </a:extLst>
          </p:cNvPr>
          <p:cNvPicPr>
            <a:picLocks noChangeAspect="1"/>
          </p:cNvPicPr>
          <p:nvPr/>
        </p:nvPicPr>
        <p:blipFill>
          <a:blip r:embed="rId11"/>
          <a:stretch>
            <a:fillRect/>
          </a:stretch>
        </p:blipFill>
        <p:spPr>
          <a:xfrm>
            <a:off x="639535" y="2948793"/>
            <a:ext cx="686424" cy="686424"/>
          </a:xfrm>
          <a:prstGeom prst="rect">
            <a:avLst/>
          </a:prstGeom>
        </p:spPr>
      </p:pic>
      <p:pic>
        <p:nvPicPr>
          <p:cNvPr id="26" name="Picture 25">
            <a:extLst>
              <a:ext uri="{FF2B5EF4-FFF2-40B4-BE49-F238E27FC236}">
                <a16:creationId xmlns:a16="http://schemas.microsoft.com/office/drawing/2014/main" id="{C92A4E38-0014-DB45-81D3-9AFC1F90E51B}"/>
              </a:ext>
            </a:extLst>
          </p:cNvPr>
          <p:cNvPicPr>
            <a:picLocks noChangeAspect="1"/>
          </p:cNvPicPr>
          <p:nvPr/>
        </p:nvPicPr>
        <p:blipFill>
          <a:blip r:embed="rId11"/>
          <a:stretch>
            <a:fillRect/>
          </a:stretch>
        </p:blipFill>
        <p:spPr>
          <a:xfrm>
            <a:off x="8197341" y="2948793"/>
            <a:ext cx="686424" cy="686424"/>
          </a:xfrm>
          <a:prstGeom prst="rect">
            <a:avLst/>
          </a:prstGeom>
        </p:spPr>
      </p:pic>
      <p:pic>
        <p:nvPicPr>
          <p:cNvPr id="17" name="Picture 16">
            <a:extLst>
              <a:ext uri="{FF2B5EF4-FFF2-40B4-BE49-F238E27FC236}">
                <a16:creationId xmlns:a16="http://schemas.microsoft.com/office/drawing/2014/main" id="{B3A995F3-A693-3048-A393-D9538761B92A}"/>
              </a:ext>
            </a:extLst>
          </p:cNvPr>
          <p:cNvPicPr>
            <a:picLocks noChangeAspect="1"/>
          </p:cNvPicPr>
          <p:nvPr/>
        </p:nvPicPr>
        <p:blipFill>
          <a:blip r:embed="rId12"/>
          <a:stretch>
            <a:fillRect/>
          </a:stretch>
        </p:blipFill>
        <p:spPr>
          <a:xfrm>
            <a:off x="271878" y="1111771"/>
            <a:ext cx="918520" cy="1414873"/>
          </a:xfrm>
          <a:prstGeom prst="rect">
            <a:avLst/>
          </a:prstGeom>
        </p:spPr>
      </p:pic>
      <p:pic>
        <p:nvPicPr>
          <p:cNvPr id="18" name="Picture 17">
            <a:extLst>
              <a:ext uri="{FF2B5EF4-FFF2-40B4-BE49-F238E27FC236}">
                <a16:creationId xmlns:a16="http://schemas.microsoft.com/office/drawing/2014/main" id="{78E5B2F2-891F-4E40-A3AF-5BDD1969792D}"/>
              </a:ext>
            </a:extLst>
          </p:cNvPr>
          <p:cNvPicPr>
            <a:picLocks noChangeAspect="1"/>
          </p:cNvPicPr>
          <p:nvPr/>
        </p:nvPicPr>
        <p:blipFill>
          <a:blip r:embed="rId13"/>
          <a:stretch>
            <a:fillRect/>
          </a:stretch>
        </p:blipFill>
        <p:spPr>
          <a:xfrm>
            <a:off x="10732225" y="1121330"/>
            <a:ext cx="1082025" cy="1602672"/>
          </a:xfrm>
          <a:prstGeom prst="rect">
            <a:avLst/>
          </a:prstGeom>
        </p:spPr>
      </p:pic>
      <p:pic>
        <p:nvPicPr>
          <p:cNvPr id="19" name="Picture 18">
            <a:extLst>
              <a:ext uri="{FF2B5EF4-FFF2-40B4-BE49-F238E27FC236}">
                <a16:creationId xmlns:a16="http://schemas.microsoft.com/office/drawing/2014/main" id="{C0A3D36D-8F74-FA4A-95A0-E8C40262C3A0}"/>
              </a:ext>
            </a:extLst>
          </p:cNvPr>
          <p:cNvPicPr>
            <a:picLocks noChangeAspect="1"/>
          </p:cNvPicPr>
          <p:nvPr/>
        </p:nvPicPr>
        <p:blipFill>
          <a:blip r:embed="rId14"/>
          <a:stretch>
            <a:fillRect/>
          </a:stretch>
        </p:blipFill>
        <p:spPr>
          <a:xfrm>
            <a:off x="5195729" y="1445180"/>
            <a:ext cx="984588" cy="1713983"/>
          </a:xfrm>
          <a:prstGeom prst="rect">
            <a:avLst/>
          </a:prstGeom>
        </p:spPr>
      </p:pic>
    </p:spTree>
    <p:extLst>
      <p:ext uri="{BB962C8B-B14F-4D97-AF65-F5344CB8AC3E}">
        <p14:creationId xmlns:p14="http://schemas.microsoft.com/office/powerpoint/2010/main" val="4000787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dissolve">
                                      <p:cBhvr>
                                        <p:cTn id="7" dur="500"/>
                                        <p:tgtEl>
                                          <p:spTgt spid="16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dissolve">
                                      <p:cBhvr>
                                        <p:cTn id="16" dur="500"/>
                                        <p:tgtEl>
                                          <p:spTgt spid="26"/>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dissolve">
                                      <p:cBhvr>
                                        <p:cTn id="20" dur="500"/>
                                        <p:tgtEl>
                                          <p:spTgt spid="5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dissolve">
                                      <p:cBhvr>
                                        <p:cTn id="25" dur="500"/>
                                        <p:tgtEl>
                                          <p:spTgt spid="51"/>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dissolv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80"/>
                                        </p:tgtEl>
                                        <p:attrNameLst>
                                          <p:attrName>style.visibility</p:attrName>
                                        </p:attrNameLst>
                                      </p:cBhvr>
                                      <p:to>
                                        <p:strVal val="visible"/>
                                      </p:to>
                                    </p:set>
                                    <p:animEffect transition="in" filter="dissolve">
                                      <p:cBhvr>
                                        <p:cTn id="34" dur="500"/>
                                        <p:tgtEl>
                                          <p:spTgt spid="8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dissolve">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DD800D-BDF4-944E-A90B-A99CF0CD9444}"/>
              </a:ext>
            </a:extLst>
          </p:cNvPr>
          <p:cNvPicPr>
            <a:picLocks noChangeAspect="1"/>
          </p:cNvPicPr>
          <p:nvPr/>
        </p:nvPicPr>
        <p:blipFill>
          <a:blip r:embed="rId3"/>
          <a:stretch>
            <a:fillRect/>
          </a:stretch>
        </p:blipFill>
        <p:spPr>
          <a:xfrm>
            <a:off x="2292505" y="827510"/>
            <a:ext cx="6477000" cy="4318000"/>
          </a:xfrm>
          <a:prstGeom prst="ellipse">
            <a:avLst/>
          </a:prstGeom>
          <a:ln>
            <a:noFill/>
          </a:ln>
          <a:effectLst>
            <a:softEdge rad="112500"/>
          </a:effectLst>
        </p:spPr>
      </p:pic>
      <p:sp>
        <p:nvSpPr>
          <p:cNvPr id="3" name="Slide Number Placeholder 2">
            <a:extLst>
              <a:ext uri="{FF2B5EF4-FFF2-40B4-BE49-F238E27FC236}">
                <a16:creationId xmlns:a16="http://schemas.microsoft.com/office/drawing/2014/main" id="{67BAE49C-5955-BC47-B608-3876F44C628B}"/>
              </a:ext>
            </a:extLst>
          </p:cNvPr>
          <p:cNvSpPr>
            <a:spLocks noGrp="1"/>
          </p:cNvSpPr>
          <p:nvPr>
            <p:ph type="sldNum" sz="quarter" idx="12"/>
          </p:nvPr>
        </p:nvSpPr>
        <p:spPr/>
        <p:txBody>
          <a:bodyPr/>
          <a:lstStyle/>
          <a:p>
            <a:fld id="{591A223C-FA10-BC46-A853-03BA373D023C}" type="slidenum">
              <a:rPr lang="en-US" smtClean="0"/>
              <a:t>15</a:t>
            </a:fld>
            <a:endParaRPr lang="en-US"/>
          </a:p>
        </p:txBody>
      </p:sp>
      <p:sp>
        <p:nvSpPr>
          <p:cNvPr id="2" name="Title 1">
            <a:extLst>
              <a:ext uri="{FF2B5EF4-FFF2-40B4-BE49-F238E27FC236}">
                <a16:creationId xmlns:a16="http://schemas.microsoft.com/office/drawing/2014/main" id="{1147DB76-402B-EB45-BB4E-376306F1CC6A}"/>
              </a:ext>
            </a:extLst>
          </p:cNvPr>
          <p:cNvSpPr>
            <a:spLocks noGrp="1"/>
          </p:cNvSpPr>
          <p:nvPr>
            <p:ph type="title"/>
          </p:nvPr>
        </p:nvSpPr>
        <p:spPr/>
        <p:txBody>
          <a:bodyPr/>
          <a:lstStyle/>
          <a:p>
            <a:r>
              <a:rPr lang="en-US" dirty="0"/>
              <a:t>E91 protocol /Artur </a:t>
            </a:r>
            <a:r>
              <a:rPr lang="en-US" dirty="0" err="1"/>
              <a:t>Ekert</a:t>
            </a:r>
            <a:r>
              <a:rPr lang="en-US" dirty="0"/>
              <a:t> (1991) </a:t>
            </a:r>
          </a:p>
        </p:txBody>
      </p:sp>
      <p:sp>
        <p:nvSpPr>
          <p:cNvPr id="8" name="Rectangle 7">
            <a:extLst>
              <a:ext uri="{FF2B5EF4-FFF2-40B4-BE49-F238E27FC236}">
                <a16:creationId xmlns:a16="http://schemas.microsoft.com/office/drawing/2014/main" id="{64407495-6B65-2542-9B2E-3F0FD5568292}"/>
              </a:ext>
            </a:extLst>
          </p:cNvPr>
          <p:cNvSpPr/>
          <p:nvPr/>
        </p:nvSpPr>
        <p:spPr>
          <a:xfrm>
            <a:off x="6733279" y="2606872"/>
            <a:ext cx="1401025" cy="461665"/>
          </a:xfrm>
          <a:prstGeom prst="rect">
            <a:avLst/>
          </a:prstGeom>
        </p:spPr>
        <p:txBody>
          <a:bodyPr wrap="none">
            <a:spAutoFit/>
          </a:bodyPr>
          <a:lstStyle/>
          <a:p>
            <a:r>
              <a:rPr lang="en-US" sz="2400" dirty="0"/>
              <a:t>SpooQy-1</a:t>
            </a:r>
          </a:p>
        </p:txBody>
      </p:sp>
      <p:cxnSp>
        <p:nvCxnSpPr>
          <p:cNvPr id="10" name="Straight Connector 9">
            <a:extLst>
              <a:ext uri="{FF2B5EF4-FFF2-40B4-BE49-F238E27FC236}">
                <a16:creationId xmlns:a16="http://schemas.microsoft.com/office/drawing/2014/main" id="{4ED33B05-6538-4E49-B2A5-F3E84485E65D}"/>
              </a:ext>
            </a:extLst>
          </p:cNvPr>
          <p:cNvCxnSpPr>
            <a:cxnSpLocks/>
          </p:cNvCxnSpPr>
          <p:nvPr/>
        </p:nvCxnSpPr>
        <p:spPr>
          <a:xfrm flipH="1">
            <a:off x="1947334" y="2861733"/>
            <a:ext cx="3583671" cy="2135741"/>
          </a:xfrm>
          <a:prstGeom prst="line">
            <a:avLst/>
          </a:prstGeom>
          <a:ln>
            <a:solidFill>
              <a:srgbClr val="FF0000"/>
            </a:solidFill>
          </a:ln>
          <a:effectLst/>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9B8A2D3-4CD9-9C4B-9491-B3105608B37D}"/>
              </a:ext>
            </a:extLst>
          </p:cNvPr>
          <p:cNvCxnSpPr>
            <a:cxnSpLocks/>
          </p:cNvCxnSpPr>
          <p:nvPr/>
        </p:nvCxnSpPr>
        <p:spPr>
          <a:xfrm>
            <a:off x="5531005" y="2861733"/>
            <a:ext cx="4315907" cy="2277185"/>
          </a:xfrm>
          <a:prstGeom prst="line">
            <a:avLst/>
          </a:prstGeom>
          <a:ln>
            <a:solidFill>
              <a:srgbClr val="FF0000"/>
            </a:solidFill>
          </a:ln>
          <a:effectLst/>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4B4E21AC-87C3-2E4B-B32A-C6A33BCA272F}"/>
              </a:ext>
            </a:extLst>
          </p:cNvPr>
          <p:cNvGrpSpPr/>
          <p:nvPr/>
        </p:nvGrpSpPr>
        <p:grpSpPr>
          <a:xfrm>
            <a:off x="4924847" y="3022510"/>
            <a:ext cx="221016" cy="247018"/>
            <a:chOff x="2048031" y="4750456"/>
            <a:chExt cx="221016" cy="247018"/>
          </a:xfrm>
        </p:grpSpPr>
        <p:cxnSp>
          <p:nvCxnSpPr>
            <p:cNvPr id="18" name="Straight Arrow Connector 17">
              <a:extLst>
                <a:ext uri="{FF2B5EF4-FFF2-40B4-BE49-F238E27FC236}">
                  <a16:creationId xmlns:a16="http://schemas.microsoft.com/office/drawing/2014/main" id="{17270C8F-A3C7-024D-84EA-DE41A7AAD85C}"/>
                </a:ext>
              </a:extLst>
            </p:cNvPr>
            <p:cNvCxnSpPr>
              <a:cxnSpLocks/>
            </p:cNvCxnSpPr>
            <p:nvPr/>
          </p:nvCxnSpPr>
          <p:spPr>
            <a:xfrm>
              <a:off x="2048031" y="4750456"/>
              <a:ext cx="221016" cy="24701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52E84BA1-3BEE-A44E-9EC1-FB6027986352}"/>
                </a:ext>
              </a:extLst>
            </p:cNvPr>
            <p:cNvSpPr/>
            <p:nvPr/>
          </p:nvSpPr>
          <p:spPr>
            <a:xfrm>
              <a:off x="2122539" y="4837965"/>
              <a:ext cx="72000" cy="72000"/>
            </a:xfrm>
            <a:prstGeom prst="ellipse">
              <a:avLst/>
            </a:prstGeom>
            <a:solidFill>
              <a:schemeClr val="bg1">
                <a:lumMod val="95000"/>
              </a:schemeClr>
            </a:solidFill>
            <a:ln>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74DC8735-419A-FC46-93DC-827AB3BD1E51}"/>
              </a:ext>
            </a:extLst>
          </p:cNvPr>
          <p:cNvGrpSpPr/>
          <p:nvPr/>
        </p:nvGrpSpPr>
        <p:grpSpPr>
          <a:xfrm flipH="1">
            <a:off x="5911126" y="2986510"/>
            <a:ext cx="221016" cy="247018"/>
            <a:chOff x="2048031" y="4750456"/>
            <a:chExt cx="221016" cy="247018"/>
          </a:xfrm>
        </p:grpSpPr>
        <p:cxnSp>
          <p:nvCxnSpPr>
            <p:cNvPr id="32" name="Straight Arrow Connector 31">
              <a:extLst>
                <a:ext uri="{FF2B5EF4-FFF2-40B4-BE49-F238E27FC236}">
                  <a16:creationId xmlns:a16="http://schemas.microsoft.com/office/drawing/2014/main" id="{6EF6541D-C3DD-684C-8E99-26108D0E191C}"/>
                </a:ext>
              </a:extLst>
            </p:cNvPr>
            <p:cNvCxnSpPr>
              <a:cxnSpLocks/>
            </p:cNvCxnSpPr>
            <p:nvPr/>
          </p:nvCxnSpPr>
          <p:spPr>
            <a:xfrm>
              <a:off x="2048031" y="4750456"/>
              <a:ext cx="221016" cy="24701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16F10432-30A9-F943-83EE-2760DF93A1AB}"/>
                </a:ext>
              </a:extLst>
            </p:cNvPr>
            <p:cNvSpPr/>
            <p:nvPr/>
          </p:nvSpPr>
          <p:spPr>
            <a:xfrm>
              <a:off x="2122539" y="4837965"/>
              <a:ext cx="72000" cy="72000"/>
            </a:xfrm>
            <a:prstGeom prst="ellipse">
              <a:avLst/>
            </a:prstGeom>
            <a:solidFill>
              <a:schemeClr val="bg1">
                <a:lumMod val="95000"/>
              </a:schemeClr>
            </a:solidFill>
            <a:ln>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a:extLst>
              <a:ext uri="{FF2B5EF4-FFF2-40B4-BE49-F238E27FC236}">
                <a16:creationId xmlns:a16="http://schemas.microsoft.com/office/drawing/2014/main" id="{88AD20C1-AB6F-E04C-8FA5-657C6BF6536D}"/>
              </a:ext>
            </a:extLst>
          </p:cNvPr>
          <p:cNvPicPr>
            <a:picLocks noChangeAspect="1"/>
          </p:cNvPicPr>
          <p:nvPr/>
        </p:nvPicPr>
        <p:blipFill>
          <a:blip r:embed="rId4"/>
          <a:stretch>
            <a:fillRect/>
          </a:stretch>
        </p:blipFill>
        <p:spPr>
          <a:xfrm>
            <a:off x="1709542" y="5824733"/>
            <a:ext cx="2372601" cy="668442"/>
          </a:xfrm>
          <a:prstGeom prst="rect">
            <a:avLst/>
          </a:prstGeom>
        </p:spPr>
      </p:pic>
      <p:pic>
        <p:nvPicPr>
          <p:cNvPr id="26" name="Picture 25">
            <a:extLst>
              <a:ext uri="{FF2B5EF4-FFF2-40B4-BE49-F238E27FC236}">
                <a16:creationId xmlns:a16="http://schemas.microsoft.com/office/drawing/2014/main" id="{D6F3FDA6-8267-EC4B-BC61-FEFDC4888498}"/>
              </a:ext>
            </a:extLst>
          </p:cNvPr>
          <p:cNvPicPr>
            <a:picLocks noChangeAspect="1"/>
          </p:cNvPicPr>
          <p:nvPr/>
        </p:nvPicPr>
        <p:blipFill>
          <a:blip r:embed="rId4"/>
          <a:stretch>
            <a:fillRect/>
          </a:stretch>
        </p:blipFill>
        <p:spPr>
          <a:xfrm>
            <a:off x="7433791" y="5787880"/>
            <a:ext cx="2372601" cy="668442"/>
          </a:xfrm>
          <a:prstGeom prst="rect">
            <a:avLst/>
          </a:prstGeom>
        </p:spPr>
      </p:pic>
      <p:pic>
        <p:nvPicPr>
          <p:cNvPr id="19" name="Picture 18">
            <a:extLst>
              <a:ext uri="{FF2B5EF4-FFF2-40B4-BE49-F238E27FC236}">
                <a16:creationId xmlns:a16="http://schemas.microsoft.com/office/drawing/2014/main" id="{BC10B9D8-0B88-BA44-AFC7-3D2A353BE3DC}"/>
              </a:ext>
            </a:extLst>
          </p:cNvPr>
          <p:cNvPicPr>
            <a:picLocks noChangeAspect="1"/>
          </p:cNvPicPr>
          <p:nvPr/>
        </p:nvPicPr>
        <p:blipFill>
          <a:blip r:embed="rId5"/>
          <a:stretch>
            <a:fillRect/>
          </a:stretch>
        </p:blipFill>
        <p:spPr>
          <a:xfrm>
            <a:off x="341822" y="4744081"/>
            <a:ext cx="918520" cy="1414873"/>
          </a:xfrm>
          <a:prstGeom prst="rect">
            <a:avLst/>
          </a:prstGeom>
        </p:spPr>
      </p:pic>
      <p:pic>
        <p:nvPicPr>
          <p:cNvPr id="23" name="Picture 22">
            <a:extLst>
              <a:ext uri="{FF2B5EF4-FFF2-40B4-BE49-F238E27FC236}">
                <a16:creationId xmlns:a16="http://schemas.microsoft.com/office/drawing/2014/main" id="{BB55AE76-3349-D748-948E-83E025BACE9E}"/>
              </a:ext>
            </a:extLst>
          </p:cNvPr>
          <p:cNvPicPr>
            <a:picLocks noChangeAspect="1"/>
          </p:cNvPicPr>
          <p:nvPr/>
        </p:nvPicPr>
        <p:blipFill>
          <a:blip r:embed="rId6"/>
          <a:stretch>
            <a:fillRect/>
          </a:stretch>
        </p:blipFill>
        <p:spPr>
          <a:xfrm>
            <a:off x="10279387" y="4519429"/>
            <a:ext cx="1082025" cy="1602672"/>
          </a:xfrm>
          <a:prstGeom prst="rect">
            <a:avLst/>
          </a:prstGeom>
        </p:spPr>
      </p:pic>
    </p:spTree>
    <p:extLst>
      <p:ext uri="{BB962C8B-B14F-4D97-AF65-F5344CB8AC3E}">
        <p14:creationId xmlns:p14="http://schemas.microsoft.com/office/powerpoint/2010/main" val="312285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fill="hold" nodeType="withEffect">
                                  <p:stCondLst>
                                    <p:cond delay="0"/>
                                  </p:stCondLst>
                                  <p:childTnLst>
                                    <p:animMotion origin="layout" path="M -6.25E-7 3.7037E-6 L -0.24713 0.26574 " pathEditMode="relative" rAng="0" ptsTypes="AA">
                                      <p:cBhvr>
                                        <p:cTn id="6" dur="2000" fill="hold"/>
                                        <p:tgtEl>
                                          <p:spTgt spid="22"/>
                                        </p:tgtEl>
                                        <p:attrNameLst>
                                          <p:attrName>ppt_x</p:attrName>
                                          <p:attrName>ppt_y</p:attrName>
                                        </p:attrNameLst>
                                      </p:cBhvr>
                                      <p:rCtr x="-12357" y="13287"/>
                                    </p:animMotion>
                                  </p:childTnLst>
                                </p:cTn>
                              </p:par>
                              <p:par>
                                <p:cTn id="7" presetID="0" presetClass="path" presetSubtype="0" repeatCount="indefinite" accel="50000" decel="50000" fill="hold" nodeType="withEffect">
                                  <p:stCondLst>
                                    <p:cond delay="0"/>
                                  </p:stCondLst>
                                  <p:childTnLst>
                                    <p:animMotion origin="layout" path="M 0.00065 -2.22222E-6 L 0.31081 0.29584 " pathEditMode="relative" rAng="0" ptsTypes="AA">
                                      <p:cBhvr>
                                        <p:cTn id="8" dur="2000" fill="hold"/>
                                        <p:tgtEl>
                                          <p:spTgt spid="31"/>
                                        </p:tgtEl>
                                        <p:attrNameLst>
                                          <p:attrName>ppt_x</p:attrName>
                                          <p:attrName>ppt_y</p:attrName>
                                        </p:attrNameLst>
                                      </p:cBhvr>
                                      <p:rCtr x="15508" y="1479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8A7935D-BC23-A24F-8C4E-14756D5BAC9D}"/>
              </a:ext>
            </a:extLst>
          </p:cNvPr>
          <p:cNvPicPr>
            <a:picLocks noChangeAspect="1"/>
          </p:cNvPicPr>
          <p:nvPr/>
        </p:nvPicPr>
        <p:blipFill>
          <a:blip r:embed="rId3"/>
          <a:stretch>
            <a:fillRect/>
          </a:stretch>
        </p:blipFill>
        <p:spPr>
          <a:xfrm>
            <a:off x="1" y="908946"/>
            <a:ext cx="12192000" cy="5949054"/>
          </a:xfrm>
          <a:prstGeom prst="rect">
            <a:avLst/>
          </a:prstGeom>
        </p:spPr>
      </p:pic>
      <p:sp>
        <p:nvSpPr>
          <p:cNvPr id="3" name="Slide Number Placeholder 2">
            <a:extLst>
              <a:ext uri="{FF2B5EF4-FFF2-40B4-BE49-F238E27FC236}">
                <a16:creationId xmlns:a16="http://schemas.microsoft.com/office/drawing/2014/main" id="{2B2E971F-EA0F-5043-A61A-100AAF7A0696}"/>
              </a:ext>
            </a:extLst>
          </p:cNvPr>
          <p:cNvSpPr>
            <a:spLocks noGrp="1"/>
          </p:cNvSpPr>
          <p:nvPr>
            <p:ph type="sldNum" sz="quarter" idx="12"/>
          </p:nvPr>
        </p:nvSpPr>
        <p:spPr/>
        <p:txBody>
          <a:bodyPr/>
          <a:lstStyle/>
          <a:p>
            <a:fld id="{591A223C-FA10-BC46-A853-03BA373D023C}" type="slidenum">
              <a:rPr lang="en-US" smtClean="0"/>
              <a:t>16</a:t>
            </a:fld>
            <a:endParaRPr lang="en-US"/>
          </a:p>
        </p:txBody>
      </p:sp>
      <p:sp>
        <p:nvSpPr>
          <p:cNvPr id="2" name="Title 1">
            <a:extLst>
              <a:ext uri="{FF2B5EF4-FFF2-40B4-BE49-F238E27FC236}">
                <a16:creationId xmlns:a16="http://schemas.microsoft.com/office/drawing/2014/main" id="{A5A7AEDD-D783-954C-AE4E-2C5D10E1E9F1}"/>
              </a:ext>
            </a:extLst>
          </p:cNvPr>
          <p:cNvSpPr>
            <a:spLocks noGrp="1"/>
          </p:cNvSpPr>
          <p:nvPr>
            <p:ph type="title"/>
          </p:nvPr>
        </p:nvSpPr>
        <p:spPr/>
        <p:txBody>
          <a:bodyPr/>
          <a:lstStyle/>
          <a:p>
            <a:r>
              <a:rPr lang="en-ZA" dirty="0"/>
              <a:t>Entanglement-Based QKD via Satellite</a:t>
            </a:r>
            <a:endParaRPr lang="en-US" dirty="0"/>
          </a:p>
        </p:txBody>
      </p:sp>
      <p:sp>
        <p:nvSpPr>
          <p:cNvPr id="4" name="Rectangle 3">
            <a:extLst>
              <a:ext uri="{FF2B5EF4-FFF2-40B4-BE49-F238E27FC236}">
                <a16:creationId xmlns:a16="http://schemas.microsoft.com/office/drawing/2014/main" id="{3DA9EB0A-9F2D-2E42-934D-5F4425017290}"/>
              </a:ext>
            </a:extLst>
          </p:cNvPr>
          <p:cNvSpPr/>
          <p:nvPr/>
        </p:nvSpPr>
        <p:spPr>
          <a:xfrm>
            <a:off x="142646" y="6029106"/>
            <a:ext cx="6453050" cy="646331"/>
          </a:xfrm>
          <a:prstGeom prst="rect">
            <a:avLst/>
          </a:prstGeom>
        </p:spPr>
        <p:txBody>
          <a:bodyPr wrap="square">
            <a:spAutoFit/>
          </a:bodyPr>
          <a:lstStyle/>
          <a:p>
            <a:r>
              <a:rPr lang="en-US" dirty="0">
                <a:solidFill>
                  <a:schemeClr val="bg1"/>
                </a:solidFill>
              </a:rPr>
              <a:t>Yin, J., Li, YH., Liao, SK. </a:t>
            </a:r>
            <a:r>
              <a:rPr lang="en-US" i="1" dirty="0">
                <a:solidFill>
                  <a:schemeClr val="bg1"/>
                </a:solidFill>
              </a:rPr>
              <a:t>et al.</a:t>
            </a:r>
            <a:r>
              <a:rPr lang="en-US" dirty="0">
                <a:solidFill>
                  <a:schemeClr val="bg1"/>
                </a:solidFill>
              </a:rPr>
              <a:t> Entanglement-based secure quantum cryptography over 1,120 </a:t>
            </a:r>
            <a:r>
              <a:rPr lang="en-US" dirty="0" err="1">
                <a:solidFill>
                  <a:schemeClr val="bg1"/>
                </a:solidFill>
              </a:rPr>
              <a:t>kilometres</a:t>
            </a:r>
            <a:r>
              <a:rPr lang="en-US" dirty="0">
                <a:solidFill>
                  <a:schemeClr val="bg1"/>
                </a:solidFill>
              </a:rPr>
              <a:t>. </a:t>
            </a:r>
            <a:r>
              <a:rPr lang="en-US" i="1" dirty="0">
                <a:solidFill>
                  <a:schemeClr val="bg1"/>
                </a:solidFill>
              </a:rPr>
              <a:t>Nature</a:t>
            </a:r>
            <a:r>
              <a:rPr lang="en-US" dirty="0">
                <a:solidFill>
                  <a:schemeClr val="bg1"/>
                </a:solidFill>
              </a:rPr>
              <a:t> </a:t>
            </a:r>
            <a:r>
              <a:rPr lang="en-US" b="1" dirty="0">
                <a:solidFill>
                  <a:schemeClr val="bg1"/>
                </a:solidFill>
              </a:rPr>
              <a:t>582, </a:t>
            </a:r>
            <a:r>
              <a:rPr lang="en-US" dirty="0">
                <a:solidFill>
                  <a:schemeClr val="bg1"/>
                </a:solidFill>
              </a:rPr>
              <a:t>501–505 (2020).</a:t>
            </a:r>
          </a:p>
        </p:txBody>
      </p:sp>
      <p:sp>
        <p:nvSpPr>
          <p:cNvPr id="7" name="Oval 6">
            <a:extLst>
              <a:ext uri="{FF2B5EF4-FFF2-40B4-BE49-F238E27FC236}">
                <a16:creationId xmlns:a16="http://schemas.microsoft.com/office/drawing/2014/main" id="{4E3F1F99-04BF-9648-9683-08D0FCD54E78}"/>
              </a:ext>
            </a:extLst>
          </p:cNvPr>
          <p:cNvSpPr/>
          <p:nvPr/>
        </p:nvSpPr>
        <p:spPr>
          <a:xfrm>
            <a:off x="7592786" y="2024744"/>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2506FED-FD48-BD48-8837-75928EC694B4}"/>
              </a:ext>
            </a:extLst>
          </p:cNvPr>
          <p:cNvSpPr/>
          <p:nvPr/>
        </p:nvSpPr>
        <p:spPr>
          <a:xfrm>
            <a:off x="7952786" y="1802784"/>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704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ccel="50000" decel="50000" fill="hold" grpId="0" nodeType="withEffect">
                                  <p:stCondLst>
                                    <p:cond delay="0"/>
                                  </p:stCondLst>
                                  <p:childTnLst>
                                    <p:animMotion origin="layout" path="M 0.06888 0.00301 L 0.00508 0.52453 " pathEditMode="relative" rAng="0" ptsTypes="AA">
                                      <p:cBhvr>
                                        <p:cTn id="6" dur="2000" fill="hold"/>
                                        <p:tgtEl>
                                          <p:spTgt spid="7"/>
                                        </p:tgtEl>
                                        <p:attrNameLst>
                                          <p:attrName>ppt_x</p:attrName>
                                          <p:attrName>ppt_y</p:attrName>
                                        </p:attrNameLst>
                                      </p:cBhvr>
                                      <p:rCtr x="-3190" y="26065"/>
                                    </p:animMotion>
                                  </p:childTnLst>
                                </p:cTn>
                              </p:par>
                              <p:par>
                                <p:cTn id="7" presetID="0" presetClass="path" presetSubtype="0" repeatCount="indefinite" accel="50000" decel="50000" fill="hold" grpId="0" nodeType="withEffect">
                                  <p:stCondLst>
                                    <p:cond delay="0"/>
                                  </p:stCondLst>
                                  <p:childTnLst>
                                    <p:animMotion origin="layout" path="M 2.70833E-6 -3.7037E-7 L -0.44766 0.09884 " pathEditMode="relative" rAng="0" ptsTypes="AA">
                                      <p:cBhvr>
                                        <p:cTn id="8" dur="2000" fill="hold"/>
                                        <p:tgtEl>
                                          <p:spTgt spid="8"/>
                                        </p:tgtEl>
                                        <p:attrNameLst>
                                          <p:attrName>ppt_x</p:attrName>
                                          <p:attrName>ppt_y</p:attrName>
                                        </p:attrNameLst>
                                      </p:cBhvr>
                                      <p:rCtr x="-22383" y="4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062549-1DF0-C54F-A0D6-CAB45B81B41B}"/>
              </a:ext>
            </a:extLst>
          </p:cNvPr>
          <p:cNvSpPr>
            <a:spLocks noGrp="1"/>
          </p:cNvSpPr>
          <p:nvPr>
            <p:ph type="title"/>
          </p:nvPr>
        </p:nvSpPr>
        <p:spPr/>
        <p:txBody>
          <a:bodyPr>
            <a:normAutofit/>
          </a:bodyPr>
          <a:lstStyle/>
          <a:p>
            <a:r>
              <a:rPr lang="en-US" sz="3600" dirty="0">
                <a:solidFill>
                  <a:schemeClr val="bg1"/>
                </a:solidFill>
              </a:rPr>
              <a:t>SA and China create world's longest quantum satellite link</a:t>
            </a:r>
            <a:endParaRPr lang="en-US" dirty="0">
              <a:solidFill>
                <a:schemeClr val="bg1"/>
              </a:solidFill>
            </a:endParaRPr>
          </a:p>
        </p:txBody>
      </p:sp>
      <p:pic>
        <p:nvPicPr>
          <p:cNvPr id="5" name="Picture 4">
            <a:extLst>
              <a:ext uri="{FF2B5EF4-FFF2-40B4-BE49-F238E27FC236}">
                <a16:creationId xmlns:a16="http://schemas.microsoft.com/office/drawing/2014/main" id="{653AD501-2B6C-FF4F-83FC-535BE5281EB2}"/>
              </a:ext>
            </a:extLst>
          </p:cNvPr>
          <p:cNvPicPr>
            <a:picLocks noChangeAspect="1"/>
          </p:cNvPicPr>
          <p:nvPr/>
        </p:nvPicPr>
        <p:blipFill>
          <a:blip r:embed="rId3"/>
          <a:stretch>
            <a:fillRect/>
          </a:stretch>
        </p:blipFill>
        <p:spPr>
          <a:xfrm>
            <a:off x="420849" y="1673785"/>
            <a:ext cx="11288997" cy="3722967"/>
          </a:xfrm>
          <a:prstGeom prst="rect">
            <a:avLst/>
          </a:prstGeom>
        </p:spPr>
      </p:pic>
      <p:sp>
        <p:nvSpPr>
          <p:cNvPr id="6" name="TextBox 5">
            <a:extLst>
              <a:ext uri="{FF2B5EF4-FFF2-40B4-BE49-F238E27FC236}">
                <a16:creationId xmlns:a16="http://schemas.microsoft.com/office/drawing/2014/main" id="{4C2EDFF5-996B-A047-92D6-042E435A41DC}"/>
              </a:ext>
            </a:extLst>
          </p:cNvPr>
          <p:cNvSpPr txBox="1"/>
          <p:nvPr/>
        </p:nvSpPr>
        <p:spPr>
          <a:xfrm>
            <a:off x="5240084" y="5858417"/>
            <a:ext cx="6595267" cy="369332"/>
          </a:xfrm>
          <a:prstGeom prst="rect">
            <a:avLst/>
          </a:prstGeom>
          <a:noFill/>
        </p:spPr>
        <p:txBody>
          <a:bodyPr wrap="none" rtlCol="0">
            <a:spAutoFit/>
          </a:bodyPr>
          <a:lstStyle/>
          <a:p>
            <a:r>
              <a:rPr lang="en-US" dirty="0">
                <a:solidFill>
                  <a:schemeClr val="bg1">
                    <a:lumMod val="85000"/>
                  </a:schemeClr>
                </a:solidFill>
              </a:rPr>
              <a:t>https://</a:t>
            </a:r>
            <a:r>
              <a:rPr lang="en-US" dirty="0" err="1">
                <a:solidFill>
                  <a:schemeClr val="bg1">
                    <a:lumMod val="85000"/>
                  </a:schemeClr>
                </a:solidFill>
              </a:rPr>
              <a:t>www.sun.ac.za</a:t>
            </a:r>
            <a:r>
              <a:rPr lang="en-US" dirty="0">
                <a:solidFill>
                  <a:schemeClr val="bg1">
                    <a:lumMod val="85000"/>
                  </a:schemeClr>
                </a:solidFill>
              </a:rPr>
              <a:t>/</a:t>
            </a:r>
            <a:r>
              <a:rPr lang="en-US" dirty="0" err="1">
                <a:solidFill>
                  <a:schemeClr val="bg1">
                    <a:lumMod val="85000"/>
                  </a:schemeClr>
                </a:solidFill>
              </a:rPr>
              <a:t>english</a:t>
            </a:r>
            <a:r>
              <a:rPr lang="en-US" dirty="0">
                <a:solidFill>
                  <a:schemeClr val="bg1">
                    <a:lumMod val="85000"/>
                  </a:schemeClr>
                </a:solidFill>
              </a:rPr>
              <a:t>/Lists/news/</a:t>
            </a:r>
            <a:r>
              <a:rPr lang="en-US" dirty="0" err="1">
                <a:solidFill>
                  <a:schemeClr val="bg1">
                    <a:lumMod val="85000"/>
                  </a:schemeClr>
                </a:solidFill>
              </a:rPr>
              <a:t>DispForm.aspx?ID</a:t>
            </a:r>
            <a:r>
              <a:rPr lang="en-US" dirty="0">
                <a:solidFill>
                  <a:schemeClr val="bg1">
                    <a:lumMod val="85000"/>
                  </a:schemeClr>
                </a:solidFill>
              </a:rPr>
              <a:t>=11179</a:t>
            </a:r>
          </a:p>
        </p:txBody>
      </p:sp>
      <p:sp>
        <p:nvSpPr>
          <p:cNvPr id="8" name="TextBox 7">
            <a:extLst>
              <a:ext uri="{FF2B5EF4-FFF2-40B4-BE49-F238E27FC236}">
                <a16:creationId xmlns:a16="http://schemas.microsoft.com/office/drawing/2014/main" id="{57C23F4C-2D6B-194C-9904-8BA6F6C855DF}"/>
              </a:ext>
            </a:extLst>
          </p:cNvPr>
          <p:cNvSpPr txBox="1"/>
          <p:nvPr/>
        </p:nvSpPr>
        <p:spPr>
          <a:xfrm>
            <a:off x="8740016" y="5396752"/>
            <a:ext cx="3095335" cy="461665"/>
          </a:xfrm>
          <a:prstGeom prst="rect">
            <a:avLst/>
          </a:prstGeom>
          <a:noFill/>
        </p:spPr>
        <p:txBody>
          <a:bodyPr wrap="none" rtlCol="0">
            <a:spAutoFit/>
          </a:bodyPr>
          <a:lstStyle/>
          <a:p>
            <a:r>
              <a:rPr lang="en-ZA" sz="2400" dirty="0">
                <a:solidFill>
                  <a:schemeClr val="bg1"/>
                </a:solidFill>
              </a:rPr>
              <a:t>Stellenbosch University</a:t>
            </a:r>
            <a:endParaRPr lang="en-US" sz="2400" dirty="0">
              <a:solidFill>
                <a:schemeClr val="bg1"/>
              </a:solidFill>
            </a:endParaRPr>
          </a:p>
        </p:txBody>
      </p:sp>
    </p:spTree>
    <p:extLst>
      <p:ext uri="{BB962C8B-B14F-4D97-AF65-F5344CB8AC3E}">
        <p14:creationId xmlns:p14="http://schemas.microsoft.com/office/powerpoint/2010/main" val="3302597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7BAE49C-5955-BC47-B608-3876F44C628B}"/>
              </a:ext>
            </a:extLst>
          </p:cNvPr>
          <p:cNvSpPr>
            <a:spLocks noGrp="1"/>
          </p:cNvSpPr>
          <p:nvPr>
            <p:ph type="sldNum" sz="quarter" idx="12"/>
          </p:nvPr>
        </p:nvSpPr>
        <p:spPr/>
        <p:txBody>
          <a:bodyPr/>
          <a:lstStyle/>
          <a:p>
            <a:fld id="{591A223C-FA10-BC46-A853-03BA373D023C}" type="slidenum">
              <a:rPr lang="en-US" smtClean="0"/>
              <a:t>18</a:t>
            </a:fld>
            <a:endParaRPr lang="en-US" dirty="0"/>
          </a:p>
        </p:txBody>
      </p:sp>
      <p:sp>
        <p:nvSpPr>
          <p:cNvPr id="2" name="Title 1">
            <a:extLst>
              <a:ext uri="{FF2B5EF4-FFF2-40B4-BE49-F238E27FC236}">
                <a16:creationId xmlns:a16="http://schemas.microsoft.com/office/drawing/2014/main" id="{1147DB76-402B-EB45-BB4E-376306F1CC6A}"/>
              </a:ext>
            </a:extLst>
          </p:cNvPr>
          <p:cNvSpPr>
            <a:spLocks noGrp="1"/>
          </p:cNvSpPr>
          <p:nvPr>
            <p:ph type="title"/>
          </p:nvPr>
        </p:nvSpPr>
        <p:spPr/>
        <p:txBody>
          <a:bodyPr/>
          <a:lstStyle/>
          <a:p>
            <a:r>
              <a:rPr lang="en-ZA" b="1" dirty="0"/>
              <a:t>E91: Detecting an Untrusted Source</a:t>
            </a:r>
            <a:endParaRPr lang="en-US" dirty="0"/>
          </a:p>
        </p:txBody>
      </p:sp>
      <p:grpSp>
        <p:nvGrpSpPr>
          <p:cNvPr id="4" name="Group 3">
            <a:extLst>
              <a:ext uri="{FF2B5EF4-FFF2-40B4-BE49-F238E27FC236}">
                <a16:creationId xmlns:a16="http://schemas.microsoft.com/office/drawing/2014/main" id="{B74617E8-A242-484F-B026-8F87A6D3E6DA}"/>
              </a:ext>
            </a:extLst>
          </p:cNvPr>
          <p:cNvGrpSpPr/>
          <p:nvPr/>
        </p:nvGrpSpPr>
        <p:grpSpPr>
          <a:xfrm>
            <a:off x="1998982" y="4018271"/>
            <a:ext cx="8197150" cy="1967741"/>
            <a:chOff x="1998982" y="4018271"/>
            <a:chExt cx="8197150" cy="1967741"/>
          </a:xfrm>
        </p:grpSpPr>
        <p:cxnSp>
          <p:nvCxnSpPr>
            <p:cNvPr id="11" name="Straight Arrow Connector 10">
              <a:extLst>
                <a:ext uri="{FF2B5EF4-FFF2-40B4-BE49-F238E27FC236}">
                  <a16:creationId xmlns:a16="http://schemas.microsoft.com/office/drawing/2014/main" id="{4CDC7C53-DE63-0341-9E45-AA6373A8532D}"/>
                </a:ext>
              </a:extLst>
            </p:cNvPr>
            <p:cNvCxnSpPr>
              <a:cxnSpLocks/>
            </p:cNvCxnSpPr>
            <p:nvPr/>
          </p:nvCxnSpPr>
          <p:spPr>
            <a:xfrm flipH="1" flipV="1">
              <a:off x="1998982" y="4186238"/>
              <a:ext cx="3073082" cy="171450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59A292A-28B3-4C42-9CCF-31076F2813C5}"/>
                </a:ext>
              </a:extLst>
            </p:cNvPr>
            <p:cNvCxnSpPr>
              <a:cxnSpLocks/>
            </p:cNvCxnSpPr>
            <p:nvPr/>
          </p:nvCxnSpPr>
          <p:spPr>
            <a:xfrm flipH="1">
              <a:off x="7123050" y="4271511"/>
              <a:ext cx="3073082" cy="1714501"/>
            </a:xfrm>
            <a:prstGeom prst="straightConnector1">
              <a:avLst/>
            </a:prstGeom>
            <a:ln w="76200">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1E60733-3F5A-064A-919E-B1084D419219}"/>
                    </a:ext>
                  </a:extLst>
                </p:cNvPr>
                <p:cNvSpPr/>
                <p:nvPr/>
              </p:nvSpPr>
              <p:spPr>
                <a:xfrm>
                  <a:off x="3733138" y="4018271"/>
                  <a:ext cx="4912179" cy="1137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bg1">
                                <a:lumMod val="75000"/>
                              </a:schemeClr>
                            </a:solidFill>
                            <a:latin typeface="Cambria Math" panose="02040503050406030204" pitchFamily="18" charset="0"/>
                          </a:rPr>
                          <m:t>1000</m:t>
                        </m:r>
                        <m:r>
                          <a:rPr lang="en-US" sz="3200" b="0" i="1" smtClean="0">
                            <a:solidFill>
                              <a:schemeClr val="bg1">
                                <a:lumMod val="75000"/>
                              </a:schemeClr>
                            </a:solidFill>
                            <a:latin typeface="Cambria Math" panose="02040503050406030204" pitchFamily="18" charset="0"/>
                            <a:ea typeface="Cambria Math" panose="02040503050406030204" pitchFamily="18" charset="0"/>
                          </a:rPr>
                          <m:t>×</m:t>
                        </m:r>
                        <m:f>
                          <m:fPr>
                            <m:ctrlPr>
                              <a:rPr lang="en-US" sz="3200" i="1" smtClean="0">
                                <a:solidFill>
                                  <a:schemeClr val="bg1">
                                    <a:lumMod val="75000"/>
                                  </a:schemeClr>
                                </a:solidFill>
                                <a:latin typeface="Cambria Math" panose="02040503050406030204" pitchFamily="18" charset="0"/>
                              </a:rPr>
                            </m:ctrlPr>
                          </m:fPr>
                          <m:num>
                            <m:d>
                              <m:dPr>
                                <m:begChr m:val="|"/>
                                <m:endChr m:val="⟩"/>
                                <m:ctrlPr>
                                  <a:rPr lang="en-US" sz="3200" i="1">
                                    <a:solidFill>
                                      <a:schemeClr val="bg1">
                                        <a:lumMod val="75000"/>
                                      </a:schemeClr>
                                    </a:solidFill>
                                    <a:latin typeface="Cambria Math" panose="02040503050406030204" pitchFamily="18" charset="0"/>
                                  </a:rPr>
                                </m:ctrlPr>
                              </m:dPr>
                              <m:e>
                                <m:sSub>
                                  <m:sSubPr>
                                    <m:ctrlPr>
                                      <a:rPr lang="en-US" sz="3200" i="1" smtClean="0">
                                        <a:solidFill>
                                          <a:schemeClr val="bg1">
                                            <a:lumMod val="75000"/>
                                          </a:schemeClr>
                                        </a:solidFill>
                                        <a:latin typeface="Cambria Math" panose="02040503050406030204" pitchFamily="18" charset="0"/>
                                      </a:rPr>
                                    </m:ctrlPr>
                                  </m:sSubPr>
                                  <m:e>
                                    <m:r>
                                      <a:rPr lang="en-US" sz="3200" b="0" i="1" smtClean="0">
                                        <a:solidFill>
                                          <a:schemeClr val="bg1">
                                            <a:lumMod val="75000"/>
                                          </a:schemeClr>
                                        </a:solidFill>
                                        <a:latin typeface="Cambria Math" panose="02040503050406030204" pitchFamily="18" charset="0"/>
                                      </a:rPr>
                                      <m:t>0</m:t>
                                    </m:r>
                                  </m:e>
                                  <m:sub>
                                    <m:r>
                                      <a:rPr lang="en-US" sz="3200" b="0" i="1" smtClean="0">
                                        <a:solidFill>
                                          <a:schemeClr val="bg1">
                                            <a:lumMod val="75000"/>
                                          </a:schemeClr>
                                        </a:solidFill>
                                        <a:latin typeface="Cambria Math" panose="02040503050406030204" pitchFamily="18" charset="0"/>
                                      </a:rPr>
                                      <m:t>𝐴</m:t>
                                    </m:r>
                                  </m:sub>
                                </m:sSub>
                              </m:e>
                            </m:d>
                            <m:d>
                              <m:dPr>
                                <m:begChr m:val="|"/>
                                <m:endChr m:val="⟩"/>
                                <m:ctrlPr>
                                  <a:rPr lang="en-US" sz="3200" i="1">
                                    <a:solidFill>
                                      <a:schemeClr val="bg1">
                                        <a:lumMod val="75000"/>
                                      </a:schemeClr>
                                    </a:solidFill>
                                    <a:latin typeface="Cambria Math" panose="02040503050406030204" pitchFamily="18" charset="0"/>
                                  </a:rPr>
                                </m:ctrlPr>
                              </m:dPr>
                              <m:e>
                                <m:sSub>
                                  <m:sSubPr>
                                    <m:ctrlPr>
                                      <a:rPr lang="en-US" sz="3200" i="1">
                                        <a:solidFill>
                                          <a:schemeClr val="bg1">
                                            <a:lumMod val="75000"/>
                                          </a:schemeClr>
                                        </a:solidFill>
                                        <a:latin typeface="Cambria Math" panose="02040503050406030204" pitchFamily="18" charset="0"/>
                                      </a:rPr>
                                    </m:ctrlPr>
                                  </m:sSubPr>
                                  <m:e>
                                    <m:r>
                                      <a:rPr lang="en-US" sz="3200" i="1">
                                        <a:solidFill>
                                          <a:schemeClr val="bg1">
                                            <a:lumMod val="75000"/>
                                          </a:schemeClr>
                                        </a:solidFill>
                                        <a:latin typeface="Cambria Math" panose="02040503050406030204" pitchFamily="18" charset="0"/>
                                      </a:rPr>
                                      <m:t>0</m:t>
                                    </m:r>
                                  </m:e>
                                  <m:sub>
                                    <m:r>
                                      <a:rPr lang="en-US" sz="3200" b="0" i="1" smtClean="0">
                                        <a:solidFill>
                                          <a:schemeClr val="bg1">
                                            <a:lumMod val="75000"/>
                                          </a:schemeClr>
                                        </a:solidFill>
                                        <a:latin typeface="Cambria Math" panose="02040503050406030204" pitchFamily="18" charset="0"/>
                                      </a:rPr>
                                      <m:t>𝐵</m:t>
                                    </m:r>
                                  </m:sub>
                                </m:sSub>
                              </m:e>
                            </m:d>
                            <m:r>
                              <a:rPr lang="en-US" sz="3200" b="0" i="1" smtClean="0">
                                <a:solidFill>
                                  <a:schemeClr val="bg1">
                                    <a:lumMod val="75000"/>
                                  </a:schemeClr>
                                </a:solidFill>
                                <a:latin typeface="Cambria Math" panose="02040503050406030204" pitchFamily="18" charset="0"/>
                              </a:rPr>
                              <m:t>+</m:t>
                            </m:r>
                            <m:d>
                              <m:dPr>
                                <m:begChr m:val="|"/>
                                <m:endChr m:val="⟩"/>
                                <m:ctrlPr>
                                  <a:rPr lang="en-US" sz="3200" i="1">
                                    <a:solidFill>
                                      <a:schemeClr val="bg1">
                                        <a:lumMod val="75000"/>
                                      </a:schemeClr>
                                    </a:solidFill>
                                    <a:latin typeface="Cambria Math" panose="02040503050406030204" pitchFamily="18" charset="0"/>
                                  </a:rPr>
                                </m:ctrlPr>
                              </m:dPr>
                              <m:e>
                                <m:sSub>
                                  <m:sSubPr>
                                    <m:ctrlPr>
                                      <a:rPr lang="en-US" sz="3200" i="1">
                                        <a:solidFill>
                                          <a:schemeClr val="bg1">
                                            <a:lumMod val="75000"/>
                                          </a:schemeClr>
                                        </a:solidFill>
                                        <a:latin typeface="Cambria Math" panose="02040503050406030204" pitchFamily="18" charset="0"/>
                                      </a:rPr>
                                    </m:ctrlPr>
                                  </m:sSubPr>
                                  <m:e>
                                    <m:r>
                                      <a:rPr lang="en-US" sz="3200" i="1">
                                        <a:solidFill>
                                          <a:schemeClr val="bg1">
                                            <a:lumMod val="75000"/>
                                          </a:schemeClr>
                                        </a:solidFill>
                                        <a:latin typeface="Cambria Math" panose="02040503050406030204" pitchFamily="18" charset="0"/>
                                      </a:rPr>
                                      <m:t>1</m:t>
                                    </m:r>
                                  </m:e>
                                  <m:sub>
                                    <m:r>
                                      <a:rPr lang="en-US" sz="3200" i="1">
                                        <a:solidFill>
                                          <a:schemeClr val="bg1">
                                            <a:lumMod val="75000"/>
                                          </a:schemeClr>
                                        </a:solidFill>
                                        <a:latin typeface="Cambria Math" panose="02040503050406030204" pitchFamily="18" charset="0"/>
                                      </a:rPr>
                                      <m:t>𝐴</m:t>
                                    </m:r>
                                  </m:sub>
                                </m:sSub>
                              </m:e>
                            </m:d>
                            <m:d>
                              <m:dPr>
                                <m:begChr m:val="|"/>
                                <m:endChr m:val="⟩"/>
                                <m:ctrlPr>
                                  <a:rPr lang="en-US" sz="3200" i="1">
                                    <a:solidFill>
                                      <a:schemeClr val="bg1">
                                        <a:lumMod val="75000"/>
                                      </a:schemeClr>
                                    </a:solidFill>
                                    <a:latin typeface="Cambria Math" panose="02040503050406030204" pitchFamily="18" charset="0"/>
                                  </a:rPr>
                                </m:ctrlPr>
                              </m:dPr>
                              <m:e>
                                <m:sSub>
                                  <m:sSubPr>
                                    <m:ctrlPr>
                                      <a:rPr lang="en-US" sz="3200" i="1">
                                        <a:solidFill>
                                          <a:schemeClr val="bg1">
                                            <a:lumMod val="75000"/>
                                          </a:schemeClr>
                                        </a:solidFill>
                                        <a:latin typeface="Cambria Math" panose="02040503050406030204" pitchFamily="18" charset="0"/>
                                      </a:rPr>
                                    </m:ctrlPr>
                                  </m:sSubPr>
                                  <m:e>
                                    <m:r>
                                      <a:rPr lang="en-US" sz="3200" i="1">
                                        <a:solidFill>
                                          <a:schemeClr val="bg1">
                                            <a:lumMod val="75000"/>
                                          </a:schemeClr>
                                        </a:solidFill>
                                        <a:latin typeface="Cambria Math" panose="02040503050406030204" pitchFamily="18" charset="0"/>
                                      </a:rPr>
                                      <m:t>1</m:t>
                                    </m:r>
                                  </m:e>
                                  <m:sub>
                                    <m:r>
                                      <a:rPr lang="en-US" sz="3200" i="1">
                                        <a:solidFill>
                                          <a:schemeClr val="bg1">
                                            <a:lumMod val="75000"/>
                                          </a:schemeClr>
                                        </a:solidFill>
                                        <a:latin typeface="Cambria Math" panose="02040503050406030204" pitchFamily="18" charset="0"/>
                                      </a:rPr>
                                      <m:t>𝐵</m:t>
                                    </m:r>
                                  </m:sub>
                                </m:sSub>
                              </m:e>
                            </m:d>
                          </m:num>
                          <m:den>
                            <m:rad>
                              <m:radPr>
                                <m:degHide m:val="on"/>
                                <m:ctrlPr>
                                  <a:rPr lang="en-US" sz="3200" i="1" smtClean="0">
                                    <a:solidFill>
                                      <a:schemeClr val="bg1">
                                        <a:lumMod val="75000"/>
                                      </a:schemeClr>
                                    </a:solidFill>
                                    <a:latin typeface="Cambria Math" panose="02040503050406030204" pitchFamily="18" charset="0"/>
                                  </a:rPr>
                                </m:ctrlPr>
                              </m:radPr>
                              <m:deg/>
                              <m:e>
                                <m:r>
                                  <a:rPr lang="en-US" sz="3200" b="0" i="1" smtClean="0">
                                    <a:solidFill>
                                      <a:schemeClr val="bg1">
                                        <a:lumMod val="75000"/>
                                      </a:schemeClr>
                                    </a:solidFill>
                                    <a:latin typeface="Cambria Math" panose="02040503050406030204" pitchFamily="18" charset="0"/>
                                  </a:rPr>
                                  <m:t>2</m:t>
                                </m:r>
                              </m:e>
                            </m:rad>
                          </m:den>
                        </m:f>
                      </m:oMath>
                    </m:oMathPara>
                  </a14:m>
                  <a:endParaRPr lang="en-US" sz="3200" dirty="0">
                    <a:solidFill>
                      <a:schemeClr val="bg1">
                        <a:lumMod val="75000"/>
                      </a:schemeClr>
                    </a:solidFill>
                  </a:endParaRPr>
                </a:p>
              </p:txBody>
            </p:sp>
          </mc:Choice>
          <mc:Fallback xmlns="">
            <p:sp>
              <p:nvSpPr>
                <p:cNvPr id="15" name="Rectangle 14">
                  <a:extLst>
                    <a:ext uri="{FF2B5EF4-FFF2-40B4-BE49-F238E27FC236}">
                      <a16:creationId xmlns:a16="http://schemas.microsoft.com/office/drawing/2014/main" id="{41E60733-3F5A-064A-919E-B1084D419219}"/>
                    </a:ext>
                  </a:extLst>
                </p:cNvPr>
                <p:cNvSpPr>
                  <a:spLocks noRot="1" noChangeAspect="1" noMove="1" noResize="1" noEditPoints="1" noAdjustHandles="1" noChangeArrowheads="1" noChangeShapeType="1" noTextEdit="1"/>
                </p:cNvSpPr>
                <p:nvPr/>
              </p:nvSpPr>
              <p:spPr>
                <a:xfrm>
                  <a:off x="3733138" y="4018271"/>
                  <a:ext cx="4912179" cy="1137556"/>
                </a:xfrm>
                <a:prstGeom prst="rect">
                  <a:avLst/>
                </a:prstGeom>
                <a:blipFill>
                  <a:blip r:embed="rId3"/>
                  <a:stretch>
                    <a:fillRect b="-4396"/>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80DE8020-A01B-1C44-BC77-0B7C2BEC8D3F}"/>
              </a:ext>
            </a:extLst>
          </p:cNvPr>
          <p:cNvGrpSpPr/>
          <p:nvPr/>
        </p:nvGrpSpPr>
        <p:grpSpPr>
          <a:xfrm>
            <a:off x="2848558" y="3852009"/>
            <a:ext cx="6806189" cy="1483866"/>
            <a:chOff x="2848558" y="3852009"/>
            <a:chExt cx="6806189" cy="1483866"/>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88A4939-CF2E-4041-876B-7FAC6B4448A2}"/>
                    </a:ext>
                  </a:extLst>
                </p:cNvPr>
                <p:cNvSpPr/>
                <p:nvPr/>
              </p:nvSpPr>
              <p:spPr>
                <a:xfrm>
                  <a:off x="4140428" y="4751100"/>
                  <a:ext cx="980910"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b="0" i="1" smtClean="0">
                                    <a:latin typeface="Cambria Math" panose="02040503050406030204" pitchFamily="18" charset="0"/>
                                  </a:rPr>
                                  <m:t>1</m:t>
                                </m:r>
                              </m:e>
                              <m:sub>
                                <m:r>
                                  <a:rPr lang="en-US" sz="3200" i="1">
                                    <a:latin typeface="Cambria Math" panose="02040503050406030204" pitchFamily="18" charset="0"/>
                                  </a:rPr>
                                  <m:t>𝐴</m:t>
                                </m:r>
                              </m:sub>
                            </m:sSub>
                          </m:e>
                        </m:d>
                      </m:oMath>
                    </m:oMathPara>
                  </a14:m>
                  <a:endParaRPr lang="en-US" sz="3200" dirty="0"/>
                </a:p>
              </p:txBody>
            </p:sp>
          </mc:Choice>
          <mc:Fallback xmlns="">
            <p:sp>
              <p:nvSpPr>
                <p:cNvPr id="16" name="Rectangle 15">
                  <a:extLst>
                    <a:ext uri="{FF2B5EF4-FFF2-40B4-BE49-F238E27FC236}">
                      <a16:creationId xmlns:a16="http://schemas.microsoft.com/office/drawing/2014/main" id="{F88A4939-CF2E-4041-876B-7FAC6B4448A2}"/>
                    </a:ext>
                  </a:extLst>
                </p:cNvPr>
                <p:cNvSpPr>
                  <a:spLocks noRot="1" noChangeAspect="1" noMove="1" noResize="1" noEditPoints="1" noAdjustHandles="1" noChangeArrowheads="1" noChangeShapeType="1" noTextEdit="1"/>
                </p:cNvSpPr>
                <p:nvPr/>
              </p:nvSpPr>
              <p:spPr>
                <a:xfrm>
                  <a:off x="4140428" y="4751100"/>
                  <a:ext cx="980910" cy="584775"/>
                </a:xfrm>
                <a:prstGeom prst="rect">
                  <a:avLst/>
                </a:prstGeom>
                <a:blipFill>
                  <a:blip r:embed="rId7"/>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F70965AB-DD4E-DF48-B6A1-14C29EDD09AE}"/>
                    </a:ext>
                  </a:extLst>
                </p:cNvPr>
                <p:cNvSpPr/>
                <p:nvPr/>
              </p:nvSpPr>
              <p:spPr>
                <a:xfrm>
                  <a:off x="7262784" y="4751100"/>
                  <a:ext cx="1011238"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b="0" i="1" smtClean="0">
                                    <a:latin typeface="Cambria Math" panose="02040503050406030204" pitchFamily="18" charset="0"/>
                                  </a:rPr>
                                  <m:t>1</m:t>
                                </m:r>
                              </m:e>
                              <m:sub>
                                <m:r>
                                  <a:rPr lang="en-US" sz="3200" b="0" i="1" smtClean="0">
                                    <a:latin typeface="Cambria Math" panose="02040503050406030204" pitchFamily="18" charset="0"/>
                                  </a:rPr>
                                  <m:t>𝐵</m:t>
                                </m:r>
                              </m:sub>
                            </m:sSub>
                          </m:e>
                        </m:d>
                      </m:oMath>
                    </m:oMathPara>
                  </a14:m>
                  <a:endParaRPr lang="en-US" sz="3200" dirty="0"/>
                </a:p>
              </p:txBody>
            </p:sp>
          </mc:Choice>
          <mc:Fallback xmlns="">
            <p:sp>
              <p:nvSpPr>
                <p:cNvPr id="17" name="Rectangle 16">
                  <a:extLst>
                    <a:ext uri="{FF2B5EF4-FFF2-40B4-BE49-F238E27FC236}">
                      <a16:creationId xmlns:a16="http://schemas.microsoft.com/office/drawing/2014/main" id="{F70965AB-DD4E-DF48-B6A1-14C29EDD09AE}"/>
                    </a:ext>
                  </a:extLst>
                </p:cNvPr>
                <p:cNvSpPr>
                  <a:spLocks noRot="1" noChangeAspect="1" noMove="1" noResize="1" noEditPoints="1" noAdjustHandles="1" noChangeArrowheads="1" noChangeShapeType="1" noTextEdit="1"/>
                </p:cNvSpPr>
                <p:nvPr/>
              </p:nvSpPr>
              <p:spPr>
                <a:xfrm>
                  <a:off x="7262784" y="4751100"/>
                  <a:ext cx="1011238" cy="584775"/>
                </a:xfrm>
                <a:prstGeom prst="rect">
                  <a:avLst/>
                </a:prstGeom>
                <a:blipFill>
                  <a:blip r:embed="rId8"/>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BA1D4A2D-3A9B-EF40-8B32-0FC518618F72}"/>
                    </a:ext>
                  </a:extLst>
                </p:cNvPr>
                <p:cNvSpPr/>
                <p:nvPr/>
              </p:nvSpPr>
              <p:spPr>
                <a:xfrm>
                  <a:off x="8643508" y="4035612"/>
                  <a:ext cx="101123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0</m:t>
                                </m:r>
                              </m:e>
                              <m:sub>
                                <m:r>
                                  <a:rPr lang="en-US" sz="3200" b="0" i="1" smtClean="0">
                                    <a:latin typeface="Cambria Math" panose="02040503050406030204" pitchFamily="18" charset="0"/>
                                  </a:rPr>
                                  <m:t>𝐵</m:t>
                                </m:r>
                              </m:sub>
                            </m:sSub>
                          </m:e>
                        </m:d>
                      </m:oMath>
                    </m:oMathPara>
                  </a14:m>
                  <a:endParaRPr lang="en-US" sz="3200" dirty="0"/>
                </a:p>
              </p:txBody>
            </p:sp>
          </mc:Choice>
          <mc:Fallback xmlns="">
            <p:sp>
              <p:nvSpPr>
                <p:cNvPr id="18" name="Rectangle 17">
                  <a:extLst>
                    <a:ext uri="{FF2B5EF4-FFF2-40B4-BE49-F238E27FC236}">
                      <a16:creationId xmlns:a16="http://schemas.microsoft.com/office/drawing/2014/main" id="{BA1D4A2D-3A9B-EF40-8B32-0FC518618F72}"/>
                    </a:ext>
                  </a:extLst>
                </p:cNvPr>
                <p:cNvSpPr>
                  <a:spLocks noRot="1" noChangeAspect="1" noMove="1" noResize="1" noEditPoints="1" noAdjustHandles="1" noChangeArrowheads="1" noChangeShapeType="1" noTextEdit="1"/>
                </p:cNvSpPr>
                <p:nvPr/>
              </p:nvSpPr>
              <p:spPr>
                <a:xfrm>
                  <a:off x="8643508" y="4035612"/>
                  <a:ext cx="1011239" cy="584775"/>
                </a:xfrm>
                <a:prstGeom prst="rect">
                  <a:avLst/>
                </a:prstGeom>
                <a:blipFill>
                  <a:blip r:embed="rId9"/>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AF5DEE3-B518-5B42-BB1D-8F451184E080}"/>
                    </a:ext>
                  </a:extLst>
                </p:cNvPr>
                <p:cNvSpPr/>
                <p:nvPr/>
              </p:nvSpPr>
              <p:spPr>
                <a:xfrm>
                  <a:off x="2848558" y="4035612"/>
                  <a:ext cx="980910"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0</m:t>
                                </m:r>
                              </m:e>
                              <m:sub>
                                <m:r>
                                  <a:rPr lang="en-US" sz="3200" b="0" i="1" smtClean="0">
                                    <a:latin typeface="Cambria Math" panose="02040503050406030204" pitchFamily="18" charset="0"/>
                                  </a:rPr>
                                  <m:t>𝐴</m:t>
                                </m:r>
                              </m:sub>
                            </m:sSub>
                          </m:e>
                        </m:d>
                      </m:oMath>
                    </m:oMathPara>
                  </a14:m>
                  <a:endParaRPr lang="en-US" sz="3200" dirty="0"/>
                </a:p>
              </p:txBody>
            </p:sp>
          </mc:Choice>
          <mc:Fallback xmlns="">
            <p:sp>
              <p:nvSpPr>
                <p:cNvPr id="19" name="Rectangle 18">
                  <a:extLst>
                    <a:ext uri="{FF2B5EF4-FFF2-40B4-BE49-F238E27FC236}">
                      <a16:creationId xmlns:a16="http://schemas.microsoft.com/office/drawing/2014/main" id="{6AF5DEE3-B518-5B42-BB1D-8F451184E080}"/>
                    </a:ext>
                  </a:extLst>
                </p:cNvPr>
                <p:cNvSpPr>
                  <a:spLocks noRot="1" noChangeAspect="1" noMove="1" noResize="1" noEditPoints="1" noAdjustHandles="1" noChangeArrowheads="1" noChangeShapeType="1" noTextEdit="1"/>
                </p:cNvSpPr>
                <p:nvPr/>
              </p:nvSpPr>
              <p:spPr>
                <a:xfrm>
                  <a:off x="2848558" y="4035612"/>
                  <a:ext cx="980910" cy="584775"/>
                </a:xfrm>
                <a:prstGeom prst="rect">
                  <a:avLst/>
                </a:prstGeom>
                <a:blipFill>
                  <a:blip r:embed="rId10"/>
                  <a:stretch>
                    <a:fillRect b="-2128"/>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CA0A628-4604-A348-BED7-2D6492A9EC98}"/>
                </a:ext>
              </a:extLst>
            </p:cNvPr>
            <p:cNvPicPr>
              <a:picLocks noChangeAspect="1"/>
            </p:cNvPicPr>
            <p:nvPr/>
          </p:nvPicPr>
          <p:blipFill>
            <a:blip r:embed="rId11">
              <a:alphaModFix amt="83000"/>
            </a:blip>
            <a:stretch>
              <a:fillRect/>
            </a:stretch>
          </p:blipFill>
          <p:spPr>
            <a:xfrm>
              <a:off x="5668442" y="3852009"/>
              <a:ext cx="907503" cy="1221913"/>
            </a:xfrm>
            <a:prstGeom prst="rect">
              <a:avLst/>
            </a:prstGeom>
          </p:spPr>
        </p:pic>
      </p:grpSp>
      <p:grpSp>
        <p:nvGrpSpPr>
          <p:cNvPr id="13" name="Group 12">
            <a:extLst>
              <a:ext uri="{FF2B5EF4-FFF2-40B4-BE49-F238E27FC236}">
                <a16:creationId xmlns:a16="http://schemas.microsoft.com/office/drawing/2014/main" id="{C1F6036F-01D0-7648-B463-21850503E3F7}"/>
              </a:ext>
            </a:extLst>
          </p:cNvPr>
          <p:cNvGrpSpPr/>
          <p:nvPr/>
        </p:nvGrpSpPr>
        <p:grpSpPr>
          <a:xfrm>
            <a:off x="2286773" y="2531644"/>
            <a:ext cx="7427956" cy="594629"/>
            <a:chOff x="2286773" y="2531644"/>
            <a:chExt cx="7427956" cy="594629"/>
          </a:xfrm>
        </p:grpSpPr>
        <p:cxnSp>
          <p:nvCxnSpPr>
            <p:cNvPr id="29" name="Straight Arrow Connector 28">
              <a:extLst>
                <a:ext uri="{FF2B5EF4-FFF2-40B4-BE49-F238E27FC236}">
                  <a16:creationId xmlns:a16="http://schemas.microsoft.com/office/drawing/2014/main" id="{96B8CF1A-EC2E-144D-875C-4367F799DFC8}"/>
                </a:ext>
              </a:extLst>
            </p:cNvPr>
            <p:cNvCxnSpPr>
              <a:cxnSpLocks/>
            </p:cNvCxnSpPr>
            <p:nvPr/>
          </p:nvCxnSpPr>
          <p:spPr>
            <a:xfrm flipV="1">
              <a:off x="2286773" y="3090341"/>
              <a:ext cx="7427956" cy="35932"/>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AE19E51-4BDB-A945-8596-7FBDF39D157E}"/>
                </a:ext>
              </a:extLst>
            </p:cNvPr>
            <p:cNvSpPr txBox="1"/>
            <p:nvPr/>
          </p:nvSpPr>
          <p:spPr>
            <a:xfrm>
              <a:off x="3840122" y="2531644"/>
              <a:ext cx="4698209" cy="461665"/>
            </a:xfrm>
            <a:prstGeom prst="rect">
              <a:avLst/>
            </a:prstGeom>
            <a:noFill/>
          </p:spPr>
          <p:txBody>
            <a:bodyPr wrap="none" rtlCol="0">
              <a:spAutoFit/>
            </a:bodyPr>
            <a:lstStyle/>
            <a:p>
              <a:r>
                <a:rPr lang="en-ZA" sz="2400" dirty="0"/>
                <a:t>statistical method of error detection</a:t>
              </a:r>
              <a:endParaRPr lang="en-US" sz="2400" dirty="0"/>
            </a:p>
          </p:txBody>
        </p:sp>
      </p:grpSp>
      <p:pic>
        <p:nvPicPr>
          <p:cNvPr id="20" name="Picture 19">
            <a:extLst>
              <a:ext uri="{FF2B5EF4-FFF2-40B4-BE49-F238E27FC236}">
                <a16:creationId xmlns:a16="http://schemas.microsoft.com/office/drawing/2014/main" id="{1E696E0D-162C-3240-9128-A2687237C7A6}"/>
              </a:ext>
            </a:extLst>
          </p:cNvPr>
          <p:cNvPicPr>
            <a:picLocks noChangeAspect="1"/>
          </p:cNvPicPr>
          <p:nvPr/>
        </p:nvPicPr>
        <p:blipFill>
          <a:blip r:embed="rId12"/>
          <a:stretch>
            <a:fillRect/>
          </a:stretch>
        </p:blipFill>
        <p:spPr>
          <a:xfrm>
            <a:off x="271878" y="1111771"/>
            <a:ext cx="918520" cy="1414873"/>
          </a:xfrm>
          <a:prstGeom prst="rect">
            <a:avLst/>
          </a:prstGeom>
        </p:spPr>
      </p:pic>
      <p:pic>
        <p:nvPicPr>
          <p:cNvPr id="21" name="Picture 20">
            <a:extLst>
              <a:ext uri="{FF2B5EF4-FFF2-40B4-BE49-F238E27FC236}">
                <a16:creationId xmlns:a16="http://schemas.microsoft.com/office/drawing/2014/main" id="{65E9D2E9-7D3B-D64B-9E92-11348FAA5806}"/>
              </a:ext>
            </a:extLst>
          </p:cNvPr>
          <p:cNvPicPr>
            <a:picLocks noChangeAspect="1"/>
          </p:cNvPicPr>
          <p:nvPr/>
        </p:nvPicPr>
        <p:blipFill>
          <a:blip r:embed="rId13"/>
          <a:stretch>
            <a:fillRect/>
          </a:stretch>
        </p:blipFill>
        <p:spPr>
          <a:xfrm>
            <a:off x="10732225" y="1121330"/>
            <a:ext cx="1082025" cy="1602672"/>
          </a:xfrm>
          <a:prstGeom prst="rect">
            <a:avLst/>
          </a:prstGeom>
        </p:spPr>
      </p:pic>
      <p:pic>
        <p:nvPicPr>
          <p:cNvPr id="10" name="Picture 9">
            <a:extLst>
              <a:ext uri="{FF2B5EF4-FFF2-40B4-BE49-F238E27FC236}">
                <a16:creationId xmlns:a16="http://schemas.microsoft.com/office/drawing/2014/main" id="{F6C95753-A446-8A4B-B5A5-8C9EBC07A6F1}"/>
              </a:ext>
            </a:extLst>
          </p:cNvPr>
          <p:cNvPicPr>
            <a:picLocks noChangeAspect="1"/>
          </p:cNvPicPr>
          <p:nvPr/>
        </p:nvPicPr>
        <p:blipFill>
          <a:blip r:embed="rId14"/>
          <a:stretch>
            <a:fillRect/>
          </a:stretch>
        </p:blipFill>
        <p:spPr>
          <a:xfrm>
            <a:off x="5437492" y="5073922"/>
            <a:ext cx="962359" cy="1675287"/>
          </a:xfrm>
          <a:prstGeom prst="rect">
            <a:avLst/>
          </a:prstGeom>
        </p:spPr>
      </p:pic>
    </p:spTree>
    <p:extLst>
      <p:ext uri="{BB962C8B-B14F-4D97-AF65-F5344CB8AC3E}">
        <p14:creationId xmlns:p14="http://schemas.microsoft.com/office/powerpoint/2010/main" val="398528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B382C2-3867-8A4A-B44D-4EA81671C4C5}"/>
              </a:ext>
            </a:extLst>
          </p:cNvPr>
          <p:cNvSpPr>
            <a:spLocks noGrp="1"/>
          </p:cNvSpPr>
          <p:nvPr>
            <p:ph type="title"/>
          </p:nvPr>
        </p:nvSpPr>
        <p:spPr/>
        <p:txBody>
          <a:bodyPr/>
          <a:lstStyle/>
          <a:p>
            <a:r>
              <a:rPr lang="en-ZA" dirty="0"/>
              <a:t>Bell’s Inequality and the CHSH Test</a:t>
            </a:r>
            <a:endParaRPr lang="en-US" dirty="0"/>
          </a:p>
        </p:txBody>
      </p:sp>
      <p:sp>
        <p:nvSpPr>
          <p:cNvPr id="6" name="TextBox 5">
            <a:extLst>
              <a:ext uri="{FF2B5EF4-FFF2-40B4-BE49-F238E27FC236}">
                <a16:creationId xmlns:a16="http://schemas.microsoft.com/office/drawing/2014/main" id="{CAC28FE6-43A6-DE46-88A4-0FA5CCE31DCE}"/>
              </a:ext>
            </a:extLst>
          </p:cNvPr>
          <p:cNvSpPr txBox="1"/>
          <p:nvPr/>
        </p:nvSpPr>
        <p:spPr>
          <a:xfrm>
            <a:off x="914850" y="4642136"/>
            <a:ext cx="2850460" cy="430887"/>
          </a:xfrm>
          <a:prstGeom prst="rect">
            <a:avLst/>
          </a:prstGeom>
          <a:noFill/>
        </p:spPr>
        <p:txBody>
          <a:bodyPr wrap="none" rtlCol="0">
            <a:spAutoFit/>
          </a:bodyPr>
          <a:lstStyle/>
          <a:p>
            <a:r>
              <a:rPr lang="en-US" sz="2200" dirty="0"/>
              <a:t>John Bell (1928 – 1990)</a:t>
            </a:r>
          </a:p>
        </p:txBody>
      </p:sp>
      <p:grpSp>
        <p:nvGrpSpPr>
          <p:cNvPr id="5" name="Group 4">
            <a:extLst>
              <a:ext uri="{FF2B5EF4-FFF2-40B4-BE49-F238E27FC236}">
                <a16:creationId xmlns:a16="http://schemas.microsoft.com/office/drawing/2014/main" id="{B4807B17-EFF5-084B-932E-F6CB4AA2FDC7}"/>
              </a:ext>
            </a:extLst>
          </p:cNvPr>
          <p:cNvGrpSpPr/>
          <p:nvPr/>
        </p:nvGrpSpPr>
        <p:grpSpPr>
          <a:xfrm>
            <a:off x="5772066" y="795290"/>
            <a:ext cx="4848552" cy="3368979"/>
            <a:chOff x="5772066" y="795290"/>
            <a:chExt cx="4848552" cy="3368979"/>
          </a:xfrm>
        </p:grpSpPr>
        <p:pic>
          <p:nvPicPr>
            <p:cNvPr id="7" name="Picture 6">
              <a:extLst>
                <a:ext uri="{FF2B5EF4-FFF2-40B4-BE49-F238E27FC236}">
                  <a16:creationId xmlns:a16="http://schemas.microsoft.com/office/drawing/2014/main" id="{3FF2076A-4835-104C-AAB6-2BBBEFCDACF8}"/>
                </a:ext>
              </a:extLst>
            </p:cNvPr>
            <p:cNvPicPr>
              <a:picLocks noChangeAspect="1"/>
            </p:cNvPicPr>
            <p:nvPr/>
          </p:nvPicPr>
          <p:blipFill>
            <a:blip r:embed="rId3"/>
            <a:stretch>
              <a:fillRect/>
            </a:stretch>
          </p:blipFill>
          <p:spPr>
            <a:xfrm>
              <a:off x="5772066" y="795290"/>
              <a:ext cx="4832553" cy="3108568"/>
            </a:xfrm>
            <a:prstGeom prst="rect">
              <a:avLst/>
            </a:prstGeom>
          </p:spPr>
        </p:pic>
        <p:sp>
          <p:nvSpPr>
            <p:cNvPr id="17" name="TextBox 16">
              <a:extLst>
                <a:ext uri="{FF2B5EF4-FFF2-40B4-BE49-F238E27FC236}">
                  <a16:creationId xmlns:a16="http://schemas.microsoft.com/office/drawing/2014/main" id="{473ABA52-B521-5047-8935-92AC48E43F5E}"/>
                </a:ext>
              </a:extLst>
            </p:cNvPr>
            <p:cNvSpPr txBox="1"/>
            <p:nvPr/>
          </p:nvSpPr>
          <p:spPr>
            <a:xfrm>
              <a:off x="5775445" y="3733382"/>
              <a:ext cx="4845173" cy="430887"/>
            </a:xfrm>
            <a:prstGeom prst="rect">
              <a:avLst/>
            </a:prstGeom>
            <a:noFill/>
          </p:spPr>
          <p:txBody>
            <a:bodyPr wrap="none" rtlCol="0">
              <a:spAutoFit/>
            </a:bodyPr>
            <a:lstStyle/>
            <a:p>
              <a:r>
                <a:rPr lang="en-US" sz="2200" dirty="0"/>
                <a:t>J. </a:t>
              </a:r>
              <a:r>
                <a:rPr lang="en-US" sz="2200" dirty="0" err="1"/>
                <a:t>Clauser</a:t>
              </a:r>
              <a:r>
                <a:rPr lang="en-US" sz="2200" dirty="0"/>
                <a:t>, M. Horne, A. </a:t>
              </a:r>
              <a:r>
                <a:rPr lang="en-US" sz="2200" dirty="0" err="1"/>
                <a:t>Shimony</a:t>
              </a:r>
              <a:r>
                <a:rPr lang="en-US" sz="2200" dirty="0"/>
                <a:t>, R. Holt</a:t>
              </a:r>
            </a:p>
          </p:txBody>
        </p:sp>
      </p:grpSp>
      <p:pic>
        <p:nvPicPr>
          <p:cNvPr id="3" name="Picture 2">
            <a:extLst>
              <a:ext uri="{FF2B5EF4-FFF2-40B4-BE49-F238E27FC236}">
                <a16:creationId xmlns:a16="http://schemas.microsoft.com/office/drawing/2014/main" id="{8166A0F7-89A5-7349-A72C-C976DCB2D5BD}"/>
              </a:ext>
            </a:extLst>
          </p:cNvPr>
          <p:cNvPicPr>
            <a:picLocks noChangeAspect="1"/>
          </p:cNvPicPr>
          <p:nvPr/>
        </p:nvPicPr>
        <p:blipFill>
          <a:blip r:embed="rId4"/>
          <a:stretch>
            <a:fillRect/>
          </a:stretch>
        </p:blipFill>
        <p:spPr>
          <a:xfrm>
            <a:off x="914850" y="1479554"/>
            <a:ext cx="2535633" cy="3124618"/>
          </a:xfrm>
          <a:prstGeom prst="rect">
            <a:avLst/>
          </a:prstGeom>
        </p:spPr>
      </p:pic>
      <p:grpSp>
        <p:nvGrpSpPr>
          <p:cNvPr id="32" name="Group 31">
            <a:extLst>
              <a:ext uri="{FF2B5EF4-FFF2-40B4-BE49-F238E27FC236}">
                <a16:creationId xmlns:a16="http://schemas.microsoft.com/office/drawing/2014/main" id="{CB3E7325-8BA7-944F-A3A8-0B4B46A19B6D}"/>
              </a:ext>
            </a:extLst>
          </p:cNvPr>
          <p:cNvGrpSpPr/>
          <p:nvPr/>
        </p:nvGrpSpPr>
        <p:grpSpPr>
          <a:xfrm>
            <a:off x="2990627" y="4421111"/>
            <a:ext cx="8382469" cy="2429217"/>
            <a:chOff x="2875437" y="5027977"/>
            <a:chExt cx="8382469" cy="2429217"/>
          </a:xfrm>
        </p:grpSpPr>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BB8740C-F96C-AC48-B06C-C91382DF01A0}"/>
                    </a:ext>
                  </a:extLst>
                </p:cNvPr>
                <p:cNvSpPr txBox="1"/>
                <p:nvPr/>
              </p:nvSpPr>
              <p:spPr>
                <a:xfrm>
                  <a:off x="10834778" y="5905713"/>
                  <a:ext cx="42312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𝑆</m:t>
                        </m:r>
                      </m:oMath>
                    </m:oMathPara>
                  </a14:m>
                  <a:endParaRPr lang="en-US" sz="2400" dirty="0"/>
                </a:p>
              </p:txBody>
            </p:sp>
          </mc:Choice>
          <mc:Fallback xmlns="">
            <p:sp>
              <p:nvSpPr>
                <p:cNvPr id="2" name="TextBox 1">
                  <a:extLst>
                    <a:ext uri="{FF2B5EF4-FFF2-40B4-BE49-F238E27FC236}">
                      <a16:creationId xmlns:a16="http://schemas.microsoft.com/office/drawing/2014/main" id="{B3FA7C54-BAF8-8448-8C00-AEF46B83CDCB}"/>
                    </a:ext>
                  </a:extLst>
                </p:cNvPr>
                <p:cNvSpPr txBox="1">
                  <a:spLocks noRot="1" noChangeAspect="1" noMove="1" noResize="1" noEditPoints="1" noAdjustHandles="1" noChangeArrowheads="1" noChangeShapeType="1" noTextEdit="1"/>
                </p:cNvSpPr>
                <p:nvPr/>
              </p:nvSpPr>
              <p:spPr>
                <a:xfrm>
                  <a:off x="10834778" y="5905713"/>
                  <a:ext cx="42312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799DECF-E892-A44B-B464-6E1F91F26BEF}"/>
                    </a:ext>
                  </a:extLst>
                </p:cNvPr>
                <p:cNvSpPr txBox="1"/>
                <p:nvPr/>
              </p:nvSpPr>
              <p:spPr>
                <a:xfrm>
                  <a:off x="2875437" y="5961546"/>
                  <a:ext cx="3252622" cy="461665"/>
                </a:xfrm>
                <a:prstGeom prst="rect">
                  <a:avLst/>
                </a:prstGeom>
                <a:noFill/>
              </p:spPr>
              <p:txBody>
                <a:bodyPr wrap="none" rtlCol="0">
                  <a:spAutoFit/>
                </a:bodyPr>
                <a:lstStyle/>
                <a:p>
                  <a:r>
                    <a:rPr lang="en-ZA" sz="2400" dirty="0"/>
                    <a:t>correlation coefficient </a:t>
                  </a:r>
                  <a14:m>
                    <m:oMath xmlns:m="http://schemas.openxmlformats.org/officeDocument/2006/math">
                      <m:r>
                        <a:rPr lang="sr-Latn-RS" sz="2400" i="1">
                          <a:latin typeface="Cambria Math" panose="02040503050406030204" pitchFamily="18" charset="0"/>
                        </a:rPr>
                        <m:t>𝑆</m:t>
                      </m:r>
                      <m:r>
                        <a:rPr lang="sr-Latn-RS" sz="2400" b="0" i="1" smtClean="0">
                          <a:latin typeface="Cambria Math" panose="02040503050406030204" pitchFamily="18" charset="0"/>
                        </a:rPr>
                        <m:t>:</m:t>
                      </m:r>
                    </m:oMath>
                  </a14:m>
                  <a:endParaRPr lang="en-US" sz="2400" dirty="0"/>
                </a:p>
              </p:txBody>
            </p:sp>
          </mc:Choice>
          <mc:Fallback xmlns="">
            <p:sp>
              <p:nvSpPr>
                <p:cNvPr id="9" name="TextBox 8">
                  <a:extLst>
                    <a:ext uri="{FF2B5EF4-FFF2-40B4-BE49-F238E27FC236}">
                      <a16:creationId xmlns:a16="http://schemas.microsoft.com/office/drawing/2014/main" id="{9C340044-C5DA-F74A-A98C-C1947FE1363B}"/>
                    </a:ext>
                  </a:extLst>
                </p:cNvPr>
                <p:cNvSpPr txBox="1">
                  <a:spLocks noRot="1" noChangeAspect="1" noMove="1" noResize="1" noEditPoints="1" noAdjustHandles="1" noChangeArrowheads="1" noChangeShapeType="1" noTextEdit="1"/>
                </p:cNvSpPr>
                <p:nvPr/>
              </p:nvSpPr>
              <p:spPr>
                <a:xfrm>
                  <a:off x="2875437" y="5961546"/>
                  <a:ext cx="3252622" cy="461665"/>
                </a:xfrm>
                <a:prstGeom prst="rect">
                  <a:avLst/>
                </a:prstGeom>
                <a:blipFill>
                  <a:blip r:embed="rId6"/>
                  <a:stretch>
                    <a:fillRect l="-2713" t="-5263" b="-26316"/>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886510DC-63A5-574D-ABDF-679C626C8470}"/>
                </a:ext>
              </a:extLst>
            </p:cNvPr>
            <p:cNvCxnSpPr>
              <a:cxnSpLocks/>
            </p:cNvCxnSpPr>
            <p:nvPr/>
          </p:nvCxnSpPr>
          <p:spPr>
            <a:xfrm>
              <a:off x="6558641" y="6152072"/>
              <a:ext cx="42761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01FC3A8-956A-6549-9568-2B6D33DB5C2E}"/>
                </a:ext>
              </a:extLst>
            </p:cNvPr>
            <p:cNvCxnSpPr>
              <a:cxnSpLocks/>
            </p:cNvCxnSpPr>
            <p:nvPr/>
          </p:nvCxnSpPr>
          <p:spPr>
            <a:xfrm>
              <a:off x="6555695" y="6059306"/>
              <a:ext cx="0" cy="1789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ECC0823-B12C-7B4E-9F42-C5EB2349BD0C}"/>
                </a:ext>
              </a:extLst>
            </p:cNvPr>
            <p:cNvCxnSpPr>
              <a:cxnSpLocks/>
            </p:cNvCxnSpPr>
            <p:nvPr/>
          </p:nvCxnSpPr>
          <p:spPr>
            <a:xfrm>
              <a:off x="7891932" y="6059306"/>
              <a:ext cx="0" cy="1789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370BE64-EBF0-3543-A92E-E54D65227C1D}"/>
                </a:ext>
              </a:extLst>
            </p:cNvPr>
            <p:cNvCxnSpPr>
              <a:cxnSpLocks/>
            </p:cNvCxnSpPr>
            <p:nvPr/>
          </p:nvCxnSpPr>
          <p:spPr>
            <a:xfrm>
              <a:off x="9245101" y="6059306"/>
              <a:ext cx="0" cy="1789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5921FC1-C7E2-D848-A5B5-3C89460FB424}"/>
                </a:ext>
              </a:extLst>
            </p:cNvPr>
            <p:cNvCxnSpPr>
              <a:cxnSpLocks/>
            </p:cNvCxnSpPr>
            <p:nvPr/>
          </p:nvCxnSpPr>
          <p:spPr>
            <a:xfrm>
              <a:off x="10604620" y="6059306"/>
              <a:ext cx="0" cy="1789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16050D3-DEF8-234F-A7CA-DA06E7B14BA7}"/>
                </a:ext>
              </a:extLst>
            </p:cNvPr>
            <p:cNvCxnSpPr>
              <a:cxnSpLocks/>
            </p:cNvCxnSpPr>
            <p:nvPr/>
          </p:nvCxnSpPr>
          <p:spPr>
            <a:xfrm>
              <a:off x="10280770" y="6059306"/>
              <a:ext cx="0" cy="1789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DB31FDC-C6C7-2B47-AAD6-B66FFC1A3285}"/>
                    </a:ext>
                  </a:extLst>
                </p:cNvPr>
                <p:cNvSpPr txBox="1"/>
                <p:nvPr/>
              </p:nvSpPr>
              <p:spPr>
                <a:xfrm>
                  <a:off x="6344131" y="6238210"/>
                  <a:ext cx="4235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24" name="TextBox 23">
                  <a:extLst>
                    <a:ext uri="{FF2B5EF4-FFF2-40B4-BE49-F238E27FC236}">
                      <a16:creationId xmlns:a16="http://schemas.microsoft.com/office/drawing/2014/main" id="{AB40F0E1-B1EE-A740-BB09-16B0DF616D2E}"/>
                    </a:ext>
                  </a:extLst>
                </p:cNvPr>
                <p:cNvSpPr txBox="1">
                  <a:spLocks noRot="1" noChangeAspect="1" noMove="1" noResize="1" noEditPoints="1" noAdjustHandles="1" noChangeArrowheads="1" noChangeShapeType="1" noTextEdit="1"/>
                </p:cNvSpPr>
                <p:nvPr/>
              </p:nvSpPr>
              <p:spPr>
                <a:xfrm>
                  <a:off x="6344131" y="6238210"/>
                  <a:ext cx="423514"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75E2291-4189-6148-B118-24F19AD04B50}"/>
                    </a:ext>
                  </a:extLst>
                </p:cNvPr>
                <p:cNvSpPr txBox="1"/>
                <p:nvPr/>
              </p:nvSpPr>
              <p:spPr>
                <a:xfrm>
                  <a:off x="7680175" y="6238209"/>
                  <a:ext cx="4235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oMath>
                    </m:oMathPara>
                  </a14:m>
                  <a:endParaRPr lang="en-US" sz="2400" b="0" dirty="0"/>
                </a:p>
              </p:txBody>
            </p:sp>
          </mc:Choice>
          <mc:Fallback xmlns="">
            <p:sp>
              <p:nvSpPr>
                <p:cNvPr id="25" name="TextBox 24">
                  <a:extLst>
                    <a:ext uri="{FF2B5EF4-FFF2-40B4-BE49-F238E27FC236}">
                      <a16:creationId xmlns:a16="http://schemas.microsoft.com/office/drawing/2014/main" id="{1CAF70C6-640A-3546-8D3A-4CB0BA705E54}"/>
                    </a:ext>
                  </a:extLst>
                </p:cNvPr>
                <p:cNvSpPr txBox="1">
                  <a:spLocks noRot="1" noChangeAspect="1" noMove="1" noResize="1" noEditPoints="1" noAdjustHandles="1" noChangeArrowheads="1" noChangeShapeType="1" noTextEdit="1"/>
                </p:cNvSpPr>
                <p:nvPr/>
              </p:nvSpPr>
              <p:spPr>
                <a:xfrm>
                  <a:off x="7680175" y="6238209"/>
                  <a:ext cx="423514"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0AEF363-BF9D-E045-977B-A66E9357D07C}"/>
                    </a:ext>
                  </a:extLst>
                </p:cNvPr>
                <p:cNvSpPr txBox="1"/>
                <p:nvPr/>
              </p:nvSpPr>
              <p:spPr>
                <a:xfrm>
                  <a:off x="9043114" y="6238208"/>
                  <a:ext cx="42351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oMath>
                    </m:oMathPara>
                  </a14:m>
                  <a:endParaRPr lang="en-US" sz="2400" b="0" dirty="0"/>
                </a:p>
              </p:txBody>
            </p:sp>
          </mc:Choice>
          <mc:Fallback xmlns="">
            <p:sp>
              <p:nvSpPr>
                <p:cNvPr id="26" name="TextBox 25">
                  <a:extLst>
                    <a:ext uri="{FF2B5EF4-FFF2-40B4-BE49-F238E27FC236}">
                      <a16:creationId xmlns:a16="http://schemas.microsoft.com/office/drawing/2014/main" id="{5E824118-1508-4D44-8F01-CFEF8E42DB37}"/>
                    </a:ext>
                  </a:extLst>
                </p:cNvPr>
                <p:cNvSpPr txBox="1">
                  <a:spLocks noRot="1" noChangeAspect="1" noMove="1" noResize="1" noEditPoints="1" noAdjustHandles="1" noChangeArrowheads="1" noChangeShapeType="1" noTextEdit="1"/>
                </p:cNvSpPr>
                <p:nvPr/>
              </p:nvSpPr>
              <p:spPr>
                <a:xfrm>
                  <a:off x="9043114" y="6238208"/>
                  <a:ext cx="423514"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66361C6-479D-CE40-A247-E0B9767CF24C}"/>
                    </a:ext>
                  </a:extLst>
                </p:cNvPr>
                <p:cNvSpPr txBox="1"/>
                <p:nvPr/>
              </p:nvSpPr>
              <p:spPr>
                <a:xfrm>
                  <a:off x="9883000" y="6194670"/>
                  <a:ext cx="795539" cy="5052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2</m:t>
                            </m:r>
                          </m:e>
                        </m:rad>
                      </m:oMath>
                    </m:oMathPara>
                  </a14:m>
                  <a:endParaRPr lang="en-US" sz="2400" b="0" dirty="0"/>
                </a:p>
              </p:txBody>
            </p:sp>
          </mc:Choice>
          <mc:Fallback xmlns="">
            <p:sp>
              <p:nvSpPr>
                <p:cNvPr id="27" name="TextBox 26">
                  <a:extLst>
                    <a:ext uri="{FF2B5EF4-FFF2-40B4-BE49-F238E27FC236}">
                      <a16:creationId xmlns:a16="http://schemas.microsoft.com/office/drawing/2014/main" id="{FEA6F817-E119-F043-8BB5-0FED5746F442}"/>
                    </a:ext>
                  </a:extLst>
                </p:cNvPr>
                <p:cNvSpPr txBox="1">
                  <a:spLocks noRot="1" noChangeAspect="1" noMove="1" noResize="1" noEditPoints="1" noAdjustHandles="1" noChangeArrowheads="1" noChangeShapeType="1" noTextEdit="1"/>
                </p:cNvSpPr>
                <p:nvPr/>
              </p:nvSpPr>
              <p:spPr>
                <a:xfrm>
                  <a:off x="9883000" y="6194670"/>
                  <a:ext cx="795539" cy="505203"/>
                </a:xfrm>
                <a:prstGeom prst="rect">
                  <a:avLst/>
                </a:prstGeom>
                <a:blipFill>
                  <a:blip r:embed="rId10"/>
                  <a:stretch>
                    <a:fillRect/>
                  </a:stretch>
                </a:blipFill>
              </p:spPr>
              <p:txBody>
                <a:bodyPr/>
                <a:lstStyle/>
                <a:p>
                  <a:r>
                    <a:rPr lang="en-US">
                      <a:noFill/>
                    </a:rPr>
                    <a:t> </a:t>
                  </a:r>
                </a:p>
              </p:txBody>
            </p:sp>
          </mc:Fallback>
        </mc:AlternateContent>
        <p:sp>
          <p:nvSpPr>
            <p:cNvPr id="45" name="Right Brace 44">
              <a:extLst>
                <a:ext uri="{FF2B5EF4-FFF2-40B4-BE49-F238E27FC236}">
                  <a16:creationId xmlns:a16="http://schemas.microsoft.com/office/drawing/2014/main" id="{AACD04DD-A821-6D40-A327-9A52F463B565}"/>
                </a:ext>
              </a:extLst>
            </p:cNvPr>
            <p:cNvSpPr/>
            <p:nvPr/>
          </p:nvSpPr>
          <p:spPr>
            <a:xfrm rot="5400000" flipV="1">
              <a:off x="7733012" y="5535225"/>
              <a:ext cx="380745" cy="2662973"/>
            </a:xfrm>
            <a:prstGeom prst="rightBrace">
              <a:avLst>
                <a:gd name="adj1" fmla="val 3472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Right Brace 45">
              <a:extLst>
                <a:ext uri="{FF2B5EF4-FFF2-40B4-BE49-F238E27FC236}">
                  <a16:creationId xmlns:a16="http://schemas.microsoft.com/office/drawing/2014/main" id="{2F18B059-3766-0B46-A82F-69E1B337904C}"/>
                </a:ext>
              </a:extLst>
            </p:cNvPr>
            <p:cNvSpPr/>
            <p:nvPr/>
          </p:nvSpPr>
          <p:spPr>
            <a:xfrm rot="16200000">
              <a:off x="8154599" y="3802843"/>
              <a:ext cx="494383" cy="3736339"/>
            </a:xfrm>
            <a:prstGeom prst="rightBrace">
              <a:avLst>
                <a:gd name="adj1" fmla="val 3472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a:extLst>
                <a:ext uri="{FF2B5EF4-FFF2-40B4-BE49-F238E27FC236}">
                  <a16:creationId xmlns:a16="http://schemas.microsoft.com/office/drawing/2014/main" id="{FAF9498A-4F15-BC45-9CB8-4996C8D5CCF7}"/>
                </a:ext>
              </a:extLst>
            </p:cNvPr>
            <p:cNvSpPr txBox="1"/>
            <p:nvPr/>
          </p:nvSpPr>
          <p:spPr>
            <a:xfrm>
              <a:off x="6816607" y="7057084"/>
              <a:ext cx="2226507" cy="400110"/>
            </a:xfrm>
            <a:prstGeom prst="rect">
              <a:avLst/>
            </a:prstGeom>
            <a:noFill/>
          </p:spPr>
          <p:txBody>
            <a:bodyPr wrap="none" rtlCol="0">
              <a:spAutoFit/>
            </a:bodyPr>
            <a:lstStyle/>
            <a:p>
              <a:r>
                <a:rPr lang="en-US" sz="2000" dirty="0"/>
                <a:t>classical correlation</a:t>
              </a:r>
            </a:p>
          </p:txBody>
        </p:sp>
        <p:sp>
          <p:nvSpPr>
            <p:cNvPr id="48" name="TextBox 47">
              <a:extLst>
                <a:ext uri="{FF2B5EF4-FFF2-40B4-BE49-F238E27FC236}">
                  <a16:creationId xmlns:a16="http://schemas.microsoft.com/office/drawing/2014/main" id="{06ADEB29-0C1A-7F47-A04C-53BB149B2746}"/>
                </a:ext>
              </a:extLst>
            </p:cNvPr>
            <p:cNvSpPr txBox="1"/>
            <p:nvPr/>
          </p:nvSpPr>
          <p:spPr>
            <a:xfrm>
              <a:off x="6593377" y="5027977"/>
              <a:ext cx="3647602" cy="400110"/>
            </a:xfrm>
            <a:prstGeom prst="rect">
              <a:avLst/>
            </a:prstGeom>
            <a:noFill/>
          </p:spPr>
          <p:txBody>
            <a:bodyPr wrap="none" rtlCol="0">
              <a:spAutoFit/>
            </a:bodyPr>
            <a:lstStyle/>
            <a:p>
              <a:r>
                <a:rPr lang="en-US" sz="2000" dirty="0"/>
                <a:t>quantum-mechanical correlation</a:t>
              </a:r>
            </a:p>
          </p:txBody>
        </p:sp>
      </p:grpSp>
      <p:sp>
        <p:nvSpPr>
          <p:cNvPr id="49" name="Slide Number Placeholder 2">
            <a:extLst>
              <a:ext uri="{FF2B5EF4-FFF2-40B4-BE49-F238E27FC236}">
                <a16:creationId xmlns:a16="http://schemas.microsoft.com/office/drawing/2014/main" id="{379FD3D6-DF78-834D-92C5-CD6993B91653}"/>
              </a:ext>
            </a:extLst>
          </p:cNvPr>
          <p:cNvSpPr>
            <a:spLocks noGrp="1"/>
          </p:cNvSpPr>
          <p:nvPr>
            <p:ph type="sldNum" sz="quarter" idx="12"/>
          </p:nvPr>
        </p:nvSpPr>
        <p:spPr>
          <a:xfrm>
            <a:off x="13063" y="6481989"/>
            <a:ext cx="596538" cy="365125"/>
          </a:xfrm>
        </p:spPr>
        <p:txBody>
          <a:bodyPr/>
          <a:lstStyle/>
          <a:p>
            <a:fld id="{591A223C-FA10-BC46-A853-03BA373D023C}" type="slidenum">
              <a:rPr lang="en-US" smtClean="0"/>
              <a:t>19</a:t>
            </a:fld>
            <a:endParaRPr lang="en-US" dirty="0"/>
          </a:p>
        </p:txBody>
      </p:sp>
    </p:spTree>
    <p:extLst>
      <p:ext uri="{BB962C8B-B14F-4D97-AF65-F5344CB8AC3E}">
        <p14:creationId xmlns:p14="http://schemas.microsoft.com/office/powerpoint/2010/main" val="397367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B382C2-3867-8A4A-B44D-4EA81671C4C5}"/>
              </a:ext>
            </a:extLst>
          </p:cNvPr>
          <p:cNvSpPr>
            <a:spLocks noGrp="1"/>
          </p:cNvSpPr>
          <p:nvPr>
            <p:ph type="title"/>
          </p:nvPr>
        </p:nvSpPr>
        <p:spPr>
          <a:xfrm>
            <a:off x="0" y="0"/>
            <a:ext cx="12192000" cy="928688"/>
          </a:xfrm>
        </p:spPr>
        <p:txBody>
          <a:bodyPr/>
          <a:lstStyle/>
          <a:p>
            <a:r>
              <a:rPr lang="en-ZA" sz="3600" dirty="0"/>
              <a:t>CHSH Test: Verifying Entanglement</a:t>
            </a:r>
            <a:endParaRPr lang="en-US" sz="3600"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055E4B3-D5CB-D64F-BAFC-7CCE0E4CEF29}"/>
                  </a:ext>
                </a:extLst>
              </p:cNvPr>
              <p:cNvGraphicFramePr>
                <a:graphicFrameLocks noGrp="1"/>
              </p:cNvGraphicFramePr>
              <p:nvPr>
                <p:extLst>
                  <p:ext uri="{D42A27DB-BD31-4B8C-83A1-F6EECF244321}">
                    <p14:modId xmlns:p14="http://schemas.microsoft.com/office/powerpoint/2010/main" val="2716705921"/>
                  </p:ext>
                </p:extLst>
              </p:nvPr>
            </p:nvGraphicFramePr>
            <p:xfrm>
              <a:off x="2059109" y="1984017"/>
              <a:ext cx="1821544" cy="1371600"/>
            </p:xfrm>
            <a:graphic>
              <a:graphicData uri="http://schemas.openxmlformats.org/drawingml/2006/table">
                <a:tbl>
                  <a:tblPr firstRow="1" bandRow="1"/>
                  <a:tblGrid>
                    <a:gridCol w="910772">
                      <a:extLst>
                        <a:ext uri="{9D8B030D-6E8A-4147-A177-3AD203B41FA5}">
                          <a16:colId xmlns:a16="http://schemas.microsoft.com/office/drawing/2014/main" val="3340631436"/>
                        </a:ext>
                      </a:extLst>
                    </a:gridCol>
                    <a:gridCol w="910772">
                      <a:extLst>
                        <a:ext uri="{9D8B030D-6E8A-4147-A177-3AD203B41FA5}">
                          <a16:colId xmlns:a16="http://schemas.microsoft.com/office/drawing/2014/main" val="4112508307"/>
                        </a:ext>
                      </a:extLst>
                    </a:gridCol>
                  </a:tblGrid>
                  <a:tr h="370840">
                    <a:tc>
                      <a:txBody>
                        <a:bodyPr/>
                        <a:lstStyle/>
                        <a:p>
                          <a:pPr algn="ctr"/>
                          <a:r>
                            <a:rPr lang="en-US" sz="2400" b="0" dirty="0">
                              <a:latin typeface="+mj-lt"/>
                            </a:rPr>
                            <a:t>basis</a:t>
                          </a:r>
                        </a:p>
                      </a:txBody>
                      <a:tcPr>
                        <a:solidFill>
                          <a:schemeClr val="accent2">
                            <a:lumMod val="20000"/>
                            <a:lumOff val="80000"/>
                          </a:schemeClr>
                        </a:solidFill>
                      </a:tcPr>
                    </a:tc>
                    <a:tc>
                      <a:txBody>
                        <a:bodyPr/>
                        <a:lstStyle/>
                        <a:p>
                          <a:pPr algn="ctr"/>
                          <a:r>
                            <a:rPr lang="en-US" sz="2400" b="0" dirty="0">
                              <a:latin typeface="+mj-lt"/>
                            </a:rPr>
                            <a:t>result</a:t>
                          </a:r>
                        </a:p>
                      </a:txBody>
                      <a:tcPr/>
                    </a:tc>
                    <a:extLst>
                      <a:ext uri="{0D108BD9-81ED-4DB2-BD59-A6C34878D82A}">
                        <a16:rowId xmlns:a16="http://schemas.microsoft.com/office/drawing/2014/main" val="49372916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smtClean="0">
                                        <a:latin typeface="Cambria Math" panose="02040503050406030204" pitchFamily="18" charset="0"/>
                                      </a:rPr>
                                      <m:t>𝑖</m:t>
                                    </m:r>
                                  </m:e>
                                  <m:sub>
                                    <m:r>
                                      <a:rPr lang="en-US" sz="2400">
                                        <a:latin typeface="Cambria Math" panose="02040503050406030204" pitchFamily="18" charset="0"/>
                                      </a:rPr>
                                      <m:t>0</m:t>
                                    </m:r>
                                  </m:sub>
                                </m:sSub>
                              </m:oMath>
                            </m:oMathPara>
                          </a14:m>
                          <a:endParaRPr lang="en-US" sz="2400" b="0"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smtClean="0">
                                        <a:latin typeface="Cambria Math" panose="02040503050406030204" pitchFamily="18" charset="0"/>
                                      </a:rPr>
                                      <m:t>𝑎</m:t>
                                    </m:r>
                                  </m:e>
                                  <m:sub>
                                    <m:r>
                                      <a:rPr lang="sr-Latn-RS" sz="2400" smtClean="0">
                                        <a:latin typeface="Cambria Math" panose="02040503050406030204" pitchFamily="18" charset="0"/>
                                      </a:rPr>
                                      <m:t>0</m:t>
                                    </m:r>
                                  </m:sub>
                                </m:sSub>
                              </m:oMath>
                            </m:oMathPara>
                          </a14:m>
                          <a:endParaRPr lang="en-US" sz="2400" b="0" dirty="0"/>
                        </a:p>
                      </a:txBody>
                      <a:tcPr/>
                    </a:tc>
                    <a:extLst>
                      <a:ext uri="{0D108BD9-81ED-4DB2-BD59-A6C34878D82A}">
                        <a16:rowId xmlns:a16="http://schemas.microsoft.com/office/drawing/2014/main" val="23384597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smtClean="0">
                                        <a:latin typeface="Cambria Math" panose="02040503050406030204" pitchFamily="18" charset="0"/>
                                      </a:rPr>
                                      <m:t>𝑖</m:t>
                                    </m:r>
                                  </m:e>
                                  <m:sub>
                                    <m:r>
                                      <a:rPr lang="sr-Latn-RS" sz="2400" smtClean="0">
                                        <a:latin typeface="Cambria Math" panose="02040503050406030204" pitchFamily="18" charset="0"/>
                                      </a:rPr>
                                      <m:t>1</m:t>
                                    </m:r>
                                  </m:sub>
                                </m:sSub>
                              </m:oMath>
                            </m:oMathPara>
                          </a14:m>
                          <a:endParaRPr lang="en-US" sz="2400" b="0"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smtClean="0">
                                        <a:latin typeface="Cambria Math" panose="02040503050406030204" pitchFamily="18" charset="0"/>
                                      </a:rPr>
                                      <m:t>𝑎</m:t>
                                    </m:r>
                                  </m:e>
                                  <m:sub>
                                    <m:r>
                                      <a:rPr lang="sr-Latn-RS" sz="2400" smtClean="0">
                                        <a:latin typeface="Cambria Math" panose="02040503050406030204" pitchFamily="18" charset="0"/>
                                      </a:rPr>
                                      <m:t>1</m:t>
                                    </m:r>
                                  </m:sub>
                                </m:sSub>
                              </m:oMath>
                            </m:oMathPara>
                          </a14:m>
                          <a:endParaRPr lang="en-US" sz="2400" b="0" dirty="0"/>
                        </a:p>
                      </a:txBody>
                      <a:tcPr/>
                    </a:tc>
                    <a:extLst>
                      <a:ext uri="{0D108BD9-81ED-4DB2-BD59-A6C34878D82A}">
                        <a16:rowId xmlns:a16="http://schemas.microsoft.com/office/drawing/2014/main" val="3680183477"/>
                      </a:ext>
                    </a:extLst>
                  </a:tr>
                </a:tbl>
              </a:graphicData>
            </a:graphic>
          </p:graphicFrame>
        </mc:Choice>
        <mc:Fallback xmlns="">
          <p:graphicFrame>
            <p:nvGraphicFramePr>
              <p:cNvPr id="2" name="Table 1">
                <a:extLst>
                  <a:ext uri="{FF2B5EF4-FFF2-40B4-BE49-F238E27FC236}">
                    <a16:creationId xmlns:a16="http://schemas.microsoft.com/office/drawing/2014/main" id="{2055E4B3-D5CB-D64F-BAFC-7CCE0E4CEF29}"/>
                  </a:ext>
                </a:extLst>
              </p:cNvPr>
              <p:cNvGraphicFramePr>
                <a:graphicFrameLocks noGrp="1"/>
              </p:cNvGraphicFramePr>
              <p:nvPr>
                <p:extLst>
                  <p:ext uri="{D42A27DB-BD31-4B8C-83A1-F6EECF244321}">
                    <p14:modId xmlns:p14="http://schemas.microsoft.com/office/powerpoint/2010/main" val="2716705921"/>
                  </p:ext>
                </p:extLst>
              </p:nvPr>
            </p:nvGraphicFramePr>
            <p:xfrm>
              <a:off x="2059109" y="1984017"/>
              <a:ext cx="1821544" cy="1371600"/>
            </p:xfrm>
            <a:graphic>
              <a:graphicData uri="http://schemas.openxmlformats.org/drawingml/2006/table">
                <a:tbl>
                  <a:tblPr firstRow="1" bandRow="1"/>
                  <a:tblGrid>
                    <a:gridCol w="910772">
                      <a:extLst>
                        <a:ext uri="{9D8B030D-6E8A-4147-A177-3AD203B41FA5}">
                          <a16:colId xmlns:a16="http://schemas.microsoft.com/office/drawing/2014/main" val="3340631436"/>
                        </a:ext>
                      </a:extLst>
                    </a:gridCol>
                    <a:gridCol w="910772">
                      <a:extLst>
                        <a:ext uri="{9D8B030D-6E8A-4147-A177-3AD203B41FA5}">
                          <a16:colId xmlns:a16="http://schemas.microsoft.com/office/drawing/2014/main" val="4112508307"/>
                        </a:ext>
                      </a:extLst>
                    </a:gridCol>
                  </a:tblGrid>
                  <a:tr h="457200">
                    <a:tc>
                      <a:txBody>
                        <a:bodyPr/>
                        <a:lstStyle/>
                        <a:p>
                          <a:pPr algn="ctr"/>
                          <a:r>
                            <a:rPr lang="en-US" sz="2400" b="0" dirty="0">
                              <a:latin typeface="+mj-lt"/>
                            </a:rPr>
                            <a:t>basis</a:t>
                          </a:r>
                        </a:p>
                      </a:txBody>
                      <a:tcPr>
                        <a:solidFill>
                          <a:schemeClr val="accent2">
                            <a:lumMod val="20000"/>
                            <a:lumOff val="80000"/>
                          </a:schemeClr>
                        </a:solidFill>
                      </a:tcPr>
                    </a:tc>
                    <a:tc>
                      <a:txBody>
                        <a:bodyPr/>
                        <a:lstStyle/>
                        <a:p>
                          <a:pPr algn="ctr"/>
                          <a:r>
                            <a:rPr lang="en-US" sz="2400" b="0" dirty="0">
                              <a:latin typeface="+mj-lt"/>
                            </a:rPr>
                            <a:t>result</a:t>
                          </a:r>
                        </a:p>
                      </a:txBody>
                      <a:tcPr/>
                    </a:tc>
                    <a:extLst>
                      <a:ext uri="{0D108BD9-81ED-4DB2-BD59-A6C34878D82A}">
                        <a16:rowId xmlns:a16="http://schemas.microsoft.com/office/drawing/2014/main" val="493729161"/>
                      </a:ext>
                    </a:extLst>
                  </a:tr>
                  <a:tr h="457200">
                    <a:tc>
                      <a:txBody>
                        <a:bodyPr/>
                        <a:lstStyle/>
                        <a:p>
                          <a:endParaRPr lang="en-US"/>
                        </a:p>
                      </a:txBody>
                      <a:tcPr>
                        <a:blipFill>
                          <a:blip r:embed="rId3"/>
                          <a:stretch>
                            <a:fillRect l="-1389" t="-108108" r="-100000" b="-97297"/>
                          </a:stretch>
                        </a:blipFill>
                      </a:tcPr>
                    </a:tc>
                    <a:tc>
                      <a:txBody>
                        <a:bodyPr/>
                        <a:lstStyle/>
                        <a:p>
                          <a:endParaRPr lang="en-US"/>
                        </a:p>
                      </a:txBody>
                      <a:tcPr>
                        <a:blipFill>
                          <a:blip r:embed="rId3"/>
                          <a:stretch>
                            <a:fillRect l="-101389" t="-108108" b="-97297"/>
                          </a:stretch>
                        </a:blipFill>
                      </a:tcPr>
                    </a:tc>
                    <a:extLst>
                      <a:ext uri="{0D108BD9-81ED-4DB2-BD59-A6C34878D82A}">
                        <a16:rowId xmlns:a16="http://schemas.microsoft.com/office/drawing/2014/main" val="233845972"/>
                      </a:ext>
                    </a:extLst>
                  </a:tr>
                  <a:tr h="457200">
                    <a:tc>
                      <a:txBody>
                        <a:bodyPr/>
                        <a:lstStyle/>
                        <a:p>
                          <a:endParaRPr lang="en-US"/>
                        </a:p>
                      </a:txBody>
                      <a:tcPr>
                        <a:blipFill>
                          <a:blip r:embed="rId3"/>
                          <a:stretch>
                            <a:fillRect l="-1389" t="-213889" r="-100000"/>
                          </a:stretch>
                        </a:blipFill>
                      </a:tcPr>
                    </a:tc>
                    <a:tc>
                      <a:txBody>
                        <a:bodyPr/>
                        <a:lstStyle/>
                        <a:p>
                          <a:endParaRPr lang="en-US"/>
                        </a:p>
                      </a:txBody>
                      <a:tcPr>
                        <a:blipFill>
                          <a:blip r:embed="rId3"/>
                          <a:stretch>
                            <a:fillRect l="-101389" t="-213889"/>
                          </a:stretch>
                        </a:blipFill>
                      </a:tcPr>
                    </a:tc>
                    <a:extLst>
                      <a:ext uri="{0D108BD9-81ED-4DB2-BD59-A6C34878D82A}">
                        <a16:rowId xmlns:a16="http://schemas.microsoft.com/office/drawing/2014/main" val="368018347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7B774C05-A573-F845-94FC-9C8D736C7270}"/>
                  </a:ext>
                </a:extLst>
              </p:cNvPr>
              <p:cNvGraphicFramePr>
                <a:graphicFrameLocks noGrp="1"/>
              </p:cNvGraphicFramePr>
              <p:nvPr>
                <p:extLst>
                  <p:ext uri="{D42A27DB-BD31-4B8C-83A1-F6EECF244321}">
                    <p14:modId xmlns:p14="http://schemas.microsoft.com/office/powerpoint/2010/main" val="3339389749"/>
                  </p:ext>
                </p:extLst>
              </p:nvPr>
            </p:nvGraphicFramePr>
            <p:xfrm>
              <a:off x="8224122" y="1984017"/>
              <a:ext cx="1821544" cy="1371600"/>
            </p:xfrm>
            <a:graphic>
              <a:graphicData uri="http://schemas.openxmlformats.org/drawingml/2006/table">
                <a:tbl>
                  <a:tblPr firstRow="1" bandRow="1"/>
                  <a:tblGrid>
                    <a:gridCol w="910772">
                      <a:extLst>
                        <a:ext uri="{9D8B030D-6E8A-4147-A177-3AD203B41FA5}">
                          <a16:colId xmlns:a16="http://schemas.microsoft.com/office/drawing/2014/main" val="3340631436"/>
                        </a:ext>
                      </a:extLst>
                    </a:gridCol>
                    <a:gridCol w="910772">
                      <a:extLst>
                        <a:ext uri="{9D8B030D-6E8A-4147-A177-3AD203B41FA5}">
                          <a16:colId xmlns:a16="http://schemas.microsoft.com/office/drawing/2014/main" val="4112508307"/>
                        </a:ext>
                      </a:extLst>
                    </a:gridCol>
                  </a:tblGrid>
                  <a:tr h="370840">
                    <a:tc>
                      <a:txBody>
                        <a:bodyPr/>
                        <a:lstStyle/>
                        <a:p>
                          <a:r>
                            <a:rPr lang="en-US" sz="2400" b="0" i="0" dirty="0">
                              <a:latin typeface="+mj-lt"/>
                            </a:rPr>
                            <a:t>basis</a:t>
                          </a:r>
                        </a:p>
                      </a:txBody>
                      <a:tcPr>
                        <a:solidFill>
                          <a:schemeClr val="accent5">
                            <a:lumMod val="20000"/>
                            <a:lumOff val="80000"/>
                          </a:schemeClr>
                        </a:solidFill>
                      </a:tcPr>
                    </a:tc>
                    <a:tc>
                      <a:txBody>
                        <a:bodyPr/>
                        <a:lstStyle/>
                        <a:p>
                          <a:r>
                            <a:rPr lang="en-US" sz="2400" b="0" i="0" dirty="0">
                              <a:latin typeface="+mj-lt"/>
                            </a:rPr>
                            <a:t>result</a:t>
                          </a:r>
                        </a:p>
                      </a:txBody>
                      <a:tcPr/>
                    </a:tc>
                    <a:extLst>
                      <a:ext uri="{0D108BD9-81ED-4DB2-BD59-A6C34878D82A}">
                        <a16:rowId xmlns:a16="http://schemas.microsoft.com/office/drawing/2014/main" val="20145463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sr-Latn-RS" sz="2400" b="0" i="1" smtClean="0">
                                        <a:latin typeface="Cambria Math" panose="02040503050406030204" pitchFamily="18" charset="0"/>
                                      </a:rPr>
                                      <m:t>𝑗</m:t>
                                    </m:r>
                                  </m:e>
                                  <m:sub>
                                    <m:r>
                                      <a:rPr lang="en-US" sz="2400" b="0" i="1">
                                        <a:latin typeface="Cambria Math" panose="02040503050406030204" pitchFamily="18" charset="0"/>
                                      </a:rPr>
                                      <m:t>0</m:t>
                                    </m:r>
                                  </m:sub>
                                </m:sSub>
                              </m:oMath>
                            </m:oMathPara>
                          </a14:m>
                          <a:endParaRPr lang="en-US" sz="2400" b="0" i="1" dirty="0"/>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sr-Latn-RS" sz="2400" b="0" i="1" smtClean="0">
                                        <a:latin typeface="Cambria Math" panose="02040503050406030204" pitchFamily="18" charset="0"/>
                                      </a:rPr>
                                      <m:t>𝑏</m:t>
                                    </m:r>
                                  </m:e>
                                  <m:sub>
                                    <m:r>
                                      <a:rPr lang="sr-Latn-RS" sz="2400" b="0" i="1" smtClean="0">
                                        <a:latin typeface="Cambria Math" panose="02040503050406030204" pitchFamily="18" charset="0"/>
                                      </a:rPr>
                                      <m:t>0</m:t>
                                    </m:r>
                                  </m:sub>
                                </m:sSub>
                              </m:oMath>
                            </m:oMathPara>
                          </a14:m>
                          <a:endParaRPr lang="en-US" sz="2400" b="0" i="1" dirty="0"/>
                        </a:p>
                      </a:txBody>
                      <a:tcPr/>
                    </a:tc>
                    <a:extLst>
                      <a:ext uri="{0D108BD9-81ED-4DB2-BD59-A6C34878D82A}">
                        <a16:rowId xmlns:a16="http://schemas.microsoft.com/office/drawing/2014/main" val="23384597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sr-Latn-RS" sz="2400" b="0" i="1" smtClean="0">
                                        <a:latin typeface="Cambria Math" panose="02040503050406030204" pitchFamily="18" charset="0"/>
                                      </a:rPr>
                                      <m:t>𝑗</m:t>
                                    </m:r>
                                  </m:e>
                                  <m:sub>
                                    <m:r>
                                      <a:rPr lang="sr-Latn-RS" sz="2400" b="0" i="1" smtClean="0">
                                        <a:latin typeface="Cambria Math" panose="02040503050406030204" pitchFamily="18" charset="0"/>
                                      </a:rPr>
                                      <m:t>1</m:t>
                                    </m:r>
                                  </m:sub>
                                </m:sSub>
                              </m:oMath>
                            </m:oMathPara>
                          </a14:m>
                          <a:endParaRPr lang="en-US" sz="2400" b="0" i="1" dirty="0"/>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sr-Latn-RS" sz="2400" b="0" i="1" smtClean="0">
                                        <a:latin typeface="Cambria Math" panose="02040503050406030204" pitchFamily="18" charset="0"/>
                                      </a:rPr>
                                      <m:t>𝑏</m:t>
                                    </m:r>
                                  </m:e>
                                  <m:sub>
                                    <m:r>
                                      <a:rPr lang="sr-Latn-RS" sz="2400" b="0" i="1" smtClean="0">
                                        <a:latin typeface="Cambria Math" panose="02040503050406030204" pitchFamily="18" charset="0"/>
                                      </a:rPr>
                                      <m:t>1</m:t>
                                    </m:r>
                                  </m:sub>
                                </m:sSub>
                              </m:oMath>
                            </m:oMathPara>
                          </a14:m>
                          <a:endParaRPr lang="en-US" sz="2400" b="0" i="1" dirty="0"/>
                        </a:p>
                      </a:txBody>
                      <a:tcPr/>
                    </a:tc>
                    <a:extLst>
                      <a:ext uri="{0D108BD9-81ED-4DB2-BD59-A6C34878D82A}">
                        <a16:rowId xmlns:a16="http://schemas.microsoft.com/office/drawing/2014/main" val="3680183477"/>
                      </a:ext>
                    </a:extLst>
                  </a:tr>
                </a:tbl>
              </a:graphicData>
            </a:graphic>
          </p:graphicFrame>
        </mc:Choice>
        <mc:Fallback xmlns="">
          <p:graphicFrame>
            <p:nvGraphicFramePr>
              <p:cNvPr id="12" name="Table 11">
                <a:extLst>
                  <a:ext uri="{FF2B5EF4-FFF2-40B4-BE49-F238E27FC236}">
                    <a16:creationId xmlns:a16="http://schemas.microsoft.com/office/drawing/2014/main" id="{7B774C05-A573-F845-94FC-9C8D736C7270}"/>
                  </a:ext>
                </a:extLst>
              </p:cNvPr>
              <p:cNvGraphicFramePr>
                <a:graphicFrameLocks noGrp="1"/>
              </p:cNvGraphicFramePr>
              <p:nvPr>
                <p:extLst>
                  <p:ext uri="{D42A27DB-BD31-4B8C-83A1-F6EECF244321}">
                    <p14:modId xmlns:p14="http://schemas.microsoft.com/office/powerpoint/2010/main" val="3339389749"/>
                  </p:ext>
                </p:extLst>
              </p:nvPr>
            </p:nvGraphicFramePr>
            <p:xfrm>
              <a:off x="8224122" y="1984017"/>
              <a:ext cx="1821544" cy="1371600"/>
            </p:xfrm>
            <a:graphic>
              <a:graphicData uri="http://schemas.openxmlformats.org/drawingml/2006/table">
                <a:tbl>
                  <a:tblPr firstRow="1" bandRow="1"/>
                  <a:tblGrid>
                    <a:gridCol w="910772">
                      <a:extLst>
                        <a:ext uri="{9D8B030D-6E8A-4147-A177-3AD203B41FA5}">
                          <a16:colId xmlns:a16="http://schemas.microsoft.com/office/drawing/2014/main" val="3340631436"/>
                        </a:ext>
                      </a:extLst>
                    </a:gridCol>
                    <a:gridCol w="910772">
                      <a:extLst>
                        <a:ext uri="{9D8B030D-6E8A-4147-A177-3AD203B41FA5}">
                          <a16:colId xmlns:a16="http://schemas.microsoft.com/office/drawing/2014/main" val="4112508307"/>
                        </a:ext>
                      </a:extLst>
                    </a:gridCol>
                  </a:tblGrid>
                  <a:tr h="457200">
                    <a:tc>
                      <a:txBody>
                        <a:bodyPr/>
                        <a:lstStyle/>
                        <a:p>
                          <a:pPr/>
                          <a:r>
                            <a:rPr lang="en-US" sz="2400" b="0" i="0" dirty="0">
                              <a:latin typeface="+mj-lt"/>
                            </a:rPr>
                            <a:t>basis</a:t>
                          </a:r>
                        </a:p>
                      </a:txBody>
                      <a:tcPr>
                        <a:solidFill>
                          <a:schemeClr val="accent5">
                            <a:lumMod val="20000"/>
                            <a:lumOff val="80000"/>
                          </a:schemeClr>
                        </a:solidFill>
                      </a:tcPr>
                    </a:tc>
                    <a:tc>
                      <a:txBody>
                        <a:bodyPr/>
                        <a:lstStyle/>
                        <a:p>
                          <a:pPr/>
                          <a:r>
                            <a:rPr lang="en-US" sz="2400" b="0" i="0" dirty="0">
                              <a:latin typeface="+mj-lt"/>
                            </a:rPr>
                            <a:t>result</a:t>
                          </a:r>
                        </a:p>
                      </a:txBody>
                      <a:tcPr/>
                    </a:tc>
                    <a:extLst>
                      <a:ext uri="{0D108BD9-81ED-4DB2-BD59-A6C34878D82A}">
                        <a16:rowId xmlns:a16="http://schemas.microsoft.com/office/drawing/2014/main" val="201454638"/>
                      </a:ext>
                    </a:extLst>
                  </a:tr>
                  <a:tr h="457200">
                    <a:tc>
                      <a:txBody>
                        <a:bodyPr/>
                        <a:lstStyle/>
                        <a:p>
                          <a:endParaRPr lang="en-US"/>
                        </a:p>
                      </a:txBody>
                      <a:tcPr>
                        <a:blipFill>
                          <a:blip r:embed="rId4"/>
                          <a:stretch>
                            <a:fillRect t="-108108" r="-101389" b="-110811"/>
                          </a:stretch>
                        </a:blipFill>
                      </a:tcPr>
                    </a:tc>
                    <a:tc>
                      <a:txBody>
                        <a:bodyPr/>
                        <a:lstStyle/>
                        <a:p>
                          <a:endParaRPr lang="en-US"/>
                        </a:p>
                      </a:txBody>
                      <a:tcPr>
                        <a:blipFill>
                          <a:blip r:embed="rId4"/>
                          <a:stretch>
                            <a:fillRect l="-100000" t="-108108" r="-1389" b="-110811"/>
                          </a:stretch>
                        </a:blipFill>
                      </a:tcPr>
                    </a:tc>
                    <a:extLst>
                      <a:ext uri="{0D108BD9-81ED-4DB2-BD59-A6C34878D82A}">
                        <a16:rowId xmlns:a16="http://schemas.microsoft.com/office/drawing/2014/main" val="233845972"/>
                      </a:ext>
                    </a:extLst>
                  </a:tr>
                  <a:tr h="457200">
                    <a:tc>
                      <a:txBody>
                        <a:bodyPr/>
                        <a:lstStyle/>
                        <a:p>
                          <a:endParaRPr lang="en-US"/>
                        </a:p>
                      </a:txBody>
                      <a:tcPr>
                        <a:blipFill>
                          <a:blip r:embed="rId4"/>
                          <a:stretch>
                            <a:fillRect t="-213889" r="-101389" b="-13889"/>
                          </a:stretch>
                        </a:blipFill>
                      </a:tcPr>
                    </a:tc>
                    <a:tc>
                      <a:txBody>
                        <a:bodyPr/>
                        <a:lstStyle/>
                        <a:p>
                          <a:endParaRPr lang="en-US"/>
                        </a:p>
                      </a:txBody>
                      <a:tcPr>
                        <a:blipFill>
                          <a:blip r:embed="rId4"/>
                          <a:stretch>
                            <a:fillRect l="-100000" t="-213889" r="-1389" b="-13889"/>
                          </a:stretch>
                        </a:blipFill>
                      </a:tcPr>
                    </a:tc>
                    <a:extLst>
                      <a:ext uri="{0D108BD9-81ED-4DB2-BD59-A6C34878D82A}">
                        <a16:rowId xmlns:a16="http://schemas.microsoft.com/office/drawing/2014/main" val="3680183477"/>
                      </a:ext>
                    </a:extLst>
                  </a:tr>
                </a:tbl>
              </a:graphicData>
            </a:graphic>
          </p:graphicFrame>
        </mc:Fallback>
      </mc:AlternateContent>
      <p:pic>
        <p:nvPicPr>
          <p:cNvPr id="3" name="Picture 2">
            <a:extLst>
              <a:ext uri="{FF2B5EF4-FFF2-40B4-BE49-F238E27FC236}">
                <a16:creationId xmlns:a16="http://schemas.microsoft.com/office/drawing/2014/main" id="{ACC096BE-1928-2445-8A55-BBB79AF8CEE1}"/>
              </a:ext>
            </a:extLst>
          </p:cNvPr>
          <p:cNvPicPr>
            <a:picLocks noChangeAspect="1"/>
          </p:cNvPicPr>
          <p:nvPr/>
        </p:nvPicPr>
        <p:blipFill>
          <a:blip r:embed="rId5"/>
          <a:stretch>
            <a:fillRect/>
          </a:stretch>
        </p:blipFill>
        <p:spPr>
          <a:xfrm>
            <a:off x="5183063" y="1175874"/>
            <a:ext cx="1809750" cy="1750088"/>
          </a:xfrm>
          <a:prstGeom prst="rect">
            <a:avLst/>
          </a:prstGeom>
        </p:spPr>
      </p:pic>
      <p:pic>
        <p:nvPicPr>
          <p:cNvPr id="6" name="Picture 5">
            <a:extLst>
              <a:ext uri="{FF2B5EF4-FFF2-40B4-BE49-F238E27FC236}">
                <a16:creationId xmlns:a16="http://schemas.microsoft.com/office/drawing/2014/main" id="{6E0D14CC-9CEC-324B-9ED5-28D590838DC4}"/>
              </a:ext>
            </a:extLst>
          </p:cNvPr>
          <p:cNvPicPr>
            <a:picLocks noChangeAspect="1"/>
          </p:cNvPicPr>
          <p:nvPr/>
        </p:nvPicPr>
        <p:blipFill>
          <a:blip r:embed="rId6"/>
          <a:stretch>
            <a:fillRect/>
          </a:stretch>
        </p:blipFill>
        <p:spPr>
          <a:xfrm>
            <a:off x="5645960" y="3686701"/>
            <a:ext cx="977900" cy="1155700"/>
          </a:xfrm>
          <a:prstGeom prst="rect">
            <a:avLst/>
          </a:prstGeom>
        </p:spPr>
      </p:pic>
      <p:cxnSp>
        <p:nvCxnSpPr>
          <p:cNvPr id="13" name="Straight Arrow Connector 12">
            <a:extLst>
              <a:ext uri="{FF2B5EF4-FFF2-40B4-BE49-F238E27FC236}">
                <a16:creationId xmlns:a16="http://schemas.microsoft.com/office/drawing/2014/main" id="{72A0C567-09D9-824D-86CF-35F4A3154851}"/>
              </a:ext>
            </a:extLst>
          </p:cNvPr>
          <p:cNvCxnSpPr>
            <a:cxnSpLocks/>
          </p:cNvCxnSpPr>
          <p:nvPr/>
        </p:nvCxnSpPr>
        <p:spPr>
          <a:xfrm flipV="1">
            <a:off x="6370645" y="2422019"/>
            <a:ext cx="1214084" cy="1206780"/>
          </a:xfrm>
          <a:prstGeom prst="straightConnector1">
            <a:avLst/>
          </a:prstGeom>
          <a:ln w="25400">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5DC3915-606A-0648-A6CE-A4DBA0A40BD4}"/>
              </a:ext>
            </a:extLst>
          </p:cNvPr>
          <p:cNvSpPr/>
          <p:nvPr/>
        </p:nvSpPr>
        <p:spPr>
          <a:xfrm rot="3280477">
            <a:off x="4007882" y="1971116"/>
            <a:ext cx="360000" cy="360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5D029EC-0807-7B40-9084-56E8328B14AD}"/>
              </a:ext>
            </a:extLst>
          </p:cNvPr>
          <p:cNvSpPr/>
          <p:nvPr/>
        </p:nvSpPr>
        <p:spPr>
          <a:xfrm rot="3280477">
            <a:off x="7566765" y="1933179"/>
            <a:ext cx="360000" cy="360000"/>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B7455510-14DD-DE43-83C7-3F4B55B04D5E}"/>
              </a:ext>
            </a:extLst>
          </p:cNvPr>
          <p:cNvCxnSpPr>
            <a:cxnSpLocks/>
          </p:cNvCxnSpPr>
          <p:nvPr/>
        </p:nvCxnSpPr>
        <p:spPr>
          <a:xfrm flipH="1" flipV="1">
            <a:off x="4591147" y="2422019"/>
            <a:ext cx="1214084" cy="1206780"/>
          </a:xfrm>
          <a:prstGeom prst="straightConnector1">
            <a:avLst/>
          </a:prstGeom>
          <a:ln w="25400">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4759869E-00DC-7040-95E8-F1AC0AF857AD}"/>
                  </a:ext>
                </a:extLst>
              </p:cNvPr>
              <p:cNvSpPr/>
              <p:nvPr/>
            </p:nvSpPr>
            <p:spPr>
              <a:xfrm>
                <a:off x="3987078" y="5336961"/>
                <a:ext cx="4277709" cy="5161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sr-Latn-RS" sz="2400" i="1" smtClean="0">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sr-Latn-RS" sz="2400" b="0" i="1" smtClean="0">
                                  <a:latin typeface="Cambria Math" panose="02040503050406030204" pitchFamily="18" charset="0"/>
                                </a:rPr>
                                <m:t>𝑖</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sr-Latn-RS" sz="2400" b="0" i="1" smtClean="0">
                                  <a:latin typeface="Cambria Math" panose="02040503050406030204" pitchFamily="18" charset="0"/>
                                </a:rPr>
                                <m:t>𝑗</m:t>
                              </m:r>
                            </m:sub>
                          </m:sSub>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𝑝</m:t>
                          </m:r>
                        </m:e>
                        <m:sub>
                          <m:r>
                            <a:rPr lang="en-US" sz="2400">
                              <a:latin typeface="Cambria Math" panose="02040503050406030204" pitchFamily="18" charset="0"/>
                            </a:rPr>
                            <m:t>00</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𝑝</m:t>
                          </m:r>
                        </m:e>
                        <m:sub>
                          <m:r>
                            <a:rPr lang="en-US" sz="2400">
                              <a:latin typeface="Cambria Math" panose="02040503050406030204" pitchFamily="18" charset="0"/>
                            </a:rPr>
                            <m:t>01</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𝑝</m:t>
                          </m:r>
                        </m:e>
                        <m:sub>
                          <m:r>
                            <a:rPr lang="en-US" sz="2400">
                              <a:latin typeface="Cambria Math" panose="02040503050406030204" pitchFamily="18" charset="0"/>
                            </a:rPr>
                            <m:t>10</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𝑝</m:t>
                          </m:r>
                        </m:e>
                        <m:sub>
                          <m:r>
                            <a:rPr lang="en-US" sz="2400">
                              <a:latin typeface="Cambria Math" panose="02040503050406030204" pitchFamily="18" charset="0"/>
                            </a:rPr>
                            <m:t>11</m:t>
                          </m:r>
                        </m:sub>
                      </m:sSub>
                    </m:oMath>
                  </m:oMathPara>
                </a14:m>
                <a:endParaRPr lang="en-ZA" sz="2400" dirty="0"/>
              </a:p>
            </p:txBody>
          </p:sp>
        </mc:Choice>
        <mc:Fallback>
          <p:sp>
            <p:nvSpPr>
              <p:cNvPr id="14" name="Rectangle 13">
                <a:extLst>
                  <a:ext uri="{FF2B5EF4-FFF2-40B4-BE49-F238E27FC236}">
                    <a16:creationId xmlns:a16="http://schemas.microsoft.com/office/drawing/2014/main" id="{4759869E-00DC-7040-95E8-F1AC0AF857AD}"/>
                  </a:ext>
                </a:extLst>
              </p:cNvPr>
              <p:cNvSpPr>
                <a:spLocks noRot="1" noChangeAspect="1" noMove="1" noResize="1" noEditPoints="1" noAdjustHandles="1" noChangeArrowheads="1" noChangeShapeType="1" noTextEdit="1"/>
              </p:cNvSpPr>
              <p:nvPr/>
            </p:nvSpPr>
            <p:spPr>
              <a:xfrm>
                <a:off x="3987078" y="5336961"/>
                <a:ext cx="4277709" cy="516103"/>
              </a:xfrm>
              <a:prstGeom prst="rect">
                <a:avLst/>
              </a:prstGeom>
              <a:blipFill>
                <a:blip r:embed="rId7"/>
                <a:stretch>
                  <a:fillRect b="-1219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Rectangle 26">
                <a:extLst>
                  <a:ext uri="{FF2B5EF4-FFF2-40B4-BE49-F238E27FC236}">
                    <a16:creationId xmlns:a16="http://schemas.microsoft.com/office/drawing/2014/main" id="{D72949F9-7AAE-8C41-BB79-1A2A971FF204}"/>
                  </a:ext>
                </a:extLst>
              </p:cNvPr>
              <p:cNvSpPr/>
              <p:nvPr/>
            </p:nvSpPr>
            <p:spPr>
              <a:xfrm>
                <a:off x="2433242" y="6059690"/>
                <a:ext cx="7309391"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r>
                        <m:rPr>
                          <m:sty m:val="p"/>
                        </m:rPr>
                        <a:rPr lang="sr-Latn-RS" sz="2400" b="0" i="0" smtClean="0">
                          <a:latin typeface="Cambria Math" panose="02040503050406030204" pitchFamily="18" charset="0"/>
                        </a:rPr>
                        <m:t>S</m:t>
                      </m:r>
                      <m:r>
                        <a:rPr lang="en-US" sz="2400" b="0" i="1" smtClean="0">
                          <a:latin typeface="Cambria Math" panose="02040503050406030204" pitchFamily="18" charset="0"/>
                        </a:rPr>
                        <m:t>|</m:t>
                      </m:r>
                      <m:r>
                        <a:rPr lang="en-US" sz="2400">
                          <a:latin typeface="Cambria Math" panose="02040503050406030204" pitchFamily="18" charset="0"/>
                        </a:rPr>
                        <m:t>=</m:t>
                      </m:r>
                      <m:r>
                        <a:rPr lang="en-US" sz="2400" b="0" i="1" smtClean="0">
                          <a:latin typeface="Cambria Math" panose="02040503050406030204" pitchFamily="18" charset="0"/>
                        </a:rPr>
                        <m:t>|</m:t>
                      </m:r>
                      <m:d>
                        <m:dPr>
                          <m:begChr m:val="⟨"/>
                          <m:endChr m:val="⟩"/>
                          <m:ctrlPr>
                            <a:rPr lang="sr-Latn-R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a:latin typeface="Cambria Math" panose="02040503050406030204" pitchFamily="18" charset="0"/>
                                </a:rPr>
                                <m:t>0</m:t>
                              </m:r>
                            </m:sub>
                          </m:sSub>
                        </m:e>
                      </m:d>
                      <m:r>
                        <a:rPr lang="sr-Latn-RS" sz="2400" b="0" i="0" smtClean="0">
                          <a:latin typeface="Cambria Math" panose="02040503050406030204" pitchFamily="18" charset="0"/>
                          <a:ea typeface="Cambria Math" panose="02040503050406030204" pitchFamily="18" charset="0"/>
                        </a:rPr>
                        <m:t>+</m:t>
                      </m:r>
                      <m:d>
                        <m:dPr>
                          <m:begChr m:val="⟨"/>
                          <m:endChr m:val="⟩"/>
                          <m:ctrlPr>
                            <a:rPr lang="sr-Latn-R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a:latin typeface="Cambria Math" panose="02040503050406030204" pitchFamily="18" charset="0"/>
                                </a:rPr>
                                <m:t>1</m:t>
                              </m:r>
                            </m:sub>
                          </m:sSub>
                        </m:e>
                      </m:d>
                      <m:r>
                        <a:rPr lang="sr-Latn-RS" sz="2400">
                          <a:latin typeface="Cambria Math" panose="02040503050406030204" pitchFamily="18" charset="0"/>
                          <a:ea typeface="Cambria Math" panose="02040503050406030204" pitchFamily="18" charset="0"/>
                        </a:rPr>
                        <m:t>+</m:t>
                      </m:r>
                      <m:d>
                        <m:dPr>
                          <m:begChr m:val="⟨"/>
                          <m:endChr m:val="⟩"/>
                          <m:ctrlPr>
                            <a:rPr lang="sr-Latn-R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a:latin typeface="Cambria Math" panose="02040503050406030204" pitchFamily="18" charset="0"/>
                                </a:rPr>
                                <m:t>0</m:t>
                              </m:r>
                            </m:sub>
                          </m:sSub>
                        </m:e>
                      </m:d>
                      <m:r>
                        <a:rPr lang="sr-Latn-RS" sz="2400" b="0" i="0" smtClean="0">
                          <a:latin typeface="Cambria Math" panose="02040503050406030204" pitchFamily="18" charset="0"/>
                          <a:ea typeface="Cambria Math" panose="02040503050406030204" pitchFamily="18" charset="0"/>
                        </a:rPr>
                        <m:t>−</m:t>
                      </m:r>
                      <m:d>
                        <m:dPr>
                          <m:begChr m:val="⟨"/>
                          <m:endChr m:val="⟩"/>
                          <m:ctrlPr>
                            <a:rPr lang="sr-Latn-R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a:latin typeface="Cambria Math" panose="02040503050406030204" pitchFamily="18" charset="0"/>
                                </a:rPr>
                                <m:t>1</m:t>
                              </m:r>
                            </m:sub>
                          </m:sSub>
                        </m:e>
                      </m:d>
                      <m:r>
                        <a:rPr lang="en-US" sz="2400" b="0" i="1" smtClean="0">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2</m:t>
                      </m:r>
                    </m:oMath>
                  </m:oMathPara>
                </a14:m>
                <a:endParaRPr lang="en-US" sz="2400" dirty="0"/>
              </a:p>
            </p:txBody>
          </p:sp>
        </mc:Choice>
        <mc:Fallback>
          <p:sp>
            <p:nvSpPr>
              <p:cNvPr id="27" name="Rectangle 26">
                <a:extLst>
                  <a:ext uri="{FF2B5EF4-FFF2-40B4-BE49-F238E27FC236}">
                    <a16:creationId xmlns:a16="http://schemas.microsoft.com/office/drawing/2014/main" id="{D72949F9-7AAE-8C41-BB79-1A2A971FF204}"/>
                  </a:ext>
                </a:extLst>
              </p:cNvPr>
              <p:cNvSpPr>
                <a:spLocks noRot="1" noChangeAspect="1" noMove="1" noResize="1" noEditPoints="1" noAdjustHandles="1" noChangeArrowheads="1" noChangeShapeType="1" noTextEdit="1"/>
              </p:cNvSpPr>
              <p:nvPr/>
            </p:nvSpPr>
            <p:spPr>
              <a:xfrm>
                <a:off x="2433242" y="6059690"/>
                <a:ext cx="7309391" cy="461665"/>
              </a:xfrm>
              <a:prstGeom prst="rect">
                <a:avLst/>
              </a:prstGeom>
              <a:blipFill>
                <a:blip r:embed="rId8"/>
                <a:stretch>
                  <a:fillRect b="-16216"/>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1C2169B-4D5A-814E-8CD6-64D8D2EC7709}"/>
              </a:ext>
            </a:extLst>
          </p:cNvPr>
          <p:cNvGrpSpPr/>
          <p:nvPr/>
        </p:nvGrpSpPr>
        <p:grpSpPr>
          <a:xfrm>
            <a:off x="728917" y="3610197"/>
            <a:ext cx="10856648" cy="486807"/>
            <a:chOff x="728917" y="3610197"/>
            <a:chExt cx="10856648" cy="486807"/>
          </a:xfrm>
        </p:grpSpPr>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39B1AA5F-99A0-D443-A30C-D7DF56E8CEE7}"/>
                    </a:ext>
                  </a:extLst>
                </p:cNvPr>
                <p:cNvSpPr txBox="1"/>
                <p:nvPr/>
              </p:nvSpPr>
              <p:spPr>
                <a:xfrm>
                  <a:off x="728917" y="3610197"/>
                  <a:ext cx="3653564"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𝐴</m:t>
                            </m:r>
                          </m:e>
                          <m:sub>
                            <m:r>
                              <a:rPr lang="en-US" sz="2400">
                                <a:latin typeface="Cambria Math" panose="02040503050406030204" pitchFamily="18" charset="0"/>
                              </a:rPr>
                              <m:t>0</m:t>
                            </m:r>
                          </m:sub>
                        </m:sSub>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0</m:t>
                                </m:r>
                              </m:sub>
                            </m:sSub>
                          </m:sup>
                        </m:sSup>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a:latin typeface="Cambria Math" panose="02040503050406030204" pitchFamily="18" charset="0"/>
                              </a:rPr>
                              <m:t>1</m:t>
                            </m:r>
                          </m:sub>
                        </m:sSub>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sup>
                        </m:sSup>
                      </m:oMath>
                    </m:oMathPara>
                  </a14:m>
                  <a:endParaRPr lang="en-US" sz="2400" dirty="0"/>
                </a:p>
              </p:txBody>
            </p:sp>
          </mc:Choice>
          <mc:Fallback>
            <p:sp>
              <p:nvSpPr>
                <p:cNvPr id="29" name="TextBox 28">
                  <a:extLst>
                    <a:ext uri="{FF2B5EF4-FFF2-40B4-BE49-F238E27FC236}">
                      <a16:creationId xmlns:a16="http://schemas.microsoft.com/office/drawing/2014/main" id="{39B1AA5F-99A0-D443-A30C-D7DF56E8CEE7}"/>
                    </a:ext>
                  </a:extLst>
                </p:cNvPr>
                <p:cNvSpPr txBox="1">
                  <a:spLocks noRot="1" noChangeAspect="1" noMove="1" noResize="1" noEditPoints="1" noAdjustHandles="1" noChangeArrowheads="1" noChangeShapeType="1" noTextEdit="1"/>
                </p:cNvSpPr>
                <p:nvPr/>
              </p:nvSpPr>
              <p:spPr>
                <a:xfrm>
                  <a:off x="728917" y="3610197"/>
                  <a:ext cx="3653564"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DFFD3F3E-6B38-C44F-92E4-751A63E57111}"/>
                    </a:ext>
                  </a:extLst>
                </p:cNvPr>
                <p:cNvSpPr/>
                <p:nvPr/>
              </p:nvSpPr>
              <p:spPr>
                <a:xfrm>
                  <a:off x="7940656" y="3628799"/>
                  <a:ext cx="3644909" cy="468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𝐵</m:t>
                            </m:r>
                          </m:e>
                          <m:sub>
                            <m:r>
                              <a:rPr lang="en-US" sz="2400">
                                <a:latin typeface="Cambria Math" panose="02040503050406030204" pitchFamily="18" charset="0"/>
                              </a:rPr>
                              <m:t>0</m:t>
                            </m:r>
                          </m:sub>
                        </m:sSub>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a:latin typeface="Cambria Math" panose="02040503050406030204" pitchFamily="18" charset="0"/>
                                  </a:rPr>
                                  <m:t>0</m:t>
                                </m:r>
                              </m:sub>
                            </m:sSub>
                          </m:sup>
                        </m:sSup>
                        <m:r>
                          <a:rPr lang="sr-Latn-R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a:latin typeface="Cambria Math" panose="02040503050406030204" pitchFamily="18" charset="0"/>
                              </a:rPr>
                              <m:t>1</m:t>
                            </m:r>
                          </m:sub>
                        </m:sSub>
                        <m:r>
                          <a:rPr lang="en-US" sz="2400">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a:latin typeface="Cambria Math" panose="02040503050406030204" pitchFamily="18" charset="0"/>
                                  </a:rPr>
                                  <m:t>1</m:t>
                                </m:r>
                              </m:sub>
                            </m:sSub>
                          </m:sup>
                        </m:sSup>
                      </m:oMath>
                    </m:oMathPara>
                  </a14:m>
                  <a:endParaRPr lang="en-US" sz="2400" dirty="0"/>
                </a:p>
              </p:txBody>
            </p:sp>
          </mc:Choice>
          <mc:Fallback xmlns="">
            <p:sp>
              <p:nvSpPr>
                <p:cNvPr id="30" name="Rectangle 29">
                  <a:extLst>
                    <a:ext uri="{FF2B5EF4-FFF2-40B4-BE49-F238E27FC236}">
                      <a16:creationId xmlns:a16="http://schemas.microsoft.com/office/drawing/2014/main" id="{DFFD3F3E-6B38-C44F-92E4-751A63E57111}"/>
                    </a:ext>
                  </a:extLst>
                </p:cNvPr>
                <p:cNvSpPr>
                  <a:spLocks noRot="1" noChangeAspect="1" noMove="1" noResize="1" noEditPoints="1" noAdjustHandles="1" noChangeArrowheads="1" noChangeShapeType="1" noTextEdit="1"/>
                </p:cNvSpPr>
                <p:nvPr/>
              </p:nvSpPr>
              <p:spPr>
                <a:xfrm>
                  <a:off x="7940656" y="3628799"/>
                  <a:ext cx="3644909" cy="468205"/>
                </a:xfrm>
                <a:prstGeom prst="rect">
                  <a:avLst/>
                </a:prstGeom>
                <a:blipFill>
                  <a:blip r:embed="rId14"/>
                  <a:stretch>
                    <a:fillRect/>
                  </a:stretch>
                </a:blipFill>
              </p:spPr>
              <p:txBody>
                <a:bodyPr/>
                <a:lstStyle/>
                <a:p>
                  <a:r>
                    <a:rPr lang="en-US">
                      <a:noFill/>
                    </a:rPr>
                    <a:t> </a:t>
                  </a:r>
                </a:p>
              </p:txBody>
            </p:sp>
          </mc:Fallback>
        </mc:AlternateContent>
      </p:grpSp>
      <p:pic>
        <p:nvPicPr>
          <p:cNvPr id="19" name="Picture 18">
            <a:extLst>
              <a:ext uri="{FF2B5EF4-FFF2-40B4-BE49-F238E27FC236}">
                <a16:creationId xmlns:a16="http://schemas.microsoft.com/office/drawing/2014/main" id="{40AC4DF2-8ED9-C04F-AD6A-B56B96142CA1}"/>
              </a:ext>
            </a:extLst>
          </p:cNvPr>
          <p:cNvPicPr>
            <a:picLocks noChangeAspect="1"/>
          </p:cNvPicPr>
          <p:nvPr/>
        </p:nvPicPr>
        <p:blipFill>
          <a:blip r:embed="rId15"/>
          <a:stretch>
            <a:fillRect/>
          </a:stretch>
        </p:blipFill>
        <p:spPr>
          <a:xfrm>
            <a:off x="844631" y="987182"/>
            <a:ext cx="918520" cy="1414873"/>
          </a:xfrm>
          <a:prstGeom prst="rect">
            <a:avLst/>
          </a:prstGeom>
        </p:spPr>
      </p:pic>
      <p:pic>
        <p:nvPicPr>
          <p:cNvPr id="20" name="Picture 19">
            <a:extLst>
              <a:ext uri="{FF2B5EF4-FFF2-40B4-BE49-F238E27FC236}">
                <a16:creationId xmlns:a16="http://schemas.microsoft.com/office/drawing/2014/main" id="{BFE52B7D-369B-5840-B9C8-526117EE5740}"/>
              </a:ext>
            </a:extLst>
          </p:cNvPr>
          <p:cNvPicPr>
            <a:picLocks noChangeAspect="1"/>
          </p:cNvPicPr>
          <p:nvPr/>
        </p:nvPicPr>
        <p:blipFill>
          <a:blip r:embed="rId16"/>
          <a:stretch>
            <a:fillRect/>
          </a:stretch>
        </p:blipFill>
        <p:spPr>
          <a:xfrm>
            <a:off x="10335854" y="819347"/>
            <a:ext cx="1082025" cy="1602672"/>
          </a:xfrm>
          <a:prstGeom prst="rect">
            <a:avLst/>
          </a:prstGeom>
        </p:spPr>
      </p:pic>
      <p:pic>
        <p:nvPicPr>
          <p:cNvPr id="21" name="Picture 20">
            <a:extLst>
              <a:ext uri="{FF2B5EF4-FFF2-40B4-BE49-F238E27FC236}">
                <a16:creationId xmlns:a16="http://schemas.microsoft.com/office/drawing/2014/main" id="{AF5B8408-C1C9-8F4F-85B7-767EFBC22B75}"/>
              </a:ext>
            </a:extLst>
          </p:cNvPr>
          <p:cNvPicPr>
            <a:picLocks noChangeAspect="1"/>
          </p:cNvPicPr>
          <p:nvPr/>
        </p:nvPicPr>
        <p:blipFill>
          <a:blip r:embed="rId17"/>
          <a:stretch>
            <a:fillRect/>
          </a:stretch>
        </p:blipFill>
        <p:spPr>
          <a:xfrm>
            <a:off x="4458292" y="3320622"/>
            <a:ext cx="962359" cy="1675287"/>
          </a:xfrm>
          <a:prstGeom prst="rect">
            <a:avLst/>
          </a:prstGeom>
        </p:spPr>
      </p:pic>
    </p:spTree>
    <p:extLst>
      <p:ext uri="{BB962C8B-B14F-4D97-AF65-F5344CB8AC3E}">
        <p14:creationId xmlns:p14="http://schemas.microsoft.com/office/powerpoint/2010/main" val="2121526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35CE542D-4E7E-6243-946D-C86299AD8549}"/>
              </a:ext>
            </a:extLst>
          </p:cNvPr>
          <p:cNvGrpSpPr/>
          <p:nvPr/>
        </p:nvGrpSpPr>
        <p:grpSpPr>
          <a:xfrm>
            <a:off x="4541064" y="2807033"/>
            <a:ext cx="3168536" cy="1676943"/>
            <a:chOff x="4561114" y="2693499"/>
            <a:chExt cx="3168536" cy="1676943"/>
          </a:xfrm>
        </p:grpSpPr>
        <p:pic>
          <p:nvPicPr>
            <p:cNvPr id="30" name="Picture 29">
              <a:extLst>
                <a:ext uri="{FF2B5EF4-FFF2-40B4-BE49-F238E27FC236}">
                  <a16:creationId xmlns:a16="http://schemas.microsoft.com/office/drawing/2014/main" id="{3A21AC49-D4AE-F447-B7C2-65F69F2AC30B}"/>
                </a:ext>
              </a:extLst>
            </p:cNvPr>
            <p:cNvPicPr>
              <a:picLocks noChangeAspect="1"/>
            </p:cNvPicPr>
            <p:nvPr/>
          </p:nvPicPr>
          <p:blipFill>
            <a:blip r:embed="rId3"/>
            <a:stretch>
              <a:fillRect/>
            </a:stretch>
          </p:blipFill>
          <p:spPr>
            <a:xfrm>
              <a:off x="4561114" y="2693499"/>
              <a:ext cx="1678517" cy="1647998"/>
            </a:xfrm>
            <a:prstGeom prst="rect">
              <a:avLst/>
            </a:prstGeom>
          </p:spPr>
        </p:pic>
        <p:pic>
          <p:nvPicPr>
            <p:cNvPr id="31" name="Picture 30">
              <a:extLst>
                <a:ext uri="{FF2B5EF4-FFF2-40B4-BE49-F238E27FC236}">
                  <a16:creationId xmlns:a16="http://schemas.microsoft.com/office/drawing/2014/main" id="{0041ACC7-3499-5041-A581-B79B11B3C1D6}"/>
                </a:ext>
              </a:extLst>
            </p:cNvPr>
            <p:cNvPicPr>
              <a:picLocks noChangeAspect="1"/>
            </p:cNvPicPr>
            <p:nvPr/>
          </p:nvPicPr>
          <p:blipFill>
            <a:blip r:embed="rId3"/>
            <a:stretch>
              <a:fillRect/>
            </a:stretch>
          </p:blipFill>
          <p:spPr>
            <a:xfrm>
              <a:off x="6051133" y="2722444"/>
              <a:ext cx="1678517" cy="1647998"/>
            </a:xfrm>
            <a:prstGeom prst="rect">
              <a:avLst/>
            </a:prstGeom>
          </p:spPr>
        </p:pic>
      </p:grpSp>
      <p:sp>
        <p:nvSpPr>
          <p:cNvPr id="4" name="Title 3">
            <a:extLst>
              <a:ext uri="{FF2B5EF4-FFF2-40B4-BE49-F238E27FC236}">
                <a16:creationId xmlns:a16="http://schemas.microsoft.com/office/drawing/2014/main" id="{D65D0685-42BA-2241-B8D6-37B01DDF7208}"/>
              </a:ext>
            </a:extLst>
          </p:cNvPr>
          <p:cNvSpPr>
            <a:spLocks noGrp="1"/>
          </p:cNvSpPr>
          <p:nvPr>
            <p:ph type="title"/>
          </p:nvPr>
        </p:nvSpPr>
        <p:spPr/>
        <p:txBody>
          <a:bodyPr>
            <a:normAutofit/>
          </a:bodyPr>
          <a:lstStyle/>
          <a:p>
            <a:r>
              <a:rPr lang="en-ZA" b="1" dirty="0"/>
              <a:t>CHSH G</a:t>
            </a:r>
            <a:r>
              <a:rPr lang="en-ZA" dirty="0"/>
              <a:t>ame :Classical Strategy</a:t>
            </a:r>
            <a:endParaRPr lang="en-US" dirty="0"/>
          </a:p>
        </p:txBody>
      </p:sp>
      <p:grpSp>
        <p:nvGrpSpPr>
          <p:cNvPr id="17" name="Group 16">
            <a:extLst>
              <a:ext uri="{FF2B5EF4-FFF2-40B4-BE49-F238E27FC236}">
                <a16:creationId xmlns:a16="http://schemas.microsoft.com/office/drawing/2014/main" id="{ECAA415E-7E66-BA44-A93E-F04069238623}"/>
              </a:ext>
            </a:extLst>
          </p:cNvPr>
          <p:cNvGrpSpPr/>
          <p:nvPr/>
        </p:nvGrpSpPr>
        <p:grpSpPr>
          <a:xfrm>
            <a:off x="2685283" y="2457954"/>
            <a:ext cx="6726762" cy="1080000"/>
            <a:chOff x="2685283" y="2714626"/>
            <a:chExt cx="6726762" cy="1080000"/>
          </a:xfrm>
        </p:grpSpPr>
        <mc:AlternateContent xmlns:mc="http://schemas.openxmlformats.org/markup-compatibility/2006" xmlns:a14="http://schemas.microsoft.com/office/drawing/2010/main">
          <mc:Choice Requires="a14">
            <p:sp>
              <p:nvSpPr>
                <p:cNvPr id="11" name="Right Arrow 10">
                  <a:extLst>
                    <a:ext uri="{FF2B5EF4-FFF2-40B4-BE49-F238E27FC236}">
                      <a16:creationId xmlns:a16="http://schemas.microsoft.com/office/drawing/2014/main" id="{A47A453B-58A0-EB44-986A-3E56C3FEEC48}"/>
                    </a:ext>
                  </a:extLst>
                </p:cNvPr>
                <p:cNvSpPr/>
                <p:nvPr/>
              </p:nvSpPr>
              <p:spPr>
                <a:xfrm>
                  <a:off x="2685283" y="2714626"/>
                  <a:ext cx="1440000" cy="1080000"/>
                </a:xfrm>
                <a:prstGeom prst="rightArrow">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sr-Latn-RS" sz="3600" b="0" i="1" smtClean="0">
                            <a:solidFill>
                              <a:schemeClr val="tx1"/>
                            </a:solidFill>
                            <a:latin typeface="Cambria Math" panose="02040503050406030204" pitchFamily="18" charset="0"/>
                          </a:rPr>
                          <m:t>𝑎</m:t>
                        </m:r>
                      </m:oMath>
                    </m:oMathPara>
                  </a14:m>
                  <a:endParaRPr lang="en-US" sz="3600" dirty="0"/>
                </a:p>
              </p:txBody>
            </p:sp>
          </mc:Choice>
          <mc:Fallback xmlns="">
            <p:sp>
              <p:nvSpPr>
                <p:cNvPr id="11" name="Right Arrow 10">
                  <a:extLst>
                    <a:ext uri="{FF2B5EF4-FFF2-40B4-BE49-F238E27FC236}">
                      <a16:creationId xmlns:a16="http://schemas.microsoft.com/office/drawing/2014/main" id="{A47A453B-58A0-EB44-986A-3E56C3FEEC48}"/>
                    </a:ext>
                  </a:extLst>
                </p:cNvPr>
                <p:cNvSpPr>
                  <a:spLocks noRot="1" noChangeAspect="1" noMove="1" noResize="1" noEditPoints="1" noAdjustHandles="1" noChangeArrowheads="1" noChangeShapeType="1" noTextEdit="1"/>
                </p:cNvSpPr>
                <p:nvPr/>
              </p:nvSpPr>
              <p:spPr>
                <a:xfrm>
                  <a:off x="2685283" y="2714626"/>
                  <a:ext cx="1440000" cy="1080000"/>
                </a:xfrm>
                <a:prstGeom prst="rightArrow">
                  <a:avLst/>
                </a:prstGeom>
                <a:blipFill>
                  <a:blip r:embed="rId7"/>
                  <a:stretch>
                    <a:fillRect/>
                  </a:stretch>
                </a:blipFill>
                <a:ln>
                  <a:solidFill>
                    <a:schemeClr val="bg1">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Left Arrow 11">
                  <a:extLst>
                    <a:ext uri="{FF2B5EF4-FFF2-40B4-BE49-F238E27FC236}">
                      <a16:creationId xmlns:a16="http://schemas.microsoft.com/office/drawing/2014/main" id="{D7081D5B-2941-204B-9638-7C75734ADF13}"/>
                    </a:ext>
                  </a:extLst>
                </p:cNvPr>
                <p:cNvSpPr/>
                <p:nvPr/>
              </p:nvSpPr>
              <p:spPr>
                <a:xfrm>
                  <a:off x="7972045" y="2714626"/>
                  <a:ext cx="1440000" cy="1080000"/>
                </a:xfrm>
                <a:prstGeom prst="leftArrow">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sr-Latn-RS" sz="3600" b="0" i="1" smtClean="0">
                            <a:solidFill>
                              <a:schemeClr val="tx1"/>
                            </a:solidFill>
                            <a:latin typeface="Cambria Math" panose="02040503050406030204" pitchFamily="18" charset="0"/>
                          </a:rPr>
                          <m:t>𝑏</m:t>
                        </m:r>
                      </m:oMath>
                    </m:oMathPara>
                  </a14:m>
                  <a:endParaRPr lang="en-US" sz="3600" dirty="0"/>
                </a:p>
              </p:txBody>
            </p:sp>
          </mc:Choice>
          <mc:Fallback xmlns="">
            <p:sp>
              <p:nvSpPr>
                <p:cNvPr id="12" name="Left Arrow 11">
                  <a:extLst>
                    <a:ext uri="{FF2B5EF4-FFF2-40B4-BE49-F238E27FC236}">
                      <a16:creationId xmlns:a16="http://schemas.microsoft.com/office/drawing/2014/main" id="{D7081D5B-2941-204B-9638-7C75734ADF13}"/>
                    </a:ext>
                  </a:extLst>
                </p:cNvPr>
                <p:cNvSpPr>
                  <a:spLocks noRot="1" noChangeAspect="1" noMove="1" noResize="1" noEditPoints="1" noAdjustHandles="1" noChangeArrowheads="1" noChangeShapeType="1" noTextEdit="1"/>
                </p:cNvSpPr>
                <p:nvPr/>
              </p:nvSpPr>
              <p:spPr>
                <a:xfrm>
                  <a:off x="7972045" y="2714626"/>
                  <a:ext cx="1440000" cy="1080000"/>
                </a:xfrm>
                <a:prstGeom prst="leftArrow">
                  <a:avLst/>
                </a:prstGeom>
                <a:blipFill>
                  <a:blip r:embed="rId8"/>
                  <a:stretch>
                    <a:fillRect/>
                  </a:stretch>
                </a:blipFill>
                <a:ln>
                  <a:solidFill>
                    <a:schemeClr val="bg1">
                      <a:lumMod val="50000"/>
                    </a:schemeClr>
                  </a:solidFill>
                </a:ln>
              </p:spPr>
              <p:txBody>
                <a:bodyPr/>
                <a:lstStyle/>
                <a:p>
                  <a:r>
                    <a:rPr lang="en-US">
                      <a:noFill/>
                    </a:rPr>
                    <a:t> </a:t>
                  </a:r>
                </a:p>
              </p:txBody>
            </p:sp>
          </mc:Fallback>
        </mc:AlternateContent>
      </p:grpSp>
      <p:grpSp>
        <p:nvGrpSpPr>
          <p:cNvPr id="18" name="Group 17">
            <a:extLst>
              <a:ext uri="{FF2B5EF4-FFF2-40B4-BE49-F238E27FC236}">
                <a16:creationId xmlns:a16="http://schemas.microsoft.com/office/drawing/2014/main" id="{9A0F67FD-68CF-DC43-B635-9DB4004916F2}"/>
              </a:ext>
            </a:extLst>
          </p:cNvPr>
          <p:cNvGrpSpPr/>
          <p:nvPr/>
        </p:nvGrpSpPr>
        <p:grpSpPr>
          <a:xfrm>
            <a:off x="4492825" y="3176231"/>
            <a:ext cx="2941831" cy="1115605"/>
            <a:chOff x="4492825" y="3432903"/>
            <a:chExt cx="2941831" cy="1115605"/>
          </a:xfrm>
          <a:solidFill>
            <a:schemeClr val="bg1"/>
          </a:solidFill>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9F09358-D4FC-614A-86EE-58C28C4940FE}"/>
                    </a:ext>
                  </a:extLst>
                </p:cNvPr>
                <p:cNvSpPr/>
                <p:nvPr/>
              </p:nvSpPr>
              <p:spPr>
                <a:xfrm>
                  <a:off x="4492825" y="3902177"/>
                  <a:ext cx="2941831" cy="646331"/>
                </a:xfrm>
                <a:prstGeom prst="rect">
                  <a:avLst/>
                </a:prstGeom>
                <a:grpFill/>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ea typeface="Cambria Math" panose="02040503050406030204" pitchFamily="18" charset="0"/>
                          </a:rPr>
                          <m:t>𝑥</m:t>
                        </m:r>
                        <m:r>
                          <a:rPr lang="sr-Latn-RS" sz="360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𝑦</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𝑎</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𝑏</m:t>
                        </m:r>
                      </m:oMath>
                    </m:oMathPara>
                  </a14:m>
                  <a:endParaRPr lang="en-US" sz="3200" dirty="0"/>
                </a:p>
              </p:txBody>
            </p:sp>
          </mc:Choice>
          <mc:Fallback xmlns="">
            <p:sp>
              <p:nvSpPr>
                <p:cNvPr id="13" name="Rectangle 12">
                  <a:extLst>
                    <a:ext uri="{FF2B5EF4-FFF2-40B4-BE49-F238E27FC236}">
                      <a16:creationId xmlns:a16="http://schemas.microsoft.com/office/drawing/2014/main" id="{E9F09358-D4FC-614A-86EE-58C28C4940FE}"/>
                    </a:ext>
                  </a:extLst>
                </p:cNvPr>
                <p:cNvSpPr>
                  <a:spLocks noRot="1" noChangeAspect="1" noMove="1" noResize="1" noEditPoints="1" noAdjustHandles="1" noChangeArrowheads="1" noChangeShapeType="1" noTextEdit="1"/>
                </p:cNvSpPr>
                <p:nvPr/>
              </p:nvSpPr>
              <p:spPr>
                <a:xfrm>
                  <a:off x="4492825" y="3902177"/>
                  <a:ext cx="2941831" cy="646331"/>
                </a:xfrm>
                <a:prstGeom prst="rect">
                  <a:avLst/>
                </a:prstGeom>
                <a:blipFill>
                  <a:blip r:embed="rId9"/>
                  <a:stretch>
                    <a:fillRect b="-13462"/>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A042001-4DA2-6547-8DF7-665E44E3DE77}"/>
                </a:ext>
              </a:extLst>
            </p:cNvPr>
            <p:cNvSpPr txBox="1"/>
            <p:nvPr/>
          </p:nvSpPr>
          <p:spPr>
            <a:xfrm>
              <a:off x="5586271" y="3432903"/>
              <a:ext cx="532518" cy="830997"/>
            </a:xfrm>
            <a:prstGeom prst="rect">
              <a:avLst/>
            </a:prstGeom>
            <a:grpFill/>
          </p:spPr>
          <p:txBody>
            <a:bodyPr wrap="none" rtlCol="0">
              <a:spAutoFit/>
            </a:bodyPr>
            <a:lstStyle/>
            <a:p>
              <a:r>
                <a:rPr 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Comic Sans MS" panose="030F0902030302020204" pitchFamily="66" charset="0"/>
                </a:rPr>
                <a:t>?</a:t>
              </a:r>
              <a:endParaRPr lang="en-US" sz="4800" dirty="0">
                <a:latin typeface="Comic Sans MS" panose="030F0902030302020204" pitchFamily="66" charset="0"/>
              </a:endParaRPr>
            </a:p>
          </p:txBody>
        </p:sp>
      </p:gr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3ECFF220-E4D8-D84A-96FC-3156215DC039}"/>
                  </a:ext>
                </a:extLst>
              </p:cNvPr>
              <p:cNvGraphicFramePr>
                <a:graphicFrameLocks noGrp="1"/>
              </p:cNvGraphicFramePr>
              <p:nvPr>
                <p:extLst/>
              </p:nvPr>
            </p:nvGraphicFramePr>
            <p:xfrm>
              <a:off x="2444107" y="4400932"/>
              <a:ext cx="7173952" cy="2286000"/>
            </p:xfrm>
            <a:graphic>
              <a:graphicData uri="http://schemas.openxmlformats.org/drawingml/2006/table">
                <a:tbl>
                  <a:tblPr firstRow="1" bandRow="1">
                    <a:tableStyleId>{5C22544A-7EE6-4342-B048-85BDC9FD1C3A}</a:tableStyleId>
                  </a:tblPr>
                  <a:tblGrid>
                    <a:gridCol w="667083">
                      <a:extLst>
                        <a:ext uri="{9D8B030D-6E8A-4147-A177-3AD203B41FA5}">
                          <a16:colId xmlns:a16="http://schemas.microsoft.com/office/drawing/2014/main" val="1449463369"/>
                        </a:ext>
                      </a:extLst>
                    </a:gridCol>
                    <a:gridCol w="713678">
                      <a:extLst>
                        <a:ext uri="{9D8B030D-6E8A-4147-A177-3AD203B41FA5}">
                          <a16:colId xmlns:a16="http://schemas.microsoft.com/office/drawing/2014/main" val="1536174877"/>
                        </a:ext>
                      </a:extLst>
                    </a:gridCol>
                    <a:gridCol w="802888">
                      <a:extLst>
                        <a:ext uri="{9D8B030D-6E8A-4147-A177-3AD203B41FA5}">
                          <a16:colId xmlns:a16="http://schemas.microsoft.com/office/drawing/2014/main" val="109296200"/>
                        </a:ext>
                      </a:extLst>
                    </a:gridCol>
                    <a:gridCol w="873363">
                      <a:extLst>
                        <a:ext uri="{9D8B030D-6E8A-4147-A177-3AD203B41FA5}">
                          <a16:colId xmlns:a16="http://schemas.microsoft.com/office/drawing/2014/main" val="2667624297"/>
                        </a:ext>
                      </a:extLst>
                    </a:gridCol>
                    <a:gridCol w="4116940">
                      <a:extLst>
                        <a:ext uri="{9D8B030D-6E8A-4147-A177-3AD203B41FA5}">
                          <a16:colId xmlns:a16="http://schemas.microsoft.com/office/drawing/2014/main" val="403554522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𝑥</m:t>
                                </m:r>
                                <m:r>
                                  <a:rPr lang="sr-Latn-RS" sz="2400" b="0" i="1" smtClean="0">
                                    <a:solidFill>
                                      <a:schemeClr val="bg1"/>
                                    </a:solidFill>
                                    <a:latin typeface="Cambria Math" panose="02040503050406030204" pitchFamily="18" charset="0"/>
                                  </a:rPr>
                                  <m:t>,</m:t>
                                </m:r>
                                <m:r>
                                  <a:rPr lang="sr-Latn-RS" sz="2400" b="0" i="1" smtClean="0">
                                    <a:solidFill>
                                      <a:schemeClr val="bg1"/>
                                    </a:solidFill>
                                    <a:latin typeface="Cambria Math" panose="02040503050406030204" pitchFamily="18" charset="0"/>
                                  </a:rPr>
                                  <m:t>𝑎</m:t>
                                </m:r>
                              </m:oMath>
                            </m:oMathPara>
                          </a14:m>
                          <a:endParaRPr lang="en-US" sz="2400" dirty="0">
                            <a:solidFill>
                              <a:schemeClr val="bg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sr-Latn-RS" sz="2400" b="0" i="1" smtClean="0">
                                    <a:solidFill>
                                      <a:schemeClr val="bg1"/>
                                    </a:solidFill>
                                    <a:latin typeface="Cambria Math" panose="02040503050406030204" pitchFamily="18" charset="0"/>
                                  </a:rPr>
                                  <m:t>𝑦</m:t>
                                </m:r>
                                <m:r>
                                  <a:rPr lang="sr-Latn-RS" sz="2400" b="0" i="1" smtClean="0">
                                    <a:solidFill>
                                      <a:schemeClr val="bg1"/>
                                    </a:solidFill>
                                    <a:latin typeface="Cambria Math" panose="02040503050406030204" pitchFamily="18" charset="0"/>
                                  </a:rPr>
                                  <m:t>,</m:t>
                                </m:r>
                                <m:r>
                                  <a:rPr lang="sr-Latn-RS" sz="2400" b="0" i="1" smtClean="0">
                                    <a:solidFill>
                                      <a:schemeClr val="bg1"/>
                                    </a:solidFill>
                                    <a:latin typeface="Cambria Math" panose="02040503050406030204" pitchFamily="18" charset="0"/>
                                  </a:rPr>
                                  <m:t>𝑏</m:t>
                                </m:r>
                              </m:oMath>
                            </m:oMathPara>
                          </a14:m>
                          <a:endParaRPr lang="en-US" sz="2400" dirty="0">
                            <a:solidFill>
                              <a:schemeClr val="bg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𝑥</m:t>
                                </m:r>
                                <m:r>
                                  <a:rPr lang="sr-Latn-R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oMath>
                            </m:oMathPara>
                          </a14:m>
                          <a:endParaRPr lang="en-US" sz="2400" dirty="0">
                            <a:solidFill>
                              <a:schemeClr val="bg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𝑏</m:t>
                                </m:r>
                              </m:oMath>
                            </m:oMathPara>
                          </a14:m>
                          <a:endParaRPr lang="en-US" sz="2400" dirty="0">
                            <a:solidFill>
                              <a:schemeClr val="bg1"/>
                            </a:solidFill>
                          </a:endParaRPr>
                        </a:p>
                      </a:txBody>
                      <a:tcPr/>
                    </a:tc>
                    <a:tc>
                      <a:txBody>
                        <a:bodyPr/>
                        <a:lstStyle/>
                        <a:p>
                          <a:pPr algn="ctr"/>
                          <a:r>
                            <a:rPr lang="en-US" sz="2400" dirty="0">
                              <a:solidFill>
                                <a:schemeClr val="bg1"/>
                              </a:solidFill>
                            </a:rPr>
                            <a:t>Alice &amp; Bob win if</a:t>
                          </a:r>
                        </a:p>
                      </a:txBody>
                      <a:tcPr/>
                    </a:tc>
                    <a:extLst>
                      <a:ext uri="{0D108BD9-81ED-4DB2-BD59-A6C34878D82A}">
                        <a16:rowId xmlns:a16="http://schemas.microsoft.com/office/drawing/2014/main" val="2875611879"/>
                      </a:ext>
                    </a:extLst>
                  </a:tr>
                  <a:tr h="37084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solidFill>
                                      <a:schemeClr val="tx1"/>
                                    </a:solidFill>
                                    <a:latin typeface="Cambria Math" panose="02040503050406030204" pitchFamily="18" charset="0"/>
                                  </a:rPr>
                                  <m:t>𝑎</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𝑏</m:t>
                                </m:r>
                              </m:oMath>
                            </m:oMathPara>
                          </a14:m>
                          <a:endParaRPr lang="en-US" sz="2400" dirty="0"/>
                        </a:p>
                      </a:txBody>
                      <a:tcPr anchor="ctr">
                        <a:solidFill>
                          <a:schemeClr val="accent4">
                            <a:lumMod val="20000"/>
                            <a:lumOff val="80000"/>
                          </a:schemeClr>
                        </a:solidFill>
                      </a:tcPr>
                    </a:tc>
                    <a:extLst>
                      <a:ext uri="{0D108BD9-81ED-4DB2-BD59-A6C34878D82A}">
                        <a16:rowId xmlns:a16="http://schemas.microsoft.com/office/drawing/2014/main" val="3892031727"/>
                      </a:ext>
                    </a:extLst>
                  </a:tr>
                  <a:tr h="370840">
                    <a:tc>
                      <a:txBody>
                        <a:bodyPr/>
                        <a:lstStyle/>
                        <a:p>
                          <a:pPr algn="ctr"/>
                          <a:r>
                            <a:rPr lang="en-US" sz="2400" dirty="0"/>
                            <a:t>0</a:t>
                          </a:r>
                        </a:p>
                      </a:txBody>
                      <a:tcPr/>
                    </a:tc>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dirty="0"/>
                            <a:t>1</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3582419787"/>
                      </a:ext>
                    </a:extLst>
                  </a:tr>
                  <a:tr h="370840">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1</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828299173"/>
                      </a:ext>
                    </a:extLst>
                  </a:tr>
                  <a:tr h="37084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r-Latn-RS" sz="2400" b="0" i="1" smtClean="0">
                                    <a:solidFill>
                                      <a:schemeClr val="tx1"/>
                                    </a:solidFill>
                                    <a:latin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rPr>
                                  <m:t>𝑏</m:t>
                                </m:r>
                              </m:oMath>
                            </m:oMathPara>
                          </a14:m>
                          <a:endParaRPr lang="en-US" sz="2400" dirty="0"/>
                        </a:p>
                      </a:txBody>
                      <a:tcPr anchor="ctr">
                        <a:solidFill>
                          <a:schemeClr val="accent4">
                            <a:lumMod val="40000"/>
                            <a:lumOff val="60000"/>
                          </a:schemeClr>
                        </a:solidFill>
                      </a:tcPr>
                    </a:tc>
                    <a:extLst>
                      <a:ext uri="{0D108BD9-81ED-4DB2-BD59-A6C34878D82A}">
                        <a16:rowId xmlns:a16="http://schemas.microsoft.com/office/drawing/2014/main" val="379309301"/>
                      </a:ext>
                    </a:extLst>
                  </a:tr>
                </a:tbl>
              </a:graphicData>
            </a:graphic>
          </p:graphicFrame>
        </mc:Choice>
        <mc:Fallback xmlns="">
          <p:graphicFrame>
            <p:nvGraphicFramePr>
              <p:cNvPr id="19" name="Table 18">
                <a:extLst>
                  <a:ext uri="{FF2B5EF4-FFF2-40B4-BE49-F238E27FC236}">
                    <a16:creationId xmlns:a16="http://schemas.microsoft.com/office/drawing/2014/main" id="{3ECFF220-E4D8-D84A-96FC-3156215DC039}"/>
                  </a:ext>
                </a:extLst>
              </p:cNvPr>
              <p:cNvGraphicFramePr>
                <a:graphicFrameLocks noGrp="1"/>
              </p:cNvGraphicFramePr>
              <p:nvPr>
                <p:extLst>
                  <p:ext uri="{D42A27DB-BD31-4B8C-83A1-F6EECF244321}">
                    <p14:modId xmlns:p14="http://schemas.microsoft.com/office/powerpoint/2010/main" val="77232169"/>
                  </p:ext>
                </p:extLst>
              </p:nvPr>
            </p:nvGraphicFramePr>
            <p:xfrm>
              <a:off x="2444107" y="4400932"/>
              <a:ext cx="7173952" cy="2286000"/>
            </p:xfrm>
            <a:graphic>
              <a:graphicData uri="http://schemas.openxmlformats.org/drawingml/2006/table">
                <a:tbl>
                  <a:tblPr firstRow="1" bandRow="1">
                    <a:tableStyleId>{5C22544A-7EE6-4342-B048-85BDC9FD1C3A}</a:tableStyleId>
                  </a:tblPr>
                  <a:tblGrid>
                    <a:gridCol w="667083">
                      <a:extLst>
                        <a:ext uri="{9D8B030D-6E8A-4147-A177-3AD203B41FA5}">
                          <a16:colId xmlns:a16="http://schemas.microsoft.com/office/drawing/2014/main" val="1449463369"/>
                        </a:ext>
                      </a:extLst>
                    </a:gridCol>
                    <a:gridCol w="713678">
                      <a:extLst>
                        <a:ext uri="{9D8B030D-6E8A-4147-A177-3AD203B41FA5}">
                          <a16:colId xmlns:a16="http://schemas.microsoft.com/office/drawing/2014/main" val="1536174877"/>
                        </a:ext>
                      </a:extLst>
                    </a:gridCol>
                    <a:gridCol w="802888">
                      <a:extLst>
                        <a:ext uri="{9D8B030D-6E8A-4147-A177-3AD203B41FA5}">
                          <a16:colId xmlns:a16="http://schemas.microsoft.com/office/drawing/2014/main" val="109296200"/>
                        </a:ext>
                      </a:extLst>
                    </a:gridCol>
                    <a:gridCol w="873363">
                      <a:extLst>
                        <a:ext uri="{9D8B030D-6E8A-4147-A177-3AD203B41FA5}">
                          <a16:colId xmlns:a16="http://schemas.microsoft.com/office/drawing/2014/main" val="2667624297"/>
                        </a:ext>
                      </a:extLst>
                    </a:gridCol>
                    <a:gridCol w="4116940">
                      <a:extLst>
                        <a:ext uri="{9D8B030D-6E8A-4147-A177-3AD203B41FA5}">
                          <a16:colId xmlns:a16="http://schemas.microsoft.com/office/drawing/2014/main" val="4035545220"/>
                        </a:ext>
                      </a:extLst>
                    </a:gridCol>
                  </a:tblGrid>
                  <a:tr h="457200">
                    <a:tc>
                      <a:txBody>
                        <a:bodyPr/>
                        <a:lstStyle/>
                        <a:p>
                          <a:endParaRPr lang="en-US"/>
                        </a:p>
                      </a:txBody>
                      <a:tcPr>
                        <a:blipFill>
                          <a:blip r:embed="rId10"/>
                          <a:stretch>
                            <a:fillRect l="-1887" t="-11111" r="-969811" b="-427778"/>
                          </a:stretch>
                        </a:blipFill>
                      </a:tcPr>
                    </a:tc>
                    <a:tc>
                      <a:txBody>
                        <a:bodyPr/>
                        <a:lstStyle/>
                        <a:p>
                          <a:endParaRPr lang="en-US"/>
                        </a:p>
                      </a:txBody>
                      <a:tcPr>
                        <a:blipFill>
                          <a:blip r:embed="rId10"/>
                          <a:stretch>
                            <a:fillRect l="-96429" t="-11111" r="-817857" b="-427778"/>
                          </a:stretch>
                        </a:blipFill>
                      </a:tcPr>
                    </a:tc>
                    <a:tc>
                      <a:txBody>
                        <a:bodyPr/>
                        <a:lstStyle/>
                        <a:p>
                          <a:endParaRPr lang="en-US"/>
                        </a:p>
                      </a:txBody>
                      <a:tcPr>
                        <a:blipFill>
                          <a:blip r:embed="rId10"/>
                          <a:stretch>
                            <a:fillRect l="-174603" t="-11111" r="-626984" b="-427778"/>
                          </a:stretch>
                        </a:blipFill>
                      </a:tcPr>
                    </a:tc>
                    <a:tc>
                      <a:txBody>
                        <a:bodyPr/>
                        <a:lstStyle/>
                        <a:p>
                          <a:endParaRPr lang="en-US"/>
                        </a:p>
                      </a:txBody>
                      <a:tcPr>
                        <a:blipFill>
                          <a:blip r:embed="rId10"/>
                          <a:stretch>
                            <a:fillRect l="-250725" t="-11111" r="-472464" b="-427778"/>
                          </a:stretch>
                        </a:blipFill>
                      </a:tcPr>
                    </a:tc>
                    <a:tc>
                      <a:txBody>
                        <a:bodyPr/>
                        <a:lstStyle/>
                        <a:p>
                          <a:pPr algn="ctr"/>
                          <a:r>
                            <a:rPr lang="en-US" sz="2400" dirty="0">
                              <a:solidFill>
                                <a:schemeClr val="bg1"/>
                              </a:solidFill>
                            </a:rPr>
                            <a:t>Alice &amp; Bob win if</a:t>
                          </a:r>
                        </a:p>
                      </a:txBody>
                      <a:tcPr/>
                    </a:tc>
                    <a:extLst>
                      <a:ext uri="{0D108BD9-81ED-4DB2-BD59-A6C34878D82A}">
                        <a16:rowId xmlns:a16="http://schemas.microsoft.com/office/drawing/2014/main" val="2875611879"/>
                      </a:ext>
                    </a:extLst>
                  </a:tr>
                  <a:tr h="45720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rowSpan="3">
                      <a:txBody>
                        <a:bodyPr/>
                        <a:lstStyle/>
                        <a:p>
                          <a:endParaRPr lang="en-US"/>
                        </a:p>
                      </a:txBody>
                      <a:tcPr anchor="ctr">
                        <a:blipFill>
                          <a:blip r:embed="rId10"/>
                          <a:stretch>
                            <a:fillRect l="-74462" t="-36697" r="-308" b="-41284"/>
                          </a:stretch>
                        </a:blipFill>
                      </a:tcPr>
                    </a:tc>
                    <a:extLst>
                      <a:ext uri="{0D108BD9-81ED-4DB2-BD59-A6C34878D82A}">
                        <a16:rowId xmlns:a16="http://schemas.microsoft.com/office/drawing/2014/main" val="3892031727"/>
                      </a:ext>
                    </a:extLst>
                  </a:tr>
                  <a:tr h="457200">
                    <a:tc>
                      <a:txBody>
                        <a:bodyPr/>
                        <a:lstStyle/>
                        <a:p>
                          <a:pPr algn="ctr"/>
                          <a:r>
                            <a:rPr lang="en-US" sz="2400" dirty="0"/>
                            <a:t>0</a:t>
                          </a:r>
                        </a:p>
                      </a:txBody>
                      <a:tcPr/>
                    </a:tc>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dirty="0"/>
                            <a:t>1</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3582419787"/>
                      </a:ext>
                    </a:extLst>
                  </a:tr>
                  <a:tr h="457200">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1</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828299173"/>
                      </a:ext>
                    </a:extLst>
                  </a:tr>
                  <a:tr h="45720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0</a:t>
                          </a:r>
                        </a:p>
                      </a:txBody>
                      <a:tcPr/>
                    </a:tc>
                    <a:tc>
                      <a:txBody>
                        <a:bodyPr/>
                        <a:lstStyle/>
                        <a:p>
                          <a:endParaRPr lang="en-US"/>
                        </a:p>
                      </a:txBody>
                      <a:tcPr anchor="ctr">
                        <a:blipFill>
                          <a:blip r:embed="rId10"/>
                          <a:stretch>
                            <a:fillRect l="-74462" t="-413889" r="-308" b="-25000"/>
                          </a:stretch>
                        </a:blipFill>
                      </a:tcPr>
                    </a:tc>
                    <a:extLst>
                      <a:ext uri="{0D108BD9-81ED-4DB2-BD59-A6C34878D82A}">
                        <a16:rowId xmlns:a16="http://schemas.microsoft.com/office/drawing/2014/main" val="379309301"/>
                      </a:ext>
                    </a:extLst>
                  </a:tr>
                </a:tbl>
              </a:graphicData>
            </a:graphic>
          </p:graphicFrame>
        </mc:Fallback>
      </mc:AlternateContent>
      <p:grpSp>
        <p:nvGrpSpPr>
          <p:cNvPr id="28" name="Group 27">
            <a:extLst>
              <a:ext uri="{FF2B5EF4-FFF2-40B4-BE49-F238E27FC236}">
                <a16:creationId xmlns:a16="http://schemas.microsoft.com/office/drawing/2014/main" id="{6A8F6EAA-C2CF-4B46-B503-1D4BD0C36D55}"/>
              </a:ext>
            </a:extLst>
          </p:cNvPr>
          <p:cNvGrpSpPr/>
          <p:nvPr/>
        </p:nvGrpSpPr>
        <p:grpSpPr>
          <a:xfrm>
            <a:off x="0" y="4892679"/>
            <a:ext cx="11849766" cy="1299411"/>
            <a:chOff x="0" y="4892679"/>
            <a:chExt cx="11849766" cy="1299411"/>
          </a:xfrm>
        </p:grpSpPr>
        <p:grpSp>
          <p:nvGrpSpPr>
            <p:cNvPr id="26" name="Group 25">
              <a:extLst>
                <a:ext uri="{FF2B5EF4-FFF2-40B4-BE49-F238E27FC236}">
                  <a16:creationId xmlns:a16="http://schemas.microsoft.com/office/drawing/2014/main" id="{5C284B62-0826-5543-B1A9-ABAADA2D4F18}"/>
                </a:ext>
              </a:extLst>
            </p:cNvPr>
            <p:cNvGrpSpPr/>
            <p:nvPr/>
          </p:nvGrpSpPr>
          <p:grpSpPr>
            <a:xfrm>
              <a:off x="9668528" y="4892679"/>
              <a:ext cx="2181238" cy="1299411"/>
              <a:chOff x="9668528" y="4892679"/>
              <a:chExt cx="2181238" cy="1299411"/>
            </a:xfrm>
          </p:grpSpPr>
          <p:sp>
            <p:nvSpPr>
              <p:cNvPr id="22" name="Right Brace 21">
                <a:extLst>
                  <a:ext uri="{FF2B5EF4-FFF2-40B4-BE49-F238E27FC236}">
                    <a16:creationId xmlns:a16="http://schemas.microsoft.com/office/drawing/2014/main" id="{1EA628D8-2EEC-2243-980A-E284EA333557}"/>
                  </a:ext>
                </a:extLst>
              </p:cNvPr>
              <p:cNvSpPr/>
              <p:nvPr/>
            </p:nvSpPr>
            <p:spPr>
              <a:xfrm>
                <a:off x="9668528" y="4892679"/>
                <a:ext cx="536816" cy="1299411"/>
              </a:xfrm>
              <a:prstGeom prst="rightBrace">
                <a:avLst>
                  <a:gd name="adj1" fmla="val 2327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FD0E8DEC-A79B-A449-8118-988475D85E67}"/>
                  </a:ext>
                </a:extLst>
              </p:cNvPr>
              <p:cNvSpPr txBox="1"/>
              <p:nvPr/>
            </p:nvSpPr>
            <p:spPr>
              <a:xfrm>
                <a:off x="10493304" y="5311553"/>
                <a:ext cx="1356462" cy="461665"/>
              </a:xfrm>
              <a:prstGeom prst="rect">
                <a:avLst/>
              </a:prstGeom>
              <a:noFill/>
            </p:spPr>
            <p:txBody>
              <a:bodyPr wrap="none" rtlCol="0">
                <a:spAutoFit/>
              </a:bodyPr>
              <a:lstStyle/>
              <a:p>
                <a:pPr algn="ctr"/>
                <a:r>
                  <a:rPr lang="en-US" sz="2400" dirty="0"/>
                  <a:t>75% wins</a:t>
                </a:r>
              </a:p>
            </p:txBody>
          </p:sp>
        </p:grpSp>
        <p:sp>
          <p:nvSpPr>
            <p:cNvPr id="27" name="TextBox 26">
              <a:extLst>
                <a:ext uri="{FF2B5EF4-FFF2-40B4-BE49-F238E27FC236}">
                  <a16:creationId xmlns:a16="http://schemas.microsoft.com/office/drawing/2014/main" id="{7712950C-CBF5-534C-B488-FB76FAC1E697}"/>
                </a:ext>
              </a:extLst>
            </p:cNvPr>
            <p:cNvSpPr txBox="1"/>
            <p:nvPr/>
          </p:nvSpPr>
          <p:spPr>
            <a:xfrm>
              <a:off x="0" y="5311553"/>
              <a:ext cx="2259658" cy="461665"/>
            </a:xfrm>
            <a:prstGeom prst="rect">
              <a:avLst/>
            </a:prstGeom>
            <a:noFill/>
          </p:spPr>
          <p:txBody>
            <a:bodyPr wrap="none" rtlCol="0">
              <a:spAutoFit/>
            </a:bodyPr>
            <a:lstStyle/>
            <a:p>
              <a:r>
                <a:rPr lang="en-US" sz="2400" dirty="0"/>
                <a:t>classical strategy</a:t>
              </a:r>
            </a:p>
          </p:txBody>
        </p:sp>
      </p:grpSp>
      <p:grpSp>
        <p:nvGrpSpPr>
          <p:cNvPr id="10" name="Group 9">
            <a:extLst>
              <a:ext uri="{FF2B5EF4-FFF2-40B4-BE49-F238E27FC236}">
                <a16:creationId xmlns:a16="http://schemas.microsoft.com/office/drawing/2014/main" id="{4F56D5A5-9AFD-0343-B1E1-0105279F6A56}"/>
              </a:ext>
            </a:extLst>
          </p:cNvPr>
          <p:cNvGrpSpPr/>
          <p:nvPr/>
        </p:nvGrpSpPr>
        <p:grpSpPr>
          <a:xfrm>
            <a:off x="2685283" y="1024985"/>
            <a:ext cx="6726762" cy="1080000"/>
            <a:chOff x="2685283" y="1281657"/>
            <a:chExt cx="6726762" cy="1080000"/>
          </a:xfrm>
        </p:grpSpPr>
        <mc:AlternateContent xmlns:mc="http://schemas.openxmlformats.org/markup-compatibility/2006" xmlns:a14="http://schemas.microsoft.com/office/drawing/2010/main">
          <mc:Choice Requires="a14">
            <p:sp>
              <p:nvSpPr>
                <p:cNvPr id="8" name="Right Arrow 7">
                  <a:extLst>
                    <a:ext uri="{FF2B5EF4-FFF2-40B4-BE49-F238E27FC236}">
                      <a16:creationId xmlns:a16="http://schemas.microsoft.com/office/drawing/2014/main" id="{2E3E5652-2653-2045-BD22-145AE3DEE258}"/>
                    </a:ext>
                  </a:extLst>
                </p:cNvPr>
                <p:cNvSpPr/>
                <p:nvPr/>
              </p:nvSpPr>
              <p:spPr>
                <a:xfrm>
                  <a:off x="7972045" y="1281657"/>
                  <a:ext cx="1440000" cy="1080000"/>
                </a:xfrm>
                <a:prstGeom prst="rightArrow">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𝑦</m:t>
                        </m:r>
                      </m:oMath>
                    </m:oMathPara>
                  </a14:m>
                  <a:endParaRPr lang="en-US" sz="3600" dirty="0">
                    <a:solidFill>
                      <a:schemeClr val="tx1"/>
                    </a:solidFill>
                  </a:endParaRPr>
                </a:p>
              </p:txBody>
            </p:sp>
          </mc:Choice>
          <mc:Fallback xmlns="">
            <p:sp>
              <p:nvSpPr>
                <p:cNvPr id="8" name="Right Arrow 7">
                  <a:extLst>
                    <a:ext uri="{FF2B5EF4-FFF2-40B4-BE49-F238E27FC236}">
                      <a16:creationId xmlns:a16="http://schemas.microsoft.com/office/drawing/2014/main" id="{2E3E5652-2653-2045-BD22-145AE3DEE258}"/>
                    </a:ext>
                  </a:extLst>
                </p:cNvPr>
                <p:cNvSpPr>
                  <a:spLocks noRot="1" noChangeAspect="1" noMove="1" noResize="1" noEditPoints="1" noAdjustHandles="1" noChangeArrowheads="1" noChangeShapeType="1" noTextEdit="1"/>
                </p:cNvSpPr>
                <p:nvPr/>
              </p:nvSpPr>
              <p:spPr>
                <a:xfrm>
                  <a:off x="7972045" y="1281657"/>
                  <a:ext cx="1440000" cy="1080000"/>
                </a:xfrm>
                <a:prstGeom prst="rightArrow">
                  <a:avLst/>
                </a:prstGeom>
                <a:blipFill>
                  <a:blip r:embed="rId11"/>
                  <a:stretch>
                    <a:fillRect/>
                  </a:stretch>
                </a:blipFill>
                <a:ln>
                  <a:solidFill>
                    <a:schemeClr val="bg1">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Left Arrow 8">
                  <a:extLst>
                    <a:ext uri="{FF2B5EF4-FFF2-40B4-BE49-F238E27FC236}">
                      <a16:creationId xmlns:a16="http://schemas.microsoft.com/office/drawing/2014/main" id="{20E332BB-6122-5141-90A3-7809AA5938D4}"/>
                    </a:ext>
                  </a:extLst>
                </p:cNvPr>
                <p:cNvSpPr/>
                <p:nvPr/>
              </p:nvSpPr>
              <p:spPr>
                <a:xfrm>
                  <a:off x="2685283" y="1281657"/>
                  <a:ext cx="1440000" cy="1080000"/>
                </a:xfrm>
                <a:prstGeom prst="leftArrow">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𝑥</m:t>
                        </m:r>
                      </m:oMath>
                    </m:oMathPara>
                  </a14:m>
                  <a:endParaRPr lang="en-US" sz="3600" dirty="0">
                    <a:solidFill>
                      <a:schemeClr val="tx1"/>
                    </a:solidFill>
                  </a:endParaRPr>
                </a:p>
              </p:txBody>
            </p:sp>
          </mc:Choice>
          <mc:Fallback xmlns="">
            <p:sp>
              <p:nvSpPr>
                <p:cNvPr id="9" name="Left Arrow 8">
                  <a:extLst>
                    <a:ext uri="{FF2B5EF4-FFF2-40B4-BE49-F238E27FC236}">
                      <a16:creationId xmlns:a16="http://schemas.microsoft.com/office/drawing/2014/main" id="{20E332BB-6122-5141-90A3-7809AA5938D4}"/>
                    </a:ext>
                  </a:extLst>
                </p:cNvPr>
                <p:cNvSpPr>
                  <a:spLocks noRot="1" noChangeAspect="1" noMove="1" noResize="1" noEditPoints="1" noAdjustHandles="1" noChangeArrowheads="1" noChangeShapeType="1" noTextEdit="1"/>
                </p:cNvSpPr>
                <p:nvPr/>
              </p:nvSpPr>
              <p:spPr>
                <a:xfrm>
                  <a:off x="2685283" y="1281657"/>
                  <a:ext cx="1440000" cy="1080000"/>
                </a:xfrm>
                <a:prstGeom prst="leftArrow">
                  <a:avLst/>
                </a:prstGeom>
                <a:blipFill>
                  <a:blip r:embed="rId12"/>
                  <a:stretch>
                    <a:fillRect/>
                  </a:stretch>
                </a:blipFill>
                <a:ln>
                  <a:solidFill>
                    <a:schemeClr val="bg1">
                      <a:lumMod val="50000"/>
                    </a:schemeClr>
                  </a:solidFill>
                </a:ln>
              </p:spPr>
              <p:txBody>
                <a:bodyPr/>
                <a:lstStyle/>
                <a:p>
                  <a:r>
                    <a:rPr lang="en-US">
                      <a:noFill/>
                    </a:rPr>
                    <a:t> </a:t>
                  </a:r>
                </a:p>
              </p:txBody>
            </p:sp>
          </mc:Fallback>
        </mc:AlternateContent>
      </p:grpSp>
      <p:pic>
        <p:nvPicPr>
          <p:cNvPr id="25" name="Picture 24">
            <a:extLst>
              <a:ext uri="{FF2B5EF4-FFF2-40B4-BE49-F238E27FC236}">
                <a16:creationId xmlns:a16="http://schemas.microsoft.com/office/drawing/2014/main" id="{18C0702A-7365-3D44-AC32-C32DADE42B92}"/>
              </a:ext>
            </a:extLst>
          </p:cNvPr>
          <p:cNvPicPr>
            <a:picLocks noChangeAspect="1"/>
          </p:cNvPicPr>
          <p:nvPr/>
        </p:nvPicPr>
        <p:blipFill>
          <a:blip r:embed="rId13"/>
          <a:stretch>
            <a:fillRect/>
          </a:stretch>
        </p:blipFill>
        <p:spPr>
          <a:xfrm>
            <a:off x="618611" y="1211295"/>
            <a:ext cx="1239188" cy="1908825"/>
          </a:xfrm>
          <a:prstGeom prst="rect">
            <a:avLst/>
          </a:prstGeom>
        </p:spPr>
      </p:pic>
      <p:pic>
        <p:nvPicPr>
          <p:cNvPr id="29" name="Picture 28">
            <a:extLst>
              <a:ext uri="{FF2B5EF4-FFF2-40B4-BE49-F238E27FC236}">
                <a16:creationId xmlns:a16="http://schemas.microsoft.com/office/drawing/2014/main" id="{3959BC90-6CBF-8F49-9F41-C3CEDAA34E2D}"/>
              </a:ext>
            </a:extLst>
          </p:cNvPr>
          <p:cNvPicPr>
            <a:picLocks noChangeAspect="1"/>
          </p:cNvPicPr>
          <p:nvPr/>
        </p:nvPicPr>
        <p:blipFill>
          <a:blip r:embed="rId14"/>
          <a:stretch>
            <a:fillRect/>
          </a:stretch>
        </p:blipFill>
        <p:spPr>
          <a:xfrm>
            <a:off x="10477248" y="877881"/>
            <a:ext cx="1459775" cy="2162187"/>
          </a:xfrm>
          <a:prstGeom prst="rect">
            <a:avLst/>
          </a:prstGeom>
        </p:spPr>
      </p:pic>
      <p:pic>
        <p:nvPicPr>
          <p:cNvPr id="3" name="Picture 2">
            <a:extLst>
              <a:ext uri="{FF2B5EF4-FFF2-40B4-BE49-F238E27FC236}">
                <a16:creationId xmlns:a16="http://schemas.microsoft.com/office/drawing/2014/main" id="{8F6D818E-3F74-F242-B30F-A111100442F2}"/>
              </a:ext>
            </a:extLst>
          </p:cNvPr>
          <p:cNvPicPr>
            <a:picLocks noChangeAspect="1"/>
          </p:cNvPicPr>
          <p:nvPr/>
        </p:nvPicPr>
        <p:blipFill>
          <a:blip r:embed="rId15"/>
          <a:stretch>
            <a:fillRect/>
          </a:stretch>
        </p:blipFill>
        <p:spPr>
          <a:xfrm>
            <a:off x="5474066" y="575132"/>
            <a:ext cx="1491029" cy="2081228"/>
          </a:xfrm>
          <a:prstGeom prst="rect">
            <a:avLst/>
          </a:prstGeom>
        </p:spPr>
      </p:pic>
    </p:spTree>
    <p:extLst>
      <p:ext uri="{BB962C8B-B14F-4D97-AF65-F5344CB8AC3E}">
        <p14:creationId xmlns:p14="http://schemas.microsoft.com/office/powerpoint/2010/main" val="256723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linds(horizontal)">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linds(horizontal)">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linds(horizontal)">
                                      <p:cBhvr>
                                        <p:cTn id="26" dur="500"/>
                                        <p:tgtEl>
                                          <p:spTgt spid="19"/>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F56408-7FA0-0644-9996-53FE5A69DE42}"/>
              </a:ext>
            </a:extLst>
          </p:cNvPr>
          <p:cNvSpPr>
            <a:spLocks noGrp="1"/>
          </p:cNvSpPr>
          <p:nvPr>
            <p:ph type="title"/>
          </p:nvPr>
        </p:nvSpPr>
        <p:spPr/>
        <p:txBody>
          <a:bodyPr/>
          <a:lstStyle/>
          <a:p>
            <a:r>
              <a:rPr lang="en-ZA" b="1" dirty="0"/>
              <a:t>CHSH G</a:t>
            </a:r>
            <a:r>
              <a:rPr lang="en-ZA" dirty="0"/>
              <a:t>ame: Quantum Strategy</a:t>
            </a:r>
            <a:endParaRPr lang="en-US" dirty="0"/>
          </a:p>
        </p:txBody>
      </p:sp>
      <p:sp>
        <p:nvSpPr>
          <p:cNvPr id="7" name="Oval 6">
            <a:extLst>
              <a:ext uri="{FF2B5EF4-FFF2-40B4-BE49-F238E27FC236}">
                <a16:creationId xmlns:a16="http://schemas.microsoft.com/office/drawing/2014/main" id="{6E28C0B7-047B-E647-B83C-0BB40FCC20E7}"/>
              </a:ext>
            </a:extLst>
          </p:cNvPr>
          <p:cNvSpPr/>
          <p:nvPr/>
        </p:nvSpPr>
        <p:spPr>
          <a:xfrm>
            <a:off x="2779725" y="1451581"/>
            <a:ext cx="360000" cy="360000"/>
          </a:xfrm>
          <a:prstGeom prst="ellipse">
            <a:avLst/>
          </a:prstGeom>
          <a:gradFill flip="none" rotWithShape="1">
            <a:gsLst>
              <a:gs pos="0">
                <a:srgbClr val="FF0000"/>
              </a:gs>
              <a:gs pos="48000">
                <a:schemeClr val="accent2">
                  <a:lumMod val="40000"/>
                  <a:lumOff val="60000"/>
                </a:schemeClr>
              </a:gs>
              <a:gs pos="100000">
                <a:schemeClr val="accent2">
                  <a:lumMod val="60000"/>
                  <a:lumOff val="4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434C6A8-098B-ED4D-AFA7-53BEEA046E57}"/>
              </a:ext>
            </a:extLst>
          </p:cNvPr>
          <p:cNvSpPr/>
          <p:nvPr/>
        </p:nvSpPr>
        <p:spPr>
          <a:xfrm>
            <a:off x="8888881" y="1461274"/>
            <a:ext cx="360000" cy="360000"/>
          </a:xfrm>
          <a:prstGeom prst="ellipse">
            <a:avLst/>
          </a:prstGeom>
          <a:gradFill flip="none" rotWithShape="1">
            <a:gsLst>
              <a:gs pos="0">
                <a:schemeClr val="accent5">
                  <a:lumMod val="20000"/>
                  <a:lumOff val="80000"/>
                </a:schemeClr>
              </a:gs>
              <a:gs pos="48000">
                <a:schemeClr val="accent5">
                  <a:lumMod val="40000"/>
                  <a:lumOff val="60000"/>
                </a:schemeClr>
              </a:gs>
              <a:gs pos="100000">
                <a:schemeClr val="accent1">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D4E419F6-9B5D-BE43-AB09-516D1D050065}"/>
              </a:ext>
            </a:extLst>
          </p:cNvPr>
          <p:cNvSpPr/>
          <p:nvPr/>
        </p:nvSpPr>
        <p:spPr>
          <a:xfrm>
            <a:off x="3428925" y="1466541"/>
            <a:ext cx="5535498" cy="377051"/>
          </a:xfrm>
          <a:custGeom>
            <a:avLst/>
            <a:gdLst>
              <a:gd name="connsiteX0" fmla="*/ 0 w 5849007"/>
              <a:gd name="connsiteY0" fmla="*/ 335810 h 619882"/>
              <a:gd name="connsiteX1" fmla="*/ 583324 w 5849007"/>
              <a:gd name="connsiteY1" fmla="*/ 4734 h 619882"/>
              <a:gd name="connsiteX2" fmla="*/ 1166648 w 5849007"/>
              <a:gd name="connsiteY2" fmla="*/ 556527 h 619882"/>
              <a:gd name="connsiteX3" fmla="*/ 1860331 w 5849007"/>
              <a:gd name="connsiteY3" fmla="*/ 52031 h 619882"/>
              <a:gd name="connsiteX4" fmla="*/ 2490952 w 5849007"/>
              <a:gd name="connsiteY4" fmla="*/ 540762 h 619882"/>
              <a:gd name="connsiteX5" fmla="*/ 3168869 w 5849007"/>
              <a:gd name="connsiteY5" fmla="*/ 83562 h 619882"/>
              <a:gd name="connsiteX6" fmla="*/ 3657600 w 5849007"/>
              <a:gd name="connsiteY6" fmla="*/ 556527 h 619882"/>
              <a:gd name="connsiteX7" fmla="*/ 4414345 w 5849007"/>
              <a:gd name="connsiteY7" fmla="*/ 83562 h 619882"/>
              <a:gd name="connsiteX8" fmla="*/ 4871545 w 5849007"/>
              <a:gd name="connsiteY8" fmla="*/ 619590 h 619882"/>
              <a:gd name="connsiteX9" fmla="*/ 5344510 w 5849007"/>
              <a:gd name="connsiteY9" fmla="*/ 162390 h 619882"/>
              <a:gd name="connsiteX10" fmla="*/ 5849007 w 5849007"/>
              <a:gd name="connsiteY10" fmla="*/ 398872 h 619882"/>
              <a:gd name="connsiteX0" fmla="*/ 0 w 5788047"/>
              <a:gd name="connsiteY0" fmla="*/ 368935 h 618173"/>
              <a:gd name="connsiteX1" fmla="*/ 522364 w 5788047"/>
              <a:gd name="connsiteY1" fmla="*/ 3025 h 618173"/>
              <a:gd name="connsiteX2" fmla="*/ 1105688 w 5788047"/>
              <a:gd name="connsiteY2" fmla="*/ 554818 h 618173"/>
              <a:gd name="connsiteX3" fmla="*/ 1799371 w 5788047"/>
              <a:gd name="connsiteY3" fmla="*/ 50322 h 618173"/>
              <a:gd name="connsiteX4" fmla="*/ 2429992 w 5788047"/>
              <a:gd name="connsiteY4" fmla="*/ 539053 h 618173"/>
              <a:gd name="connsiteX5" fmla="*/ 3107909 w 5788047"/>
              <a:gd name="connsiteY5" fmla="*/ 81853 h 618173"/>
              <a:gd name="connsiteX6" fmla="*/ 3596640 w 5788047"/>
              <a:gd name="connsiteY6" fmla="*/ 554818 h 618173"/>
              <a:gd name="connsiteX7" fmla="*/ 4353385 w 5788047"/>
              <a:gd name="connsiteY7" fmla="*/ 81853 h 618173"/>
              <a:gd name="connsiteX8" fmla="*/ 4810585 w 5788047"/>
              <a:gd name="connsiteY8" fmla="*/ 617881 h 618173"/>
              <a:gd name="connsiteX9" fmla="*/ 5283550 w 5788047"/>
              <a:gd name="connsiteY9" fmla="*/ 160681 h 618173"/>
              <a:gd name="connsiteX10" fmla="*/ 5788047 w 5788047"/>
              <a:gd name="connsiteY10" fmla="*/ 397163 h 618173"/>
              <a:gd name="connsiteX0" fmla="*/ 0 w 5788047"/>
              <a:gd name="connsiteY0" fmla="*/ 372774 h 671944"/>
              <a:gd name="connsiteX1" fmla="*/ 522364 w 5788047"/>
              <a:gd name="connsiteY1" fmla="*/ 6864 h 671944"/>
              <a:gd name="connsiteX2" fmla="*/ 1096979 w 5788047"/>
              <a:gd name="connsiteY2" fmla="*/ 671868 h 671944"/>
              <a:gd name="connsiteX3" fmla="*/ 1799371 w 5788047"/>
              <a:gd name="connsiteY3" fmla="*/ 54161 h 671944"/>
              <a:gd name="connsiteX4" fmla="*/ 2429992 w 5788047"/>
              <a:gd name="connsiteY4" fmla="*/ 542892 h 671944"/>
              <a:gd name="connsiteX5" fmla="*/ 3107909 w 5788047"/>
              <a:gd name="connsiteY5" fmla="*/ 85692 h 671944"/>
              <a:gd name="connsiteX6" fmla="*/ 3596640 w 5788047"/>
              <a:gd name="connsiteY6" fmla="*/ 558657 h 671944"/>
              <a:gd name="connsiteX7" fmla="*/ 4353385 w 5788047"/>
              <a:gd name="connsiteY7" fmla="*/ 85692 h 671944"/>
              <a:gd name="connsiteX8" fmla="*/ 4810585 w 5788047"/>
              <a:gd name="connsiteY8" fmla="*/ 621720 h 671944"/>
              <a:gd name="connsiteX9" fmla="*/ 5283550 w 5788047"/>
              <a:gd name="connsiteY9" fmla="*/ 164520 h 671944"/>
              <a:gd name="connsiteX10" fmla="*/ 5788047 w 5788047"/>
              <a:gd name="connsiteY10" fmla="*/ 401002 h 671944"/>
              <a:gd name="connsiteX0" fmla="*/ 0 w 5788047"/>
              <a:gd name="connsiteY0" fmla="*/ 388881 h 687991"/>
              <a:gd name="connsiteX1" fmla="*/ 522364 w 5788047"/>
              <a:gd name="connsiteY1" fmla="*/ 22971 h 687991"/>
              <a:gd name="connsiteX2" fmla="*/ 1096979 w 5788047"/>
              <a:gd name="connsiteY2" fmla="*/ 687975 h 687991"/>
              <a:gd name="connsiteX3" fmla="*/ 1808080 w 5788047"/>
              <a:gd name="connsiteY3" fmla="*/ 600 h 687991"/>
              <a:gd name="connsiteX4" fmla="*/ 2429992 w 5788047"/>
              <a:gd name="connsiteY4" fmla="*/ 558999 h 687991"/>
              <a:gd name="connsiteX5" fmla="*/ 3107909 w 5788047"/>
              <a:gd name="connsiteY5" fmla="*/ 101799 h 687991"/>
              <a:gd name="connsiteX6" fmla="*/ 3596640 w 5788047"/>
              <a:gd name="connsiteY6" fmla="*/ 574764 h 687991"/>
              <a:gd name="connsiteX7" fmla="*/ 4353385 w 5788047"/>
              <a:gd name="connsiteY7" fmla="*/ 101799 h 687991"/>
              <a:gd name="connsiteX8" fmla="*/ 4810585 w 5788047"/>
              <a:gd name="connsiteY8" fmla="*/ 637827 h 687991"/>
              <a:gd name="connsiteX9" fmla="*/ 5283550 w 5788047"/>
              <a:gd name="connsiteY9" fmla="*/ 180627 h 687991"/>
              <a:gd name="connsiteX10" fmla="*/ 5788047 w 5788047"/>
              <a:gd name="connsiteY10" fmla="*/ 417109 h 687991"/>
              <a:gd name="connsiteX0" fmla="*/ 0 w 5788047"/>
              <a:gd name="connsiteY0" fmla="*/ 388285 h 698093"/>
              <a:gd name="connsiteX1" fmla="*/ 522364 w 5788047"/>
              <a:gd name="connsiteY1" fmla="*/ 22375 h 698093"/>
              <a:gd name="connsiteX2" fmla="*/ 1096979 w 5788047"/>
              <a:gd name="connsiteY2" fmla="*/ 687379 h 698093"/>
              <a:gd name="connsiteX3" fmla="*/ 1808080 w 5788047"/>
              <a:gd name="connsiteY3" fmla="*/ 4 h 698093"/>
              <a:gd name="connsiteX4" fmla="*/ 2473535 w 5788047"/>
              <a:gd name="connsiteY4" fmla="*/ 697740 h 698093"/>
              <a:gd name="connsiteX5" fmla="*/ 3107909 w 5788047"/>
              <a:gd name="connsiteY5" fmla="*/ 101203 h 698093"/>
              <a:gd name="connsiteX6" fmla="*/ 3596640 w 5788047"/>
              <a:gd name="connsiteY6" fmla="*/ 574168 h 698093"/>
              <a:gd name="connsiteX7" fmla="*/ 4353385 w 5788047"/>
              <a:gd name="connsiteY7" fmla="*/ 101203 h 698093"/>
              <a:gd name="connsiteX8" fmla="*/ 4810585 w 5788047"/>
              <a:gd name="connsiteY8" fmla="*/ 637231 h 698093"/>
              <a:gd name="connsiteX9" fmla="*/ 5283550 w 5788047"/>
              <a:gd name="connsiteY9" fmla="*/ 180031 h 698093"/>
              <a:gd name="connsiteX10" fmla="*/ 5788047 w 5788047"/>
              <a:gd name="connsiteY10" fmla="*/ 416513 h 698093"/>
              <a:gd name="connsiteX0" fmla="*/ 0 w 5788047"/>
              <a:gd name="connsiteY0" fmla="*/ 388285 h 697740"/>
              <a:gd name="connsiteX1" fmla="*/ 522364 w 5788047"/>
              <a:gd name="connsiteY1" fmla="*/ 22375 h 697740"/>
              <a:gd name="connsiteX2" fmla="*/ 1096979 w 5788047"/>
              <a:gd name="connsiteY2" fmla="*/ 687379 h 697740"/>
              <a:gd name="connsiteX3" fmla="*/ 1808080 w 5788047"/>
              <a:gd name="connsiteY3" fmla="*/ 4 h 697740"/>
              <a:gd name="connsiteX4" fmla="*/ 2473535 w 5788047"/>
              <a:gd name="connsiteY4" fmla="*/ 697740 h 697740"/>
              <a:gd name="connsiteX5" fmla="*/ 3116618 w 5788047"/>
              <a:gd name="connsiteY5" fmla="*/ 5408 h 697740"/>
              <a:gd name="connsiteX6" fmla="*/ 3596640 w 5788047"/>
              <a:gd name="connsiteY6" fmla="*/ 574168 h 697740"/>
              <a:gd name="connsiteX7" fmla="*/ 4353385 w 5788047"/>
              <a:gd name="connsiteY7" fmla="*/ 101203 h 697740"/>
              <a:gd name="connsiteX8" fmla="*/ 4810585 w 5788047"/>
              <a:gd name="connsiteY8" fmla="*/ 637231 h 697740"/>
              <a:gd name="connsiteX9" fmla="*/ 5283550 w 5788047"/>
              <a:gd name="connsiteY9" fmla="*/ 180031 h 697740"/>
              <a:gd name="connsiteX10" fmla="*/ 5788047 w 5788047"/>
              <a:gd name="connsiteY10" fmla="*/ 416513 h 697740"/>
              <a:gd name="connsiteX0" fmla="*/ 0 w 5788047"/>
              <a:gd name="connsiteY0" fmla="*/ 388285 h 697740"/>
              <a:gd name="connsiteX1" fmla="*/ 522364 w 5788047"/>
              <a:gd name="connsiteY1" fmla="*/ 22375 h 697740"/>
              <a:gd name="connsiteX2" fmla="*/ 1096979 w 5788047"/>
              <a:gd name="connsiteY2" fmla="*/ 687379 h 697740"/>
              <a:gd name="connsiteX3" fmla="*/ 1808080 w 5788047"/>
              <a:gd name="connsiteY3" fmla="*/ 4 h 697740"/>
              <a:gd name="connsiteX4" fmla="*/ 2473535 w 5788047"/>
              <a:gd name="connsiteY4" fmla="*/ 697740 h 697740"/>
              <a:gd name="connsiteX5" fmla="*/ 3116618 w 5788047"/>
              <a:gd name="connsiteY5" fmla="*/ 5408 h 697740"/>
              <a:gd name="connsiteX6" fmla="*/ 3718560 w 5788047"/>
              <a:gd name="connsiteY6" fmla="*/ 678671 h 697740"/>
              <a:gd name="connsiteX7" fmla="*/ 4353385 w 5788047"/>
              <a:gd name="connsiteY7" fmla="*/ 101203 h 697740"/>
              <a:gd name="connsiteX8" fmla="*/ 4810585 w 5788047"/>
              <a:gd name="connsiteY8" fmla="*/ 637231 h 697740"/>
              <a:gd name="connsiteX9" fmla="*/ 5283550 w 5788047"/>
              <a:gd name="connsiteY9" fmla="*/ 180031 h 697740"/>
              <a:gd name="connsiteX10" fmla="*/ 5788047 w 5788047"/>
              <a:gd name="connsiteY10" fmla="*/ 416513 h 697740"/>
              <a:gd name="connsiteX0" fmla="*/ 0 w 5788047"/>
              <a:gd name="connsiteY0" fmla="*/ 388285 h 697740"/>
              <a:gd name="connsiteX1" fmla="*/ 522364 w 5788047"/>
              <a:gd name="connsiteY1" fmla="*/ 22375 h 697740"/>
              <a:gd name="connsiteX2" fmla="*/ 1096979 w 5788047"/>
              <a:gd name="connsiteY2" fmla="*/ 687379 h 697740"/>
              <a:gd name="connsiteX3" fmla="*/ 1808080 w 5788047"/>
              <a:gd name="connsiteY3" fmla="*/ 4 h 697740"/>
              <a:gd name="connsiteX4" fmla="*/ 2473535 w 5788047"/>
              <a:gd name="connsiteY4" fmla="*/ 697740 h 697740"/>
              <a:gd name="connsiteX5" fmla="*/ 3116618 w 5788047"/>
              <a:gd name="connsiteY5" fmla="*/ 5408 h 697740"/>
              <a:gd name="connsiteX6" fmla="*/ 3718560 w 5788047"/>
              <a:gd name="connsiteY6" fmla="*/ 678671 h 697740"/>
              <a:gd name="connsiteX7" fmla="*/ 4362094 w 5788047"/>
              <a:gd name="connsiteY7" fmla="*/ 5408 h 697740"/>
              <a:gd name="connsiteX8" fmla="*/ 4810585 w 5788047"/>
              <a:gd name="connsiteY8" fmla="*/ 637231 h 697740"/>
              <a:gd name="connsiteX9" fmla="*/ 5283550 w 5788047"/>
              <a:gd name="connsiteY9" fmla="*/ 180031 h 697740"/>
              <a:gd name="connsiteX10" fmla="*/ 5788047 w 5788047"/>
              <a:gd name="connsiteY10" fmla="*/ 416513 h 697740"/>
              <a:gd name="connsiteX0" fmla="*/ 0 w 5788047"/>
              <a:gd name="connsiteY0" fmla="*/ 388285 h 697740"/>
              <a:gd name="connsiteX1" fmla="*/ 522364 w 5788047"/>
              <a:gd name="connsiteY1" fmla="*/ 22375 h 697740"/>
              <a:gd name="connsiteX2" fmla="*/ 1096979 w 5788047"/>
              <a:gd name="connsiteY2" fmla="*/ 687379 h 697740"/>
              <a:gd name="connsiteX3" fmla="*/ 1808080 w 5788047"/>
              <a:gd name="connsiteY3" fmla="*/ 4 h 697740"/>
              <a:gd name="connsiteX4" fmla="*/ 2473535 w 5788047"/>
              <a:gd name="connsiteY4" fmla="*/ 697740 h 697740"/>
              <a:gd name="connsiteX5" fmla="*/ 3116618 w 5788047"/>
              <a:gd name="connsiteY5" fmla="*/ 5408 h 697740"/>
              <a:gd name="connsiteX6" fmla="*/ 3718560 w 5788047"/>
              <a:gd name="connsiteY6" fmla="*/ 678671 h 697740"/>
              <a:gd name="connsiteX7" fmla="*/ 4362094 w 5788047"/>
              <a:gd name="connsiteY7" fmla="*/ 5408 h 697740"/>
              <a:gd name="connsiteX8" fmla="*/ 4828002 w 5788047"/>
              <a:gd name="connsiteY8" fmla="*/ 663357 h 697740"/>
              <a:gd name="connsiteX9" fmla="*/ 5283550 w 5788047"/>
              <a:gd name="connsiteY9" fmla="*/ 180031 h 697740"/>
              <a:gd name="connsiteX10" fmla="*/ 5788047 w 5788047"/>
              <a:gd name="connsiteY10" fmla="*/ 416513 h 697740"/>
              <a:gd name="connsiteX0" fmla="*/ 0 w 5788047"/>
              <a:gd name="connsiteY0" fmla="*/ 403340 h 712795"/>
              <a:gd name="connsiteX1" fmla="*/ 522364 w 5788047"/>
              <a:gd name="connsiteY1" fmla="*/ 37430 h 712795"/>
              <a:gd name="connsiteX2" fmla="*/ 1096979 w 5788047"/>
              <a:gd name="connsiteY2" fmla="*/ 702434 h 712795"/>
              <a:gd name="connsiteX3" fmla="*/ 1808080 w 5788047"/>
              <a:gd name="connsiteY3" fmla="*/ 15059 h 712795"/>
              <a:gd name="connsiteX4" fmla="*/ 2473535 w 5788047"/>
              <a:gd name="connsiteY4" fmla="*/ 712795 h 712795"/>
              <a:gd name="connsiteX5" fmla="*/ 3116618 w 5788047"/>
              <a:gd name="connsiteY5" fmla="*/ 20463 h 712795"/>
              <a:gd name="connsiteX6" fmla="*/ 3718560 w 5788047"/>
              <a:gd name="connsiteY6" fmla="*/ 693726 h 712795"/>
              <a:gd name="connsiteX7" fmla="*/ 4362094 w 5788047"/>
              <a:gd name="connsiteY7" fmla="*/ 20463 h 712795"/>
              <a:gd name="connsiteX8" fmla="*/ 4828002 w 5788047"/>
              <a:gd name="connsiteY8" fmla="*/ 678412 h 712795"/>
              <a:gd name="connsiteX9" fmla="*/ 5327093 w 5788047"/>
              <a:gd name="connsiteY9" fmla="*/ 3498 h 712795"/>
              <a:gd name="connsiteX10" fmla="*/ 5788047 w 5788047"/>
              <a:gd name="connsiteY10" fmla="*/ 431568 h 712795"/>
              <a:gd name="connsiteX0" fmla="*/ 0 w 5788047"/>
              <a:gd name="connsiteY0" fmla="*/ 403340 h 721503"/>
              <a:gd name="connsiteX1" fmla="*/ 522364 w 5788047"/>
              <a:gd name="connsiteY1" fmla="*/ 37430 h 721503"/>
              <a:gd name="connsiteX2" fmla="*/ 1096979 w 5788047"/>
              <a:gd name="connsiteY2" fmla="*/ 702434 h 721503"/>
              <a:gd name="connsiteX3" fmla="*/ 1808080 w 5788047"/>
              <a:gd name="connsiteY3" fmla="*/ 15059 h 721503"/>
              <a:gd name="connsiteX4" fmla="*/ 2325490 w 5788047"/>
              <a:gd name="connsiteY4" fmla="*/ 721503 h 721503"/>
              <a:gd name="connsiteX5" fmla="*/ 3116618 w 5788047"/>
              <a:gd name="connsiteY5" fmla="*/ 20463 h 721503"/>
              <a:gd name="connsiteX6" fmla="*/ 3718560 w 5788047"/>
              <a:gd name="connsiteY6" fmla="*/ 693726 h 721503"/>
              <a:gd name="connsiteX7" fmla="*/ 4362094 w 5788047"/>
              <a:gd name="connsiteY7" fmla="*/ 20463 h 721503"/>
              <a:gd name="connsiteX8" fmla="*/ 4828002 w 5788047"/>
              <a:gd name="connsiteY8" fmla="*/ 678412 h 721503"/>
              <a:gd name="connsiteX9" fmla="*/ 5327093 w 5788047"/>
              <a:gd name="connsiteY9" fmla="*/ 3498 h 721503"/>
              <a:gd name="connsiteX10" fmla="*/ 5788047 w 5788047"/>
              <a:gd name="connsiteY10" fmla="*/ 431568 h 721503"/>
              <a:gd name="connsiteX0" fmla="*/ 0 w 5788047"/>
              <a:gd name="connsiteY0" fmla="*/ 403340 h 721503"/>
              <a:gd name="connsiteX1" fmla="*/ 522364 w 5788047"/>
              <a:gd name="connsiteY1" fmla="*/ 37430 h 721503"/>
              <a:gd name="connsiteX2" fmla="*/ 1096979 w 5788047"/>
              <a:gd name="connsiteY2" fmla="*/ 702434 h 721503"/>
              <a:gd name="connsiteX3" fmla="*/ 1808080 w 5788047"/>
              <a:gd name="connsiteY3" fmla="*/ 15059 h 721503"/>
              <a:gd name="connsiteX4" fmla="*/ 2325490 w 5788047"/>
              <a:gd name="connsiteY4" fmla="*/ 721503 h 721503"/>
              <a:gd name="connsiteX5" fmla="*/ 3116618 w 5788047"/>
              <a:gd name="connsiteY5" fmla="*/ 20463 h 721503"/>
              <a:gd name="connsiteX6" fmla="*/ 3587931 w 5788047"/>
              <a:gd name="connsiteY6" fmla="*/ 702435 h 721503"/>
              <a:gd name="connsiteX7" fmla="*/ 4362094 w 5788047"/>
              <a:gd name="connsiteY7" fmla="*/ 20463 h 721503"/>
              <a:gd name="connsiteX8" fmla="*/ 4828002 w 5788047"/>
              <a:gd name="connsiteY8" fmla="*/ 678412 h 721503"/>
              <a:gd name="connsiteX9" fmla="*/ 5327093 w 5788047"/>
              <a:gd name="connsiteY9" fmla="*/ 3498 h 721503"/>
              <a:gd name="connsiteX10" fmla="*/ 5788047 w 5788047"/>
              <a:gd name="connsiteY10" fmla="*/ 431568 h 721503"/>
              <a:gd name="connsiteX0" fmla="*/ 0 w 5788047"/>
              <a:gd name="connsiteY0" fmla="*/ 403565 h 721728"/>
              <a:gd name="connsiteX1" fmla="*/ 522364 w 5788047"/>
              <a:gd name="connsiteY1" fmla="*/ 37655 h 721728"/>
              <a:gd name="connsiteX2" fmla="*/ 1096979 w 5788047"/>
              <a:gd name="connsiteY2" fmla="*/ 702659 h 721728"/>
              <a:gd name="connsiteX3" fmla="*/ 1808080 w 5788047"/>
              <a:gd name="connsiteY3" fmla="*/ 15284 h 721728"/>
              <a:gd name="connsiteX4" fmla="*/ 2325490 w 5788047"/>
              <a:gd name="connsiteY4" fmla="*/ 721728 h 721728"/>
              <a:gd name="connsiteX5" fmla="*/ 3116618 w 5788047"/>
              <a:gd name="connsiteY5" fmla="*/ 20688 h 721728"/>
              <a:gd name="connsiteX6" fmla="*/ 3587931 w 5788047"/>
              <a:gd name="connsiteY6" fmla="*/ 702660 h 721728"/>
              <a:gd name="connsiteX7" fmla="*/ 4362094 w 5788047"/>
              <a:gd name="connsiteY7" fmla="*/ 20688 h 721728"/>
              <a:gd name="connsiteX8" fmla="*/ 4671248 w 5788047"/>
              <a:gd name="connsiteY8" fmla="*/ 687345 h 721728"/>
              <a:gd name="connsiteX9" fmla="*/ 5327093 w 5788047"/>
              <a:gd name="connsiteY9" fmla="*/ 3723 h 721728"/>
              <a:gd name="connsiteX10" fmla="*/ 5788047 w 5788047"/>
              <a:gd name="connsiteY10" fmla="*/ 431793 h 721728"/>
              <a:gd name="connsiteX0" fmla="*/ 0 w 5718378"/>
              <a:gd name="connsiteY0" fmla="*/ 403259 h 721422"/>
              <a:gd name="connsiteX1" fmla="*/ 522364 w 5718378"/>
              <a:gd name="connsiteY1" fmla="*/ 37349 h 721422"/>
              <a:gd name="connsiteX2" fmla="*/ 1096979 w 5718378"/>
              <a:gd name="connsiteY2" fmla="*/ 702353 h 721422"/>
              <a:gd name="connsiteX3" fmla="*/ 1808080 w 5718378"/>
              <a:gd name="connsiteY3" fmla="*/ 14978 h 721422"/>
              <a:gd name="connsiteX4" fmla="*/ 2325490 w 5718378"/>
              <a:gd name="connsiteY4" fmla="*/ 721422 h 721422"/>
              <a:gd name="connsiteX5" fmla="*/ 3116618 w 5718378"/>
              <a:gd name="connsiteY5" fmla="*/ 20382 h 721422"/>
              <a:gd name="connsiteX6" fmla="*/ 3587931 w 5718378"/>
              <a:gd name="connsiteY6" fmla="*/ 702354 h 721422"/>
              <a:gd name="connsiteX7" fmla="*/ 4362094 w 5718378"/>
              <a:gd name="connsiteY7" fmla="*/ 20382 h 721422"/>
              <a:gd name="connsiteX8" fmla="*/ 4671248 w 5718378"/>
              <a:gd name="connsiteY8" fmla="*/ 687039 h 721422"/>
              <a:gd name="connsiteX9" fmla="*/ 5327093 w 5718378"/>
              <a:gd name="connsiteY9" fmla="*/ 3417 h 721422"/>
              <a:gd name="connsiteX10" fmla="*/ 5718378 w 5718378"/>
              <a:gd name="connsiteY10" fmla="*/ 440196 h 721422"/>
              <a:gd name="connsiteX0" fmla="*/ 0 w 5718378"/>
              <a:gd name="connsiteY0" fmla="*/ 403259 h 721426"/>
              <a:gd name="connsiteX1" fmla="*/ 522364 w 5718378"/>
              <a:gd name="connsiteY1" fmla="*/ 37349 h 721426"/>
              <a:gd name="connsiteX2" fmla="*/ 1096979 w 5718378"/>
              <a:gd name="connsiteY2" fmla="*/ 702353 h 721426"/>
              <a:gd name="connsiteX3" fmla="*/ 1808080 w 5718378"/>
              <a:gd name="connsiteY3" fmla="*/ 14978 h 721426"/>
              <a:gd name="connsiteX4" fmla="*/ 2325490 w 5718378"/>
              <a:gd name="connsiteY4" fmla="*/ 721422 h 721426"/>
              <a:gd name="connsiteX5" fmla="*/ 2968573 w 5718378"/>
              <a:gd name="connsiteY5" fmla="*/ 2964 h 721426"/>
              <a:gd name="connsiteX6" fmla="*/ 3587931 w 5718378"/>
              <a:gd name="connsiteY6" fmla="*/ 702354 h 721426"/>
              <a:gd name="connsiteX7" fmla="*/ 4362094 w 5718378"/>
              <a:gd name="connsiteY7" fmla="*/ 20382 h 721426"/>
              <a:gd name="connsiteX8" fmla="*/ 4671248 w 5718378"/>
              <a:gd name="connsiteY8" fmla="*/ 687039 h 721426"/>
              <a:gd name="connsiteX9" fmla="*/ 5327093 w 5718378"/>
              <a:gd name="connsiteY9" fmla="*/ 3417 h 721426"/>
              <a:gd name="connsiteX10" fmla="*/ 5718378 w 5718378"/>
              <a:gd name="connsiteY10" fmla="*/ 440196 h 721426"/>
              <a:gd name="connsiteX0" fmla="*/ 0 w 5718378"/>
              <a:gd name="connsiteY0" fmla="*/ 403259 h 721426"/>
              <a:gd name="connsiteX1" fmla="*/ 522364 w 5718378"/>
              <a:gd name="connsiteY1" fmla="*/ 37349 h 721426"/>
              <a:gd name="connsiteX2" fmla="*/ 1096979 w 5718378"/>
              <a:gd name="connsiteY2" fmla="*/ 702353 h 721426"/>
              <a:gd name="connsiteX3" fmla="*/ 1808080 w 5718378"/>
              <a:gd name="connsiteY3" fmla="*/ 14978 h 721426"/>
              <a:gd name="connsiteX4" fmla="*/ 2325490 w 5718378"/>
              <a:gd name="connsiteY4" fmla="*/ 721422 h 721426"/>
              <a:gd name="connsiteX5" fmla="*/ 2968573 w 5718378"/>
              <a:gd name="connsiteY5" fmla="*/ 2964 h 721426"/>
              <a:gd name="connsiteX6" fmla="*/ 3587931 w 5718378"/>
              <a:gd name="connsiteY6" fmla="*/ 702354 h 721426"/>
              <a:gd name="connsiteX7" fmla="*/ 4161797 w 5718378"/>
              <a:gd name="connsiteY7" fmla="*/ 20382 h 721426"/>
              <a:gd name="connsiteX8" fmla="*/ 4671248 w 5718378"/>
              <a:gd name="connsiteY8" fmla="*/ 687039 h 721426"/>
              <a:gd name="connsiteX9" fmla="*/ 5327093 w 5718378"/>
              <a:gd name="connsiteY9" fmla="*/ 3417 h 721426"/>
              <a:gd name="connsiteX10" fmla="*/ 5718378 w 5718378"/>
              <a:gd name="connsiteY10" fmla="*/ 440196 h 721426"/>
              <a:gd name="connsiteX0" fmla="*/ 0 w 5718378"/>
              <a:gd name="connsiteY0" fmla="*/ 403259 h 721426"/>
              <a:gd name="connsiteX1" fmla="*/ 522364 w 5718378"/>
              <a:gd name="connsiteY1" fmla="*/ 37349 h 721426"/>
              <a:gd name="connsiteX2" fmla="*/ 1096979 w 5718378"/>
              <a:gd name="connsiteY2" fmla="*/ 702353 h 721426"/>
              <a:gd name="connsiteX3" fmla="*/ 1808080 w 5718378"/>
              <a:gd name="connsiteY3" fmla="*/ 14978 h 721426"/>
              <a:gd name="connsiteX4" fmla="*/ 2325490 w 5718378"/>
              <a:gd name="connsiteY4" fmla="*/ 721422 h 721426"/>
              <a:gd name="connsiteX5" fmla="*/ 2968573 w 5718378"/>
              <a:gd name="connsiteY5" fmla="*/ 2964 h 721426"/>
              <a:gd name="connsiteX6" fmla="*/ 3587931 w 5718378"/>
              <a:gd name="connsiteY6" fmla="*/ 702354 h 721426"/>
              <a:gd name="connsiteX7" fmla="*/ 4161797 w 5718378"/>
              <a:gd name="connsiteY7" fmla="*/ 20382 h 721426"/>
              <a:gd name="connsiteX8" fmla="*/ 4671248 w 5718378"/>
              <a:gd name="connsiteY8" fmla="*/ 687039 h 721426"/>
              <a:gd name="connsiteX9" fmla="*/ 5170338 w 5718378"/>
              <a:gd name="connsiteY9" fmla="*/ 3417 h 721426"/>
              <a:gd name="connsiteX10" fmla="*/ 5718378 w 5718378"/>
              <a:gd name="connsiteY10" fmla="*/ 440196 h 721426"/>
              <a:gd name="connsiteX0" fmla="*/ 0 w 5718378"/>
              <a:gd name="connsiteY0" fmla="*/ 403259 h 721426"/>
              <a:gd name="connsiteX1" fmla="*/ 522364 w 5718378"/>
              <a:gd name="connsiteY1" fmla="*/ 37349 h 721426"/>
              <a:gd name="connsiteX2" fmla="*/ 1001184 w 5718378"/>
              <a:gd name="connsiteY2" fmla="*/ 702353 h 721426"/>
              <a:gd name="connsiteX3" fmla="*/ 1808080 w 5718378"/>
              <a:gd name="connsiteY3" fmla="*/ 14978 h 721426"/>
              <a:gd name="connsiteX4" fmla="*/ 2325490 w 5718378"/>
              <a:gd name="connsiteY4" fmla="*/ 721422 h 721426"/>
              <a:gd name="connsiteX5" fmla="*/ 2968573 w 5718378"/>
              <a:gd name="connsiteY5" fmla="*/ 2964 h 721426"/>
              <a:gd name="connsiteX6" fmla="*/ 3587931 w 5718378"/>
              <a:gd name="connsiteY6" fmla="*/ 702354 h 721426"/>
              <a:gd name="connsiteX7" fmla="*/ 4161797 w 5718378"/>
              <a:gd name="connsiteY7" fmla="*/ 20382 h 721426"/>
              <a:gd name="connsiteX8" fmla="*/ 4671248 w 5718378"/>
              <a:gd name="connsiteY8" fmla="*/ 687039 h 721426"/>
              <a:gd name="connsiteX9" fmla="*/ 5170338 w 5718378"/>
              <a:gd name="connsiteY9" fmla="*/ 3417 h 721426"/>
              <a:gd name="connsiteX10" fmla="*/ 5718378 w 5718378"/>
              <a:gd name="connsiteY10" fmla="*/ 440196 h 721426"/>
              <a:gd name="connsiteX0" fmla="*/ 0 w 5718378"/>
              <a:gd name="connsiteY0" fmla="*/ 403259 h 721422"/>
              <a:gd name="connsiteX1" fmla="*/ 522364 w 5718378"/>
              <a:gd name="connsiteY1" fmla="*/ 37349 h 721422"/>
              <a:gd name="connsiteX2" fmla="*/ 1001184 w 5718378"/>
              <a:gd name="connsiteY2" fmla="*/ 702353 h 721422"/>
              <a:gd name="connsiteX3" fmla="*/ 1651326 w 5718378"/>
              <a:gd name="connsiteY3" fmla="*/ 6270 h 721422"/>
              <a:gd name="connsiteX4" fmla="*/ 2325490 w 5718378"/>
              <a:gd name="connsiteY4" fmla="*/ 721422 h 721422"/>
              <a:gd name="connsiteX5" fmla="*/ 2968573 w 5718378"/>
              <a:gd name="connsiteY5" fmla="*/ 2964 h 721422"/>
              <a:gd name="connsiteX6" fmla="*/ 3587931 w 5718378"/>
              <a:gd name="connsiteY6" fmla="*/ 702354 h 721422"/>
              <a:gd name="connsiteX7" fmla="*/ 4161797 w 5718378"/>
              <a:gd name="connsiteY7" fmla="*/ 20382 h 721422"/>
              <a:gd name="connsiteX8" fmla="*/ 4671248 w 5718378"/>
              <a:gd name="connsiteY8" fmla="*/ 687039 h 721422"/>
              <a:gd name="connsiteX9" fmla="*/ 5170338 w 5718378"/>
              <a:gd name="connsiteY9" fmla="*/ 3417 h 721422"/>
              <a:gd name="connsiteX10" fmla="*/ 5718378 w 5718378"/>
              <a:gd name="connsiteY10" fmla="*/ 440196 h 721422"/>
              <a:gd name="connsiteX0" fmla="*/ 0 w 5718378"/>
              <a:gd name="connsiteY0" fmla="*/ 403259 h 712713"/>
              <a:gd name="connsiteX1" fmla="*/ 522364 w 5718378"/>
              <a:gd name="connsiteY1" fmla="*/ 37349 h 712713"/>
              <a:gd name="connsiteX2" fmla="*/ 1001184 w 5718378"/>
              <a:gd name="connsiteY2" fmla="*/ 702353 h 712713"/>
              <a:gd name="connsiteX3" fmla="*/ 1651326 w 5718378"/>
              <a:gd name="connsiteY3" fmla="*/ 6270 h 712713"/>
              <a:gd name="connsiteX4" fmla="*/ 2212279 w 5718378"/>
              <a:gd name="connsiteY4" fmla="*/ 712713 h 712713"/>
              <a:gd name="connsiteX5" fmla="*/ 2968573 w 5718378"/>
              <a:gd name="connsiteY5" fmla="*/ 2964 h 712713"/>
              <a:gd name="connsiteX6" fmla="*/ 3587931 w 5718378"/>
              <a:gd name="connsiteY6" fmla="*/ 702354 h 712713"/>
              <a:gd name="connsiteX7" fmla="*/ 4161797 w 5718378"/>
              <a:gd name="connsiteY7" fmla="*/ 20382 h 712713"/>
              <a:gd name="connsiteX8" fmla="*/ 4671248 w 5718378"/>
              <a:gd name="connsiteY8" fmla="*/ 687039 h 712713"/>
              <a:gd name="connsiteX9" fmla="*/ 5170338 w 5718378"/>
              <a:gd name="connsiteY9" fmla="*/ 3417 h 712713"/>
              <a:gd name="connsiteX10" fmla="*/ 5718378 w 5718378"/>
              <a:gd name="connsiteY10" fmla="*/ 440196 h 712713"/>
              <a:gd name="connsiteX0" fmla="*/ 0 w 5718378"/>
              <a:gd name="connsiteY0" fmla="*/ 403259 h 712713"/>
              <a:gd name="connsiteX1" fmla="*/ 522364 w 5718378"/>
              <a:gd name="connsiteY1" fmla="*/ 37349 h 712713"/>
              <a:gd name="connsiteX2" fmla="*/ 1001184 w 5718378"/>
              <a:gd name="connsiteY2" fmla="*/ 702353 h 712713"/>
              <a:gd name="connsiteX3" fmla="*/ 1651326 w 5718378"/>
              <a:gd name="connsiteY3" fmla="*/ 6270 h 712713"/>
              <a:gd name="connsiteX4" fmla="*/ 2212279 w 5718378"/>
              <a:gd name="connsiteY4" fmla="*/ 712713 h 712713"/>
              <a:gd name="connsiteX5" fmla="*/ 2872779 w 5718378"/>
              <a:gd name="connsiteY5" fmla="*/ 11673 h 712713"/>
              <a:gd name="connsiteX6" fmla="*/ 3587931 w 5718378"/>
              <a:gd name="connsiteY6" fmla="*/ 702354 h 712713"/>
              <a:gd name="connsiteX7" fmla="*/ 4161797 w 5718378"/>
              <a:gd name="connsiteY7" fmla="*/ 20382 h 712713"/>
              <a:gd name="connsiteX8" fmla="*/ 4671248 w 5718378"/>
              <a:gd name="connsiteY8" fmla="*/ 687039 h 712713"/>
              <a:gd name="connsiteX9" fmla="*/ 5170338 w 5718378"/>
              <a:gd name="connsiteY9" fmla="*/ 3417 h 712713"/>
              <a:gd name="connsiteX10" fmla="*/ 5718378 w 5718378"/>
              <a:gd name="connsiteY10" fmla="*/ 440196 h 712713"/>
              <a:gd name="connsiteX0" fmla="*/ 0 w 5718378"/>
              <a:gd name="connsiteY0" fmla="*/ 403259 h 712713"/>
              <a:gd name="connsiteX1" fmla="*/ 522364 w 5718378"/>
              <a:gd name="connsiteY1" fmla="*/ 37349 h 712713"/>
              <a:gd name="connsiteX2" fmla="*/ 1001184 w 5718378"/>
              <a:gd name="connsiteY2" fmla="*/ 702353 h 712713"/>
              <a:gd name="connsiteX3" fmla="*/ 1651326 w 5718378"/>
              <a:gd name="connsiteY3" fmla="*/ 6270 h 712713"/>
              <a:gd name="connsiteX4" fmla="*/ 2212279 w 5718378"/>
              <a:gd name="connsiteY4" fmla="*/ 712713 h 712713"/>
              <a:gd name="connsiteX5" fmla="*/ 2872779 w 5718378"/>
              <a:gd name="connsiteY5" fmla="*/ 11673 h 712713"/>
              <a:gd name="connsiteX6" fmla="*/ 3466011 w 5718378"/>
              <a:gd name="connsiteY6" fmla="*/ 711063 h 712713"/>
              <a:gd name="connsiteX7" fmla="*/ 4161797 w 5718378"/>
              <a:gd name="connsiteY7" fmla="*/ 20382 h 712713"/>
              <a:gd name="connsiteX8" fmla="*/ 4671248 w 5718378"/>
              <a:gd name="connsiteY8" fmla="*/ 687039 h 712713"/>
              <a:gd name="connsiteX9" fmla="*/ 5170338 w 5718378"/>
              <a:gd name="connsiteY9" fmla="*/ 3417 h 712713"/>
              <a:gd name="connsiteX10" fmla="*/ 5718378 w 5718378"/>
              <a:gd name="connsiteY10" fmla="*/ 440196 h 712713"/>
              <a:gd name="connsiteX0" fmla="*/ 0 w 5718378"/>
              <a:gd name="connsiteY0" fmla="*/ 403259 h 712713"/>
              <a:gd name="connsiteX1" fmla="*/ 522364 w 5718378"/>
              <a:gd name="connsiteY1" fmla="*/ 37349 h 712713"/>
              <a:gd name="connsiteX2" fmla="*/ 1001184 w 5718378"/>
              <a:gd name="connsiteY2" fmla="*/ 702353 h 712713"/>
              <a:gd name="connsiteX3" fmla="*/ 1651326 w 5718378"/>
              <a:gd name="connsiteY3" fmla="*/ 6270 h 712713"/>
              <a:gd name="connsiteX4" fmla="*/ 2212279 w 5718378"/>
              <a:gd name="connsiteY4" fmla="*/ 712713 h 712713"/>
              <a:gd name="connsiteX5" fmla="*/ 2872779 w 5718378"/>
              <a:gd name="connsiteY5" fmla="*/ 11673 h 712713"/>
              <a:gd name="connsiteX6" fmla="*/ 3466011 w 5718378"/>
              <a:gd name="connsiteY6" fmla="*/ 711063 h 712713"/>
              <a:gd name="connsiteX7" fmla="*/ 4066003 w 5718378"/>
              <a:gd name="connsiteY7" fmla="*/ 11673 h 712713"/>
              <a:gd name="connsiteX8" fmla="*/ 4671248 w 5718378"/>
              <a:gd name="connsiteY8" fmla="*/ 687039 h 712713"/>
              <a:gd name="connsiteX9" fmla="*/ 5170338 w 5718378"/>
              <a:gd name="connsiteY9" fmla="*/ 3417 h 712713"/>
              <a:gd name="connsiteX10" fmla="*/ 5718378 w 5718378"/>
              <a:gd name="connsiteY10" fmla="*/ 440196 h 712713"/>
              <a:gd name="connsiteX0" fmla="*/ 0 w 5718378"/>
              <a:gd name="connsiteY0" fmla="*/ 403259 h 712713"/>
              <a:gd name="connsiteX1" fmla="*/ 522364 w 5718378"/>
              <a:gd name="connsiteY1" fmla="*/ 37349 h 712713"/>
              <a:gd name="connsiteX2" fmla="*/ 1001184 w 5718378"/>
              <a:gd name="connsiteY2" fmla="*/ 702353 h 712713"/>
              <a:gd name="connsiteX3" fmla="*/ 1651326 w 5718378"/>
              <a:gd name="connsiteY3" fmla="*/ 6270 h 712713"/>
              <a:gd name="connsiteX4" fmla="*/ 2212279 w 5718378"/>
              <a:gd name="connsiteY4" fmla="*/ 712713 h 712713"/>
              <a:gd name="connsiteX5" fmla="*/ 2872779 w 5718378"/>
              <a:gd name="connsiteY5" fmla="*/ 11673 h 712713"/>
              <a:gd name="connsiteX6" fmla="*/ 3466011 w 5718378"/>
              <a:gd name="connsiteY6" fmla="*/ 711063 h 712713"/>
              <a:gd name="connsiteX7" fmla="*/ 4066003 w 5718378"/>
              <a:gd name="connsiteY7" fmla="*/ 11673 h 712713"/>
              <a:gd name="connsiteX8" fmla="*/ 4566745 w 5718378"/>
              <a:gd name="connsiteY8" fmla="*/ 687039 h 712713"/>
              <a:gd name="connsiteX9" fmla="*/ 5170338 w 5718378"/>
              <a:gd name="connsiteY9" fmla="*/ 3417 h 712713"/>
              <a:gd name="connsiteX10" fmla="*/ 5718378 w 5718378"/>
              <a:gd name="connsiteY10" fmla="*/ 440196 h 712713"/>
              <a:gd name="connsiteX0" fmla="*/ 0 w 5692252"/>
              <a:gd name="connsiteY0" fmla="*/ 400065 h 709519"/>
              <a:gd name="connsiteX1" fmla="*/ 522364 w 5692252"/>
              <a:gd name="connsiteY1" fmla="*/ 34155 h 709519"/>
              <a:gd name="connsiteX2" fmla="*/ 1001184 w 5692252"/>
              <a:gd name="connsiteY2" fmla="*/ 699159 h 709519"/>
              <a:gd name="connsiteX3" fmla="*/ 1651326 w 5692252"/>
              <a:gd name="connsiteY3" fmla="*/ 3076 h 709519"/>
              <a:gd name="connsiteX4" fmla="*/ 2212279 w 5692252"/>
              <a:gd name="connsiteY4" fmla="*/ 709519 h 709519"/>
              <a:gd name="connsiteX5" fmla="*/ 2872779 w 5692252"/>
              <a:gd name="connsiteY5" fmla="*/ 8479 h 709519"/>
              <a:gd name="connsiteX6" fmla="*/ 3466011 w 5692252"/>
              <a:gd name="connsiteY6" fmla="*/ 707869 h 709519"/>
              <a:gd name="connsiteX7" fmla="*/ 4066003 w 5692252"/>
              <a:gd name="connsiteY7" fmla="*/ 8479 h 709519"/>
              <a:gd name="connsiteX8" fmla="*/ 4566745 w 5692252"/>
              <a:gd name="connsiteY8" fmla="*/ 683845 h 709519"/>
              <a:gd name="connsiteX9" fmla="*/ 5170338 w 5692252"/>
              <a:gd name="connsiteY9" fmla="*/ 223 h 709519"/>
              <a:gd name="connsiteX10" fmla="*/ 5692252 w 5692252"/>
              <a:gd name="connsiteY10" fmla="*/ 611174 h 709519"/>
              <a:gd name="connsiteX0" fmla="*/ 0 w 5640001"/>
              <a:gd name="connsiteY0" fmla="*/ 400013 h 709467"/>
              <a:gd name="connsiteX1" fmla="*/ 522364 w 5640001"/>
              <a:gd name="connsiteY1" fmla="*/ 34103 h 709467"/>
              <a:gd name="connsiteX2" fmla="*/ 1001184 w 5640001"/>
              <a:gd name="connsiteY2" fmla="*/ 699107 h 709467"/>
              <a:gd name="connsiteX3" fmla="*/ 1651326 w 5640001"/>
              <a:gd name="connsiteY3" fmla="*/ 3024 h 709467"/>
              <a:gd name="connsiteX4" fmla="*/ 2212279 w 5640001"/>
              <a:gd name="connsiteY4" fmla="*/ 709467 h 709467"/>
              <a:gd name="connsiteX5" fmla="*/ 2872779 w 5640001"/>
              <a:gd name="connsiteY5" fmla="*/ 8427 h 709467"/>
              <a:gd name="connsiteX6" fmla="*/ 3466011 w 5640001"/>
              <a:gd name="connsiteY6" fmla="*/ 707817 h 709467"/>
              <a:gd name="connsiteX7" fmla="*/ 4066003 w 5640001"/>
              <a:gd name="connsiteY7" fmla="*/ 8427 h 709467"/>
              <a:gd name="connsiteX8" fmla="*/ 4566745 w 5640001"/>
              <a:gd name="connsiteY8" fmla="*/ 683793 h 709467"/>
              <a:gd name="connsiteX9" fmla="*/ 5170338 w 5640001"/>
              <a:gd name="connsiteY9" fmla="*/ 171 h 709467"/>
              <a:gd name="connsiteX10" fmla="*/ 5640001 w 5640001"/>
              <a:gd name="connsiteY10" fmla="*/ 619831 h 709467"/>
              <a:gd name="connsiteX0" fmla="*/ 0 w 5535498"/>
              <a:gd name="connsiteY0" fmla="*/ 408722 h 709467"/>
              <a:gd name="connsiteX1" fmla="*/ 417861 w 5535498"/>
              <a:gd name="connsiteY1" fmla="*/ 34103 h 709467"/>
              <a:gd name="connsiteX2" fmla="*/ 896681 w 5535498"/>
              <a:gd name="connsiteY2" fmla="*/ 699107 h 709467"/>
              <a:gd name="connsiteX3" fmla="*/ 1546823 w 5535498"/>
              <a:gd name="connsiteY3" fmla="*/ 3024 h 709467"/>
              <a:gd name="connsiteX4" fmla="*/ 2107776 w 5535498"/>
              <a:gd name="connsiteY4" fmla="*/ 709467 h 709467"/>
              <a:gd name="connsiteX5" fmla="*/ 2768276 w 5535498"/>
              <a:gd name="connsiteY5" fmla="*/ 8427 h 709467"/>
              <a:gd name="connsiteX6" fmla="*/ 3361508 w 5535498"/>
              <a:gd name="connsiteY6" fmla="*/ 707817 h 709467"/>
              <a:gd name="connsiteX7" fmla="*/ 3961500 w 5535498"/>
              <a:gd name="connsiteY7" fmla="*/ 8427 h 709467"/>
              <a:gd name="connsiteX8" fmla="*/ 4462242 w 5535498"/>
              <a:gd name="connsiteY8" fmla="*/ 683793 h 709467"/>
              <a:gd name="connsiteX9" fmla="*/ 5065835 w 5535498"/>
              <a:gd name="connsiteY9" fmla="*/ 171 h 709467"/>
              <a:gd name="connsiteX10" fmla="*/ 5535498 w 5535498"/>
              <a:gd name="connsiteY10" fmla="*/ 619831 h 70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5498" h="709467">
                <a:moveTo>
                  <a:pt x="0" y="408722"/>
                </a:moveTo>
                <a:cubicBezTo>
                  <a:pt x="194441" y="224791"/>
                  <a:pt x="268414" y="-14295"/>
                  <a:pt x="417861" y="34103"/>
                </a:cubicBezTo>
                <a:cubicBezTo>
                  <a:pt x="567308" y="82501"/>
                  <a:pt x="708521" y="704287"/>
                  <a:pt x="896681" y="699107"/>
                </a:cubicBezTo>
                <a:cubicBezTo>
                  <a:pt x="1084841" y="693927"/>
                  <a:pt x="1344974" y="1297"/>
                  <a:pt x="1546823" y="3024"/>
                </a:cubicBezTo>
                <a:cubicBezTo>
                  <a:pt x="1748672" y="4751"/>
                  <a:pt x="1904201" y="708567"/>
                  <a:pt x="2107776" y="709467"/>
                </a:cubicBezTo>
                <a:cubicBezTo>
                  <a:pt x="2311351" y="710367"/>
                  <a:pt x="2559321" y="8702"/>
                  <a:pt x="2768276" y="8427"/>
                </a:cubicBezTo>
                <a:cubicBezTo>
                  <a:pt x="2977231" y="8152"/>
                  <a:pt x="3162637" y="707817"/>
                  <a:pt x="3361508" y="707817"/>
                </a:cubicBezTo>
                <a:cubicBezTo>
                  <a:pt x="3560379" y="707817"/>
                  <a:pt x="3778044" y="12431"/>
                  <a:pt x="3961500" y="8427"/>
                </a:cubicBezTo>
                <a:cubicBezTo>
                  <a:pt x="4144956" y="4423"/>
                  <a:pt x="4278186" y="685169"/>
                  <a:pt x="4462242" y="683793"/>
                </a:cubicBezTo>
                <a:cubicBezTo>
                  <a:pt x="4646298" y="682417"/>
                  <a:pt x="4886959" y="10831"/>
                  <a:pt x="5065835" y="171"/>
                </a:cubicBezTo>
                <a:cubicBezTo>
                  <a:pt x="5244711" y="-10489"/>
                  <a:pt x="5364704" y="483197"/>
                  <a:pt x="5535498" y="619831"/>
                </a:cubicBezTo>
              </a:path>
            </a:pathLst>
          </a:custGeom>
          <a:noFill/>
          <a:ln>
            <a:solidFill>
              <a:schemeClr val="accent5">
                <a:lumMod val="20000"/>
                <a:lumOff val="80000"/>
              </a:schemeClr>
            </a:solidFill>
          </a:ln>
          <a:effectLst>
            <a:glow rad="228600">
              <a:schemeClr val="accent1">
                <a:alpha val="12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854BAD75-C1CA-B44C-ABC7-9629AC770D3A}"/>
                  </a:ext>
                </a:extLst>
              </p:cNvPr>
              <p:cNvSpPr/>
              <p:nvPr/>
            </p:nvSpPr>
            <p:spPr>
              <a:xfrm>
                <a:off x="4773460" y="1023802"/>
                <a:ext cx="2553968" cy="810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solidFill>
                                <a:schemeClr val="tx1"/>
                              </a:solidFill>
                              <a:latin typeface="Cambria Math" panose="02040503050406030204" pitchFamily="18" charset="0"/>
                            </a:rPr>
                          </m:ctrlPr>
                        </m:fPr>
                        <m:num>
                          <m:d>
                            <m:dPr>
                              <m:begChr m:val="|"/>
                              <m:endChr m:val="⟩"/>
                              <m:ctrlPr>
                                <a:rPr lang="en-US" sz="2200" i="1">
                                  <a:solidFill>
                                    <a:schemeClr val="tx1"/>
                                  </a:solidFill>
                                  <a:latin typeface="Cambria Math" panose="02040503050406030204" pitchFamily="18" charset="0"/>
                                </a:rPr>
                              </m:ctrlPr>
                            </m:dPr>
                            <m:e>
                              <m:sSub>
                                <m:sSubPr>
                                  <m:ctrlPr>
                                    <a:rPr lang="en-US" sz="2200" i="1" smtClean="0">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0</m:t>
                                  </m:r>
                                </m:e>
                                <m:sub>
                                  <m:r>
                                    <a:rPr lang="en-US" sz="2200" b="0" i="1" smtClean="0">
                                      <a:solidFill>
                                        <a:schemeClr val="tx1"/>
                                      </a:solidFill>
                                      <a:latin typeface="Cambria Math" panose="02040503050406030204" pitchFamily="18" charset="0"/>
                                    </a:rPr>
                                    <m:t>𝐴</m:t>
                                  </m:r>
                                </m:sub>
                              </m:sSub>
                            </m:e>
                          </m:d>
                          <m:d>
                            <m:dPr>
                              <m:begChr m:val="|"/>
                              <m:endChr m:val="⟩"/>
                              <m:ctrlPr>
                                <a:rPr lang="en-US" sz="2200" i="1">
                                  <a:solidFill>
                                    <a:schemeClr val="tx1"/>
                                  </a:solidFill>
                                  <a:latin typeface="Cambria Math" panose="02040503050406030204" pitchFamily="18" charset="0"/>
                                </a:rPr>
                              </m:ctrlPr>
                            </m:dPr>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0</m:t>
                                  </m:r>
                                </m:e>
                                <m:sub>
                                  <m:r>
                                    <a:rPr lang="en-US" sz="2200" b="0" i="1" smtClean="0">
                                      <a:solidFill>
                                        <a:schemeClr val="tx1"/>
                                      </a:solidFill>
                                      <a:latin typeface="Cambria Math" panose="02040503050406030204" pitchFamily="18" charset="0"/>
                                    </a:rPr>
                                    <m:t>𝐵</m:t>
                                  </m:r>
                                </m:sub>
                              </m:sSub>
                            </m:e>
                          </m:d>
                          <m:r>
                            <a:rPr lang="en-US" sz="2200" b="0" i="1" smtClean="0">
                              <a:solidFill>
                                <a:schemeClr val="tx1"/>
                              </a:solidFill>
                              <a:latin typeface="Cambria Math" panose="02040503050406030204" pitchFamily="18" charset="0"/>
                            </a:rPr>
                            <m:t>+</m:t>
                          </m:r>
                          <m:d>
                            <m:dPr>
                              <m:begChr m:val="|"/>
                              <m:endChr m:val="⟩"/>
                              <m:ctrlPr>
                                <a:rPr lang="en-US" sz="2200" i="1">
                                  <a:solidFill>
                                    <a:schemeClr val="tx1"/>
                                  </a:solidFill>
                                  <a:latin typeface="Cambria Math" panose="02040503050406030204" pitchFamily="18" charset="0"/>
                                </a:rPr>
                              </m:ctrlPr>
                            </m:dPr>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1</m:t>
                                  </m:r>
                                </m:e>
                                <m:sub>
                                  <m:r>
                                    <a:rPr lang="en-US" sz="2200" i="1">
                                      <a:solidFill>
                                        <a:schemeClr val="tx1"/>
                                      </a:solidFill>
                                      <a:latin typeface="Cambria Math" panose="02040503050406030204" pitchFamily="18" charset="0"/>
                                    </a:rPr>
                                    <m:t>𝐴</m:t>
                                  </m:r>
                                </m:sub>
                              </m:sSub>
                            </m:e>
                          </m:d>
                          <m:d>
                            <m:dPr>
                              <m:begChr m:val="|"/>
                              <m:endChr m:val="⟩"/>
                              <m:ctrlPr>
                                <a:rPr lang="en-US" sz="2200" i="1">
                                  <a:solidFill>
                                    <a:schemeClr val="tx1"/>
                                  </a:solidFill>
                                  <a:latin typeface="Cambria Math" panose="02040503050406030204" pitchFamily="18" charset="0"/>
                                </a:rPr>
                              </m:ctrlPr>
                            </m:dPr>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1</m:t>
                                  </m:r>
                                </m:e>
                                <m:sub>
                                  <m:r>
                                    <a:rPr lang="en-US" sz="2200" i="1">
                                      <a:solidFill>
                                        <a:schemeClr val="tx1"/>
                                      </a:solidFill>
                                      <a:latin typeface="Cambria Math" panose="02040503050406030204" pitchFamily="18" charset="0"/>
                                    </a:rPr>
                                    <m:t>𝐵</m:t>
                                  </m:r>
                                </m:sub>
                              </m:sSub>
                            </m:e>
                          </m:d>
                        </m:num>
                        <m:den>
                          <m:rad>
                            <m:radPr>
                              <m:degHide m:val="on"/>
                              <m:ctrlPr>
                                <a:rPr lang="en-US" sz="2200" i="1" smtClean="0">
                                  <a:solidFill>
                                    <a:schemeClr val="tx1"/>
                                  </a:solidFill>
                                  <a:latin typeface="Cambria Math" panose="02040503050406030204" pitchFamily="18" charset="0"/>
                                </a:rPr>
                              </m:ctrlPr>
                            </m:radPr>
                            <m:deg/>
                            <m:e>
                              <m:r>
                                <a:rPr lang="en-US" sz="2200" b="0" i="1" smtClean="0">
                                  <a:solidFill>
                                    <a:schemeClr val="tx1"/>
                                  </a:solidFill>
                                  <a:latin typeface="Cambria Math" panose="02040503050406030204" pitchFamily="18" charset="0"/>
                                </a:rPr>
                                <m:t>2</m:t>
                              </m:r>
                            </m:e>
                          </m:rad>
                        </m:den>
                      </m:f>
                    </m:oMath>
                  </m:oMathPara>
                </a14:m>
                <a:endParaRPr lang="en-US" sz="2200" dirty="0">
                  <a:solidFill>
                    <a:schemeClr val="tx1"/>
                  </a:solidFill>
                </a:endParaRPr>
              </a:p>
            </p:txBody>
          </p:sp>
        </mc:Choice>
        <mc:Fallback xmlns="">
          <p:sp>
            <p:nvSpPr>
              <p:cNvPr id="20" name="Rectangle 19">
                <a:extLst>
                  <a:ext uri="{FF2B5EF4-FFF2-40B4-BE49-F238E27FC236}">
                    <a16:creationId xmlns:a16="http://schemas.microsoft.com/office/drawing/2014/main" id="{854BAD75-C1CA-B44C-ABC7-9629AC770D3A}"/>
                  </a:ext>
                </a:extLst>
              </p:cNvPr>
              <p:cNvSpPr>
                <a:spLocks noRot="1" noChangeAspect="1" noMove="1" noResize="1" noEditPoints="1" noAdjustHandles="1" noChangeArrowheads="1" noChangeShapeType="1" noTextEdit="1"/>
              </p:cNvSpPr>
              <p:nvPr/>
            </p:nvSpPr>
            <p:spPr>
              <a:xfrm>
                <a:off x="4773460" y="1023802"/>
                <a:ext cx="2553968" cy="810991"/>
              </a:xfrm>
              <a:prstGeom prst="rect">
                <a:avLst/>
              </a:prstGeom>
              <a:blipFill>
                <a:blip r:embed="rId6"/>
                <a:stretch>
                  <a:fillRect b="-1563"/>
                </a:stretch>
              </a:blipFill>
            </p:spPr>
            <p:txBody>
              <a:bodyPr/>
              <a:lstStyle/>
              <a:p>
                <a:r>
                  <a:rPr lang="en-US">
                    <a:noFill/>
                  </a:rPr>
                  <a:t> </a:t>
                </a:r>
              </a:p>
            </p:txBody>
          </p:sp>
        </mc:Fallback>
      </mc:AlternateContent>
      <p:grpSp>
        <p:nvGrpSpPr>
          <p:cNvPr id="95" name="Group 94">
            <a:extLst>
              <a:ext uri="{FF2B5EF4-FFF2-40B4-BE49-F238E27FC236}">
                <a16:creationId xmlns:a16="http://schemas.microsoft.com/office/drawing/2014/main" id="{19C8AB50-3D65-5140-9F21-74B6A28530D9}"/>
              </a:ext>
            </a:extLst>
          </p:cNvPr>
          <p:cNvGrpSpPr/>
          <p:nvPr/>
        </p:nvGrpSpPr>
        <p:grpSpPr>
          <a:xfrm>
            <a:off x="-25275" y="2290081"/>
            <a:ext cx="2216044" cy="2290786"/>
            <a:chOff x="-25275" y="2290081"/>
            <a:chExt cx="2216044" cy="2290786"/>
          </a:xfrm>
        </p:grpSpPr>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8F253682-3DBF-5448-84A8-BEDCD595F3BA}"/>
                    </a:ext>
                  </a:extLst>
                </p:cNvPr>
                <p:cNvSpPr/>
                <p:nvPr/>
              </p:nvSpPr>
              <p:spPr>
                <a:xfrm>
                  <a:off x="1632346" y="3194635"/>
                  <a:ext cx="55842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sr-Latn-RS" sz="2000" b="0" i="1" smtClean="0">
                                <a:latin typeface="Cambria Math" panose="02040503050406030204" pitchFamily="18" charset="0"/>
                              </a:rPr>
                              <m:t>0</m:t>
                            </m:r>
                          </m:e>
                        </m:d>
                      </m:oMath>
                    </m:oMathPara>
                  </a14:m>
                  <a:endParaRPr lang="en-US" sz="2000" dirty="0"/>
                </a:p>
              </p:txBody>
            </p:sp>
          </mc:Choice>
          <mc:Fallback xmlns="">
            <p:sp>
              <p:nvSpPr>
                <p:cNvPr id="61" name="Rectangle 60">
                  <a:extLst>
                    <a:ext uri="{FF2B5EF4-FFF2-40B4-BE49-F238E27FC236}">
                      <a16:creationId xmlns:a16="http://schemas.microsoft.com/office/drawing/2014/main" id="{8F253682-3DBF-5448-84A8-BEDCD595F3BA}"/>
                    </a:ext>
                  </a:extLst>
                </p:cNvPr>
                <p:cNvSpPr>
                  <a:spLocks noRot="1" noChangeAspect="1" noMove="1" noResize="1" noEditPoints="1" noAdjustHandles="1" noChangeArrowheads="1" noChangeShapeType="1" noTextEdit="1"/>
                </p:cNvSpPr>
                <p:nvPr/>
              </p:nvSpPr>
              <p:spPr>
                <a:xfrm>
                  <a:off x="1632346" y="3194635"/>
                  <a:ext cx="558423"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A5068BE5-40D6-AF46-A6D9-C5853984CAB3}"/>
                    </a:ext>
                  </a:extLst>
                </p:cNvPr>
                <p:cNvSpPr/>
                <p:nvPr/>
              </p:nvSpPr>
              <p:spPr>
                <a:xfrm>
                  <a:off x="660408" y="2866754"/>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sr-Latn-RS" sz="2000" b="0" i="1" smtClean="0">
                                <a:latin typeface="Cambria Math" panose="02040503050406030204" pitchFamily="18" charset="0"/>
                              </a:rPr>
                              <m:t>1</m:t>
                            </m:r>
                          </m:e>
                        </m:d>
                      </m:oMath>
                    </m:oMathPara>
                  </a14:m>
                  <a:endParaRPr lang="en-US" sz="2000" dirty="0"/>
                </a:p>
              </p:txBody>
            </p:sp>
          </mc:Choice>
          <mc:Fallback xmlns="">
            <p:sp>
              <p:nvSpPr>
                <p:cNvPr id="62" name="Rectangle 61">
                  <a:extLst>
                    <a:ext uri="{FF2B5EF4-FFF2-40B4-BE49-F238E27FC236}">
                      <a16:creationId xmlns:a16="http://schemas.microsoft.com/office/drawing/2014/main" id="{A5068BE5-40D6-AF46-A6D9-C5853984CAB3}"/>
                    </a:ext>
                  </a:extLst>
                </p:cNvPr>
                <p:cNvSpPr>
                  <a:spLocks noRot="1" noChangeAspect="1" noMove="1" noResize="1" noEditPoints="1" noAdjustHandles="1" noChangeArrowheads="1" noChangeShapeType="1" noTextEdit="1"/>
                </p:cNvSpPr>
                <p:nvPr/>
              </p:nvSpPr>
              <p:spPr>
                <a:xfrm>
                  <a:off x="660408" y="2866754"/>
                  <a:ext cx="558422" cy="400110"/>
                </a:xfrm>
                <a:prstGeom prst="rect">
                  <a:avLst/>
                </a:prstGeom>
                <a:blipFill>
                  <a:blip r:embed="rId8"/>
                  <a:stretch>
                    <a:fillRect/>
                  </a:stretch>
                </a:blipFill>
              </p:spPr>
              <p:txBody>
                <a:bodyPr/>
                <a:lstStyle/>
                <a:p>
                  <a:r>
                    <a:rPr lang="en-US">
                      <a:noFill/>
                    </a:rPr>
                    <a:t> </a:t>
                  </a:r>
                </a:p>
              </p:txBody>
            </p:sp>
          </mc:Fallback>
        </mc:AlternateContent>
        <p:grpSp>
          <p:nvGrpSpPr>
            <p:cNvPr id="94" name="Group 93">
              <a:extLst>
                <a:ext uri="{FF2B5EF4-FFF2-40B4-BE49-F238E27FC236}">
                  <a16:creationId xmlns:a16="http://schemas.microsoft.com/office/drawing/2014/main" id="{A9ED38DD-1A1E-DB4A-A241-2DF527B5F15A}"/>
                </a:ext>
              </a:extLst>
            </p:cNvPr>
            <p:cNvGrpSpPr/>
            <p:nvPr/>
          </p:nvGrpSpPr>
          <p:grpSpPr>
            <a:xfrm>
              <a:off x="-25275" y="2290081"/>
              <a:ext cx="2141235" cy="2290786"/>
              <a:chOff x="-25275" y="2290081"/>
              <a:chExt cx="2141235" cy="2290786"/>
            </a:xfrm>
          </p:grpSpPr>
          <p:grpSp>
            <p:nvGrpSpPr>
              <p:cNvPr id="27" name="Group 26">
                <a:extLst>
                  <a:ext uri="{FF2B5EF4-FFF2-40B4-BE49-F238E27FC236}">
                    <a16:creationId xmlns:a16="http://schemas.microsoft.com/office/drawing/2014/main" id="{F38A0AA1-B786-834D-A69A-BA565D1873A9}"/>
                  </a:ext>
                </a:extLst>
              </p:cNvPr>
              <p:cNvGrpSpPr/>
              <p:nvPr/>
            </p:nvGrpSpPr>
            <p:grpSpPr>
              <a:xfrm>
                <a:off x="294856" y="2780867"/>
                <a:ext cx="1821104" cy="1800000"/>
                <a:chOff x="196882" y="2780867"/>
                <a:chExt cx="1821104" cy="1800000"/>
              </a:xfrm>
            </p:grpSpPr>
            <p:sp>
              <p:nvSpPr>
                <p:cNvPr id="21" name="Oval 20">
                  <a:extLst>
                    <a:ext uri="{FF2B5EF4-FFF2-40B4-BE49-F238E27FC236}">
                      <a16:creationId xmlns:a16="http://schemas.microsoft.com/office/drawing/2014/main" id="{B8D6C567-432C-3145-BD9C-9CECEFAECB2C}"/>
                    </a:ext>
                  </a:extLst>
                </p:cNvPr>
                <p:cNvSpPr/>
                <p:nvPr/>
              </p:nvSpPr>
              <p:spPr>
                <a:xfrm>
                  <a:off x="217986" y="2780867"/>
                  <a:ext cx="1800000" cy="180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9CF8AAD9-6F6F-A74E-8953-5D13C206FAFC}"/>
                    </a:ext>
                  </a:extLst>
                </p:cNvPr>
                <p:cNvCxnSpPr>
                  <a:cxnSpLocks/>
                  <a:endCxn id="21" idx="6"/>
                </p:cNvCxnSpPr>
                <p:nvPr/>
              </p:nvCxnSpPr>
              <p:spPr>
                <a:xfrm>
                  <a:off x="1117986" y="3680867"/>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2F32076-41A1-5F4B-9E8E-21F43256DF69}"/>
                    </a:ext>
                  </a:extLst>
                </p:cNvPr>
                <p:cNvCxnSpPr>
                  <a:cxnSpLocks/>
                </p:cNvCxnSpPr>
                <p:nvPr/>
              </p:nvCxnSpPr>
              <p:spPr>
                <a:xfrm rot="16200000">
                  <a:off x="667986" y="3230867"/>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F75F0E6C-A01C-B945-AB0A-11DE18E68E0A}"/>
                    </a:ext>
                  </a:extLst>
                </p:cNvPr>
                <p:cNvCxnSpPr>
                  <a:cxnSpLocks/>
                </p:cNvCxnSpPr>
                <p:nvPr/>
              </p:nvCxnSpPr>
              <p:spPr>
                <a:xfrm flipH="1" flipV="1">
                  <a:off x="196882" y="3680264"/>
                  <a:ext cx="900000" cy="0"/>
                </a:xfrm>
                <a:prstGeom prst="straightConnector1">
                  <a:avLst/>
                </a:prstGeom>
                <a:ln w="38100" cap="rnd">
                  <a:solidFill>
                    <a:srgbClr val="FF0000">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0D915FF9-6C41-4B4D-B97F-F46ED046DE8C}"/>
                    </a:ext>
                  </a:extLst>
                </p:cNvPr>
                <p:cNvCxnSpPr>
                  <a:cxnSpLocks/>
                </p:cNvCxnSpPr>
                <p:nvPr/>
              </p:nvCxnSpPr>
              <p:spPr>
                <a:xfrm rot="16200000" flipH="1" flipV="1">
                  <a:off x="666730" y="4130867"/>
                  <a:ext cx="900000" cy="0"/>
                </a:xfrm>
                <a:prstGeom prst="straightConnector1">
                  <a:avLst/>
                </a:prstGeom>
                <a:ln w="38100" cap="rnd">
                  <a:solidFill>
                    <a:srgbClr val="FF0000">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1986257E-5F39-7343-B119-FD1910CA56A5}"/>
                      </a:ext>
                    </a:extLst>
                  </p:cNvPr>
                  <p:cNvSpPr/>
                  <p:nvPr/>
                </p:nvSpPr>
                <p:spPr>
                  <a:xfrm>
                    <a:off x="-25275" y="2290081"/>
                    <a:ext cx="930191" cy="430887"/>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𝑥</m:t>
                          </m:r>
                          <m:r>
                            <a:rPr lang="en-US" sz="2200" b="0" i="1" smtClean="0">
                              <a:latin typeface="Cambria Math" panose="02040503050406030204" pitchFamily="18" charset="0"/>
                            </a:rPr>
                            <m:t>=0</m:t>
                          </m:r>
                        </m:oMath>
                      </m:oMathPara>
                    </a14:m>
                    <a:endParaRPr lang="en-US" sz="2200" dirty="0"/>
                  </a:p>
                </p:txBody>
              </p:sp>
            </mc:Choice>
            <mc:Fallback xmlns="">
              <p:sp>
                <p:nvSpPr>
                  <p:cNvPr id="65" name="Rectangle 64">
                    <a:extLst>
                      <a:ext uri="{FF2B5EF4-FFF2-40B4-BE49-F238E27FC236}">
                        <a16:creationId xmlns:a16="http://schemas.microsoft.com/office/drawing/2014/main" id="{1986257E-5F39-7343-B119-FD1910CA56A5}"/>
                      </a:ext>
                    </a:extLst>
                  </p:cNvPr>
                  <p:cNvSpPr>
                    <a:spLocks noRot="1" noChangeAspect="1" noMove="1" noResize="1" noEditPoints="1" noAdjustHandles="1" noChangeArrowheads="1" noChangeShapeType="1" noTextEdit="1"/>
                  </p:cNvSpPr>
                  <p:nvPr/>
                </p:nvSpPr>
                <p:spPr>
                  <a:xfrm>
                    <a:off x="-25275" y="2290081"/>
                    <a:ext cx="930191" cy="430887"/>
                  </a:xfrm>
                  <a:prstGeom prst="rect">
                    <a:avLst/>
                  </a:prstGeom>
                  <a:blipFill>
                    <a:blip r:embed="rId9"/>
                    <a:stretch>
                      <a:fillRect/>
                    </a:stretch>
                  </a:blipFill>
                </p:spPr>
                <p:txBody>
                  <a:bodyPr/>
                  <a:lstStyle/>
                  <a:p>
                    <a:r>
                      <a:rPr lang="en-US">
                        <a:noFill/>
                      </a:rPr>
                      <a:t> </a:t>
                    </a:r>
                  </a:p>
                </p:txBody>
              </p:sp>
            </mc:Fallback>
          </mc:AlternateContent>
        </p:grpSp>
      </p:grpSp>
      <p:grpSp>
        <p:nvGrpSpPr>
          <p:cNvPr id="22" name="Group 21">
            <a:extLst>
              <a:ext uri="{FF2B5EF4-FFF2-40B4-BE49-F238E27FC236}">
                <a16:creationId xmlns:a16="http://schemas.microsoft.com/office/drawing/2014/main" id="{B87B32AF-1D1A-1A4E-85EB-D1B9E7C884E8}"/>
              </a:ext>
            </a:extLst>
          </p:cNvPr>
          <p:cNvGrpSpPr/>
          <p:nvPr/>
        </p:nvGrpSpPr>
        <p:grpSpPr>
          <a:xfrm>
            <a:off x="2374901" y="2328895"/>
            <a:ext cx="2220291" cy="2207345"/>
            <a:chOff x="2374901" y="2328895"/>
            <a:chExt cx="2220291" cy="2207345"/>
          </a:xfrm>
        </p:grpSpPr>
        <p:cxnSp>
          <p:nvCxnSpPr>
            <p:cNvPr id="30" name="Straight Arrow Connector 29">
              <a:extLst>
                <a:ext uri="{FF2B5EF4-FFF2-40B4-BE49-F238E27FC236}">
                  <a16:creationId xmlns:a16="http://schemas.microsoft.com/office/drawing/2014/main" id="{EB72D82C-AA29-3049-BC9C-5F41FAFE7F66}"/>
                </a:ext>
              </a:extLst>
            </p:cNvPr>
            <p:cNvCxnSpPr>
              <a:cxnSpLocks/>
              <a:endCxn id="29" idx="6"/>
            </p:cNvCxnSpPr>
            <p:nvPr/>
          </p:nvCxnSpPr>
          <p:spPr>
            <a:xfrm rot="18900000">
              <a:off x="3485881" y="3311115"/>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1BC72C8-492E-664F-AA2D-B9626846FF9E}"/>
                </a:ext>
              </a:extLst>
            </p:cNvPr>
            <p:cNvCxnSpPr>
              <a:cxnSpLocks/>
            </p:cNvCxnSpPr>
            <p:nvPr/>
          </p:nvCxnSpPr>
          <p:spPr>
            <a:xfrm rot="13500000">
              <a:off x="2849485" y="3311115"/>
              <a:ext cx="900000" cy="0"/>
            </a:xfrm>
            <a:prstGeom prst="straightConnector1">
              <a:avLst/>
            </a:prstGeom>
            <a:ln w="38100" cap="rnd">
              <a:solidFill>
                <a:srgbClr val="FF0000">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394A646-F56B-6F43-A8E8-CC1A6D8C6B12}"/>
                </a:ext>
              </a:extLst>
            </p:cNvPr>
            <p:cNvGrpSpPr/>
            <p:nvPr/>
          </p:nvGrpSpPr>
          <p:grpSpPr>
            <a:xfrm>
              <a:off x="2374901" y="2328895"/>
              <a:ext cx="2220291" cy="2207345"/>
              <a:chOff x="2374901" y="2328895"/>
              <a:chExt cx="2220291" cy="2207345"/>
            </a:xfrm>
          </p:grpSpPr>
          <p:cxnSp>
            <p:nvCxnSpPr>
              <p:cNvPr id="33" name="Straight Connector 32">
                <a:extLst>
                  <a:ext uri="{FF2B5EF4-FFF2-40B4-BE49-F238E27FC236}">
                    <a16:creationId xmlns:a16="http://schemas.microsoft.com/office/drawing/2014/main" id="{8C4F4E31-EDB0-4B40-91A3-770D56D29779}"/>
                  </a:ext>
                </a:extLst>
              </p:cNvPr>
              <p:cNvCxnSpPr>
                <a:cxnSpLocks/>
              </p:cNvCxnSpPr>
              <p:nvPr/>
            </p:nvCxnSpPr>
            <p:spPr>
              <a:xfrm>
                <a:off x="2717683" y="3636240"/>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D915BD6-EDB1-054F-A013-382E8BFDD49D}"/>
                  </a:ext>
                </a:extLst>
              </p:cNvPr>
              <p:cNvCxnSpPr>
                <a:cxnSpLocks/>
              </p:cNvCxnSpPr>
              <p:nvPr/>
            </p:nvCxnSpPr>
            <p:spPr>
              <a:xfrm rot="16200000">
                <a:off x="2717681" y="3636240"/>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B11F19EE-384A-E446-8337-08E7A5955008}"/>
                      </a:ext>
                    </a:extLst>
                  </p:cNvPr>
                  <p:cNvSpPr/>
                  <p:nvPr/>
                </p:nvSpPr>
                <p:spPr>
                  <a:xfrm>
                    <a:off x="3802024" y="3253336"/>
                    <a:ext cx="68486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en-US" sz="2000" i="1" smtClean="0">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𝜋</m:t>
                              </m:r>
                            </m:num>
                            <m:den>
                              <m:r>
                                <a:rPr lang="sr-Latn-RS" sz="2000" b="0" i="1" smtClean="0">
                                  <a:latin typeface="Cambria Math" panose="02040503050406030204" pitchFamily="18" charset="0"/>
                                </a:rPr>
                                <m:t>4</m:t>
                              </m:r>
                            </m:den>
                          </m:f>
                        </m:oMath>
                      </m:oMathPara>
                    </a14:m>
                    <a:endParaRPr lang="en-US" sz="2000" dirty="0"/>
                  </a:p>
                </p:txBody>
              </p:sp>
            </mc:Choice>
            <mc:Fallback xmlns="">
              <p:sp>
                <p:nvSpPr>
                  <p:cNvPr id="55" name="Rectangle 54">
                    <a:extLst>
                      <a:ext uri="{FF2B5EF4-FFF2-40B4-BE49-F238E27FC236}">
                        <a16:creationId xmlns:a16="http://schemas.microsoft.com/office/drawing/2014/main" id="{B11F19EE-384A-E446-8337-08E7A5955008}"/>
                      </a:ext>
                    </a:extLst>
                  </p:cNvPr>
                  <p:cNvSpPr>
                    <a:spLocks noRot="1" noChangeAspect="1" noMove="1" noResize="1" noEditPoints="1" noAdjustHandles="1" noChangeArrowheads="1" noChangeShapeType="1" noTextEdit="1"/>
                  </p:cNvSpPr>
                  <p:nvPr/>
                </p:nvSpPr>
                <p:spPr>
                  <a:xfrm>
                    <a:off x="3802024" y="3253336"/>
                    <a:ext cx="684867" cy="400110"/>
                  </a:xfrm>
                  <a:prstGeom prst="rect">
                    <a:avLst/>
                  </a:prstGeom>
                  <a:blipFill>
                    <a:blip r:embed="rId10"/>
                    <a:stretch>
                      <a:fillRect l="-23636" t="-112121" r="-7273" b="-17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55F4B96C-5811-0340-B6E4-B2748E0B42F6}"/>
                      </a:ext>
                    </a:extLst>
                  </p:cNvPr>
                  <p:cNvSpPr/>
                  <p:nvPr/>
                </p:nvSpPr>
                <p:spPr>
                  <a:xfrm>
                    <a:off x="3987077" y="2570488"/>
                    <a:ext cx="6081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m:t>
                              </m:r>
                            </m:e>
                          </m:d>
                        </m:oMath>
                      </m:oMathPara>
                    </a14:m>
                    <a:endParaRPr lang="en-US" sz="2000" dirty="0"/>
                  </a:p>
                </p:txBody>
              </p:sp>
            </mc:Choice>
            <mc:Fallback xmlns="">
              <p:sp>
                <p:nvSpPr>
                  <p:cNvPr id="63" name="Rectangle 62">
                    <a:extLst>
                      <a:ext uri="{FF2B5EF4-FFF2-40B4-BE49-F238E27FC236}">
                        <a16:creationId xmlns:a16="http://schemas.microsoft.com/office/drawing/2014/main" id="{55F4B96C-5811-0340-B6E4-B2748E0B42F6}"/>
                      </a:ext>
                    </a:extLst>
                  </p:cNvPr>
                  <p:cNvSpPr>
                    <a:spLocks noRot="1" noChangeAspect="1" noMove="1" noResize="1" noEditPoints="1" noAdjustHandles="1" noChangeArrowheads="1" noChangeShapeType="1" noTextEdit="1"/>
                  </p:cNvSpPr>
                  <p:nvPr/>
                </p:nvSpPr>
                <p:spPr>
                  <a:xfrm>
                    <a:off x="3987077" y="2570488"/>
                    <a:ext cx="608115" cy="400110"/>
                  </a:xfrm>
                  <a:prstGeom prst="rect">
                    <a:avLst/>
                  </a:prstGeom>
                  <a:blipFill>
                    <a:blip r:embed="rId11"/>
                    <a:stretch>
                      <a:fillRect/>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F28C82BC-27DE-E84F-A3B0-1EA8CF5BFA3D}"/>
                  </a:ext>
                </a:extLst>
              </p:cNvPr>
              <p:cNvGrpSpPr/>
              <p:nvPr/>
            </p:nvGrpSpPr>
            <p:grpSpPr>
              <a:xfrm>
                <a:off x="2374901" y="2328895"/>
                <a:ext cx="2142782" cy="2200418"/>
                <a:chOff x="2374901" y="2328895"/>
                <a:chExt cx="2142782" cy="2200418"/>
              </a:xfrm>
            </p:grpSpPr>
            <p:sp>
              <p:nvSpPr>
                <p:cNvPr id="29" name="Oval 28">
                  <a:extLst>
                    <a:ext uri="{FF2B5EF4-FFF2-40B4-BE49-F238E27FC236}">
                      <a16:creationId xmlns:a16="http://schemas.microsoft.com/office/drawing/2014/main" id="{A41E4E06-51F3-164A-ACC1-3B6B040241D6}"/>
                    </a:ext>
                  </a:extLst>
                </p:cNvPr>
                <p:cNvSpPr/>
                <p:nvPr/>
              </p:nvSpPr>
              <p:spPr>
                <a:xfrm rot="18900000">
                  <a:off x="2717683" y="2729313"/>
                  <a:ext cx="1800000" cy="180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4A865D17-080A-D546-B67F-C85DD3EFFED3}"/>
                        </a:ext>
                      </a:extLst>
                    </p:cNvPr>
                    <p:cNvSpPr/>
                    <p:nvPr/>
                  </p:nvSpPr>
                  <p:spPr>
                    <a:xfrm>
                      <a:off x="2374901" y="2328895"/>
                      <a:ext cx="930191" cy="430887"/>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𝑥</m:t>
                            </m:r>
                            <m:r>
                              <a:rPr lang="en-US" sz="2200" b="0" i="1" smtClean="0">
                                <a:latin typeface="Cambria Math" panose="02040503050406030204" pitchFamily="18" charset="0"/>
                              </a:rPr>
                              <m:t>=1</m:t>
                            </m:r>
                          </m:oMath>
                        </m:oMathPara>
                      </a14:m>
                      <a:endParaRPr lang="en-US" sz="2200" dirty="0"/>
                    </a:p>
                  </p:txBody>
                </p:sp>
              </mc:Choice>
              <mc:Fallback xmlns="">
                <p:sp>
                  <p:nvSpPr>
                    <p:cNvPr id="66" name="Rectangle 65">
                      <a:extLst>
                        <a:ext uri="{FF2B5EF4-FFF2-40B4-BE49-F238E27FC236}">
                          <a16:creationId xmlns:a16="http://schemas.microsoft.com/office/drawing/2014/main" id="{4A865D17-080A-D546-B67F-C85DD3EFFED3}"/>
                        </a:ext>
                      </a:extLst>
                    </p:cNvPr>
                    <p:cNvSpPr>
                      <a:spLocks noRot="1" noChangeAspect="1" noMove="1" noResize="1" noEditPoints="1" noAdjustHandles="1" noChangeArrowheads="1" noChangeShapeType="1" noTextEdit="1"/>
                    </p:cNvSpPr>
                    <p:nvPr/>
                  </p:nvSpPr>
                  <p:spPr>
                    <a:xfrm>
                      <a:off x="2374901" y="2328895"/>
                      <a:ext cx="930191" cy="430887"/>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395600C9-EADB-234F-B965-6B2BFE8FB387}"/>
                      </a:ext>
                    </a:extLst>
                  </p:cNvPr>
                  <p:cNvSpPr/>
                  <p:nvPr/>
                </p:nvSpPr>
                <p:spPr>
                  <a:xfrm>
                    <a:off x="3454186" y="3979855"/>
                    <a:ext cx="6081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m:t>
                              </m:r>
                            </m:e>
                          </m:d>
                        </m:oMath>
                      </m:oMathPara>
                    </a14:m>
                    <a:endParaRPr lang="en-US" sz="2000" dirty="0"/>
                  </a:p>
                </p:txBody>
              </p:sp>
            </mc:Choice>
            <mc:Fallback xmlns="">
              <p:sp>
                <p:nvSpPr>
                  <p:cNvPr id="69" name="Rectangle 68">
                    <a:extLst>
                      <a:ext uri="{FF2B5EF4-FFF2-40B4-BE49-F238E27FC236}">
                        <a16:creationId xmlns:a16="http://schemas.microsoft.com/office/drawing/2014/main" id="{395600C9-EADB-234F-B965-6B2BFE8FB387}"/>
                      </a:ext>
                    </a:extLst>
                  </p:cNvPr>
                  <p:cNvSpPr>
                    <a:spLocks noRot="1" noChangeAspect="1" noMove="1" noResize="1" noEditPoints="1" noAdjustHandles="1" noChangeArrowheads="1" noChangeShapeType="1" noTextEdit="1"/>
                  </p:cNvSpPr>
                  <p:nvPr/>
                </p:nvSpPr>
                <p:spPr>
                  <a:xfrm>
                    <a:off x="3454186" y="3979855"/>
                    <a:ext cx="608115" cy="400110"/>
                  </a:xfrm>
                  <a:prstGeom prst="rect">
                    <a:avLst/>
                  </a:prstGeom>
                  <a:blipFill>
                    <a:blip r:embed="rId13"/>
                    <a:stretch>
                      <a:fillRect/>
                    </a:stretch>
                  </a:blipFill>
                </p:spPr>
                <p:txBody>
                  <a:bodyPr/>
                  <a:lstStyle/>
                  <a:p>
                    <a:r>
                      <a:rPr lang="en-US">
                        <a:noFill/>
                      </a:rPr>
                      <a:t> </a:t>
                    </a:r>
                  </a:p>
                </p:txBody>
              </p:sp>
            </mc:Fallback>
          </mc:AlternateContent>
        </p:grpSp>
        <p:cxnSp>
          <p:nvCxnSpPr>
            <p:cNvPr id="196" name="Straight Arrow Connector 195">
              <a:extLst>
                <a:ext uri="{FF2B5EF4-FFF2-40B4-BE49-F238E27FC236}">
                  <a16:creationId xmlns:a16="http://schemas.microsoft.com/office/drawing/2014/main" id="{E7AEB9C3-72E8-A24F-8417-7272FDF5AFB0}"/>
                </a:ext>
              </a:extLst>
            </p:cNvPr>
            <p:cNvCxnSpPr>
              <a:cxnSpLocks/>
            </p:cNvCxnSpPr>
            <p:nvPr/>
          </p:nvCxnSpPr>
          <p:spPr>
            <a:xfrm rot="2700000" flipV="1">
              <a:off x="3485529" y="3965448"/>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680A228A-36AB-234D-95E7-D9234C4663DD}"/>
                </a:ext>
              </a:extLst>
            </p:cNvPr>
            <p:cNvCxnSpPr>
              <a:cxnSpLocks/>
            </p:cNvCxnSpPr>
            <p:nvPr/>
          </p:nvCxnSpPr>
          <p:spPr>
            <a:xfrm rot="8100000" flipV="1">
              <a:off x="2849133" y="3965448"/>
              <a:ext cx="900000" cy="0"/>
            </a:xfrm>
            <a:prstGeom prst="straightConnector1">
              <a:avLst/>
            </a:prstGeom>
            <a:ln w="38100" cap="rnd">
              <a:solidFill>
                <a:srgbClr val="FF0000">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2C526850-A011-704B-83A5-EB074A5F9791}"/>
              </a:ext>
            </a:extLst>
          </p:cNvPr>
          <p:cNvGrpSpPr/>
          <p:nvPr/>
        </p:nvGrpSpPr>
        <p:grpSpPr>
          <a:xfrm>
            <a:off x="2299265" y="4653411"/>
            <a:ext cx="2740074" cy="2076600"/>
            <a:chOff x="2299265" y="4653411"/>
            <a:chExt cx="2740074" cy="2076600"/>
          </a:xfrm>
        </p:grpSpPr>
        <p:sp>
          <p:nvSpPr>
            <p:cNvPr id="45" name="Oval 44">
              <a:extLst>
                <a:ext uri="{FF2B5EF4-FFF2-40B4-BE49-F238E27FC236}">
                  <a16:creationId xmlns:a16="http://schemas.microsoft.com/office/drawing/2014/main" id="{5716D27F-F7B1-A942-8DDB-0B5E993D1DFF}"/>
                </a:ext>
              </a:extLst>
            </p:cNvPr>
            <p:cNvSpPr/>
            <p:nvPr/>
          </p:nvSpPr>
          <p:spPr>
            <a:xfrm rot="1320000">
              <a:off x="2736107" y="4930011"/>
              <a:ext cx="1800000" cy="180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E6B48065-BEBF-4C49-8070-FEB86F3654EE}"/>
                </a:ext>
              </a:extLst>
            </p:cNvPr>
            <p:cNvCxnSpPr>
              <a:cxnSpLocks/>
              <a:endCxn id="45" idx="6"/>
            </p:cNvCxnSpPr>
            <p:nvPr/>
          </p:nvCxnSpPr>
          <p:spPr>
            <a:xfrm rot="1320000">
              <a:off x="3603340" y="5998584"/>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F274B38-1EB9-9B44-A62C-086A71F31196}"/>
                </a:ext>
              </a:extLst>
            </p:cNvPr>
            <p:cNvCxnSpPr>
              <a:cxnSpLocks/>
            </p:cNvCxnSpPr>
            <p:nvPr/>
          </p:nvCxnSpPr>
          <p:spPr>
            <a:xfrm rot="17520000">
              <a:off x="3354680" y="5412778"/>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E72D8AB-8C2F-434F-81A2-16F6CF9F338F}"/>
                </a:ext>
              </a:extLst>
            </p:cNvPr>
            <p:cNvCxnSpPr>
              <a:cxnSpLocks/>
            </p:cNvCxnSpPr>
            <p:nvPr/>
          </p:nvCxnSpPr>
          <p:spPr>
            <a:xfrm>
              <a:off x="2736107" y="5830011"/>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6C95E09-F257-3A43-A262-0CE1FEFAAC60}"/>
                </a:ext>
              </a:extLst>
            </p:cNvPr>
            <p:cNvCxnSpPr>
              <a:cxnSpLocks/>
            </p:cNvCxnSpPr>
            <p:nvPr/>
          </p:nvCxnSpPr>
          <p:spPr>
            <a:xfrm rot="16200000">
              <a:off x="2736107" y="5826217"/>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B50F5F8F-DD4A-124E-879E-52BB8282F522}"/>
                    </a:ext>
                  </a:extLst>
                </p:cNvPr>
                <p:cNvSpPr/>
                <p:nvPr/>
              </p:nvSpPr>
              <p:spPr>
                <a:xfrm>
                  <a:off x="3733225" y="5574411"/>
                  <a:ext cx="87722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en-US" sz="2000" i="1" smtClean="0">
                                <a:latin typeface="Cambria Math" panose="02040503050406030204" pitchFamily="18" charset="0"/>
                              </a:rPr>
                            </m:ctrlPr>
                          </m:fPr>
                          <m:num>
                            <m:r>
                              <a:rPr lang="sr-Latn-R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𝜋</m:t>
                            </m:r>
                          </m:num>
                          <m:den>
                            <m:r>
                              <a:rPr lang="sr-Latn-RS" sz="2000" b="0" i="1" smtClean="0">
                                <a:latin typeface="Cambria Math" panose="02040503050406030204" pitchFamily="18" charset="0"/>
                              </a:rPr>
                              <m:t>8</m:t>
                            </m:r>
                          </m:den>
                        </m:f>
                      </m:oMath>
                    </m:oMathPara>
                  </a14:m>
                  <a:endParaRPr lang="en-US" sz="2000" dirty="0"/>
                </a:p>
              </p:txBody>
            </p:sp>
          </mc:Choice>
          <mc:Fallback xmlns="">
            <p:sp>
              <p:nvSpPr>
                <p:cNvPr id="57" name="Rectangle 56">
                  <a:extLst>
                    <a:ext uri="{FF2B5EF4-FFF2-40B4-BE49-F238E27FC236}">
                      <a16:creationId xmlns:a16="http://schemas.microsoft.com/office/drawing/2014/main" id="{B50F5F8F-DD4A-124E-879E-52BB8282F522}"/>
                    </a:ext>
                  </a:extLst>
                </p:cNvPr>
                <p:cNvSpPr>
                  <a:spLocks noRot="1" noChangeAspect="1" noMove="1" noResize="1" noEditPoints="1" noAdjustHandles="1" noChangeArrowheads="1" noChangeShapeType="1" noTextEdit="1"/>
                </p:cNvSpPr>
                <p:nvPr/>
              </p:nvSpPr>
              <p:spPr>
                <a:xfrm>
                  <a:off x="3733225" y="5574411"/>
                  <a:ext cx="877228" cy="400110"/>
                </a:xfrm>
                <a:prstGeom prst="rect">
                  <a:avLst/>
                </a:prstGeom>
                <a:blipFill>
                  <a:blip r:embed="rId14"/>
                  <a:stretch>
                    <a:fillRect t="-115625" r="-5714" b="-181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E8675A30-5C21-3A46-902F-7A7AD6CDE7D0}"/>
                    </a:ext>
                  </a:extLst>
                </p:cNvPr>
                <p:cNvSpPr/>
                <p:nvPr/>
              </p:nvSpPr>
              <p:spPr>
                <a:xfrm>
                  <a:off x="4366975" y="6138280"/>
                  <a:ext cx="67236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0</m:t>
                                </m:r>
                              </m:sub>
                            </m:sSub>
                          </m:e>
                        </m:d>
                      </m:oMath>
                    </m:oMathPara>
                  </a14:m>
                  <a:endParaRPr lang="en-US" sz="2000" dirty="0"/>
                </a:p>
              </p:txBody>
            </p:sp>
          </mc:Choice>
          <mc:Fallback xmlns="">
            <p:sp>
              <p:nvSpPr>
                <p:cNvPr id="74" name="Rectangle 73">
                  <a:extLst>
                    <a:ext uri="{FF2B5EF4-FFF2-40B4-BE49-F238E27FC236}">
                      <a16:creationId xmlns:a16="http://schemas.microsoft.com/office/drawing/2014/main" id="{E8675A30-5C21-3A46-902F-7A7AD6CDE7D0}"/>
                    </a:ext>
                  </a:extLst>
                </p:cNvPr>
                <p:cNvSpPr>
                  <a:spLocks noRot="1" noChangeAspect="1" noMove="1" noResize="1" noEditPoints="1" noAdjustHandles="1" noChangeArrowheads="1" noChangeShapeType="1" noTextEdit="1"/>
                </p:cNvSpPr>
                <p:nvPr/>
              </p:nvSpPr>
              <p:spPr>
                <a:xfrm>
                  <a:off x="4366975" y="6138280"/>
                  <a:ext cx="672364" cy="40011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51B95E57-4E98-AF4A-895B-45ACA2905472}"/>
                    </a:ext>
                  </a:extLst>
                </p:cNvPr>
                <p:cNvSpPr/>
                <p:nvPr/>
              </p:nvSpPr>
              <p:spPr>
                <a:xfrm>
                  <a:off x="4007523" y="4668477"/>
                  <a:ext cx="66640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1</m:t>
                                </m:r>
                              </m:sub>
                            </m:sSub>
                          </m:e>
                        </m:d>
                      </m:oMath>
                    </m:oMathPara>
                  </a14:m>
                  <a:endParaRPr lang="en-US" sz="2000" dirty="0"/>
                </a:p>
              </p:txBody>
            </p:sp>
          </mc:Choice>
          <mc:Fallback xmlns="">
            <p:sp>
              <p:nvSpPr>
                <p:cNvPr id="75" name="Rectangle 74">
                  <a:extLst>
                    <a:ext uri="{FF2B5EF4-FFF2-40B4-BE49-F238E27FC236}">
                      <a16:creationId xmlns:a16="http://schemas.microsoft.com/office/drawing/2014/main" id="{51B95E57-4E98-AF4A-895B-45ACA2905472}"/>
                    </a:ext>
                  </a:extLst>
                </p:cNvPr>
                <p:cNvSpPr>
                  <a:spLocks noRot="1" noChangeAspect="1" noMove="1" noResize="1" noEditPoints="1" noAdjustHandles="1" noChangeArrowheads="1" noChangeShapeType="1" noTextEdit="1"/>
                </p:cNvSpPr>
                <p:nvPr/>
              </p:nvSpPr>
              <p:spPr>
                <a:xfrm>
                  <a:off x="4007523" y="4668477"/>
                  <a:ext cx="666401"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3FD136D9-6527-1F40-8005-538C7DF3E78C}"/>
                    </a:ext>
                  </a:extLst>
                </p:cNvPr>
                <p:cNvSpPr/>
                <p:nvPr/>
              </p:nvSpPr>
              <p:spPr>
                <a:xfrm>
                  <a:off x="2299265" y="4653411"/>
                  <a:ext cx="932884" cy="430887"/>
                </a:xfrm>
                <a:prstGeom prst="rect">
                  <a:avLst/>
                </a:prstGeom>
                <a:solidFill>
                  <a:schemeClr val="accent1">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𝑦</m:t>
                        </m:r>
                        <m:r>
                          <a:rPr lang="en-US" sz="2200" b="0" i="1" smtClean="0">
                            <a:latin typeface="Cambria Math" panose="02040503050406030204" pitchFamily="18" charset="0"/>
                          </a:rPr>
                          <m:t>=1</m:t>
                        </m:r>
                      </m:oMath>
                    </m:oMathPara>
                  </a14:m>
                  <a:endParaRPr lang="en-US" sz="2200" dirty="0"/>
                </a:p>
              </p:txBody>
            </p:sp>
          </mc:Choice>
          <mc:Fallback xmlns="">
            <p:sp>
              <p:nvSpPr>
                <p:cNvPr id="86" name="Rectangle 85">
                  <a:extLst>
                    <a:ext uri="{FF2B5EF4-FFF2-40B4-BE49-F238E27FC236}">
                      <a16:creationId xmlns:a16="http://schemas.microsoft.com/office/drawing/2014/main" id="{3FD136D9-6527-1F40-8005-538C7DF3E78C}"/>
                    </a:ext>
                  </a:extLst>
                </p:cNvPr>
                <p:cNvSpPr>
                  <a:spLocks noRot="1" noChangeAspect="1" noMove="1" noResize="1" noEditPoints="1" noAdjustHandles="1" noChangeArrowheads="1" noChangeShapeType="1" noTextEdit="1"/>
                </p:cNvSpPr>
                <p:nvPr/>
              </p:nvSpPr>
              <p:spPr>
                <a:xfrm>
                  <a:off x="2299265" y="4653411"/>
                  <a:ext cx="932884" cy="430887"/>
                </a:xfrm>
                <a:prstGeom prst="rect">
                  <a:avLst/>
                </a:prstGeom>
                <a:blipFill>
                  <a:blip r:embed="rId17"/>
                  <a:stretch>
                    <a:fillRect b="-8571"/>
                  </a:stretch>
                </a:blipFill>
              </p:spPr>
              <p:txBody>
                <a:bodyPr/>
                <a:lstStyle/>
                <a:p>
                  <a:r>
                    <a:rPr lang="en-US">
                      <a:noFill/>
                    </a:rPr>
                    <a:t> </a:t>
                  </a:r>
                </a:p>
              </p:txBody>
            </p:sp>
          </mc:Fallback>
        </mc:AlternateContent>
        <p:cxnSp>
          <p:nvCxnSpPr>
            <p:cNvPr id="200" name="Straight Arrow Connector 199">
              <a:extLst>
                <a:ext uri="{FF2B5EF4-FFF2-40B4-BE49-F238E27FC236}">
                  <a16:creationId xmlns:a16="http://schemas.microsoft.com/office/drawing/2014/main" id="{17EC6F22-7D61-BF44-B1FB-F4219F8199FE}"/>
                </a:ext>
              </a:extLst>
            </p:cNvPr>
            <p:cNvCxnSpPr>
              <a:cxnSpLocks/>
            </p:cNvCxnSpPr>
            <p:nvPr/>
          </p:nvCxnSpPr>
          <p:spPr>
            <a:xfrm rot="1320000" flipH="1" flipV="1">
              <a:off x="2770771" y="5661437"/>
              <a:ext cx="900000" cy="0"/>
            </a:xfrm>
            <a:prstGeom prst="straightConnector1">
              <a:avLst/>
            </a:prstGeom>
            <a:ln w="38100" cap="rnd">
              <a:solidFill>
                <a:srgbClr val="0000FF">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713B1541-10DC-364D-BEDE-3B8CC54E7276}"/>
                </a:ext>
              </a:extLst>
            </p:cNvPr>
            <p:cNvCxnSpPr>
              <a:cxnSpLocks/>
            </p:cNvCxnSpPr>
            <p:nvPr/>
          </p:nvCxnSpPr>
          <p:spPr>
            <a:xfrm rot="17520000" flipH="1" flipV="1">
              <a:off x="3016216" y="6240378"/>
              <a:ext cx="900000" cy="0"/>
            </a:xfrm>
            <a:prstGeom prst="straightConnector1">
              <a:avLst/>
            </a:prstGeom>
            <a:ln w="38100" cap="rnd">
              <a:solidFill>
                <a:srgbClr val="0000FF">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5897184-0A91-CF46-98C7-63670B50A04B}"/>
              </a:ext>
            </a:extLst>
          </p:cNvPr>
          <p:cNvGrpSpPr/>
          <p:nvPr/>
        </p:nvGrpSpPr>
        <p:grpSpPr>
          <a:xfrm>
            <a:off x="5468121" y="4531242"/>
            <a:ext cx="3360261" cy="2209463"/>
            <a:chOff x="5468121" y="4531242"/>
            <a:chExt cx="3360261" cy="2209463"/>
          </a:xfrm>
        </p:grpSpPr>
        <p:cxnSp>
          <p:nvCxnSpPr>
            <p:cNvPr id="158" name="Straight Arrow Connector 157">
              <a:extLst>
                <a:ext uri="{FF2B5EF4-FFF2-40B4-BE49-F238E27FC236}">
                  <a16:creationId xmlns:a16="http://schemas.microsoft.com/office/drawing/2014/main" id="{E4D82B03-D9B7-4143-A026-5917D7849820}"/>
                </a:ext>
              </a:extLst>
            </p:cNvPr>
            <p:cNvCxnSpPr>
              <a:cxnSpLocks/>
            </p:cNvCxnSpPr>
            <p:nvPr/>
          </p:nvCxnSpPr>
          <p:spPr>
            <a:xfrm rot="18900000">
              <a:off x="7236625" y="5521352"/>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AD4F7FD9-6EA1-7447-B851-B14439021E75}"/>
                </a:ext>
              </a:extLst>
            </p:cNvPr>
            <p:cNvCxnSpPr>
              <a:cxnSpLocks/>
              <a:endCxn id="148" idx="5"/>
            </p:cNvCxnSpPr>
            <p:nvPr/>
          </p:nvCxnSpPr>
          <p:spPr>
            <a:xfrm>
              <a:off x="7368427" y="5839550"/>
              <a:ext cx="630214" cy="637551"/>
            </a:xfrm>
            <a:prstGeom prst="straightConnector1">
              <a:avLst/>
            </a:prstGeom>
            <a:ln w="38100" cap="rnd">
              <a:solidFill>
                <a:srgbClr val="FF0000">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85D9C10B-E7CB-CC47-A089-2D3456E4AD97}"/>
                </a:ext>
              </a:extLst>
            </p:cNvPr>
            <p:cNvCxnSpPr>
              <a:cxnSpLocks/>
            </p:cNvCxnSpPr>
            <p:nvPr/>
          </p:nvCxnSpPr>
          <p:spPr>
            <a:xfrm rot="1320000">
              <a:off x="7330983" y="5996613"/>
              <a:ext cx="900000" cy="0"/>
            </a:xfrm>
            <a:prstGeom prst="straightConnector1">
              <a:avLst/>
            </a:prstGeom>
            <a:ln w="38100" cap="rnd">
              <a:solidFill>
                <a:srgbClr val="0000FF">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919C3F9B-DBD5-1646-BC77-158FF8C87F52}"/>
                </a:ext>
              </a:extLst>
            </p:cNvPr>
            <p:cNvCxnSpPr>
              <a:cxnSpLocks/>
            </p:cNvCxnSpPr>
            <p:nvPr/>
          </p:nvCxnSpPr>
          <p:spPr>
            <a:xfrm rot="17520000">
              <a:off x="7082323" y="5410807"/>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40" name="Group 139">
              <a:extLst>
                <a:ext uri="{FF2B5EF4-FFF2-40B4-BE49-F238E27FC236}">
                  <a16:creationId xmlns:a16="http://schemas.microsoft.com/office/drawing/2014/main" id="{7CF3169D-AC4D-DC43-A612-A2E2DC2CB874}"/>
                </a:ext>
              </a:extLst>
            </p:cNvPr>
            <p:cNvGrpSpPr/>
            <p:nvPr/>
          </p:nvGrpSpPr>
          <p:grpSpPr>
            <a:xfrm>
              <a:off x="5468121" y="4531242"/>
              <a:ext cx="2794124" cy="2209463"/>
              <a:chOff x="-678164" y="2371404"/>
              <a:chExt cx="2794124" cy="2209463"/>
            </a:xfrm>
          </p:grpSpPr>
          <p:cxnSp>
            <p:nvCxnSpPr>
              <p:cNvPr id="141" name="Straight Connector 140">
                <a:extLst>
                  <a:ext uri="{FF2B5EF4-FFF2-40B4-BE49-F238E27FC236}">
                    <a16:creationId xmlns:a16="http://schemas.microsoft.com/office/drawing/2014/main" id="{6EFF2830-4FF4-6549-BF8E-67D359DD8D6D}"/>
                  </a:ext>
                </a:extLst>
              </p:cNvPr>
              <p:cNvCxnSpPr>
                <a:cxnSpLocks/>
              </p:cNvCxnSpPr>
              <p:nvPr/>
            </p:nvCxnSpPr>
            <p:spPr>
              <a:xfrm>
                <a:off x="311570" y="3680866"/>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370DEB9-D416-7946-A0ED-D54910FF181C}"/>
                  </a:ext>
                </a:extLst>
              </p:cNvPr>
              <p:cNvCxnSpPr>
                <a:cxnSpLocks/>
              </p:cNvCxnSpPr>
              <p:nvPr/>
            </p:nvCxnSpPr>
            <p:spPr>
              <a:xfrm rot="16200000">
                <a:off x="311568" y="3680866"/>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a16="http://schemas.microsoft.com/office/drawing/2014/main" id="{E106A8A8-0168-1845-BD2A-22F3A4C91C25}"/>
                  </a:ext>
                </a:extLst>
              </p:cNvPr>
              <p:cNvGrpSpPr/>
              <p:nvPr/>
            </p:nvGrpSpPr>
            <p:grpSpPr>
              <a:xfrm>
                <a:off x="-678164" y="2371404"/>
                <a:ext cx="2794124" cy="2209463"/>
                <a:chOff x="-678164" y="2371404"/>
                <a:chExt cx="2794124" cy="2209463"/>
              </a:xfrm>
            </p:grpSpPr>
            <p:sp>
              <p:nvSpPr>
                <p:cNvPr id="148" name="Oval 147">
                  <a:extLst>
                    <a:ext uri="{FF2B5EF4-FFF2-40B4-BE49-F238E27FC236}">
                      <a16:creationId xmlns:a16="http://schemas.microsoft.com/office/drawing/2014/main" id="{005982CE-4FC2-7D4F-861A-EE300CE72B05}"/>
                    </a:ext>
                  </a:extLst>
                </p:cNvPr>
                <p:cNvSpPr/>
                <p:nvPr/>
              </p:nvSpPr>
              <p:spPr>
                <a:xfrm>
                  <a:off x="315960" y="2780867"/>
                  <a:ext cx="1800000" cy="180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7" name="Rectangle 146">
                      <a:extLst>
                        <a:ext uri="{FF2B5EF4-FFF2-40B4-BE49-F238E27FC236}">
                          <a16:creationId xmlns:a16="http://schemas.microsoft.com/office/drawing/2014/main" id="{95EC980A-A9DF-0742-81D1-F6A908112041}"/>
                        </a:ext>
                      </a:extLst>
                    </p:cNvPr>
                    <p:cNvSpPr/>
                    <p:nvPr/>
                  </p:nvSpPr>
                  <p:spPr>
                    <a:xfrm>
                      <a:off x="-678164" y="2371404"/>
                      <a:ext cx="930191" cy="430887"/>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𝑥</m:t>
                            </m:r>
                            <m:r>
                              <a:rPr lang="en-US" sz="2200" b="0" i="1" smtClean="0">
                                <a:latin typeface="Cambria Math" panose="02040503050406030204" pitchFamily="18" charset="0"/>
                              </a:rPr>
                              <m:t>=1</m:t>
                            </m:r>
                          </m:oMath>
                        </m:oMathPara>
                      </a14:m>
                      <a:endParaRPr lang="en-US" sz="2200" dirty="0"/>
                    </a:p>
                  </p:txBody>
                </p:sp>
              </mc:Choice>
              <mc:Fallback xmlns="">
                <p:sp>
                  <p:nvSpPr>
                    <p:cNvPr id="147" name="Rectangle 146">
                      <a:extLst>
                        <a:ext uri="{FF2B5EF4-FFF2-40B4-BE49-F238E27FC236}">
                          <a16:creationId xmlns:a16="http://schemas.microsoft.com/office/drawing/2014/main" id="{95EC980A-A9DF-0742-81D1-F6A908112041}"/>
                        </a:ext>
                      </a:extLst>
                    </p:cNvPr>
                    <p:cNvSpPr>
                      <a:spLocks noRot="1" noChangeAspect="1" noMove="1" noResize="1" noEditPoints="1" noAdjustHandles="1" noChangeArrowheads="1" noChangeShapeType="1" noTextEdit="1"/>
                    </p:cNvSpPr>
                    <p:nvPr/>
                  </p:nvSpPr>
                  <p:spPr>
                    <a:xfrm>
                      <a:off x="-678164" y="2371404"/>
                      <a:ext cx="930191" cy="430887"/>
                    </a:xfrm>
                    <a:prstGeom prst="rect">
                      <a:avLst/>
                    </a:prstGeom>
                    <a:blipFill>
                      <a:blip r:embed="rId18"/>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153" name="Rectangle 152">
                  <a:extLst>
                    <a:ext uri="{FF2B5EF4-FFF2-40B4-BE49-F238E27FC236}">
                      <a16:creationId xmlns:a16="http://schemas.microsoft.com/office/drawing/2014/main" id="{B936C7C2-9006-7945-A7B2-EC0FF25F721A}"/>
                    </a:ext>
                  </a:extLst>
                </p:cNvPr>
                <p:cNvSpPr/>
                <p:nvPr/>
              </p:nvSpPr>
              <p:spPr>
                <a:xfrm>
                  <a:off x="5486525" y="5026592"/>
                  <a:ext cx="932883" cy="430887"/>
                </a:xfrm>
                <a:prstGeom prst="rect">
                  <a:avLst/>
                </a:prstGeom>
                <a:solidFill>
                  <a:schemeClr val="accent1">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𝑦</m:t>
                        </m:r>
                        <m:r>
                          <a:rPr lang="en-US" sz="2200" b="0" i="1" smtClean="0">
                            <a:latin typeface="Cambria Math" panose="02040503050406030204" pitchFamily="18" charset="0"/>
                          </a:rPr>
                          <m:t>=1</m:t>
                        </m:r>
                      </m:oMath>
                    </m:oMathPara>
                  </a14:m>
                  <a:endParaRPr lang="en-US" sz="2200" i="1" dirty="0"/>
                </a:p>
              </p:txBody>
            </p:sp>
          </mc:Choice>
          <mc:Fallback xmlns="">
            <p:sp>
              <p:nvSpPr>
                <p:cNvPr id="153" name="Rectangle 152">
                  <a:extLst>
                    <a:ext uri="{FF2B5EF4-FFF2-40B4-BE49-F238E27FC236}">
                      <a16:creationId xmlns:a16="http://schemas.microsoft.com/office/drawing/2014/main" id="{B936C7C2-9006-7945-A7B2-EC0FF25F721A}"/>
                    </a:ext>
                  </a:extLst>
                </p:cNvPr>
                <p:cNvSpPr>
                  <a:spLocks noRot="1" noChangeAspect="1" noMove="1" noResize="1" noEditPoints="1" noAdjustHandles="1" noChangeArrowheads="1" noChangeShapeType="1" noTextEdit="1"/>
                </p:cNvSpPr>
                <p:nvPr/>
              </p:nvSpPr>
              <p:spPr>
                <a:xfrm>
                  <a:off x="5486525" y="5026592"/>
                  <a:ext cx="932883" cy="430887"/>
                </a:xfrm>
                <a:prstGeom prst="rect">
                  <a:avLst/>
                </a:prstGeom>
                <a:blipFill>
                  <a:blip r:embed="rId19"/>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7" name="Rectangle 166">
                  <a:extLst>
                    <a:ext uri="{FF2B5EF4-FFF2-40B4-BE49-F238E27FC236}">
                      <a16:creationId xmlns:a16="http://schemas.microsoft.com/office/drawing/2014/main" id="{FFBD4BC5-583B-4F4B-8926-25BE8A2FD3CD}"/>
                    </a:ext>
                  </a:extLst>
                </p:cNvPr>
                <p:cNvSpPr/>
                <p:nvPr/>
              </p:nvSpPr>
              <p:spPr>
                <a:xfrm>
                  <a:off x="8015937" y="4923635"/>
                  <a:ext cx="6081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m:t>
                            </m:r>
                          </m:e>
                        </m:d>
                      </m:oMath>
                    </m:oMathPara>
                  </a14:m>
                  <a:endParaRPr lang="en-US" sz="2000" dirty="0">
                    <a:solidFill>
                      <a:srgbClr val="FF0000"/>
                    </a:solidFill>
                  </a:endParaRPr>
                </a:p>
              </p:txBody>
            </p:sp>
          </mc:Choice>
          <mc:Fallback xmlns="">
            <p:sp>
              <p:nvSpPr>
                <p:cNvPr id="167" name="Rectangle 166">
                  <a:extLst>
                    <a:ext uri="{FF2B5EF4-FFF2-40B4-BE49-F238E27FC236}">
                      <a16:creationId xmlns:a16="http://schemas.microsoft.com/office/drawing/2014/main" id="{FFBD4BC5-583B-4F4B-8926-25BE8A2FD3CD}"/>
                    </a:ext>
                  </a:extLst>
                </p:cNvPr>
                <p:cNvSpPr>
                  <a:spLocks noRot="1" noChangeAspect="1" noMove="1" noResize="1" noEditPoints="1" noAdjustHandles="1" noChangeArrowheads="1" noChangeShapeType="1" noTextEdit="1"/>
                </p:cNvSpPr>
                <p:nvPr/>
              </p:nvSpPr>
              <p:spPr>
                <a:xfrm>
                  <a:off x="8015937" y="4923635"/>
                  <a:ext cx="608115" cy="40011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 name="Rectangle 167">
                  <a:extLst>
                    <a:ext uri="{FF2B5EF4-FFF2-40B4-BE49-F238E27FC236}">
                      <a16:creationId xmlns:a16="http://schemas.microsoft.com/office/drawing/2014/main" id="{2D481BE5-D7E9-3D4F-B918-43CE8A0B5EC8}"/>
                    </a:ext>
                  </a:extLst>
                </p:cNvPr>
                <p:cNvSpPr/>
                <p:nvPr/>
              </p:nvSpPr>
              <p:spPr>
                <a:xfrm>
                  <a:off x="7608675" y="4633605"/>
                  <a:ext cx="66640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0000FF"/>
                                </a:solidFill>
                                <a:latin typeface="Cambria Math" panose="02040503050406030204" pitchFamily="18" charset="0"/>
                              </a:rPr>
                            </m:ctrlPr>
                          </m:dPr>
                          <m:e>
                            <m:sSub>
                              <m:sSubPr>
                                <m:ctrlPr>
                                  <a:rPr lang="en-US" sz="2000" i="1" smtClean="0">
                                    <a:solidFill>
                                      <a:srgbClr val="0000FF"/>
                                    </a:solidFill>
                                    <a:latin typeface="Cambria Math" panose="02040503050406030204" pitchFamily="18" charset="0"/>
                                  </a:rPr>
                                </m:ctrlPr>
                              </m:sSubPr>
                              <m:e>
                                <m:r>
                                  <a:rPr lang="en-US" sz="2000" b="0" i="1" smtClean="0">
                                    <a:solidFill>
                                      <a:srgbClr val="0000FF"/>
                                    </a:solidFill>
                                    <a:latin typeface="Cambria Math" panose="02040503050406030204" pitchFamily="18" charset="0"/>
                                  </a:rPr>
                                  <m:t>𝑣</m:t>
                                </m:r>
                              </m:e>
                              <m:sub>
                                <m:r>
                                  <a:rPr lang="en-US" sz="2000" b="0" i="1" smtClean="0">
                                    <a:solidFill>
                                      <a:srgbClr val="0000FF"/>
                                    </a:solidFill>
                                    <a:latin typeface="Cambria Math" panose="02040503050406030204" pitchFamily="18" charset="0"/>
                                  </a:rPr>
                                  <m:t>1</m:t>
                                </m:r>
                              </m:sub>
                            </m:sSub>
                          </m:e>
                        </m:d>
                      </m:oMath>
                    </m:oMathPara>
                  </a14:m>
                  <a:endParaRPr lang="en-US" sz="2000" dirty="0">
                    <a:solidFill>
                      <a:srgbClr val="0000FF"/>
                    </a:solidFill>
                  </a:endParaRPr>
                </a:p>
              </p:txBody>
            </p:sp>
          </mc:Choice>
          <mc:Fallback xmlns="">
            <p:sp>
              <p:nvSpPr>
                <p:cNvPr id="168" name="Rectangle 167">
                  <a:extLst>
                    <a:ext uri="{FF2B5EF4-FFF2-40B4-BE49-F238E27FC236}">
                      <a16:creationId xmlns:a16="http://schemas.microsoft.com/office/drawing/2014/main" id="{2D481BE5-D7E9-3D4F-B918-43CE8A0B5EC8}"/>
                    </a:ext>
                  </a:extLst>
                </p:cNvPr>
                <p:cNvSpPr>
                  <a:spLocks noRot="1" noChangeAspect="1" noMove="1" noResize="1" noEditPoints="1" noAdjustHandles="1" noChangeArrowheads="1" noChangeShapeType="1" noTextEdit="1"/>
                </p:cNvSpPr>
                <p:nvPr/>
              </p:nvSpPr>
              <p:spPr>
                <a:xfrm>
                  <a:off x="7608675" y="4633605"/>
                  <a:ext cx="666401" cy="400110"/>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9" name="Rectangle 168">
                  <a:extLst>
                    <a:ext uri="{FF2B5EF4-FFF2-40B4-BE49-F238E27FC236}">
                      <a16:creationId xmlns:a16="http://schemas.microsoft.com/office/drawing/2014/main" id="{AE376990-FDD7-2B4B-9DA2-F400E8A43DAE}"/>
                    </a:ext>
                  </a:extLst>
                </p:cNvPr>
                <p:cNvSpPr/>
                <p:nvPr/>
              </p:nvSpPr>
              <p:spPr>
                <a:xfrm>
                  <a:off x="6328450" y="4770812"/>
                  <a:ext cx="558422" cy="400110"/>
                </a:xfrm>
                <a:prstGeom prst="rect">
                  <a:avLst/>
                </a:prstGeom>
                <a:effectLst>
                  <a:glow rad="127000">
                    <a:schemeClr val="accent1"/>
                  </a:glow>
                </a:effectLst>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FA9C7C"/>
                                </a:solidFill>
                                <a:latin typeface="Cambria Math" panose="02040503050406030204" pitchFamily="18" charset="0"/>
                              </a:rPr>
                            </m:ctrlPr>
                          </m:dPr>
                          <m:e>
                            <m:r>
                              <a:rPr lang="en-US" sz="2000" b="0" i="1" smtClean="0">
                                <a:solidFill>
                                  <a:srgbClr val="FA9C7C"/>
                                </a:solidFill>
                                <a:latin typeface="Cambria Math" panose="02040503050406030204" pitchFamily="18" charset="0"/>
                              </a:rPr>
                              <m:t>1</m:t>
                            </m:r>
                          </m:e>
                        </m:d>
                      </m:oMath>
                    </m:oMathPara>
                  </a14:m>
                  <a:endParaRPr lang="en-US" sz="2000" dirty="0">
                    <a:solidFill>
                      <a:srgbClr val="FA9C7C"/>
                    </a:solidFill>
                  </a:endParaRPr>
                </a:p>
              </p:txBody>
            </p:sp>
          </mc:Choice>
          <mc:Fallback xmlns="">
            <p:sp>
              <p:nvSpPr>
                <p:cNvPr id="169" name="Rectangle 168">
                  <a:extLst>
                    <a:ext uri="{FF2B5EF4-FFF2-40B4-BE49-F238E27FC236}">
                      <a16:creationId xmlns:a16="http://schemas.microsoft.com/office/drawing/2014/main" id="{AE376990-FDD7-2B4B-9DA2-F400E8A43DAE}"/>
                    </a:ext>
                  </a:extLst>
                </p:cNvPr>
                <p:cNvSpPr>
                  <a:spLocks noRot="1" noChangeAspect="1" noMove="1" noResize="1" noEditPoints="1" noAdjustHandles="1" noChangeArrowheads="1" noChangeShapeType="1" noTextEdit="1"/>
                </p:cNvSpPr>
                <p:nvPr/>
              </p:nvSpPr>
              <p:spPr>
                <a:xfrm>
                  <a:off x="6328450" y="4770812"/>
                  <a:ext cx="558422" cy="400110"/>
                </a:xfrm>
                <a:prstGeom prst="rect">
                  <a:avLst/>
                </a:prstGeom>
                <a:blipFill>
                  <a:blip r:embed="rId22"/>
                  <a:stretch>
                    <a:fillRect/>
                  </a:stretch>
                </a:blipFill>
                <a:effectLst>
                  <a:glow rad="127000">
                    <a:schemeClr val="accent1"/>
                  </a:glo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0" name="Rectangle 169">
                  <a:extLst>
                    <a:ext uri="{FF2B5EF4-FFF2-40B4-BE49-F238E27FC236}">
                      <a16:creationId xmlns:a16="http://schemas.microsoft.com/office/drawing/2014/main" id="{53CA0F59-737D-AD48-92D2-1896F90ED5AE}"/>
                    </a:ext>
                  </a:extLst>
                </p:cNvPr>
                <p:cNvSpPr/>
                <p:nvPr/>
              </p:nvSpPr>
              <p:spPr>
                <a:xfrm>
                  <a:off x="8156018" y="6118070"/>
                  <a:ext cx="67236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accent1">
                                    <a:lumMod val="60000"/>
                                    <a:lumOff val="40000"/>
                                  </a:schemeClr>
                                </a:solidFill>
                                <a:latin typeface="Cambria Math" panose="02040503050406030204" pitchFamily="18" charset="0"/>
                              </a:rPr>
                            </m:ctrlPr>
                          </m:dPr>
                          <m:e>
                            <m:sSub>
                              <m:sSubPr>
                                <m:ctrlPr>
                                  <a:rPr lang="en-US" sz="2000" i="1" smtClean="0">
                                    <a:solidFill>
                                      <a:schemeClr val="accent1">
                                        <a:lumMod val="60000"/>
                                        <a:lumOff val="40000"/>
                                      </a:schemeClr>
                                    </a:solidFill>
                                    <a:latin typeface="Cambria Math" panose="02040503050406030204" pitchFamily="18" charset="0"/>
                                  </a:rPr>
                                </m:ctrlPr>
                              </m:sSubPr>
                              <m:e>
                                <m:r>
                                  <a:rPr lang="en-US" sz="2000" b="0" i="1" smtClean="0">
                                    <a:solidFill>
                                      <a:schemeClr val="accent1">
                                        <a:lumMod val="60000"/>
                                        <a:lumOff val="40000"/>
                                      </a:schemeClr>
                                    </a:solidFill>
                                    <a:latin typeface="Cambria Math" panose="02040503050406030204" pitchFamily="18" charset="0"/>
                                  </a:rPr>
                                  <m:t>𝑣</m:t>
                                </m:r>
                              </m:e>
                              <m:sub>
                                <m:r>
                                  <a:rPr lang="en-US" sz="2000" b="0" i="1" smtClean="0">
                                    <a:solidFill>
                                      <a:schemeClr val="accent1">
                                        <a:lumMod val="60000"/>
                                        <a:lumOff val="40000"/>
                                      </a:schemeClr>
                                    </a:solidFill>
                                    <a:latin typeface="Cambria Math" panose="02040503050406030204" pitchFamily="18" charset="0"/>
                                  </a:rPr>
                                  <m:t>0</m:t>
                                </m:r>
                              </m:sub>
                            </m:sSub>
                          </m:e>
                        </m:d>
                      </m:oMath>
                    </m:oMathPara>
                  </a14:m>
                  <a:endParaRPr lang="en-US" sz="2000" dirty="0">
                    <a:solidFill>
                      <a:schemeClr val="accent1">
                        <a:lumMod val="60000"/>
                        <a:lumOff val="40000"/>
                      </a:schemeClr>
                    </a:solidFill>
                  </a:endParaRPr>
                </a:p>
              </p:txBody>
            </p:sp>
          </mc:Choice>
          <mc:Fallback xmlns="">
            <p:sp>
              <p:nvSpPr>
                <p:cNvPr id="170" name="Rectangle 169">
                  <a:extLst>
                    <a:ext uri="{FF2B5EF4-FFF2-40B4-BE49-F238E27FC236}">
                      <a16:creationId xmlns:a16="http://schemas.microsoft.com/office/drawing/2014/main" id="{53CA0F59-737D-AD48-92D2-1896F90ED5AE}"/>
                    </a:ext>
                  </a:extLst>
                </p:cNvPr>
                <p:cNvSpPr>
                  <a:spLocks noRot="1" noChangeAspect="1" noMove="1" noResize="1" noEditPoints="1" noAdjustHandles="1" noChangeArrowheads="1" noChangeShapeType="1" noTextEdit="1"/>
                </p:cNvSpPr>
                <p:nvPr/>
              </p:nvSpPr>
              <p:spPr>
                <a:xfrm>
                  <a:off x="8156018" y="6118070"/>
                  <a:ext cx="672364" cy="40011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3" name="Rectangle 172">
                  <a:extLst>
                    <a:ext uri="{FF2B5EF4-FFF2-40B4-BE49-F238E27FC236}">
                      <a16:creationId xmlns:a16="http://schemas.microsoft.com/office/drawing/2014/main" id="{FA1A66C3-E3B9-AE46-A661-D7068D7C0943}"/>
                    </a:ext>
                  </a:extLst>
                </p:cNvPr>
                <p:cNvSpPr/>
                <p:nvPr/>
              </p:nvSpPr>
              <p:spPr>
                <a:xfrm>
                  <a:off x="6807619" y="5383117"/>
                  <a:ext cx="68486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en-US" sz="2000" i="1" smtClean="0">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ea typeface="Cambria Math" panose="02040503050406030204" pitchFamily="18" charset="0"/>
                              </a:rPr>
                              <m:t>𝜋</m:t>
                            </m:r>
                          </m:num>
                          <m:den>
                            <m:r>
                              <a:rPr lang="sr-Latn-RS" sz="2000" b="0" i="1" smtClean="0">
                                <a:solidFill>
                                  <a:schemeClr val="tx1"/>
                                </a:solidFill>
                                <a:latin typeface="Cambria Math" panose="02040503050406030204" pitchFamily="18" charset="0"/>
                              </a:rPr>
                              <m:t>8</m:t>
                            </m:r>
                          </m:den>
                        </m:f>
                      </m:oMath>
                    </m:oMathPara>
                  </a14:m>
                  <a:endParaRPr lang="en-US" sz="2000" dirty="0">
                    <a:solidFill>
                      <a:schemeClr val="tx1"/>
                    </a:solidFill>
                  </a:endParaRPr>
                </a:p>
              </p:txBody>
            </p:sp>
          </mc:Choice>
          <mc:Fallback xmlns="">
            <p:sp>
              <p:nvSpPr>
                <p:cNvPr id="173" name="Rectangle 172">
                  <a:extLst>
                    <a:ext uri="{FF2B5EF4-FFF2-40B4-BE49-F238E27FC236}">
                      <a16:creationId xmlns:a16="http://schemas.microsoft.com/office/drawing/2014/main" id="{FA1A66C3-E3B9-AE46-A661-D7068D7C0943}"/>
                    </a:ext>
                  </a:extLst>
                </p:cNvPr>
                <p:cNvSpPr>
                  <a:spLocks noRot="1" noChangeAspect="1" noMove="1" noResize="1" noEditPoints="1" noAdjustHandles="1" noChangeArrowheads="1" noChangeShapeType="1" noTextEdit="1"/>
                </p:cNvSpPr>
                <p:nvPr/>
              </p:nvSpPr>
              <p:spPr>
                <a:xfrm>
                  <a:off x="6807619" y="5383117"/>
                  <a:ext cx="684867" cy="400110"/>
                </a:xfrm>
                <a:prstGeom prst="rect">
                  <a:avLst/>
                </a:prstGeom>
                <a:blipFill>
                  <a:blip r:embed="rId24"/>
                  <a:stretch>
                    <a:fillRect l="-25455" t="-115625" r="-7273" b="-181250"/>
                  </a:stretch>
                </a:blipFill>
              </p:spPr>
              <p:txBody>
                <a:bodyPr/>
                <a:lstStyle/>
                <a:p>
                  <a:r>
                    <a:rPr lang="en-US">
                      <a:noFill/>
                    </a:rPr>
                    <a:t> </a:t>
                  </a:r>
                </a:p>
              </p:txBody>
            </p:sp>
          </mc:Fallback>
        </mc:AlternateContent>
        <p:sp>
          <p:nvSpPr>
            <p:cNvPr id="174" name="Arc 173">
              <a:extLst>
                <a:ext uri="{FF2B5EF4-FFF2-40B4-BE49-F238E27FC236}">
                  <a16:creationId xmlns:a16="http://schemas.microsoft.com/office/drawing/2014/main" id="{46222436-EE41-DB4F-A787-C843204234AD}"/>
                </a:ext>
              </a:extLst>
            </p:cNvPr>
            <p:cNvSpPr/>
            <p:nvPr/>
          </p:nvSpPr>
          <p:spPr>
            <a:xfrm rot="842282">
              <a:off x="7348626" y="5361091"/>
              <a:ext cx="397130" cy="311911"/>
            </a:xfrm>
            <a:prstGeom prst="arc">
              <a:avLst>
                <a:gd name="adj1" fmla="val 10160430"/>
                <a:gd name="adj2" fmla="val 18012398"/>
              </a:avLst>
            </a:prstGeom>
            <a:ln>
              <a:solidFill>
                <a:schemeClr val="bg1">
                  <a:lumMod val="50000"/>
                </a:schemeClr>
              </a:solidFill>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190A4345-C526-EC43-ACF2-34118489CD40}"/>
              </a:ext>
            </a:extLst>
          </p:cNvPr>
          <p:cNvGrpSpPr/>
          <p:nvPr/>
        </p:nvGrpSpPr>
        <p:grpSpPr>
          <a:xfrm>
            <a:off x="5053620" y="2118808"/>
            <a:ext cx="3742430" cy="4669856"/>
            <a:chOff x="5053620" y="2118808"/>
            <a:chExt cx="3742430" cy="4669856"/>
          </a:xfrm>
        </p:grpSpPr>
        <mc:AlternateContent xmlns:mc="http://schemas.openxmlformats.org/markup-compatibility/2006" xmlns:a14="http://schemas.microsoft.com/office/drawing/2010/main">
          <mc:Choice Requires="a14">
            <p:sp>
              <p:nvSpPr>
                <p:cNvPr id="163" name="Rectangle 162">
                  <a:extLst>
                    <a:ext uri="{FF2B5EF4-FFF2-40B4-BE49-F238E27FC236}">
                      <a16:creationId xmlns:a16="http://schemas.microsoft.com/office/drawing/2014/main" id="{07E607FC-3E97-DE4D-99C3-B1D0634B05C0}"/>
                    </a:ext>
                  </a:extLst>
                </p:cNvPr>
                <p:cNvSpPr/>
                <p:nvPr/>
              </p:nvSpPr>
              <p:spPr>
                <a:xfrm>
                  <a:off x="6606167" y="3179113"/>
                  <a:ext cx="68486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en-US" sz="2000" i="1" smtClean="0">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ea typeface="Cambria Math" panose="02040503050406030204" pitchFamily="18" charset="0"/>
                              </a:rPr>
                              <m:t>𝜋</m:t>
                            </m:r>
                          </m:num>
                          <m:den>
                            <m:r>
                              <a:rPr lang="sr-Latn-RS" sz="2000" b="0" i="1" smtClean="0">
                                <a:solidFill>
                                  <a:schemeClr val="tx1"/>
                                </a:solidFill>
                                <a:latin typeface="Cambria Math" panose="02040503050406030204" pitchFamily="18" charset="0"/>
                              </a:rPr>
                              <m:t>8</m:t>
                            </m:r>
                          </m:den>
                        </m:f>
                      </m:oMath>
                    </m:oMathPara>
                  </a14:m>
                  <a:endParaRPr lang="en-US" sz="2000" dirty="0">
                    <a:solidFill>
                      <a:schemeClr val="tx1"/>
                    </a:solidFill>
                  </a:endParaRPr>
                </a:p>
              </p:txBody>
            </p:sp>
          </mc:Choice>
          <mc:Fallback xmlns="">
            <p:sp>
              <p:nvSpPr>
                <p:cNvPr id="163" name="Rectangle 162">
                  <a:extLst>
                    <a:ext uri="{FF2B5EF4-FFF2-40B4-BE49-F238E27FC236}">
                      <a16:creationId xmlns:a16="http://schemas.microsoft.com/office/drawing/2014/main" id="{07E607FC-3E97-DE4D-99C3-B1D0634B05C0}"/>
                    </a:ext>
                  </a:extLst>
                </p:cNvPr>
                <p:cNvSpPr>
                  <a:spLocks noRot="1" noChangeAspect="1" noMove="1" noResize="1" noEditPoints="1" noAdjustHandles="1" noChangeArrowheads="1" noChangeShapeType="1" noTextEdit="1"/>
                </p:cNvSpPr>
                <p:nvPr/>
              </p:nvSpPr>
              <p:spPr>
                <a:xfrm>
                  <a:off x="6606167" y="3179113"/>
                  <a:ext cx="684867" cy="400110"/>
                </a:xfrm>
                <a:prstGeom prst="rect">
                  <a:avLst/>
                </a:prstGeom>
                <a:blipFill>
                  <a:blip r:embed="rId25"/>
                  <a:stretch>
                    <a:fillRect l="-25455" t="-112121" r="-7273" b="-172727"/>
                  </a:stretch>
                </a:blipFill>
              </p:spPr>
              <p:txBody>
                <a:bodyPr/>
                <a:lstStyle/>
                <a:p>
                  <a:r>
                    <a:rPr lang="en-US">
                      <a:noFill/>
                    </a:rPr>
                    <a:t> </a:t>
                  </a:r>
                </a:p>
              </p:txBody>
            </p:sp>
          </mc:Fallback>
        </mc:AlternateContent>
        <p:cxnSp>
          <p:nvCxnSpPr>
            <p:cNvPr id="83" name="Straight Connector 82">
              <a:extLst>
                <a:ext uri="{FF2B5EF4-FFF2-40B4-BE49-F238E27FC236}">
                  <a16:creationId xmlns:a16="http://schemas.microsoft.com/office/drawing/2014/main" id="{CB6ACD02-2FC0-C944-9623-DA7BBC6A2742}"/>
                </a:ext>
              </a:extLst>
            </p:cNvPr>
            <p:cNvCxnSpPr>
              <a:cxnSpLocks/>
            </p:cNvCxnSpPr>
            <p:nvPr/>
          </p:nvCxnSpPr>
          <p:spPr>
            <a:xfrm>
              <a:off x="6426097" y="3617295"/>
              <a:ext cx="904390" cy="819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656285E-D760-9948-89F0-803E85C42D03}"/>
                </a:ext>
              </a:extLst>
            </p:cNvPr>
            <p:cNvCxnSpPr>
              <a:cxnSpLocks/>
            </p:cNvCxnSpPr>
            <p:nvPr/>
          </p:nvCxnSpPr>
          <p:spPr>
            <a:xfrm rot="16200000">
              <a:off x="6426095" y="3617295"/>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8D8BE240-5600-3A48-B60B-4BB5A23B42FB}"/>
                    </a:ext>
                  </a:extLst>
                </p:cNvPr>
                <p:cNvSpPr/>
                <p:nvPr/>
              </p:nvSpPr>
              <p:spPr>
                <a:xfrm>
                  <a:off x="6794925" y="2299441"/>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FF0000"/>
                                </a:solidFill>
                                <a:latin typeface="Cambria Math" panose="02040503050406030204" pitchFamily="18" charset="0"/>
                              </a:rPr>
                            </m:ctrlPr>
                          </m:dPr>
                          <m:e>
                            <m:r>
                              <a:rPr lang="sr-Latn-RS" sz="2000" b="0" i="1" smtClean="0">
                                <a:solidFill>
                                  <a:srgbClr val="FF0000"/>
                                </a:solidFill>
                                <a:latin typeface="Cambria Math" panose="02040503050406030204" pitchFamily="18" charset="0"/>
                              </a:rPr>
                              <m:t>1</m:t>
                            </m:r>
                          </m:e>
                        </m:d>
                      </m:oMath>
                    </m:oMathPara>
                  </a14:m>
                  <a:endParaRPr lang="en-US" sz="2000" dirty="0">
                    <a:solidFill>
                      <a:srgbClr val="FF0000"/>
                    </a:solidFill>
                  </a:endParaRPr>
                </a:p>
              </p:txBody>
            </p:sp>
          </mc:Choice>
          <mc:Fallback xmlns="">
            <p:sp>
              <p:nvSpPr>
                <p:cNvPr id="88" name="Rectangle 87">
                  <a:extLst>
                    <a:ext uri="{FF2B5EF4-FFF2-40B4-BE49-F238E27FC236}">
                      <a16:creationId xmlns:a16="http://schemas.microsoft.com/office/drawing/2014/main" id="{8D8BE240-5600-3A48-B60B-4BB5A23B42FB}"/>
                    </a:ext>
                  </a:extLst>
                </p:cNvPr>
                <p:cNvSpPr>
                  <a:spLocks noRot="1" noChangeAspect="1" noMove="1" noResize="1" noEditPoints="1" noAdjustHandles="1" noChangeArrowheads="1" noChangeShapeType="1" noTextEdit="1"/>
                </p:cNvSpPr>
                <p:nvPr/>
              </p:nvSpPr>
              <p:spPr>
                <a:xfrm>
                  <a:off x="6794925" y="2299441"/>
                  <a:ext cx="558422" cy="400110"/>
                </a:xfrm>
                <a:prstGeom prst="rect">
                  <a:avLst/>
                </a:prstGeom>
                <a:blipFill>
                  <a:blip r:embed="rId26"/>
                  <a:stretch>
                    <a:fillRect/>
                  </a:stretch>
                </a:blipFill>
              </p:spPr>
              <p:txBody>
                <a:bodyPr/>
                <a:lstStyle/>
                <a:p>
                  <a:r>
                    <a:rPr lang="en-US">
                      <a:noFill/>
                    </a:rPr>
                    <a:t> </a:t>
                  </a:r>
                </a:p>
              </p:txBody>
            </p:sp>
          </mc:Fallback>
        </mc:AlternateContent>
        <p:grpSp>
          <p:nvGrpSpPr>
            <p:cNvPr id="90" name="Group 89">
              <a:extLst>
                <a:ext uri="{FF2B5EF4-FFF2-40B4-BE49-F238E27FC236}">
                  <a16:creationId xmlns:a16="http://schemas.microsoft.com/office/drawing/2014/main" id="{AD160A42-CB0D-4941-B3C2-B0661D82C1A1}"/>
                </a:ext>
              </a:extLst>
            </p:cNvPr>
            <p:cNvGrpSpPr/>
            <p:nvPr/>
          </p:nvGrpSpPr>
          <p:grpSpPr>
            <a:xfrm>
              <a:off x="6430487" y="2717296"/>
              <a:ext cx="1800000" cy="1800000"/>
              <a:chOff x="217986" y="2780867"/>
              <a:chExt cx="1800000" cy="1800000"/>
            </a:xfrm>
          </p:grpSpPr>
          <p:sp>
            <p:nvSpPr>
              <p:cNvPr id="92" name="Oval 91">
                <a:extLst>
                  <a:ext uri="{FF2B5EF4-FFF2-40B4-BE49-F238E27FC236}">
                    <a16:creationId xmlns:a16="http://schemas.microsoft.com/office/drawing/2014/main" id="{3C952F2F-6ADB-E642-A954-71E45B2811A2}"/>
                  </a:ext>
                </a:extLst>
              </p:cNvPr>
              <p:cNvSpPr/>
              <p:nvPr/>
            </p:nvSpPr>
            <p:spPr>
              <a:xfrm>
                <a:off x="217986" y="2780867"/>
                <a:ext cx="1800000" cy="180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a:extLst>
                  <a:ext uri="{FF2B5EF4-FFF2-40B4-BE49-F238E27FC236}">
                    <a16:creationId xmlns:a16="http://schemas.microsoft.com/office/drawing/2014/main" id="{B17FE705-9DE9-FE48-A2D1-C0CB422A2131}"/>
                  </a:ext>
                </a:extLst>
              </p:cNvPr>
              <p:cNvCxnSpPr>
                <a:cxnSpLocks/>
                <a:endCxn id="92" idx="6"/>
              </p:cNvCxnSpPr>
              <p:nvPr/>
            </p:nvCxnSpPr>
            <p:spPr>
              <a:xfrm>
                <a:off x="1117986" y="3680867"/>
                <a:ext cx="900000" cy="0"/>
              </a:xfrm>
              <a:prstGeom prst="straightConnector1">
                <a:avLst/>
              </a:prstGeom>
              <a:ln w="38100" cap="rnd">
                <a:solidFill>
                  <a:srgbClr val="FF0000">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597414E-F586-2541-A9BE-BB5442F46614}"/>
                  </a:ext>
                </a:extLst>
              </p:cNvPr>
              <p:cNvCxnSpPr>
                <a:cxnSpLocks/>
              </p:cNvCxnSpPr>
              <p:nvPr/>
            </p:nvCxnSpPr>
            <p:spPr>
              <a:xfrm rot="16200000">
                <a:off x="667986" y="3230867"/>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D207038C-1EA8-EA42-AFF1-77770DAFDD5C}"/>
                    </a:ext>
                  </a:extLst>
                </p:cNvPr>
                <p:cNvSpPr/>
                <p:nvPr/>
              </p:nvSpPr>
              <p:spPr>
                <a:xfrm>
                  <a:off x="5436363" y="2307833"/>
                  <a:ext cx="930191" cy="430887"/>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𝑥</m:t>
                        </m:r>
                        <m:r>
                          <a:rPr lang="en-US" sz="2200" b="0" i="1" smtClean="0">
                            <a:latin typeface="Cambria Math" panose="02040503050406030204" pitchFamily="18" charset="0"/>
                          </a:rPr>
                          <m:t>=0</m:t>
                        </m:r>
                      </m:oMath>
                    </m:oMathPara>
                  </a14:m>
                  <a:endParaRPr lang="en-US" sz="2200" dirty="0"/>
                </a:p>
              </p:txBody>
            </p:sp>
          </mc:Choice>
          <mc:Fallback xmlns="">
            <p:sp>
              <p:nvSpPr>
                <p:cNvPr id="91" name="Rectangle 90">
                  <a:extLst>
                    <a:ext uri="{FF2B5EF4-FFF2-40B4-BE49-F238E27FC236}">
                      <a16:creationId xmlns:a16="http://schemas.microsoft.com/office/drawing/2014/main" id="{D207038C-1EA8-EA42-AFF1-77770DAFDD5C}"/>
                    </a:ext>
                  </a:extLst>
                </p:cNvPr>
                <p:cNvSpPr>
                  <a:spLocks noRot="1" noChangeAspect="1" noMove="1" noResize="1" noEditPoints="1" noAdjustHandles="1" noChangeArrowheads="1" noChangeShapeType="1" noTextEdit="1"/>
                </p:cNvSpPr>
                <p:nvPr/>
              </p:nvSpPr>
              <p:spPr>
                <a:xfrm>
                  <a:off x="5436363" y="2307833"/>
                  <a:ext cx="930191" cy="430887"/>
                </a:xfrm>
                <a:prstGeom prst="rect">
                  <a:avLst/>
                </a:prstGeom>
                <a:blipFill>
                  <a:blip r:embed="rId27"/>
                  <a:stretch>
                    <a:fillRect/>
                  </a:stretch>
                </a:blipFill>
              </p:spPr>
              <p:txBody>
                <a:bodyPr/>
                <a:lstStyle/>
                <a:p>
                  <a:r>
                    <a:rPr lang="en-US">
                      <a:noFill/>
                    </a:rPr>
                    <a:t> </a:t>
                  </a:r>
                </a:p>
              </p:txBody>
            </p:sp>
          </mc:Fallback>
        </mc:AlternateContent>
        <p:cxnSp>
          <p:nvCxnSpPr>
            <p:cNvPr id="133" name="Straight Arrow Connector 132">
              <a:extLst>
                <a:ext uri="{FF2B5EF4-FFF2-40B4-BE49-F238E27FC236}">
                  <a16:creationId xmlns:a16="http://schemas.microsoft.com/office/drawing/2014/main" id="{820DC345-D5C8-E64B-99D9-65D15AB0205C}"/>
                </a:ext>
              </a:extLst>
            </p:cNvPr>
            <p:cNvCxnSpPr>
              <a:cxnSpLocks/>
            </p:cNvCxnSpPr>
            <p:nvPr/>
          </p:nvCxnSpPr>
          <p:spPr>
            <a:xfrm rot="1320000">
              <a:off x="7290234" y="3771473"/>
              <a:ext cx="900000" cy="0"/>
            </a:xfrm>
            <a:prstGeom prst="straightConnector1">
              <a:avLst/>
            </a:prstGeom>
            <a:ln w="38100" cap="rnd">
              <a:solidFill>
                <a:srgbClr val="0000FF">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D1CADF8D-5CDA-234B-AE12-9E4976C34E21}"/>
                </a:ext>
              </a:extLst>
            </p:cNvPr>
            <p:cNvCxnSpPr>
              <a:cxnSpLocks/>
            </p:cNvCxnSpPr>
            <p:nvPr/>
          </p:nvCxnSpPr>
          <p:spPr>
            <a:xfrm rot="17520000">
              <a:off x="7041574" y="3185667"/>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1" name="Rectangle 130">
                  <a:extLst>
                    <a:ext uri="{FF2B5EF4-FFF2-40B4-BE49-F238E27FC236}">
                      <a16:creationId xmlns:a16="http://schemas.microsoft.com/office/drawing/2014/main" id="{4FE3CD7A-2DCB-BD4D-8192-40B46C6D9E5A}"/>
                    </a:ext>
                  </a:extLst>
                </p:cNvPr>
                <p:cNvSpPr/>
                <p:nvPr/>
              </p:nvSpPr>
              <p:spPr>
                <a:xfrm>
                  <a:off x="5454767" y="2803183"/>
                  <a:ext cx="932883" cy="430887"/>
                </a:xfrm>
                <a:prstGeom prst="rect">
                  <a:avLst/>
                </a:prstGeom>
                <a:solidFill>
                  <a:schemeClr val="accent1">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𝑦</m:t>
                        </m:r>
                        <m:r>
                          <a:rPr lang="en-US" sz="2200" b="0" i="1" smtClean="0">
                            <a:latin typeface="Cambria Math" panose="02040503050406030204" pitchFamily="18" charset="0"/>
                          </a:rPr>
                          <m:t>=1</m:t>
                        </m:r>
                      </m:oMath>
                    </m:oMathPara>
                  </a14:m>
                  <a:endParaRPr lang="en-US" sz="2200" i="1" dirty="0"/>
                </a:p>
              </p:txBody>
            </p:sp>
          </mc:Choice>
          <mc:Fallback xmlns="">
            <p:sp>
              <p:nvSpPr>
                <p:cNvPr id="131" name="Rectangle 130">
                  <a:extLst>
                    <a:ext uri="{FF2B5EF4-FFF2-40B4-BE49-F238E27FC236}">
                      <a16:creationId xmlns:a16="http://schemas.microsoft.com/office/drawing/2014/main" id="{4FE3CD7A-2DCB-BD4D-8192-40B46C6D9E5A}"/>
                    </a:ext>
                  </a:extLst>
                </p:cNvPr>
                <p:cNvSpPr>
                  <a:spLocks noRot="1" noChangeAspect="1" noMove="1" noResize="1" noEditPoints="1" noAdjustHandles="1" noChangeArrowheads="1" noChangeShapeType="1" noTextEdit="1"/>
                </p:cNvSpPr>
                <p:nvPr/>
              </p:nvSpPr>
              <p:spPr>
                <a:xfrm>
                  <a:off x="5454767" y="2803183"/>
                  <a:ext cx="932883" cy="430887"/>
                </a:xfrm>
                <a:prstGeom prst="rect">
                  <a:avLst/>
                </a:prstGeom>
                <a:blipFill>
                  <a:blip r:embed="rId28"/>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2" name="Rectangle 161">
                  <a:extLst>
                    <a:ext uri="{FF2B5EF4-FFF2-40B4-BE49-F238E27FC236}">
                      <a16:creationId xmlns:a16="http://schemas.microsoft.com/office/drawing/2014/main" id="{F05895BB-F0E6-A94E-A34E-B9D50A114CD2}"/>
                    </a:ext>
                  </a:extLst>
                </p:cNvPr>
                <p:cNvSpPr/>
                <p:nvPr/>
              </p:nvSpPr>
              <p:spPr>
                <a:xfrm>
                  <a:off x="7637884" y="2460654"/>
                  <a:ext cx="66640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0000FF"/>
                                </a:solidFill>
                                <a:latin typeface="Cambria Math" panose="02040503050406030204" pitchFamily="18" charset="0"/>
                              </a:rPr>
                            </m:ctrlPr>
                          </m:dPr>
                          <m:e>
                            <m:sSub>
                              <m:sSubPr>
                                <m:ctrlPr>
                                  <a:rPr lang="en-US" sz="2000" i="1" smtClean="0">
                                    <a:solidFill>
                                      <a:srgbClr val="0000FF"/>
                                    </a:solidFill>
                                    <a:latin typeface="Cambria Math" panose="02040503050406030204" pitchFamily="18" charset="0"/>
                                  </a:rPr>
                                </m:ctrlPr>
                              </m:sSubPr>
                              <m:e>
                                <m:r>
                                  <a:rPr lang="en-US" sz="2000" b="0" i="1" smtClean="0">
                                    <a:solidFill>
                                      <a:srgbClr val="0000FF"/>
                                    </a:solidFill>
                                    <a:latin typeface="Cambria Math" panose="02040503050406030204" pitchFamily="18" charset="0"/>
                                  </a:rPr>
                                  <m:t>𝑣</m:t>
                                </m:r>
                              </m:e>
                              <m:sub>
                                <m:r>
                                  <a:rPr lang="en-US" sz="2000" b="0" i="1" smtClean="0">
                                    <a:solidFill>
                                      <a:srgbClr val="0000FF"/>
                                    </a:solidFill>
                                    <a:latin typeface="Cambria Math" panose="02040503050406030204" pitchFamily="18" charset="0"/>
                                  </a:rPr>
                                  <m:t>1</m:t>
                                </m:r>
                              </m:sub>
                            </m:sSub>
                          </m:e>
                        </m:d>
                      </m:oMath>
                    </m:oMathPara>
                  </a14:m>
                  <a:endParaRPr lang="en-US" sz="2000" dirty="0">
                    <a:solidFill>
                      <a:srgbClr val="0000FF"/>
                    </a:solidFill>
                  </a:endParaRPr>
                </a:p>
              </p:txBody>
            </p:sp>
          </mc:Choice>
          <mc:Fallback xmlns="">
            <p:sp>
              <p:nvSpPr>
                <p:cNvPr id="162" name="Rectangle 161">
                  <a:extLst>
                    <a:ext uri="{FF2B5EF4-FFF2-40B4-BE49-F238E27FC236}">
                      <a16:creationId xmlns:a16="http://schemas.microsoft.com/office/drawing/2014/main" id="{F05895BB-F0E6-A94E-A34E-B9D50A114CD2}"/>
                    </a:ext>
                  </a:extLst>
                </p:cNvPr>
                <p:cNvSpPr>
                  <a:spLocks noRot="1" noChangeAspect="1" noMove="1" noResize="1" noEditPoints="1" noAdjustHandles="1" noChangeArrowheads="1" noChangeShapeType="1" noTextEdit="1"/>
                </p:cNvSpPr>
                <p:nvPr/>
              </p:nvSpPr>
              <p:spPr>
                <a:xfrm>
                  <a:off x="7637884" y="2460654"/>
                  <a:ext cx="666401" cy="400110"/>
                </a:xfrm>
                <a:prstGeom prst="rect">
                  <a:avLst/>
                </a:prstGeom>
                <a:blipFill>
                  <a:blip r:embed="rId29"/>
                  <a:stretch>
                    <a:fillRect/>
                  </a:stretch>
                </a:blipFill>
              </p:spPr>
              <p:txBody>
                <a:bodyPr/>
                <a:lstStyle/>
                <a:p>
                  <a:r>
                    <a:rPr lang="en-US">
                      <a:noFill/>
                    </a:rPr>
                    <a:t> </a:t>
                  </a:r>
                </a:p>
              </p:txBody>
            </p:sp>
          </mc:Fallback>
        </mc:AlternateContent>
        <p:sp>
          <p:nvSpPr>
            <p:cNvPr id="10" name="Arc 9">
              <a:extLst>
                <a:ext uri="{FF2B5EF4-FFF2-40B4-BE49-F238E27FC236}">
                  <a16:creationId xmlns:a16="http://schemas.microsoft.com/office/drawing/2014/main" id="{45CCAC9C-AC53-C448-8945-CD1A3E4490BE}"/>
                </a:ext>
              </a:extLst>
            </p:cNvPr>
            <p:cNvSpPr/>
            <p:nvPr/>
          </p:nvSpPr>
          <p:spPr>
            <a:xfrm rot="842282">
              <a:off x="7147174" y="3157087"/>
              <a:ext cx="397130" cy="311911"/>
            </a:xfrm>
            <a:prstGeom prst="arc">
              <a:avLst>
                <a:gd name="adj1" fmla="val 10160430"/>
                <a:gd name="adj2" fmla="val 18012398"/>
              </a:avLst>
            </a:prstGeom>
            <a:ln>
              <a:solidFill>
                <a:schemeClr val="bg1">
                  <a:lumMod val="50000"/>
                </a:schemeClr>
              </a:solidFill>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5" name="Rectangle 164">
                  <a:extLst>
                    <a:ext uri="{FF2B5EF4-FFF2-40B4-BE49-F238E27FC236}">
                      <a16:creationId xmlns:a16="http://schemas.microsoft.com/office/drawing/2014/main" id="{E44E1CE1-9619-BF4E-BDEF-E6C102AE5E20}"/>
                    </a:ext>
                  </a:extLst>
                </p:cNvPr>
                <p:cNvSpPr/>
                <p:nvPr/>
              </p:nvSpPr>
              <p:spPr>
                <a:xfrm>
                  <a:off x="8204476" y="3425430"/>
                  <a:ext cx="558422" cy="400110"/>
                </a:xfrm>
                <a:prstGeom prst="rect">
                  <a:avLst/>
                </a:prstGeom>
                <a:effectLst>
                  <a:glow rad="127000">
                    <a:schemeClr val="accent1"/>
                  </a:glow>
                </a:effectLst>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rgbClr val="FA9C7C"/>
                                </a:solidFill>
                                <a:latin typeface="Cambria Math" panose="02040503050406030204" pitchFamily="18" charset="0"/>
                              </a:rPr>
                            </m:ctrlPr>
                          </m:dPr>
                          <m:e>
                            <m:r>
                              <a:rPr lang="en-US" sz="2000" b="0" i="1" smtClean="0">
                                <a:solidFill>
                                  <a:srgbClr val="FA9C7C"/>
                                </a:solidFill>
                                <a:latin typeface="Cambria Math" panose="02040503050406030204" pitchFamily="18" charset="0"/>
                              </a:rPr>
                              <m:t>0</m:t>
                            </m:r>
                          </m:e>
                        </m:d>
                      </m:oMath>
                    </m:oMathPara>
                  </a14:m>
                  <a:endParaRPr lang="en-US" sz="2000" dirty="0">
                    <a:solidFill>
                      <a:srgbClr val="FA9C7C"/>
                    </a:solidFill>
                  </a:endParaRPr>
                </a:p>
              </p:txBody>
            </p:sp>
          </mc:Choice>
          <mc:Fallback xmlns="">
            <p:sp>
              <p:nvSpPr>
                <p:cNvPr id="165" name="Rectangle 164">
                  <a:extLst>
                    <a:ext uri="{FF2B5EF4-FFF2-40B4-BE49-F238E27FC236}">
                      <a16:creationId xmlns:a16="http://schemas.microsoft.com/office/drawing/2014/main" id="{E44E1CE1-9619-BF4E-BDEF-E6C102AE5E20}"/>
                    </a:ext>
                  </a:extLst>
                </p:cNvPr>
                <p:cNvSpPr>
                  <a:spLocks noRot="1" noChangeAspect="1" noMove="1" noResize="1" noEditPoints="1" noAdjustHandles="1" noChangeArrowheads="1" noChangeShapeType="1" noTextEdit="1"/>
                </p:cNvSpPr>
                <p:nvPr/>
              </p:nvSpPr>
              <p:spPr>
                <a:xfrm>
                  <a:off x="8204476" y="3425430"/>
                  <a:ext cx="558422" cy="400110"/>
                </a:xfrm>
                <a:prstGeom prst="rect">
                  <a:avLst/>
                </a:prstGeom>
                <a:blipFill>
                  <a:blip r:embed="rId30"/>
                  <a:stretch>
                    <a:fillRect/>
                  </a:stretch>
                </a:blipFill>
                <a:effectLst>
                  <a:glow rad="127000">
                    <a:schemeClr val="accent1"/>
                  </a:glo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6" name="Rectangle 165">
                  <a:extLst>
                    <a:ext uri="{FF2B5EF4-FFF2-40B4-BE49-F238E27FC236}">
                      <a16:creationId xmlns:a16="http://schemas.microsoft.com/office/drawing/2014/main" id="{AFB6E2F2-2A8C-AD4E-B4B2-39738B3A648E}"/>
                    </a:ext>
                  </a:extLst>
                </p:cNvPr>
                <p:cNvSpPr/>
                <p:nvPr/>
              </p:nvSpPr>
              <p:spPr>
                <a:xfrm>
                  <a:off x="8123686" y="3827695"/>
                  <a:ext cx="67236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accent1">
                                    <a:lumMod val="60000"/>
                                    <a:lumOff val="40000"/>
                                  </a:schemeClr>
                                </a:solidFill>
                                <a:latin typeface="Cambria Math" panose="02040503050406030204" pitchFamily="18" charset="0"/>
                              </a:rPr>
                            </m:ctrlPr>
                          </m:dPr>
                          <m:e>
                            <m:sSub>
                              <m:sSubPr>
                                <m:ctrlPr>
                                  <a:rPr lang="en-US" sz="2000" i="1" smtClean="0">
                                    <a:solidFill>
                                      <a:schemeClr val="accent1">
                                        <a:lumMod val="60000"/>
                                        <a:lumOff val="40000"/>
                                      </a:schemeClr>
                                    </a:solidFill>
                                    <a:latin typeface="Cambria Math" panose="02040503050406030204" pitchFamily="18" charset="0"/>
                                  </a:rPr>
                                </m:ctrlPr>
                              </m:sSubPr>
                              <m:e>
                                <m:r>
                                  <a:rPr lang="en-US" sz="2000" b="0" i="1" smtClean="0">
                                    <a:solidFill>
                                      <a:schemeClr val="accent1">
                                        <a:lumMod val="60000"/>
                                        <a:lumOff val="40000"/>
                                      </a:schemeClr>
                                    </a:solidFill>
                                    <a:latin typeface="Cambria Math" panose="02040503050406030204" pitchFamily="18" charset="0"/>
                                  </a:rPr>
                                  <m:t>𝑣</m:t>
                                </m:r>
                              </m:e>
                              <m:sub>
                                <m:r>
                                  <a:rPr lang="en-US" sz="2000" b="0" i="1" smtClean="0">
                                    <a:solidFill>
                                      <a:schemeClr val="accent1">
                                        <a:lumMod val="60000"/>
                                        <a:lumOff val="40000"/>
                                      </a:schemeClr>
                                    </a:solidFill>
                                    <a:latin typeface="Cambria Math" panose="02040503050406030204" pitchFamily="18" charset="0"/>
                                  </a:rPr>
                                  <m:t>0</m:t>
                                </m:r>
                              </m:sub>
                            </m:sSub>
                          </m:e>
                        </m:d>
                      </m:oMath>
                    </m:oMathPara>
                  </a14:m>
                  <a:endParaRPr lang="en-US" sz="2000" dirty="0">
                    <a:solidFill>
                      <a:schemeClr val="accent1">
                        <a:lumMod val="60000"/>
                        <a:lumOff val="40000"/>
                      </a:schemeClr>
                    </a:solidFill>
                  </a:endParaRPr>
                </a:p>
              </p:txBody>
            </p:sp>
          </mc:Choice>
          <mc:Fallback xmlns="">
            <p:sp>
              <p:nvSpPr>
                <p:cNvPr id="166" name="Rectangle 165">
                  <a:extLst>
                    <a:ext uri="{FF2B5EF4-FFF2-40B4-BE49-F238E27FC236}">
                      <a16:creationId xmlns:a16="http://schemas.microsoft.com/office/drawing/2014/main" id="{AFB6E2F2-2A8C-AD4E-B4B2-39738B3A648E}"/>
                    </a:ext>
                  </a:extLst>
                </p:cNvPr>
                <p:cNvSpPr>
                  <a:spLocks noRot="1" noChangeAspect="1" noMove="1" noResize="1" noEditPoints="1" noAdjustHandles="1" noChangeArrowheads="1" noChangeShapeType="1" noTextEdit="1"/>
                </p:cNvSpPr>
                <p:nvPr/>
              </p:nvSpPr>
              <p:spPr>
                <a:xfrm>
                  <a:off x="8123686" y="3827695"/>
                  <a:ext cx="672364" cy="400110"/>
                </a:xfrm>
                <a:prstGeom prst="rect">
                  <a:avLst/>
                </a:prstGeom>
                <a:blipFill>
                  <a:blip r:embed="rId31"/>
                  <a:stretch>
                    <a:fillRect/>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C2EB4B61-8D64-E445-822B-389E9CEFF1AF}"/>
                </a:ext>
              </a:extLst>
            </p:cNvPr>
            <p:cNvCxnSpPr>
              <a:cxnSpLocks/>
            </p:cNvCxnSpPr>
            <p:nvPr/>
          </p:nvCxnSpPr>
          <p:spPr>
            <a:xfrm>
              <a:off x="5053620" y="2118808"/>
              <a:ext cx="0" cy="4669856"/>
            </a:xfrm>
            <a:prstGeom prst="line">
              <a:avLst/>
            </a:prstGeom>
            <a:ln w="508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31F177E3-41D7-BD4F-A559-B4E09BB9E6CA}"/>
              </a:ext>
            </a:extLst>
          </p:cNvPr>
          <p:cNvGrpSpPr/>
          <p:nvPr/>
        </p:nvGrpSpPr>
        <p:grpSpPr>
          <a:xfrm>
            <a:off x="8859224" y="2196314"/>
            <a:ext cx="3346945" cy="4669856"/>
            <a:chOff x="8859224" y="2196314"/>
            <a:chExt cx="3346945" cy="4669856"/>
          </a:xfrm>
        </p:grpSpPr>
        <p:grpSp>
          <p:nvGrpSpPr>
            <p:cNvPr id="11" name="Group 10">
              <a:extLst>
                <a:ext uri="{FF2B5EF4-FFF2-40B4-BE49-F238E27FC236}">
                  <a16:creationId xmlns:a16="http://schemas.microsoft.com/office/drawing/2014/main" id="{003E86C4-81C6-3743-8F01-F86EBCAB0B7E}"/>
                </a:ext>
              </a:extLst>
            </p:cNvPr>
            <p:cNvGrpSpPr/>
            <p:nvPr/>
          </p:nvGrpSpPr>
          <p:grpSpPr>
            <a:xfrm>
              <a:off x="8865318" y="3446574"/>
              <a:ext cx="3340851" cy="2550039"/>
              <a:chOff x="9525735" y="3422560"/>
              <a:chExt cx="3340851" cy="2550039"/>
            </a:xfrm>
          </p:grpSpPr>
          <p:grpSp>
            <p:nvGrpSpPr>
              <p:cNvPr id="115" name="Group 114">
                <a:extLst>
                  <a:ext uri="{FF2B5EF4-FFF2-40B4-BE49-F238E27FC236}">
                    <a16:creationId xmlns:a16="http://schemas.microsoft.com/office/drawing/2014/main" id="{DC1D024D-18F1-CC4C-875A-42725109FA27}"/>
                  </a:ext>
                </a:extLst>
              </p:cNvPr>
              <p:cNvGrpSpPr/>
              <p:nvPr/>
            </p:nvGrpSpPr>
            <p:grpSpPr>
              <a:xfrm>
                <a:off x="9525735" y="3422560"/>
                <a:ext cx="3340851" cy="2550039"/>
                <a:chOff x="7917470" y="2504384"/>
                <a:chExt cx="3340851" cy="2550039"/>
              </a:xfrm>
            </p:grpSpPr>
            <p:grpSp>
              <p:nvGrpSpPr>
                <p:cNvPr id="99" name="Group 98">
                  <a:extLst>
                    <a:ext uri="{FF2B5EF4-FFF2-40B4-BE49-F238E27FC236}">
                      <a16:creationId xmlns:a16="http://schemas.microsoft.com/office/drawing/2014/main" id="{F35363B9-CD25-DA42-B735-45CFA9ACE565}"/>
                    </a:ext>
                  </a:extLst>
                </p:cNvPr>
                <p:cNvGrpSpPr/>
                <p:nvPr/>
              </p:nvGrpSpPr>
              <p:grpSpPr>
                <a:xfrm>
                  <a:off x="8882293" y="2504384"/>
                  <a:ext cx="1810978" cy="1800000"/>
                  <a:chOff x="9126536" y="2512133"/>
                  <a:chExt cx="1810978" cy="1800000"/>
                </a:xfrm>
              </p:grpSpPr>
              <p:grpSp>
                <p:nvGrpSpPr>
                  <p:cNvPr id="102" name="Group 101">
                    <a:extLst>
                      <a:ext uri="{FF2B5EF4-FFF2-40B4-BE49-F238E27FC236}">
                        <a16:creationId xmlns:a16="http://schemas.microsoft.com/office/drawing/2014/main" id="{D017B6E7-4DE3-C34E-8C3A-E091ABD78C55}"/>
                      </a:ext>
                    </a:extLst>
                  </p:cNvPr>
                  <p:cNvGrpSpPr/>
                  <p:nvPr/>
                </p:nvGrpSpPr>
                <p:grpSpPr>
                  <a:xfrm>
                    <a:off x="9126536" y="2512133"/>
                    <a:ext cx="1810978" cy="1800000"/>
                    <a:chOff x="207008" y="2587827"/>
                    <a:chExt cx="1810978" cy="1800000"/>
                  </a:xfrm>
                </p:grpSpPr>
                <p:sp>
                  <p:nvSpPr>
                    <p:cNvPr id="108" name="Oval 107">
                      <a:extLst>
                        <a:ext uri="{FF2B5EF4-FFF2-40B4-BE49-F238E27FC236}">
                          <a16:creationId xmlns:a16="http://schemas.microsoft.com/office/drawing/2014/main" id="{5B23A5C7-8250-8D42-AC92-844485CBC6FB}"/>
                        </a:ext>
                      </a:extLst>
                    </p:cNvPr>
                    <p:cNvSpPr/>
                    <p:nvPr/>
                  </p:nvSpPr>
                  <p:spPr>
                    <a:xfrm>
                      <a:off x="217986" y="2587827"/>
                      <a:ext cx="1800000" cy="180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Arrow Connector 108">
                      <a:extLst>
                        <a:ext uri="{FF2B5EF4-FFF2-40B4-BE49-F238E27FC236}">
                          <a16:creationId xmlns:a16="http://schemas.microsoft.com/office/drawing/2014/main" id="{FD27F599-9836-D247-BE8B-20D32EA2FFB2}"/>
                        </a:ext>
                      </a:extLst>
                    </p:cNvPr>
                    <p:cNvCxnSpPr>
                      <a:cxnSpLocks/>
                      <a:endCxn id="108" idx="6"/>
                    </p:cNvCxnSpPr>
                    <p:nvPr/>
                  </p:nvCxnSpPr>
                  <p:spPr>
                    <a:xfrm>
                      <a:off x="1117986" y="3487827"/>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58D19EEF-AAD2-F94B-AEC2-C3A5CDE82C75}"/>
                        </a:ext>
                      </a:extLst>
                    </p:cNvPr>
                    <p:cNvCxnSpPr>
                      <a:cxnSpLocks/>
                    </p:cNvCxnSpPr>
                    <p:nvPr/>
                  </p:nvCxnSpPr>
                  <p:spPr>
                    <a:xfrm rot="16200000">
                      <a:off x="667986" y="3037827"/>
                      <a:ext cx="900000" cy="0"/>
                    </a:xfrm>
                    <a:prstGeom prst="straightConnector1">
                      <a:avLst/>
                    </a:prstGeom>
                    <a:ln w="38100" cap="rnd">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313D5E01-0B94-154E-8A3A-CD08CBD87D7A}"/>
                        </a:ext>
                      </a:extLst>
                    </p:cNvPr>
                    <p:cNvCxnSpPr>
                      <a:cxnSpLocks/>
                    </p:cNvCxnSpPr>
                    <p:nvPr/>
                  </p:nvCxnSpPr>
                  <p:spPr>
                    <a:xfrm rot="5400000" flipV="1">
                      <a:off x="663593" y="3936004"/>
                      <a:ext cx="900000" cy="0"/>
                    </a:xfrm>
                    <a:prstGeom prst="straightConnector1">
                      <a:avLst/>
                    </a:prstGeom>
                    <a:ln w="38100" cap="rnd">
                      <a:solidFill>
                        <a:srgbClr val="FF0000">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95921B4A-7160-A141-A9C5-A4AE13FBAA53}"/>
                        </a:ext>
                      </a:extLst>
                    </p:cNvPr>
                    <p:cNvCxnSpPr>
                      <a:cxnSpLocks/>
                    </p:cNvCxnSpPr>
                    <p:nvPr/>
                  </p:nvCxnSpPr>
                  <p:spPr>
                    <a:xfrm flipH="1">
                      <a:off x="207008" y="3487793"/>
                      <a:ext cx="900000" cy="0"/>
                    </a:xfrm>
                    <a:prstGeom prst="straightConnector1">
                      <a:avLst/>
                    </a:prstGeom>
                    <a:ln w="38100" cap="rnd">
                      <a:solidFill>
                        <a:srgbClr val="FF0000">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cxnSp>
                <p:nvCxnSpPr>
                  <p:cNvPr id="103" name="Straight Arrow Connector 102">
                    <a:extLst>
                      <a:ext uri="{FF2B5EF4-FFF2-40B4-BE49-F238E27FC236}">
                        <a16:creationId xmlns:a16="http://schemas.microsoft.com/office/drawing/2014/main" id="{F74359A5-3483-AE4B-8DE0-9A271D941001}"/>
                      </a:ext>
                    </a:extLst>
                  </p:cNvPr>
                  <p:cNvCxnSpPr>
                    <a:cxnSpLocks/>
                  </p:cNvCxnSpPr>
                  <p:nvPr/>
                </p:nvCxnSpPr>
                <p:spPr>
                  <a:xfrm rot="18900000">
                    <a:off x="9901320" y="3095756"/>
                    <a:ext cx="900000" cy="0"/>
                  </a:xfrm>
                  <a:prstGeom prst="straightConnector1">
                    <a:avLst/>
                  </a:prstGeom>
                  <a:ln w="38100" cap="rnd">
                    <a:solidFill>
                      <a:srgbClr val="FF000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B14ACCCB-D0A5-EF42-8BEF-E2A5BA02DAE3}"/>
                      </a:ext>
                    </a:extLst>
                  </p:cNvPr>
                  <p:cNvCxnSpPr>
                    <a:cxnSpLocks/>
                  </p:cNvCxnSpPr>
                  <p:nvPr/>
                </p:nvCxnSpPr>
                <p:spPr>
                  <a:xfrm rot="13500000">
                    <a:off x="9264924" y="3095756"/>
                    <a:ext cx="900000" cy="0"/>
                  </a:xfrm>
                  <a:prstGeom prst="straightConnector1">
                    <a:avLst/>
                  </a:prstGeom>
                  <a:ln w="38100" cap="rnd">
                    <a:solidFill>
                      <a:srgbClr val="FF000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F7A192FE-EECA-8749-8184-1C825760C98E}"/>
                      </a:ext>
                    </a:extLst>
                  </p:cNvPr>
                  <p:cNvCxnSpPr>
                    <a:cxnSpLocks/>
                  </p:cNvCxnSpPr>
                  <p:nvPr/>
                </p:nvCxnSpPr>
                <p:spPr>
                  <a:xfrm rot="20280000">
                    <a:off x="10000354" y="3241737"/>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C3A6127-24DC-7146-854D-9648D0DECAA1}"/>
                      </a:ext>
                    </a:extLst>
                  </p:cNvPr>
                  <p:cNvCxnSpPr>
                    <a:cxnSpLocks/>
                  </p:cNvCxnSpPr>
                  <p:nvPr/>
                </p:nvCxnSpPr>
                <p:spPr>
                  <a:xfrm rot="14880000">
                    <a:off x="9414548" y="2993077"/>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DD7A3511-A81F-8A4A-94A9-C1860052B11B}"/>
                      </a:ext>
                    </a:extLst>
                  </p:cNvPr>
                  <p:cNvCxnSpPr>
                    <a:cxnSpLocks/>
                  </p:cNvCxnSpPr>
                  <p:nvPr/>
                </p:nvCxnSpPr>
                <p:spPr>
                  <a:xfrm rot="13500000" flipH="1" flipV="1">
                    <a:off x="9894735" y="3729528"/>
                    <a:ext cx="900000" cy="0"/>
                  </a:xfrm>
                  <a:prstGeom prst="straightConnector1">
                    <a:avLst/>
                  </a:prstGeom>
                  <a:ln w="38100" cap="rnd">
                    <a:solidFill>
                      <a:srgbClr val="FF0000">
                        <a:alpha val="50000"/>
                      </a:srgbClr>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893DBE74-1E8E-9740-BB96-08A5AF61BBB5}"/>
                      </a:ext>
                    </a:extLst>
                  </p:cNvPr>
                  <p:cNvCxnSpPr>
                    <a:cxnSpLocks/>
                  </p:cNvCxnSpPr>
                  <p:nvPr/>
                </p:nvCxnSpPr>
                <p:spPr>
                  <a:xfrm rot="18900000" flipH="1" flipV="1">
                    <a:off x="9272081" y="3718228"/>
                    <a:ext cx="900000" cy="0"/>
                  </a:xfrm>
                  <a:prstGeom prst="straightConnector1">
                    <a:avLst/>
                  </a:prstGeom>
                  <a:ln w="38100" cap="rnd">
                    <a:solidFill>
                      <a:srgbClr val="FF0000">
                        <a:alpha val="50000"/>
                      </a:srgbClr>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BB29AA04-0CDA-4040-B93F-F9C595D762F3}"/>
                      </a:ext>
                    </a:extLst>
                  </p:cNvPr>
                  <p:cNvCxnSpPr>
                    <a:cxnSpLocks/>
                  </p:cNvCxnSpPr>
                  <p:nvPr/>
                </p:nvCxnSpPr>
                <p:spPr>
                  <a:xfrm rot="20280000" flipH="1" flipV="1">
                    <a:off x="9159147" y="3590234"/>
                    <a:ext cx="900000" cy="0"/>
                  </a:xfrm>
                  <a:prstGeom prst="straightConnector1">
                    <a:avLst/>
                  </a:prstGeom>
                  <a:ln w="38100" cap="rnd">
                    <a:solidFill>
                      <a:srgbClr val="0000FF">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8D3FC5FD-85B7-D44E-8D13-8662A58566DE}"/>
                      </a:ext>
                    </a:extLst>
                  </p:cNvPr>
                  <p:cNvCxnSpPr>
                    <a:cxnSpLocks/>
                  </p:cNvCxnSpPr>
                  <p:nvPr/>
                </p:nvCxnSpPr>
                <p:spPr>
                  <a:xfrm rot="14880000" flipH="1" flipV="1">
                    <a:off x="9758280" y="3838894"/>
                    <a:ext cx="900000" cy="0"/>
                  </a:xfrm>
                  <a:prstGeom prst="straightConnector1">
                    <a:avLst/>
                  </a:prstGeom>
                  <a:ln w="38100" cap="rnd">
                    <a:solidFill>
                      <a:srgbClr val="0000FF">
                        <a:alpha val="50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647836DD-23C3-E146-B0D1-E38BA9F02AC5}"/>
                        </a:ext>
                      </a:extLst>
                    </p:cNvPr>
                    <p:cNvSpPr txBox="1"/>
                    <p:nvPr/>
                  </p:nvSpPr>
                  <p:spPr>
                    <a:xfrm>
                      <a:off x="7917470" y="4434958"/>
                      <a:ext cx="3340851" cy="6194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r>
                              <a:rPr lang="en-US" b="0" i="1" smtClean="0">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func>
                                      <m:funcPr>
                                        <m:ctrlPr>
                                          <a:rPr lang="en-US" i="1">
                                            <a:latin typeface="Cambria Math" panose="02040503050406030204" pitchFamily="18" charset="0"/>
                                          </a:rPr>
                                        </m:ctrlPr>
                                      </m:funcPr>
                                      <m:fName>
                                        <m:r>
                                          <a:rPr lang="en-US" i="1">
                                            <a:latin typeface="Cambria Math" panose="02040503050406030204" pitchFamily="18" charset="0"/>
                                          </a:rPr>
                                          <m:t>𝑐𝑜𝑠</m:t>
                                        </m:r>
                                      </m:fName>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𝜋</m:t>
                                            </m:r>
                                          </m:num>
                                          <m:den>
                                            <m:r>
                                              <a:rPr lang="en-US" i="1">
                                                <a:latin typeface="Cambria Math" panose="02040503050406030204" pitchFamily="18" charset="0"/>
                                              </a:rPr>
                                              <m:t>8</m:t>
                                            </m:r>
                                          </m:den>
                                        </m:f>
                                      </m:e>
                                    </m:func>
                                  </m:e>
                                </m:d>
                              </m:e>
                              <m:sup>
                                <m:r>
                                  <a:rPr lang="en-US" i="1">
                                    <a:latin typeface="Cambria Math" panose="02040503050406030204" pitchFamily="18" charset="0"/>
                                  </a:rPr>
                                  <m:t>2</m:t>
                                </m:r>
                              </m:sup>
                            </m:sSup>
                            <m:r>
                              <a:rPr lang="en-US" b="0" i="1" smtClean="0">
                                <a:latin typeface="Cambria Math" panose="02040503050406030204" pitchFamily="18" charset="0"/>
                              </a:rPr>
                              <m:t>=0.85355</m:t>
                            </m:r>
                            <m:r>
                              <a:rPr lang="en-US" b="0" i="1" smtClean="0">
                                <a:latin typeface="Cambria Math" panose="02040503050406030204" pitchFamily="18" charset="0"/>
                                <a:ea typeface="Cambria Math" panose="02040503050406030204" pitchFamily="18" charset="0"/>
                              </a:rPr>
                              <m:t>≈85%</m:t>
                            </m:r>
                          </m:oMath>
                        </m:oMathPara>
                      </a14:m>
                      <a:endParaRPr lang="en-US" dirty="0"/>
                    </a:p>
                  </p:txBody>
                </p:sp>
              </mc:Choice>
              <mc:Fallback xmlns="">
                <p:sp>
                  <p:nvSpPr>
                    <p:cNvPr id="114" name="TextBox 113">
                      <a:extLst>
                        <a:ext uri="{FF2B5EF4-FFF2-40B4-BE49-F238E27FC236}">
                          <a16:creationId xmlns:a16="http://schemas.microsoft.com/office/drawing/2014/main" id="{647836DD-23C3-E146-B0D1-E38BA9F02AC5}"/>
                        </a:ext>
                      </a:extLst>
                    </p:cNvPr>
                    <p:cNvSpPr txBox="1">
                      <a:spLocks noRot="1" noChangeAspect="1" noMove="1" noResize="1" noEditPoints="1" noAdjustHandles="1" noChangeArrowheads="1" noChangeShapeType="1" noTextEdit="1"/>
                    </p:cNvSpPr>
                    <p:nvPr/>
                  </p:nvSpPr>
                  <p:spPr>
                    <a:xfrm>
                      <a:off x="7917470" y="4434958"/>
                      <a:ext cx="3340851" cy="619465"/>
                    </a:xfrm>
                    <a:prstGeom prst="rect">
                      <a:avLst/>
                    </a:prstGeom>
                    <a:blipFill>
                      <a:blip r:embed="rId32"/>
                      <a:stretch>
                        <a:fillRect b="-4000"/>
                      </a:stretch>
                    </a:blipFill>
                  </p:spPr>
                  <p:txBody>
                    <a:bodyPr/>
                    <a:lstStyle/>
                    <a:p>
                      <a:r>
                        <a:rPr lang="en-US">
                          <a:noFill/>
                        </a:rPr>
                        <a:t> </a:t>
                      </a:r>
                    </a:p>
                  </p:txBody>
                </p:sp>
              </mc:Fallback>
            </mc:AlternateContent>
          </p:grpSp>
          <p:cxnSp>
            <p:nvCxnSpPr>
              <p:cNvPr id="116" name="Straight Arrow Connector 115">
                <a:extLst>
                  <a:ext uri="{FF2B5EF4-FFF2-40B4-BE49-F238E27FC236}">
                    <a16:creationId xmlns:a16="http://schemas.microsoft.com/office/drawing/2014/main" id="{7633A1E2-5EBD-D048-9077-713C0CBC2794}"/>
                  </a:ext>
                </a:extLst>
              </p:cNvPr>
              <p:cNvCxnSpPr>
                <a:cxnSpLocks/>
              </p:cNvCxnSpPr>
              <p:nvPr/>
            </p:nvCxnSpPr>
            <p:spPr>
              <a:xfrm rot="1320000">
                <a:off x="11362181" y="4512921"/>
                <a:ext cx="900000" cy="0"/>
              </a:xfrm>
              <a:prstGeom prst="straightConnector1">
                <a:avLst/>
              </a:prstGeom>
              <a:ln w="38100" cap="rnd">
                <a:solidFill>
                  <a:srgbClr val="0000FF"/>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2564E008-08E5-F043-BD62-75A24718FF31}"/>
                  </a:ext>
                </a:extLst>
              </p:cNvPr>
              <p:cNvCxnSpPr>
                <a:cxnSpLocks/>
              </p:cNvCxnSpPr>
              <p:nvPr/>
            </p:nvCxnSpPr>
            <p:spPr>
              <a:xfrm rot="17520000">
                <a:off x="11113521" y="3927115"/>
                <a:ext cx="900000" cy="0"/>
              </a:xfrm>
              <a:prstGeom prst="straightConnector1">
                <a:avLst/>
              </a:prstGeom>
              <a:ln w="38100" cap="rnd">
                <a:solidFill>
                  <a:srgbClr val="0000FF"/>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8BEB1E01-C2D2-014D-9E91-08F29006A398}"/>
                  </a:ext>
                </a:extLst>
              </p:cNvPr>
              <p:cNvCxnSpPr>
                <a:cxnSpLocks/>
              </p:cNvCxnSpPr>
              <p:nvPr/>
            </p:nvCxnSpPr>
            <p:spPr>
              <a:xfrm rot="1320000" flipH="1" flipV="1">
                <a:off x="10524421" y="4156594"/>
                <a:ext cx="900000" cy="0"/>
              </a:xfrm>
              <a:prstGeom prst="straightConnector1">
                <a:avLst/>
              </a:prstGeom>
              <a:ln w="38100" cap="rnd">
                <a:solidFill>
                  <a:srgbClr val="0000FF">
                    <a:alpha val="50000"/>
                  </a:srgbClr>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AD535D43-98B1-B241-BF3E-5EDB3C0D4291}"/>
                  </a:ext>
                </a:extLst>
              </p:cNvPr>
              <p:cNvCxnSpPr>
                <a:cxnSpLocks/>
              </p:cNvCxnSpPr>
              <p:nvPr/>
            </p:nvCxnSpPr>
            <p:spPr>
              <a:xfrm rot="17520000" flipH="1" flipV="1">
                <a:off x="10774485" y="4743169"/>
                <a:ext cx="900000" cy="0"/>
              </a:xfrm>
              <a:prstGeom prst="straightConnector1">
                <a:avLst/>
              </a:prstGeom>
              <a:ln w="38100" cap="rnd">
                <a:solidFill>
                  <a:srgbClr val="0000FF">
                    <a:alpha val="50000"/>
                  </a:srgbClr>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grpSp>
        <p:cxnSp>
          <p:nvCxnSpPr>
            <p:cNvPr id="175" name="Straight Connector 174">
              <a:extLst>
                <a:ext uri="{FF2B5EF4-FFF2-40B4-BE49-F238E27FC236}">
                  <a16:creationId xmlns:a16="http://schemas.microsoft.com/office/drawing/2014/main" id="{FC11B736-1AC7-D244-AFAC-C2D4EA6B5244}"/>
                </a:ext>
              </a:extLst>
            </p:cNvPr>
            <p:cNvCxnSpPr>
              <a:cxnSpLocks/>
            </p:cNvCxnSpPr>
            <p:nvPr/>
          </p:nvCxnSpPr>
          <p:spPr>
            <a:xfrm>
              <a:off x="8859224" y="2196314"/>
              <a:ext cx="0" cy="4669856"/>
            </a:xfrm>
            <a:prstGeom prst="line">
              <a:avLst/>
            </a:prstGeom>
            <a:ln w="508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0C09CB4-191D-7A45-A6D8-4248130C3D41}"/>
              </a:ext>
            </a:extLst>
          </p:cNvPr>
          <p:cNvGrpSpPr/>
          <p:nvPr/>
        </p:nvGrpSpPr>
        <p:grpSpPr>
          <a:xfrm>
            <a:off x="-25275" y="4640766"/>
            <a:ext cx="2581884" cy="2126745"/>
            <a:chOff x="-25275" y="4640766"/>
            <a:chExt cx="2581884" cy="2126745"/>
          </a:xfrm>
        </p:grpSpPr>
        <p:grpSp>
          <p:nvGrpSpPr>
            <p:cNvPr id="23" name="Group 22">
              <a:extLst>
                <a:ext uri="{FF2B5EF4-FFF2-40B4-BE49-F238E27FC236}">
                  <a16:creationId xmlns:a16="http://schemas.microsoft.com/office/drawing/2014/main" id="{6BCA5CB9-33AB-094C-B3AA-3086F63C0907}"/>
                </a:ext>
              </a:extLst>
            </p:cNvPr>
            <p:cNvGrpSpPr/>
            <p:nvPr/>
          </p:nvGrpSpPr>
          <p:grpSpPr>
            <a:xfrm>
              <a:off x="-25275" y="4640766"/>
              <a:ext cx="2448202" cy="2126745"/>
              <a:chOff x="-25275" y="4640766"/>
              <a:chExt cx="2448202" cy="2126745"/>
            </a:xfrm>
          </p:grpSpPr>
          <p:sp>
            <p:nvSpPr>
              <p:cNvPr id="41" name="Oval 40">
                <a:extLst>
                  <a:ext uri="{FF2B5EF4-FFF2-40B4-BE49-F238E27FC236}">
                    <a16:creationId xmlns:a16="http://schemas.microsoft.com/office/drawing/2014/main" id="{34F74841-CE99-2840-9E47-1A76772389B8}"/>
                  </a:ext>
                </a:extLst>
              </p:cNvPr>
              <p:cNvSpPr/>
              <p:nvPr/>
            </p:nvSpPr>
            <p:spPr>
              <a:xfrm rot="20280000">
                <a:off x="566468" y="4967511"/>
                <a:ext cx="1800000" cy="1800000"/>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7BA45ED4-A461-2C40-8774-5DD7CC3BC11F}"/>
                  </a:ext>
                </a:extLst>
              </p:cNvPr>
              <p:cNvCxnSpPr>
                <a:cxnSpLocks/>
                <a:endCxn id="41" idx="6"/>
              </p:cNvCxnSpPr>
              <p:nvPr/>
            </p:nvCxnSpPr>
            <p:spPr>
              <a:xfrm rot="20280000">
                <a:off x="1433701" y="5698938"/>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0EE23B7-0FA4-AD4B-BE61-DB6CB0A8F41A}"/>
                  </a:ext>
                </a:extLst>
              </p:cNvPr>
              <p:cNvCxnSpPr>
                <a:cxnSpLocks/>
              </p:cNvCxnSpPr>
              <p:nvPr/>
            </p:nvCxnSpPr>
            <p:spPr>
              <a:xfrm rot="14880000">
                <a:off x="847895" y="5450278"/>
                <a:ext cx="900000" cy="0"/>
              </a:xfrm>
              <a:prstGeom prst="straightConnector1">
                <a:avLst/>
              </a:prstGeom>
              <a:ln w="38100" cap="rnd">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B50AB6E-4808-4A4E-AFAB-3449AA9DE2CA}"/>
                  </a:ext>
                </a:extLst>
              </p:cNvPr>
              <p:cNvCxnSpPr>
                <a:cxnSpLocks/>
              </p:cNvCxnSpPr>
              <p:nvPr/>
            </p:nvCxnSpPr>
            <p:spPr>
              <a:xfrm>
                <a:off x="566468" y="5867511"/>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A9A825D-DAB0-D948-9AE8-65AFB9183837}"/>
                  </a:ext>
                </a:extLst>
              </p:cNvPr>
              <p:cNvCxnSpPr>
                <a:cxnSpLocks/>
              </p:cNvCxnSpPr>
              <p:nvPr/>
            </p:nvCxnSpPr>
            <p:spPr>
              <a:xfrm rot="16200000">
                <a:off x="566468" y="5863717"/>
                <a:ext cx="1800000" cy="0"/>
              </a:xfrm>
              <a:prstGeom prst="line">
                <a:avLst/>
              </a:prstGeom>
              <a:ln w="158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4CAF7CB8-AF03-324C-8BC3-395545E84F46}"/>
                      </a:ext>
                    </a:extLst>
                  </p:cNvPr>
                  <p:cNvSpPr/>
                  <p:nvPr/>
                </p:nvSpPr>
                <p:spPr>
                  <a:xfrm>
                    <a:off x="1738060" y="5635974"/>
                    <a:ext cx="68486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en-US" sz="2000" i="1" smtClean="0">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𝜋</m:t>
                              </m:r>
                            </m:num>
                            <m:den>
                              <m:r>
                                <a:rPr lang="sr-Latn-RS" sz="2000" b="0" i="1" smtClean="0">
                                  <a:latin typeface="Cambria Math" panose="02040503050406030204" pitchFamily="18" charset="0"/>
                                </a:rPr>
                                <m:t>8</m:t>
                              </m:r>
                            </m:den>
                          </m:f>
                        </m:oMath>
                      </m:oMathPara>
                    </a14:m>
                    <a:endParaRPr lang="en-US" sz="2000" dirty="0"/>
                  </a:p>
                </p:txBody>
              </p:sp>
            </mc:Choice>
            <mc:Fallback xmlns="">
              <p:sp>
                <p:nvSpPr>
                  <p:cNvPr id="56" name="Rectangle 55">
                    <a:extLst>
                      <a:ext uri="{FF2B5EF4-FFF2-40B4-BE49-F238E27FC236}">
                        <a16:creationId xmlns:a16="http://schemas.microsoft.com/office/drawing/2014/main" id="{4CAF7CB8-AF03-324C-8BC3-395545E84F46}"/>
                      </a:ext>
                    </a:extLst>
                  </p:cNvPr>
                  <p:cNvSpPr>
                    <a:spLocks noRot="1" noChangeAspect="1" noMove="1" noResize="1" noEditPoints="1" noAdjustHandles="1" noChangeArrowheads="1" noChangeShapeType="1" noTextEdit="1"/>
                  </p:cNvSpPr>
                  <p:nvPr/>
                </p:nvSpPr>
                <p:spPr>
                  <a:xfrm>
                    <a:off x="1738060" y="5635974"/>
                    <a:ext cx="684867" cy="400110"/>
                  </a:xfrm>
                  <a:prstGeom prst="rect">
                    <a:avLst/>
                  </a:prstGeom>
                  <a:blipFill>
                    <a:blip r:embed="rId33"/>
                    <a:stretch>
                      <a:fillRect l="-25455" t="-122581" r="-7273" b="-1838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850CD470-ABDD-0B47-B366-AAE515D2A638}"/>
                      </a:ext>
                    </a:extLst>
                  </p:cNvPr>
                  <p:cNvSpPr/>
                  <p:nvPr/>
                </p:nvSpPr>
                <p:spPr>
                  <a:xfrm>
                    <a:off x="787882" y="4640766"/>
                    <a:ext cx="67691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𝑢</m:t>
                                  </m:r>
                                </m:e>
                                <m:sub>
                                  <m:r>
                                    <a:rPr lang="en-US" sz="2000" b="0" i="1" smtClean="0">
                                      <a:latin typeface="Cambria Math" panose="02040503050406030204" pitchFamily="18" charset="0"/>
                                    </a:rPr>
                                    <m:t>1</m:t>
                                  </m:r>
                                </m:sub>
                              </m:sSub>
                            </m:e>
                          </m:d>
                        </m:oMath>
                      </m:oMathPara>
                    </a14:m>
                    <a:endParaRPr lang="en-US" sz="2000" dirty="0"/>
                  </a:p>
                </p:txBody>
              </p:sp>
            </mc:Choice>
            <mc:Fallback xmlns="">
              <p:sp>
                <p:nvSpPr>
                  <p:cNvPr id="73" name="Rectangle 72">
                    <a:extLst>
                      <a:ext uri="{FF2B5EF4-FFF2-40B4-BE49-F238E27FC236}">
                        <a16:creationId xmlns:a16="http://schemas.microsoft.com/office/drawing/2014/main" id="{850CD470-ABDD-0B47-B366-AAE515D2A638}"/>
                      </a:ext>
                    </a:extLst>
                  </p:cNvPr>
                  <p:cNvSpPr>
                    <a:spLocks noRot="1" noChangeAspect="1" noMove="1" noResize="1" noEditPoints="1" noAdjustHandles="1" noChangeArrowheads="1" noChangeShapeType="1" noTextEdit="1"/>
                  </p:cNvSpPr>
                  <p:nvPr/>
                </p:nvSpPr>
                <p:spPr>
                  <a:xfrm>
                    <a:off x="787882" y="4640766"/>
                    <a:ext cx="676917" cy="400110"/>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B0619EAF-5FC9-7E4E-AAAB-399225DF09C6}"/>
                      </a:ext>
                    </a:extLst>
                  </p:cNvPr>
                  <p:cNvSpPr/>
                  <p:nvPr/>
                </p:nvSpPr>
                <p:spPr>
                  <a:xfrm>
                    <a:off x="-25275" y="4722022"/>
                    <a:ext cx="932884" cy="430887"/>
                  </a:xfrm>
                  <a:prstGeom prst="rect">
                    <a:avLst/>
                  </a:prstGeom>
                  <a:solidFill>
                    <a:schemeClr val="accent5">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𝑦</m:t>
                          </m:r>
                          <m:r>
                            <a:rPr lang="en-US" sz="2200" b="0" i="1" smtClean="0">
                              <a:latin typeface="Cambria Math" panose="02040503050406030204" pitchFamily="18" charset="0"/>
                            </a:rPr>
                            <m:t>=0</m:t>
                          </m:r>
                        </m:oMath>
                      </m:oMathPara>
                    </a14:m>
                    <a:endParaRPr lang="en-US" sz="2200" dirty="0"/>
                  </a:p>
                </p:txBody>
              </p:sp>
            </mc:Choice>
            <mc:Fallback xmlns="">
              <p:sp>
                <p:nvSpPr>
                  <p:cNvPr id="85" name="Rectangle 84">
                    <a:extLst>
                      <a:ext uri="{FF2B5EF4-FFF2-40B4-BE49-F238E27FC236}">
                        <a16:creationId xmlns:a16="http://schemas.microsoft.com/office/drawing/2014/main" id="{B0619EAF-5FC9-7E4E-AAAB-399225DF09C6}"/>
                      </a:ext>
                    </a:extLst>
                  </p:cNvPr>
                  <p:cNvSpPr>
                    <a:spLocks noRot="1" noChangeAspect="1" noMove="1" noResize="1" noEditPoints="1" noAdjustHandles="1" noChangeArrowheads="1" noChangeShapeType="1" noTextEdit="1"/>
                  </p:cNvSpPr>
                  <p:nvPr/>
                </p:nvSpPr>
                <p:spPr>
                  <a:xfrm>
                    <a:off x="-25275" y="4722022"/>
                    <a:ext cx="932884" cy="430887"/>
                  </a:xfrm>
                  <a:prstGeom prst="rect">
                    <a:avLst/>
                  </a:prstGeom>
                  <a:blipFill>
                    <a:blip r:embed="rId35"/>
                    <a:stretch>
                      <a:fillRect b="-5882"/>
                    </a:stretch>
                  </a:blipFill>
                </p:spPr>
                <p:txBody>
                  <a:bodyPr/>
                  <a:lstStyle/>
                  <a:p>
                    <a:r>
                      <a:rPr lang="en-US">
                        <a:noFill/>
                      </a:rPr>
                      <a:t> </a:t>
                    </a:r>
                  </a:p>
                </p:txBody>
              </p:sp>
            </mc:Fallback>
          </mc:AlternateContent>
          <p:cxnSp>
            <p:nvCxnSpPr>
              <p:cNvPr id="198" name="Straight Arrow Connector 197">
                <a:extLst>
                  <a:ext uri="{FF2B5EF4-FFF2-40B4-BE49-F238E27FC236}">
                    <a16:creationId xmlns:a16="http://schemas.microsoft.com/office/drawing/2014/main" id="{C073DC1A-B15F-2D40-8682-421DEDBC34A2}"/>
                  </a:ext>
                </a:extLst>
              </p:cNvPr>
              <p:cNvCxnSpPr>
                <a:cxnSpLocks/>
              </p:cNvCxnSpPr>
              <p:nvPr/>
            </p:nvCxnSpPr>
            <p:spPr>
              <a:xfrm rot="20280000" flipH="1" flipV="1">
                <a:off x="596232" y="6051137"/>
                <a:ext cx="900000" cy="0"/>
              </a:xfrm>
              <a:prstGeom prst="straightConnector1">
                <a:avLst/>
              </a:prstGeom>
              <a:ln w="38100" cap="rnd">
                <a:solidFill>
                  <a:srgbClr val="0000FF">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C6D2E35D-04F2-A245-AFC4-DE4D0530F4E3}"/>
                  </a:ext>
                </a:extLst>
              </p:cNvPr>
              <p:cNvCxnSpPr>
                <a:cxnSpLocks/>
              </p:cNvCxnSpPr>
              <p:nvPr/>
            </p:nvCxnSpPr>
            <p:spPr>
              <a:xfrm rot="14880000" flipH="1" flipV="1">
                <a:off x="1186981" y="6298331"/>
                <a:ext cx="900000" cy="0"/>
              </a:xfrm>
              <a:prstGeom prst="straightConnector1">
                <a:avLst/>
              </a:prstGeom>
              <a:ln w="38100" cap="rnd">
                <a:solidFill>
                  <a:srgbClr val="0000FF">
                    <a:alpha val="25000"/>
                  </a:srgbClr>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Rectangle 175">
                  <a:extLst>
                    <a:ext uri="{FF2B5EF4-FFF2-40B4-BE49-F238E27FC236}">
                      <a16:creationId xmlns:a16="http://schemas.microsoft.com/office/drawing/2014/main" id="{1E6DE0DE-863B-7D4A-BA91-41C1663B6278}"/>
                    </a:ext>
                  </a:extLst>
                </p:cNvPr>
                <p:cNvSpPr/>
                <p:nvPr/>
              </p:nvSpPr>
              <p:spPr>
                <a:xfrm>
                  <a:off x="1873730" y="5033315"/>
                  <a:ext cx="68287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𝑢</m:t>
                                </m:r>
                              </m:e>
                              <m:sub>
                                <m:r>
                                  <a:rPr lang="en-US" sz="2000" b="0" i="1" smtClean="0">
                                    <a:latin typeface="Cambria Math" panose="02040503050406030204" pitchFamily="18" charset="0"/>
                                  </a:rPr>
                                  <m:t>0</m:t>
                                </m:r>
                              </m:sub>
                            </m:sSub>
                          </m:e>
                        </m:d>
                      </m:oMath>
                    </m:oMathPara>
                  </a14:m>
                  <a:endParaRPr lang="en-US" sz="2000" dirty="0"/>
                </a:p>
              </p:txBody>
            </p:sp>
          </mc:Choice>
          <mc:Fallback xmlns="">
            <p:sp>
              <p:nvSpPr>
                <p:cNvPr id="176" name="Rectangle 175">
                  <a:extLst>
                    <a:ext uri="{FF2B5EF4-FFF2-40B4-BE49-F238E27FC236}">
                      <a16:creationId xmlns:a16="http://schemas.microsoft.com/office/drawing/2014/main" id="{1E6DE0DE-863B-7D4A-BA91-41C1663B6278}"/>
                    </a:ext>
                  </a:extLst>
                </p:cNvPr>
                <p:cNvSpPr>
                  <a:spLocks noRot="1" noChangeAspect="1" noMove="1" noResize="1" noEditPoints="1" noAdjustHandles="1" noChangeArrowheads="1" noChangeShapeType="1" noTextEdit="1"/>
                </p:cNvSpPr>
                <p:nvPr/>
              </p:nvSpPr>
              <p:spPr>
                <a:xfrm>
                  <a:off x="1873730" y="5033315"/>
                  <a:ext cx="682879" cy="400110"/>
                </a:xfrm>
                <a:prstGeom prst="rect">
                  <a:avLst/>
                </a:prstGeom>
                <a:blipFill>
                  <a:blip r:embed="rId36"/>
                  <a:stretch>
                    <a:fillRect/>
                  </a:stretch>
                </a:blipFill>
              </p:spPr>
              <p:txBody>
                <a:bodyPr/>
                <a:lstStyle/>
                <a:p>
                  <a:r>
                    <a:rPr lang="en-US">
                      <a:noFill/>
                    </a:rPr>
                    <a:t> </a:t>
                  </a:r>
                </a:p>
              </p:txBody>
            </p:sp>
          </mc:Fallback>
        </mc:AlternateContent>
      </p:grpSp>
      <p:sp>
        <p:nvSpPr>
          <p:cNvPr id="119" name="Slide Number Placeholder 2">
            <a:extLst>
              <a:ext uri="{FF2B5EF4-FFF2-40B4-BE49-F238E27FC236}">
                <a16:creationId xmlns:a16="http://schemas.microsoft.com/office/drawing/2014/main" id="{23E1C7DE-6855-044E-8092-E91E97C2D87D}"/>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22</a:t>
            </a:fld>
            <a:endParaRPr lang="en-US" dirty="0"/>
          </a:p>
        </p:txBody>
      </p:sp>
      <p:pic>
        <p:nvPicPr>
          <p:cNvPr id="120" name="Picture 119">
            <a:extLst>
              <a:ext uri="{FF2B5EF4-FFF2-40B4-BE49-F238E27FC236}">
                <a16:creationId xmlns:a16="http://schemas.microsoft.com/office/drawing/2014/main" id="{6CA517DD-DCCB-FA42-B17F-12B4B1CEEDCE}"/>
              </a:ext>
            </a:extLst>
          </p:cNvPr>
          <p:cNvPicPr>
            <a:picLocks noChangeAspect="1"/>
          </p:cNvPicPr>
          <p:nvPr/>
        </p:nvPicPr>
        <p:blipFill>
          <a:blip r:embed="rId37"/>
          <a:stretch>
            <a:fillRect/>
          </a:stretch>
        </p:blipFill>
        <p:spPr>
          <a:xfrm>
            <a:off x="1143600" y="903618"/>
            <a:ext cx="918520" cy="1414873"/>
          </a:xfrm>
          <a:prstGeom prst="rect">
            <a:avLst/>
          </a:prstGeom>
        </p:spPr>
      </p:pic>
      <p:pic>
        <p:nvPicPr>
          <p:cNvPr id="121" name="Picture 120">
            <a:extLst>
              <a:ext uri="{FF2B5EF4-FFF2-40B4-BE49-F238E27FC236}">
                <a16:creationId xmlns:a16="http://schemas.microsoft.com/office/drawing/2014/main" id="{2F5DA577-60FD-EB4B-AA1F-79C3EC4F0FA4}"/>
              </a:ext>
            </a:extLst>
          </p:cNvPr>
          <p:cNvPicPr>
            <a:picLocks noChangeAspect="1"/>
          </p:cNvPicPr>
          <p:nvPr/>
        </p:nvPicPr>
        <p:blipFill>
          <a:blip r:embed="rId38"/>
          <a:stretch>
            <a:fillRect/>
          </a:stretch>
        </p:blipFill>
        <p:spPr>
          <a:xfrm>
            <a:off x="9650686" y="818946"/>
            <a:ext cx="1082025" cy="1602672"/>
          </a:xfrm>
          <a:prstGeom prst="rect">
            <a:avLst/>
          </a:prstGeom>
        </p:spPr>
      </p:pic>
    </p:spTree>
    <p:extLst>
      <p:ext uri="{BB962C8B-B14F-4D97-AF65-F5344CB8AC3E}">
        <p14:creationId xmlns:p14="http://schemas.microsoft.com/office/powerpoint/2010/main" val="343479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blinds(horizontal)">
                                      <p:cBhvr>
                                        <p:cTn id="7" dur="5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blinds(horizontal)">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linds(horizontal)">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linds(horizontal)">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blinds(horizontal)">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linds(horizontal)">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1D2E7E-EE67-164F-A3FA-691D90107FE5}"/>
              </a:ext>
            </a:extLst>
          </p:cNvPr>
          <p:cNvSpPr txBox="1"/>
          <p:nvPr/>
        </p:nvSpPr>
        <p:spPr>
          <a:xfrm>
            <a:off x="6552705" y="1794657"/>
            <a:ext cx="5508666" cy="1938992"/>
          </a:xfrm>
          <a:prstGeom prst="rect">
            <a:avLst/>
          </a:prstGeom>
          <a:noFill/>
        </p:spPr>
        <p:txBody>
          <a:bodyPr wrap="square" rtlCol="0">
            <a:spAutoFit/>
          </a:bodyPr>
          <a:lstStyle/>
          <a:p>
            <a:pPr algn="ctr"/>
            <a:r>
              <a:rPr lang="en-ZA" sz="4000" dirty="0">
                <a:latin typeface="Comic Sans MS" panose="030F0902030302020204" pitchFamily="66" charset="0"/>
              </a:rPr>
              <a:t>Other Applications of Quantum Cryptography</a:t>
            </a:r>
            <a:endParaRPr lang="en-US" sz="4000" dirty="0">
              <a:latin typeface="Comic Sans MS" panose="030F0902030302020204" pitchFamily="66" charset="0"/>
            </a:endParaRPr>
          </a:p>
        </p:txBody>
      </p:sp>
      <p:pic>
        <p:nvPicPr>
          <p:cNvPr id="3" name="Picture 2">
            <a:extLst>
              <a:ext uri="{FF2B5EF4-FFF2-40B4-BE49-F238E27FC236}">
                <a16:creationId xmlns:a16="http://schemas.microsoft.com/office/drawing/2014/main" id="{B2C13B03-9483-164A-ACC8-2CCCD204945E}"/>
              </a:ext>
            </a:extLst>
          </p:cNvPr>
          <p:cNvPicPr>
            <a:picLocks noChangeAspect="1"/>
          </p:cNvPicPr>
          <p:nvPr/>
        </p:nvPicPr>
        <p:blipFill>
          <a:blip r:embed="rId3"/>
          <a:stretch>
            <a:fillRect/>
          </a:stretch>
        </p:blipFill>
        <p:spPr>
          <a:xfrm>
            <a:off x="323850" y="1377799"/>
            <a:ext cx="6705827" cy="4470551"/>
          </a:xfrm>
          <a:prstGeom prst="rect">
            <a:avLst/>
          </a:prstGeom>
        </p:spPr>
      </p:pic>
    </p:spTree>
    <p:extLst>
      <p:ext uri="{BB962C8B-B14F-4D97-AF65-F5344CB8AC3E}">
        <p14:creationId xmlns:p14="http://schemas.microsoft.com/office/powerpoint/2010/main" val="529329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B0D557-D540-E04B-83AF-A6B07D5FF36E}"/>
              </a:ext>
            </a:extLst>
          </p:cNvPr>
          <p:cNvSpPr>
            <a:spLocks noGrp="1"/>
          </p:cNvSpPr>
          <p:nvPr>
            <p:ph type="sldNum" sz="quarter" idx="12"/>
          </p:nvPr>
        </p:nvSpPr>
        <p:spPr/>
        <p:txBody>
          <a:bodyPr/>
          <a:lstStyle/>
          <a:p>
            <a:fld id="{591A223C-FA10-BC46-A853-03BA373D023C}" type="slidenum">
              <a:rPr lang="en-US" smtClean="0"/>
              <a:t>24</a:t>
            </a:fld>
            <a:endParaRPr lang="en-US"/>
          </a:p>
        </p:txBody>
      </p:sp>
      <p:sp>
        <p:nvSpPr>
          <p:cNvPr id="2" name="Title 1">
            <a:extLst>
              <a:ext uri="{FF2B5EF4-FFF2-40B4-BE49-F238E27FC236}">
                <a16:creationId xmlns:a16="http://schemas.microsoft.com/office/drawing/2014/main" id="{8F8F11E5-6D9A-8046-96B0-308E03748734}"/>
              </a:ext>
            </a:extLst>
          </p:cNvPr>
          <p:cNvSpPr>
            <a:spLocks noGrp="1"/>
          </p:cNvSpPr>
          <p:nvPr>
            <p:ph type="title"/>
          </p:nvPr>
        </p:nvSpPr>
        <p:spPr/>
        <p:txBody>
          <a:bodyPr>
            <a:normAutofit/>
          </a:bodyPr>
          <a:lstStyle/>
          <a:p>
            <a:r>
              <a:rPr lang="sr-Latn-RS" b="1" dirty="0" err="1"/>
              <a:t>Quantum</a:t>
            </a:r>
            <a:r>
              <a:rPr lang="sr-Latn-RS" b="1" dirty="0"/>
              <a:t> banknote: </a:t>
            </a:r>
            <a:r>
              <a:rPr lang="sr-Latn-RS" b="1" dirty="0" err="1"/>
              <a:t>Q</a:t>
            </a:r>
            <a:r>
              <a:rPr lang="sr-Latn-RS" b="1" dirty="0"/>
              <a:t>-note</a:t>
            </a:r>
            <a:endParaRPr lang="en-US" dirty="0"/>
          </a:p>
        </p:txBody>
      </p:sp>
      <p:pic>
        <p:nvPicPr>
          <p:cNvPr id="4" name="Picture 3">
            <a:extLst>
              <a:ext uri="{FF2B5EF4-FFF2-40B4-BE49-F238E27FC236}">
                <a16:creationId xmlns:a16="http://schemas.microsoft.com/office/drawing/2014/main" id="{EC6864C8-95A0-2B45-9055-642C23D12EA1}"/>
              </a:ext>
            </a:extLst>
          </p:cNvPr>
          <p:cNvPicPr>
            <a:picLocks noChangeAspect="1"/>
          </p:cNvPicPr>
          <p:nvPr/>
        </p:nvPicPr>
        <p:blipFill>
          <a:blip r:embed="rId3"/>
          <a:stretch>
            <a:fillRect/>
          </a:stretch>
        </p:blipFill>
        <p:spPr>
          <a:xfrm>
            <a:off x="1835243" y="2637156"/>
            <a:ext cx="5252830" cy="2400300"/>
          </a:xfrm>
          <a:prstGeom prst="rect">
            <a:avLst/>
          </a:prstGeom>
        </p:spPr>
      </p:pic>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619F0832-7491-444C-8DD9-FDBC4A042324}"/>
                  </a:ext>
                </a:extLst>
              </p:cNvPr>
              <p:cNvSpPr>
                <a:spLocks noChangeAspect="1"/>
              </p:cNvSpPr>
              <p:nvPr/>
            </p:nvSpPr>
            <p:spPr>
              <a:xfrm>
                <a:off x="3753119" y="3102042"/>
                <a:ext cx="1432494" cy="1432494"/>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ZA" sz="4800" dirty="0" smtClean="0">
                          <a:solidFill>
                            <a:schemeClr val="tx1"/>
                          </a:solidFill>
                        </a:rPr>
                        <m:t>|</m:t>
                      </m:r>
                      <m:r>
                        <m:rPr>
                          <m:nor/>
                        </m:rPr>
                        <a:rPr lang="en-ZA" sz="4800" dirty="0" smtClean="0">
                          <a:solidFill>
                            <a:schemeClr val="tx1"/>
                          </a:solidFill>
                        </a:rPr>
                        <m:t>Q</m:t>
                      </m:r>
                      <m:r>
                        <m:rPr>
                          <m:nor/>
                        </m:rPr>
                        <a:rPr lang="en-ZA" sz="4800" dirty="0" smtClean="0">
                          <a:solidFill>
                            <a:schemeClr val="tx1"/>
                          </a:solidFill>
                        </a:rPr>
                        <m:t>⟩</m:t>
                      </m:r>
                    </m:oMath>
                  </m:oMathPara>
                </a14:m>
                <a:endParaRPr lang="en-US" sz="4800" dirty="0">
                  <a:solidFill>
                    <a:schemeClr val="tx1"/>
                  </a:solidFill>
                </a:endParaRPr>
              </a:p>
            </p:txBody>
          </p:sp>
        </mc:Choice>
        <mc:Fallback xmlns="">
          <p:sp>
            <p:nvSpPr>
              <p:cNvPr id="5" name="Oval 4">
                <a:extLst>
                  <a:ext uri="{FF2B5EF4-FFF2-40B4-BE49-F238E27FC236}">
                    <a16:creationId xmlns:a16="http://schemas.microsoft.com/office/drawing/2014/main" id="{619F0832-7491-444C-8DD9-FDBC4A042324}"/>
                  </a:ext>
                </a:extLst>
              </p:cNvPr>
              <p:cNvSpPr>
                <a:spLocks noRot="1" noChangeAspect="1" noMove="1" noResize="1" noEditPoints="1" noAdjustHandles="1" noChangeArrowheads="1" noChangeShapeType="1" noTextEdit="1"/>
              </p:cNvSpPr>
              <p:nvPr/>
            </p:nvSpPr>
            <p:spPr>
              <a:xfrm>
                <a:off x="3753119" y="3102042"/>
                <a:ext cx="1432494" cy="1432494"/>
              </a:xfrm>
              <a:prstGeom prst="ellipse">
                <a:avLst/>
              </a:prstGeom>
              <a:blipFill>
                <a:blip r:embed="rId4"/>
                <a:stretch>
                  <a:fillRect l="-6140"/>
                </a:stretch>
              </a:blipFill>
              <a:ln>
                <a:solidFill>
                  <a:srgbClr val="FFC000"/>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D769D5CC-083E-B843-B6D9-4E80668BF02A}"/>
              </a:ext>
            </a:extLst>
          </p:cNvPr>
          <p:cNvSpPr txBox="1"/>
          <p:nvPr/>
        </p:nvSpPr>
        <p:spPr>
          <a:xfrm>
            <a:off x="5320273" y="4334183"/>
            <a:ext cx="1072730" cy="461665"/>
          </a:xfrm>
          <a:prstGeom prst="rect">
            <a:avLst/>
          </a:prstGeom>
          <a:noFill/>
        </p:spPr>
        <p:txBody>
          <a:bodyPr wrap="none" rtlCol="0">
            <a:spAutoFit/>
          </a:bodyPr>
          <a:lstStyle/>
          <a:p>
            <a:r>
              <a:rPr lang="en-US" sz="2400" dirty="0">
                <a:latin typeface="Comic Sans MS" panose="030F0902030302020204" pitchFamily="66" charset="0"/>
              </a:rPr>
              <a:t>26481</a:t>
            </a:r>
            <a:endParaRPr lang="en-US" sz="2400" dirty="0"/>
          </a:p>
        </p:txBody>
      </p:sp>
      <p:sp>
        <p:nvSpPr>
          <p:cNvPr id="9" name="Oval Callout 8">
            <a:extLst>
              <a:ext uri="{FF2B5EF4-FFF2-40B4-BE49-F238E27FC236}">
                <a16:creationId xmlns:a16="http://schemas.microsoft.com/office/drawing/2014/main" id="{25C4E421-779F-774E-A043-FFF3F2B2380E}"/>
              </a:ext>
            </a:extLst>
          </p:cNvPr>
          <p:cNvSpPr/>
          <p:nvPr/>
        </p:nvSpPr>
        <p:spPr>
          <a:xfrm>
            <a:off x="3493973" y="997904"/>
            <a:ext cx="5445162" cy="1136332"/>
          </a:xfrm>
          <a:prstGeom prst="wedgeEllipseCallout">
            <a:avLst>
              <a:gd name="adj1" fmla="val -20081"/>
              <a:gd name="adj2" fmla="val 17380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800" dirty="0">
                <a:solidFill>
                  <a:schemeClr val="tx1"/>
                </a:solidFill>
              </a:rPr>
              <a:t>qubit in a secret state</a:t>
            </a:r>
            <a:r>
              <a:rPr lang="en-US" sz="2800" dirty="0">
                <a:solidFill>
                  <a:schemeClr val="tx1"/>
                </a:solidFill>
                <a:latin typeface="Comic Sans MS" panose="030F0902030302020204" pitchFamily="66" charset="0"/>
                <a:ea typeface="Cambria Math" panose="02040503050406030204" pitchFamily="18" charset="0"/>
              </a:rPr>
              <a:t> |Q⟩</a:t>
            </a:r>
            <a:endParaRPr lang="en-US" sz="2800" dirty="0">
              <a:solidFill>
                <a:schemeClr val="tx1"/>
              </a:solidFill>
              <a:latin typeface="Comic Sans MS" panose="030F0902030302020204" pitchFamily="66" charset="0"/>
            </a:endParaRPr>
          </a:p>
        </p:txBody>
      </p:sp>
      <p:sp>
        <p:nvSpPr>
          <p:cNvPr id="10" name="Oval Callout 9">
            <a:extLst>
              <a:ext uri="{FF2B5EF4-FFF2-40B4-BE49-F238E27FC236}">
                <a16:creationId xmlns:a16="http://schemas.microsoft.com/office/drawing/2014/main" id="{820FF9C0-C808-0541-A0E5-74A9B9911200}"/>
              </a:ext>
            </a:extLst>
          </p:cNvPr>
          <p:cNvSpPr/>
          <p:nvPr/>
        </p:nvSpPr>
        <p:spPr>
          <a:xfrm>
            <a:off x="354533" y="5356543"/>
            <a:ext cx="4831080" cy="1136332"/>
          </a:xfrm>
          <a:prstGeom prst="wedgeEllipseCallout">
            <a:avLst>
              <a:gd name="adj1" fmla="val 57262"/>
              <a:gd name="adj2" fmla="val -10302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800" dirty="0">
                <a:solidFill>
                  <a:schemeClr val="tx1"/>
                </a:solidFill>
              </a:rPr>
              <a:t>serial number</a:t>
            </a:r>
            <a:r>
              <a:rPr lang="en-US" sz="2800" dirty="0">
                <a:solidFill>
                  <a:schemeClr val="tx1"/>
                </a:solidFill>
                <a:latin typeface="Comic Sans MS" panose="030F0902030302020204" pitchFamily="66" charset="0"/>
              </a:rPr>
              <a:t> s</a:t>
            </a:r>
            <a:endParaRPr lang="en-US" sz="2800" dirty="0">
              <a:solidFill>
                <a:schemeClr val="tx1"/>
              </a:solidFill>
            </a:endParaRPr>
          </a:p>
        </p:txBody>
      </p:sp>
      <p:sp>
        <p:nvSpPr>
          <p:cNvPr id="11" name="TextBox 10">
            <a:extLst>
              <a:ext uri="{FF2B5EF4-FFF2-40B4-BE49-F238E27FC236}">
                <a16:creationId xmlns:a16="http://schemas.microsoft.com/office/drawing/2014/main" id="{F34ED9A8-1D41-014B-BEF1-B149908AC505}"/>
              </a:ext>
            </a:extLst>
          </p:cNvPr>
          <p:cNvSpPr txBox="1"/>
          <p:nvPr/>
        </p:nvSpPr>
        <p:spPr>
          <a:xfrm>
            <a:off x="2403610" y="2867375"/>
            <a:ext cx="1218603" cy="461665"/>
          </a:xfrm>
          <a:prstGeom prst="rect">
            <a:avLst/>
          </a:prstGeom>
          <a:noFill/>
        </p:spPr>
        <p:txBody>
          <a:bodyPr wrap="none" rtlCol="0">
            <a:spAutoFit/>
          </a:bodyPr>
          <a:lstStyle/>
          <a:p>
            <a:r>
              <a:rPr lang="en-US" sz="2400" dirty="0">
                <a:latin typeface="Comic Sans MS" panose="030F0902030302020204" pitchFamily="66" charset="0"/>
              </a:rPr>
              <a:t>Q-note</a:t>
            </a:r>
          </a:p>
        </p:txBody>
      </p:sp>
      <p:sp>
        <p:nvSpPr>
          <p:cNvPr id="8" name="TextBox 7">
            <a:extLst>
              <a:ext uri="{FF2B5EF4-FFF2-40B4-BE49-F238E27FC236}">
                <a16:creationId xmlns:a16="http://schemas.microsoft.com/office/drawing/2014/main" id="{7D105C7F-A124-1F47-9901-8E48F8B7FED5}"/>
              </a:ext>
            </a:extLst>
          </p:cNvPr>
          <p:cNvSpPr txBox="1"/>
          <p:nvPr/>
        </p:nvSpPr>
        <p:spPr>
          <a:xfrm>
            <a:off x="7088073" y="5540376"/>
            <a:ext cx="3243132" cy="523220"/>
          </a:xfrm>
          <a:prstGeom prst="rect">
            <a:avLst/>
          </a:prstGeom>
          <a:solidFill>
            <a:schemeClr val="accent4">
              <a:lumMod val="20000"/>
              <a:lumOff val="80000"/>
            </a:schemeClr>
          </a:solidFill>
        </p:spPr>
        <p:txBody>
          <a:bodyPr wrap="none" rtlCol="0">
            <a:spAutoFit/>
          </a:bodyPr>
          <a:lstStyle/>
          <a:p>
            <a:r>
              <a:rPr lang="en-ZA" sz="2800" dirty="0"/>
              <a:t>ordered pair</a:t>
            </a:r>
            <a:r>
              <a:rPr lang="en-US" sz="2800" dirty="0"/>
              <a:t>: (s,</a:t>
            </a:r>
            <a:r>
              <a:rPr lang="en-US" sz="2800" dirty="0">
                <a:ea typeface="Cambria Math" panose="02040503050406030204" pitchFamily="18" charset="0"/>
              </a:rPr>
              <a:t> |Q⟩</a:t>
            </a:r>
            <a:r>
              <a:rPr lang="en-US" sz="2800" dirty="0"/>
              <a:t>)</a:t>
            </a:r>
          </a:p>
        </p:txBody>
      </p:sp>
      <p:sp>
        <p:nvSpPr>
          <p:cNvPr id="13" name="TextBox 12">
            <a:extLst>
              <a:ext uri="{FF2B5EF4-FFF2-40B4-BE49-F238E27FC236}">
                <a16:creationId xmlns:a16="http://schemas.microsoft.com/office/drawing/2014/main" id="{598F6E75-DD26-9046-A506-82A983581969}"/>
              </a:ext>
            </a:extLst>
          </p:cNvPr>
          <p:cNvSpPr txBox="1"/>
          <p:nvPr/>
        </p:nvSpPr>
        <p:spPr>
          <a:xfrm>
            <a:off x="9143665" y="3583424"/>
            <a:ext cx="3048335" cy="369332"/>
          </a:xfrm>
          <a:prstGeom prst="rect">
            <a:avLst/>
          </a:prstGeom>
          <a:noFill/>
        </p:spPr>
        <p:txBody>
          <a:bodyPr wrap="none" rtlCol="0">
            <a:spAutoFit/>
          </a:bodyPr>
          <a:lstStyle/>
          <a:p>
            <a:r>
              <a:rPr lang="en-ZA" dirty="0"/>
              <a:t>Stephen Wiesner</a:t>
            </a:r>
            <a:r>
              <a:rPr lang="sr-Latn-RS" dirty="0"/>
              <a:t> (1942-2021)</a:t>
            </a:r>
            <a:r>
              <a:rPr lang="en-ZA" dirty="0"/>
              <a:t> </a:t>
            </a:r>
            <a:endParaRPr lang="en-US" dirty="0"/>
          </a:p>
        </p:txBody>
      </p:sp>
      <p:pic>
        <p:nvPicPr>
          <p:cNvPr id="14" name="Picture 13">
            <a:extLst>
              <a:ext uri="{FF2B5EF4-FFF2-40B4-BE49-F238E27FC236}">
                <a16:creationId xmlns:a16="http://schemas.microsoft.com/office/drawing/2014/main" id="{417D1AC7-92F8-7E4F-B4B5-2383D543449D}"/>
              </a:ext>
            </a:extLst>
          </p:cNvPr>
          <p:cNvPicPr>
            <a:picLocks noChangeAspect="1"/>
          </p:cNvPicPr>
          <p:nvPr/>
        </p:nvPicPr>
        <p:blipFill>
          <a:blip r:embed="rId5"/>
          <a:stretch>
            <a:fillRect/>
          </a:stretch>
        </p:blipFill>
        <p:spPr>
          <a:xfrm>
            <a:off x="9358745" y="486252"/>
            <a:ext cx="2602073" cy="2823302"/>
          </a:xfrm>
          <a:prstGeom prst="rect">
            <a:avLst/>
          </a:prstGeom>
        </p:spPr>
      </p:pic>
    </p:spTree>
    <p:extLst>
      <p:ext uri="{BB962C8B-B14F-4D97-AF65-F5344CB8AC3E}">
        <p14:creationId xmlns:p14="http://schemas.microsoft.com/office/powerpoint/2010/main" val="745893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9C3E2A1-07BC-C642-88EE-60C75057E1DD}"/>
              </a:ext>
            </a:extLst>
          </p:cNvPr>
          <p:cNvPicPr>
            <a:picLocks noChangeAspect="1"/>
          </p:cNvPicPr>
          <p:nvPr/>
        </p:nvPicPr>
        <p:blipFill>
          <a:blip r:embed="rId3"/>
          <a:stretch>
            <a:fillRect/>
          </a:stretch>
        </p:blipFill>
        <p:spPr>
          <a:xfrm>
            <a:off x="5251873" y="1493528"/>
            <a:ext cx="1811034" cy="1811034"/>
          </a:xfrm>
          <a:prstGeom prst="rect">
            <a:avLst/>
          </a:prstGeom>
        </p:spPr>
      </p:pic>
      <p:sp>
        <p:nvSpPr>
          <p:cNvPr id="3" name="Slide Number Placeholder 2">
            <a:extLst>
              <a:ext uri="{FF2B5EF4-FFF2-40B4-BE49-F238E27FC236}">
                <a16:creationId xmlns:a16="http://schemas.microsoft.com/office/drawing/2014/main" id="{5CE43C7B-70BC-AC4A-9BB9-977AE1C8339A}"/>
              </a:ext>
            </a:extLst>
          </p:cNvPr>
          <p:cNvSpPr>
            <a:spLocks noGrp="1"/>
          </p:cNvSpPr>
          <p:nvPr>
            <p:ph type="sldNum" sz="quarter" idx="12"/>
          </p:nvPr>
        </p:nvSpPr>
        <p:spPr/>
        <p:txBody>
          <a:bodyPr/>
          <a:lstStyle/>
          <a:p>
            <a:fld id="{591A223C-FA10-BC46-A853-03BA373D023C}" type="slidenum">
              <a:rPr lang="en-US" smtClean="0"/>
              <a:t>25</a:t>
            </a:fld>
            <a:endParaRPr lang="en-US"/>
          </a:p>
        </p:txBody>
      </p:sp>
      <p:sp>
        <p:nvSpPr>
          <p:cNvPr id="2" name="Title 1">
            <a:extLst>
              <a:ext uri="{FF2B5EF4-FFF2-40B4-BE49-F238E27FC236}">
                <a16:creationId xmlns:a16="http://schemas.microsoft.com/office/drawing/2014/main" id="{0F7F8BEC-3CCA-6542-B3F6-BD68D2ED58DF}"/>
              </a:ext>
            </a:extLst>
          </p:cNvPr>
          <p:cNvSpPr>
            <a:spLocks noGrp="1"/>
          </p:cNvSpPr>
          <p:nvPr>
            <p:ph type="title"/>
          </p:nvPr>
        </p:nvSpPr>
        <p:spPr/>
        <p:txBody>
          <a:bodyPr/>
          <a:lstStyle/>
          <a:p>
            <a:r>
              <a:rPr lang="en-ZA" dirty="0"/>
              <a:t>How Quantum Money Works</a:t>
            </a:r>
            <a:endParaRPr lang="en-US" dirty="0"/>
          </a:p>
        </p:txBody>
      </p:sp>
      <p:sp>
        <p:nvSpPr>
          <p:cNvPr id="5" name="Rounded Rectangle 4">
            <a:extLst>
              <a:ext uri="{FF2B5EF4-FFF2-40B4-BE49-F238E27FC236}">
                <a16:creationId xmlns:a16="http://schemas.microsoft.com/office/drawing/2014/main" id="{2F5C42C3-ED58-6343-9D2F-1CFE29450E7E}"/>
              </a:ext>
            </a:extLst>
          </p:cNvPr>
          <p:cNvSpPr/>
          <p:nvPr/>
        </p:nvSpPr>
        <p:spPr>
          <a:xfrm>
            <a:off x="4484517" y="1304402"/>
            <a:ext cx="3354562" cy="266918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684A5E8-36BA-2345-94A5-3F38477E0FBB}"/>
              </a:ext>
            </a:extLst>
          </p:cNvPr>
          <p:cNvSpPr txBox="1"/>
          <p:nvPr/>
        </p:nvSpPr>
        <p:spPr>
          <a:xfrm>
            <a:off x="5036467" y="3340104"/>
            <a:ext cx="2138726" cy="430887"/>
          </a:xfrm>
          <a:prstGeom prst="rect">
            <a:avLst/>
          </a:prstGeom>
          <a:noFill/>
        </p:spPr>
        <p:txBody>
          <a:bodyPr wrap="none" rtlCol="0">
            <a:spAutoFit/>
          </a:bodyPr>
          <a:lstStyle/>
          <a:p>
            <a:pPr algn="ctr"/>
            <a:r>
              <a:rPr lang="en-ZA" sz="2200" dirty="0">
                <a:latin typeface="Comic Sans MS" panose="030F0902030302020204" pitchFamily="66" charset="0"/>
              </a:rPr>
              <a:t>issuer/verifier</a:t>
            </a:r>
            <a:endParaRPr lang="en-US" sz="2200" dirty="0">
              <a:latin typeface="Comic Sans MS" panose="030F0902030302020204" pitchFamily="66" charset="0"/>
            </a:endParaRPr>
          </a:p>
        </p:txBody>
      </p:sp>
      <p:pic>
        <p:nvPicPr>
          <p:cNvPr id="8" name="Picture 7">
            <a:extLst>
              <a:ext uri="{FF2B5EF4-FFF2-40B4-BE49-F238E27FC236}">
                <a16:creationId xmlns:a16="http://schemas.microsoft.com/office/drawing/2014/main" id="{D10F5B55-8D41-5B4C-8F32-B428CB5D5BA6}"/>
              </a:ext>
            </a:extLst>
          </p:cNvPr>
          <p:cNvPicPr>
            <a:picLocks noChangeAspect="1"/>
          </p:cNvPicPr>
          <p:nvPr/>
        </p:nvPicPr>
        <p:blipFill>
          <a:blip r:embed="rId4"/>
          <a:stretch>
            <a:fillRect/>
          </a:stretch>
        </p:blipFill>
        <p:spPr>
          <a:xfrm>
            <a:off x="241133" y="1769730"/>
            <a:ext cx="1735200" cy="1735200"/>
          </a:xfrm>
          <a:prstGeom prst="rect">
            <a:avLst/>
          </a:prstGeom>
        </p:spPr>
      </p:pic>
      <p:grpSp>
        <p:nvGrpSpPr>
          <p:cNvPr id="29" name="Group 28">
            <a:extLst>
              <a:ext uri="{FF2B5EF4-FFF2-40B4-BE49-F238E27FC236}">
                <a16:creationId xmlns:a16="http://schemas.microsoft.com/office/drawing/2014/main" id="{7117B9B6-D266-054F-B69C-DFCE5591C4E5}"/>
              </a:ext>
            </a:extLst>
          </p:cNvPr>
          <p:cNvGrpSpPr>
            <a:grpSpLocks noChangeAspect="1"/>
          </p:cNvGrpSpPr>
          <p:nvPr/>
        </p:nvGrpSpPr>
        <p:grpSpPr>
          <a:xfrm>
            <a:off x="3900012" y="2277124"/>
            <a:ext cx="1416211" cy="647143"/>
            <a:chOff x="8603965" y="2059674"/>
            <a:chExt cx="5252830" cy="2400300"/>
          </a:xfrm>
        </p:grpSpPr>
        <p:pic>
          <p:nvPicPr>
            <p:cNvPr id="30" name="Picture 29">
              <a:extLst>
                <a:ext uri="{FF2B5EF4-FFF2-40B4-BE49-F238E27FC236}">
                  <a16:creationId xmlns:a16="http://schemas.microsoft.com/office/drawing/2014/main" id="{B66F6EEC-490D-F744-9A64-0436FCE1B295}"/>
                </a:ext>
              </a:extLst>
            </p:cNvPr>
            <p:cNvPicPr>
              <a:picLocks noChangeAspect="1"/>
            </p:cNvPicPr>
            <p:nvPr/>
          </p:nvPicPr>
          <p:blipFill>
            <a:blip r:embed="rId5"/>
            <a:stretch>
              <a:fillRect/>
            </a:stretch>
          </p:blipFill>
          <p:spPr>
            <a:xfrm>
              <a:off x="8603965" y="2059674"/>
              <a:ext cx="5252830" cy="2400300"/>
            </a:xfrm>
            <a:prstGeom prst="rect">
              <a:avLst/>
            </a:prstGeom>
          </p:spPr>
        </p:pic>
        <mc:AlternateContent xmlns:mc="http://schemas.openxmlformats.org/markup-compatibility/2006" xmlns:a14="http://schemas.microsoft.com/office/drawing/2010/main">
          <mc:Choice Requires="a14">
            <p:sp>
              <p:nvSpPr>
                <p:cNvPr id="31" name="Oval 30">
                  <a:extLst>
                    <a:ext uri="{FF2B5EF4-FFF2-40B4-BE49-F238E27FC236}">
                      <a16:creationId xmlns:a16="http://schemas.microsoft.com/office/drawing/2014/main" id="{4631FA00-A779-754D-8914-172F92F544D3}"/>
                    </a:ext>
                  </a:extLst>
                </p:cNvPr>
                <p:cNvSpPr>
                  <a:spLocks noChangeAspect="1"/>
                </p:cNvSpPr>
                <p:nvPr/>
              </p:nvSpPr>
              <p:spPr>
                <a:xfrm>
                  <a:off x="10521841" y="2524560"/>
                  <a:ext cx="1432494" cy="1432494"/>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𝑄</m:t>
                            </m:r>
                          </m:e>
                        </m:d>
                      </m:oMath>
                    </m:oMathPara>
                  </a14:m>
                  <a:endParaRPr lang="en-US" sz="1200" dirty="0">
                    <a:solidFill>
                      <a:schemeClr val="tx1"/>
                    </a:solidFill>
                  </a:endParaRPr>
                </a:p>
              </p:txBody>
            </p:sp>
          </mc:Choice>
          <mc:Fallback xmlns="">
            <p:sp>
              <p:nvSpPr>
                <p:cNvPr id="31" name="Oval 30">
                  <a:extLst>
                    <a:ext uri="{FF2B5EF4-FFF2-40B4-BE49-F238E27FC236}">
                      <a16:creationId xmlns:a16="http://schemas.microsoft.com/office/drawing/2014/main" id="{4631FA00-A779-754D-8914-172F92F544D3}"/>
                    </a:ext>
                  </a:extLst>
                </p:cNvPr>
                <p:cNvSpPr>
                  <a:spLocks noRot="1" noChangeAspect="1" noMove="1" noResize="1" noEditPoints="1" noAdjustHandles="1" noChangeArrowheads="1" noChangeShapeType="1" noTextEdit="1"/>
                </p:cNvSpPr>
                <p:nvPr/>
              </p:nvSpPr>
              <p:spPr>
                <a:xfrm>
                  <a:off x="10521841" y="2524560"/>
                  <a:ext cx="1432494" cy="1432494"/>
                </a:xfrm>
                <a:prstGeom prst="ellipse">
                  <a:avLst/>
                </a:prstGeom>
                <a:blipFill>
                  <a:blip r:embed="rId6"/>
                  <a:stretch>
                    <a:fillRect/>
                  </a:stretch>
                </a:blipFill>
                <a:ln>
                  <a:solidFill>
                    <a:srgbClr val="FFC000"/>
                  </a:solidFill>
                </a:ln>
              </p:spPr>
              <p:txBody>
                <a:bodyPr/>
                <a:lstStyle/>
                <a:p>
                  <a:r>
                    <a:rPr lang="en-US">
                      <a:noFill/>
                    </a:rPr>
                    <a:t> </a:t>
                  </a:r>
                </a:p>
              </p:txBody>
            </p:sp>
          </mc:Fallback>
        </mc:AlternateContent>
      </p:grpSp>
      <p:cxnSp>
        <p:nvCxnSpPr>
          <p:cNvPr id="10" name="Straight Arrow Connector 9">
            <a:extLst>
              <a:ext uri="{FF2B5EF4-FFF2-40B4-BE49-F238E27FC236}">
                <a16:creationId xmlns:a16="http://schemas.microsoft.com/office/drawing/2014/main" id="{FE398434-D291-4E49-B81C-6176E09152FB}"/>
              </a:ext>
            </a:extLst>
          </p:cNvPr>
          <p:cNvCxnSpPr>
            <a:cxnSpLocks/>
          </p:cNvCxnSpPr>
          <p:nvPr/>
        </p:nvCxnSpPr>
        <p:spPr>
          <a:xfrm>
            <a:off x="1976333" y="2582037"/>
            <a:ext cx="1691089" cy="0"/>
          </a:xfrm>
          <a:prstGeom prst="straightConnector1">
            <a:avLst/>
          </a:prstGeom>
          <a:ln w="127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CB1B925-E849-BA4A-AC7B-1A8C881EDFA7}"/>
              </a:ext>
            </a:extLst>
          </p:cNvPr>
          <p:cNvSpPr txBox="1"/>
          <p:nvPr/>
        </p:nvSpPr>
        <p:spPr>
          <a:xfrm>
            <a:off x="1906690" y="1510843"/>
            <a:ext cx="1854995" cy="646331"/>
          </a:xfrm>
          <a:prstGeom prst="rect">
            <a:avLst/>
          </a:prstGeom>
          <a:noFill/>
        </p:spPr>
        <p:txBody>
          <a:bodyPr wrap="none" rtlCol="0">
            <a:spAutoFit/>
          </a:bodyPr>
          <a:lstStyle/>
          <a:p>
            <a:pPr algn="ctr"/>
            <a:r>
              <a:rPr lang="en-ZA" dirty="0">
                <a:latin typeface="Comic Sans MS" panose="030F0902030302020204" pitchFamily="66" charset="0"/>
              </a:rPr>
              <a:t>Q-note request</a:t>
            </a:r>
          </a:p>
          <a:p>
            <a:pPr algn="ctr"/>
            <a:r>
              <a:rPr lang="en-ZA" dirty="0">
                <a:latin typeface="Comic Sans MS" panose="030F0902030302020204" pitchFamily="66" charset="0"/>
              </a:rPr>
              <a:t>&amp; issuance</a:t>
            </a:r>
            <a:endParaRPr lang="en-US" dirty="0">
              <a:latin typeface="Comic Sans MS" panose="030F0902030302020204" pitchFamily="66" charset="0"/>
            </a:endParaRPr>
          </a:p>
        </p:txBody>
      </p:sp>
      <p:sp>
        <p:nvSpPr>
          <p:cNvPr id="12" name="TextBox 11">
            <a:extLst>
              <a:ext uri="{FF2B5EF4-FFF2-40B4-BE49-F238E27FC236}">
                <a16:creationId xmlns:a16="http://schemas.microsoft.com/office/drawing/2014/main" id="{24EDBD61-8E83-FA43-81AB-B659A942710B}"/>
              </a:ext>
            </a:extLst>
          </p:cNvPr>
          <p:cNvSpPr txBox="1"/>
          <p:nvPr/>
        </p:nvSpPr>
        <p:spPr>
          <a:xfrm>
            <a:off x="5792065" y="1719570"/>
            <a:ext cx="730649" cy="369332"/>
          </a:xfrm>
          <a:prstGeom prst="rect">
            <a:avLst/>
          </a:prstGeom>
          <a:noFill/>
        </p:spPr>
        <p:txBody>
          <a:bodyPr wrap="none" rtlCol="0">
            <a:spAutoFit/>
          </a:bodyPr>
          <a:lstStyle/>
          <a:p>
            <a:r>
              <a:rPr lang="en-US" b="1" dirty="0"/>
              <a:t>BANK</a:t>
            </a:r>
          </a:p>
        </p:txBody>
      </p:sp>
      <p:sp>
        <p:nvSpPr>
          <p:cNvPr id="17" name="TextBox 16">
            <a:extLst>
              <a:ext uri="{FF2B5EF4-FFF2-40B4-BE49-F238E27FC236}">
                <a16:creationId xmlns:a16="http://schemas.microsoft.com/office/drawing/2014/main" id="{3B3B9841-7A90-D74B-AF95-87B8FF724DE2}"/>
              </a:ext>
            </a:extLst>
          </p:cNvPr>
          <p:cNvSpPr txBox="1"/>
          <p:nvPr/>
        </p:nvSpPr>
        <p:spPr>
          <a:xfrm>
            <a:off x="749198" y="1310978"/>
            <a:ext cx="675185" cy="369332"/>
          </a:xfrm>
          <a:prstGeom prst="rect">
            <a:avLst/>
          </a:prstGeom>
          <a:solidFill>
            <a:schemeClr val="accent4">
              <a:lumMod val="20000"/>
              <a:lumOff val="80000"/>
            </a:schemeClr>
          </a:solidFill>
        </p:spPr>
        <p:txBody>
          <a:bodyPr wrap="none" rtlCol="0">
            <a:spAutoFit/>
          </a:bodyPr>
          <a:lstStyle/>
          <a:p>
            <a:r>
              <a:rPr lang="en-US" dirty="0"/>
              <a:t>USER</a:t>
            </a:r>
          </a:p>
        </p:txBody>
      </p:sp>
      <p:grpSp>
        <p:nvGrpSpPr>
          <p:cNvPr id="41" name="Group 40">
            <a:extLst>
              <a:ext uri="{FF2B5EF4-FFF2-40B4-BE49-F238E27FC236}">
                <a16:creationId xmlns:a16="http://schemas.microsoft.com/office/drawing/2014/main" id="{2B60C3C8-2F17-624B-99DD-36614838211A}"/>
              </a:ext>
            </a:extLst>
          </p:cNvPr>
          <p:cNvGrpSpPr/>
          <p:nvPr/>
        </p:nvGrpSpPr>
        <p:grpSpPr>
          <a:xfrm>
            <a:off x="577655" y="3527168"/>
            <a:ext cx="5815973" cy="3157289"/>
            <a:chOff x="577655" y="3527168"/>
            <a:chExt cx="5815973" cy="3157289"/>
          </a:xfrm>
        </p:grpSpPr>
        <p:grpSp>
          <p:nvGrpSpPr>
            <p:cNvPr id="32" name="Group 31">
              <a:extLst>
                <a:ext uri="{FF2B5EF4-FFF2-40B4-BE49-F238E27FC236}">
                  <a16:creationId xmlns:a16="http://schemas.microsoft.com/office/drawing/2014/main" id="{A1723136-FEBD-8542-BEB5-085D36309794}"/>
                </a:ext>
              </a:extLst>
            </p:cNvPr>
            <p:cNvGrpSpPr>
              <a:grpSpLocks noChangeAspect="1"/>
            </p:cNvGrpSpPr>
            <p:nvPr/>
          </p:nvGrpSpPr>
          <p:grpSpPr>
            <a:xfrm>
              <a:off x="3313926" y="5738098"/>
              <a:ext cx="1416211" cy="647143"/>
              <a:chOff x="8603965" y="2059674"/>
              <a:chExt cx="5252830" cy="2400300"/>
            </a:xfrm>
          </p:grpSpPr>
          <p:pic>
            <p:nvPicPr>
              <p:cNvPr id="33" name="Picture 32">
                <a:extLst>
                  <a:ext uri="{FF2B5EF4-FFF2-40B4-BE49-F238E27FC236}">
                    <a16:creationId xmlns:a16="http://schemas.microsoft.com/office/drawing/2014/main" id="{851AFE67-A700-F144-81A4-EF5932418485}"/>
                  </a:ext>
                </a:extLst>
              </p:cNvPr>
              <p:cNvPicPr>
                <a:picLocks noChangeAspect="1"/>
              </p:cNvPicPr>
              <p:nvPr/>
            </p:nvPicPr>
            <p:blipFill>
              <a:blip r:embed="rId5"/>
              <a:stretch>
                <a:fillRect/>
              </a:stretch>
            </p:blipFill>
            <p:spPr>
              <a:xfrm>
                <a:off x="8603965" y="2059674"/>
                <a:ext cx="5252830" cy="2400300"/>
              </a:xfrm>
              <a:prstGeom prst="rect">
                <a:avLst/>
              </a:prstGeom>
            </p:spPr>
          </p:pic>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F2D2D293-EF98-1846-B886-FFBAF0E1CBC9}"/>
                      </a:ext>
                    </a:extLst>
                  </p:cNvPr>
                  <p:cNvSpPr>
                    <a:spLocks noChangeAspect="1"/>
                  </p:cNvSpPr>
                  <p:nvPr/>
                </p:nvSpPr>
                <p:spPr>
                  <a:xfrm>
                    <a:off x="10521841" y="2524560"/>
                    <a:ext cx="1432494" cy="1432494"/>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sz="12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rPr>
                                <m:t>𝑄</m:t>
                              </m:r>
                            </m:e>
                          </m:d>
                        </m:oMath>
                      </m:oMathPara>
                    </a14:m>
                    <a:endParaRPr lang="en-US" sz="1200" dirty="0">
                      <a:solidFill>
                        <a:schemeClr val="tx1"/>
                      </a:solidFill>
                    </a:endParaRPr>
                  </a:p>
                </p:txBody>
              </p:sp>
            </mc:Choice>
            <mc:Fallback xmlns="">
              <p:sp>
                <p:nvSpPr>
                  <p:cNvPr id="34" name="Oval 33">
                    <a:extLst>
                      <a:ext uri="{FF2B5EF4-FFF2-40B4-BE49-F238E27FC236}">
                        <a16:creationId xmlns:a16="http://schemas.microsoft.com/office/drawing/2014/main" id="{F2D2D293-EF98-1846-B886-FFBAF0E1CBC9}"/>
                      </a:ext>
                    </a:extLst>
                  </p:cNvPr>
                  <p:cNvSpPr>
                    <a:spLocks noRot="1" noChangeAspect="1" noMove="1" noResize="1" noEditPoints="1" noAdjustHandles="1" noChangeArrowheads="1" noChangeShapeType="1" noTextEdit="1"/>
                  </p:cNvSpPr>
                  <p:nvPr/>
                </p:nvSpPr>
                <p:spPr>
                  <a:xfrm>
                    <a:off x="10521841" y="2524560"/>
                    <a:ext cx="1432494" cy="1432494"/>
                  </a:xfrm>
                  <a:prstGeom prst="ellipse">
                    <a:avLst/>
                  </a:prstGeom>
                  <a:blipFill>
                    <a:blip r:embed="rId8"/>
                    <a:stretch>
                      <a:fillRect/>
                    </a:stretch>
                  </a:blipFill>
                  <a:ln>
                    <a:solidFill>
                      <a:srgbClr val="FFC000"/>
                    </a:solidFill>
                  </a:ln>
                </p:spPr>
                <p:txBody>
                  <a:bodyPr/>
                  <a:lstStyle/>
                  <a:p>
                    <a:r>
                      <a:rPr lang="en-US">
                        <a:noFill/>
                      </a:rPr>
                      <a:t> </a:t>
                    </a:r>
                  </a:p>
                </p:txBody>
              </p:sp>
            </mc:Fallback>
          </mc:AlternateContent>
        </p:grpSp>
        <p:sp>
          <p:nvSpPr>
            <p:cNvPr id="25" name="Bent Arrow 24">
              <a:extLst>
                <a:ext uri="{FF2B5EF4-FFF2-40B4-BE49-F238E27FC236}">
                  <a16:creationId xmlns:a16="http://schemas.microsoft.com/office/drawing/2014/main" id="{601E2983-C06D-2B46-B385-5C5532491C5F}"/>
                </a:ext>
              </a:extLst>
            </p:cNvPr>
            <p:cNvSpPr/>
            <p:nvPr/>
          </p:nvSpPr>
          <p:spPr>
            <a:xfrm flipV="1">
              <a:off x="1007548" y="3527168"/>
              <a:ext cx="925712" cy="1485643"/>
            </a:xfrm>
            <a:prstGeom prst="ben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7923DE73-E3DD-3D45-9EF1-37C9D978405C}"/>
                </a:ext>
              </a:extLst>
            </p:cNvPr>
            <p:cNvSpPr txBox="1"/>
            <p:nvPr/>
          </p:nvSpPr>
          <p:spPr>
            <a:xfrm>
              <a:off x="577655" y="5342033"/>
              <a:ext cx="1628972" cy="369332"/>
            </a:xfrm>
            <a:prstGeom prst="rect">
              <a:avLst/>
            </a:prstGeom>
            <a:noFill/>
          </p:spPr>
          <p:txBody>
            <a:bodyPr wrap="none" rtlCol="0">
              <a:spAutoFit/>
            </a:bodyPr>
            <a:lstStyle/>
            <a:p>
              <a:pPr algn="ctr"/>
              <a:r>
                <a:rPr lang="en-ZA" dirty="0">
                  <a:latin typeface="Comic Sans MS" panose="030F0902030302020204" pitchFamily="66" charset="0"/>
                </a:rPr>
                <a:t>Q-note usage</a:t>
              </a:r>
              <a:endParaRPr lang="en-US" dirty="0">
                <a:latin typeface="Comic Sans MS" panose="030F0902030302020204" pitchFamily="66" charset="0"/>
              </a:endParaRPr>
            </a:p>
          </p:txBody>
        </p:sp>
        <p:pic>
          <p:nvPicPr>
            <p:cNvPr id="9" name="Picture 8">
              <a:extLst>
                <a:ext uri="{FF2B5EF4-FFF2-40B4-BE49-F238E27FC236}">
                  <a16:creationId xmlns:a16="http://schemas.microsoft.com/office/drawing/2014/main" id="{0B3F2833-EA4A-004D-9FB1-B496ABD52756}"/>
                </a:ext>
              </a:extLst>
            </p:cNvPr>
            <p:cNvPicPr>
              <a:picLocks noChangeAspect="1"/>
            </p:cNvPicPr>
            <p:nvPr/>
          </p:nvPicPr>
          <p:blipFill>
            <a:blip r:embed="rId9"/>
            <a:stretch>
              <a:fillRect/>
            </a:stretch>
          </p:blipFill>
          <p:spPr>
            <a:xfrm>
              <a:off x="2219403" y="4032728"/>
              <a:ext cx="2213548" cy="2023815"/>
            </a:xfrm>
            <a:prstGeom prst="rect">
              <a:avLst/>
            </a:prstGeom>
          </p:spPr>
        </p:pic>
        <p:sp>
          <p:nvSpPr>
            <p:cNvPr id="27" name="Bent Arrow 26">
              <a:extLst>
                <a:ext uri="{FF2B5EF4-FFF2-40B4-BE49-F238E27FC236}">
                  <a16:creationId xmlns:a16="http://schemas.microsoft.com/office/drawing/2014/main" id="{0197479A-7A01-7443-9F90-B2D35B6E0B44}"/>
                </a:ext>
              </a:extLst>
            </p:cNvPr>
            <p:cNvSpPr/>
            <p:nvPr/>
          </p:nvSpPr>
          <p:spPr>
            <a:xfrm rot="16200000" flipV="1">
              <a:off x="5187951" y="4045262"/>
              <a:ext cx="925712" cy="1485643"/>
            </a:xfrm>
            <a:prstGeom prst="ben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a:extLst>
                <a:ext uri="{FF2B5EF4-FFF2-40B4-BE49-F238E27FC236}">
                  <a16:creationId xmlns:a16="http://schemas.microsoft.com/office/drawing/2014/main" id="{E968A7FF-5AAE-0D40-BA5A-13B5E35D2162}"/>
                </a:ext>
              </a:extLst>
            </p:cNvPr>
            <p:cNvSpPr txBox="1"/>
            <p:nvPr/>
          </p:nvSpPr>
          <p:spPr>
            <a:xfrm>
              <a:off x="4749449" y="5322025"/>
              <a:ext cx="1431803" cy="646331"/>
            </a:xfrm>
            <a:prstGeom prst="rect">
              <a:avLst/>
            </a:prstGeom>
            <a:noFill/>
          </p:spPr>
          <p:txBody>
            <a:bodyPr wrap="none" rtlCol="0">
              <a:spAutoFit/>
            </a:bodyPr>
            <a:lstStyle/>
            <a:p>
              <a:pPr algn="ctr"/>
              <a:r>
                <a:rPr lang="en-ZA" dirty="0">
                  <a:latin typeface="Comic Sans MS" panose="030F0902030302020204" pitchFamily="66" charset="0"/>
                </a:rPr>
                <a:t>Q-note</a:t>
              </a:r>
            </a:p>
            <a:p>
              <a:pPr algn="ctr"/>
              <a:r>
                <a:rPr lang="en-ZA" dirty="0">
                  <a:latin typeface="Comic Sans MS" panose="030F0902030302020204" pitchFamily="66" charset="0"/>
                </a:rPr>
                <a:t>verification</a:t>
              </a:r>
              <a:endParaRPr lang="en-US" dirty="0">
                <a:latin typeface="Comic Sans MS" panose="030F0902030302020204" pitchFamily="66" charset="0"/>
              </a:endParaRPr>
            </a:p>
          </p:txBody>
        </p:sp>
        <p:sp>
          <p:nvSpPr>
            <p:cNvPr id="36" name="TextBox 35">
              <a:extLst>
                <a:ext uri="{FF2B5EF4-FFF2-40B4-BE49-F238E27FC236}">
                  <a16:creationId xmlns:a16="http://schemas.microsoft.com/office/drawing/2014/main" id="{75385B58-0FD8-294A-B82C-5F4132DA743E}"/>
                </a:ext>
              </a:extLst>
            </p:cNvPr>
            <p:cNvSpPr txBox="1"/>
            <p:nvPr/>
          </p:nvSpPr>
          <p:spPr>
            <a:xfrm>
              <a:off x="2779557" y="6315125"/>
              <a:ext cx="1279068" cy="369332"/>
            </a:xfrm>
            <a:prstGeom prst="rect">
              <a:avLst/>
            </a:prstGeom>
            <a:solidFill>
              <a:schemeClr val="accent4">
                <a:lumMod val="20000"/>
                <a:lumOff val="80000"/>
              </a:schemeClr>
            </a:solidFill>
          </p:spPr>
          <p:txBody>
            <a:bodyPr wrap="none" rtlCol="0">
              <a:spAutoFit/>
            </a:bodyPr>
            <a:lstStyle/>
            <a:p>
              <a:r>
                <a:rPr lang="en-US" dirty="0"/>
                <a:t>MERCHANT</a:t>
              </a:r>
            </a:p>
          </p:txBody>
        </p:sp>
      </p:grpSp>
      <p:sp>
        <p:nvSpPr>
          <p:cNvPr id="23" name="TextBox 22">
            <a:extLst>
              <a:ext uri="{FF2B5EF4-FFF2-40B4-BE49-F238E27FC236}">
                <a16:creationId xmlns:a16="http://schemas.microsoft.com/office/drawing/2014/main" id="{BF77ADF9-CC09-BA43-8227-526C19FC21CE}"/>
              </a:ext>
            </a:extLst>
          </p:cNvPr>
          <p:cNvSpPr txBox="1"/>
          <p:nvPr/>
        </p:nvSpPr>
        <p:spPr>
          <a:xfrm>
            <a:off x="7127308" y="1460609"/>
            <a:ext cx="593432" cy="461665"/>
          </a:xfrm>
          <a:prstGeom prst="rect">
            <a:avLst/>
          </a:prstGeom>
          <a:noFill/>
        </p:spPr>
        <p:txBody>
          <a:bodyPr wrap="none" rtlCol="0">
            <a:spAutoFit/>
          </a:bodyPr>
          <a:lstStyle/>
          <a:p>
            <a:r>
              <a:rPr lang="en-US" sz="2400" dirty="0"/>
              <a:t>①</a:t>
            </a:r>
          </a:p>
        </p:txBody>
      </p:sp>
      <p:sp>
        <p:nvSpPr>
          <p:cNvPr id="37" name="TextBox 36">
            <a:extLst>
              <a:ext uri="{FF2B5EF4-FFF2-40B4-BE49-F238E27FC236}">
                <a16:creationId xmlns:a16="http://schemas.microsoft.com/office/drawing/2014/main" id="{29273482-C592-4D46-AC35-F4DE1B850F66}"/>
              </a:ext>
            </a:extLst>
          </p:cNvPr>
          <p:cNvSpPr txBox="1"/>
          <p:nvPr/>
        </p:nvSpPr>
        <p:spPr>
          <a:xfrm>
            <a:off x="179949" y="3429678"/>
            <a:ext cx="593432" cy="461665"/>
          </a:xfrm>
          <a:prstGeom prst="rect">
            <a:avLst/>
          </a:prstGeom>
          <a:noFill/>
        </p:spPr>
        <p:txBody>
          <a:bodyPr wrap="none" rtlCol="0">
            <a:spAutoFit/>
          </a:bodyPr>
          <a:lstStyle/>
          <a:p>
            <a:r>
              <a:rPr lang="en-US" sz="2400" dirty="0"/>
              <a:t>②</a:t>
            </a:r>
          </a:p>
        </p:txBody>
      </p:sp>
      <p:grpSp>
        <p:nvGrpSpPr>
          <p:cNvPr id="4" name="Group 3">
            <a:extLst>
              <a:ext uri="{FF2B5EF4-FFF2-40B4-BE49-F238E27FC236}">
                <a16:creationId xmlns:a16="http://schemas.microsoft.com/office/drawing/2014/main" id="{C294102E-FC34-124B-9F26-2827D1D604DC}"/>
              </a:ext>
            </a:extLst>
          </p:cNvPr>
          <p:cNvGrpSpPr/>
          <p:nvPr/>
        </p:nvGrpSpPr>
        <p:grpSpPr>
          <a:xfrm>
            <a:off x="7839079" y="1353277"/>
            <a:ext cx="4072043" cy="2357504"/>
            <a:chOff x="7839079" y="1353277"/>
            <a:chExt cx="4072043" cy="2357504"/>
          </a:xfrm>
        </p:grpSpPr>
        <p:grpSp>
          <p:nvGrpSpPr>
            <p:cNvPr id="42" name="Group 41">
              <a:extLst>
                <a:ext uri="{FF2B5EF4-FFF2-40B4-BE49-F238E27FC236}">
                  <a16:creationId xmlns:a16="http://schemas.microsoft.com/office/drawing/2014/main" id="{A9C71946-29C2-E341-A120-08E1CB7A046C}"/>
                </a:ext>
              </a:extLst>
            </p:cNvPr>
            <p:cNvGrpSpPr/>
            <p:nvPr/>
          </p:nvGrpSpPr>
          <p:grpSpPr>
            <a:xfrm>
              <a:off x="7839079" y="2063777"/>
              <a:ext cx="2340000" cy="643040"/>
              <a:chOff x="7839079" y="2063777"/>
              <a:chExt cx="2340000" cy="643040"/>
            </a:xfrm>
          </p:grpSpPr>
          <p:sp>
            <p:nvSpPr>
              <p:cNvPr id="21" name="TextBox 20">
                <a:extLst>
                  <a:ext uri="{FF2B5EF4-FFF2-40B4-BE49-F238E27FC236}">
                    <a16:creationId xmlns:a16="http://schemas.microsoft.com/office/drawing/2014/main" id="{26301A7F-BED1-A841-A3CA-FCE928D08AC4}"/>
                  </a:ext>
                </a:extLst>
              </p:cNvPr>
              <p:cNvSpPr txBox="1"/>
              <p:nvPr/>
            </p:nvSpPr>
            <p:spPr>
              <a:xfrm>
                <a:off x="8048565" y="2063777"/>
                <a:ext cx="1957587" cy="369332"/>
              </a:xfrm>
              <a:prstGeom prst="rect">
                <a:avLst/>
              </a:prstGeom>
              <a:noFill/>
            </p:spPr>
            <p:txBody>
              <a:bodyPr wrap="none" rtlCol="0">
                <a:spAutoFit/>
              </a:bodyPr>
              <a:lstStyle/>
              <a:p>
                <a:r>
                  <a:rPr lang="en-ZA" dirty="0">
                    <a:latin typeface="Comic Sans MS" panose="030F0902030302020204" pitchFamily="66" charset="0"/>
                  </a:rPr>
                  <a:t>forgery attempt</a:t>
                </a:r>
                <a:endParaRPr lang="en-US" dirty="0">
                  <a:latin typeface="Comic Sans MS" panose="030F0902030302020204" pitchFamily="66" charset="0"/>
                </a:endParaRPr>
              </a:p>
            </p:txBody>
          </p:sp>
          <p:cxnSp>
            <p:nvCxnSpPr>
              <p:cNvPr id="22" name="Straight Arrow Connector 21">
                <a:extLst>
                  <a:ext uri="{FF2B5EF4-FFF2-40B4-BE49-F238E27FC236}">
                    <a16:creationId xmlns:a16="http://schemas.microsoft.com/office/drawing/2014/main" id="{A0FDB116-8007-2F4E-A35A-1C05D1196EBA}"/>
                  </a:ext>
                </a:extLst>
              </p:cNvPr>
              <p:cNvCxnSpPr>
                <a:cxnSpLocks/>
              </p:cNvCxnSpPr>
              <p:nvPr/>
            </p:nvCxnSpPr>
            <p:spPr>
              <a:xfrm>
                <a:off x="7839079" y="2706817"/>
                <a:ext cx="2340000" cy="0"/>
              </a:xfrm>
              <a:prstGeom prst="straightConnector1">
                <a:avLst/>
              </a:prstGeom>
              <a:ln w="127000">
                <a:headEnd type="triangle"/>
                <a:tailEnd type="triangle"/>
              </a:ln>
            </p:spPr>
            <p:style>
              <a:lnRef idx="1">
                <a:schemeClr val="accent1"/>
              </a:lnRef>
              <a:fillRef idx="0">
                <a:schemeClr val="accent1"/>
              </a:fillRef>
              <a:effectRef idx="0">
                <a:schemeClr val="accent1"/>
              </a:effectRef>
              <a:fontRef idx="minor">
                <a:schemeClr val="tx1"/>
              </a:fontRef>
            </p:style>
          </p:cxnSp>
        </p:grpSp>
        <p:pic>
          <p:nvPicPr>
            <p:cNvPr id="16" name="Picture 15">
              <a:extLst>
                <a:ext uri="{FF2B5EF4-FFF2-40B4-BE49-F238E27FC236}">
                  <a16:creationId xmlns:a16="http://schemas.microsoft.com/office/drawing/2014/main" id="{3E6765E5-38FA-4E49-A986-31AE584B6215}"/>
                </a:ext>
              </a:extLst>
            </p:cNvPr>
            <p:cNvPicPr>
              <a:picLocks noChangeAspect="1"/>
            </p:cNvPicPr>
            <p:nvPr/>
          </p:nvPicPr>
          <p:blipFill>
            <a:blip r:embed="rId10"/>
            <a:stretch>
              <a:fillRect/>
            </a:stretch>
          </p:blipFill>
          <p:spPr>
            <a:xfrm>
              <a:off x="10347263" y="1879111"/>
              <a:ext cx="1563859" cy="1560750"/>
            </a:xfrm>
            <a:prstGeom prst="rect">
              <a:avLst/>
            </a:prstGeom>
          </p:spPr>
        </p:pic>
        <p:sp>
          <p:nvSpPr>
            <p:cNvPr id="35" name="TextBox 34">
              <a:extLst>
                <a:ext uri="{FF2B5EF4-FFF2-40B4-BE49-F238E27FC236}">
                  <a16:creationId xmlns:a16="http://schemas.microsoft.com/office/drawing/2014/main" id="{9C14FB6A-124A-DE45-B065-636F9A29EBAE}"/>
                </a:ext>
              </a:extLst>
            </p:cNvPr>
            <p:cNvSpPr txBox="1"/>
            <p:nvPr/>
          </p:nvSpPr>
          <p:spPr>
            <a:xfrm>
              <a:off x="10658058" y="1353277"/>
              <a:ext cx="941220" cy="369332"/>
            </a:xfrm>
            <a:prstGeom prst="rect">
              <a:avLst/>
            </a:prstGeom>
            <a:solidFill>
              <a:schemeClr val="accent4">
                <a:lumMod val="20000"/>
                <a:lumOff val="80000"/>
              </a:schemeClr>
            </a:solidFill>
          </p:spPr>
          <p:txBody>
            <a:bodyPr wrap="none" rtlCol="0">
              <a:spAutoFit/>
            </a:bodyPr>
            <a:lstStyle/>
            <a:p>
              <a:r>
                <a:rPr lang="en-US" dirty="0"/>
                <a:t>HACKER</a:t>
              </a:r>
            </a:p>
          </p:txBody>
        </p:sp>
        <p:sp>
          <p:nvSpPr>
            <p:cNvPr id="38" name="TextBox 37">
              <a:extLst>
                <a:ext uri="{FF2B5EF4-FFF2-40B4-BE49-F238E27FC236}">
                  <a16:creationId xmlns:a16="http://schemas.microsoft.com/office/drawing/2014/main" id="{88F4FAF5-EBE5-4842-BF89-D611549BB646}"/>
                </a:ext>
              </a:extLst>
            </p:cNvPr>
            <p:cNvSpPr txBox="1"/>
            <p:nvPr/>
          </p:nvSpPr>
          <p:spPr>
            <a:xfrm>
              <a:off x="10050547" y="3249116"/>
              <a:ext cx="593432" cy="461665"/>
            </a:xfrm>
            <a:prstGeom prst="rect">
              <a:avLst/>
            </a:prstGeom>
            <a:noFill/>
          </p:spPr>
          <p:txBody>
            <a:bodyPr wrap="none" rtlCol="0">
              <a:spAutoFit/>
            </a:bodyPr>
            <a:lstStyle/>
            <a:p>
              <a:r>
                <a:rPr lang="en-US" sz="2400" dirty="0"/>
                <a:t>③</a:t>
              </a:r>
            </a:p>
          </p:txBody>
        </p:sp>
      </p:grpSp>
      <p:sp>
        <p:nvSpPr>
          <p:cNvPr id="7" name="Rectangle 6">
            <a:extLst>
              <a:ext uri="{FF2B5EF4-FFF2-40B4-BE49-F238E27FC236}">
                <a16:creationId xmlns:a16="http://schemas.microsoft.com/office/drawing/2014/main" id="{A7CD62E5-2191-834B-A806-1FD2D4E12EF6}"/>
              </a:ext>
            </a:extLst>
          </p:cNvPr>
          <p:cNvSpPr/>
          <p:nvPr/>
        </p:nvSpPr>
        <p:spPr>
          <a:xfrm>
            <a:off x="2234166" y="2705354"/>
            <a:ext cx="1252266" cy="523220"/>
          </a:xfrm>
          <a:prstGeom prst="rect">
            <a:avLst/>
          </a:prstGeom>
        </p:spPr>
        <p:txBody>
          <a:bodyPr wrap="none">
            <a:spAutoFit/>
          </a:bodyPr>
          <a:lstStyle/>
          <a:p>
            <a:r>
              <a:rPr lang="en-US" sz="2800" dirty="0"/>
              <a:t>(s,</a:t>
            </a:r>
            <a:r>
              <a:rPr lang="en-US" sz="2800" dirty="0">
                <a:ea typeface="Cambria Math" panose="02040503050406030204" pitchFamily="18" charset="0"/>
              </a:rPr>
              <a:t> |Q⟩</a:t>
            </a:r>
            <a:r>
              <a:rPr lang="en-US" sz="2800" dirty="0"/>
              <a:t>)</a:t>
            </a:r>
          </a:p>
        </p:txBody>
      </p:sp>
      <p:graphicFrame>
        <p:nvGraphicFramePr>
          <p:cNvPr id="18" name="Table 17">
            <a:extLst>
              <a:ext uri="{FF2B5EF4-FFF2-40B4-BE49-F238E27FC236}">
                <a16:creationId xmlns:a16="http://schemas.microsoft.com/office/drawing/2014/main" id="{C6F20D36-9E53-DF45-BD35-C835C7B15BDD}"/>
              </a:ext>
            </a:extLst>
          </p:cNvPr>
          <p:cNvGraphicFramePr>
            <a:graphicFrameLocks noGrp="1"/>
          </p:cNvGraphicFramePr>
          <p:nvPr>
            <p:extLst>
              <p:ext uri="{D42A27DB-BD31-4B8C-83A1-F6EECF244321}">
                <p14:modId xmlns:p14="http://schemas.microsoft.com/office/powerpoint/2010/main" val="3526845959"/>
              </p:ext>
            </p:extLst>
          </p:nvPr>
        </p:nvGraphicFramePr>
        <p:xfrm>
          <a:off x="6813998" y="3717261"/>
          <a:ext cx="1609586" cy="1463040"/>
        </p:xfrm>
        <a:graphic>
          <a:graphicData uri="http://schemas.openxmlformats.org/drawingml/2006/table">
            <a:tbl>
              <a:tblPr firstRow="1" bandRow="1">
                <a:tableStyleId>{F2DE63D5-997A-4646-A377-4702673A728D}</a:tableStyleId>
              </a:tblPr>
              <a:tblGrid>
                <a:gridCol w="699188">
                  <a:extLst>
                    <a:ext uri="{9D8B030D-6E8A-4147-A177-3AD203B41FA5}">
                      <a16:colId xmlns:a16="http://schemas.microsoft.com/office/drawing/2014/main" val="904862516"/>
                    </a:ext>
                  </a:extLst>
                </a:gridCol>
                <a:gridCol w="910398">
                  <a:extLst>
                    <a:ext uri="{9D8B030D-6E8A-4147-A177-3AD203B41FA5}">
                      <a16:colId xmlns:a16="http://schemas.microsoft.com/office/drawing/2014/main" val="2389336763"/>
                    </a:ext>
                  </a:extLst>
                </a:gridCol>
              </a:tblGrid>
              <a:tr h="319671">
                <a:tc>
                  <a:txBody>
                    <a:bodyPr/>
                    <a:lstStyle/>
                    <a:p>
                      <a:pPr algn="ctr"/>
                      <a:r>
                        <a:rPr lang="en-US" dirty="0">
                          <a:solidFill>
                            <a:schemeClr val="tx1"/>
                          </a:solidFill>
                        </a:rPr>
                        <a:t>s</a:t>
                      </a:r>
                    </a:p>
                  </a:txBody>
                  <a:tcPr>
                    <a:solidFill>
                      <a:schemeClr val="accent4">
                        <a:lumMod val="20000"/>
                        <a:lumOff val="80000"/>
                      </a:schemeClr>
                    </a:solidFill>
                  </a:tcPr>
                </a:tc>
                <a:tc>
                  <a:txBody>
                    <a:bodyPr/>
                    <a:lstStyle/>
                    <a:p>
                      <a:pPr algn="ctr"/>
                      <a:r>
                        <a:rPr lang="en-US" sz="1800" dirty="0">
                          <a:solidFill>
                            <a:schemeClr val="tx1"/>
                          </a:solidFill>
                          <a:ea typeface="Cambria Math" panose="02040503050406030204" pitchFamily="18" charset="0"/>
                        </a:rPr>
                        <a:t>|Q⟩</a:t>
                      </a:r>
                      <a:endParaRPr lang="en-US" dirty="0">
                        <a:solidFill>
                          <a:schemeClr val="tx1"/>
                        </a:solidFill>
                      </a:endParaRPr>
                    </a:p>
                  </a:txBody>
                  <a:tcPr>
                    <a:solidFill>
                      <a:schemeClr val="accent4">
                        <a:lumMod val="20000"/>
                        <a:lumOff val="80000"/>
                      </a:schemeClr>
                    </a:solidFill>
                  </a:tcPr>
                </a:tc>
                <a:extLst>
                  <a:ext uri="{0D108BD9-81ED-4DB2-BD59-A6C34878D82A}">
                    <a16:rowId xmlns:a16="http://schemas.microsoft.com/office/drawing/2014/main" val="4193750628"/>
                  </a:ext>
                </a:extLst>
              </a:tr>
              <a:tr h="319671">
                <a:tc>
                  <a:txBody>
                    <a:bodyPr/>
                    <a:lstStyle/>
                    <a:p>
                      <a:pPr algn="ctr"/>
                      <a:r>
                        <a:rPr lang="en-US" dirty="0">
                          <a:solidFill>
                            <a:schemeClr val="tx1"/>
                          </a:solidFill>
                        </a:rPr>
                        <a:t>1234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ea typeface="Cambria Math" panose="02040503050406030204" pitchFamily="18" charset="0"/>
                        </a:rPr>
                        <a:t>|0⟩</a:t>
                      </a:r>
                      <a:endParaRPr lang="en-US" dirty="0">
                        <a:solidFill>
                          <a:schemeClr val="tx1"/>
                        </a:solidFill>
                      </a:endParaRPr>
                    </a:p>
                  </a:txBody>
                  <a:tcPr/>
                </a:tc>
                <a:extLst>
                  <a:ext uri="{0D108BD9-81ED-4DB2-BD59-A6C34878D82A}">
                    <a16:rowId xmlns:a16="http://schemas.microsoft.com/office/drawing/2014/main" val="3342962108"/>
                  </a:ext>
                </a:extLst>
              </a:tr>
              <a:tr h="319671">
                <a:tc>
                  <a:txBody>
                    <a:bodyPr/>
                    <a:lstStyle/>
                    <a:p>
                      <a:pPr algn="ctr"/>
                      <a:r>
                        <a:rPr lang="en-US" dirty="0">
                          <a:solidFill>
                            <a:schemeClr val="tx1"/>
                          </a:solidFill>
                        </a:rPr>
                        <a:t>5678</a:t>
                      </a:r>
                    </a:p>
                  </a:txBody>
                  <a:tcPr/>
                </a:tc>
                <a:tc>
                  <a:txBody>
                    <a:bodyPr/>
                    <a:lstStyle/>
                    <a:p>
                      <a:pPr algn="ctr"/>
                      <a:r>
                        <a:rPr lang="en-US" sz="1800" dirty="0">
                          <a:solidFill>
                            <a:schemeClr val="tx1"/>
                          </a:solidFill>
                          <a:ea typeface="Cambria Math" panose="02040503050406030204" pitchFamily="18" charset="0"/>
                        </a:rPr>
                        <a:t>|+⟩</a:t>
                      </a:r>
                      <a:endParaRPr lang="en-US" dirty="0">
                        <a:solidFill>
                          <a:schemeClr val="tx1"/>
                        </a:solidFill>
                      </a:endParaRPr>
                    </a:p>
                  </a:txBody>
                  <a:tcPr/>
                </a:tc>
                <a:extLst>
                  <a:ext uri="{0D108BD9-81ED-4DB2-BD59-A6C34878D82A}">
                    <a16:rowId xmlns:a16="http://schemas.microsoft.com/office/drawing/2014/main" val="3693205643"/>
                  </a:ext>
                </a:extLst>
              </a:tr>
              <a:tr h="319671">
                <a:tc>
                  <a:txBody>
                    <a:bodyPr/>
                    <a:lstStyle/>
                    <a:p>
                      <a:pPr algn="ctr"/>
                      <a:r>
                        <a:rPr lang="en-US" dirty="0">
                          <a:solidFill>
                            <a:schemeClr val="tx1"/>
                          </a:solidFill>
                        </a:rPr>
                        <a:t>…</a:t>
                      </a:r>
                    </a:p>
                  </a:txBody>
                  <a:tcPr/>
                </a:tc>
                <a:tc>
                  <a:txBody>
                    <a:bodyPr/>
                    <a:lstStyle/>
                    <a:p>
                      <a:pPr algn="ctr"/>
                      <a:r>
                        <a:rPr lang="en-US" dirty="0">
                          <a:solidFill>
                            <a:schemeClr val="tx1"/>
                          </a:solidFill>
                        </a:rPr>
                        <a:t>…</a:t>
                      </a:r>
                    </a:p>
                  </a:txBody>
                  <a:tcPr/>
                </a:tc>
                <a:extLst>
                  <a:ext uri="{0D108BD9-81ED-4DB2-BD59-A6C34878D82A}">
                    <a16:rowId xmlns:a16="http://schemas.microsoft.com/office/drawing/2014/main" val="3546595243"/>
                  </a:ext>
                </a:extLst>
              </a:tr>
            </a:tbl>
          </a:graphicData>
        </a:graphic>
      </p:graphicFrame>
      <p:pic>
        <p:nvPicPr>
          <p:cNvPr id="19" name="Picture 18">
            <a:extLst>
              <a:ext uri="{FF2B5EF4-FFF2-40B4-BE49-F238E27FC236}">
                <a16:creationId xmlns:a16="http://schemas.microsoft.com/office/drawing/2014/main" id="{04B8A57B-B3D2-854C-BE5E-381A6156EC13}"/>
              </a:ext>
            </a:extLst>
          </p:cNvPr>
          <p:cNvPicPr>
            <a:picLocks noChangeAspect="1"/>
          </p:cNvPicPr>
          <p:nvPr/>
        </p:nvPicPr>
        <p:blipFill>
          <a:blip r:embed="rId11"/>
          <a:stretch>
            <a:fillRect/>
          </a:stretch>
        </p:blipFill>
        <p:spPr>
          <a:xfrm>
            <a:off x="8010315" y="4877521"/>
            <a:ext cx="889008" cy="889008"/>
          </a:xfrm>
          <a:prstGeom prst="rect">
            <a:avLst/>
          </a:prstGeom>
        </p:spPr>
      </p:pic>
    </p:spTree>
    <p:extLst>
      <p:ext uri="{BB962C8B-B14F-4D97-AF65-F5344CB8AC3E}">
        <p14:creationId xmlns:p14="http://schemas.microsoft.com/office/powerpoint/2010/main" val="429153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8FE97E5-CD15-9947-A111-D20D392950FA}"/>
              </a:ext>
            </a:extLst>
          </p:cNvPr>
          <p:cNvSpPr>
            <a:spLocks noGrp="1"/>
          </p:cNvSpPr>
          <p:nvPr>
            <p:ph type="sldNum" sz="quarter" idx="12"/>
          </p:nvPr>
        </p:nvSpPr>
        <p:spPr/>
        <p:txBody>
          <a:bodyPr/>
          <a:lstStyle/>
          <a:p>
            <a:fld id="{591A223C-FA10-BC46-A853-03BA373D023C}" type="slidenum">
              <a:rPr lang="en-US" smtClean="0"/>
              <a:t>26</a:t>
            </a:fld>
            <a:endParaRPr lang="en-US"/>
          </a:p>
        </p:txBody>
      </p:sp>
      <p:sp>
        <p:nvSpPr>
          <p:cNvPr id="2" name="Title 1">
            <a:extLst>
              <a:ext uri="{FF2B5EF4-FFF2-40B4-BE49-F238E27FC236}">
                <a16:creationId xmlns:a16="http://schemas.microsoft.com/office/drawing/2014/main" id="{803D8C37-17CC-AC41-86EF-885BDC92804C}"/>
              </a:ext>
            </a:extLst>
          </p:cNvPr>
          <p:cNvSpPr>
            <a:spLocks noGrp="1"/>
          </p:cNvSpPr>
          <p:nvPr>
            <p:ph type="title"/>
          </p:nvPr>
        </p:nvSpPr>
        <p:spPr/>
        <p:txBody>
          <a:bodyPr/>
          <a:lstStyle/>
          <a:p>
            <a:r>
              <a:rPr lang="en-ZA" dirty="0"/>
              <a:t>Encoding a Quantum Banknote</a:t>
            </a:r>
            <a:endParaRPr lang="en-US" dirty="0"/>
          </a:p>
        </p:txBody>
      </p:sp>
      <p:sp>
        <p:nvSpPr>
          <p:cNvPr id="17" name="Oval 16">
            <a:extLst>
              <a:ext uri="{FF2B5EF4-FFF2-40B4-BE49-F238E27FC236}">
                <a16:creationId xmlns:a16="http://schemas.microsoft.com/office/drawing/2014/main" id="{B5C1B752-B25D-A84B-A269-FF6CB2855F17}"/>
              </a:ext>
            </a:extLst>
          </p:cNvPr>
          <p:cNvSpPr>
            <a:spLocks noChangeAspect="1"/>
          </p:cNvSpPr>
          <p:nvPr/>
        </p:nvSpPr>
        <p:spPr>
          <a:xfrm>
            <a:off x="1521447" y="1622343"/>
            <a:ext cx="4413752" cy="441375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A8B5F65A-ED0C-B542-9A54-065B8E927CDB}"/>
              </a:ext>
            </a:extLst>
          </p:cNvPr>
          <p:cNvCxnSpPr>
            <a:cxnSpLocks/>
          </p:cNvCxnSpPr>
          <p:nvPr/>
        </p:nvCxnSpPr>
        <p:spPr>
          <a:xfrm flipH="1">
            <a:off x="1546457" y="3772773"/>
            <a:ext cx="2188763" cy="159800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9E5D58E-1439-6946-884F-8571E1D246D8}"/>
              </a:ext>
            </a:extLst>
          </p:cNvPr>
          <p:cNvCxnSpPr>
            <a:cxnSpLocks/>
          </p:cNvCxnSpPr>
          <p:nvPr/>
        </p:nvCxnSpPr>
        <p:spPr>
          <a:xfrm>
            <a:off x="3746007" y="3783559"/>
            <a:ext cx="2055653" cy="15492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25FD300-3898-D44D-8F36-59D6AE033542}"/>
              </a:ext>
            </a:extLst>
          </p:cNvPr>
          <p:cNvCxnSpPr>
            <a:cxnSpLocks/>
          </p:cNvCxnSpPr>
          <p:nvPr/>
        </p:nvCxnSpPr>
        <p:spPr>
          <a:xfrm flipV="1">
            <a:off x="3735220" y="1250039"/>
            <a:ext cx="0" cy="25227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9C629964-F089-8B4E-8E4F-29772E6A62E4}"/>
              </a:ext>
            </a:extLst>
          </p:cNvPr>
          <p:cNvSpPr/>
          <p:nvPr/>
        </p:nvSpPr>
        <p:spPr>
          <a:xfrm>
            <a:off x="3570174" y="1951360"/>
            <a:ext cx="366532" cy="223311"/>
          </a:xfrm>
          <a:prstGeom prst="ellipse">
            <a:avLst/>
          </a:prstGeom>
          <a:solidFill>
            <a:schemeClr val="accent5">
              <a:lumMod val="75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5E10C8B-741D-2145-9A4D-1655A62A8358}"/>
              </a:ext>
            </a:extLst>
          </p:cNvPr>
          <p:cNvSpPr/>
          <p:nvPr/>
        </p:nvSpPr>
        <p:spPr>
          <a:xfrm>
            <a:off x="3563460" y="5417216"/>
            <a:ext cx="366530" cy="223311"/>
          </a:xfrm>
          <a:prstGeom prst="ellipse">
            <a:avLst/>
          </a:prstGeom>
          <a:solidFill>
            <a:schemeClr val="accent5">
              <a:lumMod val="75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66D3813-89AF-504B-8E61-1D14FF7BC176}"/>
              </a:ext>
            </a:extLst>
          </p:cNvPr>
          <p:cNvSpPr/>
          <p:nvPr/>
        </p:nvSpPr>
        <p:spPr>
          <a:xfrm>
            <a:off x="1546457" y="2620683"/>
            <a:ext cx="4397044" cy="2665689"/>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0901E6F1-0C0E-2142-9980-B50E098F8922}"/>
              </a:ext>
            </a:extLst>
          </p:cNvPr>
          <p:cNvCxnSpPr>
            <a:cxnSpLocks/>
            <a:endCxn id="27" idx="3"/>
          </p:cNvCxnSpPr>
          <p:nvPr/>
        </p:nvCxnSpPr>
        <p:spPr>
          <a:xfrm flipH="1">
            <a:off x="2190389" y="3783559"/>
            <a:ext cx="1555618" cy="1112432"/>
          </a:xfrm>
          <a:prstGeom prst="straightConnector1">
            <a:avLst/>
          </a:prstGeom>
          <a:ln w="1016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4C9D185-FDFD-6C42-99EB-E87C10070FCE}"/>
              </a:ext>
            </a:extLst>
          </p:cNvPr>
          <p:cNvCxnSpPr>
            <a:cxnSpLocks/>
          </p:cNvCxnSpPr>
          <p:nvPr/>
        </p:nvCxnSpPr>
        <p:spPr>
          <a:xfrm flipV="1">
            <a:off x="3760230" y="2862638"/>
            <a:ext cx="1267772" cy="920921"/>
          </a:xfrm>
          <a:prstGeom prst="straightConnector1">
            <a:avLst/>
          </a:prstGeom>
          <a:ln w="101600" cap="rnd">
            <a:solidFill>
              <a:srgbClr val="FF0000">
                <a:alpha val="50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B012958-557F-AD41-A078-76CAF98D5C99}"/>
              </a:ext>
            </a:extLst>
          </p:cNvPr>
          <p:cNvCxnSpPr>
            <a:cxnSpLocks/>
          </p:cNvCxnSpPr>
          <p:nvPr/>
        </p:nvCxnSpPr>
        <p:spPr>
          <a:xfrm flipV="1">
            <a:off x="3744979" y="2021032"/>
            <a:ext cx="0" cy="1764000"/>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19943C4-6120-8148-8B6D-DC2593CEC228}"/>
              </a:ext>
            </a:extLst>
          </p:cNvPr>
          <p:cNvCxnSpPr>
            <a:cxnSpLocks/>
          </p:cNvCxnSpPr>
          <p:nvPr/>
        </p:nvCxnSpPr>
        <p:spPr>
          <a:xfrm>
            <a:off x="3743556" y="3783559"/>
            <a:ext cx="0" cy="1764000"/>
          </a:xfrm>
          <a:prstGeom prst="straightConnector1">
            <a:avLst/>
          </a:prstGeom>
          <a:ln w="101600">
            <a:solidFill>
              <a:schemeClr val="accent1">
                <a:alpha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A09BED97-B3CA-824F-8A90-B32F27610507}"/>
                  </a:ext>
                </a:extLst>
              </p:cNvPr>
              <p:cNvSpPr/>
              <p:nvPr/>
            </p:nvSpPr>
            <p:spPr>
              <a:xfrm>
                <a:off x="3900267" y="1943838"/>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800" i="1">
                              <a:solidFill>
                                <a:schemeClr val="tx1">
                                  <a:lumMod val="65000"/>
                                  <a:lumOff val="35000"/>
                                </a:schemeClr>
                              </a:solidFill>
                              <a:latin typeface="Cambria Math" panose="02040503050406030204" pitchFamily="18" charset="0"/>
                              <a:ea typeface="Cambria Math" panose="02040503050406030204" pitchFamily="18" charset="0"/>
                            </a:rPr>
                            <m:t>0</m:t>
                          </m:r>
                        </m:e>
                      </m:d>
                    </m:oMath>
                  </m:oMathPara>
                </a14:m>
                <a:endParaRPr lang="en-US" sz="2800" dirty="0"/>
              </a:p>
            </p:txBody>
          </p:sp>
        </mc:Choice>
        <mc:Fallback xmlns="">
          <p:sp>
            <p:nvSpPr>
              <p:cNvPr id="39" name="Rectangle 38">
                <a:extLst>
                  <a:ext uri="{FF2B5EF4-FFF2-40B4-BE49-F238E27FC236}">
                    <a16:creationId xmlns:a16="http://schemas.microsoft.com/office/drawing/2014/main" id="{A09BED97-B3CA-824F-8A90-B32F27610507}"/>
                  </a:ext>
                </a:extLst>
              </p:cNvPr>
              <p:cNvSpPr>
                <a:spLocks noRot="1" noChangeAspect="1" noMove="1" noResize="1" noEditPoints="1" noAdjustHandles="1" noChangeArrowheads="1" noChangeShapeType="1" noTextEdit="1"/>
              </p:cNvSpPr>
              <p:nvPr/>
            </p:nvSpPr>
            <p:spPr>
              <a:xfrm>
                <a:off x="3900267" y="1943838"/>
                <a:ext cx="707886"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5E844F8-CD5C-7E4A-A391-B1B180D342B7}"/>
                  </a:ext>
                </a:extLst>
              </p:cNvPr>
              <p:cNvSpPr/>
              <p:nvPr/>
            </p:nvSpPr>
            <p:spPr>
              <a:xfrm>
                <a:off x="3999600" y="5345281"/>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800" b="0" i="1" smtClean="0">
                              <a:solidFill>
                                <a:schemeClr val="tx1">
                                  <a:lumMod val="65000"/>
                                  <a:lumOff val="35000"/>
                                </a:schemeClr>
                              </a:solidFill>
                              <a:latin typeface="Cambria Math" panose="02040503050406030204" pitchFamily="18" charset="0"/>
                              <a:ea typeface="Cambria Math" panose="02040503050406030204" pitchFamily="18" charset="0"/>
                            </a:rPr>
                            <m:t>1</m:t>
                          </m:r>
                        </m:e>
                      </m:d>
                    </m:oMath>
                  </m:oMathPara>
                </a14:m>
                <a:endParaRPr lang="en-US" sz="2800" dirty="0"/>
              </a:p>
            </p:txBody>
          </p:sp>
        </mc:Choice>
        <mc:Fallback xmlns="">
          <p:sp>
            <p:nvSpPr>
              <p:cNvPr id="40" name="Rectangle 39">
                <a:extLst>
                  <a:ext uri="{FF2B5EF4-FFF2-40B4-BE49-F238E27FC236}">
                    <a16:creationId xmlns:a16="http://schemas.microsoft.com/office/drawing/2014/main" id="{75E844F8-CD5C-7E4A-A391-B1B180D342B7}"/>
                  </a:ext>
                </a:extLst>
              </p:cNvPr>
              <p:cNvSpPr>
                <a:spLocks noRot="1" noChangeAspect="1" noMove="1" noResize="1" noEditPoints="1" noAdjustHandles="1" noChangeArrowheads="1" noChangeShapeType="1" noTextEdit="1"/>
              </p:cNvSpPr>
              <p:nvPr/>
            </p:nvSpPr>
            <p:spPr>
              <a:xfrm>
                <a:off x="3999600" y="5345281"/>
                <a:ext cx="707886"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EA3E8117-DF3A-D049-8018-86648F453B0B}"/>
                  </a:ext>
                </a:extLst>
              </p:cNvPr>
              <p:cNvSpPr/>
              <p:nvPr/>
            </p:nvSpPr>
            <p:spPr>
              <a:xfrm>
                <a:off x="5022754" y="2646778"/>
                <a:ext cx="7768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800" b="0" i="1" smtClean="0">
                              <a:solidFill>
                                <a:schemeClr val="tx1">
                                  <a:lumMod val="65000"/>
                                  <a:lumOff val="35000"/>
                                </a:schemeClr>
                              </a:solidFill>
                              <a:latin typeface="Cambria Math" panose="02040503050406030204" pitchFamily="18" charset="0"/>
                              <a:ea typeface="Cambria Math" panose="02040503050406030204" pitchFamily="18" charset="0"/>
                            </a:rPr>
                            <m:t>−</m:t>
                          </m:r>
                        </m:e>
                      </m:d>
                    </m:oMath>
                  </m:oMathPara>
                </a14:m>
                <a:endParaRPr lang="en-US" sz="2800" dirty="0"/>
              </a:p>
            </p:txBody>
          </p:sp>
        </mc:Choice>
        <mc:Fallback xmlns="">
          <p:sp>
            <p:nvSpPr>
              <p:cNvPr id="41" name="Rectangle 40">
                <a:extLst>
                  <a:ext uri="{FF2B5EF4-FFF2-40B4-BE49-F238E27FC236}">
                    <a16:creationId xmlns:a16="http://schemas.microsoft.com/office/drawing/2014/main" id="{EA3E8117-DF3A-D049-8018-86648F453B0B}"/>
                  </a:ext>
                </a:extLst>
              </p:cNvPr>
              <p:cNvSpPr>
                <a:spLocks noRot="1" noChangeAspect="1" noMove="1" noResize="1" noEditPoints="1" noAdjustHandles="1" noChangeArrowheads="1" noChangeShapeType="1" noTextEdit="1"/>
              </p:cNvSpPr>
              <p:nvPr/>
            </p:nvSpPr>
            <p:spPr>
              <a:xfrm>
                <a:off x="5022754" y="2646778"/>
                <a:ext cx="776816"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2150BA5A-6D40-4D41-9B2A-B312D5E4933E}"/>
                  </a:ext>
                </a:extLst>
              </p:cNvPr>
              <p:cNvSpPr/>
              <p:nvPr/>
            </p:nvSpPr>
            <p:spPr>
              <a:xfrm>
                <a:off x="1581250" y="4390218"/>
                <a:ext cx="7768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800" b="0" i="1" smtClean="0">
                              <a:solidFill>
                                <a:schemeClr val="tx1">
                                  <a:lumMod val="65000"/>
                                  <a:lumOff val="35000"/>
                                </a:schemeClr>
                              </a:solidFill>
                              <a:latin typeface="Cambria Math" panose="02040503050406030204" pitchFamily="18" charset="0"/>
                              <a:ea typeface="Cambria Math" panose="02040503050406030204" pitchFamily="18" charset="0"/>
                            </a:rPr>
                            <m:t>+</m:t>
                          </m:r>
                        </m:e>
                      </m:d>
                    </m:oMath>
                  </m:oMathPara>
                </a14:m>
                <a:endParaRPr lang="en-US" sz="2800" dirty="0"/>
              </a:p>
            </p:txBody>
          </p:sp>
        </mc:Choice>
        <mc:Fallback xmlns="">
          <p:sp>
            <p:nvSpPr>
              <p:cNvPr id="42" name="Rectangle 41">
                <a:extLst>
                  <a:ext uri="{FF2B5EF4-FFF2-40B4-BE49-F238E27FC236}">
                    <a16:creationId xmlns:a16="http://schemas.microsoft.com/office/drawing/2014/main" id="{2150BA5A-6D40-4D41-9B2A-B312D5E4933E}"/>
                  </a:ext>
                </a:extLst>
              </p:cNvPr>
              <p:cNvSpPr>
                <a:spLocks noRot="1" noChangeAspect="1" noMove="1" noResize="1" noEditPoints="1" noAdjustHandles="1" noChangeArrowheads="1" noChangeShapeType="1" noTextEdit="1"/>
              </p:cNvSpPr>
              <p:nvPr/>
            </p:nvSpPr>
            <p:spPr>
              <a:xfrm>
                <a:off x="1581250" y="4390218"/>
                <a:ext cx="776816"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5FEC2EFA-35CE-8947-9CDF-B2A654D11044}"/>
                  </a:ext>
                </a:extLst>
              </p:cNvPr>
              <p:cNvSpPr/>
              <p:nvPr/>
            </p:nvSpPr>
            <p:spPr>
              <a:xfrm>
                <a:off x="1544007" y="5286372"/>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𝑥</m:t>
                      </m:r>
                    </m:oMath>
                  </m:oMathPara>
                </a14:m>
                <a:endParaRPr lang="en-US" sz="2400" dirty="0">
                  <a:solidFill>
                    <a:schemeClr val="tx1"/>
                  </a:solidFill>
                </a:endParaRPr>
              </a:p>
            </p:txBody>
          </p:sp>
        </mc:Choice>
        <mc:Fallback xmlns="">
          <p:sp>
            <p:nvSpPr>
              <p:cNvPr id="48" name="Rectangle 47">
                <a:extLst>
                  <a:ext uri="{FF2B5EF4-FFF2-40B4-BE49-F238E27FC236}">
                    <a16:creationId xmlns:a16="http://schemas.microsoft.com/office/drawing/2014/main" id="{5FEC2EFA-35CE-8947-9CDF-B2A654D11044}"/>
                  </a:ext>
                </a:extLst>
              </p:cNvPr>
              <p:cNvSpPr>
                <a:spLocks noRot="1" noChangeAspect="1" noMove="1" noResize="1" noEditPoints="1" noAdjustHandles="1" noChangeArrowheads="1" noChangeShapeType="1" noTextEdit="1"/>
              </p:cNvSpPr>
              <p:nvPr/>
            </p:nvSpPr>
            <p:spPr>
              <a:xfrm>
                <a:off x="1544007" y="5286372"/>
                <a:ext cx="426399"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90F353CF-A170-1E4C-9DB6-99176FAAE6D9}"/>
                  </a:ext>
                </a:extLst>
              </p:cNvPr>
              <p:cNvSpPr/>
              <p:nvPr/>
            </p:nvSpPr>
            <p:spPr>
              <a:xfrm>
                <a:off x="5866974" y="5067206"/>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rPr>
                        <m:t>𝑦</m:t>
                      </m:r>
                    </m:oMath>
                  </m:oMathPara>
                </a14:m>
                <a:endParaRPr lang="en-US" sz="2400" dirty="0">
                  <a:solidFill>
                    <a:schemeClr val="tx1"/>
                  </a:solidFill>
                </a:endParaRPr>
              </a:p>
            </p:txBody>
          </p:sp>
        </mc:Choice>
        <mc:Fallback xmlns="">
          <p:sp>
            <p:nvSpPr>
              <p:cNvPr id="49" name="Rectangle 48">
                <a:extLst>
                  <a:ext uri="{FF2B5EF4-FFF2-40B4-BE49-F238E27FC236}">
                    <a16:creationId xmlns:a16="http://schemas.microsoft.com/office/drawing/2014/main" id="{90F353CF-A170-1E4C-9DB6-99176FAAE6D9}"/>
                  </a:ext>
                </a:extLst>
              </p:cNvPr>
              <p:cNvSpPr>
                <a:spLocks noRot="1" noChangeAspect="1" noMove="1" noResize="1" noEditPoints="1" noAdjustHandles="1" noChangeArrowheads="1" noChangeShapeType="1" noTextEdit="1"/>
              </p:cNvSpPr>
              <p:nvPr/>
            </p:nvSpPr>
            <p:spPr>
              <a:xfrm>
                <a:off x="5866974" y="5067206"/>
                <a:ext cx="430374" cy="461665"/>
              </a:xfrm>
              <a:prstGeom prst="rect">
                <a:avLst/>
              </a:prstGeom>
              <a:blipFill>
                <a:blip r:embed="rId9"/>
                <a:stretch>
                  <a:fillRect b="-810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A76AC02-FD51-714A-A119-23133818BBEC}"/>
              </a:ext>
            </a:extLst>
          </p:cNvPr>
          <p:cNvSpPr txBox="1"/>
          <p:nvPr/>
        </p:nvSpPr>
        <p:spPr>
          <a:xfrm>
            <a:off x="1211659" y="2137936"/>
            <a:ext cx="184731" cy="369332"/>
          </a:xfrm>
          <a:prstGeom prst="rect">
            <a:avLst/>
          </a:prstGeom>
          <a:noFill/>
        </p:spPr>
        <p:txBody>
          <a:bodyPr wrap="none" rtlCol="0">
            <a:spAutoFit/>
          </a:bodyPr>
          <a:lstStyle/>
          <a:p>
            <a:endParaRPr lang="en-US" dirty="0"/>
          </a:p>
        </p:txBody>
      </p:sp>
      <p:grpSp>
        <p:nvGrpSpPr>
          <p:cNvPr id="8" name="Group 7">
            <a:extLst>
              <a:ext uri="{FF2B5EF4-FFF2-40B4-BE49-F238E27FC236}">
                <a16:creationId xmlns:a16="http://schemas.microsoft.com/office/drawing/2014/main" id="{C51D9814-9E04-3741-9E49-690B616083BB}"/>
              </a:ext>
            </a:extLst>
          </p:cNvPr>
          <p:cNvGrpSpPr/>
          <p:nvPr/>
        </p:nvGrpSpPr>
        <p:grpSpPr>
          <a:xfrm>
            <a:off x="319227" y="1022453"/>
            <a:ext cx="8376309" cy="5254236"/>
            <a:chOff x="319227" y="1022453"/>
            <a:chExt cx="8376309" cy="5254236"/>
          </a:xfrm>
        </p:grpSpPr>
        <p:sp>
          <p:nvSpPr>
            <p:cNvPr id="43" name="TextBox 42">
              <a:extLst>
                <a:ext uri="{FF2B5EF4-FFF2-40B4-BE49-F238E27FC236}">
                  <a16:creationId xmlns:a16="http://schemas.microsoft.com/office/drawing/2014/main" id="{7BC08B0D-CB1F-8543-B450-62B3C8DB8076}"/>
                </a:ext>
              </a:extLst>
            </p:cNvPr>
            <p:cNvSpPr txBox="1"/>
            <p:nvPr/>
          </p:nvSpPr>
          <p:spPr>
            <a:xfrm>
              <a:off x="4625191" y="1022453"/>
              <a:ext cx="4070345" cy="400110"/>
            </a:xfrm>
            <a:prstGeom prst="rect">
              <a:avLst/>
            </a:prstGeom>
            <a:solidFill>
              <a:schemeClr val="accent1">
                <a:lumMod val="20000"/>
                <a:lumOff val="80000"/>
              </a:schemeClr>
            </a:solidFill>
          </p:spPr>
          <p:txBody>
            <a:bodyPr wrap="none" rtlCol="0">
              <a:spAutoFit/>
            </a:bodyPr>
            <a:lstStyle/>
            <a:p>
              <a:r>
                <a:rPr lang="en-ZA" sz="2000" dirty="0">
                  <a:latin typeface="Comic Sans MS" panose="030F0902030302020204" pitchFamily="66" charset="0"/>
                </a:rPr>
                <a:t>qubit state encoded by bits</a:t>
              </a:r>
              <a:r>
                <a:rPr lang="en-US" sz="2000" dirty="0">
                  <a:latin typeface="Comic Sans MS" panose="030F0902030302020204" pitchFamily="66" charset="0"/>
                </a:rPr>
                <a:t> </a:t>
              </a:r>
              <a:r>
                <a:rPr lang="en-US" sz="2000" b="1" dirty="0">
                  <a:latin typeface="Comic Sans MS" panose="030F0902030302020204" pitchFamily="66" charset="0"/>
                </a:rPr>
                <a:t>b</a:t>
              </a:r>
              <a:r>
                <a:rPr lang="en-US" sz="2000" b="1" baseline="-25000" dirty="0">
                  <a:latin typeface="Comic Sans MS" panose="030F0902030302020204" pitchFamily="66" charset="0"/>
                </a:rPr>
                <a:t>1</a:t>
              </a:r>
              <a:r>
                <a:rPr lang="en-US" sz="2000" b="1" dirty="0">
                  <a:latin typeface="Comic Sans MS" panose="030F0902030302020204" pitchFamily="66" charset="0"/>
                </a:rPr>
                <a:t>b</a:t>
              </a:r>
              <a:r>
                <a:rPr lang="en-US" sz="2000" b="1" baseline="-25000" dirty="0">
                  <a:latin typeface="Comic Sans MS" panose="030F0902030302020204" pitchFamily="66" charset="0"/>
                </a:rPr>
                <a:t>2</a:t>
              </a:r>
              <a:endParaRPr lang="en-US" sz="2000" b="1" dirty="0">
                <a:latin typeface="Comic Sans MS" panose="030F0902030302020204" pitchFamily="66" charset="0"/>
              </a:endParaRPr>
            </a:p>
          </p:txBody>
        </p:sp>
        <p:sp>
          <p:nvSpPr>
            <p:cNvPr id="26" name="Rectangle 25">
              <a:extLst>
                <a:ext uri="{FF2B5EF4-FFF2-40B4-BE49-F238E27FC236}">
                  <a16:creationId xmlns:a16="http://schemas.microsoft.com/office/drawing/2014/main" id="{0E8EF573-C789-A94A-99AB-E5BEF598D9A3}"/>
                </a:ext>
              </a:extLst>
            </p:cNvPr>
            <p:cNvSpPr/>
            <p:nvPr/>
          </p:nvSpPr>
          <p:spPr>
            <a:xfrm>
              <a:off x="319227" y="5876579"/>
              <a:ext cx="3324949" cy="400110"/>
            </a:xfrm>
            <a:prstGeom prst="rect">
              <a:avLst/>
            </a:prstGeom>
            <a:solidFill>
              <a:schemeClr val="accent2">
                <a:lumMod val="20000"/>
                <a:lumOff val="80000"/>
              </a:schemeClr>
            </a:solidFill>
          </p:spPr>
          <p:txBody>
            <a:bodyPr wrap="none">
              <a:spAutoFit/>
            </a:bodyPr>
            <a:lstStyle/>
            <a:p>
              <a:r>
                <a:rPr lang="en-ZA" sz="2000" dirty="0">
                  <a:latin typeface="Comic Sans MS" panose="030F0902030302020204" pitchFamily="66" charset="0"/>
                </a:rPr>
                <a:t>x-axis is encoded as b</a:t>
              </a:r>
              <a:r>
                <a:rPr lang="en-ZA" sz="2000" baseline="-25000" dirty="0">
                  <a:latin typeface="Comic Sans MS" panose="030F0902030302020204" pitchFamily="66" charset="0"/>
                </a:rPr>
                <a:t>2</a:t>
              </a:r>
              <a:r>
                <a:rPr lang="en-ZA" sz="2000" dirty="0">
                  <a:latin typeface="Comic Sans MS" panose="030F0902030302020204" pitchFamily="66" charset="0"/>
                </a:rPr>
                <a:t> = 1</a:t>
              </a:r>
              <a:endParaRPr lang="en-US" sz="2000" dirty="0">
                <a:latin typeface="Comic Sans MS" panose="030F0902030302020204" pitchFamily="66" charset="0"/>
              </a:endParaRP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A5ED5E5-43AB-124C-80C1-DB79FCFA2D76}"/>
                    </a:ext>
                  </a:extLst>
                </p:cNvPr>
                <p:cNvSpPr/>
                <p:nvPr/>
              </p:nvSpPr>
              <p:spPr>
                <a:xfrm>
                  <a:off x="2955600" y="2335130"/>
                  <a:ext cx="79861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ea typeface="Cambria Math" panose="02040503050406030204" pitchFamily="18" charset="0"/>
                          </a:rPr>
                          <m:t>0</m:t>
                        </m:r>
                        <m:r>
                          <a:rPr lang="en-US" sz="3600" b="0" i="1" smtClean="0">
                            <a:solidFill>
                              <a:srgbClr val="0000FF"/>
                            </a:solidFill>
                            <a:latin typeface="Cambria Math" panose="02040503050406030204" pitchFamily="18" charset="0"/>
                            <a:ea typeface="Cambria Math" panose="02040503050406030204" pitchFamily="18" charset="0"/>
                          </a:rPr>
                          <m:t>0</m:t>
                        </m:r>
                      </m:oMath>
                    </m:oMathPara>
                  </a14:m>
                  <a:endParaRPr lang="en-US" sz="3600" dirty="0"/>
                </a:p>
              </p:txBody>
            </p:sp>
          </mc:Choice>
          <mc:Fallback xmlns="">
            <p:sp>
              <p:nvSpPr>
                <p:cNvPr id="28" name="Rectangle 27">
                  <a:extLst>
                    <a:ext uri="{FF2B5EF4-FFF2-40B4-BE49-F238E27FC236}">
                      <a16:creationId xmlns:a16="http://schemas.microsoft.com/office/drawing/2014/main" id="{0A5ED5E5-43AB-124C-80C1-DB79FCFA2D76}"/>
                    </a:ext>
                  </a:extLst>
                </p:cNvPr>
                <p:cNvSpPr>
                  <a:spLocks noRot="1" noChangeAspect="1" noMove="1" noResize="1" noEditPoints="1" noAdjustHandles="1" noChangeArrowheads="1" noChangeShapeType="1" noTextEdit="1"/>
                </p:cNvSpPr>
                <p:nvPr/>
              </p:nvSpPr>
              <p:spPr>
                <a:xfrm>
                  <a:off x="2955600" y="2335130"/>
                  <a:ext cx="798617" cy="646331"/>
                </a:xfrm>
                <a:prstGeom prst="rect">
                  <a:avLst/>
                </a:prstGeom>
                <a:blipFill>
                  <a:blip r:embed="rId12"/>
                  <a:stretch>
                    <a:fillRect l="-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AFC38F54-CA01-9C41-B65B-735FCFE25523}"/>
                    </a:ext>
                  </a:extLst>
                </p:cNvPr>
                <p:cNvSpPr/>
                <p:nvPr/>
              </p:nvSpPr>
              <p:spPr>
                <a:xfrm>
                  <a:off x="2555195" y="4487564"/>
                  <a:ext cx="79861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ea typeface="Cambria Math" panose="02040503050406030204" pitchFamily="18" charset="0"/>
                          </a:rPr>
                          <m:t>0</m:t>
                        </m:r>
                        <m:r>
                          <a:rPr lang="en-US" sz="3600" b="0" i="1" smtClean="0">
                            <a:solidFill>
                              <a:srgbClr val="FF0000"/>
                            </a:solidFill>
                            <a:latin typeface="Cambria Math" panose="02040503050406030204" pitchFamily="18" charset="0"/>
                            <a:ea typeface="Cambria Math" panose="02040503050406030204" pitchFamily="18" charset="0"/>
                          </a:rPr>
                          <m:t>1</m:t>
                        </m:r>
                      </m:oMath>
                    </m:oMathPara>
                  </a14:m>
                  <a:endParaRPr lang="en-US" sz="3600" dirty="0"/>
                </a:p>
              </p:txBody>
            </p:sp>
          </mc:Choice>
          <mc:Fallback xmlns="">
            <p:sp>
              <p:nvSpPr>
                <p:cNvPr id="30" name="Rectangle 29">
                  <a:extLst>
                    <a:ext uri="{FF2B5EF4-FFF2-40B4-BE49-F238E27FC236}">
                      <a16:creationId xmlns:a16="http://schemas.microsoft.com/office/drawing/2014/main" id="{AFC38F54-CA01-9C41-B65B-735FCFE25523}"/>
                    </a:ext>
                  </a:extLst>
                </p:cNvPr>
                <p:cNvSpPr>
                  <a:spLocks noRot="1" noChangeAspect="1" noMove="1" noResize="1" noEditPoints="1" noAdjustHandles="1" noChangeArrowheads="1" noChangeShapeType="1" noTextEdit="1"/>
                </p:cNvSpPr>
                <p:nvPr/>
              </p:nvSpPr>
              <p:spPr>
                <a:xfrm>
                  <a:off x="2555195" y="4487564"/>
                  <a:ext cx="798616" cy="64633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23F37948-5769-0B44-8C15-6B8064931AC7}"/>
                    </a:ext>
                  </a:extLst>
                </p:cNvPr>
                <p:cNvSpPr/>
                <p:nvPr/>
              </p:nvSpPr>
              <p:spPr>
                <a:xfrm>
                  <a:off x="4508312" y="3080276"/>
                  <a:ext cx="79861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ea typeface="Cambria Math" panose="02040503050406030204" pitchFamily="18" charset="0"/>
                          </a:rPr>
                          <m:t>1</m:t>
                        </m:r>
                        <m:r>
                          <a:rPr lang="en-US" sz="3600" b="0" i="1" smtClean="0">
                            <a:solidFill>
                              <a:srgbClr val="FF0000"/>
                            </a:solidFill>
                            <a:latin typeface="Cambria Math" panose="02040503050406030204" pitchFamily="18" charset="0"/>
                            <a:ea typeface="Cambria Math" panose="02040503050406030204" pitchFamily="18" charset="0"/>
                          </a:rPr>
                          <m:t>1</m:t>
                        </m:r>
                      </m:oMath>
                    </m:oMathPara>
                  </a14:m>
                  <a:endParaRPr lang="en-US" sz="3600" dirty="0"/>
                </a:p>
              </p:txBody>
            </p:sp>
          </mc:Choice>
          <mc:Fallback xmlns="">
            <p:sp>
              <p:nvSpPr>
                <p:cNvPr id="31" name="Rectangle 30">
                  <a:extLst>
                    <a:ext uri="{FF2B5EF4-FFF2-40B4-BE49-F238E27FC236}">
                      <a16:creationId xmlns:a16="http://schemas.microsoft.com/office/drawing/2014/main" id="{23F37948-5769-0B44-8C15-6B8064931AC7}"/>
                    </a:ext>
                  </a:extLst>
                </p:cNvPr>
                <p:cNvSpPr>
                  <a:spLocks noRot="1" noChangeAspect="1" noMove="1" noResize="1" noEditPoints="1" noAdjustHandles="1" noChangeArrowheads="1" noChangeShapeType="1" noTextEdit="1"/>
                </p:cNvSpPr>
                <p:nvPr/>
              </p:nvSpPr>
              <p:spPr>
                <a:xfrm>
                  <a:off x="4508312" y="3080276"/>
                  <a:ext cx="798616" cy="646331"/>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ACFAD48-320F-7148-8565-D6E271155253}"/>
                    </a:ext>
                  </a:extLst>
                </p:cNvPr>
                <p:cNvSpPr txBox="1"/>
                <p:nvPr/>
              </p:nvSpPr>
              <p:spPr>
                <a:xfrm>
                  <a:off x="1022290" y="1943829"/>
                  <a:ext cx="1415196" cy="430887"/>
                </a:xfrm>
                <a:prstGeom prst="rect">
                  <a:avLst/>
                </a:prstGeom>
                <a:noFill/>
              </p:spPr>
              <p:txBody>
                <a:bodyPr wrap="none" rtlCol="0">
                  <a:spAutoFit/>
                </a:bodyPr>
                <a:lstStyle/>
                <a:p>
                  <a:r>
                    <a:rPr lang="en-US" sz="2200" dirty="0">
                      <a:latin typeface="Comic Sans MS" panose="030F0902030302020204" pitchFamily="66" charset="0"/>
                    </a:rPr>
                    <a:t>qubit (</a:t>
                  </a:r>
                  <a14:m>
                    <m:oMath xmlns:m="http://schemas.openxmlformats.org/officeDocument/2006/math">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𝑏</m:t>
                          </m:r>
                        </m:e>
                        <m:sub>
                          <m:r>
                            <a:rPr lang="sr-Latn-RS" sz="2200" b="0" i="1" smtClean="0">
                              <a:latin typeface="Cambria Math" panose="02040503050406030204" pitchFamily="18" charset="0"/>
                              <a:ea typeface="Cambria Math" panose="02040503050406030204" pitchFamily="18" charset="0"/>
                            </a:rPr>
                            <m:t>1</m:t>
                          </m:r>
                        </m:sub>
                      </m:sSub>
                    </m:oMath>
                  </a14:m>
                  <a:r>
                    <a:rPr lang="en-US" sz="2200" dirty="0">
                      <a:latin typeface="Comic Sans MS" panose="030F0902030302020204" pitchFamily="66" charset="0"/>
                    </a:rPr>
                    <a:t>)</a:t>
                  </a:r>
                </a:p>
              </p:txBody>
            </p:sp>
          </mc:Choice>
          <mc:Fallback xmlns="">
            <p:sp>
              <p:nvSpPr>
                <p:cNvPr id="36" name="TextBox 35">
                  <a:extLst>
                    <a:ext uri="{FF2B5EF4-FFF2-40B4-BE49-F238E27FC236}">
                      <a16:creationId xmlns:a16="http://schemas.microsoft.com/office/drawing/2014/main" id="{8ACFAD48-320F-7148-8565-D6E271155253}"/>
                    </a:ext>
                  </a:extLst>
                </p:cNvPr>
                <p:cNvSpPr txBox="1">
                  <a:spLocks noRot="1" noChangeAspect="1" noMove="1" noResize="1" noEditPoints="1" noAdjustHandles="1" noChangeArrowheads="1" noChangeShapeType="1" noTextEdit="1"/>
                </p:cNvSpPr>
                <p:nvPr/>
              </p:nvSpPr>
              <p:spPr>
                <a:xfrm>
                  <a:off x="1022290" y="1943829"/>
                  <a:ext cx="1415196" cy="430887"/>
                </a:xfrm>
                <a:prstGeom prst="rect">
                  <a:avLst/>
                </a:prstGeom>
                <a:blipFill>
                  <a:blip r:embed="rId15"/>
                  <a:stretch>
                    <a:fillRect l="-4425" t="-8571" r="-3540" b="-2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D3EFE75-A703-BB41-A0CB-93AD86BB1C58}"/>
                    </a:ext>
                  </a:extLst>
                </p:cNvPr>
                <p:cNvSpPr txBox="1"/>
                <p:nvPr/>
              </p:nvSpPr>
              <p:spPr>
                <a:xfrm>
                  <a:off x="1566436" y="3114168"/>
                  <a:ext cx="1360822" cy="430887"/>
                </a:xfrm>
                <a:prstGeom prst="rect">
                  <a:avLst/>
                </a:prstGeom>
                <a:noFill/>
              </p:spPr>
              <p:txBody>
                <a:bodyPr wrap="none" rtlCol="0">
                  <a:spAutoFit/>
                </a:bodyPr>
                <a:lstStyle/>
                <a:p>
                  <a:r>
                    <a:rPr lang="en-US" sz="2200" dirty="0">
                      <a:latin typeface="Comic Sans MS" panose="030F0902030302020204" pitchFamily="66" charset="0"/>
                    </a:rPr>
                    <a:t>axis  (</a:t>
                  </a:r>
                  <a14:m>
                    <m:oMath xmlns:m="http://schemas.openxmlformats.org/officeDocument/2006/math">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𝑏</m:t>
                          </m:r>
                        </m:e>
                        <m:sub>
                          <m:r>
                            <a:rPr lang="sr-Latn-RS" sz="2200" b="0" i="1" smtClean="0">
                              <a:latin typeface="Cambria Math" panose="02040503050406030204" pitchFamily="18" charset="0"/>
                              <a:ea typeface="Cambria Math" panose="02040503050406030204" pitchFamily="18" charset="0"/>
                            </a:rPr>
                            <m:t>2</m:t>
                          </m:r>
                        </m:sub>
                      </m:sSub>
                    </m:oMath>
                  </a14:m>
                  <a:r>
                    <a:rPr lang="en-US" sz="2200" dirty="0">
                      <a:latin typeface="Comic Sans MS" panose="030F0902030302020204" pitchFamily="66" charset="0"/>
                    </a:rPr>
                    <a:t>)</a:t>
                  </a:r>
                </a:p>
              </p:txBody>
            </p:sp>
          </mc:Choice>
          <mc:Fallback xmlns="">
            <p:sp>
              <p:nvSpPr>
                <p:cNvPr id="37" name="TextBox 36">
                  <a:extLst>
                    <a:ext uri="{FF2B5EF4-FFF2-40B4-BE49-F238E27FC236}">
                      <a16:creationId xmlns:a16="http://schemas.microsoft.com/office/drawing/2014/main" id="{7D3EFE75-A703-BB41-A0CB-93AD86BB1C58}"/>
                    </a:ext>
                  </a:extLst>
                </p:cNvPr>
                <p:cNvSpPr txBox="1">
                  <a:spLocks noRot="1" noChangeAspect="1" noMove="1" noResize="1" noEditPoints="1" noAdjustHandles="1" noChangeArrowheads="1" noChangeShapeType="1" noTextEdit="1"/>
                </p:cNvSpPr>
                <p:nvPr/>
              </p:nvSpPr>
              <p:spPr>
                <a:xfrm>
                  <a:off x="1566436" y="3114168"/>
                  <a:ext cx="1360822" cy="430887"/>
                </a:xfrm>
                <a:prstGeom prst="rect">
                  <a:avLst/>
                </a:prstGeom>
                <a:blipFill>
                  <a:blip r:embed="rId16"/>
                  <a:stretch>
                    <a:fillRect l="-4630" t="-8571" r="-4630" b="-25714"/>
                  </a:stretch>
                </a:blipFill>
              </p:spPr>
              <p:txBody>
                <a:bodyPr/>
                <a:lstStyle/>
                <a:p>
                  <a:r>
                    <a:rPr lang="en-US">
                      <a:noFill/>
                    </a:rPr>
                    <a:t> </a:t>
                  </a:r>
                </a:p>
              </p:txBody>
            </p:sp>
          </mc:Fallback>
        </mc:AlternateContent>
        <p:sp>
          <p:nvSpPr>
            <p:cNvPr id="5" name="Arc 4">
              <a:extLst>
                <a:ext uri="{FF2B5EF4-FFF2-40B4-BE49-F238E27FC236}">
                  <a16:creationId xmlns:a16="http://schemas.microsoft.com/office/drawing/2014/main" id="{47046CEB-5486-B540-83FB-D12E064EE74A}"/>
                </a:ext>
              </a:extLst>
            </p:cNvPr>
            <p:cNvSpPr/>
            <p:nvPr/>
          </p:nvSpPr>
          <p:spPr>
            <a:xfrm>
              <a:off x="1953283" y="2233302"/>
              <a:ext cx="1108272" cy="478458"/>
            </a:xfrm>
            <a:prstGeom prst="arc">
              <a:avLst/>
            </a:prstGeom>
            <a:ln w="25400">
              <a:solidFill>
                <a:schemeClr val="bg1">
                  <a:lumMod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a:extLst>
                <a:ext uri="{FF2B5EF4-FFF2-40B4-BE49-F238E27FC236}">
                  <a16:creationId xmlns:a16="http://schemas.microsoft.com/office/drawing/2014/main" id="{164C6CA2-9880-8B41-8E63-6166296AE7CD}"/>
                </a:ext>
              </a:extLst>
            </p:cNvPr>
            <p:cNvSpPr/>
            <p:nvPr/>
          </p:nvSpPr>
          <p:spPr>
            <a:xfrm flipV="1">
              <a:off x="2388959" y="2792836"/>
              <a:ext cx="1108272" cy="478458"/>
            </a:xfrm>
            <a:prstGeom prst="arc">
              <a:avLst/>
            </a:prstGeom>
            <a:ln w="25400">
              <a:solidFill>
                <a:schemeClr val="bg1">
                  <a:lumMod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83416EF3-1A74-A146-AA78-56D6D9C6BC3B}"/>
                    </a:ext>
                  </a:extLst>
                </p:cNvPr>
                <p:cNvSpPr/>
                <p:nvPr/>
              </p:nvSpPr>
              <p:spPr>
                <a:xfrm>
                  <a:off x="3711936" y="4352564"/>
                  <a:ext cx="798616"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ea typeface="Cambria Math" panose="02040503050406030204" pitchFamily="18" charset="0"/>
                          </a:rPr>
                          <m:t>1</m:t>
                        </m:r>
                        <m:r>
                          <a:rPr lang="en-US" sz="3600" b="0" i="1" smtClean="0">
                            <a:solidFill>
                              <a:srgbClr val="0000FF"/>
                            </a:solidFill>
                            <a:latin typeface="Cambria Math" panose="02040503050406030204" pitchFamily="18" charset="0"/>
                            <a:ea typeface="Cambria Math" panose="02040503050406030204" pitchFamily="18" charset="0"/>
                          </a:rPr>
                          <m:t>0</m:t>
                        </m:r>
                      </m:oMath>
                    </m:oMathPara>
                  </a14:m>
                  <a:endParaRPr lang="en-US" sz="3600" dirty="0"/>
                </a:p>
              </p:txBody>
            </p:sp>
          </mc:Choice>
          <mc:Fallback xmlns="">
            <p:sp>
              <p:nvSpPr>
                <p:cNvPr id="57" name="Rectangle 56">
                  <a:extLst>
                    <a:ext uri="{FF2B5EF4-FFF2-40B4-BE49-F238E27FC236}">
                      <a16:creationId xmlns:a16="http://schemas.microsoft.com/office/drawing/2014/main" id="{83416EF3-1A74-A146-AA78-56D6D9C6BC3B}"/>
                    </a:ext>
                  </a:extLst>
                </p:cNvPr>
                <p:cNvSpPr>
                  <a:spLocks noRot="1" noChangeAspect="1" noMove="1" noResize="1" noEditPoints="1" noAdjustHandles="1" noChangeArrowheads="1" noChangeShapeType="1" noTextEdit="1"/>
                </p:cNvSpPr>
                <p:nvPr/>
              </p:nvSpPr>
              <p:spPr>
                <a:xfrm>
                  <a:off x="3711936" y="4352564"/>
                  <a:ext cx="798616" cy="646331"/>
                </a:xfrm>
                <a:prstGeom prst="rect">
                  <a:avLst/>
                </a:prstGeom>
                <a:blipFill>
                  <a:blip r:embed="rId17"/>
                  <a:stretch>
                    <a:fillRect/>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5CF619DD-813D-4D46-BEE7-B34580423D05}"/>
              </a:ext>
            </a:extLst>
          </p:cNvPr>
          <p:cNvGrpSpPr/>
          <p:nvPr/>
        </p:nvGrpSpPr>
        <p:grpSpPr>
          <a:xfrm>
            <a:off x="7088582" y="1428093"/>
            <a:ext cx="3506169" cy="4635988"/>
            <a:chOff x="7088582" y="1428093"/>
            <a:chExt cx="3506169" cy="4635988"/>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D6D079C-0C7A-D74C-88A1-663514CE9C37}"/>
                    </a:ext>
                  </a:extLst>
                </p:cNvPr>
                <p:cNvSpPr/>
                <p:nvPr/>
              </p:nvSpPr>
              <p:spPr>
                <a:xfrm>
                  <a:off x="7088582" y="3272693"/>
                  <a:ext cx="737381"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𝑏</m:t>
                            </m:r>
                          </m:e>
                          <m:sub>
                            <m:r>
                              <a:rPr lang="en-US" sz="3600" i="1">
                                <a:latin typeface="Cambria Math" panose="02040503050406030204" pitchFamily="18" charset="0"/>
                                <a:ea typeface="Cambria Math" panose="02040503050406030204" pitchFamily="18" charset="0"/>
                              </a:rPr>
                              <m:t>2</m:t>
                            </m:r>
                          </m:sub>
                        </m:sSub>
                      </m:oMath>
                    </m:oMathPara>
                  </a14:m>
                  <a:endParaRPr lang="en-US" sz="3600" dirty="0"/>
                </a:p>
              </p:txBody>
            </p:sp>
          </mc:Choice>
          <mc:Fallback xmlns="">
            <p:sp>
              <p:nvSpPr>
                <p:cNvPr id="7" name="Rectangle 6">
                  <a:extLst>
                    <a:ext uri="{FF2B5EF4-FFF2-40B4-BE49-F238E27FC236}">
                      <a16:creationId xmlns:a16="http://schemas.microsoft.com/office/drawing/2014/main" id="{FD6D079C-0C7A-D74C-88A1-663514CE9C37}"/>
                    </a:ext>
                  </a:extLst>
                </p:cNvPr>
                <p:cNvSpPr>
                  <a:spLocks noRot="1" noChangeAspect="1" noMove="1" noResize="1" noEditPoints="1" noAdjustHandles="1" noChangeArrowheads="1" noChangeShapeType="1" noTextEdit="1"/>
                </p:cNvSpPr>
                <p:nvPr/>
              </p:nvSpPr>
              <p:spPr>
                <a:xfrm>
                  <a:off x="7088582" y="3272693"/>
                  <a:ext cx="737381" cy="646331"/>
                </a:xfrm>
                <a:prstGeom prst="rect">
                  <a:avLst/>
                </a:prstGeom>
                <a:blipFill>
                  <a:blip r:embed="rId18"/>
                  <a:stretch>
                    <a:fillRect l="-1695" b="-3846"/>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A595683C-C688-6F44-A85A-EAE32877DD78}"/>
                </a:ext>
              </a:extLst>
            </p:cNvPr>
            <p:cNvCxnSpPr>
              <a:cxnSpLocks/>
            </p:cNvCxnSpPr>
            <p:nvPr/>
          </p:nvCxnSpPr>
          <p:spPr>
            <a:xfrm flipV="1">
              <a:off x="7671385" y="2762220"/>
              <a:ext cx="698037" cy="55691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E306C08-CF92-D043-BC8F-76C0EFD106B1}"/>
                </a:ext>
              </a:extLst>
            </p:cNvPr>
            <p:cNvCxnSpPr>
              <a:cxnSpLocks/>
            </p:cNvCxnSpPr>
            <p:nvPr/>
          </p:nvCxnSpPr>
          <p:spPr>
            <a:xfrm>
              <a:off x="7659913" y="4107646"/>
              <a:ext cx="698037" cy="50628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6008686-506A-3742-9EDF-7220EC4931E2}"/>
                    </a:ext>
                  </a:extLst>
                </p:cNvPr>
                <p:cNvSpPr/>
                <p:nvPr/>
              </p:nvSpPr>
              <p:spPr>
                <a:xfrm>
                  <a:off x="7440304" y="2402159"/>
                  <a:ext cx="543739" cy="710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ea typeface="Cambria Math" panose="02040503050406030204" pitchFamily="18" charset="0"/>
                          </a:rPr>
                          <m:t>0</m:t>
                        </m:r>
                      </m:oMath>
                    </m:oMathPara>
                  </a14:m>
                  <a:endParaRPr lang="en-US" sz="3600" dirty="0"/>
                </a:p>
              </p:txBody>
            </p:sp>
          </mc:Choice>
          <mc:Fallback xmlns="">
            <p:sp>
              <p:nvSpPr>
                <p:cNvPr id="13" name="Rectangle 12">
                  <a:extLst>
                    <a:ext uri="{FF2B5EF4-FFF2-40B4-BE49-F238E27FC236}">
                      <a16:creationId xmlns:a16="http://schemas.microsoft.com/office/drawing/2014/main" id="{E6008686-506A-3742-9EDF-7220EC4931E2}"/>
                    </a:ext>
                  </a:extLst>
                </p:cNvPr>
                <p:cNvSpPr>
                  <a:spLocks noRot="1" noChangeAspect="1" noMove="1" noResize="1" noEditPoints="1" noAdjustHandles="1" noChangeArrowheads="1" noChangeShapeType="1" noTextEdit="1"/>
                </p:cNvSpPr>
                <p:nvPr/>
              </p:nvSpPr>
              <p:spPr>
                <a:xfrm>
                  <a:off x="7440304" y="2402159"/>
                  <a:ext cx="543739" cy="710964"/>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F4C55063-29E9-9140-9877-4631FC6FCBDE}"/>
                    </a:ext>
                  </a:extLst>
                </p:cNvPr>
                <p:cNvSpPr/>
                <p:nvPr/>
              </p:nvSpPr>
              <p:spPr>
                <a:xfrm>
                  <a:off x="7465192" y="4345966"/>
                  <a:ext cx="54373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1</m:t>
                        </m:r>
                      </m:oMath>
                    </m:oMathPara>
                  </a14:m>
                  <a:endParaRPr lang="en-US" sz="3600" dirty="0"/>
                </a:p>
              </p:txBody>
            </p:sp>
          </mc:Choice>
          <mc:Fallback xmlns="">
            <p:sp>
              <p:nvSpPr>
                <p:cNvPr id="46" name="Rectangle 45">
                  <a:extLst>
                    <a:ext uri="{FF2B5EF4-FFF2-40B4-BE49-F238E27FC236}">
                      <a16:creationId xmlns:a16="http://schemas.microsoft.com/office/drawing/2014/main" id="{F4C55063-29E9-9140-9877-4631FC6FCBDE}"/>
                    </a:ext>
                  </a:extLst>
                </p:cNvPr>
                <p:cNvSpPr>
                  <a:spLocks noRot="1" noChangeAspect="1" noMove="1" noResize="1" noEditPoints="1" noAdjustHandles="1" noChangeArrowheads="1" noChangeShapeType="1" noTextEdit="1"/>
                </p:cNvSpPr>
                <p:nvPr/>
              </p:nvSpPr>
              <p:spPr>
                <a:xfrm>
                  <a:off x="7465192" y="4345966"/>
                  <a:ext cx="543739" cy="646331"/>
                </a:xfrm>
                <a:prstGeom prst="rect">
                  <a:avLst/>
                </a:prstGeom>
                <a:blipFill>
                  <a:blip r:embed="rId20"/>
                  <a:stretch>
                    <a:fillRect l="-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47FC8CEE-9145-7847-9DF8-576B0C6E8C41}"/>
                    </a:ext>
                  </a:extLst>
                </p:cNvPr>
                <p:cNvSpPr/>
                <p:nvPr/>
              </p:nvSpPr>
              <p:spPr>
                <a:xfrm>
                  <a:off x="8341901" y="2113165"/>
                  <a:ext cx="726673" cy="710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𝑏</m:t>
                            </m:r>
                          </m:e>
                          <m:sub>
                            <m:r>
                              <a:rPr lang="sr-Latn-RS" sz="3600" b="0" i="1" smtClean="0">
                                <a:latin typeface="Cambria Math" panose="02040503050406030204" pitchFamily="18" charset="0"/>
                                <a:ea typeface="Cambria Math" panose="02040503050406030204" pitchFamily="18" charset="0"/>
                              </a:rPr>
                              <m:t>1</m:t>
                            </m:r>
                          </m:sub>
                        </m:sSub>
                      </m:oMath>
                    </m:oMathPara>
                  </a14:m>
                  <a:endParaRPr lang="en-US" sz="3600" dirty="0"/>
                </a:p>
              </p:txBody>
            </p:sp>
          </mc:Choice>
          <mc:Fallback xmlns="">
            <p:sp>
              <p:nvSpPr>
                <p:cNvPr id="51" name="Rectangle 50">
                  <a:extLst>
                    <a:ext uri="{FF2B5EF4-FFF2-40B4-BE49-F238E27FC236}">
                      <a16:creationId xmlns:a16="http://schemas.microsoft.com/office/drawing/2014/main" id="{47FC8CEE-9145-7847-9DF8-576B0C6E8C41}"/>
                    </a:ext>
                  </a:extLst>
                </p:cNvPr>
                <p:cNvSpPr>
                  <a:spLocks noRot="1" noChangeAspect="1" noMove="1" noResize="1" noEditPoints="1" noAdjustHandles="1" noChangeArrowheads="1" noChangeShapeType="1" noTextEdit="1"/>
                </p:cNvSpPr>
                <p:nvPr/>
              </p:nvSpPr>
              <p:spPr>
                <a:xfrm>
                  <a:off x="8341901" y="2113165"/>
                  <a:ext cx="726673" cy="710964"/>
                </a:xfrm>
                <a:prstGeom prst="rect">
                  <a:avLst/>
                </a:prstGeom>
                <a:blipFill>
                  <a:blip r:embed="rId21"/>
                  <a:stretch>
                    <a:fillRect l="-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9074FE02-9ED6-B147-9222-A2559628AB30}"/>
                    </a:ext>
                  </a:extLst>
                </p:cNvPr>
                <p:cNvSpPr/>
                <p:nvPr/>
              </p:nvSpPr>
              <p:spPr>
                <a:xfrm>
                  <a:off x="8341901" y="4564572"/>
                  <a:ext cx="72667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𝑏</m:t>
                            </m:r>
                          </m:e>
                          <m:sub>
                            <m:r>
                              <a:rPr lang="sr-Latn-RS" sz="3600" b="0" i="1" smtClean="0">
                                <a:latin typeface="Cambria Math" panose="02040503050406030204" pitchFamily="18" charset="0"/>
                                <a:ea typeface="Cambria Math" panose="02040503050406030204" pitchFamily="18" charset="0"/>
                              </a:rPr>
                              <m:t>1</m:t>
                            </m:r>
                          </m:sub>
                        </m:sSub>
                      </m:oMath>
                    </m:oMathPara>
                  </a14:m>
                  <a:endParaRPr lang="en-US" sz="3600" dirty="0"/>
                </a:p>
              </p:txBody>
            </p:sp>
          </mc:Choice>
          <mc:Fallback xmlns="">
            <p:sp>
              <p:nvSpPr>
                <p:cNvPr id="52" name="Rectangle 51">
                  <a:extLst>
                    <a:ext uri="{FF2B5EF4-FFF2-40B4-BE49-F238E27FC236}">
                      <a16:creationId xmlns:a16="http://schemas.microsoft.com/office/drawing/2014/main" id="{9074FE02-9ED6-B147-9222-A2559628AB30}"/>
                    </a:ext>
                  </a:extLst>
                </p:cNvPr>
                <p:cNvSpPr>
                  <a:spLocks noRot="1" noChangeAspect="1" noMove="1" noResize="1" noEditPoints="1" noAdjustHandles="1" noChangeArrowheads="1" noChangeShapeType="1" noTextEdit="1"/>
                </p:cNvSpPr>
                <p:nvPr/>
              </p:nvSpPr>
              <p:spPr>
                <a:xfrm>
                  <a:off x="8341901" y="4564572"/>
                  <a:ext cx="726673" cy="646331"/>
                </a:xfrm>
                <a:prstGeom prst="rect">
                  <a:avLst/>
                </a:prstGeom>
                <a:blipFill>
                  <a:blip r:embed="rId22"/>
                  <a:stretch>
                    <a:fillRect l="-1724" b="-5769"/>
                  </a:stretch>
                </a:blipFill>
              </p:spPr>
              <p:txBody>
                <a:bodyPr/>
                <a:lstStyle/>
                <a:p>
                  <a:r>
                    <a:rPr lang="en-US">
                      <a:noFill/>
                    </a:rPr>
                    <a:t> </a:t>
                  </a:r>
                </a:p>
              </p:txBody>
            </p:sp>
          </mc:Fallback>
        </mc:AlternateContent>
        <p:cxnSp>
          <p:nvCxnSpPr>
            <p:cNvPr id="53" name="Straight Arrow Connector 52">
              <a:extLst>
                <a:ext uri="{FF2B5EF4-FFF2-40B4-BE49-F238E27FC236}">
                  <a16:creationId xmlns:a16="http://schemas.microsoft.com/office/drawing/2014/main" id="{72E6484B-3AC1-8C4A-89FE-0AC0727C8022}"/>
                </a:ext>
              </a:extLst>
            </p:cNvPr>
            <p:cNvCxnSpPr>
              <a:cxnSpLocks/>
            </p:cNvCxnSpPr>
            <p:nvPr/>
          </p:nvCxnSpPr>
          <p:spPr>
            <a:xfrm flipV="1">
              <a:off x="8952225" y="1861723"/>
              <a:ext cx="698037" cy="55691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2989C11-67EC-E14F-B4CA-91048D44ECFD}"/>
                </a:ext>
              </a:extLst>
            </p:cNvPr>
            <p:cNvCxnSpPr>
              <a:cxnSpLocks/>
            </p:cNvCxnSpPr>
            <p:nvPr/>
          </p:nvCxnSpPr>
          <p:spPr>
            <a:xfrm>
              <a:off x="8982189" y="5114432"/>
              <a:ext cx="698037" cy="50628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DDF2545E-5F38-364F-911B-F115BEBA1504}"/>
                    </a:ext>
                  </a:extLst>
                </p:cNvPr>
                <p:cNvSpPr/>
                <p:nvPr/>
              </p:nvSpPr>
              <p:spPr>
                <a:xfrm>
                  <a:off x="8803066" y="1494855"/>
                  <a:ext cx="543739" cy="710964"/>
                </a:xfrm>
                <a:prstGeom prst="rect">
                  <a:avLst/>
                </a:prstGeom>
              </p:spPr>
              <p:txBody>
                <a:bodyPr wrap="none">
                  <a:spAutoFit/>
                </a:bodyPr>
                <a:lstStyle/>
                <a:p>
                  <a14:m>
                    <m:oMath xmlns:m="http://schemas.openxmlformats.org/officeDocument/2006/math">
                      <m:r>
                        <a:rPr lang="en-US" sz="3600" b="0" i="1" smtClean="0">
                          <a:latin typeface="Cambria Math" panose="02040503050406030204" pitchFamily="18" charset="0"/>
                          <a:ea typeface="Cambria Math" panose="02040503050406030204" pitchFamily="18" charset="0"/>
                        </a:rPr>
                        <m:t>0</m:t>
                      </m:r>
                    </m:oMath>
                  </a14:m>
                  <a:r>
                    <a:rPr lang="en-US" sz="3600" dirty="0"/>
                    <a:t> </a:t>
                  </a:r>
                </a:p>
              </p:txBody>
            </p:sp>
          </mc:Choice>
          <mc:Fallback xmlns="">
            <p:sp>
              <p:nvSpPr>
                <p:cNvPr id="58" name="Rectangle 57">
                  <a:extLst>
                    <a:ext uri="{FF2B5EF4-FFF2-40B4-BE49-F238E27FC236}">
                      <a16:creationId xmlns:a16="http://schemas.microsoft.com/office/drawing/2014/main" id="{DDF2545E-5F38-364F-911B-F115BEBA1504}"/>
                    </a:ext>
                  </a:extLst>
                </p:cNvPr>
                <p:cNvSpPr>
                  <a:spLocks noRot="1" noChangeAspect="1" noMove="1" noResize="1" noEditPoints="1" noAdjustHandles="1" noChangeArrowheads="1" noChangeShapeType="1" noTextEdit="1"/>
                </p:cNvSpPr>
                <p:nvPr/>
              </p:nvSpPr>
              <p:spPr>
                <a:xfrm>
                  <a:off x="8803066" y="1494855"/>
                  <a:ext cx="543739" cy="710964"/>
                </a:xfrm>
                <a:prstGeom prst="rect">
                  <a:avLst/>
                </a:prstGeom>
                <a:blipFill>
                  <a:blip r:embed="rId23"/>
                  <a:stretch>
                    <a:fillRect l="-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322B8801-00BE-964F-8843-8792A8CA4AF3}"/>
                    </a:ext>
                  </a:extLst>
                </p:cNvPr>
                <p:cNvSpPr/>
                <p:nvPr/>
              </p:nvSpPr>
              <p:spPr>
                <a:xfrm>
                  <a:off x="9650262" y="1428093"/>
                  <a:ext cx="854721" cy="710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r>
                          <a:rPr lang="sr-Latn-RS" sz="3600" b="0" i="1" smtClean="0">
                            <a:latin typeface="Cambria Math" panose="02040503050406030204" pitchFamily="18" charset="0"/>
                            <a:ea typeface="Cambria Math" panose="02040503050406030204" pitchFamily="18" charset="0"/>
                          </a:rPr>
                          <m:t>0</m:t>
                        </m:r>
                        <m:r>
                          <a:rPr lang="en-US" sz="3600" i="1">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59" name="Rectangle 58">
                  <a:extLst>
                    <a:ext uri="{FF2B5EF4-FFF2-40B4-BE49-F238E27FC236}">
                      <a16:creationId xmlns:a16="http://schemas.microsoft.com/office/drawing/2014/main" id="{322B8801-00BE-964F-8843-8792A8CA4AF3}"/>
                    </a:ext>
                  </a:extLst>
                </p:cNvPr>
                <p:cNvSpPr>
                  <a:spLocks noRot="1" noChangeAspect="1" noMove="1" noResize="1" noEditPoints="1" noAdjustHandles="1" noChangeArrowheads="1" noChangeShapeType="1" noTextEdit="1"/>
                </p:cNvSpPr>
                <p:nvPr/>
              </p:nvSpPr>
              <p:spPr>
                <a:xfrm>
                  <a:off x="9650262" y="1428093"/>
                  <a:ext cx="854721" cy="710964"/>
                </a:xfrm>
                <a:prstGeom prst="rect">
                  <a:avLst/>
                </a:prstGeom>
                <a:blipFill>
                  <a:blip r:embed="rId24"/>
                  <a:stretch>
                    <a:fillRect l="-7353" r="-7353"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31E726DD-4EC8-0E4C-8254-314AA279BF0D}"/>
                    </a:ext>
                  </a:extLst>
                </p:cNvPr>
                <p:cNvSpPr/>
                <p:nvPr/>
              </p:nvSpPr>
              <p:spPr>
                <a:xfrm>
                  <a:off x="9650262" y="5401264"/>
                  <a:ext cx="94448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r>
                          <a:rPr lang="sr-Latn-RS" sz="3600" b="0" i="1" smtClean="0">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0" name="Rectangle 59">
                  <a:extLst>
                    <a:ext uri="{FF2B5EF4-FFF2-40B4-BE49-F238E27FC236}">
                      <a16:creationId xmlns:a16="http://schemas.microsoft.com/office/drawing/2014/main" id="{31E726DD-4EC8-0E4C-8254-314AA279BF0D}"/>
                    </a:ext>
                  </a:extLst>
                </p:cNvPr>
                <p:cNvSpPr>
                  <a:spLocks noRot="1" noChangeAspect="1" noMove="1" noResize="1" noEditPoints="1" noAdjustHandles="1" noChangeArrowheads="1" noChangeShapeType="1" noTextEdit="1"/>
                </p:cNvSpPr>
                <p:nvPr/>
              </p:nvSpPr>
              <p:spPr>
                <a:xfrm>
                  <a:off x="9650262" y="5401264"/>
                  <a:ext cx="944489" cy="646331"/>
                </a:xfrm>
                <a:prstGeom prst="rect">
                  <a:avLst/>
                </a:prstGeom>
                <a:blipFill>
                  <a:blip r:embed="rId25"/>
                  <a:stretch>
                    <a:fillRect l="-6667" r="-6667" b="-21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9E370920-9DE2-5E44-ABFC-B02F6BF22231}"/>
                    </a:ext>
                  </a:extLst>
                </p:cNvPr>
                <p:cNvSpPr/>
                <p:nvPr/>
              </p:nvSpPr>
              <p:spPr>
                <a:xfrm>
                  <a:off x="8807203" y="5417750"/>
                  <a:ext cx="54373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3600" b="0" i="1" smtClean="0">
                            <a:latin typeface="Cambria Math" panose="02040503050406030204" pitchFamily="18" charset="0"/>
                          </a:rPr>
                          <m:t>1</m:t>
                        </m:r>
                      </m:oMath>
                    </m:oMathPara>
                  </a14:m>
                  <a:endParaRPr lang="en-US" sz="3600" dirty="0"/>
                </a:p>
              </p:txBody>
            </p:sp>
          </mc:Choice>
          <mc:Fallback xmlns="">
            <p:sp>
              <p:nvSpPr>
                <p:cNvPr id="61" name="Rectangle 60">
                  <a:extLst>
                    <a:ext uri="{FF2B5EF4-FFF2-40B4-BE49-F238E27FC236}">
                      <a16:creationId xmlns:a16="http://schemas.microsoft.com/office/drawing/2014/main" id="{9E370920-9DE2-5E44-ABFC-B02F6BF22231}"/>
                    </a:ext>
                  </a:extLst>
                </p:cNvPr>
                <p:cNvSpPr>
                  <a:spLocks noRot="1" noChangeAspect="1" noMove="1" noResize="1" noEditPoints="1" noAdjustHandles="1" noChangeArrowheads="1" noChangeShapeType="1" noTextEdit="1"/>
                </p:cNvSpPr>
                <p:nvPr/>
              </p:nvSpPr>
              <p:spPr>
                <a:xfrm>
                  <a:off x="8807203" y="5417750"/>
                  <a:ext cx="543739" cy="646331"/>
                </a:xfrm>
                <a:prstGeom prst="rect">
                  <a:avLst/>
                </a:prstGeom>
                <a:blipFill>
                  <a:blip r:embed="rId26"/>
                  <a:stretch>
                    <a:fillRect r="-2273"/>
                  </a:stretch>
                </a:blipFill>
              </p:spPr>
              <p:txBody>
                <a:bodyPr/>
                <a:lstStyle/>
                <a:p>
                  <a:r>
                    <a:rPr lang="en-US">
                      <a:noFill/>
                    </a:rPr>
                    <a:t> </a:t>
                  </a:r>
                </a:p>
              </p:txBody>
            </p:sp>
          </mc:Fallback>
        </mc:AlternateContent>
        <p:cxnSp>
          <p:nvCxnSpPr>
            <p:cNvPr id="63" name="Straight Arrow Connector 62">
              <a:extLst>
                <a:ext uri="{FF2B5EF4-FFF2-40B4-BE49-F238E27FC236}">
                  <a16:creationId xmlns:a16="http://schemas.microsoft.com/office/drawing/2014/main" id="{61A07783-437B-6745-958D-4B5F15E40DBC}"/>
                </a:ext>
              </a:extLst>
            </p:cNvPr>
            <p:cNvCxnSpPr>
              <a:cxnSpLocks/>
            </p:cNvCxnSpPr>
            <p:nvPr/>
          </p:nvCxnSpPr>
          <p:spPr>
            <a:xfrm>
              <a:off x="8952225" y="2647540"/>
              <a:ext cx="698037" cy="556914"/>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13DEC997-17C5-C64E-A50D-B33B554AC521}"/>
                    </a:ext>
                  </a:extLst>
                </p:cNvPr>
                <p:cNvSpPr/>
                <p:nvPr/>
              </p:nvSpPr>
              <p:spPr>
                <a:xfrm>
                  <a:off x="9650262" y="2696574"/>
                  <a:ext cx="854721"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r>
                          <a:rPr lang="sr-Latn-RS" sz="3600" b="0" i="1" smtClean="0">
                            <a:latin typeface="Cambria Math" panose="02040503050406030204" pitchFamily="18" charset="0"/>
                            <a:ea typeface="Cambria Math" panose="02040503050406030204" pitchFamily="18" charset="0"/>
                          </a:rPr>
                          <m:t>1</m:t>
                        </m:r>
                        <m:r>
                          <a:rPr lang="en-US" sz="3600" i="1">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4" name="Rectangle 63">
                  <a:extLst>
                    <a:ext uri="{FF2B5EF4-FFF2-40B4-BE49-F238E27FC236}">
                      <a16:creationId xmlns:a16="http://schemas.microsoft.com/office/drawing/2014/main" id="{13DEC997-17C5-C64E-A50D-B33B554AC521}"/>
                    </a:ext>
                  </a:extLst>
                </p:cNvPr>
                <p:cNvSpPr>
                  <a:spLocks noRot="1" noChangeAspect="1" noMove="1" noResize="1" noEditPoints="1" noAdjustHandles="1" noChangeArrowheads="1" noChangeShapeType="1" noTextEdit="1"/>
                </p:cNvSpPr>
                <p:nvPr/>
              </p:nvSpPr>
              <p:spPr>
                <a:xfrm>
                  <a:off x="9650262" y="2696574"/>
                  <a:ext cx="854721" cy="646331"/>
                </a:xfrm>
                <a:prstGeom prst="rect">
                  <a:avLst/>
                </a:prstGeom>
                <a:blipFill>
                  <a:blip r:embed="rId27"/>
                  <a:stretch>
                    <a:fillRect l="-7353" r="-7353" b="-21154"/>
                  </a:stretch>
                </a:blipFill>
              </p:spPr>
              <p:txBody>
                <a:bodyPr/>
                <a:lstStyle/>
                <a:p>
                  <a:r>
                    <a:rPr lang="en-US">
                      <a:noFill/>
                    </a:rPr>
                    <a:t> </a:t>
                  </a:r>
                </a:p>
              </p:txBody>
            </p:sp>
          </mc:Fallback>
        </mc:AlternateContent>
        <p:cxnSp>
          <p:nvCxnSpPr>
            <p:cNvPr id="65" name="Straight Arrow Connector 64">
              <a:extLst>
                <a:ext uri="{FF2B5EF4-FFF2-40B4-BE49-F238E27FC236}">
                  <a16:creationId xmlns:a16="http://schemas.microsoft.com/office/drawing/2014/main" id="{DB4E4CBB-40BB-E742-A6A2-C1DA5883B300}"/>
                </a:ext>
              </a:extLst>
            </p:cNvPr>
            <p:cNvCxnSpPr>
              <a:cxnSpLocks/>
            </p:cNvCxnSpPr>
            <p:nvPr/>
          </p:nvCxnSpPr>
          <p:spPr>
            <a:xfrm flipV="1">
              <a:off x="8955814" y="4435127"/>
              <a:ext cx="698037" cy="506285"/>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DAECD92F-AFE6-6A4B-BB55-EB2343DF27F9}"/>
                    </a:ext>
                  </a:extLst>
                </p:cNvPr>
                <p:cNvSpPr/>
                <p:nvPr/>
              </p:nvSpPr>
              <p:spPr>
                <a:xfrm>
                  <a:off x="9650262" y="4168854"/>
                  <a:ext cx="94448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ea typeface="Cambria Math" panose="02040503050406030204" pitchFamily="18" charset="0"/>
                          </a:rPr>
                          <m:t>|</m:t>
                        </m:r>
                        <m:r>
                          <a:rPr lang="sr-Latn-RS" sz="3600" b="0" i="1" smtClean="0">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m:t>
                        </m:r>
                      </m:oMath>
                    </m:oMathPara>
                  </a14:m>
                  <a:endParaRPr lang="en-US" sz="3600" dirty="0"/>
                </a:p>
              </p:txBody>
            </p:sp>
          </mc:Choice>
          <mc:Fallback xmlns="">
            <p:sp>
              <p:nvSpPr>
                <p:cNvPr id="66" name="Rectangle 65">
                  <a:extLst>
                    <a:ext uri="{FF2B5EF4-FFF2-40B4-BE49-F238E27FC236}">
                      <a16:creationId xmlns:a16="http://schemas.microsoft.com/office/drawing/2014/main" id="{DAECD92F-AFE6-6A4B-BB55-EB2343DF27F9}"/>
                    </a:ext>
                  </a:extLst>
                </p:cNvPr>
                <p:cNvSpPr>
                  <a:spLocks noRot="1" noChangeAspect="1" noMove="1" noResize="1" noEditPoints="1" noAdjustHandles="1" noChangeArrowheads="1" noChangeShapeType="1" noTextEdit="1"/>
                </p:cNvSpPr>
                <p:nvPr/>
              </p:nvSpPr>
              <p:spPr>
                <a:xfrm>
                  <a:off x="9650262" y="4168854"/>
                  <a:ext cx="944489" cy="646331"/>
                </a:xfrm>
                <a:prstGeom prst="rect">
                  <a:avLst/>
                </a:prstGeom>
                <a:blipFill>
                  <a:blip r:embed="rId28"/>
                  <a:stretch>
                    <a:fillRect l="-6667" r="-6667" b="-21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B3861F8B-1295-3A4B-957A-C11955C74C63}"/>
                    </a:ext>
                  </a:extLst>
                </p:cNvPr>
                <p:cNvSpPr/>
                <p:nvPr/>
              </p:nvSpPr>
              <p:spPr>
                <a:xfrm>
                  <a:off x="8890994" y="2795116"/>
                  <a:ext cx="543739" cy="710964"/>
                </a:xfrm>
                <a:prstGeom prst="rect">
                  <a:avLst/>
                </a:prstGeom>
              </p:spPr>
              <p:txBody>
                <a:bodyPr wrap="none">
                  <a:spAutoFit/>
                </a:bodyPr>
                <a:lstStyle/>
                <a:p>
                  <a14:m>
                    <m:oMath xmlns:m="http://schemas.openxmlformats.org/officeDocument/2006/math">
                      <m:r>
                        <a:rPr lang="sr-Latn-RS" sz="3600" b="0" i="1" smtClean="0">
                          <a:latin typeface="Cambria Math" panose="02040503050406030204" pitchFamily="18" charset="0"/>
                        </a:rPr>
                        <m:t>1</m:t>
                      </m:r>
                    </m:oMath>
                  </a14:m>
                  <a:r>
                    <a:rPr lang="en-US" sz="3600" dirty="0"/>
                    <a:t> </a:t>
                  </a:r>
                </a:p>
              </p:txBody>
            </p:sp>
          </mc:Choice>
          <mc:Fallback xmlns="">
            <p:sp>
              <p:nvSpPr>
                <p:cNvPr id="67" name="Rectangle 66">
                  <a:extLst>
                    <a:ext uri="{FF2B5EF4-FFF2-40B4-BE49-F238E27FC236}">
                      <a16:creationId xmlns:a16="http://schemas.microsoft.com/office/drawing/2014/main" id="{B3861F8B-1295-3A4B-957A-C11955C74C63}"/>
                    </a:ext>
                  </a:extLst>
                </p:cNvPr>
                <p:cNvSpPr>
                  <a:spLocks noRot="1" noChangeAspect="1" noMove="1" noResize="1" noEditPoints="1" noAdjustHandles="1" noChangeArrowheads="1" noChangeShapeType="1" noTextEdit="1"/>
                </p:cNvSpPr>
                <p:nvPr/>
              </p:nvSpPr>
              <p:spPr>
                <a:xfrm>
                  <a:off x="8890994" y="2795116"/>
                  <a:ext cx="543739" cy="710964"/>
                </a:xfrm>
                <a:prstGeom prst="rect">
                  <a:avLst/>
                </a:prstGeom>
                <a:blipFill>
                  <a:blip r:embed="rId29"/>
                  <a:stretch>
                    <a:fillRect l="-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DBCF2678-85FF-D841-AC52-3C95089129C2}"/>
                    </a:ext>
                  </a:extLst>
                </p:cNvPr>
                <p:cNvSpPr/>
                <p:nvPr/>
              </p:nvSpPr>
              <p:spPr>
                <a:xfrm>
                  <a:off x="8916000" y="4106724"/>
                  <a:ext cx="543739" cy="646331"/>
                </a:xfrm>
                <a:prstGeom prst="rect">
                  <a:avLst/>
                </a:prstGeom>
              </p:spPr>
              <p:txBody>
                <a:bodyPr wrap="none">
                  <a:spAutoFit/>
                </a:bodyPr>
                <a:lstStyle/>
                <a:p>
                  <a14:m>
                    <m:oMath xmlns:m="http://schemas.openxmlformats.org/officeDocument/2006/math">
                      <m:r>
                        <a:rPr lang="en-US" sz="3600" b="0" i="1" smtClean="0">
                          <a:latin typeface="Cambria Math" panose="02040503050406030204" pitchFamily="18" charset="0"/>
                          <a:ea typeface="Cambria Math" panose="02040503050406030204" pitchFamily="18" charset="0"/>
                        </a:rPr>
                        <m:t>0</m:t>
                      </m:r>
                    </m:oMath>
                  </a14:m>
                  <a:r>
                    <a:rPr lang="en-US" sz="3600" dirty="0"/>
                    <a:t> </a:t>
                  </a:r>
                </a:p>
              </p:txBody>
            </p:sp>
          </mc:Choice>
          <mc:Fallback xmlns="">
            <p:sp>
              <p:nvSpPr>
                <p:cNvPr id="68" name="Rectangle 67">
                  <a:extLst>
                    <a:ext uri="{FF2B5EF4-FFF2-40B4-BE49-F238E27FC236}">
                      <a16:creationId xmlns:a16="http://schemas.microsoft.com/office/drawing/2014/main" id="{DBCF2678-85FF-D841-AC52-3C95089129C2}"/>
                    </a:ext>
                  </a:extLst>
                </p:cNvPr>
                <p:cNvSpPr>
                  <a:spLocks noRot="1" noChangeAspect="1" noMove="1" noResize="1" noEditPoints="1" noAdjustHandles="1" noChangeArrowheads="1" noChangeShapeType="1" noTextEdit="1"/>
                </p:cNvSpPr>
                <p:nvPr/>
              </p:nvSpPr>
              <p:spPr>
                <a:xfrm>
                  <a:off x="8916000" y="4106724"/>
                  <a:ext cx="543739" cy="646331"/>
                </a:xfrm>
                <a:prstGeom prst="rect">
                  <a:avLst/>
                </a:prstGeom>
                <a:blipFill>
                  <a:blip r:embed="rId30"/>
                  <a:stretch>
                    <a:fillRect l="-11364"/>
                  </a:stretch>
                </a:blipFill>
              </p:spPr>
              <p:txBody>
                <a:bodyPr/>
                <a:lstStyle/>
                <a:p>
                  <a:r>
                    <a:rPr lang="en-US">
                      <a:noFill/>
                    </a:rPr>
                    <a:t> </a:t>
                  </a:r>
                </a:p>
              </p:txBody>
            </p:sp>
          </mc:Fallback>
        </mc:AlternateContent>
      </p:grpSp>
      <p:sp>
        <p:nvSpPr>
          <p:cNvPr id="10" name="TextBox 9">
            <a:extLst>
              <a:ext uri="{FF2B5EF4-FFF2-40B4-BE49-F238E27FC236}">
                <a16:creationId xmlns:a16="http://schemas.microsoft.com/office/drawing/2014/main" id="{BE5D8CB0-4FA1-6440-9FB6-61B7B7CE481D}"/>
              </a:ext>
            </a:extLst>
          </p:cNvPr>
          <p:cNvSpPr txBox="1"/>
          <p:nvPr/>
        </p:nvSpPr>
        <p:spPr>
          <a:xfrm>
            <a:off x="209524" y="1220681"/>
            <a:ext cx="3406702" cy="400110"/>
          </a:xfrm>
          <a:prstGeom prst="rect">
            <a:avLst/>
          </a:prstGeom>
          <a:solidFill>
            <a:schemeClr val="accent5">
              <a:lumMod val="20000"/>
              <a:lumOff val="80000"/>
            </a:schemeClr>
          </a:solidFill>
        </p:spPr>
        <p:txBody>
          <a:bodyPr wrap="none" rtlCol="0">
            <a:spAutoFit/>
          </a:bodyPr>
          <a:lstStyle/>
          <a:p>
            <a:r>
              <a:rPr lang="en-ZA" sz="2000" dirty="0">
                <a:latin typeface="Comic Sans MS" panose="030F0902030302020204" pitchFamily="66" charset="0"/>
              </a:rPr>
              <a:t>z-axis is encoded as b</a:t>
            </a:r>
            <a:r>
              <a:rPr lang="en-ZA" sz="2000" baseline="-25000" dirty="0">
                <a:latin typeface="Comic Sans MS" panose="030F0902030302020204" pitchFamily="66" charset="0"/>
              </a:rPr>
              <a:t>2</a:t>
            </a:r>
            <a:r>
              <a:rPr lang="en-ZA" sz="2000" dirty="0">
                <a:latin typeface="Comic Sans MS" panose="030F0902030302020204" pitchFamily="66" charset="0"/>
              </a:rPr>
              <a:t> = 0</a:t>
            </a:r>
            <a:endParaRPr lang="en-US" sz="2000" dirty="0">
              <a:latin typeface="Comic Sans MS" panose="030F0902030302020204" pitchFamily="66" charset="0"/>
            </a:endParaRPr>
          </a:p>
        </p:txBody>
      </p:sp>
      <p:sp>
        <p:nvSpPr>
          <p:cNvPr id="55" name="TextBox 54">
            <a:extLst>
              <a:ext uri="{FF2B5EF4-FFF2-40B4-BE49-F238E27FC236}">
                <a16:creationId xmlns:a16="http://schemas.microsoft.com/office/drawing/2014/main" id="{BF080AAF-76DD-5D4B-935E-01F84A000AC8}"/>
              </a:ext>
            </a:extLst>
          </p:cNvPr>
          <p:cNvSpPr txBox="1"/>
          <p:nvPr/>
        </p:nvSpPr>
        <p:spPr>
          <a:xfrm>
            <a:off x="7659913" y="3488369"/>
            <a:ext cx="861133" cy="400110"/>
          </a:xfrm>
          <a:prstGeom prst="rect">
            <a:avLst/>
          </a:prstGeom>
          <a:noFill/>
        </p:spPr>
        <p:txBody>
          <a:bodyPr wrap="none" rtlCol="0">
            <a:spAutoFit/>
          </a:bodyPr>
          <a:lstStyle/>
          <a:p>
            <a:r>
              <a:rPr lang="en-US" sz="2000" dirty="0"/>
              <a:t>(basis)</a:t>
            </a:r>
          </a:p>
        </p:txBody>
      </p:sp>
      <p:sp>
        <p:nvSpPr>
          <p:cNvPr id="56" name="TextBox 55">
            <a:extLst>
              <a:ext uri="{FF2B5EF4-FFF2-40B4-BE49-F238E27FC236}">
                <a16:creationId xmlns:a16="http://schemas.microsoft.com/office/drawing/2014/main" id="{A41A6188-373F-5741-9C30-1AB32D3BE340}"/>
              </a:ext>
            </a:extLst>
          </p:cNvPr>
          <p:cNvSpPr txBox="1"/>
          <p:nvPr/>
        </p:nvSpPr>
        <p:spPr>
          <a:xfrm>
            <a:off x="8998378" y="2311649"/>
            <a:ext cx="856388" cy="400110"/>
          </a:xfrm>
          <a:prstGeom prst="rect">
            <a:avLst/>
          </a:prstGeom>
          <a:noFill/>
        </p:spPr>
        <p:txBody>
          <a:bodyPr wrap="none" rtlCol="0">
            <a:spAutoFit/>
          </a:bodyPr>
          <a:lstStyle/>
          <a:p>
            <a:r>
              <a:rPr lang="en-US" sz="2000" dirty="0"/>
              <a:t>(state)</a:t>
            </a:r>
          </a:p>
        </p:txBody>
      </p:sp>
      <p:sp>
        <p:nvSpPr>
          <p:cNvPr id="62" name="TextBox 61">
            <a:extLst>
              <a:ext uri="{FF2B5EF4-FFF2-40B4-BE49-F238E27FC236}">
                <a16:creationId xmlns:a16="http://schemas.microsoft.com/office/drawing/2014/main" id="{2A2241B5-8245-7840-ABD5-37362BB5FA95}"/>
              </a:ext>
            </a:extLst>
          </p:cNvPr>
          <p:cNvSpPr txBox="1"/>
          <p:nvPr/>
        </p:nvSpPr>
        <p:spPr>
          <a:xfrm>
            <a:off x="9068574" y="4788150"/>
            <a:ext cx="856388" cy="400110"/>
          </a:xfrm>
          <a:prstGeom prst="rect">
            <a:avLst/>
          </a:prstGeom>
          <a:noFill/>
        </p:spPr>
        <p:txBody>
          <a:bodyPr wrap="none" rtlCol="0">
            <a:spAutoFit/>
          </a:bodyPr>
          <a:lstStyle/>
          <a:p>
            <a:r>
              <a:rPr lang="en-US" sz="2000" dirty="0"/>
              <a:t>(state)</a:t>
            </a:r>
          </a:p>
        </p:txBody>
      </p:sp>
    </p:spTree>
    <p:extLst>
      <p:ext uri="{BB962C8B-B14F-4D97-AF65-F5344CB8AC3E}">
        <p14:creationId xmlns:p14="http://schemas.microsoft.com/office/powerpoint/2010/main" val="356173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7B202BC2-031D-8740-A34E-0CF06AFFE0A1}"/>
              </a:ext>
            </a:extLst>
          </p:cNvPr>
          <p:cNvPicPr>
            <a:picLocks noChangeAspect="1"/>
          </p:cNvPicPr>
          <p:nvPr/>
        </p:nvPicPr>
        <p:blipFill>
          <a:blip r:embed="rId3"/>
          <a:stretch>
            <a:fillRect/>
          </a:stretch>
        </p:blipFill>
        <p:spPr>
          <a:xfrm>
            <a:off x="859535" y="921359"/>
            <a:ext cx="10609979" cy="4951323"/>
          </a:xfrm>
          <a:prstGeom prst="rect">
            <a:avLst/>
          </a:prstGeom>
        </p:spPr>
      </p:pic>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60A1C50-7243-D04B-B5B8-0E1038AF062A}"/>
                  </a:ext>
                </a:extLst>
              </p:cNvPr>
              <p:cNvSpPr/>
              <p:nvPr/>
            </p:nvSpPr>
            <p:spPr>
              <a:xfrm>
                <a:off x="2376605" y="907546"/>
                <a:ext cx="2133918"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1 </m:t>
                      </m:r>
                      <m:r>
                        <m:rPr>
                          <m:sty m:val="p"/>
                        </m:rPr>
                        <a:rPr lang="en-US" b="0" i="0" smtClean="0">
                          <a:latin typeface="Cambria Math" panose="02040503050406030204" pitchFamily="18" charset="0"/>
                        </a:rPr>
                        <m:t>qubit</m:t>
                      </m:r>
                      <m:r>
                        <a:rPr lang="en-US"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4</m:t>
                          </m:r>
                        </m:den>
                      </m:f>
                      <m:r>
                        <a:rPr lang="en-US" b="0" i="1" smtClean="0">
                          <a:latin typeface="Cambria Math" panose="02040503050406030204" pitchFamily="18" charset="0"/>
                        </a:rPr>
                        <m:t>=75%</m:t>
                      </m:r>
                    </m:oMath>
                  </m:oMathPara>
                </a14:m>
                <a:endParaRPr lang="en-US" dirty="0"/>
              </a:p>
            </p:txBody>
          </p:sp>
        </mc:Choice>
        <mc:Fallback xmlns="">
          <p:sp>
            <p:nvSpPr>
              <p:cNvPr id="19" name="Rectangle 18">
                <a:extLst>
                  <a:ext uri="{FF2B5EF4-FFF2-40B4-BE49-F238E27FC236}">
                    <a16:creationId xmlns:a16="http://schemas.microsoft.com/office/drawing/2014/main" id="{660A1C50-7243-D04B-B5B8-0E1038AF062A}"/>
                  </a:ext>
                </a:extLst>
              </p:cNvPr>
              <p:cNvSpPr>
                <a:spLocks noRot="1" noChangeAspect="1" noMove="1" noResize="1" noEditPoints="1" noAdjustHandles="1" noChangeArrowheads="1" noChangeShapeType="1" noTextEdit="1"/>
              </p:cNvSpPr>
              <p:nvPr/>
            </p:nvSpPr>
            <p:spPr>
              <a:xfrm>
                <a:off x="2376605" y="907546"/>
                <a:ext cx="2133918" cy="610936"/>
              </a:xfrm>
              <a:prstGeom prst="rect">
                <a:avLst/>
              </a:prstGeom>
              <a:blipFill>
                <a:blip r:embed="rId4"/>
                <a:stretch>
                  <a:fillRect b="-200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A9EC67D-A8F0-E640-A23F-430FE674D2B3}"/>
              </a:ext>
            </a:extLst>
          </p:cNvPr>
          <p:cNvSpPr>
            <a:spLocks noGrp="1"/>
          </p:cNvSpPr>
          <p:nvPr>
            <p:ph type="sldNum" sz="quarter" idx="12"/>
          </p:nvPr>
        </p:nvSpPr>
        <p:spPr/>
        <p:txBody>
          <a:bodyPr/>
          <a:lstStyle/>
          <a:p>
            <a:fld id="{591A223C-FA10-BC46-A853-03BA373D023C}" type="slidenum">
              <a:rPr lang="en-US" smtClean="0"/>
              <a:t>27</a:t>
            </a:fld>
            <a:endParaRPr lang="en-US"/>
          </a:p>
        </p:txBody>
      </p:sp>
      <p:sp>
        <p:nvSpPr>
          <p:cNvPr id="2" name="Title 1">
            <a:extLst>
              <a:ext uri="{FF2B5EF4-FFF2-40B4-BE49-F238E27FC236}">
                <a16:creationId xmlns:a16="http://schemas.microsoft.com/office/drawing/2014/main" id="{15D08E51-E135-A947-AABB-2F263A37023A}"/>
              </a:ext>
            </a:extLst>
          </p:cNvPr>
          <p:cNvSpPr>
            <a:spLocks noGrp="1"/>
          </p:cNvSpPr>
          <p:nvPr>
            <p:ph type="title"/>
          </p:nvPr>
        </p:nvSpPr>
        <p:spPr/>
        <p:txBody>
          <a:bodyPr>
            <a:normAutofit/>
          </a:bodyPr>
          <a:lstStyle/>
          <a:p>
            <a:r>
              <a:rPr lang="en-ZA" dirty="0"/>
              <a:t>Resistance to quantum attacks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1E73A7-F4BE-1244-9122-A241EFCE794E}"/>
                  </a:ext>
                </a:extLst>
              </p:cNvPr>
              <p:cNvSpPr txBox="1"/>
              <p:nvPr/>
            </p:nvSpPr>
            <p:spPr>
              <a:xfrm>
                <a:off x="2539419" y="3093638"/>
                <a:ext cx="114441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400" i="1">
                              <a:latin typeface="Cambria Math" panose="02040503050406030204" pitchFamily="18" charset="0"/>
                            </a:rPr>
                          </m:ctrlPr>
                        </m:sSupPr>
                        <m:e>
                          <m:d>
                            <m:dPr>
                              <m:ctrlPr>
                                <a:rPr lang="en-ZA" sz="2400" i="1">
                                  <a:latin typeface="Cambria Math" panose="02040503050406030204" pitchFamily="18" charset="0"/>
                                </a:rPr>
                              </m:ctrlPr>
                            </m:dPr>
                            <m:e>
                              <m:r>
                                <a:rPr lang="sr-Latn-RS" sz="2400" i="1">
                                  <a:latin typeface="Cambria Math" panose="02040503050406030204" pitchFamily="18" charset="0"/>
                                </a:rPr>
                                <m:t>3/4</m:t>
                              </m:r>
                            </m:e>
                          </m:d>
                        </m:e>
                        <m:sup>
                          <m:r>
                            <a:rPr lang="sr-Latn-RS" sz="2400" i="1">
                              <a:latin typeface="Cambria Math" panose="02040503050406030204" pitchFamily="18" charset="0"/>
                            </a:rPr>
                            <m:t>𝑛</m:t>
                          </m:r>
                        </m:sup>
                      </m:sSup>
                    </m:oMath>
                  </m:oMathPara>
                </a14:m>
                <a:endParaRPr lang="en-US" sz="2400" dirty="0"/>
              </a:p>
            </p:txBody>
          </p:sp>
        </mc:Choice>
        <mc:Fallback xmlns="">
          <p:sp>
            <p:nvSpPr>
              <p:cNvPr id="10" name="TextBox 9">
                <a:extLst>
                  <a:ext uri="{FF2B5EF4-FFF2-40B4-BE49-F238E27FC236}">
                    <a16:creationId xmlns:a16="http://schemas.microsoft.com/office/drawing/2014/main" id="{751E73A7-F4BE-1244-9122-A241EFCE794E}"/>
                  </a:ext>
                </a:extLst>
              </p:cNvPr>
              <p:cNvSpPr txBox="1">
                <a:spLocks noRot="1" noChangeAspect="1" noMove="1" noResize="1" noEditPoints="1" noAdjustHandles="1" noChangeArrowheads="1" noChangeShapeType="1" noTextEdit="1"/>
              </p:cNvSpPr>
              <p:nvPr/>
            </p:nvSpPr>
            <p:spPr>
              <a:xfrm>
                <a:off x="2539419" y="3093638"/>
                <a:ext cx="1144416" cy="461665"/>
              </a:xfrm>
              <a:prstGeom prst="rect">
                <a:avLst/>
              </a:prstGeom>
              <a:blipFill>
                <a:blip r:embed="rId5"/>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5F779EF-DF23-E647-839A-A0BC678CDE28}"/>
                  </a:ext>
                </a:extLst>
              </p:cNvPr>
              <p:cNvSpPr txBox="1"/>
              <p:nvPr/>
            </p:nvSpPr>
            <p:spPr>
              <a:xfrm>
                <a:off x="9859502" y="4051030"/>
                <a:ext cx="22845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400" i="1" smtClean="0">
                              <a:latin typeface="Cambria Math" panose="02040503050406030204" pitchFamily="18" charset="0"/>
                            </a:rPr>
                          </m:ctrlPr>
                        </m:sSupPr>
                        <m:e>
                          <m:r>
                            <a:rPr lang="sr-Latn-RS" sz="2400" b="0" i="1" smtClean="0">
                              <a:latin typeface="Cambria Math" panose="02040503050406030204" pitchFamily="18" charset="0"/>
                            </a:rPr>
                            <m:t>64</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qubits</m:t>
                          </m:r>
                          <m:r>
                            <a:rPr lang="en-US" sz="2400" b="0" i="1" smtClean="0">
                              <a:latin typeface="Cambria Math" panose="02040503050406030204" pitchFamily="18" charset="0"/>
                            </a:rPr>
                            <m:t>/10</m:t>
                          </m:r>
                        </m:e>
                        <m:sup>
                          <m:r>
                            <a:rPr lang="sr-Latn-RS" sz="2400" b="0" i="1" smtClean="0">
                              <a:latin typeface="Cambria Math" panose="02040503050406030204" pitchFamily="18" charset="0"/>
                            </a:rPr>
                            <m:t>−8</m:t>
                          </m:r>
                        </m:sup>
                      </m:sSup>
                    </m:oMath>
                  </m:oMathPara>
                </a14:m>
                <a:endParaRPr lang="en-US" sz="2400" dirty="0"/>
              </a:p>
            </p:txBody>
          </p:sp>
        </mc:Choice>
        <mc:Fallback xmlns="">
          <p:sp>
            <p:nvSpPr>
              <p:cNvPr id="11" name="TextBox 10">
                <a:extLst>
                  <a:ext uri="{FF2B5EF4-FFF2-40B4-BE49-F238E27FC236}">
                    <a16:creationId xmlns:a16="http://schemas.microsoft.com/office/drawing/2014/main" id="{F5F779EF-DF23-E647-839A-A0BC678CDE28}"/>
                  </a:ext>
                </a:extLst>
              </p:cNvPr>
              <p:cNvSpPr txBox="1">
                <a:spLocks noRot="1" noChangeAspect="1" noMove="1" noResize="1" noEditPoints="1" noAdjustHandles="1" noChangeArrowheads="1" noChangeShapeType="1" noTextEdit="1"/>
              </p:cNvSpPr>
              <p:nvPr/>
            </p:nvSpPr>
            <p:spPr>
              <a:xfrm>
                <a:off x="9859502" y="4051030"/>
                <a:ext cx="2284536" cy="461665"/>
              </a:xfrm>
              <a:prstGeom prst="rect">
                <a:avLst/>
              </a:prstGeom>
              <a:blipFill>
                <a:blip r:embed="rId6"/>
                <a:stretch>
                  <a:fillRect b="-21622"/>
                </a:stretch>
              </a:blipFill>
            </p:spPr>
            <p:txBody>
              <a:bodyPr/>
              <a:lstStyle/>
              <a:p>
                <a:r>
                  <a:rPr lang="en-US">
                    <a:noFill/>
                  </a:rPr>
                  <a:t> </a:t>
                </a:r>
              </a:p>
            </p:txBody>
          </p:sp>
        </mc:Fallback>
      </mc:AlternateContent>
      <p:sp>
        <p:nvSpPr>
          <p:cNvPr id="12" name="Arc 11">
            <a:extLst>
              <a:ext uri="{FF2B5EF4-FFF2-40B4-BE49-F238E27FC236}">
                <a16:creationId xmlns:a16="http://schemas.microsoft.com/office/drawing/2014/main" id="{AB6F4FD9-C7BA-594A-A225-9D43E4EBD5D5}"/>
              </a:ext>
            </a:extLst>
          </p:cNvPr>
          <p:cNvSpPr/>
          <p:nvPr/>
        </p:nvSpPr>
        <p:spPr>
          <a:xfrm rot="20799209" flipH="1">
            <a:off x="10464978" y="4575868"/>
            <a:ext cx="635000" cy="749300"/>
          </a:xfrm>
          <a:prstGeom prst="arc">
            <a:avLst/>
          </a:pr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176855BB-4F8E-5346-A552-382E6B835630}"/>
              </a:ext>
            </a:extLst>
          </p:cNvPr>
          <p:cNvSpPr/>
          <p:nvPr/>
        </p:nvSpPr>
        <p:spPr>
          <a:xfrm rot="2639822" flipH="1">
            <a:off x="2010103" y="1065295"/>
            <a:ext cx="426444" cy="698986"/>
          </a:xfrm>
          <a:prstGeom prst="arc">
            <a:avLst/>
          </a:prstGeom>
          <a:ln>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003F5C-A2DD-E645-824B-825FADEAC6A3}"/>
                  </a:ext>
                </a:extLst>
              </p:cNvPr>
              <p:cNvSpPr txBox="1"/>
              <p:nvPr/>
            </p:nvSpPr>
            <p:spPr>
              <a:xfrm>
                <a:off x="961945" y="5999089"/>
                <a:ext cx="8226739" cy="570413"/>
              </a:xfrm>
              <a:prstGeom prst="rect">
                <a:avLst/>
              </a:prstGeom>
              <a:noFill/>
            </p:spPr>
            <p:txBody>
              <a:bodyPr wrap="none" rtlCol="0">
                <a:spAutoFit/>
              </a:bodyPr>
              <a:lstStyle/>
              <a:p>
                <a:r>
                  <a:rPr lang="en-ZA" sz="2200" dirty="0"/>
                  <a:t>guessing probability </a:t>
                </a:r>
                <a14:m>
                  <m:oMath xmlns:m="http://schemas.openxmlformats.org/officeDocument/2006/math">
                    <m:r>
                      <a:rPr lang="en-US" sz="2200" i="1">
                        <a:latin typeface="Cambria Math" panose="02040503050406030204" pitchFamily="18" charset="0"/>
                      </a:rPr>
                      <m:t>=</m:t>
                    </m:r>
                  </m:oMath>
                </a14:m>
                <a:r>
                  <a:rPr lang="en-ZA" sz="2200" dirty="0"/>
                  <a:t> 50% correct </a:t>
                </a:r>
                <a:r>
                  <a:rPr lang="en-US" sz="2200" dirty="0"/>
                  <a:t>basis</a:t>
                </a:r>
                <a:r>
                  <a:rPr lang="en-ZA" sz="2200" dirty="0"/>
                  <a:t> </a:t>
                </a:r>
                <a14:m>
                  <m:oMath xmlns:m="http://schemas.openxmlformats.org/officeDocument/2006/math">
                    <m:r>
                      <a:rPr lang="en-US" sz="2200" i="1">
                        <a:latin typeface="Cambria Math" panose="02040503050406030204" pitchFamily="18" charset="0"/>
                      </a:rPr>
                      <m:t>+</m:t>
                    </m:r>
                  </m:oMath>
                </a14:m>
                <a:r>
                  <a:rPr lang="en-ZA" sz="2200" dirty="0"/>
                  <a:t> 50% incorrect basis</a:t>
                </a:r>
                <a:r>
                  <a:rPr lang="en-US" sz="2200" dirty="0">
                    <a:ea typeface="Cambria Math" panose="02040503050406030204" pitchFamily="18"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 </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den>
                    </m:f>
                  </m:oMath>
                </a14:m>
                <a:r>
                  <a:rPr lang="en-ZA" sz="2200" dirty="0"/>
                  <a:t> </a:t>
                </a:r>
                <a14:m>
                  <m:oMath xmlns:m="http://schemas.openxmlformats.org/officeDocument/2006/math">
                    <m:r>
                      <a:rPr lang="en-US" sz="2200" i="1">
                        <a:latin typeface="Cambria Math" panose="02040503050406030204" pitchFamily="18" charset="0"/>
                      </a:rPr>
                      <m:t>=</m:t>
                    </m:r>
                  </m:oMath>
                </a14:m>
                <a:endParaRPr lang="en-US" sz="2200" dirty="0"/>
              </a:p>
            </p:txBody>
          </p:sp>
        </mc:Choice>
        <mc:Fallback xmlns="">
          <p:sp>
            <p:nvSpPr>
              <p:cNvPr id="5" name="TextBox 4">
                <a:extLst>
                  <a:ext uri="{FF2B5EF4-FFF2-40B4-BE49-F238E27FC236}">
                    <a16:creationId xmlns:a16="http://schemas.microsoft.com/office/drawing/2014/main" id="{9C003F5C-A2DD-E645-824B-825FADEAC6A3}"/>
                  </a:ext>
                </a:extLst>
              </p:cNvPr>
              <p:cNvSpPr txBox="1">
                <a:spLocks noRot="1" noChangeAspect="1" noMove="1" noResize="1" noEditPoints="1" noAdjustHandles="1" noChangeArrowheads="1" noChangeShapeType="1" noTextEdit="1"/>
              </p:cNvSpPr>
              <p:nvPr/>
            </p:nvSpPr>
            <p:spPr>
              <a:xfrm>
                <a:off x="961945" y="5999089"/>
                <a:ext cx="8226739" cy="570413"/>
              </a:xfrm>
              <a:prstGeom prst="rect">
                <a:avLst/>
              </a:prstGeom>
              <a:blipFill>
                <a:blip r:embed="rId7"/>
                <a:stretch>
                  <a:fillRect l="-924"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0B7B398-C5DA-B340-A337-BF57AA13FA0F}"/>
                  </a:ext>
                </a:extLst>
              </p:cNvPr>
              <p:cNvSpPr/>
              <p:nvPr/>
            </p:nvSpPr>
            <p:spPr>
              <a:xfrm>
                <a:off x="8883614" y="5886797"/>
                <a:ext cx="3048270" cy="7261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panose="02040503050406030204" pitchFamily="18" charset="0"/>
                            </a:rPr>
                            <m:t>1</m:t>
                          </m:r>
                        </m:num>
                        <m:den>
                          <m:r>
                            <a:rPr lang="en-US" sz="2200" b="0" i="1" smtClean="0">
                              <a:latin typeface="Cambria Math" panose="02040503050406030204" pitchFamily="18" charset="0"/>
                            </a:rPr>
                            <m:t>2</m:t>
                          </m:r>
                        </m:den>
                      </m:f>
                      <m:r>
                        <a:rPr lang="en-US" sz="2200" b="0" i="1" smtClean="0">
                          <a:latin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den>
                      </m:f>
                      <m:r>
                        <a:rPr lang="en-US" sz="2200" i="1">
                          <a:latin typeface="Cambria Math" panose="02040503050406030204" pitchFamily="18" charset="0"/>
                        </a:rPr>
                        <m:t> </m:t>
                      </m:r>
                      <m:r>
                        <a:rPr lang="en-US" sz="2200" i="1">
                          <a:latin typeface="Cambria Math" panose="02040503050406030204" pitchFamily="18" charset="0"/>
                          <a:ea typeface="Cambria Math" panose="02040503050406030204" pitchFamily="18" charset="0"/>
                        </a:rPr>
                        <m:t>× </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den>
                      </m:f>
                      <m:r>
                        <a:rPr lang="en-US" sz="2200" i="1">
                          <a:latin typeface="Cambria Math" panose="02040503050406030204" pitchFamily="18" charset="0"/>
                        </a:rPr>
                        <m:t>= </m:t>
                      </m:r>
                      <m:f>
                        <m:fPr>
                          <m:ctrlPr>
                            <a:rPr lang="en-US" sz="2200" i="1">
                              <a:latin typeface="Cambria Math" panose="02040503050406030204" pitchFamily="18" charset="0"/>
                            </a:rPr>
                          </m:ctrlPr>
                        </m:fPr>
                        <m:num>
                          <m:r>
                            <a:rPr lang="en-US" sz="2200" i="1">
                              <a:latin typeface="Cambria Math" panose="02040503050406030204" pitchFamily="18" charset="0"/>
                            </a:rPr>
                            <m:t>3</m:t>
                          </m:r>
                        </m:num>
                        <m:den>
                          <m:r>
                            <a:rPr lang="en-US" sz="2200" i="1">
                              <a:latin typeface="Cambria Math" panose="02040503050406030204" pitchFamily="18" charset="0"/>
                            </a:rPr>
                            <m:t>4</m:t>
                          </m:r>
                        </m:den>
                      </m:f>
                      <m:r>
                        <a:rPr lang="sr-Latn-RS" sz="2200" b="0" i="1" smtClean="0">
                          <a:latin typeface="Cambria Math" panose="02040503050406030204" pitchFamily="18" charset="0"/>
                        </a:rPr>
                        <m:t>=75%</m:t>
                      </m:r>
                    </m:oMath>
                  </m:oMathPara>
                </a14:m>
                <a:endParaRPr lang="en-US" sz="2200" dirty="0"/>
              </a:p>
            </p:txBody>
          </p:sp>
        </mc:Choice>
        <mc:Fallback xmlns="">
          <p:sp>
            <p:nvSpPr>
              <p:cNvPr id="6" name="Rectangle 5">
                <a:extLst>
                  <a:ext uri="{FF2B5EF4-FFF2-40B4-BE49-F238E27FC236}">
                    <a16:creationId xmlns:a16="http://schemas.microsoft.com/office/drawing/2014/main" id="{A0B7B398-C5DA-B340-A337-BF57AA13FA0F}"/>
                  </a:ext>
                </a:extLst>
              </p:cNvPr>
              <p:cNvSpPr>
                <a:spLocks noRot="1" noChangeAspect="1" noMove="1" noResize="1" noEditPoints="1" noAdjustHandles="1" noChangeArrowheads="1" noChangeShapeType="1" noTextEdit="1"/>
              </p:cNvSpPr>
              <p:nvPr/>
            </p:nvSpPr>
            <p:spPr>
              <a:xfrm>
                <a:off x="8883614" y="5886797"/>
                <a:ext cx="3048270" cy="726161"/>
              </a:xfrm>
              <a:prstGeom prst="rect">
                <a:avLst/>
              </a:prstGeom>
              <a:blipFill>
                <a:blip r:embed="rId8"/>
                <a:stretch>
                  <a:fillRect b="-517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C3CFBDD-9FAA-FA46-908F-E5AF6D2C5D0A}"/>
              </a:ext>
            </a:extLst>
          </p:cNvPr>
          <p:cNvSpPr txBox="1"/>
          <p:nvPr/>
        </p:nvSpPr>
        <p:spPr>
          <a:xfrm>
            <a:off x="10634030" y="5284511"/>
            <a:ext cx="835485" cy="400110"/>
          </a:xfrm>
          <a:prstGeom prst="rect">
            <a:avLst/>
          </a:prstGeom>
          <a:noFill/>
        </p:spPr>
        <p:txBody>
          <a:bodyPr wrap="none" rtlCol="0">
            <a:spAutoFit/>
          </a:bodyPr>
          <a:lstStyle/>
          <a:p>
            <a:r>
              <a:rPr lang="en-US" sz="2000" dirty="0"/>
              <a:t>qubits</a:t>
            </a:r>
          </a:p>
        </p:txBody>
      </p:sp>
      <p:sp>
        <p:nvSpPr>
          <p:cNvPr id="18" name="TextBox 17">
            <a:extLst>
              <a:ext uri="{FF2B5EF4-FFF2-40B4-BE49-F238E27FC236}">
                <a16:creationId xmlns:a16="http://schemas.microsoft.com/office/drawing/2014/main" id="{CDAAE197-3274-A140-9C94-39563360F4EB}"/>
              </a:ext>
            </a:extLst>
          </p:cNvPr>
          <p:cNvSpPr txBox="1"/>
          <p:nvPr/>
        </p:nvSpPr>
        <p:spPr>
          <a:xfrm rot="16200000">
            <a:off x="-26338" y="2655333"/>
            <a:ext cx="1312282" cy="400110"/>
          </a:xfrm>
          <a:prstGeom prst="rect">
            <a:avLst/>
          </a:prstGeom>
          <a:noFill/>
        </p:spPr>
        <p:txBody>
          <a:bodyPr wrap="none" rtlCol="0">
            <a:spAutoFit/>
          </a:bodyPr>
          <a:lstStyle/>
          <a:p>
            <a:r>
              <a:rPr lang="en-US" sz="2000" dirty="0"/>
              <a:t>probability</a:t>
            </a:r>
          </a:p>
        </p:txBody>
      </p:sp>
      <p:sp>
        <p:nvSpPr>
          <p:cNvPr id="21" name="Oval 20">
            <a:extLst>
              <a:ext uri="{FF2B5EF4-FFF2-40B4-BE49-F238E27FC236}">
                <a16:creationId xmlns:a16="http://schemas.microsoft.com/office/drawing/2014/main" id="{5DBF6038-066D-4946-9107-C0E62EADEB21}"/>
              </a:ext>
            </a:extLst>
          </p:cNvPr>
          <p:cNvSpPr>
            <a:spLocks noChangeAspect="1"/>
          </p:cNvSpPr>
          <p:nvPr/>
        </p:nvSpPr>
        <p:spPr>
          <a:xfrm>
            <a:off x="8958311" y="757522"/>
            <a:ext cx="2001000" cy="200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22" name="Straight Arrow Connector 21">
            <a:extLst>
              <a:ext uri="{FF2B5EF4-FFF2-40B4-BE49-F238E27FC236}">
                <a16:creationId xmlns:a16="http://schemas.microsoft.com/office/drawing/2014/main" id="{6628940E-A3DC-B942-95AD-13834AA43675}"/>
              </a:ext>
            </a:extLst>
          </p:cNvPr>
          <p:cNvCxnSpPr>
            <a:cxnSpLocks/>
          </p:cNvCxnSpPr>
          <p:nvPr/>
        </p:nvCxnSpPr>
        <p:spPr>
          <a:xfrm flipH="1">
            <a:off x="8969649" y="1732432"/>
            <a:ext cx="992288" cy="7244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469D40D-F748-D24C-AD8B-48A28C790F63}"/>
              </a:ext>
            </a:extLst>
          </p:cNvPr>
          <p:cNvCxnSpPr>
            <a:cxnSpLocks/>
          </p:cNvCxnSpPr>
          <p:nvPr/>
        </p:nvCxnSpPr>
        <p:spPr>
          <a:xfrm>
            <a:off x="9966828" y="1737321"/>
            <a:ext cx="931942" cy="702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18C5645-F5F1-BF4B-9C65-6F1E5F0D9B5B}"/>
              </a:ext>
            </a:extLst>
          </p:cNvPr>
          <p:cNvCxnSpPr>
            <a:cxnSpLocks/>
          </p:cNvCxnSpPr>
          <p:nvPr/>
        </p:nvCxnSpPr>
        <p:spPr>
          <a:xfrm flipV="1">
            <a:off x="9961938" y="588736"/>
            <a:ext cx="0" cy="11436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7C519E1-D02E-DC4A-BE84-A1B318268335}"/>
              </a:ext>
            </a:extLst>
          </p:cNvPr>
          <p:cNvSpPr/>
          <p:nvPr/>
        </p:nvSpPr>
        <p:spPr>
          <a:xfrm>
            <a:off x="9887113" y="906684"/>
            <a:ext cx="166169" cy="101239"/>
          </a:xfrm>
          <a:prstGeom prst="ellipse">
            <a:avLst/>
          </a:prstGeom>
          <a:solidFill>
            <a:schemeClr val="accent5">
              <a:lumMod val="75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6" name="Oval 25">
            <a:extLst>
              <a:ext uri="{FF2B5EF4-FFF2-40B4-BE49-F238E27FC236}">
                <a16:creationId xmlns:a16="http://schemas.microsoft.com/office/drawing/2014/main" id="{B6D967BF-A203-8D4B-8664-0AD2311AE291}"/>
              </a:ext>
            </a:extLst>
          </p:cNvPr>
          <p:cNvSpPr/>
          <p:nvPr/>
        </p:nvSpPr>
        <p:spPr>
          <a:xfrm>
            <a:off x="9884069" y="2477949"/>
            <a:ext cx="166168" cy="101239"/>
          </a:xfrm>
          <a:prstGeom prst="ellipse">
            <a:avLst/>
          </a:prstGeom>
          <a:solidFill>
            <a:schemeClr val="accent5">
              <a:lumMod val="75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7" name="Oval 26">
            <a:extLst>
              <a:ext uri="{FF2B5EF4-FFF2-40B4-BE49-F238E27FC236}">
                <a16:creationId xmlns:a16="http://schemas.microsoft.com/office/drawing/2014/main" id="{47A5EA21-9116-114D-ABC1-347B06552930}"/>
              </a:ext>
            </a:extLst>
          </p:cNvPr>
          <p:cNvSpPr/>
          <p:nvPr/>
        </p:nvSpPr>
        <p:spPr>
          <a:xfrm>
            <a:off x="8969649" y="1210125"/>
            <a:ext cx="1993425" cy="1208505"/>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28" name="Straight Arrow Connector 27">
            <a:extLst>
              <a:ext uri="{FF2B5EF4-FFF2-40B4-BE49-F238E27FC236}">
                <a16:creationId xmlns:a16="http://schemas.microsoft.com/office/drawing/2014/main" id="{26F26B86-9590-7044-9BA9-7DDD8AE31359}"/>
              </a:ext>
            </a:extLst>
          </p:cNvPr>
          <p:cNvCxnSpPr>
            <a:cxnSpLocks/>
            <a:endCxn id="27" idx="3"/>
          </p:cNvCxnSpPr>
          <p:nvPr/>
        </p:nvCxnSpPr>
        <p:spPr>
          <a:xfrm flipH="1">
            <a:off x="9261580" y="1737321"/>
            <a:ext cx="705248" cy="504327"/>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ACFC82F-1E05-DE4A-9B12-58BAB381E5F6}"/>
              </a:ext>
            </a:extLst>
          </p:cNvPr>
          <p:cNvCxnSpPr>
            <a:cxnSpLocks/>
          </p:cNvCxnSpPr>
          <p:nvPr/>
        </p:nvCxnSpPr>
        <p:spPr>
          <a:xfrm flipV="1">
            <a:off x="9973276" y="1319817"/>
            <a:ext cx="574752" cy="417505"/>
          </a:xfrm>
          <a:prstGeom prst="straightConnector1">
            <a:avLst/>
          </a:prstGeom>
          <a:ln w="50800" cap="rnd">
            <a:solidFill>
              <a:srgbClr val="FF0000">
                <a:alpha val="50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BDA0329-4CCF-F546-A819-FAA84FB27B10}"/>
              </a:ext>
            </a:extLst>
          </p:cNvPr>
          <p:cNvCxnSpPr>
            <a:cxnSpLocks/>
          </p:cNvCxnSpPr>
          <p:nvPr/>
        </p:nvCxnSpPr>
        <p:spPr>
          <a:xfrm flipV="1">
            <a:off x="9966362" y="938270"/>
            <a:ext cx="0" cy="79971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BB9A3AD-831A-5049-86E3-787F185BB904}"/>
              </a:ext>
            </a:extLst>
          </p:cNvPr>
          <p:cNvCxnSpPr>
            <a:cxnSpLocks/>
          </p:cNvCxnSpPr>
          <p:nvPr/>
        </p:nvCxnSpPr>
        <p:spPr>
          <a:xfrm>
            <a:off x="9965717" y="1737321"/>
            <a:ext cx="0" cy="799719"/>
          </a:xfrm>
          <a:prstGeom prst="straightConnector1">
            <a:avLst/>
          </a:prstGeom>
          <a:ln w="50800">
            <a:solidFill>
              <a:schemeClr val="accent1">
                <a:alpha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18F8D826-EE96-9C4E-849A-0E8EEB2F1A4C}"/>
                  </a:ext>
                </a:extLst>
              </p:cNvPr>
              <p:cNvSpPr/>
              <p:nvPr/>
            </p:nvSpPr>
            <p:spPr>
              <a:xfrm>
                <a:off x="9996370" y="773409"/>
                <a:ext cx="48365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600" i="1">
                              <a:solidFill>
                                <a:schemeClr val="tx1">
                                  <a:lumMod val="65000"/>
                                  <a:lumOff val="35000"/>
                                </a:schemeClr>
                              </a:solidFill>
                              <a:latin typeface="Cambria Math" panose="02040503050406030204" pitchFamily="18" charset="0"/>
                              <a:ea typeface="Cambria Math" panose="02040503050406030204" pitchFamily="18" charset="0"/>
                            </a:rPr>
                            <m:t>0</m:t>
                          </m:r>
                        </m:e>
                      </m:d>
                    </m:oMath>
                  </m:oMathPara>
                </a14:m>
                <a:endParaRPr lang="en-US" sz="1600" dirty="0"/>
              </a:p>
            </p:txBody>
          </p:sp>
        </mc:Choice>
        <mc:Fallback xmlns="">
          <p:sp>
            <p:nvSpPr>
              <p:cNvPr id="32" name="Rectangle 31">
                <a:extLst>
                  <a:ext uri="{FF2B5EF4-FFF2-40B4-BE49-F238E27FC236}">
                    <a16:creationId xmlns:a16="http://schemas.microsoft.com/office/drawing/2014/main" id="{18F8D826-EE96-9C4E-849A-0E8EEB2F1A4C}"/>
                  </a:ext>
                </a:extLst>
              </p:cNvPr>
              <p:cNvSpPr>
                <a:spLocks noRot="1" noChangeAspect="1" noMove="1" noResize="1" noEditPoints="1" noAdjustHandles="1" noChangeArrowheads="1" noChangeShapeType="1" noTextEdit="1"/>
              </p:cNvSpPr>
              <p:nvPr/>
            </p:nvSpPr>
            <p:spPr>
              <a:xfrm>
                <a:off x="9996370" y="773409"/>
                <a:ext cx="483658"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BEF4057-870D-B946-B304-B11D8B8EED93}"/>
                  </a:ext>
                </a:extLst>
              </p:cNvPr>
              <p:cNvSpPr/>
              <p:nvPr/>
            </p:nvSpPr>
            <p:spPr>
              <a:xfrm>
                <a:off x="9996370" y="2375760"/>
                <a:ext cx="48365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600" b="0" i="1" smtClean="0">
                              <a:solidFill>
                                <a:schemeClr val="tx1">
                                  <a:lumMod val="65000"/>
                                  <a:lumOff val="35000"/>
                                </a:schemeClr>
                              </a:solidFill>
                              <a:latin typeface="Cambria Math" panose="02040503050406030204" pitchFamily="18" charset="0"/>
                              <a:ea typeface="Cambria Math" panose="02040503050406030204" pitchFamily="18" charset="0"/>
                            </a:rPr>
                            <m:t>1</m:t>
                          </m:r>
                        </m:e>
                      </m:d>
                    </m:oMath>
                  </m:oMathPara>
                </a14:m>
                <a:endParaRPr lang="en-US" sz="1600" dirty="0"/>
              </a:p>
            </p:txBody>
          </p:sp>
        </mc:Choice>
        <mc:Fallback xmlns="">
          <p:sp>
            <p:nvSpPr>
              <p:cNvPr id="33" name="Rectangle 32">
                <a:extLst>
                  <a:ext uri="{FF2B5EF4-FFF2-40B4-BE49-F238E27FC236}">
                    <a16:creationId xmlns:a16="http://schemas.microsoft.com/office/drawing/2014/main" id="{FBEF4057-870D-B946-B304-B11D8B8EED93}"/>
                  </a:ext>
                </a:extLst>
              </p:cNvPr>
              <p:cNvSpPr>
                <a:spLocks noRot="1" noChangeAspect="1" noMove="1" noResize="1" noEditPoints="1" noAdjustHandles="1" noChangeArrowheads="1" noChangeShapeType="1" noTextEdit="1"/>
              </p:cNvSpPr>
              <p:nvPr/>
            </p:nvSpPr>
            <p:spPr>
              <a:xfrm>
                <a:off x="9996370" y="2375760"/>
                <a:ext cx="483658"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4BBB0E48-747E-F746-8D1E-D02B3EFB341E}"/>
                  </a:ext>
                </a:extLst>
              </p:cNvPr>
              <p:cNvSpPr/>
              <p:nvPr/>
            </p:nvSpPr>
            <p:spPr>
              <a:xfrm>
                <a:off x="10543929" y="1083718"/>
                <a:ext cx="52373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600" b="0" i="1" smtClean="0">
                              <a:solidFill>
                                <a:schemeClr val="tx1">
                                  <a:lumMod val="65000"/>
                                  <a:lumOff val="35000"/>
                                </a:schemeClr>
                              </a:solidFill>
                              <a:latin typeface="Cambria Math" panose="02040503050406030204" pitchFamily="18" charset="0"/>
                              <a:ea typeface="Cambria Math" panose="02040503050406030204" pitchFamily="18" charset="0"/>
                            </a:rPr>
                            <m:t>−</m:t>
                          </m:r>
                        </m:e>
                      </m:d>
                    </m:oMath>
                  </m:oMathPara>
                </a14:m>
                <a:endParaRPr lang="en-US" sz="1600" dirty="0"/>
              </a:p>
            </p:txBody>
          </p:sp>
        </mc:Choice>
        <mc:Fallback xmlns="">
          <p:sp>
            <p:nvSpPr>
              <p:cNvPr id="34" name="Rectangle 33">
                <a:extLst>
                  <a:ext uri="{FF2B5EF4-FFF2-40B4-BE49-F238E27FC236}">
                    <a16:creationId xmlns:a16="http://schemas.microsoft.com/office/drawing/2014/main" id="{4BBB0E48-747E-F746-8D1E-D02B3EFB341E}"/>
                  </a:ext>
                </a:extLst>
              </p:cNvPr>
              <p:cNvSpPr>
                <a:spLocks noRot="1" noChangeAspect="1" noMove="1" noResize="1" noEditPoints="1" noAdjustHandles="1" noChangeArrowheads="1" noChangeShapeType="1" noTextEdit="1"/>
              </p:cNvSpPr>
              <p:nvPr/>
            </p:nvSpPr>
            <p:spPr>
              <a:xfrm>
                <a:off x="10543929" y="1083718"/>
                <a:ext cx="523733"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C800249-9CD8-4E45-A571-60B81BDAE81D}"/>
                  </a:ext>
                </a:extLst>
              </p:cNvPr>
              <p:cNvSpPr/>
              <p:nvPr/>
            </p:nvSpPr>
            <p:spPr>
              <a:xfrm>
                <a:off x="8473809" y="1995683"/>
                <a:ext cx="52373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chemeClr val="tx1">
                                  <a:lumMod val="65000"/>
                                  <a:lumOff val="35000"/>
                                </a:schemeClr>
                              </a:solidFill>
                              <a:latin typeface="Cambria Math" panose="02040503050406030204" pitchFamily="18" charset="0"/>
                              <a:ea typeface="Cambria Math" panose="02040503050406030204" pitchFamily="18" charset="0"/>
                            </a:rPr>
                          </m:ctrlPr>
                        </m:dPr>
                        <m:e>
                          <m:r>
                            <a:rPr lang="en-US" sz="1600" b="0" i="1" smtClean="0">
                              <a:solidFill>
                                <a:schemeClr val="tx1">
                                  <a:lumMod val="65000"/>
                                  <a:lumOff val="35000"/>
                                </a:schemeClr>
                              </a:solidFill>
                              <a:latin typeface="Cambria Math" panose="02040503050406030204" pitchFamily="18" charset="0"/>
                              <a:ea typeface="Cambria Math" panose="02040503050406030204" pitchFamily="18" charset="0"/>
                            </a:rPr>
                            <m:t>+</m:t>
                          </m:r>
                        </m:e>
                      </m:d>
                    </m:oMath>
                  </m:oMathPara>
                </a14:m>
                <a:endParaRPr lang="en-US" sz="1600" dirty="0"/>
              </a:p>
            </p:txBody>
          </p:sp>
        </mc:Choice>
        <mc:Fallback xmlns="">
          <p:sp>
            <p:nvSpPr>
              <p:cNvPr id="35" name="Rectangle 34">
                <a:extLst>
                  <a:ext uri="{FF2B5EF4-FFF2-40B4-BE49-F238E27FC236}">
                    <a16:creationId xmlns:a16="http://schemas.microsoft.com/office/drawing/2014/main" id="{FC800249-9CD8-4E45-A571-60B81BDAE81D}"/>
                  </a:ext>
                </a:extLst>
              </p:cNvPr>
              <p:cNvSpPr>
                <a:spLocks noRot="1" noChangeAspect="1" noMove="1" noResize="1" noEditPoints="1" noAdjustHandles="1" noChangeArrowheads="1" noChangeShapeType="1" noTextEdit="1"/>
              </p:cNvSpPr>
              <p:nvPr/>
            </p:nvSpPr>
            <p:spPr>
              <a:xfrm>
                <a:off x="8473809" y="1995683"/>
                <a:ext cx="52373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E5B61624-9DAC-1543-990A-F05460749F73}"/>
                  </a:ext>
                </a:extLst>
              </p:cNvPr>
              <p:cNvSpPr/>
              <p:nvPr/>
            </p:nvSpPr>
            <p:spPr>
              <a:xfrm>
                <a:off x="8968539" y="2418630"/>
                <a:ext cx="34637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rPr>
                        <m:t>𝑥</m:t>
                      </m:r>
                    </m:oMath>
                  </m:oMathPara>
                </a14:m>
                <a:endParaRPr lang="en-US" sz="1600" dirty="0">
                  <a:solidFill>
                    <a:schemeClr val="tx1"/>
                  </a:solidFill>
                </a:endParaRPr>
              </a:p>
            </p:txBody>
          </p:sp>
        </mc:Choice>
        <mc:Fallback xmlns="">
          <p:sp>
            <p:nvSpPr>
              <p:cNvPr id="36" name="Rectangle 35">
                <a:extLst>
                  <a:ext uri="{FF2B5EF4-FFF2-40B4-BE49-F238E27FC236}">
                    <a16:creationId xmlns:a16="http://schemas.microsoft.com/office/drawing/2014/main" id="{E5B61624-9DAC-1543-990A-F05460749F73}"/>
                  </a:ext>
                </a:extLst>
              </p:cNvPr>
              <p:cNvSpPr>
                <a:spLocks noRot="1" noChangeAspect="1" noMove="1" noResize="1" noEditPoints="1" noAdjustHandles="1" noChangeArrowheads="1" noChangeShapeType="1" noTextEdit="1"/>
              </p:cNvSpPr>
              <p:nvPr/>
            </p:nvSpPr>
            <p:spPr>
              <a:xfrm>
                <a:off x="8968539" y="2418630"/>
                <a:ext cx="346377"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E726AA6E-E54B-4F42-975A-2BFC11E3806E}"/>
                  </a:ext>
                </a:extLst>
              </p:cNvPr>
              <p:cNvSpPr/>
              <p:nvPr/>
            </p:nvSpPr>
            <p:spPr>
              <a:xfrm>
                <a:off x="10928380" y="2319270"/>
                <a:ext cx="3500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Cambria Math" panose="02040503050406030204" pitchFamily="18" charset="0"/>
                        </a:rPr>
                        <m:t>𝑦</m:t>
                      </m:r>
                    </m:oMath>
                  </m:oMathPara>
                </a14:m>
                <a:endParaRPr lang="en-US" sz="1600" dirty="0">
                  <a:solidFill>
                    <a:schemeClr val="tx1"/>
                  </a:solidFill>
                </a:endParaRPr>
              </a:p>
            </p:txBody>
          </p:sp>
        </mc:Choice>
        <mc:Fallback xmlns="">
          <p:sp>
            <p:nvSpPr>
              <p:cNvPr id="37" name="Rectangle 36">
                <a:extLst>
                  <a:ext uri="{FF2B5EF4-FFF2-40B4-BE49-F238E27FC236}">
                    <a16:creationId xmlns:a16="http://schemas.microsoft.com/office/drawing/2014/main" id="{E726AA6E-E54B-4F42-975A-2BFC11E3806E}"/>
                  </a:ext>
                </a:extLst>
              </p:cNvPr>
              <p:cNvSpPr>
                <a:spLocks noRot="1" noChangeAspect="1" noMove="1" noResize="1" noEditPoints="1" noAdjustHandles="1" noChangeArrowheads="1" noChangeShapeType="1" noTextEdit="1"/>
              </p:cNvSpPr>
              <p:nvPr/>
            </p:nvSpPr>
            <p:spPr>
              <a:xfrm>
                <a:off x="10928380" y="2319270"/>
                <a:ext cx="350096" cy="338554"/>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18842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EACE70E0-8F4B-3F4F-978F-183551AAB7F4}"/>
              </a:ext>
            </a:extLst>
          </p:cNvPr>
          <p:cNvSpPr/>
          <p:nvPr/>
        </p:nvSpPr>
        <p:spPr>
          <a:xfrm rot="965914">
            <a:off x="6759682" y="581681"/>
            <a:ext cx="5592952" cy="5338136"/>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1592"/>
              <a:gd name="connsiteX1" fmla="*/ 5659 w 43256"/>
              <a:gd name="connsiteY1" fmla="*/ 6766 h 41592"/>
              <a:gd name="connsiteX2" fmla="*/ 14041 w 43256"/>
              <a:gd name="connsiteY2" fmla="*/ 5061 h 41592"/>
              <a:gd name="connsiteX3" fmla="*/ 22492 w 43256"/>
              <a:gd name="connsiteY3" fmla="*/ 3291 h 41592"/>
              <a:gd name="connsiteX4" fmla="*/ 25785 w 43256"/>
              <a:gd name="connsiteY4" fmla="*/ 59 h 41592"/>
              <a:gd name="connsiteX5" fmla="*/ 29869 w 43256"/>
              <a:gd name="connsiteY5" fmla="*/ 2340 h 41592"/>
              <a:gd name="connsiteX6" fmla="*/ 35499 w 43256"/>
              <a:gd name="connsiteY6" fmla="*/ 549 h 41592"/>
              <a:gd name="connsiteX7" fmla="*/ 38354 w 43256"/>
              <a:gd name="connsiteY7" fmla="*/ 5435 h 41592"/>
              <a:gd name="connsiteX8" fmla="*/ 42018 w 43256"/>
              <a:gd name="connsiteY8" fmla="*/ 10177 h 41592"/>
              <a:gd name="connsiteX9" fmla="*/ 41854 w 43256"/>
              <a:gd name="connsiteY9" fmla="*/ 15319 h 41592"/>
              <a:gd name="connsiteX10" fmla="*/ 43052 w 43256"/>
              <a:gd name="connsiteY10" fmla="*/ 23181 h 41592"/>
              <a:gd name="connsiteX11" fmla="*/ 37440 w 43256"/>
              <a:gd name="connsiteY11" fmla="*/ 30063 h 41592"/>
              <a:gd name="connsiteX12" fmla="*/ 35431 w 43256"/>
              <a:gd name="connsiteY12" fmla="*/ 35960 h 41592"/>
              <a:gd name="connsiteX13" fmla="*/ 28591 w 43256"/>
              <a:gd name="connsiteY13" fmla="*/ 36674 h 41592"/>
              <a:gd name="connsiteX14" fmla="*/ 23238 w 43256"/>
              <a:gd name="connsiteY14" fmla="*/ 40905 h 41592"/>
              <a:gd name="connsiteX15" fmla="*/ 16516 w 43256"/>
              <a:gd name="connsiteY15" fmla="*/ 39125 h 41592"/>
              <a:gd name="connsiteX16" fmla="*/ 5840 w 43256"/>
              <a:gd name="connsiteY16" fmla="*/ 35331 h 41592"/>
              <a:gd name="connsiteX17" fmla="*/ 1146 w 43256"/>
              <a:gd name="connsiteY17" fmla="*/ 31109 h 41592"/>
              <a:gd name="connsiteX18" fmla="*/ 2149 w 43256"/>
              <a:gd name="connsiteY18" fmla="*/ 25410 h 41592"/>
              <a:gd name="connsiteX19" fmla="*/ 31 w 43256"/>
              <a:gd name="connsiteY19" fmla="*/ 19563 h 41592"/>
              <a:gd name="connsiteX20" fmla="*/ 3899 w 43256"/>
              <a:gd name="connsiteY20" fmla="*/ 14366 h 41592"/>
              <a:gd name="connsiteX21" fmla="*/ 3936 w 43256"/>
              <a:gd name="connsiteY21" fmla="*/ 14229 h 41592"/>
              <a:gd name="connsiteX0" fmla="*/ 4729 w 43256"/>
              <a:gd name="connsiteY0" fmla="*/ 26036 h 41592"/>
              <a:gd name="connsiteX1" fmla="*/ 2196 w 43256"/>
              <a:gd name="connsiteY1" fmla="*/ 25239 h 41592"/>
              <a:gd name="connsiteX2" fmla="*/ 6964 w 43256"/>
              <a:gd name="connsiteY2" fmla="*/ 34758 h 41592"/>
              <a:gd name="connsiteX3" fmla="*/ 5856 w 43256"/>
              <a:gd name="connsiteY3" fmla="*/ 35139 h 41592"/>
              <a:gd name="connsiteX4" fmla="*/ 16514 w 43256"/>
              <a:gd name="connsiteY4" fmla="*/ 38949 h 41592"/>
              <a:gd name="connsiteX5" fmla="*/ 15846 w 43256"/>
              <a:gd name="connsiteY5" fmla="*/ 37209 h 41592"/>
              <a:gd name="connsiteX6" fmla="*/ 28863 w 43256"/>
              <a:gd name="connsiteY6" fmla="*/ 34610 h 41592"/>
              <a:gd name="connsiteX7" fmla="*/ 28596 w 43256"/>
              <a:gd name="connsiteY7" fmla="*/ 36519 h 41592"/>
              <a:gd name="connsiteX8" fmla="*/ 34165 w 43256"/>
              <a:gd name="connsiteY8" fmla="*/ 22813 h 41592"/>
              <a:gd name="connsiteX9" fmla="*/ 37416 w 43256"/>
              <a:gd name="connsiteY9" fmla="*/ 29949 h 41592"/>
              <a:gd name="connsiteX10" fmla="*/ 41834 w 43256"/>
              <a:gd name="connsiteY10" fmla="*/ 15213 h 41592"/>
              <a:gd name="connsiteX11" fmla="*/ 40386 w 43256"/>
              <a:gd name="connsiteY11" fmla="*/ 17889 h 41592"/>
              <a:gd name="connsiteX12" fmla="*/ 38360 w 43256"/>
              <a:gd name="connsiteY12" fmla="*/ 5285 h 41592"/>
              <a:gd name="connsiteX13" fmla="*/ 38436 w 43256"/>
              <a:gd name="connsiteY13" fmla="*/ 6549 h 41592"/>
              <a:gd name="connsiteX14" fmla="*/ 29114 w 43256"/>
              <a:gd name="connsiteY14" fmla="*/ 3811 h 41592"/>
              <a:gd name="connsiteX15" fmla="*/ 29856 w 43256"/>
              <a:gd name="connsiteY15" fmla="*/ 2199 h 41592"/>
              <a:gd name="connsiteX16" fmla="*/ 22177 w 43256"/>
              <a:gd name="connsiteY16" fmla="*/ 4579 h 41592"/>
              <a:gd name="connsiteX17" fmla="*/ 22536 w 43256"/>
              <a:gd name="connsiteY17" fmla="*/ 3189 h 41592"/>
              <a:gd name="connsiteX18" fmla="*/ 14036 w 43256"/>
              <a:gd name="connsiteY18" fmla="*/ 5051 h 41592"/>
              <a:gd name="connsiteX19" fmla="*/ 15336 w 43256"/>
              <a:gd name="connsiteY19" fmla="*/ 6399 h 41592"/>
              <a:gd name="connsiteX20" fmla="*/ 4163 w 43256"/>
              <a:gd name="connsiteY20" fmla="*/ 15648 h 41592"/>
              <a:gd name="connsiteX21" fmla="*/ 3936 w 43256"/>
              <a:gd name="connsiteY21" fmla="*/ 14229 h 41592"/>
              <a:gd name="connsiteX0" fmla="*/ 3936 w 44682"/>
              <a:gd name="connsiteY0" fmla="*/ 14229 h 41592"/>
              <a:gd name="connsiteX1" fmla="*/ 5659 w 44682"/>
              <a:gd name="connsiteY1" fmla="*/ 6766 h 41592"/>
              <a:gd name="connsiteX2" fmla="*/ 14041 w 44682"/>
              <a:gd name="connsiteY2" fmla="*/ 5061 h 41592"/>
              <a:gd name="connsiteX3" fmla="*/ 22492 w 44682"/>
              <a:gd name="connsiteY3" fmla="*/ 3291 h 41592"/>
              <a:gd name="connsiteX4" fmla="*/ 25785 w 44682"/>
              <a:gd name="connsiteY4" fmla="*/ 59 h 41592"/>
              <a:gd name="connsiteX5" fmla="*/ 29869 w 44682"/>
              <a:gd name="connsiteY5" fmla="*/ 2340 h 41592"/>
              <a:gd name="connsiteX6" fmla="*/ 35499 w 44682"/>
              <a:gd name="connsiteY6" fmla="*/ 549 h 41592"/>
              <a:gd name="connsiteX7" fmla="*/ 38354 w 44682"/>
              <a:gd name="connsiteY7" fmla="*/ 5435 h 41592"/>
              <a:gd name="connsiteX8" fmla="*/ 42018 w 44682"/>
              <a:gd name="connsiteY8" fmla="*/ 10177 h 41592"/>
              <a:gd name="connsiteX9" fmla="*/ 41854 w 44682"/>
              <a:gd name="connsiteY9" fmla="*/ 15319 h 41592"/>
              <a:gd name="connsiteX10" fmla="*/ 43052 w 44682"/>
              <a:gd name="connsiteY10" fmla="*/ 23181 h 41592"/>
              <a:gd name="connsiteX11" fmla="*/ 37440 w 44682"/>
              <a:gd name="connsiteY11" fmla="*/ 30063 h 41592"/>
              <a:gd name="connsiteX12" fmla="*/ 35431 w 44682"/>
              <a:gd name="connsiteY12" fmla="*/ 35960 h 41592"/>
              <a:gd name="connsiteX13" fmla="*/ 28591 w 44682"/>
              <a:gd name="connsiteY13" fmla="*/ 36674 h 41592"/>
              <a:gd name="connsiteX14" fmla="*/ 23238 w 44682"/>
              <a:gd name="connsiteY14" fmla="*/ 40905 h 41592"/>
              <a:gd name="connsiteX15" fmla="*/ 16516 w 44682"/>
              <a:gd name="connsiteY15" fmla="*/ 39125 h 41592"/>
              <a:gd name="connsiteX16" fmla="*/ 5840 w 44682"/>
              <a:gd name="connsiteY16" fmla="*/ 35331 h 41592"/>
              <a:gd name="connsiteX17" fmla="*/ 1146 w 44682"/>
              <a:gd name="connsiteY17" fmla="*/ 31109 h 41592"/>
              <a:gd name="connsiteX18" fmla="*/ 2149 w 44682"/>
              <a:gd name="connsiteY18" fmla="*/ 25410 h 41592"/>
              <a:gd name="connsiteX19" fmla="*/ 31 w 44682"/>
              <a:gd name="connsiteY19" fmla="*/ 19563 h 41592"/>
              <a:gd name="connsiteX20" fmla="*/ 3899 w 44682"/>
              <a:gd name="connsiteY20" fmla="*/ 14366 h 41592"/>
              <a:gd name="connsiteX21" fmla="*/ 3936 w 44682"/>
              <a:gd name="connsiteY21" fmla="*/ 14229 h 41592"/>
              <a:gd name="connsiteX0" fmla="*/ 4729 w 44682"/>
              <a:gd name="connsiteY0" fmla="*/ 26036 h 41592"/>
              <a:gd name="connsiteX1" fmla="*/ 2196 w 44682"/>
              <a:gd name="connsiteY1" fmla="*/ 25239 h 41592"/>
              <a:gd name="connsiteX2" fmla="*/ 6964 w 44682"/>
              <a:gd name="connsiteY2" fmla="*/ 34758 h 41592"/>
              <a:gd name="connsiteX3" fmla="*/ 5856 w 44682"/>
              <a:gd name="connsiteY3" fmla="*/ 35139 h 41592"/>
              <a:gd name="connsiteX4" fmla="*/ 16514 w 44682"/>
              <a:gd name="connsiteY4" fmla="*/ 38949 h 41592"/>
              <a:gd name="connsiteX5" fmla="*/ 15846 w 44682"/>
              <a:gd name="connsiteY5" fmla="*/ 37209 h 41592"/>
              <a:gd name="connsiteX6" fmla="*/ 28863 w 44682"/>
              <a:gd name="connsiteY6" fmla="*/ 34610 h 41592"/>
              <a:gd name="connsiteX7" fmla="*/ 28596 w 44682"/>
              <a:gd name="connsiteY7" fmla="*/ 36519 h 41592"/>
              <a:gd name="connsiteX8" fmla="*/ 34165 w 44682"/>
              <a:gd name="connsiteY8" fmla="*/ 22813 h 41592"/>
              <a:gd name="connsiteX9" fmla="*/ 44682 w 44682"/>
              <a:gd name="connsiteY9" fmla="*/ 33475 h 41592"/>
              <a:gd name="connsiteX10" fmla="*/ 41834 w 44682"/>
              <a:gd name="connsiteY10" fmla="*/ 15213 h 41592"/>
              <a:gd name="connsiteX11" fmla="*/ 40386 w 44682"/>
              <a:gd name="connsiteY11" fmla="*/ 17889 h 41592"/>
              <a:gd name="connsiteX12" fmla="*/ 38360 w 44682"/>
              <a:gd name="connsiteY12" fmla="*/ 5285 h 41592"/>
              <a:gd name="connsiteX13" fmla="*/ 38436 w 44682"/>
              <a:gd name="connsiteY13" fmla="*/ 6549 h 41592"/>
              <a:gd name="connsiteX14" fmla="*/ 29114 w 44682"/>
              <a:gd name="connsiteY14" fmla="*/ 3811 h 41592"/>
              <a:gd name="connsiteX15" fmla="*/ 29856 w 44682"/>
              <a:gd name="connsiteY15" fmla="*/ 2199 h 41592"/>
              <a:gd name="connsiteX16" fmla="*/ 22177 w 44682"/>
              <a:gd name="connsiteY16" fmla="*/ 4579 h 41592"/>
              <a:gd name="connsiteX17" fmla="*/ 22536 w 44682"/>
              <a:gd name="connsiteY17" fmla="*/ 3189 h 41592"/>
              <a:gd name="connsiteX18" fmla="*/ 14036 w 44682"/>
              <a:gd name="connsiteY18" fmla="*/ 5051 h 41592"/>
              <a:gd name="connsiteX19" fmla="*/ 15336 w 44682"/>
              <a:gd name="connsiteY19" fmla="*/ 6399 h 41592"/>
              <a:gd name="connsiteX20" fmla="*/ 4163 w 44682"/>
              <a:gd name="connsiteY20" fmla="*/ 15648 h 41592"/>
              <a:gd name="connsiteX21" fmla="*/ 3936 w 44682"/>
              <a:gd name="connsiteY21" fmla="*/ 14229 h 41592"/>
              <a:gd name="connsiteX0" fmla="*/ 3936 w 45203"/>
              <a:gd name="connsiteY0" fmla="*/ 14229 h 41592"/>
              <a:gd name="connsiteX1" fmla="*/ 5659 w 45203"/>
              <a:gd name="connsiteY1" fmla="*/ 6766 h 41592"/>
              <a:gd name="connsiteX2" fmla="*/ 14041 w 45203"/>
              <a:gd name="connsiteY2" fmla="*/ 5061 h 41592"/>
              <a:gd name="connsiteX3" fmla="*/ 22492 w 45203"/>
              <a:gd name="connsiteY3" fmla="*/ 3291 h 41592"/>
              <a:gd name="connsiteX4" fmla="*/ 25785 w 45203"/>
              <a:gd name="connsiteY4" fmla="*/ 59 h 41592"/>
              <a:gd name="connsiteX5" fmla="*/ 29869 w 45203"/>
              <a:gd name="connsiteY5" fmla="*/ 2340 h 41592"/>
              <a:gd name="connsiteX6" fmla="*/ 35499 w 45203"/>
              <a:gd name="connsiteY6" fmla="*/ 549 h 41592"/>
              <a:gd name="connsiteX7" fmla="*/ 38354 w 45203"/>
              <a:gd name="connsiteY7" fmla="*/ 5435 h 41592"/>
              <a:gd name="connsiteX8" fmla="*/ 42018 w 45203"/>
              <a:gd name="connsiteY8" fmla="*/ 10177 h 41592"/>
              <a:gd name="connsiteX9" fmla="*/ 41854 w 45203"/>
              <a:gd name="connsiteY9" fmla="*/ 15319 h 41592"/>
              <a:gd name="connsiteX10" fmla="*/ 43052 w 45203"/>
              <a:gd name="connsiteY10" fmla="*/ 23181 h 41592"/>
              <a:gd name="connsiteX11" fmla="*/ 44165 w 45203"/>
              <a:gd name="connsiteY11" fmla="*/ 33302 h 41592"/>
              <a:gd name="connsiteX12" fmla="*/ 35431 w 45203"/>
              <a:gd name="connsiteY12" fmla="*/ 35960 h 41592"/>
              <a:gd name="connsiteX13" fmla="*/ 28591 w 45203"/>
              <a:gd name="connsiteY13" fmla="*/ 36674 h 41592"/>
              <a:gd name="connsiteX14" fmla="*/ 23238 w 45203"/>
              <a:gd name="connsiteY14" fmla="*/ 40905 h 41592"/>
              <a:gd name="connsiteX15" fmla="*/ 16516 w 45203"/>
              <a:gd name="connsiteY15" fmla="*/ 39125 h 41592"/>
              <a:gd name="connsiteX16" fmla="*/ 5840 w 45203"/>
              <a:gd name="connsiteY16" fmla="*/ 35331 h 41592"/>
              <a:gd name="connsiteX17" fmla="*/ 1146 w 45203"/>
              <a:gd name="connsiteY17" fmla="*/ 31109 h 41592"/>
              <a:gd name="connsiteX18" fmla="*/ 2149 w 45203"/>
              <a:gd name="connsiteY18" fmla="*/ 25410 h 41592"/>
              <a:gd name="connsiteX19" fmla="*/ 31 w 45203"/>
              <a:gd name="connsiteY19" fmla="*/ 19563 h 41592"/>
              <a:gd name="connsiteX20" fmla="*/ 3899 w 45203"/>
              <a:gd name="connsiteY20" fmla="*/ 14366 h 41592"/>
              <a:gd name="connsiteX21" fmla="*/ 3936 w 45203"/>
              <a:gd name="connsiteY21" fmla="*/ 14229 h 41592"/>
              <a:gd name="connsiteX0" fmla="*/ 4729 w 45203"/>
              <a:gd name="connsiteY0" fmla="*/ 26036 h 41592"/>
              <a:gd name="connsiteX1" fmla="*/ 2196 w 45203"/>
              <a:gd name="connsiteY1" fmla="*/ 25239 h 41592"/>
              <a:gd name="connsiteX2" fmla="*/ 6964 w 45203"/>
              <a:gd name="connsiteY2" fmla="*/ 34758 h 41592"/>
              <a:gd name="connsiteX3" fmla="*/ 5856 w 45203"/>
              <a:gd name="connsiteY3" fmla="*/ 35139 h 41592"/>
              <a:gd name="connsiteX4" fmla="*/ 16514 w 45203"/>
              <a:gd name="connsiteY4" fmla="*/ 38949 h 41592"/>
              <a:gd name="connsiteX5" fmla="*/ 15846 w 45203"/>
              <a:gd name="connsiteY5" fmla="*/ 37209 h 41592"/>
              <a:gd name="connsiteX6" fmla="*/ 28863 w 45203"/>
              <a:gd name="connsiteY6" fmla="*/ 34610 h 41592"/>
              <a:gd name="connsiteX7" fmla="*/ 28596 w 45203"/>
              <a:gd name="connsiteY7" fmla="*/ 36519 h 41592"/>
              <a:gd name="connsiteX8" fmla="*/ 34165 w 45203"/>
              <a:gd name="connsiteY8" fmla="*/ 22813 h 41592"/>
              <a:gd name="connsiteX9" fmla="*/ 44682 w 45203"/>
              <a:gd name="connsiteY9" fmla="*/ 33475 h 41592"/>
              <a:gd name="connsiteX10" fmla="*/ 41834 w 45203"/>
              <a:gd name="connsiteY10" fmla="*/ 15213 h 41592"/>
              <a:gd name="connsiteX11" fmla="*/ 40386 w 45203"/>
              <a:gd name="connsiteY11" fmla="*/ 17889 h 41592"/>
              <a:gd name="connsiteX12" fmla="*/ 38360 w 45203"/>
              <a:gd name="connsiteY12" fmla="*/ 5285 h 41592"/>
              <a:gd name="connsiteX13" fmla="*/ 38436 w 45203"/>
              <a:gd name="connsiteY13" fmla="*/ 6549 h 41592"/>
              <a:gd name="connsiteX14" fmla="*/ 29114 w 45203"/>
              <a:gd name="connsiteY14" fmla="*/ 3811 h 41592"/>
              <a:gd name="connsiteX15" fmla="*/ 29856 w 45203"/>
              <a:gd name="connsiteY15" fmla="*/ 2199 h 41592"/>
              <a:gd name="connsiteX16" fmla="*/ 22177 w 45203"/>
              <a:gd name="connsiteY16" fmla="*/ 4579 h 41592"/>
              <a:gd name="connsiteX17" fmla="*/ 22536 w 45203"/>
              <a:gd name="connsiteY17" fmla="*/ 3189 h 41592"/>
              <a:gd name="connsiteX18" fmla="*/ 14036 w 45203"/>
              <a:gd name="connsiteY18" fmla="*/ 5051 h 41592"/>
              <a:gd name="connsiteX19" fmla="*/ 15336 w 45203"/>
              <a:gd name="connsiteY19" fmla="*/ 6399 h 41592"/>
              <a:gd name="connsiteX20" fmla="*/ 4163 w 45203"/>
              <a:gd name="connsiteY20" fmla="*/ 15648 h 41592"/>
              <a:gd name="connsiteX21" fmla="*/ 3936 w 45203"/>
              <a:gd name="connsiteY21" fmla="*/ 14229 h 41592"/>
              <a:gd name="connsiteX0" fmla="*/ 3936 w 45203"/>
              <a:gd name="connsiteY0" fmla="*/ 14229 h 41592"/>
              <a:gd name="connsiteX1" fmla="*/ 5659 w 45203"/>
              <a:gd name="connsiteY1" fmla="*/ 6766 h 41592"/>
              <a:gd name="connsiteX2" fmla="*/ 14041 w 45203"/>
              <a:gd name="connsiteY2" fmla="*/ 5061 h 41592"/>
              <a:gd name="connsiteX3" fmla="*/ 22492 w 45203"/>
              <a:gd name="connsiteY3" fmla="*/ 3291 h 41592"/>
              <a:gd name="connsiteX4" fmla="*/ 25785 w 45203"/>
              <a:gd name="connsiteY4" fmla="*/ 59 h 41592"/>
              <a:gd name="connsiteX5" fmla="*/ 29869 w 45203"/>
              <a:gd name="connsiteY5" fmla="*/ 2340 h 41592"/>
              <a:gd name="connsiteX6" fmla="*/ 35499 w 45203"/>
              <a:gd name="connsiteY6" fmla="*/ 549 h 41592"/>
              <a:gd name="connsiteX7" fmla="*/ 38354 w 45203"/>
              <a:gd name="connsiteY7" fmla="*/ 5435 h 41592"/>
              <a:gd name="connsiteX8" fmla="*/ 42018 w 45203"/>
              <a:gd name="connsiteY8" fmla="*/ 10177 h 41592"/>
              <a:gd name="connsiteX9" fmla="*/ 41854 w 45203"/>
              <a:gd name="connsiteY9" fmla="*/ 15319 h 41592"/>
              <a:gd name="connsiteX10" fmla="*/ 43052 w 45203"/>
              <a:gd name="connsiteY10" fmla="*/ 23181 h 41592"/>
              <a:gd name="connsiteX11" fmla="*/ 44165 w 45203"/>
              <a:gd name="connsiteY11" fmla="*/ 33302 h 41592"/>
              <a:gd name="connsiteX12" fmla="*/ 36763 w 45203"/>
              <a:gd name="connsiteY12" fmla="*/ 40407 h 41592"/>
              <a:gd name="connsiteX13" fmla="*/ 28591 w 45203"/>
              <a:gd name="connsiteY13" fmla="*/ 36674 h 41592"/>
              <a:gd name="connsiteX14" fmla="*/ 23238 w 45203"/>
              <a:gd name="connsiteY14" fmla="*/ 40905 h 41592"/>
              <a:gd name="connsiteX15" fmla="*/ 16516 w 45203"/>
              <a:gd name="connsiteY15" fmla="*/ 39125 h 41592"/>
              <a:gd name="connsiteX16" fmla="*/ 5840 w 45203"/>
              <a:gd name="connsiteY16" fmla="*/ 35331 h 41592"/>
              <a:gd name="connsiteX17" fmla="*/ 1146 w 45203"/>
              <a:gd name="connsiteY17" fmla="*/ 31109 h 41592"/>
              <a:gd name="connsiteX18" fmla="*/ 2149 w 45203"/>
              <a:gd name="connsiteY18" fmla="*/ 25410 h 41592"/>
              <a:gd name="connsiteX19" fmla="*/ 31 w 45203"/>
              <a:gd name="connsiteY19" fmla="*/ 19563 h 41592"/>
              <a:gd name="connsiteX20" fmla="*/ 3899 w 45203"/>
              <a:gd name="connsiteY20" fmla="*/ 14366 h 41592"/>
              <a:gd name="connsiteX21" fmla="*/ 3936 w 45203"/>
              <a:gd name="connsiteY21" fmla="*/ 14229 h 41592"/>
              <a:gd name="connsiteX0" fmla="*/ 4729 w 45203"/>
              <a:gd name="connsiteY0" fmla="*/ 26036 h 41592"/>
              <a:gd name="connsiteX1" fmla="*/ 2196 w 45203"/>
              <a:gd name="connsiteY1" fmla="*/ 25239 h 41592"/>
              <a:gd name="connsiteX2" fmla="*/ 6964 w 45203"/>
              <a:gd name="connsiteY2" fmla="*/ 34758 h 41592"/>
              <a:gd name="connsiteX3" fmla="*/ 5856 w 45203"/>
              <a:gd name="connsiteY3" fmla="*/ 35139 h 41592"/>
              <a:gd name="connsiteX4" fmla="*/ 16514 w 45203"/>
              <a:gd name="connsiteY4" fmla="*/ 38949 h 41592"/>
              <a:gd name="connsiteX5" fmla="*/ 15846 w 45203"/>
              <a:gd name="connsiteY5" fmla="*/ 37209 h 41592"/>
              <a:gd name="connsiteX6" fmla="*/ 28863 w 45203"/>
              <a:gd name="connsiteY6" fmla="*/ 34610 h 41592"/>
              <a:gd name="connsiteX7" fmla="*/ 28596 w 45203"/>
              <a:gd name="connsiteY7" fmla="*/ 36519 h 41592"/>
              <a:gd name="connsiteX8" fmla="*/ 34165 w 45203"/>
              <a:gd name="connsiteY8" fmla="*/ 22813 h 41592"/>
              <a:gd name="connsiteX9" fmla="*/ 44682 w 45203"/>
              <a:gd name="connsiteY9" fmla="*/ 33475 h 41592"/>
              <a:gd name="connsiteX10" fmla="*/ 41834 w 45203"/>
              <a:gd name="connsiteY10" fmla="*/ 15213 h 41592"/>
              <a:gd name="connsiteX11" fmla="*/ 40386 w 45203"/>
              <a:gd name="connsiteY11" fmla="*/ 17889 h 41592"/>
              <a:gd name="connsiteX12" fmla="*/ 38360 w 45203"/>
              <a:gd name="connsiteY12" fmla="*/ 5285 h 41592"/>
              <a:gd name="connsiteX13" fmla="*/ 38436 w 45203"/>
              <a:gd name="connsiteY13" fmla="*/ 6549 h 41592"/>
              <a:gd name="connsiteX14" fmla="*/ 29114 w 45203"/>
              <a:gd name="connsiteY14" fmla="*/ 3811 h 41592"/>
              <a:gd name="connsiteX15" fmla="*/ 29856 w 45203"/>
              <a:gd name="connsiteY15" fmla="*/ 2199 h 41592"/>
              <a:gd name="connsiteX16" fmla="*/ 22177 w 45203"/>
              <a:gd name="connsiteY16" fmla="*/ 4579 h 41592"/>
              <a:gd name="connsiteX17" fmla="*/ 22536 w 45203"/>
              <a:gd name="connsiteY17" fmla="*/ 3189 h 41592"/>
              <a:gd name="connsiteX18" fmla="*/ 14036 w 45203"/>
              <a:gd name="connsiteY18" fmla="*/ 5051 h 41592"/>
              <a:gd name="connsiteX19" fmla="*/ 15336 w 45203"/>
              <a:gd name="connsiteY19" fmla="*/ 6399 h 41592"/>
              <a:gd name="connsiteX20" fmla="*/ 4163 w 45203"/>
              <a:gd name="connsiteY20" fmla="*/ 15648 h 41592"/>
              <a:gd name="connsiteX21" fmla="*/ 3936 w 45203"/>
              <a:gd name="connsiteY21" fmla="*/ 14229 h 41592"/>
              <a:gd name="connsiteX0" fmla="*/ 3936 w 45203"/>
              <a:gd name="connsiteY0" fmla="*/ 14229 h 41592"/>
              <a:gd name="connsiteX1" fmla="*/ 5659 w 45203"/>
              <a:gd name="connsiteY1" fmla="*/ 6766 h 41592"/>
              <a:gd name="connsiteX2" fmla="*/ 14041 w 45203"/>
              <a:gd name="connsiteY2" fmla="*/ 5061 h 41592"/>
              <a:gd name="connsiteX3" fmla="*/ 22492 w 45203"/>
              <a:gd name="connsiteY3" fmla="*/ 3291 h 41592"/>
              <a:gd name="connsiteX4" fmla="*/ 25785 w 45203"/>
              <a:gd name="connsiteY4" fmla="*/ 59 h 41592"/>
              <a:gd name="connsiteX5" fmla="*/ 29869 w 45203"/>
              <a:gd name="connsiteY5" fmla="*/ 2340 h 41592"/>
              <a:gd name="connsiteX6" fmla="*/ 35499 w 45203"/>
              <a:gd name="connsiteY6" fmla="*/ 549 h 41592"/>
              <a:gd name="connsiteX7" fmla="*/ 38354 w 45203"/>
              <a:gd name="connsiteY7" fmla="*/ 5435 h 41592"/>
              <a:gd name="connsiteX8" fmla="*/ 42018 w 45203"/>
              <a:gd name="connsiteY8" fmla="*/ 10177 h 41592"/>
              <a:gd name="connsiteX9" fmla="*/ 41854 w 45203"/>
              <a:gd name="connsiteY9" fmla="*/ 15319 h 41592"/>
              <a:gd name="connsiteX10" fmla="*/ 43052 w 45203"/>
              <a:gd name="connsiteY10" fmla="*/ 23181 h 41592"/>
              <a:gd name="connsiteX11" fmla="*/ 44165 w 45203"/>
              <a:gd name="connsiteY11" fmla="*/ 33302 h 41592"/>
              <a:gd name="connsiteX12" fmla="*/ 36763 w 45203"/>
              <a:gd name="connsiteY12" fmla="*/ 40407 h 41592"/>
              <a:gd name="connsiteX13" fmla="*/ 28591 w 45203"/>
              <a:gd name="connsiteY13" fmla="*/ 36674 h 41592"/>
              <a:gd name="connsiteX14" fmla="*/ 23238 w 45203"/>
              <a:gd name="connsiteY14" fmla="*/ 40905 h 41592"/>
              <a:gd name="connsiteX15" fmla="*/ 16516 w 45203"/>
              <a:gd name="connsiteY15" fmla="*/ 39125 h 41592"/>
              <a:gd name="connsiteX16" fmla="*/ 5840 w 45203"/>
              <a:gd name="connsiteY16" fmla="*/ 35331 h 41592"/>
              <a:gd name="connsiteX17" fmla="*/ 1146 w 45203"/>
              <a:gd name="connsiteY17" fmla="*/ 31109 h 41592"/>
              <a:gd name="connsiteX18" fmla="*/ 2149 w 45203"/>
              <a:gd name="connsiteY18" fmla="*/ 25410 h 41592"/>
              <a:gd name="connsiteX19" fmla="*/ 31 w 45203"/>
              <a:gd name="connsiteY19" fmla="*/ 19563 h 41592"/>
              <a:gd name="connsiteX20" fmla="*/ 3899 w 45203"/>
              <a:gd name="connsiteY20" fmla="*/ 14366 h 41592"/>
              <a:gd name="connsiteX21" fmla="*/ 3936 w 45203"/>
              <a:gd name="connsiteY21" fmla="*/ 14229 h 41592"/>
              <a:gd name="connsiteX0" fmla="*/ 4729 w 45203"/>
              <a:gd name="connsiteY0" fmla="*/ 26036 h 41592"/>
              <a:gd name="connsiteX1" fmla="*/ 2196 w 45203"/>
              <a:gd name="connsiteY1" fmla="*/ 25239 h 41592"/>
              <a:gd name="connsiteX2" fmla="*/ 6964 w 45203"/>
              <a:gd name="connsiteY2" fmla="*/ 34758 h 41592"/>
              <a:gd name="connsiteX3" fmla="*/ 5856 w 45203"/>
              <a:gd name="connsiteY3" fmla="*/ 35139 h 41592"/>
              <a:gd name="connsiteX4" fmla="*/ 16514 w 45203"/>
              <a:gd name="connsiteY4" fmla="*/ 38949 h 41592"/>
              <a:gd name="connsiteX5" fmla="*/ 15846 w 45203"/>
              <a:gd name="connsiteY5" fmla="*/ 37209 h 41592"/>
              <a:gd name="connsiteX6" fmla="*/ 28863 w 45203"/>
              <a:gd name="connsiteY6" fmla="*/ 34610 h 41592"/>
              <a:gd name="connsiteX7" fmla="*/ 28924 w 45203"/>
              <a:gd name="connsiteY7" fmla="*/ 39639 h 41592"/>
              <a:gd name="connsiteX8" fmla="*/ 34165 w 45203"/>
              <a:gd name="connsiteY8" fmla="*/ 22813 h 41592"/>
              <a:gd name="connsiteX9" fmla="*/ 44682 w 45203"/>
              <a:gd name="connsiteY9" fmla="*/ 33475 h 41592"/>
              <a:gd name="connsiteX10" fmla="*/ 41834 w 45203"/>
              <a:gd name="connsiteY10" fmla="*/ 15213 h 41592"/>
              <a:gd name="connsiteX11" fmla="*/ 40386 w 45203"/>
              <a:gd name="connsiteY11" fmla="*/ 17889 h 41592"/>
              <a:gd name="connsiteX12" fmla="*/ 38360 w 45203"/>
              <a:gd name="connsiteY12" fmla="*/ 5285 h 41592"/>
              <a:gd name="connsiteX13" fmla="*/ 38436 w 45203"/>
              <a:gd name="connsiteY13" fmla="*/ 6549 h 41592"/>
              <a:gd name="connsiteX14" fmla="*/ 29114 w 45203"/>
              <a:gd name="connsiteY14" fmla="*/ 3811 h 41592"/>
              <a:gd name="connsiteX15" fmla="*/ 29856 w 45203"/>
              <a:gd name="connsiteY15" fmla="*/ 2199 h 41592"/>
              <a:gd name="connsiteX16" fmla="*/ 22177 w 45203"/>
              <a:gd name="connsiteY16" fmla="*/ 4579 h 41592"/>
              <a:gd name="connsiteX17" fmla="*/ 22536 w 45203"/>
              <a:gd name="connsiteY17" fmla="*/ 3189 h 41592"/>
              <a:gd name="connsiteX18" fmla="*/ 14036 w 45203"/>
              <a:gd name="connsiteY18" fmla="*/ 5051 h 41592"/>
              <a:gd name="connsiteX19" fmla="*/ 15336 w 45203"/>
              <a:gd name="connsiteY19" fmla="*/ 6399 h 41592"/>
              <a:gd name="connsiteX20" fmla="*/ 4163 w 45203"/>
              <a:gd name="connsiteY20" fmla="*/ 15648 h 41592"/>
              <a:gd name="connsiteX21" fmla="*/ 3936 w 45203"/>
              <a:gd name="connsiteY21" fmla="*/ 14229 h 41592"/>
              <a:gd name="connsiteX0" fmla="*/ 3936 w 45203"/>
              <a:gd name="connsiteY0" fmla="*/ 14229 h 41592"/>
              <a:gd name="connsiteX1" fmla="*/ 5659 w 45203"/>
              <a:gd name="connsiteY1" fmla="*/ 6766 h 41592"/>
              <a:gd name="connsiteX2" fmla="*/ 14041 w 45203"/>
              <a:gd name="connsiteY2" fmla="*/ 5061 h 41592"/>
              <a:gd name="connsiteX3" fmla="*/ 22492 w 45203"/>
              <a:gd name="connsiteY3" fmla="*/ 3291 h 41592"/>
              <a:gd name="connsiteX4" fmla="*/ 25785 w 45203"/>
              <a:gd name="connsiteY4" fmla="*/ 59 h 41592"/>
              <a:gd name="connsiteX5" fmla="*/ 29869 w 45203"/>
              <a:gd name="connsiteY5" fmla="*/ 2340 h 41592"/>
              <a:gd name="connsiteX6" fmla="*/ 35499 w 45203"/>
              <a:gd name="connsiteY6" fmla="*/ 549 h 41592"/>
              <a:gd name="connsiteX7" fmla="*/ 38354 w 45203"/>
              <a:gd name="connsiteY7" fmla="*/ 5435 h 41592"/>
              <a:gd name="connsiteX8" fmla="*/ 42018 w 45203"/>
              <a:gd name="connsiteY8" fmla="*/ 10177 h 41592"/>
              <a:gd name="connsiteX9" fmla="*/ 41854 w 45203"/>
              <a:gd name="connsiteY9" fmla="*/ 15319 h 41592"/>
              <a:gd name="connsiteX10" fmla="*/ 43052 w 45203"/>
              <a:gd name="connsiteY10" fmla="*/ 23181 h 41592"/>
              <a:gd name="connsiteX11" fmla="*/ 44165 w 45203"/>
              <a:gd name="connsiteY11" fmla="*/ 33302 h 41592"/>
              <a:gd name="connsiteX12" fmla="*/ 36763 w 45203"/>
              <a:gd name="connsiteY12" fmla="*/ 40407 h 41592"/>
              <a:gd name="connsiteX13" fmla="*/ 28591 w 45203"/>
              <a:gd name="connsiteY13" fmla="*/ 36674 h 41592"/>
              <a:gd name="connsiteX14" fmla="*/ 23238 w 45203"/>
              <a:gd name="connsiteY14" fmla="*/ 40905 h 41592"/>
              <a:gd name="connsiteX15" fmla="*/ 16516 w 45203"/>
              <a:gd name="connsiteY15" fmla="*/ 39125 h 41592"/>
              <a:gd name="connsiteX16" fmla="*/ 5840 w 45203"/>
              <a:gd name="connsiteY16" fmla="*/ 35331 h 41592"/>
              <a:gd name="connsiteX17" fmla="*/ 1146 w 45203"/>
              <a:gd name="connsiteY17" fmla="*/ 31109 h 41592"/>
              <a:gd name="connsiteX18" fmla="*/ 2149 w 45203"/>
              <a:gd name="connsiteY18" fmla="*/ 25410 h 41592"/>
              <a:gd name="connsiteX19" fmla="*/ 31 w 45203"/>
              <a:gd name="connsiteY19" fmla="*/ 19563 h 41592"/>
              <a:gd name="connsiteX20" fmla="*/ 3899 w 45203"/>
              <a:gd name="connsiteY20" fmla="*/ 14366 h 41592"/>
              <a:gd name="connsiteX21" fmla="*/ 3936 w 45203"/>
              <a:gd name="connsiteY21" fmla="*/ 14229 h 41592"/>
              <a:gd name="connsiteX0" fmla="*/ 4729 w 45203"/>
              <a:gd name="connsiteY0" fmla="*/ 26036 h 41592"/>
              <a:gd name="connsiteX1" fmla="*/ 2196 w 45203"/>
              <a:gd name="connsiteY1" fmla="*/ 25239 h 41592"/>
              <a:gd name="connsiteX2" fmla="*/ 6964 w 45203"/>
              <a:gd name="connsiteY2" fmla="*/ 34758 h 41592"/>
              <a:gd name="connsiteX3" fmla="*/ 5856 w 45203"/>
              <a:gd name="connsiteY3" fmla="*/ 35139 h 41592"/>
              <a:gd name="connsiteX4" fmla="*/ 16514 w 45203"/>
              <a:gd name="connsiteY4" fmla="*/ 38949 h 41592"/>
              <a:gd name="connsiteX5" fmla="*/ 15846 w 45203"/>
              <a:gd name="connsiteY5" fmla="*/ 37209 h 41592"/>
              <a:gd name="connsiteX6" fmla="*/ 29611 w 45203"/>
              <a:gd name="connsiteY6" fmla="*/ 37614 h 41592"/>
              <a:gd name="connsiteX7" fmla="*/ 28924 w 45203"/>
              <a:gd name="connsiteY7" fmla="*/ 39639 h 41592"/>
              <a:gd name="connsiteX8" fmla="*/ 34165 w 45203"/>
              <a:gd name="connsiteY8" fmla="*/ 22813 h 41592"/>
              <a:gd name="connsiteX9" fmla="*/ 44682 w 45203"/>
              <a:gd name="connsiteY9" fmla="*/ 33475 h 41592"/>
              <a:gd name="connsiteX10" fmla="*/ 41834 w 45203"/>
              <a:gd name="connsiteY10" fmla="*/ 15213 h 41592"/>
              <a:gd name="connsiteX11" fmla="*/ 40386 w 45203"/>
              <a:gd name="connsiteY11" fmla="*/ 17889 h 41592"/>
              <a:gd name="connsiteX12" fmla="*/ 38360 w 45203"/>
              <a:gd name="connsiteY12" fmla="*/ 5285 h 41592"/>
              <a:gd name="connsiteX13" fmla="*/ 38436 w 45203"/>
              <a:gd name="connsiteY13" fmla="*/ 6549 h 41592"/>
              <a:gd name="connsiteX14" fmla="*/ 29114 w 45203"/>
              <a:gd name="connsiteY14" fmla="*/ 3811 h 41592"/>
              <a:gd name="connsiteX15" fmla="*/ 29856 w 45203"/>
              <a:gd name="connsiteY15" fmla="*/ 2199 h 41592"/>
              <a:gd name="connsiteX16" fmla="*/ 22177 w 45203"/>
              <a:gd name="connsiteY16" fmla="*/ 4579 h 41592"/>
              <a:gd name="connsiteX17" fmla="*/ 22536 w 45203"/>
              <a:gd name="connsiteY17" fmla="*/ 3189 h 41592"/>
              <a:gd name="connsiteX18" fmla="*/ 14036 w 45203"/>
              <a:gd name="connsiteY18" fmla="*/ 5051 h 41592"/>
              <a:gd name="connsiteX19" fmla="*/ 15336 w 45203"/>
              <a:gd name="connsiteY19" fmla="*/ 6399 h 41592"/>
              <a:gd name="connsiteX20" fmla="*/ 4163 w 45203"/>
              <a:gd name="connsiteY20" fmla="*/ 15648 h 41592"/>
              <a:gd name="connsiteX21" fmla="*/ 3936 w 45203"/>
              <a:gd name="connsiteY21" fmla="*/ 14229 h 41592"/>
              <a:gd name="connsiteX0" fmla="*/ 3936 w 45203"/>
              <a:gd name="connsiteY0" fmla="*/ 14229 h 41283"/>
              <a:gd name="connsiteX1" fmla="*/ 5659 w 45203"/>
              <a:gd name="connsiteY1" fmla="*/ 6766 h 41283"/>
              <a:gd name="connsiteX2" fmla="*/ 14041 w 45203"/>
              <a:gd name="connsiteY2" fmla="*/ 5061 h 41283"/>
              <a:gd name="connsiteX3" fmla="*/ 22492 w 45203"/>
              <a:gd name="connsiteY3" fmla="*/ 3291 h 41283"/>
              <a:gd name="connsiteX4" fmla="*/ 25785 w 45203"/>
              <a:gd name="connsiteY4" fmla="*/ 59 h 41283"/>
              <a:gd name="connsiteX5" fmla="*/ 29869 w 45203"/>
              <a:gd name="connsiteY5" fmla="*/ 2340 h 41283"/>
              <a:gd name="connsiteX6" fmla="*/ 35499 w 45203"/>
              <a:gd name="connsiteY6" fmla="*/ 549 h 41283"/>
              <a:gd name="connsiteX7" fmla="*/ 38354 w 45203"/>
              <a:gd name="connsiteY7" fmla="*/ 5435 h 41283"/>
              <a:gd name="connsiteX8" fmla="*/ 42018 w 45203"/>
              <a:gd name="connsiteY8" fmla="*/ 10177 h 41283"/>
              <a:gd name="connsiteX9" fmla="*/ 41854 w 45203"/>
              <a:gd name="connsiteY9" fmla="*/ 15319 h 41283"/>
              <a:gd name="connsiteX10" fmla="*/ 43052 w 45203"/>
              <a:gd name="connsiteY10" fmla="*/ 23181 h 41283"/>
              <a:gd name="connsiteX11" fmla="*/ 44165 w 45203"/>
              <a:gd name="connsiteY11" fmla="*/ 33302 h 41283"/>
              <a:gd name="connsiteX12" fmla="*/ 36763 w 45203"/>
              <a:gd name="connsiteY12" fmla="*/ 40407 h 41283"/>
              <a:gd name="connsiteX13" fmla="*/ 28895 w 45203"/>
              <a:gd name="connsiteY13" fmla="*/ 38195 h 41283"/>
              <a:gd name="connsiteX14" fmla="*/ 23238 w 45203"/>
              <a:gd name="connsiteY14" fmla="*/ 40905 h 41283"/>
              <a:gd name="connsiteX15" fmla="*/ 16516 w 45203"/>
              <a:gd name="connsiteY15" fmla="*/ 39125 h 41283"/>
              <a:gd name="connsiteX16" fmla="*/ 5840 w 45203"/>
              <a:gd name="connsiteY16" fmla="*/ 35331 h 41283"/>
              <a:gd name="connsiteX17" fmla="*/ 1146 w 45203"/>
              <a:gd name="connsiteY17" fmla="*/ 31109 h 41283"/>
              <a:gd name="connsiteX18" fmla="*/ 2149 w 45203"/>
              <a:gd name="connsiteY18" fmla="*/ 25410 h 41283"/>
              <a:gd name="connsiteX19" fmla="*/ 31 w 45203"/>
              <a:gd name="connsiteY19" fmla="*/ 19563 h 41283"/>
              <a:gd name="connsiteX20" fmla="*/ 3899 w 45203"/>
              <a:gd name="connsiteY20" fmla="*/ 14366 h 41283"/>
              <a:gd name="connsiteX21" fmla="*/ 3936 w 45203"/>
              <a:gd name="connsiteY21" fmla="*/ 14229 h 41283"/>
              <a:gd name="connsiteX0" fmla="*/ 4729 w 45203"/>
              <a:gd name="connsiteY0" fmla="*/ 26036 h 41283"/>
              <a:gd name="connsiteX1" fmla="*/ 2196 w 45203"/>
              <a:gd name="connsiteY1" fmla="*/ 25239 h 41283"/>
              <a:gd name="connsiteX2" fmla="*/ 6964 w 45203"/>
              <a:gd name="connsiteY2" fmla="*/ 34758 h 41283"/>
              <a:gd name="connsiteX3" fmla="*/ 5856 w 45203"/>
              <a:gd name="connsiteY3" fmla="*/ 35139 h 41283"/>
              <a:gd name="connsiteX4" fmla="*/ 16514 w 45203"/>
              <a:gd name="connsiteY4" fmla="*/ 38949 h 41283"/>
              <a:gd name="connsiteX5" fmla="*/ 15846 w 45203"/>
              <a:gd name="connsiteY5" fmla="*/ 37209 h 41283"/>
              <a:gd name="connsiteX6" fmla="*/ 29611 w 45203"/>
              <a:gd name="connsiteY6" fmla="*/ 37614 h 41283"/>
              <a:gd name="connsiteX7" fmla="*/ 28924 w 45203"/>
              <a:gd name="connsiteY7" fmla="*/ 39639 h 41283"/>
              <a:gd name="connsiteX8" fmla="*/ 34165 w 45203"/>
              <a:gd name="connsiteY8" fmla="*/ 22813 h 41283"/>
              <a:gd name="connsiteX9" fmla="*/ 44682 w 45203"/>
              <a:gd name="connsiteY9" fmla="*/ 33475 h 41283"/>
              <a:gd name="connsiteX10" fmla="*/ 41834 w 45203"/>
              <a:gd name="connsiteY10" fmla="*/ 15213 h 41283"/>
              <a:gd name="connsiteX11" fmla="*/ 40386 w 45203"/>
              <a:gd name="connsiteY11" fmla="*/ 17889 h 41283"/>
              <a:gd name="connsiteX12" fmla="*/ 38360 w 45203"/>
              <a:gd name="connsiteY12" fmla="*/ 5285 h 41283"/>
              <a:gd name="connsiteX13" fmla="*/ 38436 w 45203"/>
              <a:gd name="connsiteY13" fmla="*/ 6549 h 41283"/>
              <a:gd name="connsiteX14" fmla="*/ 29114 w 45203"/>
              <a:gd name="connsiteY14" fmla="*/ 3811 h 41283"/>
              <a:gd name="connsiteX15" fmla="*/ 29856 w 45203"/>
              <a:gd name="connsiteY15" fmla="*/ 2199 h 41283"/>
              <a:gd name="connsiteX16" fmla="*/ 22177 w 45203"/>
              <a:gd name="connsiteY16" fmla="*/ 4579 h 41283"/>
              <a:gd name="connsiteX17" fmla="*/ 22536 w 45203"/>
              <a:gd name="connsiteY17" fmla="*/ 3189 h 41283"/>
              <a:gd name="connsiteX18" fmla="*/ 14036 w 45203"/>
              <a:gd name="connsiteY18" fmla="*/ 5051 h 41283"/>
              <a:gd name="connsiteX19" fmla="*/ 15336 w 45203"/>
              <a:gd name="connsiteY19" fmla="*/ 6399 h 41283"/>
              <a:gd name="connsiteX20" fmla="*/ 4163 w 45203"/>
              <a:gd name="connsiteY20" fmla="*/ 15648 h 41283"/>
              <a:gd name="connsiteX21" fmla="*/ 3936 w 45203"/>
              <a:gd name="connsiteY21" fmla="*/ 14229 h 41283"/>
              <a:gd name="connsiteX0" fmla="*/ 3936 w 45810"/>
              <a:gd name="connsiteY0" fmla="*/ 14229 h 41283"/>
              <a:gd name="connsiteX1" fmla="*/ 5659 w 45810"/>
              <a:gd name="connsiteY1" fmla="*/ 6766 h 41283"/>
              <a:gd name="connsiteX2" fmla="*/ 14041 w 45810"/>
              <a:gd name="connsiteY2" fmla="*/ 5061 h 41283"/>
              <a:gd name="connsiteX3" fmla="*/ 22492 w 45810"/>
              <a:gd name="connsiteY3" fmla="*/ 3291 h 41283"/>
              <a:gd name="connsiteX4" fmla="*/ 25785 w 45810"/>
              <a:gd name="connsiteY4" fmla="*/ 59 h 41283"/>
              <a:gd name="connsiteX5" fmla="*/ 29869 w 45810"/>
              <a:gd name="connsiteY5" fmla="*/ 2340 h 41283"/>
              <a:gd name="connsiteX6" fmla="*/ 35499 w 45810"/>
              <a:gd name="connsiteY6" fmla="*/ 549 h 41283"/>
              <a:gd name="connsiteX7" fmla="*/ 38354 w 45810"/>
              <a:gd name="connsiteY7" fmla="*/ 5435 h 41283"/>
              <a:gd name="connsiteX8" fmla="*/ 42018 w 45810"/>
              <a:gd name="connsiteY8" fmla="*/ 10177 h 41283"/>
              <a:gd name="connsiteX9" fmla="*/ 41854 w 45810"/>
              <a:gd name="connsiteY9" fmla="*/ 15319 h 41283"/>
              <a:gd name="connsiteX10" fmla="*/ 45112 w 45810"/>
              <a:gd name="connsiteY10" fmla="*/ 23484 h 41283"/>
              <a:gd name="connsiteX11" fmla="*/ 44165 w 45810"/>
              <a:gd name="connsiteY11" fmla="*/ 33302 h 41283"/>
              <a:gd name="connsiteX12" fmla="*/ 36763 w 45810"/>
              <a:gd name="connsiteY12" fmla="*/ 40407 h 41283"/>
              <a:gd name="connsiteX13" fmla="*/ 28895 w 45810"/>
              <a:gd name="connsiteY13" fmla="*/ 38195 h 41283"/>
              <a:gd name="connsiteX14" fmla="*/ 23238 w 45810"/>
              <a:gd name="connsiteY14" fmla="*/ 40905 h 41283"/>
              <a:gd name="connsiteX15" fmla="*/ 16516 w 45810"/>
              <a:gd name="connsiteY15" fmla="*/ 39125 h 41283"/>
              <a:gd name="connsiteX16" fmla="*/ 5840 w 45810"/>
              <a:gd name="connsiteY16" fmla="*/ 35331 h 41283"/>
              <a:gd name="connsiteX17" fmla="*/ 1146 w 45810"/>
              <a:gd name="connsiteY17" fmla="*/ 31109 h 41283"/>
              <a:gd name="connsiteX18" fmla="*/ 2149 w 45810"/>
              <a:gd name="connsiteY18" fmla="*/ 25410 h 41283"/>
              <a:gd name="connsiteX19" fmla="*/ 31 w 45810"/>
              <a:gd name="connsiteY19" fmla="*/ 19563 h 41283"/>
              <a:gd name="connsiteX20" fmla="*/ 3899 w 45810"/>
              <a:gd name="connsiteY20" fmla="*/ 14366 h 41283"/>
              <a:gd name="connsiteX21" fmla="*/ 3936 w 45810"/>
              <a:gd name="connsiteY21" fmla="*/ 14229 h 41283"/>
              <a:gd name="connsiteX0" fmla="*/ 4729 w 45810"/>
              <a:gd name="connsiteY0" fmla="*/ 26036 h 41283"/>
              <a:gd name="connsiteX1" fmla="*/ 2196 w 45810"/>
              <a:gd name="connsiteY1" fmla="*/ 25239 h 41283"/>
              <a:gd name="connsiteX2" fmla="*/ 6964 w 45810"/>
              <a:gd name="connsiteY2" fmla="*/ 34758 h 41283"/>
              <a:gd name="connsiteX3" fmla="*/ 5856 w 45810"/>
              <a:gd name="connsiteY3" fmla="*/ 35139 h 41283"/>
              <a:gd name="connsiteX4" fmla="*/ 16514 w 45810"/>
              <a:gd name="connsiteY4" fmla="*/ 38949 h 41283"/>
              <a:gd name="connsiteX5" fmla="*/ 15846 w 45810"/>
              <a:gd name="connsiteY5" fmla="*/ 37209 h 41283"/>
              <a:gd name="connsiteX6" fmla="*/ 29611 w 45810"/>
              <a:gd name="connsiteY6" fmla="*/ 37614 h 41283"/>
              <a:gd name="connsiteX7" fmla="*/ 28924 w 45810"/>
              <a:gd name="connsiteY7" fmla="*/ 39639 h 41283"/>
              <a:gd name="connsiteX8" fmla="*/ 34165 w 45810"/>
              <a:gd name="connsiteY8" fmla="*/ 22813 h 41283"/>
              <a:gd name="connsiteX9" fmla="*/ 44682 w 45810"/>
              <a:gd name="connsiteY9" fmla="*/ 33475 h 41283"/>
              <a:gd name="connsiteX10" fmla="*/ 41834 w 45810"/>
              <a:gd name="connsiteY10" fmla="*/ 15213 h 41283"/>
              <a:gd name="connsiteX11" fmla="*/ 40386 w 45810"/>
              <a:gd name="connsiteY11" fmla="*/ 17889 h 41283"/>
              <a:gd name="connsiteX12" fmla="*/ 38360 w 45810"/>
              <a:gd name="connsiteY12" fmla="*/ 5285 h 41283"/>
              <a:gd name="connsiteX13" fmla="*/ 38436 w 45810"/>
              <a:gd name="connsiteY13" fmla="*/ 6549 h 41283"/>
              <a:gd name="connsiteX14" fmla="*/ 29114 w 45810"/>
              <a:gd name="connsiteY14" fmla="*/ 3811 h 41283"/>
              <a:gd name="connsiteX15" fmla="*/ 29856 w 45810"/>
              <a:gd name="connsiteY15" fmla="*/ 2199 h 41283"/>
              <a:gd name="connsiteX16" fmla="*/ 22177 w 45810"/>
              <a:gd name="connsiteY16" fmla="*/ 4579 h 41283"/>
              <a:gd name="connsiteX17" fmla="*/ 22536 w 45810"/>
              <a:gd name="connsiteY17" fmla="*/ 3189 h 41283"/>
              <a:gd name="connsiteX18" fmla="*/ 14036 w 45810"/>
              <a:gd name="connsiteY18" fmla="*/ 5051 h 41283"/>
              <a:gd name="connsiteX19" fmla="*/ 15336 w 45810"/>
              <a:gd name="connsiteY19" fmla="*/ 6399 h 41283"/>
              <a:gd name="connsiteX20" fmla="*/ 4163 w 45810"/>
              <a:gd name="connsiteY20" fmla="*/ 15648 h 41283"/>
              <a:gd name="connsiteX21" fmla="*/ 3936 w 45810"/>
              <a:gd name="connsiteY21" fmla="*/ 14229 h 41283"/>
              <a:gd name="connsiteX0" fmla="*/ 3936 w 45810"/>
              <a:gd name="connsiteY0" fmla="*/ 14229 h 41283"/>
              <a:gd name="connsiteX1" fmla="*/ 5659 w 45810"/>
              <a:gd name="connsiteY1" fmla="*/ 6766 h 41283"/>
              <a:gd name="connsiteX2" fmla="*/ 14041 w 45810"/>
              <a:gd name="connsiteY2" fmla="*/ 5061 h 41283"/>
              <a:gd name="connsiteX3" fmla="*/ 22492 w 45810"/>
              <a:gd name="connsiteY3" fmla="*/ 3291 h 41283"/>
              <a:gd name="connsiteX4" fmla="*/ 25785 w 45810"/>
              <a:gd name="connsiteY4" fmla="*/ 59 h 41283"/>
              <a:gd name="connsiteX5" fmla="*/ 29869 w 45810"/>
              <a:gd name="connsiteY5" fmla="*/ 2340 h 41283"/>
              <a:gd name="connsiteX6" fmla="*/ 35499 w 45810"/>
              <a:gd name="connsiteY6" fmla="*/ 549 h 41283"/>
              <a:gd name="connsiteX7" fmla="*/ 38354 w 45810"/>
              <a:gd name="connsiteY7" fmla="*/ 5435 h 41283"/>
              <a:gd name="connsiteX8" fmla="*/ 41359 w 45810"/>
              <a:gd name="connsiteY8" fmla="*/ 10506 h 41283"/>
              <a:gd name="connsiteX9" fmla="*/ 41854 w 45810"/>
              <a:gd name="connsiteY9" fmla="*/ 15319 h 41283"/>
              <a:gd name="connsiteX10" fmla="*/ 45112 w 45810"/>
              <a:gd name="connsiteY10" fmla="*/ 23484 h 41283"/>
              <a:gd name="connsiteX11" fmla="*/ 44165 w 45810"/>
              <a:gd name="connsiteY11" fmla="*/ 33302 h 41283"/>
              <a:gd name="connsiteX12" fmla="*/ 36763 w 45810"/>
              <a:gd name="connsiteY12" fmla="*/ 40407 h 41283"/>
              <a:gd name="connsiteX13" fmla="*/ 28895 w 45810"/>
              <a:gd name="connsiteY13" fmla="*/ 38195 h 41283"/>
              <a:gd name="connsiteX14" fmla="*/ 23238 w 45810"/>
              <a:gd name="connsiteY14" fmla="*/ 40905 h 41283"/>
              <a:gd name="connsiteX15" fmla="*/ 16516 w 45810"/>
              <a:gd name="connsiteY15" fmla="*/ 39125 h 41283"/>
              <a:gd name="connsiteX16" fmla="*/ 5840 w 45810"/>
              <a:gd name="connsiteY16" fmla="*/ 35331 h 41283"/>
              <a:gd name="connsiteX17" fmla="*/ 1146 w 45810"/>
              <a:gd name="connsiteY17" fmla="*/ 31109 h 41283"/>
              <a:gd name="connsiteX18" fmla="*/ 2149 w 45810"/>
              <a:gd name="connsiteY18" fmla="*/ 25410 h 41283"/>
              <a:gd name="connsiteX19" fmla="*/ 31 w 45810"/>
              <a:gd name="connsiteY19" fmla="*/ 19563 h 41283"/>
              <a:gd name="connsiteX20" fmla="*/ 3899 w 45810"/>
              <a:gd name="connsiteY20" fmla="*/ 14366 h 41283"/>
              <a:gd name="connsiteX21" fmla="*/ 3936 w 45810"/>
              <a:gd name="connsiteY21" fmla="*/ 14229 h 41283"/>
              <a:gd name="connsiteX0" fmla="*/ 4729 w 45810"/>
              <a:gd name="connsiteY0" fmla="*/ 26036 h 41283"/>
              <a:gd name="connsiteX1" fmla="*/ 2196 w 45810"/>
              <a:gd name="connsiteY1" fmla="*/ 25239 h 41283"/>
              <a:gd name="connsiteX2" fmla="*/ 6964 w 45810"/>
              <a:gd name="connsiteY2" fmla="*/ 34758 h 41283"/>
              <a:gd name="connsiteX3" fmla="*/ 5856 w 45810"/>
              <a:gd name="connsiteY3" fmla="*/ 35139 h 41283"/>
              <a:gd name="connsiteX4" fmla="*/ 16514 w 45810"/>
              <a:gd name="connsiteY4" fmla="*/ 38949 h 41283"/>
              <a:gd name="connsiteX5" fmla="*/ 15846 w 45810"/>
              <a:gd name="connsiteY5" fmla="*/ 37209 h 41283"/>
              <a:gd name="connsiteX6" fmla="*/ 29611 w 45810"/>
              <a:gd name="connsiteY6" fmla="*/ 37614 h 41283"/>
              <a:gd name="connsiteX7" fmla="*/ 28924 w 45810"/>
              <a:gd name="connsiteY7" fmla="*/ 39639 h 41283"/>
              <a:gd name="connsiteX8" fmla="*/ 34165 w 45810"/>
              <a:gd name="connsiteY8" fmla="*/ 22813 h 41283"/>
              <a:gd name="connsiteX9" fmla="*/ 44682 w 45810"/>
              <a:gd name="connsiteY9" fmla="*/ 33475 h 41283"/>
              <a:gd name="connsiteX10" fmla="*/ 41834 w 45810"/>
              <a:gd name="connsiteY10" fmla="*/ 15213 h 41283"/>
              <a:gd name="connsiteX11" fmla="*/ 40386 w 45810"/>
              <a:gd name="connsiteY11" fmla="*/ 17889 h 41283"/>
              <a:gd name="connsiteX12" fmla="*/ 38360 w 45810"/>
              <a:gd name="connsiteY12" fmla="*/ 5285 h 41283"/>
              <a:gd name="connsiteX13" fmla="*/ 38436 w 45810"/>
              <a:gd name="connsiteY13" fmla="*/ 6549 h 41283"/>
              <a:gd name="connsiteX14" fmla="*/ 29114 w 45810"/>
              <a:gd name="connsiteY14" fmla="*/ 3811 h 41283"/>
              <a:gd name="connsiteX15" fmla="*/ 29856 w 45810"/>
              <a:gd name="connsiteY15" fmla="*/ 2199 h 41283"/>
              <a:gd name="connsiteX16" fmla="*/ 22177 w 45810"/>
              <a:gd name="connsiteY16" fmla="*/ 4579 h 41283"/>
              <a:gd name="connsiteX17" fmla="*/ 22536 w 45810"/>
              <a:gd name="connsiteY17" fmla="*/ 3189 h 41283"/>
              <a:gd name="connsiteX18" fmla="*/ 14036 w 45810"/>
              <a:gd name="connsiteY18" fmla="*/ 5051 h 41283"/>
              <a:gd name="connsiteX19" fmla="*/ 15336 w 45810"/>
              <a:gd name="connsiteY19" fmla="*/ 6399 h 41283"/>
              <a:gd name="connsiteX20" fmla="*/ 4163 w 45810"/>
              <a:gd name="connsiteY20" fmla="*/ 15648 h 41283"/>
              <a:gd name="connsiteX21" fmla="*/ 3936 w 45810"/>
              <a:gd name="connsiteY21" fmla="*/ 14229 h 41283"/>
              <a:gd name="connsiteX0" fmla="*/ 3936 w 45810"/>
              <a:gd name="connsiteY0" fmla="*/ 14229 h 43727"/>
              <a:gd name="connsiteX1" fmla="*/ 5659 w 45810"/>
              <a:gd name="connsiteY1" fmla="*/ 6766 h 43727"/>
              <a:gd name="connsiteX2" fmla="*/ 14041 w 45810"/>
              <a:gd name="connsiteY2" fmla="*/ 5061 h 43727"/>
              <a:gd name="connsiteX3" fmla="*/ 22492 w 45810"/>
              <a:gd name="connsiteY3" fmla="*/ 3291 h 43727"/>
              <a:gd name="connsiteX4" fmla="*/ 25785 w 45810"/>
              <a:gd name="connsiteY4" fmla="*/ 59 h 43727"/>
              <a:gd name="connsiteX5" fmla="*/ 29869 w 45810"/>
              <a:gd name="connsiteY5" fmla="*/ 2340 h 43727"/>
              <a:gd name="connsiteX6" fmla="*/ 35499 w 45810"/>
              <a:gd name="connsiteY6" fmla="*/ 549 h 43727"/>
              <a:gd name="connsiteX7" fmla="*/ 38354 w 45810"/>
              <a:gd name="connsiteY7" fmla="*/ 5435 h 43727"/>
              <a:gd name="connsiteX8" fmla="*/ 41359 w 45810"/>
              <a:gd name="connsiteY8" fmla="*/ 10506 h 43727"/>
              <a:gd name="connsiteX9" fmla="*/ 41854 w 45810"/>
              <a:gd name="connsiteY9" fmla="*/ 15319 h 43727"/>
              <a:gd name="connsiteX10" fmla="*/ 45112 w 45810"/>
              <a:gd name="connsiteY10" fmla="*/ 23484 h 43727"/>
              <a:gd name="connsiteX11" fmla="*/ 44165 w 45810"/>
              <a:gd name="connsiteY11" fmla="*/ 33302 h 43727"/>
              <a:gd name="connsiteX12" fmla="*/ 36763 w 45810"/>
              <a:gd name="connsiteY12" fmla="*/ 40407 h 43727"/>
              <a:gd name="connsiteX13" fmla="*/ 28895 w 45810"/>
              <a:gd name="connsiteY13" fmla="*/ 38195 h 43727"/>
              <a:gd name="connsiteX14" fmla="*/ 23626 w 45810"/>
              <a:gd name="connsiteY14" fmla="*/ 43717 h 43727"/>
              <a:gd name="connsiteX15" fmla="*/ 16516 w 45810"/>
              <a:gd name="connsiteY15" fmla="*/ 39125 h 43727"/>
              <a:gd name="connsiteX16" fmla="*/ 5840 w 45810"/>
              <a:gd name="connsiteY16" fmla="*/ 35331 h 43727"/>
              <a:gd name="connsiteX17" fmla="*/ 1146 w 45810"/>
              <a:gd name="connsiteY17" fmla="*/ 31109 h 43727"/>
              <a:gd name="connsiteX18" fmla="*/ 2149 w 45810"/>
              <a:gd name="connsiteY18" fmla="*/ 25410 h 43727"/>
              <a:gd name="connsiteX19" fmla="*/ 31 w 45810"/>
              <a:gd name="connsiteY19" fmla="*/ 19563 h 43727"/>
              <a:gd name="connsiteX20" fmla="*/ 3899 w 45810"/>
              <a:gd name="connsiteY20" fmla="*/ 14366 h 43727"/>
              <a:gd name="connsiteX21" fmla="*/ 3936 w 45810"/>
              <a:gd name="connsiteY21" fmla="*/ 14229 h 43727"/>
              <a:gd name="connsiteX0" fmla="*/ 4729 w 45810"/>
              <a:gd name="connsiteY0" fmla="*/ 26036 h 43727"/>
              <a:gd name="connsiteX1" fmla="*/ 2196 w 45810"/>
              <a:gd name="connsiteY1" fmla="*/ 25239 h 43727"/>
              <a:gd name="connsiteX2" fmla="*/ 6964 w 45810"/>
              <a:gd name="connsiteY2" fmla="*/ 34758 h 43727"/>
              <a:gd name="connsiteX3" fmla="*/ 5856 w 45810"/>
              <a:gd name="connsiteY3" fmla="*/ 35139 h 43727"/>
              <a:gd name="connsiteX4" fmla="*/ 16514 w 45810"/>
              <a:gd name="connsiteY4" fmla="*/ 38949 h 43727"/>
              <a:gd name="connsiteX5" fmla="*/ 15846 w 45810"/>
              <a:gd name="connsiteY5" fmla="*/ 37209 h 43727"/>
              <a:gd name="connsiteX6" fmla="*/ 29611 w 45810"/>
              <a:gd name="connsiteY6" fmla="*/ 37614 h 43727"/>
              <a:gd name="connsiteX7" fmla="*/ 28924 w 45810"/>
              <a:gd name="connsiteY7" fmla="*/ 39639 h 43727"/>
              <a:gd name="connsiteX8" fmla="*/ 34165 w 45810"/>
              <a:gd name="connsiteY8" fmla="*/ 22813 h 43727"/>
              <a:gd name="connsiteX9" fmla="*/ 44682 w 45810"/>
              <a:gd name="connsiteY9" fmla="*/ 33475 h 43727"/>
              <a:gd name="connsiteX10" fmla="*/ 41834 w 45810"/>
              <a:gd name="connsiteY10" fmla="*/ 15213 h 43727"/>
              <a:gd name="connsiteX11" fmla="*/ 40386 w 45810"/>
              <a:gd name="connsiteY11" fmla="*/ 17889 h 43727"/>
              <a:gd name="connsiteX12" fmla="*/ 38360 w 45810"/>
              <a:gd name="connsiteY12" fmla="*/ 5285 h 43727"/>
              <a:gd name="connsiteX13" fmla="*/ 38436 w 45810"/>
              <a:gd name="connsiteY13" fmla="*/ 6549 h 43727"/>
              <a:gd name="connsiteX14" fmla="*/ 29114 w 45810"/>
              <a:gd name="connsiteY14" fmla="*/ 3811 h 43727"/>
              <a:gd name="connsiteX15" fmla="*/ 29856 w 45810"/>
              <a:gd name="connsiteY15" fmla="*/ 2199 h 43727"/>
              <a:gd name="connsiteX16" fmla="*/ 22177 w 45810"/>
              <a:gd name="connsiteY16" fmla="*/ 4579 h 43727"/>
              <a:gd name="connsiteX17" fmla="*/ 22536 w 45810"/>
              <a:gd name="connsiteY17" fmla="*/ 3189 h 43727"/>
              <a:gd name="connsiteX18" fmla="*/ 14036 w 45810"/>
              <a:gd name="connsiteY18" fmla="*/ 5051 h 43727"/>
              <a:gd name="connsiteX19" fmla="*/ 15336 w 45810"/>
              <a:gd name="connsiteY19" fmla="*/ 6399 h 43727"/>
              <a:gd name="connsiteX20" fmla="*/ 4163 w 45810"/>
              <a:gd name="connsiteY20" fmla="*/ 15648 h 43727"/>
              <a:gd name="connsiteX21" fmla="*/ 3936 w 45810"/>
              <a:gd name="connsiteY21" fmla="*/ 14229 h 43727"/>
              <a:gd name="connsiteX0" fmla="*/ 3936 w 45810"/>
              <a:gd name="connsiteY0" fmla="*/ 14229 h 43727"/>
              <a:gd name="connsiteX1" fmla="*/ 5659 w 45810"/>
              <a:gd name="connsiteY1" fmla="*/ 6766 h 43727"/>
              <a:gd name="connsiteX2" fmla="*/ 14041 w 45810"/>
              <a:gd name="connsiteY2" fmla="*/ 5061 h 43727"/>
              <a:gd name="connsiteX3" fmla="*/ 22492 w 45810"/>
              <a:gd name="connsiteY3" fmla="*/ 3291 h 43727"/>
              <a:gd name="connsiteX4" fmla="*/ 25785 w 45810"/>
              <a:gd name="connsiteY4" fmla="*/ 59 h 43727"/>
              <a:gd name="connsiteX5" fmla="*/ 29869 w 45810"/>
              <a:gd name="connsiteY5" fmla="*/ 2340 h 43727"/>
              <a:gd name="connsiteX6" fmla="*/ 35499 w 45810"/>
              <a:gd name="connsiteY6" fmla="*/ 549 h 43727"/>
              <a:gd name="connsiteX7" fmla="*/ 38354 w 45810"/>
              <a:gd name="connsiteY7" fmla="*/ 5435 h 43727"/>
              <a:gd name="connsiteX8" fmla="*/ 41359 w 45810"/>
              <a:gd name="connsiteY8" fmla="*/ 10506 h 43727"/>
              <a:gd name="connsiteX9" fmla="*/ 41854 w 45810"/>
              <a:gd name="connsiteY9" fmla="*/ 15319 h 43727"/>
              <a:gd name="connsiteX10" fmla="*/ 45112 w 45810"/>
              <a:gd name="connsiteY10" fmla="*/ 23484 h 43727"/>
              <a:gd name="connsiteX11" fmla="*/ 44165 w 45810"/>
              <a:gd name="connsiteY11" fmla="*/ 33302 h 43727"/>
              <a:gd name="connsiteX12" fmla="*/ 36763 w 45810"/>
              <a:gd name="connsiteY12" fmla="*/ 40407 h 43727"/>
              <a:gd name="connsiteX13" fmla="*/ 28895 w 45810"/>
              <a:gd name="connsiteY13" fmla="*/ 38195 h 43727"/>
              <a:gd name="connsiteX14" fmla="*/ 23626 w 45810"/>
              <a:gd name="connsiteY14" fmla="*/ 43717 h 43727"/>
              <a:gd name="connsiteX15" fmla="*/ 16516 w 45810"/>
              <a:gd name="connsiteY15" fmla="*/ 39125 h 43727"/>
              <a:gd name="connsiteX16" fmla="*/ 5840 w 45810"/>
              <a:gd name="connsiteY16" fmla="*/ 35331 h 43727"/>
              <a:gd name="connsiteX17" fmla="*/ 1146 w 45810"/>
              <a:gd name="connsiteY17" fmla="*/ 31109 h 43727"/>
              <a:gd name="connsiteX18" fmla="*/ 2149 w 45810"/>
              <a:gd name="connsiteY18" fmla="*/ 25410 h 43727"/>
              <a:gd name="connsiteX19" fmla="*/ 31 w 45810"/>
              <a:gd name="connsiteY19" fmla="*/ 19563 h 43727"/>
              <a:gd name="connsiteX20" fmla="*/ 3899 w 45810"/>
              <a:gd name="connsiteY20" fmla="*/ 14366 h 43727"/>
              <a:gd name="connsiteX21" fmla="*/ 3936 w 45810"/>
              <a:gd name="connsiteY21" fmla="*/ 14229 h 43727"/>
              <a:gd name="connsiteX0" fmla="*/ 4729 w 45810"/>
              <a:gd name="connsiteY0" fmla="*/ 26036 h 43727"/>
              <a:gd name="connsiteX1" fmla="*/ 2196 w 45810"/>
              <a:gd name="connsiteY1" fmla="*/ 25239 h 43727"/>
              <a:gd name="connsiteX2" fmla="*/ 6964 w 45810"/>
              <a:gd name="connsiteY2" fmla="*/ 34758 h 43727"/>
              <a:gd name="connsiteX3" fmla="*/ 10417 w 45810"/>
              <a:gd name="connsiteY3" fmla="*/ 33625 h 43727"/>
              <a:gd name="connsiteX4" fmla="*/ 16514 w 45810"/>
              <a:gd name="connsiteY4" fmla="*/ 38949 h 43727"/>
              <a:gd name="connsiteX5" fmla="*/ 15846 w 45810"/>
              <a:gd name="connsiteY5" fmla="*/ 37209 h 43727"/>
              <a:gd name="connsiteX6" fmla="*/ 29611 w 45810"/>
              <a:gd name="connsiteY6" fmla="*/ 37614 h 43727"/>
              <a:gd name="connsiteX7" fmla="*/ 28924 w 45810"/>
              <a:gd name="connsiteY7" fmla="*/ 39639 h 43727"/>
              <a:gd name="connsiteX8" fmla="*/ 34165 w 45810"/>
              <a:gd name="connsiteY8" fmla="*/ 22813 h 43727"/>
              <a:gd name="connsiteX9" fmla="*/ 44682 w 45810"/>
              <a:gd name="connsiteY9" fmla="*/ 33475 h 43727"/>
              <a:gd name="connsiteX10" fmla="*/ 41834 w 45810"/>
              <a:gd name="connsiteY10" fmla="*/ 15213 h 43727"/>
              <a:gd name="connsiteX11" fmla="*/ 40386 w 45810"/>
              <a:gd name="connsiteY11" fmla="*/ 17889 h 43727"/>
              <a:gd name="connsiteX12" fmla="*/ 38360 w 45810"/>
              <a:gd name="connsiteY12" fmla="*/ 5285 h 43727"/>
              <a:gd name="connsiteX13" fmla="*/ 38436 w 45810"/>
              <a:gd name="connsiteY13" fmla="*/ 6549 h 43727"/>
              <a:gd name="connsiteX14" fmla="*/ 29114 w 45810"/>
              <a:gd name="connsiteY14" fmla="*/ 3811 h 43727"/>
              <a:gd name="connsiteX15" fmla="*/ 29856 w 45810"/>
              <a:gd name="connsiteY15" fmla="*/ 2199 h 43727"/>
              <a:gd name="connsiteX16" fmla="*/ 22177 w 45810"/>
              <a:gd name="connsiteY16" fmla="*/ 4579 h 43727"/>
              <a:gd name="connsiteX17" fmla="*/ 22536 w 45810"/>
              <a:gd name="connsiteY17" fmla="*/ 3189 h 43727"/>
              <a:gd name="connsiteX18" fmla="*/ 14036 w 45810"/>
              <a:gd name="connsiteY18" fmla="*/ 5051 h 43727"/>
              <a:gd name="connsiteX19" fmla="*/ 15336 w 45810"/>
              <a:gd name="connsiteY19" fmla="*/ 6399 h 43727"/>
              <a:gd name="connsiteX20" fmla="*/ 4163 w 45810"/>
              <a:gd name="connsiteY20" fmla="*/ 15648 h 43727"/>
              <a:gd name="connsiteX21" fmla="*/ 3936 w 45810"/>
              <a:gd name="connsiteY21" fmla="*/ 14229 h 43727"/>
              <a:gd name="connsiteX0" fmla="*/ 3936 w 45810"/>
              <a:gd name="connsiteY0" fmla="*/ 14229 h 43727"/>
              <a:gd name="connsiteX1" fmla="*/ 5659 w 45810"/>
              <a:gd name="connsiteY1" fmla="*/ 6766 h 43727"/>
              <a:gd name="connsiteX2" fmla="*/ 14041 w 45810"/>
              <a:gd name="connsiteY2" fmla="*/ 5061 h 43727"/>
              <a:gd name="connsiteX3" fmla="*/ 22492 w 45810"/>
              <a:gd name="connsiteY3" fmla="*/ 3291 h 43727"/>
              <a:gd name="connsiteX4" fmla="*/ 25785 w 45810"/>
              <a:gd name="connsiteY4" fmla="*/ 59 h 43727"/>
              <a:gd name="connsiteX5" fmla="*/ 29869 w 45810"/>
              <a:gd name="connsiteY5" fmla="*/ 2340 h 43727"/>
              <a:gd name="connsiteX6" fmla="*/ 35499 w 45810"/>
              <a:gd name="connsiteY6" fmla="*/ 549 h 43727"/>
              <a:gd name="connsiteX7" fmla="*/ 38354 w 45810"/>
              <a:gd name="connsiteY7" fmla="*/ 5435 h 43727"/>
              <a:gd name="connsiteX8" fmla="*/ 41359 w 45810"/>
              <a:gd name="connsiteY8" fmla="*/ 10506 h 43727"/>
              <a:gd name="connsiteX9" fmla="*/ 41854 w 45810"/>
              <a:gd name="connsiteY9" fmla="*/ 15319 h 43727"/>
              <a:gd name="connsiteX10" fmla="*/ 45112 w 45810"/>
              <a:gd name="connsiteY10" fmla="*/ 23484 h 43727"/>
              <a:gd name="connsiteX11" fmla="*/ 44165 w 45810"/>
              <a:gd name="connsiteY11" fmla="*/ 33302 h 43727"/>
              <a:gd name="connsiteX12" fmla="*/ 36763 w 45810"/>
              <a:gd name="connsiteY12" fmla="*/ 40407 h 43727"/>
              <a:gd name="connsiteX13" fmla="*/ 28895 w 45810"/>
              <a:gd name="connsiteY13" fmla="*/ 38195 h 43727"/>
              <a:gd name="connsiteX14" fmla="*/ 23626 w 45810"/>
              <a:gd name="connsiteY14" fmla="*/ 43717 h 43727"/>
              <a:gd name="connsiteX15" fmla="*/ 16516 w 45810"/>
              <a:gd name="connsiteY15" fmla="*/ 39125 h 43727"/>
              <a:gd name="connsiteX16" fmla="*/ 9779 w 45810"/>
              <a:gd name="connsiteY16" fmla="*/ 33838 h 43727"/>
              <a:gd name="connsiteX17" fmla="*/ 1146 w 45810"/>
              <a:gd name="connsiteY17" fmla="*/ 31109 h 43727"/>
              <a:gd name="connsiteX18" fmla="*/ 2149 w 45810"/>
              <a:gd name="connsiteY18" fmla="*/ 25410 h 43727"/>
              <a:gd name="connsiteX19" fmla="*/ 31 w 45810"/>
              <a:gd name="connsiteY19" fmla="*/ 19563 h 43727"/>
              <a:gd name="connsiteX20" fmla="*/ 3899 w 45810"/>
              <a:gd name="connsiteY20" fmla="*/ 14366 h 43727"/>
              <a:gd name="connsiteX21" fmla="*/ 3936 w 45810"/>
              <a:gd name="connsiteY21" fmla="*/ 14229 h 43727"/>
              <a:gd name="connsiteX0" fmla="*/ 4729 w 45810"/>
              <a:gd name="connsiteY0" fmla="*/ 26036 h 43727"/>
              <a:gd name="connsiteX1" fmla="*/ 2196 w 45810"/>
              <a:gd name="connsiteY1" fmla="*/ 25239 h 43727"/>
              <a:gd name="connsiteX2" fmla="*/ 6964 w 45810"/>
              <a:gd name="connsiteY2" fmla="*/ 34758 h 43727"/>
              <a:gd name="connsiteX3" fmla="*/ 10417 w 45810"/>
              <a:gd name="connsiteY3" fmla="*/ 33625 h 43727"/>
              <a:gd name="connsiteX4" fmla="*/ 16514 w 45810"/>
              <a:gd name="connsiteY4" fmla="*/ 38949 h 43727"/>
              <a:gd name="connsiteX5" fmla="*/ 15846 w 45810"/>
              <a:gd name="connsiteY5" fmla="*/ 37209 h 43727"/>
              <a:gd name="connsiteX6" fmla="*/ 29611 w 45810"/>
              <a:gd name="connsiteY6" fmla="*/ 37614 h 43727"/>
              <a:gd name="connsiteX7" fmla="*/ 28924 w 45810"/>
              <a:gd name="connsiteY7" fmla="*/ 39639 h 43727"/>
              <a:gd name="connsiteX8" fmla="*/ 34165 w 45810"/>
              <a:gd name="connsiteY8" fmla="*/ 22813 h 43727"/>
              <a:gd name="connsiteX9" fmla="*/ 44682 w 45810"/>
              <a:gd name="connsiteY9" fmla="*/ 33475 h 43727"/>
              <a:gd name="connsiteX10" fmla="*/ 41834 w 45810"/>
              <a:gd name="connsiteY10" fmla="*/ 15213 h 43727"/>
              <a:gd name="connsiteX11" fmla="*/ 40386 w 45810"/>
              <a:gd name="connsiteY11" fmla="*/ 17889 h 43727"/>
              <a:gd name="connsiteX12" fmla="*/ 38360 w 45810"/>
              <a:gd name="connsiteY12" fmla="*/ 5285 h 43727"/>
              <a:gd name="connsiteX13" fmla="*/ 38436 w 45810"/>
              <a:gd name="connsiteY13" fmla="*/ 6549 h 43727"/>
              <a:gd name="connsiteX14" fmla="*/ 29114 w 45810"/>
              <a:gd name="connsiteY14" fmla="*/ 3811 h 43727"/>
              <a:gd name="connsiteX15" fmla="*/ 29856 w 45810"/>
              <a:gd name="connsiteY15" fmla="*/ 2199 h 43727"/>
              <a:gd name="connsiteX16" fmla="*/ 22177 w 45810"/>
              <a:gd name="connsiteY16" fmla="*/ 4579 h 43727"/>
              <a:gd name="connsiteX17" fmla="*/ 22536 w 45810"/>
              <a:gd name="connsiteY17" fmla="*/ 3189 h 43727"/>
              <a:gd name="connsiteX18" fmla="*/ 14036 w 45810"/>
              <a:gd name="connsiteY18" fmla="*/ 5051 h 43727"/>
              <a:gd name="connsiteX19" fmla="*/ 15336 w 45810"/>
              <a:gd name="connsiteY19" fmla="*/ 6399 h 43727"/>
              <a:gd name="connsiteX20" fmla="*/ 4163 w 45810"/>
              <a:gd name="connsiteY20" fmla="*/ 15648 h 43727"/>
              <a:gd name="connsiteX21" fmla="*/ 3936 w 45810"/>
              <a:gd name="connsiteY21" fmla="*/ 14229 h 43727"/>
              <a:gd name="connsiteX0" fmla="*/ 3936 w 45810"/>
              <a:gd name="connsiteY0" fmla="*/ 14229 h 43727"/>
              <a:gd name="connsiteX1" fmla="*/ 5659 w 45810"/>
              <a:gd name="connsiteY1" fmla="*/ 6766 h 43727"/>
              <a:gd name="connsiteX2" fmla="*/ 14041 w 45810"/>
              <a:gd name="connsiteY2" fmla="*/ 5061 h 43727"/>
              <a:gd name="connsiteX3" fmla="*/ 22492 w 45810"/>
              <a:gd name="connsiteY3" fmla="*/ 3291 h 43727"/>
              <a:gd name="connsiteX4" fmla="*/ 25785 w 45810"/>
              <a:gd name="connsiteY4" fmla="*/ 59 h 43727"/>
              <a:gd name="connsiteX5" fmla="*/ 29869 w 45810"/>
              <a:gd name="connsiteY5" fmla="*/ 2340 h 43727"/>
              <a:gd name="connsiteX6" fmla="*/ 35499 w 45810"/>
              <a:gd name="connsiteY6" fmla="*/ 549 h 43727"/>
              <a:gd name="connsiteX7" fmla="*/ 38354 w 45810"/>
              <a:gd name="connsiteY7" fmla="*/ 5435 h 43727"/>
              <a:gd name="connsiteX8" fmla="*/ 41359 w 45810"/>
              <a:gd name="connsiteY8" fmla="*/ 10506 h 43727"/>
              <a:gd name="connsiteX9" fmla="*/ 41854 w 45810"/>
              <a:gd name="connsiteY9" fmla="*/ 15319 h 43727"/>
              <a:gd name="connsiteX10" fmla="*/ 45112 w 45810"/>
              <a:gd name="connsiteY10" fmla="*/ 23484 h 43727"/>
              <a:gd name="connsiteX11" fmla="*/ 44165 w 45810"/>
              <a:gd name="connsiteY11" fmla="*/ 33302 h 43727"/>
              <a:gd name="connsiteX12" fmla="*/ 36763 w 45810"/>
              <a:gd name="connsiteY12" fmla="*/ 40407 h 43727"/>
              <a:gd name="connsiteX13" fmla="*/ 28895 w 45810"/>
              <a:gd name="connsiteY13" fmla="*/ 38195 h 43727"/>
              <a:gd name="connsiteX14" fmla="*/ 23626 w 45810"/>
              <a:gd name="connsiteY14" fmla="*/ 43717 h 43727"/>
              <a:gd name="connsiteX15" fmla="*/ 16516 w 45810"/>
              <a:gd name="connsiteY15" fmla="*/ 39125 h 43727"/>
              <a:gd name="connsiteX16" fmla="*/ 9779 w 45810"/>
              <a:gd name="connsiteY16" fmla="*/ 33838 h 43727"/>
              <a:gd name="connsiteX17" fmla="*/ 4630 w 45810"/>
              <a:gd name="connsiteY17" fmla="*/ 30176 h 43727"/>
              <a:gd name="connsiteX18" fmla="*/ 2149 w 45810"/>
              <a:gd name="connsiteY18" fmla="*/ 25410 h 43727"/>
              <a:gd name="connsiteX19" fmla="*/ 31 w 45810"/>
              <a:gd name="connsiteY19" fmla="*/ 19563 h 43727"/>
              <a:gd name="connsiteX20" fmla="*/ 3899 w 45810"/>
              <a:gd name="connsiteY20" fmla="*/ 14366 h 43727"/>
              <a:gd name="connsiteX21" fmla="*/ 3936 w 45810"/>
              <a:gd name="connsiteY21" fmla="*/ 14229 h 43727"/>
              <a:gd name="connsiteX0" fmla="*/ 4729 w 45810"/>
              <a:gd name="connsiteY0" fmla="*/ 26036 h 43727"/>
              <a:gd name="connsiteX1" fmla="*/ 2196 w 45810"/>
              <a:gd name="connsiteY1" fmla="*/ 25239 h 43727"/>
              <a:gd name="connsiteX2" fmla="*/ 6964 w 45810"/>
              <a:gd name="connsiteY2" fmla="*/ 34758 h 43727"/>
              <a:gd name="connsiteX3" fmla="*/ 10417 w 45810"/>
              <a:gd name="connsiteY3" fmla="*/ 33625 h 43727"/>
              <a:gd name="connsiteX4" fmla="*/ 16514 w 45810"/>
              <a:gd name="connsiteY4" fmla="*/ 38949 h 43727"/>
              <a:gd name="connsiteX5" fmla="*/ 15846 w 45810"/>
              <a:gd name="connsiteY5" fmla="*/ 37209 h 43727"/>
              <a:gd name="connsiteX6" fmla="*/ 29611 w 45810"/>
              <a:gd name="connsiteY6" fmla="*/ 37614 h 43727"/>
              <a:gd name="connsiteX7" fmla="*/ 28924 w 45810"/>
              <a:gd name="connsiteY7" fmla="*/ 39639 h 43727"/>
              <a:gd name="connsiteX8" fmla="*/ 34165 w 45810"/>
              <a:gd name="connsiteY8" fmla="*/ 22813 h 43727"/>
              <a:gd name="connsiteX9" fmla="*/ 44682 w 45810"/>
              <a:gd name="connsiteY9" fmla="*/ 33475 h 43727"/>
              <a:gd name="connsiteX10" fmla="*/ 41834 w 45810"/>
              <a:gd name="connsiteY10" fmla="*/ 15213 h 43727"/>
              <a:gd name="connsiteX11" fmla="*/ 40386 w 45810"/>
              <a:gd name="connsiteY11" fmla="*/ 17889 h 43727"/>
              <a:gd name="connsiteX12" fmla="*/ 38360 w 45810"/>
              <a:gd name="connsiteY12" fmla="*/ 5285 h 43727"/>
              <a:gd name="connsiteX13" fmla="*/ 38436 w 45810"/>
              <a:gd name="connsiteY13" fmla="*/ 6549 h 43727"/>
              <a:gd name="connsiteX14" fmla="*/ 29114 w 45810"/>
              <a:gd name="connsiteY14" fmla="*/ 3811 h 43727"/>
              <a:gd name="connsiteX15" fmla="*/ 29856 w 45810"/>
              <a:gd name="connsiteY15" fmla="*/ 2199 h 43727"/>
              <a:gd name="connsiteX16" fmla="*/ 22177 w 45810"/>
              <a:gd name="connsiteY16" fmla="*/ 4579 h 43727"/>
              <a:gd name="connsiteX17" fmla="*/ 22536 w 45810"/>
              <a:gd name="connsiteY17" fmla="*/ 3189 h 43727"/>
              <a:gd name="connsiteX18" fmla="*/ 14036 w 45810"/>
              <a:gd name="connsiteY18" fmla="*/ 5051 h 43727"/>
              <a:gd name="connsiteX19" fmla="*/ 15336 w 45810"/>
              <a:gd name="connsiteY19" fmla="*/ 6399 h 43727"/>
              <a:gd name="connsiteX20" fmla="*/ 4163 w 45810"/>
              <a:gd name="connsiteY20" fmla="*/ 15648 h 43727"/>
              <a:gd name="connsiteX21" fmla="*/ 3936 w 45810"/>
              <a:gd name="connsiteY21" fmla="*/ 14229 h 43727"/>
              <a:gd name="connsiteX0" fmla="*/ 3936 w 45810"/>
              <a:gd name="connsiteY0" fmla="*/ 14229 h 43727"/>
              <a:gd name="connsiteX1" fmla="*/ 5659 w 45810"/>
              <a:gd name="connsiteY1" fmla="*/ 6766 h 43727"/>
              <a:gd name="connsiteX2" fmla="*/ 14041 w 45810"/>
              <a:gd name="connsiteY2" fmla="*/ 5061 h 43727"/>
              <a:gd name="connsiteX3" fmla="*/ 22492 w 45810"/>
              <a:gd name="connsiteY3" fmla="*/ 3291 h 43727"/>
              <a:gd name="connsiteX4" fmla="*/ 25785 w 45810"/>
              <a:gd name="connsiteY4" fmla="*/ 59 h 43727"/>
              <a:gd name="connsiteX5" fmla="*/ 29869 w 45810"/>
              <a:gd name="connsiteY5" fmla="*/ 2340 h 43727"/>
              <a:gd name="connsiteX6" fmla="*/ 35499 w 45810"/>
              <a:gd name="connsiteY6" fmla="*/ 549 h 43727"/>
              <a:gd name="connsiteX7" fmla="*/ 38354 w 45810"/>
              <a:gd name="connsiteY7" fmla="*/ 5435 h 43727"/>
              <a:gd name="connsiteX8" fmla="*/ 41359 w 45810"/>
              <a:gd name="connsiteY8" fmla="*/ 10506 h 43727"/>
              <a:gd name="connsiteX9" fmla="*/ 41854 w 45810"/>
              <a:gd name="connsiteY9" fmla="*/ 15319 h 43727"/>
              <a:gd name="connsiteX10" fmla="*/ 45112 w 45810"/>
              <a:gd name="connsiteY10" fmla="*/ 23484 h 43727"/>
              <a:gd name="connsiteX11" fmla="*/ 44165 w 45810"/>
              <a:gd name="connsiteY11" fmla="*/ 33302 h 43727"/>
              <a:gd name="connsiteX12" fmla="*/ 36763 w 45810"/>
              <a:gd name="connsiteY12" fmla="*/ 40407 h 43727"/>
              <a:gd name="connsiteX13" fmla="*/ 28895 w 45810"/>
              <a:gd name="connsiteY13" fmla="*/ 38195 h 43727"/>
              <a:gd name="connsiteX14" fmla="*/ 23626 w 45810"/>
              <a:gd name="connsiteY14" fmla="*/ 43717 h 43727"/>
              <a:gd name="connsiteX15" fmla="*/ 16516 w 45810"/>
              <a:gd name="connsiteY15" fmla="*/ 39125 h 43727"/>
              <a:gd name="connsiteX16" fmla="*/ 9779 w 45810"/>
              <a:gd name="connsiteY16" fmla="*/ 33838 h 43727"/>
              <a:gd name="connsiteX17" fmla="*/ 4630 w 45810"/>
              <a:gd name="connsiteY17" fmla="*/ 30176 h 43727"/>
              <a:gd name="connsiteX18" fmla="*/ 2149 w 45810"/>
              <a:gd name="connsiteY18" fmla="*/ 25410 h 43727"/>
              <a:gd name="connsiteX19" fmla="*/ 31 w 45810"/>
              <a:gd name="connsiteY19" fmla="*/ 19563 h 43727"/>
              <a:gd name="connsiteX20" fmla="*/ 3899 w 45810"/>
              <a:gd name="connsiteY20" fmla="*/ 14366 h 43727"/>
              <a:gd name="connsiteX21" fmla="*/ 3936 w 45810"/>
              <a:gd name="connsiteY21" fmla="*/ 14229 h 43727"/>
              <a:gd name="connsiteX0" fmla="*/ 4729 w 45810"/>
              <a:gd name="connsiteY0" fmla="*/ 26036 h 43727"/>
              <a:gd name="connsiteX1" fmla="*/ 2196 w 45810"/>
              <a:gd name="connsiteY1" fmla="*/ 25239 h 43727"/>
              <a:gd name="connsiteX2" fmla="*/ 11537 w 45810"/>
              <a:gd name="connsiteY2" fmla="*/ 37328 h 43727"/>
              <a:gd name="connsiteX3" fmla="*/ 10417 w 45810"/>
              <a:gd name="connsiteY3" fmla="*/ 33625 h 43727"/>
              <a:gd name="connsiteX4" fmla="*/ 16514 w 45810"/>
              <a:gd name="connsiteY4" fmla="*/ 38949 h 43727"/>
              <a:gd name="connsiteX5" fmla="*/ 15846 w 45810"/>
              <a:gd name="connsiteY5" fmla="*/ 37209 h 43727"/>
              <a:gd name="connsiteX6" fmla="*/ 29611 w 45810"/>
              <a:gd name="connsiteY6" fmla="*/ 37614 h 43727"/>
              <a:gd name="connsiteX7" fmla="*/ 28924 w 45810"/>
              <a:gd name="connsiteY7" fmla="*/ 39639 h 43727"/>
              <a:gd name="connsiteX8" fmla="*/ 34165 w 45810"/>
              <a:gd name="connsiteY8" fmla="*/ 22813 h 43727"/>
              <a:gd name="connsiteX9" fmla="*/ 44682 w 45810"/>
              <a:gd name="connsiteY9" fmla="*/ 33475 h 43727"/>
              <a:gd name="connsiteX10" fmla="*/ 41834 w 45810"/>
              <a:gd name="connsiteY10" fmla="*/ 15213 h 43727"/>
              <a:gd name="connsiteX11" fmla="*/ 40386 w 45810"/>
              <a:gd name="connsiteY11" fmla="*/ 17889 h 43727"/>
              <a:gd name="connsiteX12" fmla="*/ 38360 w 45810"/>
              <a:gd name="connsiteY12" fmla="*/ 5285 h 43727"/>
              <a:gd name="connsiteX13" fmla="*/ 38436 w 45810"/>
              <a:gd name="connsiteY13" fmla="*/ 6549 h 43727"/>
              <a:gd name="connsiteX14" fmla="*/ 29114 w 45810"/>
              <a:gd name="connsiteY14" fmla="*/ 3811 h 43727"/>
              <a:gd name="connsiteX15" fmla="*/ 29856 w 45810"/>
              <a:gd name="connsiteY15" fmla="*/ 2199 h 43727"/>
              <a:gd name="connsiteX16" fmla="*/ 22177 w 45810"/>
              <a:gd name="connsiteY16" fmla="*/ 4579 h 43727"/>
              <a:gd name="connsiteX17" fmla="*/ 22536 w 45810"/>
              <a:gd name="connsiteY17" fmla="*/ 3189 h 43727"/>
              <a:gd name="connsiteX18" fmla="*/ 14036 w 45810"/>
              <a:gd name="connsiteY18" fmla="*/ 5051 h 43727"/>
              <a:gd name="connsiteX19" fmla="*/ 15336 w 45810"/>
              <a:gd name="connsiteY19" fmla="*/ 6399 h 43727"/>
              <a:gd name="connsiteX20" fmla="*/ 4163 w 45810"/>
              <a:gd name="connsiteY20" fmla="*/ 15648 h 43727"/>
              <a:gd name="connsiteX21" fmla="*/ 3936 w 45810"/>
              <a:gd name="connsiteY21" fmla="*/ 14229 h 43727"/>
              <a:gd name="connsiteX0" fmla="*/ 3936 w 45810"/>
              <a:gd name="connsiteY0" fmla="*/ 14229 h 43727"/>
              <a:gd name="connsiteX1" fmla="*/ 5659 w 45810"/>
              <a:gd name="connsiteY1" fmla="*/ 6766 h 43727"/>
              <a:gd name="connsiteX2" fmla="*/ 14041 w 45810"/>
              <a:gd name="connsiteY2" fmla="*/ 5061 h 43727"/>
              <a:gd name="connsiteX3" fmla="*/ 22492 w 45810"/>
              <a:gd name="connsiteY3" fmla="*/ 3291 h 43727"/>
              <a:gd name="connsiteX4" fmla="*/ 25785 w 45810"/>
              <a:gd name="connsiteY4" fmla="*/ 59 h 43727"/>
              <a:gd name="connsiteX5" fmla="*/ 29869 w 45810"/>
              <a:gd name="connsiteY5" fmla="*/ 2340 h 43727"/>
              <a:gd name="connsiteX6" fmla="*/ 35499 w 45810"/>
              <a:gd name="connsiteY6" fmla="*/ 549 h 43727"/>
              <a:gd name="connsiteX7" fmla="*/ 38354 w 45810"/>
              <a:gd name="connsiteY7" fmla="*/ 5435 h 43727"/>
              <a:gd name="connsiteX8" fmla="*/ 41359 w 45810"/>
              <a:gd name="connsiteY8" fmla="*/ 10506 h 43727"/>
              <a:gd name="connsiteX9" fmla="*/ 41854 w 45810"/>
              <a:gd name="connsiteY9" fmla="*/ 15319 h 43727"/>
              <a:gd name="connsiteX10" fmla="*/ 45112 w 45810"/>
              <a:gd name="connsiteY10" fmla="*/ 23484 h 43727"/>
              <a:gd name="connsiteX11" fmla="*/ 44165 w 45810"/>
              <a:gd name="connsiteY11" fmla="*/ 33302 h 43727"/>
              <a:gd name="connsiteX12" fmla="*/ 36763 w 45810"/>
              <a:gd name="connsiteY12" fmla="*/ 40407 h 43727"/>
              <a:gd name="connsiteX13" fmla="*/ 28895 w 45810"/>
              <a:gd name="connsiteY13" fmla="*/ 38195 h 43727"/>
              <a:gd name="connsiteX14" fmla="*/ 23626 w 45810"/>
              <a:gd name="connsiteY14" fmla="*/ 43717 h 43727"/>
              <a:gd name="connsiteX15" fmla="*/ 16516 w 45810"/>
              <a:gd name="connsiteY15" fmla="*/ 39125 h 43727"/>
              <a:gd name="connsiteX16" fmla="*/ 9779 w 45810"/>
              <a:gd name="connsiteY16" fmla="*/ 33838 h 43727"/>
              <a:gd name="connsiteX17" fmla="*/ 4630 w 45810"/>
              <a:gd name="connsiteY17" fmla="*/ 30176 h 43727"/>
              <a:gd name="connsiteX18" fmla="*/ 2149 w 45810"/>
              <a:gd name="connsiteY18" fmla="*/ 25410 h 43727"/>
              <a:gd name="connsiteX19" fmla="*/ 31 w 45810"/>
              <a:gd name="connsiteY19" fmla="*/ 19563 h 43727"/>
              <a:gd name="connsiteX20" fmla="*/ 3899 w 45810"/>
              <a:gd name="connsiteY20" fmla="*/ 14366 h 43727"/>
              <a:gd name="connsiteX21" fmla="*/ 3936 w 45810"/>
              <a:gd name="connsiteY21" fmla="*/ 14229 h 43727"/>
              <a:gd name="connsiteX0" fmla="*/ 4729 w 45810"/>
              <a:gd name="connsiteY0" fmla="*/ 26036 h 43727"/>
              <a:gd name="connsiteX1" fmla="*/ 2196 w 45810"/>
              <a:gd name="connsiteY1" fmla="*/ 25239 h 43727"/>
              <a:gd name="connsiteX2" fmla="*/ 15928 w 45810"/>
              <a:gd name="connsiteY2" fmla="*/ 34254 h 43727"/>
              <a:gd name="connsiteX3" fmla="*/ 10417 w 45810"/>
              <a:gd name="connsiteY3" fmla="*/ 33625 h 43727"/>
              <a:gd name="connsiteX4" fmla="*/ 16514 w 45810"/>
              <a:gd name="connsiteY4" fmla="*/ 38949 h 43727"/>
              <a:gd name="connsiteX5" fmla="*/ 15846 w 45810"/>
              <a:gd name="connsiteY5" fmla="*/ 37209 h 43727"/>
              <a:gd name="connsiteX6" fmla="*/ 29611 w 45810"/>
              <a:gd name="connsiteY6" fmla="*/ 37614 h 43727"/>
              <a:gd name="connsiteX7" fmla="*/ 28924 w 45810"/>
              <a:gd name="connsiteY7" fmla="*/ 39639 h 43727"/>
              <a:gd name="connsiteX8" fmla="*/ 34165 w 45810"/>
              <a:gd name="connsiteY8" fmla="*/ 22813 h 43727"/>
              <a:gd name="connsiteX9" fmla="*/ 44682 w 45810"/>
              <a:gd name="connsiteY9" fmla="*/ 33475 h 43727"/>
              <a:gd name="connsiteX10" fmla="*/ 41834 w 45810"/>
              <a:gd name="connsiteY10" fmla="*/ 15213 h 43727"/>
              <a:gd name="connsiteX11" fmla="*/ 40386 w 45810"/>
              <a:gd name="connsiteY11" fmla="*/ 17889 h 43727"/>
              <a:gd name="connsiteX12" fmla="*/ 38360 w 45810"/>
              <a:gd name="connsiteY12" fmla="*/ 5285 h 43727"/>
              <a:gd name="connsiteX13" fmla="*/ 38436 w 45810"/>
              <a:gd name="connsiteY13" fmla="*/ 6549 h 43727"/>
              <a:gd name="connsiteX14" fmla="*/ 29114 w 45810"/>
              <a:gd name="connsiteY14" fmla="*/ 3811 h 43727"/>
              <a:gd name="connsiteX15" fmla="*/ 29856 w 45810"/>
              <a:gd name="connsiteY15" fmla="*/ 2199 h 43727"/>
              <a:gd name="connsiteX16" fmla="*/ 22177 w 45810"/>
              <a:gd name="connsiteY16" fmla="*/ 4579 h 43727"/>
              <a:gd name="connsiteX17" fmla="*/ 22536 w 45810"/>
              <a:gd name="connsiteY17" fmla="*/ 3189 h 43727"/>
              <a:gd name="connsiteX18" fmla="*/ 14036 w 45810"/>
              <a:gd name="connsiteY18" fmla="*/ 5051 h 43727"/>
              <a:gd name="connsiteX19" fmla="*/ 15336 w 45810"/>
              <a:gd name="connsiteY19" fmla="*/ 6399 h 43727"/>
              <a:gd name="connsiteX20" fmla="*/ 4163 w 45810"/>
              <a:gd name="connsiteY20" fmla="*/ 15648 h 43727"/>
              <a:gd name="connsiteX21" fmla="*/ 3936 w 45810"/>
              <a:gd name="connsiteY21" fmla="*/ 14229 h 43727"/>
              <a:gd name="connsiteX0" fmla="*/ 3936 w 45810"/>
              <a:gd name="connsiteY0" fmla="*/ 14229 h 43727"/>
              <a:gd name="connsiteX1" fmla="*/ 5659 w 45810"/>
              <a:gd name="connsiteY1" fmla="*/ 6766 h 43727"/>
              <a:gd name="connsiteX2" fmla="*/ 14041 w 45810"/>
              <a:gd name="connsiteY2" fmla="*/ 5061 h 43727"/>
              <a:gd name="connsiteX3" fmla="*/ 22492 w 45810"/>
              <a:gd name="connsiteY3" fmla="*/ 3291 h 43727"/>
              <a:gd name="connsiteX4" fmla="*/ 25785 w 45810"/>
              <a:gd name="connsiteY4" fmla="*/ 59 h 43727"/>
              <a:gd name="connsiteX5" fmla="*/ 29869 w 45810"/>
              <a:gd name="connsiteY5" fmla="*/ 2340 h 43727"/>
              <a:gd name="connsiteX6" fmla="*/ 35499 w 45810"/>
              <a:gd name="connsiteY6" fmla="*/ 549 h 43727"/>
              <a:gd name="connsiteX7" fmla="*/ 38354 w 45810"/>
              <a:gd name="connsiteY7" fmla="*/ 5435 h 43727"/>
              <a:gd name="connsiteX8" fmla="*/ 41359 w 45810"/>
              <a:gd name="connsiteY8" fmla="*/ 10506 h 43727"/>
              <a:gd name="connsiteX9" fmla="*/ 41854 w 45810"/>
              <a:gd name="connsiteY9" fmla="*/ 15319 h 43727"/>
              <a:gd name="connsiteX10" fmla="*/ 45112 w 45810"/>
              <a:gd name="connsiteY10" fmla="*/ 23484 h 43727"/>
              <a:gd name="connsiteX11" fmla="*/ 44165 w 45810"/>
              <a:gd name="connsiteY11" fmla="*/ 33302 h 43727"/>
              <a:gd name="connsiteX12" fmla="*/ 36763 w 45810"/>
              <a:gd name="connsiteY12" fmla="*/ 40407 h 43727"/>
              <a:gd name="connsiteX13" fmla="*/ 28895 w 45810"/>
              <a:gd name="connsiteY13" fmla="*/ 38195 h 43727"/>
              <a:gd name="connsiteX14" fmla="*/ 23626 w 45810"/>
              <a:gd name="connsiteY14" fmla="*/ 43717 h 43727"/>
              <a:gd name="connsiteX15" fmla="*/ 16516 w 45810"/>
              <a:gd name="connsiteY15" fmla="*/ 39125 h 43727"/>
              <a:gd name="connsiteX16" fmla="*/ 9779 w 45810"/>
              <a:gd name="connsiteY16" fmla="*/ 33838 h 43727"/>
              <a:gd name="connsiteX17" fmla="*/ 4630 w 45810"/>
              <a:gd name="connsiteY17" fmla="*/ 30176 h 43727"/>
              <a:gd name="connsiteX18" fmla="*/ 2149 w 45810"/>
              <a:gd name="connsiteY18" fmla="*/ 25410 h 43727"/>
              <a:gd name="connsiteX19" fmla="*/ 31 w 45810"/>
              <a:gd name="connsiteY19" fmla="*/ 19563 h 43727"/>
              <a:gd name="connsiteX20" fmla="*/ 3899 w 45810"/>
              <a:gd name="connsiteY20" fmla="*/ 14366 h 43727"/>
              <a:gd name="connsiteX21" fmla="*/ 3936 w 45810"/>
              <a:gd name="connsiteY21" fmla="*/ 14229 h 43727"/>
              <a:gd name="connsiteX0" fmla="*/ 4729 w 45810"/>
              <a:gd name="connsiteY0" fmla="*/ 26036 h 43727"/>
              <a:gd name="connsiteX1" fmla="*/ 2196 w 45810"/>
              <a:gd name="connsiteY1" fmla="*/ 25239 h 43727"/>
              <a:gd name="connsiteX2" fmla="*/ 15928 w 45810"/>
              <a:gd name="connsiteY2" fmla="*/ 34254 h 43727"/>
              <a:gd name="connsiteX3" fmla="*/ 10417 w 45810"/>
              <a:gd name="connsiteY3" fmla="*/ 33625 h 43727"/>
              <a:gd name="connsiteX4" fmla="*/ 16514 w 45810"/>
              <a:gd name="connsiteY4" fmla="*/ 38949 h 43727"/>
              <a:gd name="connsiteX5" fmla="*/ 15846 w 45810"/>
              <a:gd name="connsiteY5" fmla="*/ 37209 h 43727"/>
              <a:gd name="connsiteX6" fmla="*/ 29611 w 45810"/>
              <a:gd name="connsiteY6" fmla="*/ 37614 h 43727"/>
              <a:gd name="connsiteX7" fmla="*/ 28924 w 45810"/>
              <a:gd name="connsiteY7" fmla="*/ 39639 h 43727"/>
              <a:gd name="connsiteX8" fmla="*/ 34165 w 45810"/>
              <a:gd name="connsiteY8" fmla="*/ 22813 h 43727"/>
              <a:gd name="connsiteX9" fmla="*/ 44682 w 45810"/>
              <a:gd name="connsiteY9" fmla="*/ 33475 h 43727"/>
              <a:gd name="connsiteX10" fmla="*/ 41834 w 45810"/>
              <a:gd name="connsiteY10" fmla="*/ 15213 h 43727"/>
              <a:gd name="connsiteX11" fmla="*/ 40386 w 45810"/>
              <a:gd name="connsiteY11" fmla="*/ 17889 h 43727"/>
              <a:gd name="connsiteX12" fmla="*/ 38360 w 45810"/>
              <a:gd name="connsiteY12" fmla="*/ 5285 h 43727"/>
              <a:gd name="connsiteX13" fmla="*/ 38436 w 45810"/>
              <a:gd name="connsiteY13" fmla="*/ 6549 h 43727"/>
              <a:gd name="connsiteX14" fmla="*/ 29114 w 45810"/>
              <a:gd name="connsiteY14" fmla="*/ 3811 h 43727"/>
              <a:gd name="connsiteX15" fmla="*/ 29856 w 45810"/>
              <a:gd name="connsiteY15" fmla="*/ 2199 h 43727"/>
              <a:gd name="connsiteX16" fmla="*/ 22177 w 45810"/>
              <a:gd name="connsiteY16" fmla="*/ 4579 h 43727"/>
              <a:gd name="connsiteX17" fmla="*/ 22536 w 45810"/>
              <a:gd name="connsiteY17" fmla="*/ 3189 h 43727"/>
              <a:gd name="connsiteX18" fmla="*/ 14036 w 45810"/>
              <a:gd name="connsiteY18" fmla="*/ 5051 h 43727"/>
              <a:gd name="connsiteX19" fmla="*/ 15336 w 45810"/>
              <a:gd name="connsiteY19" fmla="*/ 6399 h 43727"/>
              <a:gd name="connsiteX20" fmla="*/ 4163 w 45810"/>
              <a:gd name="connsiteY20" fmla="*/ 15648 h 43727"/>
              <a:gd name="connsiteX21" fmla="*/ 3936 w 45810"/>
              <a:gd name="connsiteY21" fmla="*/ 14229 h 43727"/>
              <a:gd name="connsiteX0" fmla="*/ 3936 w 45810"/>
              <a:gd name="connsiteY0" fmla="*/ 14229 h 41493"/>
              <a:gd name="connsiteX1" fmla="*/ 5659 w 45810"/>
              <a:gd name="connsiteY1" fmla="*/ 6766 h 41493"/>
              <a:gd name="connsiteX2" fmla="*/ 14041 w 45810"/>
              <a:gd name="connsiteY2" fmla="*/ 5061 h 41493"/>
              <a:gd name="connsiteX3" fmla="*/ 22492 w 45810"/>
              <a:gd name="connsiteY3" fmla="*/ 3291 h 41493"/>
              <a:gd name="connsiteX4" fmla="*/ 25785 w 45810"/>
              <a:gd name="connsiteY4" fmla="*/ 59 h 41493"/>
              <a:gd name="connsiteX5" fmla="*/ 29869 w 45810"/>
              <a:gd name="connsiteY5" fmla="*/ 2340 h 41493"/>
              <a:gd name="connsiteX6" fmla="*/ 35499 w 45810"/>
              <a:gd name="connsiteY6" fmla="*/ 549 h 41493"/>
              <a:gd name="connsiteX7" fmla="*/ 38354 w 45810"/>
              <a:gd name="connsiteY7" fmla="*/ 5435 h 41493"/>
              <a:gd name="connsiteX8" fmla="*/ 41359 w 45810"/>
              <a:gd name="connsiteY8" fmla="*/ 10506 h 41493"/>
              <a:gd name="connsiteX9" fmla="*/ 41854 w 45810"/>
              <a:gd name="connsiteY9" fmla="*/ 15319 h 41493"/>
              <a:gd name="connsiteX10" fmla="*/ 45112 w 45810"/>
              <a:gd name="connsiteY10" fmla="*/ 23484 h 41493"/>
              <a:gd name="connsiteX11" fmla="*/ 44165 w 45810"/>
              <a:gd name="connsiteY11" fmla="*/ 33302 h 41493"/>
              <a:gd name="connsiteX12" fmla="*/ 36763 w 45810"/>
              <a:gd name="connsiteY12" fmla="*/ 40407 h 41493"/>
              <a:gd name="connsiteX13" fmla="*/ 28895 w 45810"/>
              <a:gd name="connsiteY13" fmla="*/ 38195 h 41493"/>
              <a:gd name="connsiteX14" fmla="*/ 23017 w 45810"/>
              <a:gd name="connsiteY14" fmla="*/ 41252 h 41493"/>
              <a:gd name="connsiteX15" fmla="*/ 16516 w 45810"/>
              <a:gd name="connsiteY15" fmla="*/ 39125 h 41493"/>
              <a:gd name="connsiteX16" fmla="*/ 9779 w 45810"/>
              <a:gd name="connsiteY16" fmla="*/ 33838 h 41493"/>
              <a:gd name="connsiteX17" fmla="*/ 4630 w 45810"/>
              <a:gd name="connsiteY17" fmla="*/ 30176 h 41493"/>
              <a:gd name="connsiteX18" fmla="*/ 2149 w 45810"/>
              <a:gd name="connsiteY18" fmla="*/ 25410 h 41493"/>
              <a:gd name="connsiteX19" fmla="*/ 31 w 45810"/>
              <a:gd name="connsiteY19" fmla="*/ 19563 h 41493"/>
              <a:gd name="connsiteX20" fmla="*/ 3899 w 45810"/>
              <a:gd name="connsiteY20" fmla="*/ 14366 h 41493"/>
              <a:gd name="connsiteX21" fmla="*/ 3936 w 45810"/>
              <a:gd name="connsiteY21" fmla="*/ 14229 h 41493"/>
              <a:gd name="connsiteX0" fmla="*/ 4729 w 45810"/>
              <a:gd name="connsiteY0" fmla="*/ 26036 h 41493"/>
              <a:gd name="connsiteX1" fmla="*/ 2196 w 45810"/>
              <a:gd name="connsiteY1" fmla="*/ 25239 h 41493"/>
              <a:gd name="connsiteX2" fmla="*/ 15928 w 45810"/>
              <a:gd name="connsiteY2" fmla="*/ 34254 h 41493"/>
              <a:gd name="connsiteX3" fmla="*/ 10417 w 45810"/>
              <a:gd name="connsiteY3" fmla="*/ 33625 h 41493"/>
              <a:gd name="connsiteX4" fmla="*/ 16514 w 45810"/>
              <a:gd name="connsiteY4" fmla="*/ 38949 h 41493"/>
              <a:gd name="connsiteX5" fmla="*/ 15846 w 45810"/>
              <a:gd name="connsiteY5" fmla="*/ 37209 h 41493"/>
              <a:gd name="connsiteX6" fmla="*/ 29611 w 45810"/>
              <a:gd name="connsiteY6" fmla="*/ 37614 h 41493"/>
              <a:gd name="connsiteX7" fmla="*/ 28924 w 45810"/>
              <a:gd name="connsiteY7" fmla="*/ 39639 h 41493"/>
              <a:gd name="connsiteX8" fmla="*/ 34165 w 45810"/>
              <a:gd name="connsiteY8" fmla="*/ 22813 h 41493"/>
              <a:gd name="connsiteX9" fmla="*/ 44682 w 45810"/>
              <a:gd name="connsiteY9" fmla="*/ 33475 h 41493"/>
              <a:gd name="connsiteX10" fmla="*/ 41834 w 45810"/>
              <a:gd name="connsiteY10" fmla="*/ 15213 h 41493"/>
              <a:gd name="connsiteX11" fmla="*/ 40386 w 45810"/>
              <a:gd name="connsiteY11" fmla="*/ 17889 h 41493"/>
              <a:gd name="connsiteX12" fmla="*/ 38360 w 45810"/>
              <a:gd name="connsiteY12" fmla="*/ 5285 h 41493"/>
              <a:gd name="connsiteX13" fmla="*/ 38436 w 45810"/>
              <a:gd name="connsiteY13" fmla="*/ 6549 h 41493"/>
              <a:gd name="connsiteX14" fmla="*/ 29114 w 45810"/>
              <a:gd name="connsiteY14" fmla="*/ 3811 h 41493"/>
              <a:gd name="connsiteX15" fmla="*/ 29856 w 45810"/>
              <a:gd name="connsiteY15" fmla="*/ 2199 h 41493"/>
              <a:gd name="connsiteX16" fmla="*/ 22177 w 45810"/>
              <a:gd name="connsiteY16" fmla="*/ 4579 h 41493"/>
              <a:gd name="connsiteX17" fmla="*/ 22536 w 45810"/>
              <a:gd name="connsiteY17" fmla="*/ 3189 h 41493"/>
              <a:gd name="connsiteX18" fmla="*/ 14036 w 45810"/>
              <a:gd name="connsiteY18" fmla="*/ 5051 h 41493"/>
              <a:gd name="connsiteX19" fmla="*/ 15336 w 45810"/>
              <a:gd name="connsiteY19" fmla="*/ 6399 h 41493"/>
              <a:gd name="connsiteX20" fmla="*/ 4163 w 45810"/>
              <a:gd name="connsiteY20" fmla="*/ 15648 h 41493"/>
              <a:gd name="connsiteX21" fmla="*/ 3936 w 45810"/>
              <a:gd name="connsiteY21" fmla="*/ 14229 h 41493"/>
              <a:gd name="connsiteX0" fmla="*/ 3936 w 45810"/>
              <a:gd name="connsiteY0" fmla="*/ 14229 h 41493"/>
              <a:gd name="connsiteX1" fmla="*/ 5659 w 45810"/>
              <a:gd name="connsiteY1" fmla="*/ 6766 h 41493"/>
              <a:gd name="connsiteX2" fmla="*/ 14041 w 45810"/>
              <a:gd name="connsiteY2" fmla="*/ 5061 h 41493"/>
              <a:gd name="connsiteX3" fmla="*/ 22492 w 45810"/>
              <a:gd name="connsiteY3" fmla="*/ 3291 h 41493"/>
              <a:gd name="connsiteX4" fmla="*/ 25785 w 45810"/>
              <a:gd name="connsiteY4" fmla="*/ 59 h 41493"/>
              <a:gd name="connsiteX5" fmla="*/ 29869 w 45810"/>
              <a:gd name="connsiteY5" fmla="*/ 2340 h 41493"/>
              <a:gd name="connsiteX6" fmla="*/ 35499 w 45810"/>
              <a:gd name="connsiteY6" fmla="*/ 549 h 41493"/>
              <a:gd name="connsiteX7" fmla="*/ 38354 w 45810"/>
              <a:gd name="connsiteY7" fmla="*/ 5435 h 41493"/>
              <a:gd name="connsiteX8" fmla="*/ 41359 w 45810"/>
              <a:gd name="connsiteY8" fmla="*/ 10506 h 41493"/>
              <a:gd name="connsiteX9" fmla="*/ 41854 w 45810"/>
              <a:gd name="connsiteY9" fmla="*/ 15319 h 41493"/>
              <a:gd name="connsiteX10" fmla="*/ 45112 w 45810"/>
              <a:gd name="connsiteY10" fmla="*/ 23484 h 41493"/>
              <a:gd name="connsiteX11" fmla="*/ 44165 w 45810"/>
              <a:gd name="connsiteY11" fmla="*/ 33302 h 41493"/>
              <a:gd name="connsiteX12" fmla="*/ 38270 w 45810"/>
              <a:gd name="connsiteY12" fmla="*/ 37667 h 41493"/>
              <a:gd name="connsiteX13" fmla="*/ 28895 w 45810"/>
              <a:gd name="connsiteY13" fmla="*/ 38195 h 41493"/>
              <a:gd name="connsiteX14" fmla="*/ 23017 w 45810"/>
              <a:gd name="connsiteY14" fmla="*/ 41252 h 41493"/>
              <a:gd name="connsiteX15" fmla="*/ 16516 w 45810"/>
              <a:gd name="connsiteY15" fmla="*/ 39125 h 41493"/>
              <a:gd name="connsiteX16" fmla="*/ 9779 w 45810"/>
              <a:gd name="connsiteY16" fmla="*/ 33838 h 41493"/>
              <a:gd name="connsiteX17" fmla="*/ 4630 w 45810"/>
              <a:gd name="connsiteY17" fmla="*/ 30176 h 41493"/>
              <a:gd name="connsiteX18" fmla="*/ 2149 w 45810"/>
              <a:gd name="connsiteY18" fmla="*/ 25410 h 41493"/>
              <a:gd name="connsiteX19" fmla="*/ 31 w 45810"/>
              <a:gd name="connsiteY19" fmla="*/ 19563 h 41493"/>
              <a:gd name="connsiteX20" fmla="*/ 3899 w 45810"/>
              <a:gd name="connsiteY20" fmla="*/ 14366 h 41493"/>
              <a:gd name="connsiteX21" fmla="*/ 3936 w 45810"/>
              <a:gd name="connsiteY21" fmla="*/ 14229 h 41493"/>
              <a:gd name="connsiteX0" fmla="*/ 4729 w 45810"/>
              <a:gd name="connsiteY0" fmla="*/ 26036 h 41493"/>
              <a:gd name="connsiteX1" fmla="*/ 2196 w 45810"/>
              <a:gd name="connsiteY1" fmla="*/ 25239 h 41493"/>
              <a:gd name="connsiteX2" fmla="*/ 15928 w 45810"/>
              <a:gd name="connsiteY2" fmla="*/ 34254 h 41493"/>
              <a:gd name="connsiteX3" fmla="*/ 10417 w 45810"/>
              <a:gd name="connsiteY3" fmla="*/ 33625 h 41493"/>
              <a:gd name="connsiteX4" fmla="*/ 16514 w 45810"/>
              <a:gd name="connsiteY4" fmla="*/ 38949 h 41493"/>
              <a:gd name="connsiteX5" fmla="*/ 15846 w 45810"/>
              <a:gd name="connsiteY5" fmla="*/ 37209 h 41493"/>
              <a:gd name="connsiteX6" fmla="*/ 29611 w 45810"/>
              <a:gd name="connsiteY6" fmla="*/ 37614 h 41493"/>
              <a:gd name="connsiteX7" fmla="*/ 28924 w 45810"/>
              <a:gd name="connsiteY7" fmla="*/ 39639 h 41493"/>
              <a:gd name="connsiteX8" fmla="*/ 34165 w 45810"/>
              <a:gd name="connsiteY8" fmla="*/ 22813 h 41493"/>
              <a:gd name="connsiteX9" fmla="*/ 44682 w 45810"/>
              <a:gd name="connsiteY9" fmla="*/ 33475 h 41493"/>
              <a:gd name="connsiteX10" fmla="*/ 41834 w 45810"/>
              <a:gd name="connsiteY10" fmla="*/ 15213 h 41493"/>
              <a:gd name="connsiteX11" fmla="*/ 40386 w 45810"/>
              <a:gd name="connsiteY11" fmla="*/ 17889 h 41493"/>
              <a:gd name="connsiteX12" fmla="*/ 38360 w 45810"/>
              <a:gd name="connsiteY12" fmla="*/ 5285 h 41493"/>
              <a:gd name="connsiteX13" fmla="*/ 38436 w 45810"/>
              <a:gd name="connsiteY13" fmla="*/ 6549 h 41493"/>
              <a:gd name="connsiteX14" fmla="*/ 29114 w 45810"/>
              <a:gd name="connsiteY14" fmla="*/ 3811 h 41493"/>
              <a:gd name="connsiteX15" fmla="*/ 29856 w 45810"/>
              <a:gd name="connsiteY15" fmla="*/ 2199 h 41493"/>
              <a:gd name="connsiteX16" fmla="*/ 22177 w 45810"/>
              <a:gd name="connsiteY16" fmla="*/ 4579 h 41493"/>
              <a:gd name="connsiteX17" fmla="*/ 22536 w 45810"/>
              <a:gd name="connsiteY17" fmla="*/ 3189 h 41493"/>
              <a:gd name="connsiteX18" fmla="*/ 14036 w 45810"/>
              <a:gd name="connsiteY18" fmla="*/ 5051 h 41493"/>
              <a:gd name="connsiteX19" fmla="*/ 15336 w 45810"/>
              <a:gd name="connsiteY19" fmla="*/ 6399 h 41493"/>
              <a:gd name="connsiteX20" fmla="*/ 4163 w 45810"/>
              <a:gd name="connsiteY20" fmla="*/ 15648 h 41493"/>
              <a:gd name="connsiteX21" fmla="*/ 3936 w 45810"/>
              <a:gd name="connsiteY21" fmla="*/ 14229 h 41493"/>
              <a:gd name="connsiteX0" fmla="*/ 3936 w 45810"/>
              <a:gd name="connsiteY0" fmla="*/ 14229 h 41493"/>
              <a:gd name="connsiteX1" fmla="*/ 5659 w 45810"/>
              <a:gd name="connsiteY1" fmla="*/ 6766 h 41493"/>
              <a:gd name="connsiteX2" fmla="*/ 14041 w 45810"/>
              <a:gd name="connsiteY2" fmla="*/ 5061 h 41493"/>
              <a:gd name="connsiteX3" fmla="*/ 22492 w 45810"/>
              <a:gd name="connsiteY3" fmla="*/ 3291 h 41493"/>
              <a:gd name="connsiteX4" fmla="*/ 25785 w 45810"/>
              <a:gd name="connsiteY4" fmla="*/ 59 h 41493"/>
              <a:gd name="connsiteX5" fmla="*/ 29869 w 45810"/>
              <a:gd name="connsiteY5" fmla="*/ 2340 h 41493"/>
              <a:gd name="connsiteX6" fmla="*/ 35499 w 45810"/>
              <a:gd name="connsiteY6" fmla="*/ 549 h 41493"/>
              <a:gd name="connsiteX7" fmla="*/ 38354 w 45810"/>
              <a:gd name="connsiteY7" fmla="*/ 5435 h 41493"/>
              <a:gd name="connsiteX8" fmla="*/ 41359 w 45810"/>
              <a:gd name="connsiteY8" fmla="*/ 10506 h 41493"/>
              <a:gd name="connsiteX9" fmla="*/ 41854 w 45810"/>
              <a:gd name="connsiteY9" fmla="*/ 15319 h 41493"/>
              <a:gd name="connsiteX10" fmla="*/ 45112 w 45810"/>
              <a:gd name="connsiteY10" fmla="*/ 23484 h 41493"/>
              <a:gd name="connsiteX11" fmla="*/ 44165 w 45810"/>
              <a:gd name="connsiteY11" fmla="*/ 33302 h 41493"/>
              <a:gd name="connsiteX12" fmla="*/ 38270 w 45810"/>
              <a:gd name="connsiteY12" fmla="*/ 37667 h 41493"/>
              <a:gd name="connsiteX13" fmla="*/ 28895 w 45810"/>
              <a:gd name="connsiteY13" fmla="*/ 38195 h 41493"/>
              <a:gd name="connsiteX14" fmla="*/ 23017 w 45810"/>
              <a:gd name="connsiteY14" fmla="*/ 41252 h 41493"/>
              <a:gd name="connsiteX15" fmla="*/ 16516 w 45810"/>
              <a:gd name="connsiteY15" fmla="*/ 39125 h 41493"/>
              <a:gd name="connsiteX16" fmla="*/ 9779 w 45810"/>
              <a:gd name="connsiteY16" fmla="*/ 33838 h 41493"/>
              <a:gd name="connsiteX17" fmla="*/ 4630 w 45810"/>
              <a:gd name="connsiteY17" fmla="*/ 30176 h 41493"/>
              <a:gd name="connsiteX18" fmla="*/ 2149 w 45810"/>
              <a:gd name="connsiteY18" fmla="*/ 25410 h 41493"/>
              <a:gd name="connsiteX19" fmla="*/ 31 w 45810"/>
              <a:gd name="connsiteY19" fmla="*/ 19563 h 41493"/>
              <a:gd name="connsiteX20" fmla="*/ 3899 w 45810"/>
              <a:gd name="connsiteY20" fmla="*/ 14366 h 41493"/>
              <a:gd name="connsiteX21" fmla="*/ 3936 w 45810"/>
              <a:gd name="connsiteY21" fmla="*/ 14229 h 41493"/>
              <a:gd name="connsiteX0" fmla="*/ 4729 w 45810"/>
              <a:gd name="connsiteY0" fmla="*/ 26036 h 41493"/>
              <a:gd name="connsiteX1" fmla="*/ 2196 w 45810"/>
              <a:gd name="connsiteY1" fmla="*/ 25239 h 41493"/>
              <a:gd name="connsiteX2" fmla="*/ 15928 w 45810"/>
              <a:gd name="connsiteY2" fmla="*/ 34254 h 41493"/>
              <a:gd name="connsiteX3" fmla="*/ 10417 w 45810"/>
              <a:gd name="connsiteY3" fmla="*/ 33625 h 41493"/>
              <a:gd name="connsiteX4" fmla="*/ 16514 w 45810"/>
              <a:gd name="connsiteY4" fmla="*/ 38949 h 41493"/>
              <a:gd name="connsiteX5" fmla="*/ 15846 w 45810"/>
              <a:gd name="connsiteY5" fmla="*/ 37209 h 41493"/>
              <a:gd name="connsiteX6" fmla="*/ 29611 w 45810"/>
              <a:gd name="connsiteY6" fmla="*/ 37614 h 41493"/>
              <a:gd name="connsiteX7" fmla="*/ 28924 w 45810"/>
              <a:gd name="connsiteY7" fmla="*/ 39639 h 41493"/>
              <a:gd name="connsiteX8" fmla="*/ 34165 w 45810"/>
              <a:gd name="connsiteY8" fmla="*/ 22813 h 41493"/>
              <a:gd name="connsiteX9" fmla="*/ 42476 w 45810"/>
              <a:gd name="connsiteY9" fmla="*/ 31438 h 41493"/>
              <a:gd name="connsiteX10" fmla="*/ 41834 w 45810"/>
              <a:gd name="connsiteY10" fmla="*/ 15213 h 41493"/>
              <a:gd name="connsiteX11" fmla="*/ 40386 w 45810"/>
              <a:gd name="connsiteY11" fmla="*/ 17889 h 41493"/>
              <a:gd name="connsiteX12" fmla="*/ 38360 w 45810"/>
              <a:gd name="connsiteY12" fmla="*/ 5285 h 41493"/>
              <a:gd name="connsiteX13" fmla="*/ 38436 w 45810"/>
              <a:gd name="connsiteY13" fmla="*/ 6549 h 41493"/>
              <a:gd name="connsiteX14" fmla="*/ 29114 w 45810"/>
              <a:gd name="connsiteY14" fmla="*/ 3811 h 41493"/>
              <a:gd name="connsiteX15" fmla="*/ 29856 w 45810"/>
              <a:gd name="connsiteY15" fmla="*/ 2199 h 41493"/>
              <a:gd name="connsiteX16" fmla="*/ 22177 w 45810"/>
              <a:gd name="connsiteY16" fmla="*/ 4579 h 41493"/>
              <a:gd name="connsiteX17" fmla="*/ 22536 w 45810"/>
              <a:gd name="connsiteY17" fmla="*/ 3189 h 41493"/>
              <a:gd name="connsiteX18" fmla="*/ 14036 w 45810"/>
              <a:gd name="connsiteY18" fmla="*/ 5051 h 41493"/>
              <a:gd name="connsiteX19" fmla="*/ 15336 w 45810"/>
              <a:gd name="connsiteY19" fmla="*/ 6399 h 41493"/>
              <a:gd name="connsiteX20" fmla="*/ 4163 w 45810"/>
              <a:gd name="connsiteY20" fmla="*/ 15648 h 41493"/>
              <a:gd name="connsiteX21" fmla="*/ 3936 w 45810"/>
              <a:gd name="connsiteY21" fmla="*/ 14229 h 41493"/>
              <a:gd name="connsiteX0" fmla="*/ 3936 w 45282"/>
              <a:gd name="connsiteY0" fmla="*/ 14229 h 41493"/>
              <a:gd name="connsiteX1" fmla="*/ 5659 w 45282"/>
              <a:gd name="connsiteY1" fmla="*/ 6766 h 41493"/>
              <a:gd name="connsiteX2" fmla="*/ 14041 w 45282"/>
              <a:gd name="connsiteY2" fmla="*/ 5061 h 41493"/>
              <a:gd name="connsiteX3" fmla="*/ 22492 w 45282"/>
              <a:gd name="connsiteY3" fmla="*/ 3291 h 41493"/>
              <a:gd name="connsiteX4" fmla="*/ 25785 w 45282"/>
              <a:gd name="connsiteY4" fmla="*/ 59 h 41493"/>
              <a:gd name="connsiteX5" fmla="*/ 29869 w 45282"/>
              <a:gd name="connsiteY5" fmla="*/ 2340 h 41493"/>
              <a:gd name="connsiteX6" fmla="*/ 35499 w 45282"/>
              <a:gd name="connsiteY6" fmla="*/ 549 h 41493"/>
              <a:gd name="connsiteX7" fmla="*/ 38354 w 45282"/>
              <a:gd name="connsiteY7" fmla="*/ 5435 h 41493"/>
              <a:gd name="connsiteX8" fmla="*/ 41359 w 45282"/>
              <a:gd name="connsiteY8" fmla="*/ 10506 h 41493"/>
              <a:gd name="connsiteX9" fmla="*/ 41854 w 45282"/>
              <a:gd name="connsiteY9" fmla="*/ 15319 h 41493"/>
              <a:gd name="connsiteX10" fmla="*/ 45112 w 45282"/>
              <a:gd name="connsiteY10" fmla="*/ 23484 h 41493"/>
              <a:gd name="connsiteX11" fmla="*/ 43082 w 45282"/>
              <a:gd name="connsiteY11" fmla="*/ 31840 h 41493"/>
              <a:gd name="connsiteX12" fmla="*/ 38270 w 45282"/>
              <a:gd name="connsiteY12" fmla="*/ 37667 h 41493"/>
              <a:gd name="connsiteX13" fmla="*/ 28895 w 45282"/>
              <a:gd name="connsiteY13" fmla="*/ 38195 h 41493"/>
              <a:gd name="connsiteX14" fmla="*/ 23017 w 45282"/>
              <a:gd name="connsiteY14" fmla="*/ 41252 h 41493"/>
              <a:gd name="connsiteX15" fmla="*/ 16516 w 45282"/>
              <a:gd name="connsiteY15" fmla="*/ 39125 h 41493"/>
              <a:gd name="connsiteX16" fmla="*/ 9779 w 45282"/>
              <a:gd name="connsiteY16" fmla="*/ 33838 h 41493"/>
              <a:gd name="connsiteX17" fmla="*/ 4630 w 45282"/>
              <a:gd name="connsiteY17" fmla="*/ 30176 h 41493"/>
              <a:gd name="connsiteX18" fmla="*/ 2149 w 45282"/>
              <a:gd name="connsiteY18" fmla="*/ 25410 h 41493"/>
              <a:gd name="connsiteX19" fmla="*/ 31 w 45282"/>
              <a:gd name="connsiteY19" fmla="*/ 19563 h 41493"/>
              <a:gd name="connsiteX20" fmla="*/ 3899 w 45282"/>
              <a:gd name="connsiteY20" fmla="*/ 14366 h 41493"/>
              <a:gd name="connsiteX21" fmla="*/ 3936 w 45282"/>
              <a:gd name="connsiteY21" fmla="*/ 14229 h 41493"/>
              <a:gd name="connsiteX0" fmla="*/ 4729 w 45282"/>
              <a:gd name="connsiteY0" fmla="*/ 26036 h 41493"/>
              <a:gd name="connsiteX1" fmla="*/ 2196 w 45282"/>
              <a:gd name="connsiteY1" fmla="*/ 25239 h 41493"/>
              <a:gd name="connsiteX2" fmla="*/ 15928 w 45282"/>
              <a:gd name="connsiteY2" fmla="*/ 34254 h 41493"/>
              <a:gd name="connsiteX3" fmla="*/ 10417 w 45282"/>
              <a:gd name="connsiteY3" fmla="*/ 33625 h 41493"/>
              <a:gd name="connsiteX4" fmla="*/ 16514 w 45282"/>
              <a:gd name="connsiteY4" fmla="*/ 38949 h 41493"/>
              <a:gd name="connsiteX5" fmla="*/ 15846 w 45282"/>
              <a:gd name="connsiteY5" fmla="*/ 37209 h 41493"/>
              <a:gd name="connsiteX6" fmla="*/ 29611 w 45282"/>
              <a:gd name="connsiteY6" fmla="*/ 37614 h 41493"/>
              <a:gd name="connsiteX7" fmla="*/ 28924 w 45282"/>
              <a:gd name="connsiteY7" fmla="*/ 39639 h 41493"/>
              <a:gd name="connsiteX8" fmla="*/ 34165 w 45282"/>
              <a:gd name="connsiteY8" fmla="*/ 22813 h 41493"/>
              <a:gd name="connsiteX9" fmla="*/ 42476 w 45282"/>
              <a:gd name="connsiteY9" fmla="*/ 31438 h 41493"/>
              <a:gd name="connsiteX10" fmla="*/ 41834 w 45282"/>
              <a:gd name="connsiteY10" fmla="*/ 15213 h 41493"/>
              <a:gd name="connsiteX11" fmla="*/ 40386 w 45282"/>
              <a:gd name="connsiteY11" fmla="*/ 17889 h 41493"/>
              <a:gd name="connsiteX12" fmla="*/ 38360 w 45282"/>
              <a:gd name="connsiteY12" fmla="*/ 5285 h 41493"/>
              <a:gd name="connsiteX13" fmla="*/ 38436 w 45282"/>
              <a:gd name="connsiteY13" fmla="*/ 6549 h 41493"/>
              <a:gd name="connsiteX14" fmla="*/ 29114 w 45282"/>
              <a:gd name="connsiteY14" fmla="*/ 3811 h 41493"/>
              <a:gd name="connsiteX15" fmla="*/ 29856 w 45282"/>
              <a:gd name="connsiteY15" fmla="*/ 2199 h 41493"/>
              <a:gd name="connsiteX16" fmla="*/ 22177 w 45282"/>
              <a:gd name="connsiteY16" fmla="*/ 4579 h 41493"/>
              <a:gd name="connsiteX17" fmla="*/ 22536 w 45282"/>
              <a:gd name="connsiteY17" fmla="*/ 3189 h 41493"/>
              <a:gd name="connsiteX18" fmla="*/ 14036 w 45282"/>
              <a:gd name="connsiteY18" fmla="*/ 5051 h 41493"/>
              <a:gd name="connsiteX19" fmla="*/ 15336 w 45282"/>
              <a:gd name="connsiteY19" fmla="*/ 6399 h 41493"/>
              <a:gd name="connsiteX20" fmla="*/ 4163 w 45282"/>
              <a:gd name="connsiteY20" fmla="*/ 15648 h 41493"/>
              <a:gd name="connsiteX21" fmla="*/ 3936 w 45282"/>
              <a:gd name="connsiteY21" fmla="*/ 14229 h 41493"/>
              <a:gd name="connsiteX0" fmla="*/ 3936 w 45282"/>
              <a:gd name="connsiteY0" fmla="*/ 14229 h 41493"/>
              <a:gd name="connsiteX1" fmla="*/ 5659 w 45282"/>
              <a:gd name="connsiteY1" fmla="*/ 6766 h 41493"/>
              <a:gd name="connsiteX2" fmla="*/ 14041 w 45282"/>
              <a:gd name="connsiteY2" fmla="*/ 5061 h 41493"/>
              <a:gd name="connsiteX3" fmla="*/ 22492 w 45282"/>
              <a:gd name="connsiteY3" fmla="*/ 3291 h 41493"/>
              <a:gd name="connsiteX4" fmla="*/ 25785 w 45282"/>
              <a:gd name="connsiteY4" fmla="*/ 59 h 41493"/>
              <a:gd name="connsiteX5" fmla="*/ 29869 w 45282"/>
              <a:gd name="connsiteY5" fmla="*/ 2340 h 41493"/>
              <a:gd name="connsiteX6" fmla="*/ 35499 w 45282"/>
              <a:gd name="connsiteY6" fmla="*/ 549 h 41493"/>
              <a:gd name="connsiteX7" fmla="*/ 38354 w 45282"/>
              <a:gd name="connsiteY7" fmla="*/ 5435 h 41493"/>
              <a:gd name="connsiteX8" fmla="*/ 41359 w 45282"/>
              <a:gd name="connsiteY8" fmla="*/ 10506 h 41493"/>
              <a:gd name="connsiteX9" fmla="*/ 41854 w 45282"/>
              <a:gd name="connsiteY9" fmla="*/ 15319 h 41493"/>
              <a:gd name="connsiteX10" fmla="*/ 45112 w 45282"/>
              <a:gd name="connsiteY10" fmla="*/ 23484 h 41493"/>
              <a:gd name="connsiteX11" fmla="*/ 43082 w 45282"/>
              <a:gd name="connsiteY11" fmla="*/ 31840 h 41493"/>
              <a:gd name="connsiteX12" fmla="*/ 38270 w 45282"/>
              <a:gd name="connsiteY12" fmla="*/ 37667 h 41493"/>
              <a:gd name="connsiteX13" fmla="*/ 28895 w 45282"/>
              <a:gd name="connsiteY13" fmla="*/ 38195 h 41493"/>
              <a:gd name="connsiteX14" fmla="*/ 23017 w 45282"/>
              <a:gd name="connsiteY14" fmla="*/ 41252 h 41493"/>
              <a:gd name="connsiteX15" fmla="*/ 16516 w 45282"/>
              <a:gd name="connsiteY15" fmla="*/ 39125 h 41493"/>
              <a:gd name="connsiteX16" fmla="*/ 9779 w 45282"/>
              <a:gd name="connsiteY16" fmla="*/ 33838 h 41493"/>
              <a:gd name="connsiteX17" fmla="*/ 4630 w 45282"/>
              <a:gd name="connsiteY17" fmla="*/ 30176 h 41493"/>
              <a:gd name="connsiteX18" fmla="*/ 2149 w 45282"/>
              <a:gd name="connsiteY18" fmla="*/ 25410 h 41493"/>
              <a:gd name="connsiteX19" fmla="*/ 31 w 45282"/>
              <a:gd name="connsiteY19" fmla="*/ 19563 h 41493"/>
              <a:gd name="connsiteX20" fmla="*/ 3899 w 45282"/>
              <a:gd name="connsiteY20" fmla="*/ 14366 h 41493"/>
              <a:gd name="connsiteX21" fmla="*/ 3936 w 45282"/>
              <a:gd name="connsiteY21" fmla="*/ 14229 h 41493"/>
              <a:gd name="connsiteX0" fmla="*/ 4729 w 45282"/>
              <a:gd name="connsiteY0" fmla="*/ 26036 h 41493"/>
              <a:gd name="connsiteX1" fmla="*/ 2196 w 45282"/>
              <a:gd name="connsiteY1" fmla="*/ 25239 h 41493"/>
              <a:gd name="connsiteX2" fmla="*/ 15928 w 45282"/>
              <a:gd name="connsiteY2" fmla="*/ 34254 h 41493"/>
              <a:gd name="connsiteX3" fmla="*/ 10417 w 45282"/>
              <a:gd name="connsiteY3" fmla="*/ 33625 h 41493"/>
              <a:gd name="connsiteX4" fmla="*/ 17379 w 45282"/>
              <a:gd name="connsiteY4" fmla="*/ 36673 h 41493"/>
              <a:gd name="connsiteX5" fmla="*/ 15846 w 45282"/>
              <a:gd name="connsiteY5" fmla="*/ 37209 h 41493"/>
              <a:gd name="connsiteX6" fmla="*/ 29611 w 45282"/>
              <a:gd name="connsiteY6" fmla="*/ 37614 h 41493"/>
              <a:gd name="connsiteX7" fmla="*/ 28924 w 45282"/>
              <a:gd name="connsiteY7" fmla="*/ 39639 h 41493"/>
              <a:gd name="connsiteX8" fmla="*/ 34165 w 45282"/>
              <a:gd name="connsiteY8" fmla="*/ 22813 h 41493"/>
              <a:gd name="connsiteX9" fmla="*/ 42476 w 45282"/>
              <a:gd name="connsiteY9" fmla="*/ 31438 h 41493"/>
              <a:gd name="connsiteX10" fmla="*/ 41834 w 45282"/>
              <a:gd name="connsiteY10" fmla="*/ 15213 h 41493"/>
              <a:gd name="connsiteX11" fmla="*/ 40386 w 45282"/>
              <a:gd name="connsiteY11" fmla="*/ 17889 h 41493"/>
              <a:gd name="connsiteX12" fmla="*/ 38360 w 45282"/>
              <a:gd name="connsiteY12" fmla="*/ 5285 h 41493"/>
              <a:gd name="connsiteX13" fmla="*/ 38436 w 45282"/>
              <a:gd name="connsiteY13" fmla="*/ 6549 h 41493"/>
              <a:gd name="connsiteX14" fmla="*/ 29114 w 45282"/>
              <a:gd name="connsiteY14" fmla="*/ 3811 h 41493"/>
              <a:gd name="connsiteX15" fmla="*/ 29856 w 45282"/>
              <a:gd name="connsiteY15" fmla="*/ 2199 h 41493"/>
              <a:gd name="connsiteX16" fmla="*/ 22177 w 45282"/>
              <a:gd name="connsiteY16" fmla="*/ 4579 h 41493"/>
              <a:gd name="connsiteX17" fmla="*/ 22536 w 45282"/>
              <a:gd name="connsiteY17" fmla="*/ 3189 h 41493"/>
              <a:gd name="connsiteX18" fmla="*/ 14036 w 45282"/>
              <a:gd name="connsiteY18" fmla="*/ 5051 h 41493"/>
              <a:gd name="connsiteX19" fmla="*/ 15336 w 45282"/>
              <a:gd name="connsiteY19" fmla="*/ 6399 h 41493"/>
              <a:gd name="connsiteX20" fmla="*/ 4163 w 45282"/>
              <a:gd name="connsiteY20" fmla="*/ 15648 h 41493"/>
              <a:gd name="connsiteX21" fmla="*/ 3936 w 45282"/>
              <a:gd name="connsiteY21" fmla="*/ 14229 h 41493"/>
              <a:gd name="connsiteX0" fmla="*/ 3936 w 45282"/>
              <a:gd name="connsiteY0" fmla="*/ 14229 h 41324"/>
              <a:gd name="connsiteX1" fmla="*/ 5659 w 45282"/>
              <a:gd name="connsiteY1" fmla="*/ 6766 h 41324"/>
              <a:gd name="connsiteX2" fmla="*/ 14041 w 45282"/>
              <a:gd name="connsiteY2" fmla="*/ 5061 h 41324"/>
              <a:gd name="connsiteX3" fmla="*/ 22492 w 45282"/>
              <a:gd name="connsiteY3" fmla="*/ 3291 h 41324"/>
              <a:gd name="connsiteX4" fmla="*/ 25785 w 45282"/>
              <a:gd name="connsiteY4" fmla="*/ 59 h 41324"/>
              <a:gd name="connsiteX5" fmla="*/ 29869 w 45282"/>
              <a:gd name="connsiteY5" fmla="*/ 2340 h 41324"/>
              <a:gd name="connsiteX6" fmla="*/ 35499 w 45282"/>
              <a:gd name="connsiteY6" fmla="*/ 549 h 41324"/>
              <a:gd name="connsiteX7" fmla="*/ 38354 w 45282"/>
              <a:gd name="connsiteY7" fmla="*/ 5435 h 41324"/>
              <a:gd name="connsiteX8" fmla="*/ 41359 w 45282"/>
              <a:gd name="connsiteY8" fmla="*/ 10506 h 41324"/>
              <a:gd name="connsiteX9" fmla="*/ 41854 w 45282"/>
              <a:gd name="connsiteY9" fmla="*/ 15319 h 41324"/>
              <a:gd name="connsiteX10" fmla="*/ 45112 w 45282"/>
              <a:gd name="connsiteY10" fmla="*/ 23484 h 41324"/>
              <a:gd name="connsiteX11" fmla="*/ 43082 w 45282"/>
              <a:gd name="connsiteY11" fmla="*/ 31840 h 41324"/>
              <a:gd name="connsiteX12" fmla="*/ 38270 w 45282"/>
              <a:gd name="connsiteY12" fmla="*/ 37667 h 41324"/>
              <a:gd name="connsiteX13" fmla="*/ 28895 w 45282"/>
              <a:gd name="connsiteY13" fmla="*/ 38195 h 41324"/>
              <a:gd name="connsiteX14" fmla="*/ 23017 w 45282"/>
              <a:gd name="connsiteY14" fmla="*/ 41252 h 41324"/>
              <a:gd name="connsiteX15" fmla="*/ 17526 w 45282"/>
              <a:gd name="connsiteY15" fmla="*/ 36811 h 41324"/>
              <a:gd name="connsiteX16" fmla="*/ 9779 w 45282"/>
              <a:gd name="connsiteY16" fmla="*/ 33838 h 41324"/>
              <a:gd name="connsiteX17" fmla="*/ 4630 w 45282"/>
              <a:gd name="connsiteY17" fmla="*/ 30176 h 41324"/>
              <a:gd name="connsiteX18" fmla="*/ 2149 w 45282"/>
              <a:gd name="connsiteY18" fmla="*/ 25410 h 41324"/>
              <a:gd name="connsiteX19" fmla="*/ 31 w 45282"/>
              <a:gd name="connsiteY19" fmla="*/ 19563 h 41324"/>
              <a:gd name="connsiteX20" fmla="*/ 3899 w 45282"/>
              <a:gd name="connsiteY20" fmla="*/ 14366 h 41324"/>
              <a:gd name="connsiteX21" fmla="*/ 3936 w 45282"/>
              <a:gd name="connsiteY21" fmla="*/ 14229 h 41324"/>
              <a:gd name="connsiteX0" fmla="*/ 4729 w 45282"/>
              <a:gd name="connsiteY0" fmla="*/ 26036 h 41324"/>
              <a:gd name="connsiteX1" fmla="*/ 2196 w 45282"/>
              <a:gd name="connsiteY1" fmla="*/ 25239 h 41324"/>
              <a:gd name="connsiteX2" fmla="*/ 15928 w 45282"/>
              <a:gd name="connsiteY2" fmla="*/ 34254 h 41324"/>
              <a:gd name="connsiteX3" fmla="*/ 10417 w 45282"/>
              <a:gd name="connsiteY3" fmla="*/ 33625 h 41324"/>
              <a:gd name="connsiteX4" fmla="*/ 17379 w 45282"/>
              <a:gd name="connsiteY4" fmla="*/ 36673 h 41324"/>
              <a:gd name="connsiteX5" fmla="*/ 15846 w 45282"/>
              <a:gd name="connsiteY5" fmla="*/ 37209 h 41324"/>
              <a:gd name="connsiteX6" fmla="*/ 29611 w 45282"/>
              <a:gd name="connsiteY6" fmla="*/ 37614 h 41324"/>
              <a:gd name="connsiteX7" fmla="*/ 28924 w 45282"/>
              <a:gd name="connsiteY7" fmla="*/ 39639 h 41324"/>
              <a:gd name="connsiteX8" fmla="*/ 34165 w 45282"/>
              <a:gd name="connsiteY8" fmla="*/ 22813 h 41324"/>
              <a:gd name="connsiteX9" fmla="*/ 42476 w 45282"/>
              <a:gd name="connsiteY9" fmla="*/ 31438 h 41324"/>
              <a:gd name="connsiteX10" fmla="*/ 41834 w 45282"/>
              <a:gd name="connsiteY10" fmla="*/ 15213 h 41324"/>
              <a:gd name="connsiteX11" fmla="*/ 40386 w 45282"/>
              <a:gd name="connsiteY11" fmla="*/ 17889 h 41324"/>
              <a:gd name="connsiteX12" fmla="*/ 38360 w 45282"/>
              <a:gd name="connsiteY12" fmla="*/ 5285 h 41324"/>
              <a:gd name="connsiteX13" fmla="*/ 38436 w 45282"/>
              <a:gd name="connsiteY13" fmla="*/ 6549 h 41324"/>
              <a:gd name="connsiteX14" fmla="*/ 29114 w 45282"/>
              <a:gd name="connsiteY14" fmla="*/ 3811 h 41324"/>
              <a:gd name="connsiteX15" fmla="*/ 29856 w 45282"/>
              <a:gd name="connsiteY15" fmla="*/ 2199 h 41324"/>
              <a:gd name="connsiteX16" fmla="*/ 22177 w 45282"/>
              <a:gd name="connsiteY16" fmla="*/ 4579 h 41324"/>
              <a:gd name="connsiteX17" fmla="*/ 22536 w 45282"/>
              <a:gd name="connsiteY17" fmla="*/ 3189 h 41324"/>
              <a:gd name="connsiteX18" fmla="*/ 14036 w 45282"/>
              <a:gd name="connsiteY18" fmla="*/ 5051 h 41324"/>
              <a:gd name="connsiteX19" fmla="*/ 15336 w 45282"/>
              <a:gd name="connsiteY19" fmla="*/ 6399 h 41324"/>
              <a:gd name="connsiteX20" fmla="*/ 4163 w 45282"/>
              <a:gd name="connsiteY20" fmla="*/ 15648 h 41324"/>
              <a:gd name="connsiteX21" fmla="*/ 3936 w 45282"/>
              <a:gd name="connsiteY21" fmla="*/ 14229 h 41324"/>
              <a:gd name="connsiteX0" fmla="*/ 3936 w 45282"/>
              <a:gd name="connsiteY0" fmla="*/ 14229 h 41324"/>
              <a:gd name="connsiteX1" fmla="*/ 5659 w 45282"/>
              <a:gd name="connsiteY1" fmla="*/ 6766 h 41324"/>
              <a:gd name="connsiteX2" fmla="*/ 14041 w 45282"/>
              <a:gd name="connsiteY2" fmla="*/ 5061 h 41324"/>
              <a:gd name="connsiteX3" fmla="*/ 22492 w 45282"/>
              <a:gd name="connsiteY3" fmla="*/ 3291 h 41324"/>
              <a:gd name="connsiteX4" fmla="*/ 25785 w 45282"/>
              <a:gd name="connsiteY4" fmla="*/ 59 h 41324"/>
              <a:gd name="connsiteX5" fmla="*/ 29869 w 45282"/>
              <a:gd name="connsiteY5" fmla="*/ 2340 h 41324"/>
              <a:gd name="connsiteX6" fmla="*/ 38354 w 45282"/>
              <a:gd name="connsiteY6" fmla="*/ 5435 h 41324"/>
              <a:gd name="connsiteX7" fmla="*/ 41359 w 45282"/>
              <a:gd name="connsiteY7" fmla="*/ 10506 h 41324"/>
              <a:gd name="connsiteX8" fmla="*/ 41854 w 45282"/>
              <a:gd name="connsiteY8" fmla="*/ 15319 h 41324"/>
              <a:gd name="connsiteX9" fmla="*/ 45112 w 45282"/>
              <a:gd name="connsiteY9" fmla="*/ 23484 h 41324"/>
              <a:gd name="connsiteX10" fmla="*/ 43082 w 45282"/>
              <a:gd name="connsiteY10" fmla="*/ 31840 h 41324"/>
              <a:gd name="connsiteX11" fmla="*/ 38270 w 45282"/>
              <a:gd name="connsiteY11" fmla="*/ 37667 h 41324"/>
              <a:gd name="connsiteX12" fmla="*/ 28895 w 45282"/>
              <a:gd name="connsiteY12" fmla="*/ 38195 h 41324"/>
              <a:gd name="connsiteX13" fmla="*/ 23017 w 45282"/>
              <a:gd name="connsiteY13" fmla="*/ 41252 h 41324"/>
              <a:gd name="connsiteX14" fmla="*/ 17526 w 45282"/>
              <a:gd name="connsiteY14" fmla="*/ 36811 h 41324"/>
              <a:gd name="connsiteX15" fmla="*/ 9779 w 45282"/>
              <a:gd name="connsiteY15" fmla="*/ 33838 h 41324"/>
              <a:gd name="connsiteX16" fmla="*/ 4630 w 45282"/>
              <a:gd name="connsiteY16" fmla="*/ 30176 h 41324"/>
              <a:gd name="connsiteX17" fmla="*/ 2149 w 45282"/>
              <a:gd name="connsiteY17" fmla="*/ 25410 h 41324"/>
              <a:gd name="connsiteX18" fmla="*/ 31 w 45282"/>
              <a:gd name="connsiteY18" fmla="*/ 19563 h 41324"/>
              <a:gd name="connsiteX19" fmla="*/ 3899 w 45282"/>
              <a:gd name="connsiteY19" fmla="*/ 14366 h 41324"/>
              <a:gd name="connsiteX20" fmla="*/ 3936 w 45282"/>
              <a:gd name="connsiteY20" fmla="*/ 14229 h 41324"/>
              <a:gd name="connsiteX0" fmla="*/ 4729 w 45282"/>
              <a:gd name="connsiteY0" fmla="*/ 26036 h 41324"/>
              <a:gd name="connsiteX1" fmla="*/ 2196 w 45282"/>
              <a:gd name="connsiteY1" fmla="*/ 25239 h 41324"/>
              <a:gd name="connsiteX2" fmla="*/ 15928 w 45282"/>
              <a:gd name="connsiteY2" fmla="*/ 34254 h 41324"/>
              <a:gd name="connsiteX3" fmla="*/ 10417 w 45282"/>
              <a:gd name="connsiteY3" fmla="*/ 33625 h 41324"/>
              <a:gd name="connsiteX4" fmla="*/ 17379 w 45282"/>
              <a:gd name="connsiteY4" fmla="*/ 36673 h 41324"/>
              <a:gd name="connsiteX5" fmla="*/ 15846 w 45282"/>
              <a:gd name="connsiteY5" fmla="*/ 37209 h 41324"/>
              <a:gd name="connsiteX6" fmla="*/ 29611 w 45282"/>
              <a:gd name="connsiteY6" fmla="*/ 37614 h 41324"/>
              <a:gd name="connsiteX7" fmla="*/ 28924 w 45282"/>
              <a:gd name="connsiteY7" fmla="*/ 39639 h 41324"/>
              <a:gd name="connsiteX8" fmla="*/ 34165 w 45282"/>
              <a:gd name="connsiteY8" fmla="*/ 22813 h 41324"/>
              <a:gd name="connsiteX9" fmla="*/ 42476 w 45282"/>
              <a:gd name="connsiteY9" fmla="*/ 31438 h 41324"/>
              <a:gd name="connsiteX10" fmla="*/ 41834 w 45282"/>
              <a:gd name="connsiteY10" fmla="*/ 15213 h 41324"/>
              <a:gd name="connsiteX11" fmla="*/ 40386 w 45282"/>
              <a:gd name="connsiteY11" fmla="*/ 17889 h 41324"/>
              <a:gd name="connsiteX12" fmla="*/ 38360 w 45282"/>
              <a:gd name="connsiteY12" fmla="*/ 5285 h 41324"/>
              <a:gd name="connsiteX13" fmla="*/ 38436 w 45282"/>
              <a:gd name="connsiteY13" fmla="*/ 6549 h 41324"/>
              <a:gd name="connsiteX14" fmla="*/ 29114 w 45282"/>
              <a:gd name="connsiteY14" fmla="*/ 3811 h 41324"/>
              <a:gd name="connsiteX15" fmla="*/ 29856 w 45282"/>
              <a:gd name="connsiteY15" fmla="*/ 2199 h 41324"/>
              <a:gd name="connsiteX16" fmla="*/ 22177 w 45282"/>
              <a:gd name="connsiteY16" fmla="*/ 4579 h 41324"/>
              <a:gd name="connsiteX17" fmla="*/ 22536 w 45282"/>
              <a:gd name="connsiteY17" fmla="*/ 3189 h 41324"/>
              <a:gd name="connsiteX18" fmla="*/ 14036 w 45282"/>
              <a:gd name="connsiteY18" fmla="*/ 5051 h 41324"/>
              <a:gd name="connsiteX19" fmla="*/ 15336 w 45282"/>
              <a:gd name="connsiteY19" fmla="*/ 6399 h 41324"/>
              <a:gd name="connsiteX20" fmla="*/ 4163 w 45282"/>
              <a:gd name="connsiteY20" fmla="*/ 15648 h 41324"/>
              <a:gd name="connsiteX21" fmla="*/ 3936 w 45282"/>
              <a:gd name="connsiteY21" fmla="*/ 14229 h 41324"/>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8354 w 45282"/>
              <a:gd name="connsiteY5" fmla="*/ 4233 h 40122"/>
              <a:gd name="connsiteX6" fmla="*/ 41359 w 45282"/>
              <a:gd name="connsiteY6" fmla="*/ 9304 h 40122"/>
              <a:gd name="connsiteX7" fmla="*/ 41854 w 45282"/>
              <a:gd name="connsiteY7" fmla="*/ 14117 h 40122"/>
              <a:gd name="connsiteX8" fmla="*/ 45112 w 45282"/>
              <a:gd name="connsiteY8" fmla="*/ 22282 h 40122"/>
              <a:gd name="connsiteX9" fmla="*/ 43082 w 45282"/>
              <a:gd name="connsiteY9" fmla="*/ 30638 h 40122"/>
              <a:gd name="connsiteX10" fmla="*/ 38270 w 45282"/>
              <a:gd name="connsiteY10" fmla="*/ 36465 h 40122"/>
              <a:gd name="connsiteX11" fmla="*/ 28895 w 45282"/>
              <a:gd name="connsiteY11" fmla="*/ 36993 h 40122"/>
              <a:gd name="connsiteX12" fmla="*/ 23017 w 45282"/>
              <a:gd name="connsiteY12" fmla="*/ 40050 h 40122"/>
              <a:gd name="connsiteX13" fmla="*/ 17526 w 45282"/>
              <a:gd name="connsiteY13" fmla="*/ 35609 h 40122"/>
              <a:gd name="connsiteX14" fmla="*/ 9779 w 45282"/>
              <a:gd name="connsiteY14" fmla="*/ 32636 h 40122"/>
              <a:gd name="connsiteX15" fmla="*/ 4630 w 45282"/>
              <a:gd name="connsiteY15" fmla="*/ 28974 h 40122"/>
              <a:gd name="connsiteX16" fmla="*/ 2149 w 45282"/>
              <a:gd name="connsiteY16" fmla="*/ 24208 h 40122"/>
              <a:gd name="connsiteX17" fmla="*/ 31 w 45282"/>
              <a:gd name="connsiteY17" fmla="*/ 18361 h 40122"/>
              <a:gd name="connsiteX18" fmla="*/ 3899 w 45282"/>
              <a:gd name="connsiteY18" fmla="*/ 13164 h 40122"/>
              <a:gd name="connsiteX19" fmla="*/ 3936 w 45282"/>
              <a:gd name="connsiteY19"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38360 w 45282"/>
              <a:gd name="connsiteY12" fmla="*/ 4083 h 40122"/>
              <a:gd name="connsiteX13" fmla="*/ 38436 w 45282"/>
              <a:gd name="connsiteY13" fmla="*/ 5347 h 40122"/>
              <a:gd name="connsiteX14" fmla="*/ 29114 w 45282"/>
              <a:gd name="connsiteY14" fmla="*/ 2609 h 40122"/>
              <a:gd name="connsiteX15" fmla="*/ 29856 w 45282"/>
              <a:gd name="connsiteY15" fmla="*/ 997 h 40122"/>
              <a:gd name="connsiteX16" fmla="*/ 22177 w 45282"/>
              <a:gd name="connsiteY16" fmla="*/ 3377 h 40122"/>
              <a:gd name="connsiteX17" fmla="*/ 22536 w 45282"/>
              <a:gd name="connsiteY17" fmla="*/ 1987 h 40122"/>
              <a:gd name="connsiteX18" fmla="*/ 14036 w 45282"/>
              <a:gd name="connsiteY18" fmla="*/ 3849 h 40122"/>
              <a:gd name="connsiteX19" fmla="*/ 15336 w 45282"/>
              <a:gd name="connsiteY19" fmla="*/ 5197 h 40122"/>
              <a:gd name="connsiteX20" fmla="*/ 4163 w 45282"/>
              <a:gd name="connsiteY20" fmla="*/ 14446 h 40122"/>
              <a:gd name="connsiteX21" fmla="*/ 3936 w 45282"/>
              <a:gd name="connsiteY21"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8354 w 45282"/>
              <a:gd name="connsiteY5" fmla="*/ 4233 h 40122"/>
              <a:gd name="connsiteX6" fmla="*/ 41359 w 45282"/>
              <a:gd name="connsiteY6" fmla="*/ 9304 h 40122"/>
              <a:gd name="connsiteX7" fmla="*/ 41854 w 45282"/>
              <a:gd name="connsiteY7" fmla="*/ 14117 h 40122"/>
              <a:gd name="connsiteX8" fmla="*/ 45112 w 45282"/>
              <a:gd name="connsiteY8" fmla="*/ 22282 h 40122"/>
              <a:gd name="connsiteX9" fmla="*/ 43082 w 45282"/>
              <a:gd name="connsiteY9" fmla="*/ 30638 h 40122"/>
              <a:gd name="connsiteX10" fmla="*/ 38270 w 45282"/>
              <a:gd name="connsiteY10" fmla="*/ 36465 h 40122"/>
              <a:gd name="connsiteX11" fmla="*/ 28895 w 45282"/>
              <a:gd name="connsiteY11" fmla="*/ 36993 h 40122"/>
              <a:gd name="connsiteX12" fmla="*/ 23017 w 45282"/>
              <a:gd name="connsiteY12" fmla="*/ 40050 h 40122"/>
              <a:gd name="connsiteX13" fmla="*/ 17526 w 45282"/>
              <a:gd name="connsiteY13" fmla="*/ 35609 h 40122"/>
              <a:gd name="connsiteX14" fmla="*/ 9779 w 45282"/>
              <a:gd name="connsiteY14" fmla="*/ 32636 h 40122"/>
              <a:gd name="connsiteX15" fmla="*/ 4630 w 45282"/>
              <a:gd name="connsiteY15" fmla="*/ 28974 h 40122"/>
              <a:gd name="connsiteX16" fmla="*/ 2149 w 45282"/>
              <a:gd name="connsiteY16" fmla="*/ 24208 h 40122"/>
              <a:gd name="connsiteX17" fmla="*/ 31 w 45282"/>
              <a:gd name="connsiteY17" fmla="*/ 18361 h 40122"/>
              <a:gd name="connsiteX18" fmla="*/ 3899 w 45282"/>
              <a:gd name="connsiteY18" fmla="*/ 13164 h 40122"/>
              <a:gd name="connsiteX19" fmla="*/ 3936 w 45282"/>
              <a:gd name="connsiteY19"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9114 w 45282"/>
              <a:gd name="connsiteY12" fmla="*/ 2609 h 40122"/>
              <a:gd name="connsiteX13" fmla="*/ 29856 w 45282"/>
              <a:gd name="connsiteY13" fmla="*/ 997 h 40122"/>
              <a:gd name="connsiteX14" fmla="*/ 22177 w 45282"/>
              <a:gd name="connsiteY14" fmla="*/ 3377 h 40122"/>
              <a:gd name="connsiteX15" fmla="*/ 22536 w 45282"/>
              <a:gd name="connsiteY15" fmla="*/ 1987 h 40122"/>
              <a:gd name="connsiteX16" fmla="*/ 14036 w 45282"/>
              <a:gd name="connsiteY16" fmla="*/ 3849 h 40122"/>
              <a:gd name="connsiteX17" fmla="*/ 15336 w 45282"/>
              <a:gd name="connsiteY17" fmla="*/ 5197 h 40122"/>
              <a:gd name="connsiteX18" fmla="*/ 4163 w 45282"/>
              <a:gd name="connsiteY18" fmla="*/ 14446 h 40122"/>
              <a:gd name="connsiteX19" fmla="*/ 3936 w 45282"/>
              <a:gd name="connsiteY19"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8354 w 45282"/>
              <a:gd name="connsiteY5" fmla="*/ 4233 h 40122"/>
              <a:gd name="connsiteX6" fmla="*/ 41359 w 45282"/>
              <a:gd name="connsiteY6" fmla="*/ 9304 h 40122"/>
              <a:gd name="connsiteX7" fmla="*/ 41854 w 45282"/>
              <a:gd name="connsiteY7" fmla="*/ 14117 h 40122"/>
              <a:gd name="connsiteX8" fmla="*/ 45112 w 45282"/>
              <a:gd name="connsiteY8" fmla="*/ 22282 h 40122"/>
              <a:gd name="connsiteX9" fmla="*/ 43082 w 45282"/>
              <a:gd name="connsiteY9" fmla="*/ 30638 h 40122"/>
              <a:gd name="connsiteX10" fmla="*/ 38270 w 45282"/>
              <a:gd name="connsiteY10" fmla="*/ 36465 h 40122"/>
              <a:gd name="connsiteX11" fmla="*/ 28895 w 45282"/>
              <a:gd name="connsiteY11" fmla="*/ 36993 h 40122"/>
              <a:gd name="connsiteX12" fmla="*/ 23017 w 45282"/>
              <a:gd name="connsiteY12" fmla="*/ 40050 h 40122"/>
              <a:gd name="connsiteX13" fmla="*/ 17526 w 45282"/>
              <a:gd name="connsiteY13" fmla="*/ 35609 h 40122"/>
              <a:gd name="connsiteX14" fmla="*/ 9779 w 45282"/>
              <a:gd name="connsiteY14" fmla="*/ 32636 h 40122"/>
              <a:gd name="connsiteX15" fmla="*/ 4630 w 45282"/>
              <a:gd name="connsiteY15" fmla="*/ 28974 h 40122"/>
              <a:gd name="connsiteX16" fmla="*/ 2149 w 45282"/>
              <a:gd name="connsiteY16" fmla="*/ 24208 h 40122"/>
              <a:gd name="connsiteX17" fmla="*/ 31 w 45282"/>
              <a:gd name="connsiteY17" fmla="*/ 18361 h 40122"/>
              <a:gd name="connsiteX18" fmla="*/ 3899 w 45282"/>
              <a:gd name="connsiteY18" fmla="*/ 13164 h 40122"/>
              <a:gd name="connsiteX19" fmla="*/ 3936 w 45282"/>
              <a:gd name="connsiteY19"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9114 w 45282"/>
              <a:gd name="connsiteY12" fmla="*/ 2609 h 40122"/>
              <a:gd name="connsiteX13" fmla="*/ 31233 w 45282"/>
              <a:gd name="connsiteY13" fmla="*/ 3402 h 40122"/>
              <a:gd name="connsiteX14" fmla="*/ 22177 w 45282"/>
              <a:gd name="connsiteY14" fmla="*/ 3377 h 40122"/>
              <a:gd name="connsiteX15" fmla="*/ 22536 w 45282"/>
              <a:gd name="connsiteY15" fmla="*/ 1987 h 40122"/>
              <a:gd name="connsiteX16" fmla="*/ 14036 w 45282"/>
              <a:gd name="connsiteY16" fmla="*/ 3849 h 40122"/>
              <a:gd name="connsiteX17" fmla="*/ 15336 w 45282"/>
              <a:gd name="connsiteY17" fmla="*/ 5197 h 40122"/>
              <a:gd name="connsiteX18" fmla="*/ 4163 w 45282"/>
              <a:gd name="connsiteY18" fmla="*/ 14446 h 40122"/>
              <a:gd name="connsiteX19" fmla="*/ 3936 w 45282"/>
              <a:gd name="connsiteY19"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8354 w 45282"/>
              <a:gd name="connsiteY5" fmla="*/ 4233 h 40122"/>
              <a:gd name="connsiteX6" fmla="*/ 41359 w 45282"/>
              <a:gd name="connsiteY6" fmla="*/ 9304 h 40122"/>
              <a:gd name="connsiteX7" fmla="*/ 41854 w 45282"/>
              <a:gd name="connsiteY7" fmla="*/ 14117 h 40122"/>
              <a:gd name="connsiteX8" fmla="*/ 45112 w 45282"/>
              <a:gd name="connsiteY8" fmla="*/ 22282 h 40122"/>
              <a:gd name="connsiteX9" fmla="*/ 43082 w 45282"/>
              <a:gd name="connsiteY9" fmla="*/ 30638 h 40122"/>
              <a:gd name="connsiteX10" fmla="*/ 38270 w 45282"/>
              <a:gd name="connsiteY10" fmla="*/ 36465 h 40122"/>
              <a:gd name="connsiteX11" fmla="*/ 28895 w 45282"/>
              <a:gd name="connsiteY11" fmla="*/ 36993 h 40122"/>
              <a:gd name="connsiteX12" fmla="*/ 23017 w 45282"/>
              <a:gd name="connsiteY12" fmla="*/ 40050 h 40122"/>
              <a:gd name="connsiteX13" fmla="*/ 17526 w 45282"/>
              <a:gd name="connsiteY13" fmla="*/ 35609 h 40122"/>
              <a:gd name="connsiteX14" fmla="*/ 9779 w 45282"/>
              <a:gd name="connsiteY14" fmla="*/ 32636 h 40122"/>
              <a:gd name="connsiteX15" fmla="*/ 4630 w 45282"/>
              <a:gd name="connsiteY15" fmla="*/ 28974 h 40122"/>
              <a:gd name="connsiteX16" fmla="*/ 2149 w 45282"/>
              <a:gd name="connsiteY16" fmla="*/ 24208 h 40122"/>
              <a:gd name="connsiteX17" fmla="*/ 31 w 45282"/>
              <a:gd name="connsiteY17" fmla="*/ 18361 h 40122"/>
              <a:gd name="connsiteX18" fmla="*/ 3899 w 45282"/>
              <a:gd name="connsiteY18" fmla="*/ 13164 h 40122"/>
              <a:gd name="connsiteX19" fmla="*/ 3936 w 45282"/>
              <a:gd name="connsiteY19"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4544 w 45282"/>
              <a:gd name="connsiteY5" fmla="*/ 7152 h 40122"/>
              <a:gd name="connsiteX6" fmla="*/ 41359 w 45282"/>
              <a:gd name="connsiteY6" fmla="*/ 9304 h 40122"/>
              <a:gd name="connsiteX7" fmla="*/ 41854 w 45282"/>
              <a:gd name="connsiteY7" fmla="*/ 14117 h 40122"/>
              <a:gd name="connsiteX8" fmla="*/ 45112 w 45282"/>
              <a:gd name="connsiteY8" fmla="*/ 22282 h 40122"/>
              <a:gd name="connsiteX9" fmla="*/ 43082 w 45282"/>
              <a:gd name="connsiteY9" fmla="*/ 30638 h 40122"/>
              <a:gd name="connsiteX10" fmla="*/ 38270 w 45282"/>
              <a:gd name="connsiteY10" fmla="*/ 36465 h 40122"/>
              <a:gd name="connsiteX11" fmla="*/ 28895 w 45282"/>
              <a:gd name="connsiteY11" fmla="*/ 36993 h 40122"/>
              <a:gd name="connsiteX12" fmla="*/ 23017 w 45282"/>
              <a:gd name="connsiteY12" fmla="*/ 40050 h 40122"/>
              <a:gd name="connsiteX13" fmla="*/ 17526 w 45282"/>
              <a:gd name="connsiteY13" fmla="*/ 35609 h 40122"/>
              <a:gd name="connsiteX14" fmla="*/ 9779 w 45282"/>
              <a:gd name="connsiteY14" fmla="*/ 32636 h 40122"/>
              <a:gd name="connsiteX15" fmla="*/ 4630 w 45282"/>
              <a:gd name="connsiteY15" fmla="*/ 28974 h 40122"/>
              <a:gd name="connsiteX16" fmla="*/ 2149 w 45282"/>
              <a:gd name="connsiteY16" fmla="*/ 24208 h 40122"/>
              <a:gd name="connsiteX17" fmla="*/ 31 w 45282"/>
              <a:gd name="connsiteY17" fmla="*/ 18361 h 40122"/>
              <a:gd name="connsiteX18" fmla="*/ 3899 w 45282"/>
              <a:gd name="connsiteY18" fmla="*/ 13164 h 40122"/>
              <a:gd name="connsiteX19" fmla="*/ 3936 w 45282"/>
              <a:gd name="connsiteY19"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4544 w 45282"/>
              <a:gd name="connsiteY5" fmla="*/ 7152 h 40122"/>
              <a:gd name="connsiteX6" fmla="*/ 36798 w 45282"/>
              <a:gd name="connsiteY6" fmla="*/ 10818 h 40122"/>
              <a:gd name="connsiteX7" fmla="*/ 41854 w 45282"/>
              <a:gd name="connsiteY7" fmla="*/ 14117 h 40122"/>
              <a:gd name="connsiteX8" fmla="*/ 45112 w 45282"/>
              <a:gd name="connsiteY8" fmla="*/ 22282 h 40122"/>
              <a:gd name="connsiteX9" fmla="*/ 43082 w 45282"/>
              <a:gd name="connsiteY9" fmla="*/ 30638 h 40122"/>
              <a:gd name="connsiteX10" fmla="*/ 38270 w 45282"/>
              <a:gd name="connsiteY10" fmla="*/ 36465 h 40122"/>
              <a:gd name="connsiteX11" fmla="*/ 28895 w 45282"/>
              <a:gd name="connsiteY11" fmla="*/ 36993 h 40122"/>
              <a:gd name="connsiteX12" fmla="*/ 23017 w 45282"/>
              <a:gd name="connsiteY12" fmla="*/ 40050 h 40122"/>
              <a:gd name="connsiteX13" fmla="*/ 17526 w 45282"/>
              <a:gd name="connsiteY13" fmla="*/ 35609 h 40122"/>
              <a:gd name="connsiteX14" fmla="*/ 9779 w 45282"/>
              <a:gd name="connsiteY14" fmla="*/ 32636 h 40122"/>
              <a:gd name="connsiteX15" fmla="*/ 4630 w 45282"/>
              <a:gd name="connsiteY15" fmla="*/ 28974 h 40122"/>
              <a:gd name="connsiteX16" fmla="*/ 2149 w 45282"/>
              <a:gd name="connsiteY16" fmla="*/ 24208 h 40122"/>
              <a:gd name="connsiteX17" fmla="*/ 31 w 45282"/>
              <a:gd name="connsiteY17" fmla="*/ 18361 h 40122"/>
              <a:gd name="connsiteX18" fmla="*/ 3899 w 45282"/>
              <a:gd name="connsiteY18" fmla="*/ 13164 h 40122"/>
              <a:gd name="connsiteX19" fmla="*/ 3936 w 45282"/>
              <a:gd name="connsiteY19"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6798 w 45282"/>
              <a:gd name="connsiteY5" fmla="*/ 10818 h 40122"/>
              <a:gd name="connsiteX6" fmla="*/ 41854 w 45282"/>
              <a:gd name="connsiteY6" fmla="*/ 14117 h 40122"/>
              <a:gd name="connsiteX7" fmla="*/ 45112 w 45282"/>
              <a:gd name="connsiteY7" fmla="*/ 22282 h 40122"/>
              <a:gd name="connsiteX8" fmla="*/ 43082 w 45282"/>
              <a:gd name="connsiteY8" fmla="*/ 30638 h 40122"/>
              <a:gd name="connsiteX9" fmla="*/ 38270 w 45282"/>
              <a:gd name="connsiteY9" fmla="*/ 36465 h 40122"/>
              <a:gd name="connsiteX10" fmla="*/ 28895 w 45282"/>
              <a:gd name="connsiteY10" fmla="*/ 36993 h 40122"/>
              <a:gd name="connsiteX11" fmla="*/ 23017 w 45282"/>
              <a:gd name="connsiteY11" fmla="*/ 40050 h 40122"/>
              <a:gd name="connsiteX12" fmla="*/ 17526 w 45282"/>
              <a:gd name="connsiteY12" fmla="*/ 35609 h 40122"/>
              <a:gd name="connsiteX13" fmla="*/ 9779 w 45282"/>
              <a:gd name="connsiteY13" fmla="*/ 32636 h 40122"/>
              <a:gd name="connsiteX14" fmla="*/ 4630 w 45282"/>
              <a:gd name="connsiteY14" fmla="*/ 28974 h 40122"/>
              <a:gd name="connsiteX15" fmla="*/ 2149 w 45282"/>
              <a:gd name="connsiteY15" fmla="*/ 24208 h 40122"/>
              <a:gd name="connsiteX16" fmla="*/ 31 w 45282"/>
              <a:gd name="connsiteY16" fmla="*/ 18361 h 40122"/>
              <a:gd name="connsiteX17" fmla="*/ 3899 w 45282"/>
              <a:gd name="connsiteY17" fmla="*/ 13164 h 40122"/>
              <a:gd name="connsiteX18" fmla="*/ 3936 w 45282"/>
              <a:gd name="connsiteY18"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29869 w 45282"/>
              <a:gd name="connsiteY4" fmla="*/ 1138 h 40122"/>
              <a:gd name="connsiteX5" fmla="*/ 36164 w 45282"/>
              <a:gd name="connsiteY5" fmla="*/ 6754 h 40122"/>
              <a:gd name="connsiteX6" fmla="*/ 41854 w 45282"/>
              <a:gd name="connsiteY6" fmla="*/ 14117 h 40122"/>
              <a:gd name="connsiteX7" fmla="*/ 45112 w 45282"/>
              <a:gd name="connsiteY7" fmla="*/ 22282 h 40122"/>
              <a:gd name="connsiteX8" fmla="*/ 43082 w 45282"/>
              <a:gd name="connsiteY8" fmla="*/ 30638 h 40122"/>
              <a:gd name="connsiteX9" fmla="*/ 38270 w 45282"/>
              <a:gd name="connsiteY9" fmla="*/ 36465 h 40122"/>
              <a:gd name="connsiteX10" fmla="*/ 28895 w 45282"/>
              <a:gd name="connsiteY10" fmla="*/ 36993 h 40122"/>
              <a:gd name="connsiteX11" fmla="*/ 23017 w 45282"/>
              <a:gd name="connsiteY11" fmla="*/ 40050 h 40122"/>
              <a:gd name="connsiteX12" fmla="*/ 17526 w 45282"/>
              <a:gd name="connsiteY12" fmla="*/ 35609 h 40122"/>
              <a:gd name="connsiteX13" fmla="*/ 9779 w 45282"/>
              <a:gd name="connsiteY13" fmla="*/ 32636 h 40122"/>
              <a:gd name="connsiteX14" fmla="*/ 4630 w 45282"/>
              <a:gd name="connsiteY14" fmla="*/ 28974 h 40122"/>
              <a:gd name="connsiteX15" fmla="*/ 2149 w 45282"/>
              <a:gd name="connsiteY15" fmla="*/ 24208 h 40122"/>
              <a:gd name="connsiteX16" fmla="*/ 31 w 45282"/>
              <a:gd name="connsiteY16" fmla="*/ 18361 h 40122"/>
              <a:gd name="connsiteX17" fmla="*/ 3899 w 45282"/>
              <a:gd name="connsiteY17" fmla="*/ 13164 h 40122"/>
              <a:gd name="connsiteX18" fmla="*/ 3936 w 45282"/>
              <a:gd name="connsiteY18"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30587 w 45282"/>
              <a:gd name="connsiteY4" fmla="*/ 5471 h 40122"/>
              <a:gd name="connsiteX5" fmla="*/ 36164 w 45282"/>
              <a:gd name="connsiteY5" fmla="*/ 6754 h 40122"/>
              <a:gd name="connsiteX6" fmla="*/ 41854 w 45282"/>
              <a:gd name="connsiteY6" fmla="*/ 14117 h 40122"/>
              <a:gd name="connsiteX7" fmla="*/ 45112 w 45282"/>
              <a:gd name="connsiteY7" fmla="*/ 22282 h 40122"/>
              <a:gd name="connsiteX8" fmla="*/ 43082 w 45282"/>
              <a:gd name="connsiteY8" fmla="*/ 30638 h 40122"/>
              <a:gd name="connsiteX9" fmla="*/ 38270 w 45282"/>
              <a:gd name="connsiteY9" fmla="*/ 36465 h 40122"/>
              <a:gd name="connsiteX10" fmla="*/ 28895 w 45282"/>
              <a:gd name="connsiteY10" fmla="*/ 36993 h 40122"/>
              <a:gd name="connsiteX11" fmla="*/ 23017 w 45282"/>
              <a:gd name="connsiteY11" fmla="*/ 40050 h 40122"/>
              <a:gd name="connsiteX12" fmla="*/ 17526 w 45282"/>
              <a:gd name="connsiteY12" fmla="*/ 35609 h 40122"/>
              <a:gd name="connsiteX13" fmla="*/ 9779 w 45282"/>
              <a:gd name="connsiteY13" fmla="*/ 32636 h 40122"/>
              <a:gd name="connsiteX14" fmla="*/ 4630 w 45282"/>
              <a:gd name="connsiteY14" fmla="*/ 28974 h 40122"/>
              <a:gd name="connsiteX15" fmla="*/ 2149 w 45282"/>
              <a:gd name="connsiteY15" fmla="*/ 24208 h 40122"/>
              <a:gd name="connsiteX16" fmla="*/ 31 w 45282"/>
              <a:gd name="connsiteY16" fmla="*/ 18361 h 40122"/>
              <a:gd name="connsiteX17" fmla="*/ 3899 w 45282"/>
              <a:gd name="connsiteY17" fmla="*/ 13164 h 40122"/>
              <a:gd name="connsiteX18" fmla="*/ 3936 w 45282"/>
              <a:gd name="connsiteY18"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31552 w 45282"/>
              <a:gd name="connsiteY4" fmla="*/ 2001 h 40122"/>
              <a:gd name="connsiteX5" fmla="*/ 36164 w 45282"/>
              <a:gd name="connsiteY5" fmla="*/ 6754 h 40122"/>
              <a:gd name="connsiteX6" fmla="*/ 41854 w 45282"/>
              <a:gd name="connsiteY6" fmla="*/ 14117 h 40122"/>
              <a:gd name="connsiteX7" fmla="*/ 45112 w 45282"/>
              <a:gd name="connsiteY7" fmla="*/ 22282 h 40122"/>
              <a:gd name="connsiteX8" fmla="*/ 43082 w 45282"/>
              <a:gd name="connsiteY8" fmla="*/ 30638 h 40122"/>
              <a:gd name="connsiteX9" fmla="*/ 38270 w 45282"/>
              <a:gd name="connsiteY9" fmla="*/ 36465 h 40122"/>
              <a:gd name="connsiteX10" fmla="*/ 28895 w 45282"/>
              <a:gd name="connsiteY10" fmla="*/ 36993 h 40122"/>
              <a:gd name="connsiteX11" fmla="*/ 23017 w 45282"/>
              <a:gd name="connsiteY11" fmla="*/ 40050 h 40122"/>
              <a:gd name="connsiteX12" fmla="*/ 17526 w 45282"/>
              <a:gd name="connsiteY12" fmla="*/ 35609 h 40122"/>
              <a:gd name="connsiteX13" fmla="*/ 9779 w 45282"/>
              <a:gd name="connsiteY13" fmla="*/ 32636 h 40122"/>
              <a:gd name="connsiteX14" fmla="*/ 4630 w 45282"/>
              <a:gd name="connsiteY14" fmla="*/ 28974 h 40122"/>
              <a:gd name="connsiteX15" fmla="*/ 2149 w 45282"/>
              <a:gd name="connsiteY15" fmla="*/ 24208 h 40122"/>
              <a:gd name="connsiteX16" fmla="*/ 31 w 45282"/>
              <a:gd name="connsiteY16" fmla="*/ 18361 h 40122"/>
              <a:gd name="connsiteX17" fmla="*/ 3899 w 45282"/>
              <a:gd name="connsiteY17" fmla="*/ 13164 h 40122"/>
              <a:gd name="connsiteX18" fmla="*/ 3936 w 45282"/>
              <a:gd name="connsiteY18"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31552 w 45282"/>
              <a:gd name="connsiteY4" fmla="*/ 2001 h 40122"/>
              <a:gd name="connsiteX5" fmla="*/ 35695 w 45282"/>
              <a:gd name="connsiteY5" fmla="*/ 9799 h 40122"/>
              <a:gd name="connsiteX6" fmla="*/ 41854 w 45282"/>
              <a:gd name="connsiteY6" fmla="*/ 14117 h 40122"/>
              <a:gd name="connsiteX7" fmla="*/ 45112 w 45282"/>
              <a:gd name="connsiteY7" fmla="*/ 22282 h 40122"/>
              <a:gd name="connsiteX8" fmla="*/ 43082 w 45282"/>
              <a:gd name="connsiteY8" fmla="*/ 30638 h 40122"/>
              <a:gd name="connsiteX9" fmla="*/ 38270 w 45282"/>
              <a:gd name="connsiteY9" fmla="*/ 36465 h 40122"/>
              <a:gd name="connsiteX10" fmla="*/ 28895 w 45282"/>
              <a:gd name="connsiteY10" fmla="*/ 36993 h 40122"/>
              <a:gd name="connsiteX11" fmla="*/ 23017 w 45282"/>
              <a:gd name="connsiteY11" fmla="*/ 40050 h 40122"/>
              <a:gd name="connsiteX12" fmla="*/ 17526 w 45282"/>
              <a:gd name="connsiteY12" fmla="*/ 35609 h 40122"/>
              <a:gd name="connsiteX13" fmla="*/ 9779 w 45282"/>
              <a:gd name="connsiteY13" fmla="*/ 32636 h 40122"/>
              <a:gd name="connsiteX14" fmla="*/ 4630 w 45282"/>
              <a:gd name="connsiteY14" fmla="*/ 28974 h 40122"/>
              <a:gd name="connsiteX15" fmla="*/ 2149 w 45282"/>
              <a:gd name="connsiteY15" fmla="*/ 24208 h 40122"/>
              <a:gd name="connsiteX16" fmla="*/ 31 w 45282"/>
              <a:gd name="connsiteY16" fmla="*/ 18361 h 40122"/>
              <a:gd name="connsiteX17" fmla="*/ 3899 w 45282"/>
              <a:gd name="connsiteY17" fmla="*/ 13164 h 40122"/>
              <a:gd name="connsiteX18" fmla="*/ 3936 w 45282"/>
              <a:gd name="connsiteY18"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 name="connsiteX0" fmla="*/ 3936 w 45282"/>
              <a:gd name="connsiteY0" fmla="*/ 13027 h 40122"/>
              <a:gd name="connsiteX1" fmla="*/ 5659 w 45282"/>
              <a:gd name="connsiteY1" fmla="*/ 5564 h 40122"/>
              <a:gd name="connsiteX2" fmla="*/ 14041 w 45282"/>
              <a:gd name="connsiteY2" fmla="*/ 3859 h 40122"/>
              <a:gd name="connsiteX3" fmla="*/ 22492 w 45282"/>
              <a:gd name="connsiteY3" fmla="*/ 2089 h 40122"/>
              <a:gd name="connsiteX4" fmla="*/ 31552 w 45282"/>
              <a:gd name="connsiteY4" fmla="*/ 2001 h 40122"/>
              <a:gd name="connsiteX5" fmla="*/ 36834 w 45282"/>
              <a:gd name="connsiteY5" fmla="*/ 8910 h 40122"/>
              <a:gd name="connsiteX6" fmla="*/ 41854 w 45282"/>
              <a:gd name="connsiteY6" fmla="*/ 14117 h 40122"/>
              <a:gd name="connsiteX7" fmla="*/ 45112 w 45282"/>
              <a:gd name="connsiteY7" fmla="*/ 22282 h 40122"/>
              <a:gd name="connsiteX8" fmla="*/ 43082 w 45282"/>
              <a:gd name="connsiteY8" fmla="*/ 30638 h 40122"/>
              <a:gd name="connsiteX9" fmla="*/ 38270 w 45282"/>
              <a:gd name="connsiteY9" fmla="*/ 36465 h 40122"/>
              <a:gd name="connsiteX10" fmla="*/ 28895 w 45282"/>
              <a:gd name="connsiteY10" fmla="*/ 36993 h 40122"/>
              <a:gd name="connsiteX11" fmla="*/ 23017 w 45282"/>
              <a:gd name="connsiteY11" fmla="*/ 40050 h 40122"/>
              <a:gd name="connsiteX12" fmla="*/ 17526 w 45282"/>
              <a:gd name="connsiteY12" fmla="*/ 35609 h 40122"/>
              <a:gd name="connsiteX13" fmla="*/ 9779 w 45282"/>
              <a:gd name="connsiteY13" fmla="*/ 32636 h 40122"/>
              <a:gd name="connsiteX14" fmla="*/ 4630 w 45282"/>
              <a:gd name="connsiteY14" fmla="*/ 28974 h 40122"/>
              <a:gd name="connsiteX15" fmla="*/ 2149 w 45282"/>
              <a:gd name="connsiteY15" fmla="*/ 24208 h 40122"/>
              <a:gd name="connsiteX16" fmla="*/ 31 w 45282"/>
              <a:gd name="connsiteY16" fmla="*/ 18361 h 40122"/>
              <a:gd name="connsiteX17" fmla="*/ 3899 w 45282"/>
              <a:gd name="connsiteY17" fmla="*/ 13164 h 40122"/>
              <a:gd name="connsiteX18" fmla="*/ 3936 w 45282"/>
              <a:gd name="connsiteY18" fmla="*/ 13027 h 40122"/>
              <a:gd name="connsiteX0" fmla="*/ 4729 w 45282"/>
              <a:gd name="connsiteY0" fmla="*/ 24834 h 40122"/>
              <a:gd name="connsiteX1" fmla="*/ 2196 w 45282"/>
              <a:gd name="connsiteY1" fmla="*/ 24037 h 40122"/>
              <a:gd name="connsiteX2" fmla="*/ 15928 w 45282"/>
              <a:gd name="connsiteY2" fmla="*/ 33052 h 40122"/>
              <a:gd name="connsiteX3" fmla="*/ 10417 w 45282"/>
              <a:gd name="connsiteY3" fmla="*/ 32423 h 40122"/>
              <a:gd name="connsiteX4" fmla="*/ 17379 w 45282"/>
              <a:gd name="connsiteY4" fmla="*/ 35471 h 40122"/>
              <a:gd name="connsiteX5" fmla="*/ 15846 w 45282"/>
              <a:gd name="connsiteY5" fmla="*/ 36007 h 40122"/>
              <a:gd name="connsiteX6" fmla="*/ 29611 w 45282"/>
              <a:gd name="connsiteY6" fmla="*/ 36412 h 40122"/>
              <a:gd name="connsiteX7" fmla="*/ 28924 w 45282"/>
              <a:gd name="connsiteY7" fmla="*/ 38437 h 40122"/>
              <a:gd name="connsiteX8" fmla="*/ 34165 w 45282"/>
              <a:gd name="connsiteY8" fmla="*/ 21611 h 40122"/>
              <a:gd name="connsiteX9" fmla="*/ 42476 w 45282"/>
              <a:gd name="connsiteY9" fmla="*/ 30236 h 40122"/>
              <a:gd name="connsiteX10" fmla="*/ 41834 w 45282"/>
              <a:gd name="connsiteY10" fmla="*/ 14011 h 40122"/>
              <a:gd name="connsiteX11" fmla="*/ 40386 w 45282"/>
              <a:gd name="connsiteY11" fmla="*/ 16687 h 40122"/>
              <a:gd name="connsiteX12" fmla="*/ 22177 w 45282"/>
              <a:gd name="connsiteY12" fmla="*/ 3377 h 40122"/>
              <a:gd name="connsiteX13" fmla="*/ 22536 w 45282"/>
              <a:gd name="connsiteY13" fmla="*/ 1987 h 40122"/>
              <a:gd name="connsiteX14" fmla="*/ 14036 w 45282"/>
              <a:gd name="connsiteY14" fmla="*/ 3849 h 40122"/>
              <a:gd name="connsiteX15" fmla="*/ 15336 w 45282"/>
              <a:gd name="connsiteY15" fmla="*/ 5197 h 40122"/>
              <a:gd name="connsiteX16" fmla="*/ 4163 w 45282"/>
              <a:gd name="connsiteY16" fmla="*/ 14446 h 40122"/>
              <a:gd name="connsiteX17" fmla="*/ 3936 w 45282"/>
              <a:gd name="connsiteY17" fmla="*/ 13027 h 40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82" h="40122">
                <a:moveTo>
                  <a:pt x="3936" y="13027"/>
                </a:moveTo>
                <a:cubicBezTo>
                  <a:pt x="3665" y="10314"/>
                  <a:pt x="4297" y="7578"/>
                  <a:pt x="5659" y="5564"/>
                </a:cubicBezTo>
                <a:cubicBezTo>
                  <a:pt x="7811" y="2383"/>
                  <a:pt x="11300" y="1674"/>
                  <a:pt x="14041" y="3859"/>
                </a:cubicBezTo>
                <a:cubicBezTo>
                  <a:pt x="15714" y="-434"/>
                  <a:pt x="19950" y="-1321"/>
                  <a:pt x="22492" y="2089"/>
                </a:cubicBezTo>
                <a:cubicBezTo>
                  <a:pt x="25130" y="1636"/>
                  <a:pt x="28908" y="1644"/>
                  <a:pt x="31552" y="2001"/>
                </a:cubicBezTo>
                <a:cubicBezTo>
                  <a:pt x="33936" y="3456"/>
                  <a:pt x="35117" y="6891"/>
                  <a:pt x="36834" y="8910"/>
                </a:cubicBezTo>
                <a:cubicBezTo>
                  <a:pt x="38551" y="10929"/>
                  <a:pt x="42367" y="12488"/>
                  <a:pt x="41854" y="14117"/>
                </a:cubicBezTo>
                <a:cubicBezTo>
                  <a:pt x="43115" y="16351"/>
                  <a:pt x="44907" y="19529"/>
                  <a:pt x="45112" y="22282"/>
                </a:cubicBezTo>
                <a:cubicBezTo>
                  <a:pt x="45317" y="25035"/>
                  <a:pt x="45806" y="30108"/>
                  <a:pt x="43082" y="30638"/>
                </a:cubicBezTo>
                <a:cubicBezTo>
                  <a:pt x="43069" y="32905"/>
                  <a:pt x="40634" y="35406"/>
                  <a:pt x="38270" y="36465"/>
                </a:cubicBezTo>
                <a:cubicBezTo>
                  <a:pt x="35906" y="37524"/>
                  <a:pt x="31044" y="38817"/>
                  <a:pt x="28895" y="36993"/>
                </a:cubicBezTo>
                <a:cubicBezTo>
                  <a:pt x="28200" y="40126"/>
                  <a:pt x="24912" y="40281"/>
                  <a:pt x="23017" y="40050"/>
                </a:cubicBezTo>
                <a:cubicBezTo>
                  <a:pt x="21122" y="39819"/>
                  <a:pt x="19097" y="38816"/>
                  <a:pt x="17526" y="35609"/>
                </a:cubicBezTo>
                <a:cubicBezTo>
                  <a:pt x="13818" y="38653"/>
                  <a:pt x="8935" y="35208"/>
                  <a:pt x="9779" y="32636"/>
                </a:cubicBezTo>
                <a:cubicBezTo>
                  <a:pt x="7665" y="32973"/>
                  <a:pt x="5902" y="30379"/>
                  <a:pt x="4630" y="28974"/>
                </a:cubicBezTo>
                <a:cubicBezTo>
                  <a:pt x="3358" y="27569"/>
                  <a:pt x="1096" y="25734"/>
                  <a:pt x="2149" y="24208"/>
                </a:cubicBezTo>
                <a:cubicBezTo>
                  <a:pt x="655" y="23011"/>
                  <a:pt x="-177" y="20714"/>
                  <a:pt x="31" y="18361"/>
                </a:cubicBezTo>
                <a:cubicBezTo>
                  <a:pt x="275" y="15606"/>
                  <a:pt x="1881" y="13448"/>
                  <a:pt x="3899" y="13164"/>
                </a:cubicBezTo>
                <a:cubicBezTo>
                  <a:pt x="3911" y="13118"/>
                  <a:pt x="3924" y="13073"/>
                  <a:pt x="3936" y="13027"/>
                </a:cubicBezTo>
                <a:close/>
              </a:path>
              <a:path w="45282" h="40122" fill="none" extrusionOk="0">
                <a:moveTo>
                  <a:pt x="4729" y="24834"/>
                </a:moveTo>
                <a:cubicBezTo>
                  <a:pt x="3845" y="24928"/>
                  <a:pt x="2961" y="24650"/>
                  <a:pt x="2196" y="24037"/>
                </a:cubicBezTo>
                <a:moveTo>
                  <a:pt x="15928" y="33052"/>
                </a:moveTo>
                <a:cubicBezTo>
                  <a:pt x="15573" y="33245"/>
                  <a:pt x="10797" y="32363"/>
                  <a:pt x="10417" y="32423"/>
                </a:cubicBezTo>
                <a:moveTo>
                  <a:pt x="17379" y="35471"/>
                </a:moveTo>
                <a:cubicBezTo>
                  <a:pt x="17112" y="34925"/>
                  <a:pt x="16023" y="36618"/>
                  <a:pt x="15846" y="36007"/>
                </a:cubicBezTo>
                <a:moveTo>
                  <a:pt x="29611" y="36412"/>
                </a:moveTo>
                <a:cubicBezTo>
                  <a:pt x="29572" y="37059"/>
                  <a:pt x="29062" y="37815"/>
                  <a:pt x="28924" y="38437"/>
                </a:cubicBezTo>
                <a:moveTo>
                  <a:pt x="34165" y="21611"/>
                </a:moveTo>
                <a:cubicBezTo>
                  <a:pt x="36169" y="22939"/>
                  <a:pt x="42494" y="27204"/>
                  <a:pt x="42476" y="30236"/>
                </a:cubicBezTo>
                <a:moveTo>
                  <a:pt x="41834" y="14011"/>
                </a:moveTo>
                <a:cubicBezTo>
                  <a:pt x="41509" y="15043"/>
                  <a:pt x="41014" y="15959"/>
                  <a:pt x="40386" y="16687"/>
                </a:cubicBezTo>
                <a:moveTo>
                  <a:pt x="22177" y="3377"/>
                </a:moveTo>
                <a:cubicBezTo>
                  <a:pt x="22254" y="2895"/>
                  <a:pt x="22375" y="2428"/>
                  <a:pt x="22536" y="1987"/>
                </a:cubicBezTo>
                <a:moveTo>
                  <a:pt x="14036" y="3849"/>
                </a:moveTo>
                <a:cubicBezTo>
                  <a:pt x="14508" y="4225"/>
                  <a:pt x="14944" y="4678"/>
                  <a:pt x="15336" y="5197"/>
                </a:cubicBezTo>
                <a:moveTo>
                  <a:pt x="4163" y="14446"/>
                </a:moveTo>
                <a:cubicBezTo>
                  <a:pt x="4060" y="13982"/>
                  <a:pt x="3984" y="13508"/>
                  <a:pt x="3936" y="13027"/>
                </a:cubicBezTo>
              </a:path>
            </a:pathLst>
          </a:cu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E0C2E22-1CD5-434B-86B9-EFC2E7154A5C}"/>
              </a:ext>
            </a:extLst>
          </p:cNvPr>
          <p:cNvSpPr/>
          <p:nvPr/>
        </p:nvSpPr>
        <p:spPr>
          <a:xfrm>
            <a:off x="8412200" y="2944300"/>
            <a:ext cx="3446311" cy="2680334"/>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AC1C2DD5-29D5-5942-8457-3354C9AB1C17}"/>
              </a:ext>
            </a:extLst>
          </p:cNvPr>
          <p:cNvSpPr/>
          <p:nvPr/>
        </p:nvSpPr>
        <p:spPr>
          <a:xfrm>
            <a:off x="95250" y="3406810"/>
            <a:ext cx="3092481" cy="1982081"/>
          </a:xfrm>
          <a:prstGeom prst="ellipse">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a:extLst>
              <a:ext uri="{FF2B5EF4-FFF2-40B4-BE49-F238E27FC236}">
                <a16:creationId xmlns:a16="http://schemas.microsoft.com/office/drawing/2014/main" id="{261EF1DB-D143-BB46-A3B0-31F2EBCC221D}"/>
              </a:ext>
            </a:extLst>
          </p:cNvPr>
          <p:cNvSpPr/>
          <p:nvPr/>
        </p:nvSpPr>
        <p:spPr>
          <a:xfrm>
            <a:off x="9816387" y="3909574"/>
            <a:ext cx="10048" cy="802899"/>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Lst>
            <a:ahLst/>
            <a:cxnLst>
              <a:cxn ang="0">
                <a:pos x="connsiteX0" y="connsiteY0"/>
              </a:cxn>
              <a:cxn ang="0">
                <a:pos x="connsiteX1" y="connsiteY1"/>
              </a:cxn>
              <a:cxn ang="0">
                <a:pos x="connsiteX2" y="connsiteY2"/>
              </a:cxn>
            </a:cxnLst>
            <a:rect l="l" t="t" r="r" b="b"/>
            <a:pathLst>
              <a:path w="10048" h="802899">
                <a:moveTo>
                  <a:pt x="0" y="0"/>
                </a:moveTo>
                <a:lnTo>
                  <a:pt x="10048" y="417742"/>
                </a:lnTo>
                <a:cubicBezTo>
                  <a:pt x="9725" y="530824"/>
                  <a:pt x="1751" y="689817"/>
                  <a:pt x="1428" y="802899"/>
                </a:cubicBezTo>
              </a:path>
            </a:pathLst>
          </a:cu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67BAE49C-5955-BC47-B608-3876F44C628B}"/>
              </a:ext>
            </a:extLst>
          </p:cNvPr>
          <p:cNvSpPr>
            <a:spLocks noGrp="1"/>
          </p:cNvSpPr>
          <p:nvPr>
            <p:ph type="sldNum" sz="quarter" idx="12"/>
          </p:nvPr>
        </p:nvSpPr>
        <p:spPr/>
        <p:txBody>
          <a:bodyPr/>
          <a:lstStyle/>
          <a:p>
            <a:fld id="{591A223C-FA10-BC46-A853-03BA373D023C}" type="slidenum">
              <a:rPr lang="en-US" smtClean="0"/>
              <a:t>28</a:t>
            </a:fld>
            <a:endParaRPr lang="en-US"/>
          </a:p>
        </p:txBody>
      </p:sp>
      <p:sp>
        <p:nvSpPr>
          <p:cNvPr id="2" name="Title 1">
            <a:extLst>
              <a:ext uri="{FF2B5EF4-FFF2-40B4-BE49-F238E27FC236}">
                <a16:creationId xmlns:a16="http://schemas.microsoft.com/office/drawing/2014/main" id="{1147DB76-402B-EB45-BB4E-376306F1CC6A}"/>
              </a:ext>
            </a:extLst>
          </p:cNvPr>
          <p:cNvSpPr>
            <a:spLocks noGrp="1"/>
          </p:cNvSpPr>
          <p:nvPr>
            <p:ph type="title"/>
          </p:nvPr>
        </p:nvSpPr>
        <p:spPr>
          <a:xfrm>
            <a:off x="0" y="0"/>
            <a:ext cx="12192000" cy="928688"/>
          </a:xfrm>
        </p:spPr>
        <p:txBody>
          <a:bodyPr>
            <a:normAutofit/>
          </a:bodyPr>
          <a:lstStyle/>
          <a:p>
            <a:r>
              <a:rPr lang="en-US" dirty="0"/>
              <a:t>Secure Assisted Quantum Computation</a:t>
            </a:r>
          </a:p>
        </p:txBody>
      </p:sp>
      <p:pic>
        <p:nvPicPr>
          <p:cNvPr id="20" name="Picture 19">
            <a:extLst>
              <a:ext uri="{FF2B5EF4-FFF2-40B4-BE49-F238E27FC236}">
                <a16:creationId xmlns:a16="http://schemas.microsoft.com/office/drawing/2014/main" id="{31FE9592-A94F-804B-8F30-7D080163947B}"/>
              </a:ext>
            </a:extLst>
          </p:cNvPr>
          <p:cNvPicPr>
            <a:picLocks noChangeAspect="1"/>
          </p:cNvPicPr>
          <p:nvPr/>
        </p:nvPicPr>
        <p:blipFill>
          <a:blip r:embed="rId3"/>
          <a:stretch>
            <a:fillRect/>
          </a:stretch>
        </p:blipFill>
        <p:spPr>
          <a:xfrm>
            <a:off x="7618311" y="1037281"/>
            <a:ext cx="1404188" cy="3247186"/>
          </a:xfrm>
          <a:prstGeom prst="rect">
            <a:avLst/>
          </a:prstGeom>
        </p:spPr>
      </p:pic>
      <p:pic>
        <p:nvPicPr>
          <p:cNvPr id="22" name="Picture 21">
            <a:extLst>
              <a:ext uri="{FF2B5EF4-FFF2-40B4-BE49-F238E27FC236}">
                <a16:creationId xmlns:a16="http://schemas.microsoft.com/office/drawing/2014/main" id="{A806F6EC-281B-154B-AEC6-804FDCC0D82B}"/>
              </a:ext>
            </a:extLst>
          </p:cNvPr>
          <p:cNvPicPr>
            <a:picLocks noChangeAspect="1"/>
          </p:cNvPicPr>
          <p:nvPr/>
        </p:nvPicPr>
        <p:blipFill>
          <a:blip r:embed="rId4"/>
          <a:stretch>
            <a:fillRect/>
          </a:stretch>
        </p:blipFill>
        <p:spPr>
          <a:xfrm>
            <a:off x="1873101" y="2320053"/>
            <a:ext cx="1112963" cy="1024887"/>
          </a:xfrm>
          <a:prstGeom prst="rect">
            <a:avLst/>
          </a:prstGeom>
        </p:spPr>
      </p:pic>
      <p:sp>
        <p:nvSpPr>
          <p:cNvPr id="12" name="Freeform 11">
            <a:extLst>
              <a:ext uri="{FF2B5EF4-FFF2-40B4-BE49-F238E27FC236}">
                <a16:creationId xmlns:a16="http://schemas.microsoft.com/office/drawing/2014/main" id="{3A14F5C7-C2A1-C64D-B062-5CE85011B006}"/>
              </a:ext>
            </a:extLst>
          </p:cNvPr>
          <p:cNvSpPr/>
          <p:nvPr/>
        </p:nvSpPr>
        <p:spPr>
          <a:xfrm>
            <a:off x="453200" y="3980449"/>
            <a:ext cx="900000" cy="900000"/>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Comic Sans MS" panose="030F0902030302020204" pitchFamily="66" charset="0"/>
                <a:cs typeface="Times New Roman" panose="02020603050405020304" pitchFamily="18" charset="0"/>
              </a:rPr>
              <a:t>Z</a:t>
            </a:r>
          </a:p>
        </p:txBody>
      </p:sp>
      <p:grpSp>
        <p:nvGrpSpPr>
          <p:cNvPr id="32" name="Group 31">
            <a:extLst>
              <a:ext uri="{FF2B5EF4-FFF2-40B4-BE49-F238E27FC236}">
                <a16:creationId xmlns:a16="http://schemas.microsoft.com/office/drawing/2014/main" id="{CAEDF68A-68F6-2E48-B9A3-07784F7EB77F}"/>
              </a:ext>
            </a:extLst>
          </p:cNvPr>
          <p:cNvGrpSpPr/>
          <p:nvPr/>
        </p:nvGrpSpPr>
        <p:grpSpPr>
          <a:xfrm>
            <a:off x="1497200" y="4007192"/>
            <a:ext cx="792000" cy="792000"/>
            <a:chOff x="5048699" y="2595149"/>
            <a:chExt cx="1074440" cy="1081105"/>
          </a:xfrm>
        </p:grpSpPr>
        <p:sp>
          <p:nvSpPr>
            <p:cNvPr id="21" name="Freeform 20">
              <a:extLst>
                <a:ext uri="{FF2B5EF4-FFF2-40B4-BE49-F238E27FC236}">
                  <a16:creationId xmlns:a16="http://schemas.microsoft.com/office/drawing/2014/main" id="{BCC103DC-8A1B-CA41-A8FF-82D84151901A}"/>
                </a:ext>
              </a:extLst>
            </p:cNvPr>
            <p:cNvSpPr/>
            <p:nvPr/>
          </p:nvSpPr>
          <p:spPr>
            <a:xfrm>
              <a:off x="5048699" y="2595149"/>
              <a:ext cx="1074440" cy="1081105"/>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A246C552-E7F3-0646-ACCC-CDD0F1DD0A70}"/>
                </a:ext>
              </a:extLst>
            </p:cNvPr>
            <p:cNvCxnSpPr>
              <a:cxnSpLocks/>
            </p:cNvCxnSpPr>
            <p:nvPr/>
          </p:nvCxnSpPr>
          <p:spPr>
            <a:xfrm>
              <a:off x="5585919" y="279820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DFD4A6-16CF-204F-AD3F-D6AD39835BE1}"/>
                </a:ext>
              </a:extLst>
            </p:cNvPr>
            <p:cNvCxnSpPr>
              <a:cxnSpLocks/>
            </p:cNvCxnSpPr>
            <p:nvPr/>
          </p:nvCxnSpPr>
          <p:spPr>
            <a:xfrm rot="5400000">
              <a:off x="5585918" y="279214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Freeform 35">
            <a:extLst>
              <a:ext uri="{FF2B5EF4-FFF2-40B4-BE49-F238E27FC236}">
                <a16:creationId xmlns:a16="http://schemas.microsoft.com/office/drawing/2014/main" id="{F1471641-D6C1-404A-8352-A05E55974F5D}"/>
              </a:ext>
            </a:extLst>
          </p:cNvPr>
          <p:cNvSpPr/>
          <p:nvPr/>
        </p:nvSpPr>
        <p:spPr>
          <a:xfrm>
            <a:off x="2510715" y="3867389"/>
            <a:ext cx="222250" cy="257175"/>
          </a:xfrm>
          <a:custGeom>
            <a:avLst/>
            <a:gdLst>
              <a:gd name="connsiteX0" fmla="*/ 0 w 222250"/>
              <a:gd name="connsiteY0" fmla="*/ 0 h 257175"/>
              <a:gd name="connsiteX1" fmla="*/ 117475 w 222250"/>
              <a:gd name="connsiteY1" fmla="*/ 130175 h 257175"/>
              <a:gd name="connsiteX2" fmla="*/ 222250 w 222250"/>
              <a:gd name="connsiteY2" fmla="*/ 257175 h 257175"/>
            </a:gdLst>
            <a:ahLst/>
            <a:cxnLst>
              <a:cxn ang="0">
                <a:pos x="connsiteX0" y="connsiteY0"/>
              </a:cxn>
              <a:cxn ang="0">
                <a:pos x="connsiteX1" y="connsiteY1"/>
              </a:cxn>
              <a:cxn ang="0">
                <a:pos x="connsiteX2" y="connsiteY2"/>
              </a:cxn>
            </a:cxnLst>
            <a:rect l="l" t="t" r="r" b="b"/>
            <a:pathLst>
              <a:path w="222250" h="257175">
                <a:moveTo>
                  <a:pt x="0" y="0"/>
                </a:moveTo>
                <a:lnTo>
                  <a:pt x="117475" y="130175"/>
                </a:lnTo>
                <a:lnTo>
                  <a:pt x="222250" y="257175"/>
                </a:lnTo>
              </a:path>
            </a:pathLst>
          </a:custGeom>
          <a:noFill/>
          <a:ln w="762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a:extLst>
              <a:ext uri="{FF2B5EF4-FFF2-40B4-BE49-F238E27FC236}">
                <a16:creationId xmlns:a16="http://schemas.microsoft.com/office/drawing/2014/main" id="{1446CDF1-0EF8-464C-8CA0-424D48F115FC}"/>
              </a:ext>
            </a:extLst>
          </p:cNvPr>
          <p:cNvSpPr/>
          <p:nvPr/>
        </p:nvSpPr>
        <p:spPr>
          <a:xfrm flipH="1">
            <a:off x="2510715" y="3867389"/>
            <a:ext cx="222250" cy="257175"/>
          </a:xfrm>
          <a:custGeom>
            <a:avLst/>
            <a:gdLst>
              <a:gd name="connsiteX0" fmla="*/ 0 w 222250"/>
              <a:gd name="connsiteY0" fmla="*/ 0 h 257175"/>
              <a:gd name="connsiteX1" fmla="*/ 117475 w 222250"/>
              <a:gd name="connsiteY1" fmla="*/ 130175 h 257175"/>
              <a:gd name="connsiteX2" fmla="*/ 222250 w 222250"/>
              <a:gd name="connsiteY2" fmla="*/ 257175 h 257175"/>
            </a:gdLst>
            <a:ahLst/>
            <a:cxnLst>
              <a:cxn ang="0">
                <a:pos x="connsiteX0" y="connsiteY0"/>
              </a:cxn>
              <a:cxn ang="0">
                <a:pos x="connsiteX1" y="connsiteY1"/>
              </a:cxn>
              <a:cxn ang="0">
                <a:pos x="connsiteX2" y="connsiteY2"/>
              </a:cxn>
            </a:cxnLst>
            <a:rect l="l" t="t" r="r" b="b"/>
            <a:pathLst>
              <a:path w="222250" h="257175">
                <a:moveTo>
                  <a:pt x="0" y="0"/>
                </a:moveTo>
                <a:lnTo>
                  <a:pt x="117475" y="130175"/>
                </a:lnTo>
                <a:lnTo>
                  <a:pt x="222250" y="257175"/>
                </a:lnTo>
              </a:path>
            </a:pathLst>
          </a:custGeom>
          <a:noFill/>
          <a:ln w="762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id="{A851015C-DA3D-E448-854C-DE2AABE71CAF}"/>
              </a:ext>
            </a:extLst>
          </p:cNvPr>
          <p:cNvSpPr/>
          <p:nvPr/>
        </p:nvSpPr>
        <p:spPr>
          <a:xfrm>
            <a:off x="2510715" y="4721687"/>
            <a:ext cx="222250" cy="257175"/>
          </a:xfrm>
          <a:custGeom>
            <a:avLst/>
            <a:gdLst>
              <a:gd name="connsiteX0" fmla="*/ 0 w 222250"/>
              <a:gd name="connsiteY0" fmla="*/ 0 h 257175"/>
              <a:gd name="connsiteX1" fmla="*/ 117475 w 222250"/>
              <a:gd name="connsiteY1" fmla="*/ 130175 h 257175"/>
              <a:gd name="connsiteX2" fmla="*/ 222250 w 222250"/>
              <a:gd name="connsiteY2" fmla="*/ 257175 h 257175"/>
            </a:gdLst>
            <a:ahLst/>
            <a:cxnLst>
              <a:cxn ang="0">
                <a:pos x="connsiteX0" y="connsiteY0"/>
              </a:cxn>
              <a:cxn ang="0">
                <a:pos x="connsiteX1" y="connsiteY1"/>
              </a:cxn>
              <a:cxn ang="0">
                <a:pos x="connsiteX2" y="connsiteY2"/>
              </a:cxn>
            </a:cxnLst>
            <a:rect l="l" t="t" r="r" b="b"/>
            <a:pathLst>
              <a:path w="222250" h="257175">
                <a:moveTo>
                  <a:pt x="0" y="0"/>
                </a:moveTo>
                <a:lnTo>
                  <a:pt x="117475" y="130175"/>
                </a:lnTo>
                <a:lnTo>
                  <a:pt x="222250" y="257175"/>
                </a:lnTo>
              </a:path>
            </a:pathLst>
          </a:custGeom>
          <a:noFill/>
          <a:ln w="762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A1DECAB3-A795-DF45-AE68-F06F824A8664}"/>
              </a:ext>
            </a:extLst>
          </p:cNvPr>
          <p:cNvSpPr/>
          <p:nvPr/>
        </p:nvSpPr>
        <p:spPr>
          <a:xfrm flipH="1">
            <a:off x="2510715" y="4721687"/>
            <a:ext cx="222250" cy="257175"/>
          </a:xfrm>
          <a:custGeom>
            <a:avLst/>
            <a:gdLst>
              <a:gd name="connsiteX0" fmla="*/ 0 w 222250"/>
              <a:gd name="connsiteY0" fmla="*/ 0 h 257175"/>
              <a:gd name="connsiteX1" fmla="*/ 117475 w 222250"/>
              <a:gd name="connsiteY1" fmla="*/ 130175 h 257175"/>
              <a:gd name="connsiteX2" fmla="*/ 222250 w 222250"/>
              <a:gd name="connsiteY2" fmla="*/ 257175 h 257175"/>
            </a:gdLst>
            <a:ahLst/>
            <a:cxnLst>
              <a:cxn ang="0">
                <a:pos x="connsiteX0" y="connsiteY0"/>
              </a:cxn>
              <a:cxn ang="0">
                <a:pos x="connsiteX1" y="connsiteY1"/>
              </a:cxn>
              <a:cxn ang="0">
                <a:pos x="connsiteX2" y="connsiteY2"/>
              </a:cxn>
            </a:cxnLst>
            <a:rect l="l" t="t" r="r" b="b"/>
            <a:pathLst>
              <a:path w="222250" h="257175">
                <a:moveTo>
                  <a:pt x="0" y="0"/>
                </a:moveTo>
                <a:lnTo>
                  <a:pt x="117475" y="130175"/>
                </a:lnTo>
                <a:lnTo>
                  <a:pt x="222250" y="257175"/>
                </a:lnTo>
              </a:path>
            </a:pathLst>
          </a:custGeom>
          <a:noFill/>
          <a:ln w="762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a:extLst>
              <a:ext uri="{FF2B5EF4-FFF2-40B4-BE49-F238E27FC236}">
                <a16:creationId xmlns:a16="http://schemas.microsoft.com/office/drawing/2014/main" id="{FCF9219C-A4DC-E446-ACA7-F68853B37448}"/>
              </a:ext>
            </a:extLst>
          </p:cNvPr>
          <p:cNvSpPr/>
          <p:nvPr/>
        </p:nvSpPr>
        <p:spPr>
          <a:xfrm>
            <a:off x="2620690" y="4016336"/>
            <a:ext cx="10048" cy="802899"/>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Lst>
            <a:ahLst/>
            <a:cxnLst>
              <a:cxn ang="0">
                <a:pos x="connsiteX0" y="connsiteY0"/>
              </a:cxn>
              <a:cxn ang="0">
                <a:pos x="connsiteX1" y="connsiteY1"/>
              </a:cxn>
              <a:cxn ang="0">
                <a:pos x="connsiteX2" y="connsiteY2"/>
              </a:cxn>
            </a:cxnLst>
            <a:rect l="l" t="t" r="r" b="b"/>
            <a:pathLst>
              <a:path w="10048" h="802899">
                <a:moveTo>
                  <a:pt x="0" y="0"/>
                </a:moveTo>
                <a:lnTo>
                  <a:pt x="10048" y="417742"/>
                </a:lnTo>
                <a:cubicBezTo>
                  <a:pt x="9725" y="530824"/>
                  <a:pt x="1751" y="689817"/>
                  <a:pt x="1428" y="802899"/>
                </a:cubicBezTo>
              </a:path>
            </a:pathLst>
          </a:cu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Left-Right Arrow 42">
            <a:extLst>
              <a:ext uri="{FF2B5EF4-FFF2-40B4-BE49-F238E27FC236}">
                <a16:creationId xmlns:a16="http://schemas.microsoft.com/office/drawing/2014/main" id="{3702553D-BC08-094D-8CF6-710B0F586D0E}"/>
              </a:ext>
            </a:extLst>
          </p:cNvPr>
          <p:cNvSpPr/>
          <p:nvPr/>
        </p:nvSpPr>
        <p:spPr>
          <a:xfrm>
            <a:off x="3573684" y="3724296"/>
            <a:ext cx="4246294" cy="1218595"/>
          </a:xfrm>
          <a:prstGeom prst="lef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a:extLst>
              <a:ext uri="{FF2B5EF4-FFF2-40B4-BE49-F238E27FC236}">
                <a16:creationId xmlns:a16="http://schemas.microsoft.com/office/drawing/2014/main" id="{E678F0B9-B4C9-F347-98A4-B014EA7D20F9}"/>
              </a:ext>
            </a:extLst>
          </p:cNvPr>
          <p:cNvSpPr/>
          <p:nvPr/>
        </p:nvSpPr>
        <p:spPr>
          <a:xfrm>
            <a:off x="10347560" y="3397731"/>
            <a:ext cx="900000" cy="900000"/>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Comic Sans MS" panose="030F0902030302020204" pitchFamily="66" charset="0"/>
                <a:cs typeface="Times New Roman" panose="02020603050405020304" pitchFamily="18" charset="0"/>
              </a:rPr>
              <a:t>T</a:t>
            </a:r>
          </a:p>
        </p:txBody>
      </p:sp>
      <p:grpSp>
        <p:nvGrpSpPr>
          <p:cNvPr id="46" name="Group 45">
            <a:extLst>
              <a:ext uri="{FF2B5EF4-FFF2-40B4-BE49-F238E27FC236}">
                <a16:creationId xmlns:a16="http://schemas.microsoft.com/office/drawing/2014/main" id="{C01C252A-44BB-9141-85EB-29B192D4450F}"/>
              </a:ext>
            </a:extLst>
          </p:cNvPr>
          <p:cNvGrpSpPr/>
          <p:nvPr/>
        </p:nvGrpSpPr>
        <p:grpSpPr>
          <a:xfrm>
            <a:off x="9420388" y="4530026"/>
            <a:ext cx="792000" cy="792000"/>
            <a:chOff x="5048699" y="2595149"/>
            <a:chExt cx="1074440" cy="1081105"/>
          </a:xfrm>
        </p:grpSpPr>
        <p:sp>
          <p:nvSpPr>
            <p:cNvPr id="47" name="Freeform 46">
              <a:extLst>
                <a:ext uri="{FF2B5EF4-FFF2-40B4-BE49-F238E27FC236}">
                  <a16:creationId xmlns:a16="http://schemas.microsoft.com/office/drawing/2014/main" id="{1AA61717-D6A1-C045-95AC-645C0B9B491B}"/>
                </a:ext>
              </a:extLst>
            </p:cNvPr>
            <p:cNvSpPr/>
            <p:nvPr/>
          </p:nvSpPr>
          <p:spPr>
            <a:xfrm>
              <a:off x="5048699" y="2595149"/>
              <a:ext cx="1074440" cy="1081105"/>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94FF461D-8D13-1B49-A04B-55E82B2A45A6}"/>
                </a:ext>
              </a:extLst>
            </p:cNvPr>
            <p:cNvCxnSpPr>
              <a:cxnSpLocks/>
            </p:cNvCxnSpPr>
            <p:nvPr/>
          </p:nvCxnSpPr>
          <p:spPr>
            <a:xfrm>
              <a:off x="5585919" y="279820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5BE2ED3-02C5-374D-BCC6-694675D9B4B9}"/>
                </a:ext>
              </a:extLst>
            </p:cNvPr>
            <p:cNvCxnSpPr>
              <a:cxnSpLocks/>
            </p:cNvCxnSpPr>
            <p:nvPr/>
          </p:nvCxnSpPr>
          <p:spPr>
            <a:xfrm rot="5400000">
              <a:off x="5585918" y="279214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6" name="Freeform 55">
            <a:extLst>
              <a:ext uri="{FF2B5EF4-FFF2-40B4-BE49-F238E27FC236}">
                <a16:creationId xmlns:a16="http://schemas.microsoft.com/office/drawing/2014/main" id="{2FA02561-83DC-314A-BF9D-98D75C3E7522}"/>
              </a:ext>
            </a:extLst>
          </p:cNvPr>
          <p:cNvSpPr/>
          <p:nvPr/>
        </p:nvSpPr>
        <p:spPr>
          <a:xfrm>
            <a:off x="8916388" y="3453685"/>
            <a:ext cx="900000" cy="900000"/>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Comic Sans MS" panose="030F0902030302020204" pitchFamily="66" charset="0"/>
                <a:cs typeface="Times New Roman" panose="02020603050405020304" pitchFamily="18" charset="0"/>
              </a:rPr>
              <a:t>H</a:t>
            </a:r>
          </a:p>
        </p:txBody>
      </p:sp>
      <p:sp>
        <p:nvSpPr>
          <p:cNvPr id="58" name="Freeform 57">
            <a:extLst>
              <a:ext uri="{FF2B5EF4-FFF2-40B4-BE49-F238E27FC236}">
                <a16:creationId xmlns:a16="http://schemas.microsoft.com/office/drawing/2014/main" id="{7F8E8A89-50FF-5C4F-A7C4-0DC486A92F52}"/>
              </a:ext>
            </a:extLst>
          </p:cNvPr>
          <p:cNvSpPr/>
          <p:nvPr/>
        </p:nvSpPr>
        <p:spPr>
          <a:xfrm>
            <a:off x="9636387" y="3769190"/>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55DA69B8-DBD4-CA42-91EF-A6E052617C54}"/>
              </a:ext>
            </a:extLst>
          </p:cNvPr>
          <p:cNvPicPr>
            <a:picLocks noChangeAspect="1"/>
          </p:cNvPicPr>
          <p:nvPr/>
        </p:nvPicPr>
        <p:blipFill>
          <a:blip r:embed="rId5"/>
          <a:stretch>
            <a:fillRect/>
          </a:stretch>
        </p:blipFill>
        <p:spPr>
          <a:xfrm>
            <a:off x="10413340" y="4398029"/>
            <a:ext cx="914400" cy="901521"/>
          </a:xfrm>
          <a:prstGeom prst="rect">
            <a:avLst/>
          </a:prstGeom>
        </p:spPr>
      </p:pic>
      <p:sp>
        <p:nvSpPr>
          <p:cNvPr id="65" name="TextBox 64">
            <a:extLst>
              <a:ext uri="{FF2B5EF4-FFF2-40B4-BE49-F238E27FC236}">
                <a16:creationId xmlns:a16="http://schemas.microsoft.com/office/drawing/2014/main" id="{29ACEEEB-70C6-0B46-AC1B-9E6153D097DB}"/>
              </a:ext>
            </a:extLst>
          </p:cNvPr>
          <p:cNvSpPr txBox="1"/>
          <p:nvPr/>
        </p:nvSpPr>
        <p:spPr>
          <a:xfrm>
            <a:off x="101146" y="6308209"/>
            <a:ext cx="4337919" cy="369332"/>
          </a:xfrm>
          <a:prstGeom prst="rect">
            <a:avLst/>
          </a:prstGeom>
          <a:noFill/>
        </p:spPr>
        <p:txBody>
          <a:bodyPr wrap="none" rtlCol="0">
            <a:spAutoFit/>
          </a:bodyPr>
          <a:lstStyle/>
          <a:p>
            <a:r>
              <a:rPr lang="en-US" dirty="0"/>
              <a:t>https://</a:t>
            </a:r>
            <a:r>
              <a:rPr lang="en-US" dirty="0" err="1"/>
              <a:t>arxiv.org</a:t>
            </a:r>
            <a:r>
              <a:rPr lang="en-US" dirty="0"/>
              <a:t>/pdf/quant-</a:t>
            </a:r>
            <a:r>
              <a:rPr lang="en-US" dirty="0" err="1"/>
              <a:t>ph</a:t>
            </a:r>
            <a:r>
              <a:rPr lang="en-US" dirty="0"/>
              <a:t>/0111046.pdf</a:t>
            </a:r>
          </a:p>
        </p:txBody>
      </p:sp>
      <p:pic>
        <p:nvPicPr>
          <p:cNvPr id="33" name="Picture 32">
            <a:extLst>
              <a:ext uri="{FF2B5EF4-FFF2-40B4-BE49-F238E27FC236}">
                <a16:creationId xmlns:a16="http://schemas.microsoft.com/office/drawing/2014/main" id="{CAD26FFD-D602-2141-8F42-0D8E37277E5D}"/>
              </a:ext>
            </a:extLst>
          </p:cNvPr>
          <p:cNvPicPr>
            <a:picLocks noChangeAspect="1"/>
          </p:cNvPicPr>
          <p:nvPr/>
        </p:nvPicPr>
        <p:blipFill>
          <a:blip r:embed="rId6"/>
          <a:stretch>
            <a:fillRect/>
          </a:stretch>
        </p:blipFill>
        <p:spPr>
          <a:xfrm>
            <a:off x="271878" y="1111771"/>
            <a:ext cx="918520" cy="1414873"/>
          </a:xfrm>
          <a:prstGeom prst="rect">
            <a:avLst/>
          </a:prstGeom>
        </p:spPr>
      </p:pic>
      <p:pic>
        <p:nvPicPr>
          <p:cNvPr id="34" name="Picture 33">
            <a:extLst>
              <a:ext uri="{FF2B5EF4-FFF2-40B4-BE49-F238E27FC236}">
                <a16:creationId xmlns:a16="http://schemas.microsoft.com/office/drawing/2014/main" id="{CF496A74-8992-C344-AA79-F67D2D6A8F6F}"/>
              </a:ext>
            </a:extLst>
          </p:cNvPr>
          <p:cNvPicPr>
            <a:picLocks noChangeAspect="1"/>
          </p:cNvPicPr>
          <p:nvPr/>
        </p:nvPicPr>
        <p:blipFill>
          <a:blip r:embed="rId7"/>
          <a:stretch>
            <a:fillRect/>
          </a:stretch>
        </p:blipFill>
        <p:spPr>
          <a:xfrm>
            <a:off x="9723788" y="975301"/>
            <a:ext cx="1082025" cy="1602672"/>
          </a:xfrm>
          <a:prstGeom prst="rect">
            <a:avLst/>
          </a:prstGeom>
        </p:spPr>
      </p:pic>
      <p:pic>
        <p:nvPicPr>
          <p:cNvPr id="35" name="Picture 34">
            <a:extLst>
              <a:ext uri="{FF2B5EF4-FFF2-40B4-BE49-F238E27FC236}">
                <a16:creationId xmlns:a16="http://schemas.microsoft.com/office/drawing/2014/main" id="{5273381E-4950-844C-BE3F-2083A4162844}"/>
              </a:ext>
            </a:extLst>
          </p:cNvPr>
          <p:cNvPicPr>
            <a:picLocks noChangeAspect="1"/>
          </p:cNvPicPr>
          <p:nvPr/>
        </p:nvPicPr>
        <p:blipFill>
          <a:blip r:embed="rId8"/>
          <a:stretch>
            <a:fillRect/>
          </a:stretch>
        </p:blipFill>
        <p:spPr>
          <a:xfrm>
            <a:off x="5437492" y="5073922"/>
            <a:ext cx="962359" cy="1675287"/>
          </a:xfrm>
          <a:prstGeom prst="rect">
            <a:avLst/>
          </a:prstGeom>
        </p:spPr>
      </p:pic>
    </p:spTree>
    <p:extLst>
      <p:ext uri="{BB962C8B-B14F-4D97-AF65-F5344CB8AC3E}">
        <p14:creationId xmlns:p14="http://schemas.microsoft.com/office/powerpoint/2010/main" val="3058242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loud 10">
            <a:extLst>
              <a:ext uri="{FF2B5EF4-FFF2-40B4-BE49-F238E27FC236}">
                <a16:creationId xmlns:a16="http://schemas.microsoft.com/office/drawing/2014/main" id="{E8F03978-587D-E245-BF94-3D9E7D610ADF}"/>
              </a:ext>
            </a:extLst>
          </p:cNvPr>
          <p:cNvSpPr/>
          <p:nvPr/>
        </p:nvSpPr>
        <p:spPr>
          <a:xfrm>
            <a:off x="5006036" y="4185402"/>
            <a:ext cx="2590665" cy="1609992"/>
          </a:xfrm>
          <a:prstGeom prst="cloud">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Freeform 103">
            <a:extLst>
              <a:ext uri="{FF2B5EF4-FFF2-40B4-BE49-F238E27FC236}">
                <a16:creationId xmlns:a16="http://schemas.microsoft.com/office/drawing/2014/main" id="{B4A55331-542C-F344-BED9-5E81D95AE919}"/>
              </a:ext>
            </a:extLst>
          </p:cNvPr>
          <p:cNvSpPr/>
          <p:nvPr/>
        </p:nvSpPr>
        <p:spPr>
          <a:xfrm flipV="1">
            <a:off x="7233187" y="3383862"/>
            <a:ext cx="1800000" cy="2247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a:extLst>
              <a:ext uri="{FF2B5EF4-FFF2-40B4-BE49-F238E27FC236}">
                <a16:creationId xmlns:a16="http://schemas.microsoft.com/office/drawing/2014/main" id="{8D450627-32AD-EF40-AEE7-638A3A41CE6C}"/>
              </a:ext>
            </a:extLst>
          </p:cNvPr>
          <p:cNvSpPr/>
          <p:nvPr/>
        </p:nvSpPr>
        <p:spPr>
          <a:xfrm flipH="1">
            <a:off x="4816420" y="2466483"/>
            <a:ext cx="11091" cy="515948"/>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0 w 4139"/>
              <a:gd name="connsiteY0" fmla="*/ 0 h 10000"/>
              <a:gd name="connsiteX1" fmla="*/ 1792 w 4139"/>
              <a:gd name="connsiteY1" fmla="*/ 5377 h 10000"/>
              <a:gd name="connsiteX2" fmla="*/ 4006 w 4139"/>
              <a:gd name="connsiteY2" fmla="*/ 10000 h 10000"/>
              <a:gd name="connsiteX0" fmla="*/ 999 w 5329"/>
              <a:gd name="connsiteY0" fmla="*/ 0 h 10000"/>
              <a:gd name="connsiteX1" fmla="*/ 5329 w 5329"/>
              <a:gd name="connsiteY1" fmla="*/ 5377 h 10000"/>
              <a:gd name="connsiteX2" fmla="*/ 0 w 5329"/>
              <a:gd name="connsiteY2" fmla="*/ 10000 h 10000"/>
            </a:gdLst>
            <a:ahLst/>
            <a:cxnLst>
              <a:cxn ang="0">
                <a:pos x="connsiteX0" y="connsiteY0"/>
              </a:cxn>
              <a:cxn ang="0">
                <a:pos x="connsiteX1" y="connsiteY1"/>
              </a:cxn>
              <a:cxn ang="0">
                <a:pos x="connsiteX2" y="connsiteY2"/>
              </a:cxn>
            </a:cxnLst>
            <a:rect l="l" t="t" r="r" b="b"/>
            <a:pathLst>
              <a:path w="5329" h="10000">
                <a:moveTo>
                  <a:pt x="999" y="0"/>
                </a:moveTo>
                <a:cubicBezTo>
                  <a:pt x="9049" y="1751"/>
                  <a:pt x="-2722" y="3626"/>
                  <a:pt x="5329" y="5377"/>
                </a:cubicBezTo>
                <a:cubicBezTo>
                  <a:pt x="3140" y="6786"/>
                  <a:pt x="2189" y="8592"/>
                  <a:pt x="0" y="1000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a:extLst>
              <a:ext uri="{FF2B5EF4-FFF2-40B4-BE49-F238E27FC236}">
                <a16:creationId xmlns:a16="http://schemas.microsoft.com/office/drawing/2014/main" id="{3EE688D1-5EEA-BB49-9FEA-66DA32864BB2}"/>
              </a:ext>
            </a:extLst>
          </p:cNvPr>
          <p:cNvSpPr/>
          <p:nvPr/>
        </p:nvSpPr>
        <p:spPr>
          <a:xfrm flipV="1">
            <a:off x="2648271" y="3358475"/>
            <a:ext cx="2880000" cy="2247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8FED8B9A-BD64-1F43-B1BA-662CDCCB10A7}"/>
              </a:ext>
            </a:extLst>
          </p:cNvPr>
          <p:cNvSpPr/>
          <p:nvPr/>
        </p:nvSpPr>
        <p:spPr>
          <a:xfrm flipV="1">
            <a:off x="2648272" y="1851344"/>
            <a:ext cx="6418851" cy="2247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67BAE49C-5955-BC47-B608-3876F44C628B}"/>
              </a:ext>
            </a:extLst>
          </p:cNvPr>
          <p:cNvSpPr>
            <a:spLocks noGrp="1"/>
          </p:cNvSpPr>
          <p:nvPr>
            <p:ph type="sldNum" sz="quarter" idx="12"/>
          </p:nvPr>
        </p:nvSpPr>
        <p:spPr/>
        <p:txBody>
          <a:bodyPr/>
          <a:lstStyle/>
          <a:p>
            <a:fld id="{591A223C-FA10-BC46-A853-03BA373D023C}" type="slidenum">
              <a:rPr lang="en-US" smtClean="0"/>
              <a:t>29</a:t>
            </a:fld>
            <a:endParaRPr lang="en-US"/>
          </a:p>
        </p:txBody>
      </p:sp>
      <p:sp>
        <p:nvSpPr>
          <p:cNvPr id="2" name="Title 1">
            <a:extLst>
              <a:ext uri="{FF2B5EF4-FFF2-40B4-BE49-F238E27FC236}">
                <a16:creationId xmlns:a16="http://schemas.microsoft.com/office/drawing/2014/main" id="{1147DB76-402B-EB45-BB4E-376306F1CC6A}"/>
              </a:ext>
            </a:extLst>
          </p:cNvPr>
          <p:cNvSpPr>
            <a:spLocks noGrp="1"/>
          </p:cNvSpPr>
          <p:nvPr>
            <p:ph type="title"/>
          </p:nvPr>
        </p:nvSpPr>
        <p:spPr>
          <a:xfrm>
            <a:off x="0" y="0"/>
            <a:ext cx="12192000" cy="928688"/>
          </a:xfrm>
        </p:spPr>
        <p:txBody>
          <a:bodyPr>
            <a:normAutofit/>
          </a:bodyPr>
          <a:lstStyle/>
          <a:p>
            <a:r>
              <a:rPr lang="en-ZA" dirty="0"/>
              <a:t>Secure Measurement</a:t>
            </a:r>
            <a:endParaRPr lang="en-US" dirty="0"/>
          </a:p>
        </p:txBody>
      </p:sp>
      <p:sp>
        <p:nvSpPr>
          <p:cNvPr id="12" name="Freeform 11">
            <a:extLst>
              <a:ext uri="{FF2B5EF4-FFF2-40B4-BE49-F238E27FC236}">
                <a16:creationId xmlns:a16="http://schemas.microsoft.com/office/drawing/2014/main" id="{3A14F5C7-C2A1-C64D-B062-5CE85011B006}"/>
              </a:ext>
            </a:extLst>
          </p:cNvPr>
          <p:cNvSpPr/>
          <p:nvPr/>
        </p:nvSpPr>
        <p:spPr>
          <a:xfrm>
            <a:off x="4376036" y="2908475"/>
            <a:ext cx="900000" cy="900000"/>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Comic Sans MS" panose="030F0902030302020204" pitchFamily="66" charset="0"/>
                <a:cs typeface="Times New Roman" panose="02020603050405020304" pitchFamily="18" charset="0"/>
              </a:rPr>
              <a:t>Z</a:t>
            </a:r>
          </a:p>
        </p:txBody>
      </p:sp>
      <p:grpSp>
        <p:nvGrpSpPr>
          <p:cNvPr id="4" name="Group 3">
            <a:extLst>
              <a:ext uri="{FF2B5EF4-FFF2-40B4-BE49-F238E27FC236}">
                <a16:creationId xmlns:a16="http://schemas.microsoft.com/office/drawing/2014/main" id="{2CE7FF49-5775-4C48-9DDB-ECA51E10519E}"/>
              </a:ext>
            </a:extLst>
          </p:cNvPr>
          <p:cNvGrpSpPr/>
          <p:nvPr/>
        </p:nvGrpSpPr>
        <p:grpSpPr>
          <a:xfrm>
            <a:off x="3187719" y="1677389"/>
            <a:ext cx="792000" cy="2077086"/>
            <a:chOff x="387962" y="993449"/>
            <a:chExt cx="792000" cy="2077086"/>
          </a:xfrm>
        </p:grpSpPr>
        <p:sp>
          <p:nvSpPr>
            <p:cNvPr id="61" name="Freeform 60">
              <a:extLst>
                <a:ext uri="{FF2B5EF4-FFF2-40B4-BE49-F238E27FC236}">
                  <a16:creationId xmlns:a16="http://schemas.microsoft.com/office/drawing/2014/main" id="{261EF1DB-D143-BB46-A3B0-31F2EBCC221D}"/>
                </a:ext>
              </a:extLst>
            </p:cNvPr>
            <p:cNvSpPr/>
            <p:nvPr/>
          </p:nvSpPr>
          <p:spPr>
            <a:xfrm>
              <a:off x="783684" y="1311819"/>
              <a:ext cx="16221" cy="1149163"/>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C01C252A-44BB-9141-85EB-29B192D4450F}"/>
                </a:ext>
              </a:extLst>
            </p:cNvPr>
            <p:cNvGrpSpPr/>
            <p:nvPr/>
          </p:nvGrpSpPr>
          <p:grpSpPr>
            <a:xfrm>
              <a:off x="387962" y="2278535"/>
              <a:ext cx="792000" cy="792000"/>
              <a:chOff x="5048699" y="2595149"/>
              <a:chExt cx="1074440" cy="1081105"/>
            </a:xfrm>
          </p:grpSpPr>
          <p:sp>
            <p:nvSpPr>
              <p:cNvPr id="47" name="Freeform 46">
                <a:extLst>
                  <a:ext uri="{FF2B5EF4-FFF2-40B4-BE49-F238E27FC236}">
                    <a16:creationId xmlns:a16="http://schemas.microsoft.com/office/drawing/2014/main" id="{1AA61717-D6A1-C045-95AC-645C0B9B491B}"/>
                  </a:ext>
                </a:extLst>
              </p:cNvPr>
              <p:cNvSpPr/>
              <p:nvPr/>
            </p:nvSpPr>
            <p:spPr>
              <a:xfrm>
                <a:off x="5048699" y="2595149"/>
                <a:ext cx="1074440" cy="1081105"/>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94FF461D-8D13-1B49-A04B-55E82B2A45A6}"/>
                  </a:ext>
                </a:extLst>
              </p:cNvPr>
              <p:cNvCxnSpPr>
                <a:cxnSpLocks/>
              </p:cNvCxnSpPr>
              <p:nvPr/>
            </p:nvCxnSpPr>
            <p:spPr>
              <a:xfrm>
                <a:off x="5585919" y="279820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5BE2ED3-02C5-374D-BCC6-694675D9B4B9}"/>
                  </a:ext>
                </a:extLst>
              </p:cNvPr>
              <p:cNvCxnSpPr>
                <a:cxnSpLocks/>
              </p:cNvCxnSpPr>
              <p:nvPr/>
            </p:nvCxnSpPr>
            <p:spPr>
              <a:xfrm rot="5400000">
                <a:off x="5585918" y="279214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8" name="Freeform 57">
              <a:extLst>
                <a:ext uri="{FF2B5EF4-FFF2-40B4-BE49-F238E27FC236}">
                  <a16:creationId xmlns:a16="http://schemas.microsoft.com/office/drawing/2014/main" id="{7F8E8A89-50FF-5C4F-A7C4-0DC486A92F52}"/>
                </a:ext>
              </a:extLst>
            </p:cNvPr>
            <p:cNvSpPr/>
            <p:nvPr/>
          </p:nvSpPr>
          <p:spPr>
            <a:xfrm>
              <a:off x="603961" y="993449"/>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Freeform 58">
            <a:extLst>
              <a:ext uri="{FF2B5EF4-FFF2-40B4-BE49-F238E27FC236}">
                <a16:creationId xmlns:a16="http://schemas.microsoft.com/office/drawing/2014/main" id="{1177EDE0-E3CF-3343-BE2C-C9BC9BD1A217}"/>
              </a:ext>
            </a:extLst>
          </p:cNvPr>
          <p:cNvSpPr/>
          <p:nvPr/>
        </p:nvSpPr>
        <p:spPr>
          <a:xfrm>
            <a:off x="7992423" y="1995759"/>
            <a:ext cx="16221" cy="1149163"/>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oup 59">
            <a:extLst>
              <a:ext uri="{FF2B5EF4-FFF2-40B4-BE49-F238E27FC236}">
                <a16:creationId xmlns:a16="http://schemas.microsoft.com/office/drawing/2014/main" id="{D7D9A4AA-D02F-CE49-AB1F-9123F83288DA}"/>
              </a:ext>
            </a:extLst>
          </p:cNvPr>
          <p:cNvGrpSpPr/>
          <p:nvPr/>
        </p:nvGrpSpPr>
        <p:grpSpPr>
          <a:xfrm>
            <a:off x="7596701" y="2962475"/>
            <a:ext cx="792000" cy="792000"/>
            <a:chOff x="5048699" y="2595149"/>
            <a:chExt cx="1074440" cy="1081105"/>
          </a:xfrm>
        </p:grpSpPr>
        <p:sp>
          <p:nvSpPr>
            <p:cNvPr id="66" name="Freeform 65">
              <a:extLst>
                <a:ext uri="{FF2B5EF4-FFF2-40B4-BE49-F238E27FC236}">
                  <a16:creationId xmlns:a16="http://schemas.microsoft.com/office/drawing/2014/main" id="{5ED783A0-5950-C140-946B-804927865FB8}"/>
                </a:ext>
              </a:extLst>
            </p:cNvPr>
            <p:cNvSpPr/>
            <p:nvPr/>
          </p:nvSpPr>
          <p:spPr>
            <a:xfrm>
              <a:off x="5048699" y="2595149"/>
              <a:ext cx="1074440" cy="1081105"/>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a:extLst>
                <a:ext uri="{FF2B5EF4-FFF2-40B4-BE49-F238E27FC236}">
                  <a16:creationId xmlns:a16="http://schemas.microsoft.com/office/drawing/2014/main" id="{D38E3F19-841D-5E4C-8F0D-3CC11A2A8B4C}"/>
                </a:ext>
              </a:extLst>
            </p:cNvPr>
            <p:cNvCxnSpPr>
              <a:cxnSpLocks/>
            </p:cNvCxnSpPr>
            <p:nvPr/>
          </p:nvCxnSpPr>
          <p:spPr>
            <a:xfrm>
              <a:off x="5585919" y="279820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B071036-BE5F-C544-BAEC-D3A4E2CD5CCB}"/>
                </a:ext>
              </a:extLst>
            </p:cNvPr>
            <p:cNvCxnSpPr>
              <a:cxnSpLocks/>
            </p:cNvCxnSpPr>
            <p:nvPr/>
          </p:nvCxnSpPr>
          <p:spPr>
            <a:xfrm rot="5400000">
              <a:off x="5585918" y="279214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5" name="Freeform 64">
            <a:extLst>
              <a:ext uri="{FF2B5EF4-FFF2-40B4-BE49-F238E27FC236}">
                <a16:creationId xmlns:a16="http://schemas.microsoft.com/office/drawing/2014/main" id="{6C6D89FB-B055-EF4D-917E-59EE79BECFA5}"/>
              </a:ext>
            </a:extLst>
          </p:cNvPr>
          <p:cNvSpPr/>
          <p:nvPr/>
        </p:nvSpPr>
        <p:spPr>
          <a:xfrm>
            <a:off x="7812700" y="1677389"/>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a:extLst>
              <a:ext uri="{FF2B5EF4-FFF2-40B4-BE49-F238E27FC236}">
                <a16:creationId xmlns:a16="http://schemas.microsoft.com/office/drawing/2014/main" id="{C3916B50-5BEE-6949-84EF-DF0D7BE453E0}"/>
              </a:ext>
            </a:extLst>
          </p:cNvPr>
          <p:cNvSpPr/>
          <p:nvPr/>
        </p:nvSpPr>
        <p:spPr>
          <a:xfrm flipV="1">
            <a:off x="2648272" y="2287908"/>
            <a:ext cx="6418851" cy="2247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8C6B10C6-AAF6-0D4B-A014-0495B7852748}"/>
              </a:ext>
            </a:extLst>
          </p:cNvPr>
          <p:cNvSpPr/>
          <p:nvPr/>
        </p:nvSpPr>
        <p:spPr>
          <a:xfrm>
            <a:off x="4646036" y="2119140"/>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A5F2A52-57E8-574E-A942-92D390BDC4B6}"/>
              </a:ext>
            </a:extLst>
          </p:cNvPr>
          <p:cNvSpPr txBox="1"/>
          <p:nvPr/>
        </p:nvSpPr>
        <p:spPr>
          <a:xfrm>
            <a:off x="2215083" y="1534094"/>
            <a:ext cx="308098" cy="461665"/>
          </a:xfrm>
          <a:prstGeom prst="rect">
            <a:avLst/>
          </a:prstGeom>
          <a:noFill/>
        </p:spPr>
        <p:txBody>
          <a:bodyPr wrap="none" rtlCol="0">
            <a:spAutoFit/>
          </a:bodyPr>
          <a:lstStyle/>
          <a:p>
            <a:r>
              <a:rPr lang="en-US" sz="2400" i="1" dirty="0">
                <a:latin typeface="Comic Sans MS" panose="030F0902030302020204" pitchFamily="66" charset="0"/>
              </a:rPr>
              <a:t>j</a:t>
            </a:r>
          </a:p>
        </p:txBody>
      </p:sp>
      <p:sp>
        <p:nvSpPr>
          <p:cNvPr id="73" name="TextBox 72">
            <a:extLst>
              <a:ext uri="{FF2B5EF4-FFF2-40B4-BE49-F238E27FC236}">
                <a16:creationId xmlns:a16="http://schemas.microsoft.com/office/drawing/2014/main" id="{D8E355FE-7052-FB45-A0BF-3BE24C4A39B4}"/>
              </a:ext>
            </a:extLst>
          </p:cNvPr>
          <p:cNvSpPr txBox="1"/>
          <p:nvPr/>
        </p:nvSpPr>
        <p:spPr>
          <a:xfrm>
            <a:off x="2215083" y="1995759"/>
            <a:ext cx="351378" cy="461665"/>
          </a:xfrm>
          <a:prstGeom prst="rect">
            <a:avLst/>
          </a:prstGeom>
          <a:noFill/>
        </p:spPr>
        <p:txBody>
          <a:bodyPr wrap="none" rtlCol="0">
            <a:spAutoFit/>
          </a:bodyPr>
          <a:lstStyle/>
          <a:p>
            <a:r>
              <a:rPr lang="en-US" sz="2400" i="1" dirty="0">
                <a:latin typeface="Comic Sans MS" panose="030F0902030302020204" pitchFamily="66" charset="0"/>
              </a:rPr>
              <a:t>k</a:t>
            </a:r>
          </a:p>
        </p:txBody>
      </p:sp>
      <p:sp>
        <p:nvSpPr>
          <p:cNvPr id="9" name="TextBox 8">
            <a:extLst>
              <a:ext uri="{FF2B5EF4-FFF2-40B4-BE49-F238E27FC236}">
                <a16:creationId xmlns:a16="http://schemas.microsoft.com/office/drawing/2014/main" id="{43A1F6BC-6B0B-7C47-95E9-2600B5BBC9C9}"/>
              </a:ext>
            </a:extLst>
          </p:cNvPr>
          <p:cNvSpPr txBox="1"/>
          <p:nvPr/>
        </p:nvSpPr>
        <p:spPr>
          <a:xfrm>
            <a:off x="2009955" y="3127642"/>
            <a:ext cx="638316" cy="461665"/>
          </a:xfrm>
          <a:prstGeom prst="rect">
            <a:avLst/>
          </a:prstGeom>
          <a:noFill/>
        </p:spPr>
        <p:txBody>
          <a:bodyPr wrap="none" rtlCol="0">
            <a:spAutoFit/>
          </a:bodyPr>
          <a:lstStyle/>
          <a:p>
            <a:r>
              <a:rPr lang="en-US" sz="2400" dirty="0">
                <a:latin typeface="Comic Sans MS" panose="030F0902030302020204" pitchFamily="66" charset="0"/>
              </a:rPr>
              <a:t>|S⟩</a:t>
            </a:r>
          </a:p>
        </p:txBody>
      </p:sp>
      <p:sp>
        <p:nvSpPr>
          <p:cNvPr id="106" name="Freeform 105">
            <a:extLst>
              <a:ext uri="{FF2B5EF4-FFF2-40B4-BE49-F238E27FC236}">
                <a16:creationId xmlns:a16="http://schemas.microsoft.com/office/drawing/2014/main" id="{65C88A75-AD90-444B-B8B9-A22976613F18}"/>
              </a:ext>
            </a:extLst>
          </p:cNvPr>
          <p:cNvSpPr/>
          <p:nvPr/>
        </p:nvSpPr>
        <p:spPr>
          <a:xfrm>
            <a:off x="5523212" y="3369714"/>
            <a:ext cx="20249" cy="1631377"/>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314 w 4428"/>
              <a:gd name="connsiteY0" fmla="*/ 0 h 10000"/>
              <a:gd name="connsiteX1" fmla="*/ 1055 w 4428"/>
              <a:gd name="connsiteY1" fmla="*/ 5306 h 10000"/>
              <a:gd name="connsiteX2" fmla="*/ 4320 w 4428"/>
              <a:gd name="connsiteY2" fmla="*/ 10000 h 10000"/>
              <a:gd name="connsiteX0" fmla="*/ 0 w 18402"/>
              <a:gd name="connsiteY0" fmla="*/ 0 h 10000"/>
              <a:gd name="connsiteX1" fmla="*/ 18402 w 18402"/>
              <a:gd name="connsiteY1" fmla="*/ 5410 h 10000"/>
              <a:gd name="connsiteX2" fmla="*/ 9047 w 18402"/>
              <a:gd name="connsiteY2" fmla="*/ 10000 h 10000"/>
              <a:gd name="connsiteX0" fmla="*/ 710 w 10002"/>
              <a:gd name="connsiteY0" fmla="*/ 0 h 10000"/>
              <a:gd name="connsiteX1" fmla="*/ 2384 w 10002"/>
              <a:gd name="connsiteY1" fmla="*/ 5462 h 10000"/>
              <a:gd name="connsiteX2" fmla="*/ 9757 w 10002"/>
              <a:gd name="connsiteY2" fmla="*/ 10000 h 10000"/>
            </a:gdLst>
            <a:ahLst/>
            <a:cxnLst>
              <a:cxn ang="0">
                <a:pos x="connsiteX0" y="connsiteY0"/>
              </a:cxn>
              <a:cxn ang="0">
                <a:pos x="connsiteX1" y="connsiteY1"/>
              </a:cxn>
              <a:cxn ang="0">
                <a:pos x="connsiteX2" y="connsiteY2"/>
              </a:cxn>
            </a:cxnLst>
            <a:rect l="l" t="t" r="r" b="b"/>
            <a:pathLst>
              <a:path w="10002" h="10000">
                <a:moveTo>
                  <a:pt x="710" y="0"/>
                </a:moveTo>
                <a:cubicBezTo>
                  <a:pt x="8235" y="1751"/>
                  <a:pt x="-5141" y="3711"/>
                  <a:pt x="2384" y="5462"/>
                </a:cubicBezTo>
                <a:cubicBezTo>
                  <a:pt x="337" y="6871"/>
                  <a:pt x="11803" y="8592"/>
                  <a:pt x="9757" y="1000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a:extLst>
              <a:ext uri="{FF2B5EF4-FFF2-40B4-BE49-F238E27FC236}">
                <a16:creationId xmlns:a16="http://schemas.microsoft.com/office/drawing/2014/main" id="{85E62B8B-05DB-4C43-8315-44DAF681EBC7}"/>
              </a:ext>
            </a:extLst>
          </p:cNvPr>
          <p:cNvSpPr/>
          <p:nvPr/>
        </p:nvSpPr>
        <p:spPr>
          <a:xfrm>
            <a:off x="7249360" y="3395101"/>
            <a:ext cx="20249" cy="1631377"/>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314 w 4428"/>
              <a:gd name="connsiteY0" fmla="*/ 0 h 10000"/>
              <a:gd name="connsiteX1" fmla="*/ 1055 w 4428"/>
              <a:gd name="connsiteY1" fmla="*/ 5306 h 10000"/>
              <a:gd name="connsiteX2" fmla="*/ 4320 w 4428"/>
              <a:gd name="connsiteY2" fmla="*/ 10000 h 10000"/>
              <a:gd name="connsiteX0" fmla="*/ 0 w 18402"/>
              <a:gd name="connsiteY0" fmla="*/ 0 h 10000"/>
              <a:gd name="connsiteX1" fmla="*/ 18402 w 18402"/>
              <a:gd name="connsiteY1" fmla="*/ 5410 h 10000"/>
              <a:gd name="connsiteX2" fmla="*/ 9047 w 18402"/>
              <a:gd name="connsiteY2" fmla="*/ 10000 h 10000"/>
              <a:gd name="connsiteX0" fmla="*/ 710 w 10002"/>
              <a:gd name="connsiteY0" fmla="*/ 0 h 10000"/>
              <a:gd name="connsiteX1" fmla="*/ 2384 w 10002"/>
              <a:gd name="connsiteY1" fmla="*/ 5462 h 10000"/>
              <a:gd name="connsiteX2" fmla="*/ 9757 w 10002"/>
              <a:gd name="connsiteY2" fmla="*/ 10000 h 10000"/>
            </a:gdLst>
            <a:ahLst/>
            <a:cxnLst>
              <a:cxn ang="0">
                <a:pos x="connsiteX0" y="connsiteY0"/>
              </a:cxn>
              <a:cxn ang="0">
                <a:pos x="connsiteX1" y="connsiteY1"/>
              </a:cxn>
              <a:cxn ang="0">
                <a:pos x="connsiteX2" y="connsiteY2"/>
              </a:cxn>
            </a:cxnLst>
            <a:rect l="l" t="t" r="r" b="b"/>
            <a:pathLst>
              <a:path w="10002" h="10000">
                <a:moveTo>
                  <a:pt x="710" y="0"/>
                </a:moveTo>
                <a:cubicBezTo>
                  <a:pt x="8235" y="1751"/>
                  <a:pt x="-5141" y="3711"/>
                  <a:pt x="2384" y="5462"/>
                </a:cubicBezTo>
                <a:cubicBezTo>
                  <a:pt x="337" y="6871"/>
                  <a:pt x="11803" y="8592"/>
                  <a:pt x="9757" y="1000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a:extLst>
              <a:ext uri="{FF2B5EF4-FFF2-40B4-BE49-F238E27FC236}">
                <a16:creationId xmlns:a16="http://schemas.microsoft.com/office/drawing/2014/main" id="{6A592393-0D6B-C743-9CFC-CE33DAC0A3F8}"/>
              </a:ext>
            </a:extLst>
          </p:cNvPr>
          <p:cNvSpPr/>
          <p:nvPr/>
        </p:nvSpPr>
        <p:spPr>
          <a:xfrm rot="5400000">
            <a:off x="6409665" y="4131104"/>
            <a:ext cx="9463" cy="1756415"/>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314 w 4428"/>
              <a:gd name="connsiteY0" fmla="*/ 0 h 10000"/>
              <a:gd name="connsiteX1" fmla="*/ 1055 w 4428"/>
              <a:gd name="connsiteY1" fmla="*/ 5306 h 10000"/>
              <a:gd name="connsiteX2" fmla="*/ 4320 w 4428"/>
              <a:gd name="connsiteY2" fmla="*/ 10000 h 10000"/>
              <a:gd name="connsiteX0" fmla="*/ 0 w 18402"/>
              <a:gd name="connsiteY0" fmla="*/ 0 h 10000"/>
              <a:gd name="connsiteX1" fmla="*/ 18402 w 18402"/>
              <a:gd name="connsiteY1" fmla="*/ 5410 h 10000"/>
              <a:gd name="connsiteX2" fmla="*/ 9047 w 18402"/>
              <a:gd name="connsiteY2" fmla="*/ 10000 h 10000"/>
              <a:gd name="connsiteX0" fmla="*/ 710 w 10002"/>
              <a:gd name="connsiteY0" fmla="*/ 0 h 10000"/>
              <a:gd name="connsiteX1" fmla="*/ 2384 w 10002"/>
              <a:gd name="connsiteY1" fmla="*/ 5462 h 10000"/>
              <a:gd name="connsiteX2" fmla="*/ 9757 w 10002"/>
              <a:gd name="connsiteY2" fmla="*/ 10000 h 10000"/>
              <a:gd name="connsiteX0" fmla="*/ 2290 w 4674"/>
              <a:gd name="connsiteY0" fmla="*/ 0 h 9957"/>
              <a:gd name="connsiteX1" fmla="*/ 3964 w 4674"/>
              <a:gd name="connsiteY1" fmla="*/ 5462 h 9957"/>
              <a:gd name="connsiteX2" fmla="*/ 0 w 4674"/>
              <a:gd name="connsiteY2" fmla="*/ 9957 h 9957"/>
            </a:gdLst>
            <a:ahLst/>
            <a:cxnLst>
              <a:cxn ang="0">
                <a:pos x="connsiteX0" y="connsiteY0"/>
              </a:cxn>
              <a:cxn ang="0">
                <a:pos x="connsiteX1" y="connsiteY1"/>
              </a:cxn>
              <a:cxn ang="0">
                <a:pos x="connsiteX2" y="connsiteY2"/>
              </a:cxn>
            </a:cxnLst>
            <a:rect l="l" t="t" r="r" b="b"/>
            <a:pathLst>
              <a:path w="4674" h="9957">
                <a:moveTo>
                  <a:pt x="2290" y="0"/>
                </a:moveTo>
                <a:cubicBezTo>
                  <a:pt x="9815" y="1751"/>
                  <a:pt x="-3561" y="3711"/>
                  <a:pt x="3964" y="5462"/>
                </a:cubicBezTo>
                <a:cubicBezTo>
                  <a:pt x="1917" y="6871"/>
                  <a:pt x="2046" y="8549"/>
                  <a:pt x="0" y="9957"/>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55DA69B8-DBD4-CA42-91EF-A6E052617C54}"/>
              </a:ext>
            </a:extLst>
          </p:cNvPr>
          <p:cNvPicPr>
            <a:picLocks noChangeAspect="1"/>
          </p:cNvPicPr>
          <p:nvPr/>
        </p:nvPicPr>
        <p:blipFill>
          <a:blip r:embed="rId3"/>
          <a:stretch>
            <a:fillRect/>
          </a:stretch>
        </p:blipFill>
        <p:spPr>
          <a:xfrm>
            <a:off x="5894186" y="4482187"/>
            <a:ext cx="914400" cy="901521"/>
          </a:xfrm>
          <a:prstGeom prst="rect">
            <a:avLst/>
          </a:prstGeom>
        </p:spPr>
      </p:pic>
      <p:pic>
        <p:nvPicPr>
          <p:cNvPr id="34" name="Picture 33">
            <a:extLst>
              <a:ext uri="{FF2B5EF4-FFF2-40B4-BE49-F238E27FC236}">
                <a16:creationId xmlns:a16="http://schemas.microsoft.com/office/drawing/2014/main" id="{C2153DC0-5C6F-2E43-A383-9B2C1F075197}"/>
              </a:ext>
            </a:extLst>
          </p:cNvPr>
          <p:cNvPicPr>
            <a:picLocks noChangeAspect="1"/>
          </p:cNvPicPr>
          <p:nvPr/>
        </p:nvPicPr>
        <p:blipFill>
          <a:blip r:embed="rId4"/>
          <a:stretch>
            <a:fillRect/>
          </a:stretch>
        </p:blipFill>
        <p:spPr>
          <a:xfrm>
            <a:off x="9824621" y="1728445"/>
            <a:ext cx="918520" cy="1414873"/>
          </a:xfrm>
          <a:prstGeom prst="rect">
            <a:avLst/>
          </a:prstGeom>
        </p:spPr>
      </p:pic>
      <p:pic>
        <p:nvPicPr>
          <p:cNvPr id="35" name="Picture 34">
            <a:extLst>
              <a:ext uri="{FF2B5EF4-FFF2-40B4-BE49-F238E27FC236}">
                <a16:creationId xmlns:a16="http://schemas.microsoft.com/office/drawing/2014/main" id="{EDF6DBC0-770B-D641-BF41-CAF2398FDC5E}"/>
              </a:ext>
            </a:extLst>
          </p:cNvPr>
          <p:cNvPicPr>
            <a:picLocks noChangeAspect="1"/>
          </p:cNvPicPr>
          <p:nvPr/>
        </p:nvPicPr>
        <p:blipFill>
          <a:blip r:embed="rId5"/>
          <a:stretch>
            <a:fillRect/>
          </a:stretch>
        </p:blipFill>
        <p:spPr>
          <a:xfrm>
            <a:off x="8037475" y="4582372"/>
            <a:ext cx="1082025" cy="1602672"/>
          </a:xfrm>
          <a:prstGeom prst="rect">
            <a:avLst/>
          </a:prstGeom>
        </p:spPr>
      </p:pic>
    </p:spTree>
    <p:extLst>
      <p:ext uri="{BB962C8B-B14F-4D97-AF65-F5344CB8AC3E}">
        <p14:creationId xmlns:p14="http://schemas.microsoft.com/office/powerpoint/2010/main" val="2207224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reeform 62">
            <a:extLst>
              <a:ext uri="{FF2B5EF4-FFF2-40B4-BE49-F238E27FC236}">
                <a16:creationId xmlns:a16="http://schemas.microsoft.com/office/drawing/2014/main" id="{981B68D9-CD67-204B-818E-2EB54C8D2F63}"/>
              </a:ext>
            </a:extLst>
          </p:cNvPr>
          <p:cNvSpPr/>
          <p:nvPr/>
        </p:nvSpPr>
        <p:spPr>
          <a:xfrm flipV="1">
            <a:off x="6188982" y="3940583"/>
            <a:ext cx="3240000" cy="2247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61">
            <a:extLst>
              <a:ext uri="{FF2B5EF4-FFF2-40B4-BE49-F238E27FC236}">
                <a16:creationId xmlns:a16="http://schemas.microsoft.com/office/drawing/2014/main" id="{555950BA-B37C-5941-9B84-9624BAD09BC7}"/>
              </a:ext>
            </a:extLst>
          </p:cNvPr>
          <p:cNvSpPr/>
          <p:nvPr/>
        </p:nvSpPr>
        <p:spPr>
          <a:xfrm flipV="1">
            <a:off x="1585632" y="3892359"/>
            <a:ext cx="2880000" cy="2247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67BAE49C-5955-BC47-B608-3876F44C628B}"/>
              </a:ext>
            </a:extLst>
          </p:cNvPr>
          <p:cNvSpPr>
            <a:spLocks noGrp="1"/>
          </p:cNvSpPr>
          <p:nvPr>
            <p:ph type="sldNum" sz="quarter" idx="12"/>
          </p:nvPr>
        </p:nvSpPr>
        <p:spPr/>
        <p:txBody>
          <a:bodyPr/>
          <a:lstStyle/>
          <a:p>
            <a:fld id="{591A223C-FA10-BC46-A853-03BA373D023C}" type="slidenum">
              <a:rPr lang="en-US" smtClean="0"/>
              <a:t>30</a:t>
            </a:fld>
            <a:endParaRPr lang="en-US"/>
          </a:p>
        </p:txBody>
      </p:sp>
      <p:sp>
        <p:nvSpPr>
          <p:cNvPr id="2" name="Title 1">
            <a:extLst>
              <a:ext uri="{FF2B5EF4-FFF2-40B4-BE49-F238E27FC236}">
                <a16:creationId xmlns:a16="http://schemas.microsoft.com/office/drawing/2014/main" id="{1147DB76-402B-EB45-BB4E-376306F1CC6A}"/>
              </a:ext>
            </a:extLst>
          </p:cNvPr>
          <p:cNvSpPr>
            <a:spLocks noGrp="1"/>
          </p:cNvSpPr>
          <p:nvPr>
            <p:ph type="title"/>
          </p:nvPr>
        </p:nvSpPr>
        <p:spPr>
          <a:xfrm>
            <a:off x="0" y="0"/>
            <a:ext cx="12192000" cy="928688"/>
          </a:xfrm>
        </p:spPr>
        <p:txBody>
          <a:bodyPr>
            <a:normAutofit/>
          </a:bodyPr>
          <a:lstStyle/>
          <a:p>
            <a:r>
              <a:rPr lang="en-ZA" dirty="0"/>
              <a:t>Secure Hadamard Operation</a:t>
            </a:r>
            <a:endParaRPr lang="en-US" dirty="0"/>
          </a:p>
        </p:txBody>
      </p:sp>
      <p:sp>
        <p:nvSpPr>
          <p:cNvPr id="101" name="Freeform 100">
            <a:extLst>
              <a:ext uri="{FF2B5EF4-FFF2-40B4-BE49-F238E27FC236}">
                <a16:creationId xmlns:a16="http://schemas.microsoft.com/office/drawing/2014/main" id="{B653BA8C-19FD-184C-BE78-1CDB360ADDC8}"/>
              </a:ext>
            </a:extLst>
          </p:cNvPr>
          <p:cNvSpPr/>
          <p:nvPr/>
        </p:nvSpPr>
        <p:spPr>
          <a:xfrm>
            <a:off x="8331014" y="2499480"/>
            <a:ext cx="16221" cy="1149163"/>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a:extLst>
              <a:ext uri="{FF2B5EF4-FFF2-40B4-BE49-F238E27FC236}">
                <a16:creationId xmlns:a16="http://schemas.microsoft.com/office/drawing/2014/main" id="{E271D5FD-92A0-C34D-9B93-F06DBF3238BF}"/>
              </a:ext>
            </a:extLst>
          </p:cNvPr>
          <p:cNvSpPr/>
          <p:nvPr/>
        </p:nvSpPr>
        <p:spPr>
          <a:xfrm flipV="1">
            <a:off x="1528800" y="2825323"/>
            <a:ext cx="7920000" cy="21600"/>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a:extLst>
              <a:ext uri="{FF2B5EF4-FFF2-40B4-BE49-F238E27FC236}">
                <a16:creationId xmlns:a16="http://schemas.microsoft.com/office/drawing/2014/main" id="{176E6569-6797-384E-A65F-6A8C041C962E}"/>
              </a:ext>
            </a:extLst>
          </p:cNvPr>
          <p:cNvSpPr/>
          <p:nvPr/>
        </p:nvSpPr>
        <p:spPr>
          <a:xfrm>
            <a:off x="6709173" y="2645614"/>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a:extLst>
              <a:ext uri="{FF2B5EF4-FFF2-40B4-BE49-F238E27FC236}">
                <a16:creationId xmlns:a16="http://schemas.microsoft.com/office/drawing/2014/main" id="{16E786C9-6B24-C343-B93B-A06AFE2EC6BD}"/>
              </a:ext>
            </a:extLst>
          </p:cNvPr>
          <p:cNvSpPr/>
          <p:nvPr/>
        </p:nvSpPr>
        <p:spPr>
          <a:xfrm flipH="1">
            <a:off x="3696949" y="3003898"/>
            <a:ext cx="11091" cy="515948"/>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0 w 4139"/>
              <a:gd name="connsiteY0" fmla="*/ 0 h 10000"/>
              <a:gd name="connsiteX1" fmla="*/ 1792 w 4139"/>
              <a:gd name="connsiteY1" fmla="*/ 5377 h 10000"/>
              <a:gd name="connsiteX2" fmla="*/ 4006 w 4139"/>
              <a:gd name="connsiteY2" fmla="*/ 10000 h 10000"/>
              <a:gd name="connsiteX0" fmla="*/ 999 w 5329"/>
              <a:gd name="connsiteY0" fmla="*/ 0 h 10000"/>
              <a:gd name="connsiteX1" fmla="*/ 5329 w 5329"/>
              <a:gd name="connsiteY1" fmla="*/ 5377 h 10000"/>
              <a:gd name="connsiteX2" fmla="*/ 0 w 5329"/>
              <a:gd name="connsiteY2" fmla="*/ 10000 h 10000"/>
            </a:gdLst>
            <a:ahLst/>
            <a:cxnLst>
              <a:cxn ang="0">
                <a:pos x="connsiteX0" y="connsiteY0"/>
              </a:cxn>
              <a:cxn ang="0">
                <a:pos x="connsiteX1" y="connsiteY1"/>
              </a:cxn>
              <a:cxn ang="0">
                <a:pos x="connsiteX2" y="connsiteY2"/>
              </a:cxn>
            </a:cxnLst>
            <a:rect l="l" t="t" r="r" b="b"/>
            <a:pathLst>
              <a:path w="5329" h="10000">
                <a:moveTo>
                  <a:pt x="999" y="0"/>
                </a:moveTo>
                <a:cubicBezTo>
                  <a:pt x="9049" y="1751"/>
                  <a:pt x="-2722" y="3626"/>
                  <a:pt x="5329" y="5377"/>
                </a:cubicBezTo>
                <a:cubicBezTo>
                  <a:pt x="3140" y="6786"/>
                  <a:pt x="2189" y="8592"/>
                  <a:pt x="0" y="1000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A5F8A4C0-A34E-5140-A757-0EA613E2DD82}"/>
              </a:ext>
            </a:extLst>
          </p:cNvPr>
          <p:cNvSpPr/>
          <p:nvPr/>
        </p:nvSpPr>
        <p:spPr>
          <a:xfrm>
            <a:off x="1528800" y="2411237"/>
            <a:ext cx="7920000" cy="4571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76">
            <a:extLst>
              <a:ext uri="{FF2B5EF4-FFF2-40B4-BE49-F238E27FC236}">
                <a16:creationId xmlns:a16="http://schemas.microsoft.com/office/drawing/2014/main" id="{E1A34E41-5190-3247-B2E2-4907CA439863}"/>
              </a:ext>
            </a:extLst>
          </p:cNvPr>
          <p:cNvSpPr/>
          <p:nvPr/>
        </p:nvSpPr>
        <p:spPr>
          <a:xfrm>
            <a:off x="3256565" y="3445890"/>
            <a:ext cx="900000" cy="900000"/>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Comic Sans MS" panose="030F0902030302020204" pitchFamily="66" charset="0"/>
                <a:cs typeface="Times New Roman" panose="02020603050405020304" pitchFamily="18" charset="0"/>
              </a:rPr>
              <a:t>Z</a:t>
            </a:r>
          </a:p>
        </p:txBody>
      </p:sp>
      <p:sp>
        <p:nvSpPr>
          <p:cNvPr id="79" name="Freeform 78">
            <a:extLst>
              <a:ext uri="{FF2B5EF4-FFF2-40B4-BE49-F238E27FC236}">
                <a16:creationId xmlns:a16="http://schemas.microsoft.com/office/drawing/2014/main" id="{8110A1F7-6001-4D4D-964F-78E22BE73D2E}"/>
              </a:ext>
            </a:extLst>
          </p:cNvPr>
          <p:cNvSpPr/>
          <p:nvPr/>
        </p:nvSpPr>
        <p:spPr>
          <a:xfrm>
            <a:off x="2463970" y="2533174"/>
            <a:ext cx="16221" cy="1149163"/>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37E4D757-8592-1A48-920F-E378F94FC788}"/>
              </a:ext>
            </a:extLst>
          </p:cNvPr>
          <p:cNvGrpSpPr/>
          <p:nvPr/>
        </p:nvGrpSpPr>
        <p:grpSpPr>
          <a:xfrm>
            <a:off x="2068248" y="3499890"/>
            <a:ext cx="792000" cy="792000"/>
            <a:chOff x="5048699" y="2595149"/>
            <a:chExt cx="1074440" cy="1081105"/>
          </a:xfrm>
        </p:grpSpPr>
        <p:sp>
          <p:nvSpPr>
            <p:cNvPr id="82" name="Freeform 81">
              <a:extLst>
                <a:ext uri="{FF2B5EF4-FFF2-40B4-BE49-F238E27FC236}">
                  <a16:creationId xmlns:a16="http://schemas.microsoft.com/office/drawing/2014/main" id="{1DC5CC61-5617-D54D-AB37-A62E35EEEBD9}"/>
                </a:ext>
              </a:extLst>
            </p:cNvPr>
            <p:cNvSpPr/>
            <p:nvPr/>
          </p:nvSpPr>
          <p:spPr>
            <a:xfrm>
              <a:off x="5048699" y="2595149"/>
              <a:ext cx="1074440" cy="1081105"/>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42FE4DB8-E270-5D42-9947-C0CD7D2FE9B2}"/>
                </a:ext>
              </a:extLst>
            </p:cNvPr>
            <p:cNvCxnSpPr>
              <a:cxnSpLocks/>
            </p:cNvCxnSpPr>
            <p:nvPr/>
          </p:nvCxnSpPr>
          <p:spPr>
            <a:xfrm>
              <a:off x="5585919" y="279820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0D6F5D0-3EE7-684F-98CC-7D1EE7A16394}"/>
                </a:ext>
              </a:extLst>
            </p:cNvPr>
            <p:cNvCxnSpPr>
              <a:cxnSpLocks/>
            </p:cNvCxnSpPr>
            <p:nvPr/>
          </p:nvCxnSpPr>
          <p:spPr>
            <a:xfrm rot="5400000">
              <a:off x="5585918" y="279214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81" name="Freeform 80">
            <a:extLst>
              <a:ext uri="{FF2B5EF4-FFF2-40B4-BE49-F238E27FC236}">
                <a16:creationId xmlns:a16="http://schemas.microsoft.com/office/drawing/2014/main" id="{C3932C21-9C45-8A44-B10F-DFE2EE8F63D4}"/>
              </a:ext>
            </a:extLst>
          </p:cNvPr>
          <p:cNvSpPr/>
          <p:nvPr/>
        </p:nvSpPr>
        <p:spPr>
          <a:xfrm>
            <a:off x="2284247" y="2214804"/>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7" name="Group 86">
            <a:extLst>
              <a:ext uri="{FF2B5EF4-FFF2-40B4-BE49-F238E27FC236}">
                <a16:creationId xmlns:a16="http://schemas.microsoft.com/office/drawing/2014/main" id="{91A8C67D-94EE-4046-8F52-ABECB18164FC}"/>
              </a:ext>
            </a:extLst>
          </p:cNvPr>
          <p:cNvGrpSpPr/>
          <p:nvPr/>
        </p:nvGrpSpPr>
        <p:grpSpPr>
          <a:xfrm>
            <a:off x="6477230" y="3499890"/>
            <a:ext cx="792000" cy="792000"/>
            <a:chOff x="5048699" y="2595149"/>
            <a:chExt cx="1074440" cy="1081105"/>
          </a:xfrm>
        </p:grpSpPr>
        <p:sp>
          <p:nvSpPr>
            <p:cNvPr id="88" name="Freeform 87">
              <a:extLst>
                <a:ext uri="{FF2B5EF4-FFF2-40B4-BE49-F238E27FC236}">
                  <a16:creationId xmlns:a16="http://schemas.microsoft.com/office/drawing/2014/main" id="{EC57B08A-5AA4-5345-B375-CF7F39FFABEA}"/>
                </a:ext>
              </a:extLst>
            </p:cNvPr>
            <p:cNvSpPr/>
            <p:nvPr/>
          </p:nvSpPr>
          <p:spPr>
            <a:xfrm>
              <a:off x="5048699" y="2595149"/>
              <a:ext cx="1074440" cy="1081105"/>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a:extLst>
                <a:ext uri="{FF2B5EF4-FFF2-40B4-BE49-F238E27FC236}">
                  <a16:creationId xmlns:a16="http://schemas.microsoft.com/office/drawing/2014/main" id="{F0E285A0-8D4F-354C-B29D-4A131AA0A4A8}"/>
                </a:ext>
              </a:extLst>
            </p:cNvPr>
            <p:cNvCxnSpPr>
              <a:cxnSpLocks/>
            </p:cNvCxnSpPr>
            <p:nvPr/>
          </p:nvCxnSpPr>
          <p:spPr>
            <a:xfrm>
              <a:off x="5585919" y="279820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EF094C0-06E4-784B-9875-8913CA8A4458}"/>
                </a:ext>
              </a:extLst>
            </p:cNvPr>
            <p:cNvCxnSpPr>
              <a:cxnSpLocks/>
            </p:cNvCxnSpPr>
            <p:nvPr/>
          </p:nvCxnSpPr>
          <p:spPr>
            <a:xfrm rot="5400000">
              <a:off x="5585918" y="2792141"/>
              <a:ext cx="0" cy="687121"/>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93" name="Freeform 92">
            <a:extLst>
              <a:ext uri="{FF2B5EF4-FFF2-40B4-BE49-F238E27FC236}">
                <a16:creationId xmlns:a16="http://schemas.microsoft.com/office/drawing/2014/main" id="{9497086F-1082-7F45-AE42-3A72E5AC2F80}"/>
              </a:ext>
            </a:extLst>
          </p:cNvPr>
          <p:cNvSpPr/>
          <p:nvPr/>
        </p:nvSpPr>
        <p:spPr>
          <a:xfrm>
            <a:off x="3526565" y="2656555"/>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66654EA0-587C-4246-A04D-F42F1073CCE2}"/>
              </a:ext>
            </a:extLst>
          </p:cNvPr>
          <p:cNvSpPr txBox="1"/>
          <p:nvPr/>
        </p:nvSpPr>
        <p:spPr>
          <a:xfrm>
            <a:off x="1095612" y="2071509"/>
            <a:ext cx="308098" cy="461665"/>
          </a:xfrm>
          <a:prstGeom prst="rect">
            <a:avLst/>
          </a:prstGeom>
          <a:noFill/>
        </p:spPr>
        <p:txBody>
          <a:bodyPr wrap="none" rtlCol="0">
            <a:spAutoFit/>
          </a:bodyPr>
          <a:lstStyle/>
          <a:p>
            <a:r>
              <a:rPr lang="en-US" sz="2400" i="1" dirty="0">
                <a:latin typeface="Comic Sans MS" panose="030F0902030302020204" pitchFamily="66" charset="0"/>
              </a:rPr>
              <a:t>j</a:t>
            </a:r>
          </a:p>
        </p:txBody>
      </p:sp>
      <p:sp>
        <p:nvSpPr>
          <p:cNvPr id="95" name="TextBox 94">
            <a:extLst>
              <a:ext uri="{FF2B5EF4-FFF2-40B4-BE49-F238E27FC236}">
                <a16:creationId xmlns:a16="http://schemas.microsoft.com/office/drawing/2014/main" id="{9B7CF402-E3B3-F746-80E3-8C751CB5B5C9}"/>
              </a:ext>
            </a:extLst>
          </p:cNvPr>
          <p:cNvSpPr txBox="1"/>
          <p:nvPr/>
        </p:nvSpPr>
        <p:spPr>
          <a:xfrm>
            <a:off x="1095612" y="2533174"/>
            <a:ext cx="351378" cy="461665"/>
          </a:xfrm>
          <a:prstGeom prst="rect">
            <a:avLst/>
          </a:prstGeom>
          <a:noFill/>
        </p:spPr>
        <p:txBody>
          <a:bodyPr wrap="none" rtlCol="0">
            <a:spAutoFit/>
          </a:bodyPr>
          <a:lstStyle/>
          <a:p>
            <a:r>
              <a:rPr lang="en-US" sz="2400" i="1" dirty="0">
                <a:latin typeface="Comic Sans MS" panose="030F0902030302020204" pitchFamily="66" charset="0"/>
              </a:rPr>
              <a:t>k</a:t>
            </a:r>
          </a:p>
        </p:txBody>
      </p:sp>
      <p:sp>
        <p:nvSpPr>
          <p:cNvPr id="96" name="TextBox 95">
            <a:extLst>
              <a:ext uri="{FF2B5EF4-FFF2-40B4-BE49-F238E27FC236}">
                <a16:creationId xmlns:a16="http://schemas.microsoft.com/office/drawing/2014/main" id="{93FD9B5D-5483-174B-81F0-341655404A08}"/>
              </a:ext>
            </a:extLst>
          </p:cNvPr>
          <p:cNvSpPr txBox="1"/>
          <p:nvPr/>
        </p:nvSpPr>
        <p:spPr>
          <a:xfrm>
            <a:off x="890484" y="3665057"/>
            <a:ext cx="638316" cy="461665"/>
          </a:xfrm>
          <a:prstGeom prst="rect">
            <a:avLst/>
          </a:prstGeom>
          <a:noFill/>
        </p:spPr>
        <p:txBody>
          <a:bodyPr wrap="none" rtlCol="0">
            <a:spAutoFit/>
          </a:bodyPr>
          <a:lstStyle/>
          <a:p>
            <a:r>
              <a:rPr lang="en-US" sz="2400" dirty="0">
                <a:latin typeface="Comic Sans MS" panose="030F0902030302020204" pitchFamily="66" charset="0"/>
              </a:rPr>
              <a:t>|S⟩</a:t>
            </a:r>
          </a:p>
        </p:txBody>
      </p:sp>
      <p:sp>
        <p:nvSpPr>
          <p:cNvPr id="98" name="Freeform 97">
            <a:extLst>
              <a:ext uri="{FF2B5EF4-FFF2-40B4-BE49-F238E27FC236}">
                <a16:creationId xmlns:a16="http://schemas.microsoft.com/office/drawing/2014/main" id="{4DD5191B-6232-5944-8BAB-2001CB8BF025}"/>
              </a:ext>
            </a:extLst>
          </p:cNvPr>
          <p:cNvSpPr/>
          <p:nvPr/>
        </p:nvSpPr>
        <p:spPr>
          <a:xfrm flipH="1">
            <a:off x="6870249" y="2985828"/>
            <a:ext cx="11091" cy="515948"/>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0 w 4139"/>
              <a:gd name="connsiteY0" fmla="*/ 0 h 10000"/>
              <a:gd name="connsiteX1" fmla="*/ 1792 w 4139"/>
              <a:gd name="connsiteY1" fmla="*/ 5377 h 10000"/>
              <a:gd name="connsiteX2" fmla="*/ 4006 w 4139"/>
              <a:gd name="connsiteY2" fmla="*/ 10000 h 10000"/>
              <a:gd name="connsiteX0" fmla="*/ 999 w 5329"/>
              <a:gd name="connsiteY0" fmla="*/ 0 h 10000"/>
              <a:gd name="connsiteX1" fmla="*/ 5329 w 5329"/>
              <a:gd name="connsiteY1" fmla="*/ 5377 h 10000"/>
              <a:gd name="connsiteX2" fmla="*/ 0 w 5329"/>
              <a:gd name="connsiteY2" fmla="*/ 10000 h 10000"/>
            </a:gdLst>
            <a:ahLst/>
            <a:cxnLst>
              <a:cxn ang="0">
                <a:pos x="connsiteX0" y="connsiteY0"/>
              </a:cxn>
              <a:cxn ang="0">
                <a:pos x="connsiteX1" y="connsiteY1"/>
              </a:cxn>
              <a:cxn ang="0">
                <a:pos x="connsiteX2" y="connsiteY2"/>
              </a:cxn>
            </a:cxnLst>
            <a:rect l="l" t="t" r="r" b="b"/>
            <a:pathLst>
              <a:path w="5329" h="10000">
                <a:moveTo>
                  <a:pt x="999" y="0"/>
                </a:moveTo>
                <a:cubicBezTo>
                  <a:pt x="9049" y="1751"/>
                  <a:pt x="-2722" y="3626"/>
                  <a:pt x="5329" y="5377"/>
                </a:cubicBezTo>
                <a:cubicBezTo>
                  <a:pt x="3140" y="6786"/>
                  <a:pt x="2189" y="8592"/>
                  <a:pt x="0" y="1000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a:extLst>
              <a:ext uri="{FF2B5EF4-FFF2-40B4-BE49-F238E27FC236}">
                <a16:creationId xmlns:a16="http://schemas.microsoft.com/office/drawing/2014/main" id="{9ECC72E4-90D8-D44C-8C0D-07FDA2F1FD0E}"/>
              </a:ext>
            </a:extLst>
          </p:cNvPr>
          <p:cNvSpPr/>
          <p:nvPr/>
        </p:nvSpPr>
        <p:spPr>
          <a:xfrm>
            <a:off x="7885838" y="3434604"/>
            <a:ext cx="900000" cy="900000"/>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Comic Sans MS" panose="030F0902030302020204" pitchFamily="66" charset="0"/>
                <a:cs typeface="Times New Roman" panose="02020603050405020304" pitchFamily="18" charset="0"/>
              </a:rPr>
              <a:t>Z</a:t>
            </a:r>
          </a:p>
        </p:txBody>
      </p:sp>
      <p:sp>
        <p:nvSpPr>
          <p:cNvPr id="100" name="Freeform 99">
            <a:extLst>
              <a:ext uri="{FF2B5EF4-FFF2-40B4-BE49-F238E27FC236}">
                <a16:creationId xmlns:a16="http://schemas.microsoft.com/office/drawing/2014/main" id="{7D6EF2D0-93BD-6641-901B-2AC1D74F0FEC}"/>
              </a:ext>
            </a:extLst>
          </p:cNvPr>
          <p:cNvSpPr/>
          <p:nvPr/>
        </p:nvSpPr>
        <p:spPr>
          <a:xfrm>
            <a:off x="8155838" y="2219998"/>
            <a:ext cx="360000" cy="360000"/>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Cloud 52">
            <a:extLst>
              <a:ext uri="{FF2B5EF4-FFF2-40B4-BE49-F238E27FC236}">
                <a16:creationId xmlns:a16="http://schemas.microsoft.com/office/drawing/2014/main" id="{A9824DBC-F1DB-1348-A9F4-901A42AC2D3A}"/>
              </a:ext>
            </a:extLst>
          </p:cNvPr>
          <p:cNvSpPr/>
          <p:nvPr/>
        </p:nvSpPr>
        <p:spPr>
          <a:xfrm>
            <a:off x="3974261" y="4721934"/>
            <a:ext cx="2590665" cy="1609992"/>
          </a:xfrm>
          <a:prstGeom prst="cloud">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a:extLst>
              <a:ext uri="{FF2B5EF4-FFF2-40B4-BE49-F238E27FC236}">
                <a16:creationId xmlns:a16="http://schemas.microsoft.com/office/drawing/2014/main" id="{84A6E849-4133-B641-AEC6-15637EE00006}"/>
              </a:ext>
            </a:extLst>
          </p:cNvPr>
          <p:cNvSpPr/>
          <p:nvPr/>
        </p:nvSpPr>
        <p:spPr>
          <a:xfrm>
            <a:off x="4491437" y="3906246"/>
            <a:ext cx="20249" cy="1631377"/>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314 w 4428"/>
              <a:gd name="connsiteY0" fmla="*/ 0 h 10000"/>
              <a:gd name="connsiteX1" fmla="*/ 1055 w 4428"/>
              <a:gd name="connsiteY1" fmla="*/ 5306 h 10000"/>
              <a:gd name="connsiteX2" fmla="*/ 4320 w 4428"/>
              <a:gd name="connsiteY2" fmla="*/ 10000 h 10000"/>
              <a:gd name="connsiteX0" fmla="*/ 0 w 18402"/>
              <a:gd name="connsiteY0" fmla="*/ 0 h 10000"/>
              <a:gd name="connsiteX1" fmla="*/ 18402 w 18402"/>
              <a:gd name="connsiteY1" fmla="*/ 5410 h 10000"/>
              <a:gd name="connsiteX2" fmla="*/ 9047 w 18402"/>
              <a:gd name="connsiteY2" fmla="*/ 10000 h 10000"/>
              <a:gd name="connsiteX0" fmla="*/ 710 w 10002"/>
              <a:gd name="connsiteY0" fmla="*/ 0 h 10000"/>
              <a:gd name="connsiteX1" fmla="*/ 2384 w 10002"/>
              <a:gd name="connsiteY1" fmla="*/ 5462 h 10000"/>
              <a:gd name="connsiteX2" fmla="*/ 9757 w 10002"/>
              <a:gd name="connsiteY2" fmla="*/ 10000 h 10000"/>
            </a:gdLst>
            <a:ahLst/>
            <a:cxnLst>
              <a:cxn ang="0">
                <a:pos x="connsiteX0" y="connsiteY0"/>
              </a:cxn>
              <a:cxn ang="0">
                <a:pos x="connsiteX1" y="connsiteY1"/>
              </a:cxn>
              <a:cxn ang="0">
                <a:pos x="connsiteX2" y="connsiteY2"/>
              </a:cxn>
            </a:cxnLst>
            <a:rect l="l" t="t" r="r" b="b"/>
            <a:pathLst>
              <a:path w="10002" h="10000">
                <a:moveTo>
                  <a:pt x="710" y="0"/>
                </a:moveTo>
                <a:cubicBezTo>
                  <a:pt x="8235" y="1751"/>
                  <a:pt x="-5141" y="3711"/>
                  <a:pt x="2384" y="5462"/>
                </a:cubicBezTo>
                <a:cubicBezTo>
                  <a:pt x="337" y="6871"/>
                  <a:pt x="11803" y="8592"/>
                  <a:pt x="9757" y="1000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55">
            <a:extLst>
              <a:ext uri="{FF2B5EF4-FFF2-40B4-BE49-F238E27FC236}">
                <a16:creationId xmlns:a16="http://schemas.microsoft.com/office/drawing/2014/main" id="{DD72C08B-4DBC-E54A-94A3-3CCD0AA8785A}"/>
              </a:ext>
            </a:extLst>
          </p:cNvPr>
          <p:cNvSpPr/>
          <p:nvPr/>
        </p:nvSpPr>
        <p:spPr>
          <a:xfrm>
            <a:off x="6217585" y="3931633"/>
            <a:ext cx="20249" cy="1631377"/>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314 w 4428"/>
              <a:gd name="connsiteY0" fmla="*/ 0 h 10000"/>
              <a:gd name="connsiteX1" fmla="*/ 1055 w 4428"/>
              <a:gd name="connsiteY1" fmla="*/ 5306 h 10000"/>
              <a:gd name="connsiteX2" fmla="*/ 4320 w 4428"/>
              <a:gd name="connsiteY2" fmla="*/ 10000 h 10000"/>
              <a:gd name="connsiteX0" fmla="*/ 0 w 18402"/>
              <a:gd name="connsiteY0" fmla="*/ 0 h 10000"/>
              <a:gd name="connsiteX1" fmla="*/ 18402 w 18402"/>
              <a:gd name="connsiteY1" fmla="*/ 5410 h 10000"/>
              <a:gd name="connsiteX2" fmla="*/ 9047 w 18402"/>
              <a:gd name="connsiteY2" fmla="*/ 10000 h 10000"/>
              <a:gd name="connsiteX0" fmla="*/ 710 w 10002"/>
              <a:gd name="connsiteY0" fmla="*/ 0 h 10000"/>
              <a:gd name="connsiteX1" fmla="*/ 2384 w 10002"/>
              <a:gd name="connsiteY1" fmla="*/ 5462 h 10000"/>
              <a:gd name="connsiteX2" fmla="*/ 9757 w 10002"/>
              <a:gd name="connsiteY2" fmla="*/ 10000 h 10000"/>
            </a:gdLst>
            <a:ahLst/>
            <a:cxnLst>
              <a:cxn ang="0">
                <a:pos x="connsiteX0" y="connsiteY0"/>
              </a:cxn>
              <a:cxn ang="0">
                <a:pos x="connsiteX1" y="connsiteY1"/>
              </a:cxn>
              <a:cxn ang="0">
                <a:pos x="connsiteX2" y="connsiteY2"/>
              </a:cxn>
            </a:cxnLst>
            <a:rect l="l" t="t" r="r" b="b"/>
            <a:pathLst>
              <a:path w="10002" h="10000">
                <a:moveTo>
                  <a:pt x="710" y="0"/>
                </a:moveTo>
                <a:cubicBezTo>
                  <a:pt x="8235" y="1751"/>
                  <a:pt x="-5141" y="3711"/>
                  <a:pt x="2384" y="5462"/>
                </a:cubicBezTo>
                <a:cubicBezTo>
                  <a:pt x="337" y="6871"/>
                  <a:pt x="11803" y="8592"/>
                  <a:pt x="9757" y="1000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88212FF4-B02F-2A4A-9A97-B02CA7A1180F}"/>
              </a:ext>
            </a:extLst>
          </p:cNvPr>
          <p:cNvSpPr/>
          <p:nvPr/>
        </p:nvSpPr>
        <p:spPr>
          <a:xfrm rot="5400000">
            <a:off x="5377890" y="4667636"/>
            <a:ext cx="9463" cy="1756415"/>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 name="connsiteX0" fmla="*/ 314 w 4428"/>
              <a:gd name="connsiteY0" fmla="*/ 0 h 10000"/>
              <a:gd name="connsiteX1" fmla="*/ 1055 w 4428"/>
              <a:gd name="connsiteY1" fmla="*/ 5306 h 10000"/>
              <a:gd name="connsiteX2" fmla="*/ 4320 w 4428"/>
              <a:gd name="connsiteY2" fmla="*/ 10000 h 10000"/>
              <a:gd name="connsiteX0" fmla="*/ 0 w 18402"/>
              <a:gd name="connsiteY0" fmla="*/ 0 h 10000"/>
              <a:gd name="connsiteX1" fmla="*/ 18402 w 18402"/>
              <a:gd name="connsiteY1" fmla="*/ 5410 h 10000"/>
              <a:gd name="connsiteX2" fmla="*/ 9047 w 18402"/>
              <a:gd name="connsiteY2" fmla="*/ 10000 h 10000"/>
              <a:gd name="connsiteX0" fmla="*/ 710 w 10002"/>
              <a:gd name="connsiteY0" fmla="*/ 0 h 10000"/>
              <a:gd name="connsiteX1" fmla="*/ 2384 w 10002"/>
              <a:gd name="connsiteY1" fmla="*/ 5462 h 10000"/>
              <a:gd name="connsiteX2" fmla="*/ 9757 w 10002"/>
              <a:gd name="connsiteY2" fmla="*/ 10000 h 10000"/>
              <a:gd name="connsiteX0" fmla="*/ 2290 w 4674"/>
              <a:gd name="connsiteY0" fmla="*/ 0 h 9957"/>
              <a:gd name="connsiteX1" fmla="*/ 3964 w 4674"/>
              <a:gd name="connsiteY1" fmla="*/ 5462 h 9957"/>
              <a:gd name="connsiteX2" fmla="*/ 0 w 4674"/>
              <a:gd name="connsiteY2" fmla="*/ 9957 h 9957"/>
            </a:gdLst>
            <a:ahLst/>
            <a:cxnLst>
              <a:cxn ang="0">
                <a:pos x="connsiteX0" y="connsiteY0"/>
              </a:cxn>
              <a:cxn ang="0">
                <a:pos x="connsiteX1" y="connsiteY1"/>
              </a:cxn>
              <a:cxn ang="0">
                <a:pos x="connsiteX2" y="connsiteY2"/>
              </a:cxn>
            </a:cxnLst>
            <a:rect l="l" t="t" r="r" b="b"/>
            <a:pathLst>
              <a:path w="4674" h="9957">
                <a:moveTo>
                  <a:pt x="2290" y="0"/>
                </a:moveTo>
                <a:cubicBezTo>
                  <a:pt x="9815" y="1751"/>
                  <a:pt x="-3561" y="3711"/>
                  <a:pt x="3964" y="5462"/>
                </a:cubicBezTo>
                <a:cubicBezTo>
                  <a:pt x="1917" y="6871"/>
                  <a:pt x="2046" y="8549"/>
                  <a:pt x="0" y="9957"/>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a:extLst>
              <a:ext uri="{FF2B5EF4-FFF2-40B4-BE49-F238E27FC236}">
                <a16:creationId xmlns:a16="http://schemas.microsoft.com/office/drawing/2014/main" id="{111F42D9-BA74-6845-B720-F88520DA589A}"/>
              </a:ext>
            </a:extLst>
          </p:cNvPr>
          <p:cNvSpPr/>
          <p:nvPr/>
        </p:nvSpPr>
        <p:spPr>
          <a:xfrm>
            <a:off x="4911000" y="5076930"/>
            <a:ext cx="900000" cy="900000"/>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Comic Sans MS" panose="030F0902030302020204" pitchFamily="66" charset="0"/>
                <a:cs typeface="Times New Roman" panose="02020603050405020304" pitchFamily="18" charset="0"/>
              </a:rPr>
              <a:t>H</a:t>
            </a:r>
          </a:p>
        </p:txBody>
      </p:sp>
      <p:sp>
        <p:nvSpPr>
          <p:cNvPr id="103" name="TextBox 102">
            <a:extLst>
              <a:ext uri="{FF2B5EF4-FFF2-40B4-BE49-F238E27FC236}">
                <a16:creationId xmlns:a16="http://schemas.microsoft.com/office/drawing/2014/main" id="{654E5008-F495-6E48-BB24-6E688156FDD5}"/>
              </a:ext>
            </a:extLst>
          </p:cNvPr>
          <p:cNvSpPr txBox="1"/>
          <p:nvPr/>
        </p:nvSpPr>
        <p:spPr>
          <a:xfrm>
            <a:off x="9813882" y="2804874"/>
            <a:ext cx="2169184" cy="461665"/>
          </a:xfrm>
          <a:prstGeom prst="rect">
            <a:avLst/>
          </a:prstGeom>
          <a:noFill/>
        </p:spPr>
        <p:txBody>
          <a:bodyPr wrap="none" rtlCol="0">
            <a:spAutoFit/>
          </a:bodyPr>
          <a:lstStyle/>
          <a:p>
            <a:r>
              <a:rPr lang="en-US" sz="2400" dirty="0">
                <a:latin typeface="Comic Sans MS" panose="030F0902030302020204" pitchFamily="66" charset="0"/>
              </a:rPr>
              <a:t>XHZ=ZHX =H</a:t>
            </a:r>
          </a:p>
        </p:txBody>
      </p:sp>
      <p:sp>
        <p:nvSpPr>
          <p:cNvPr id="104" name="TextBox 103">
            <a:extLst>
              <a:ext uri="{FF2B5EF4-FFF2-40B4-BE49-F238E27FC236}">
                <a16:creationId xmlns:a16="http://schemas.microsoft.com/office/drawing/2014/main" id="{AA184B00-FD84-AE46-B4BF-7BF8D0972E3A}"/>
              </a:ext>
            </a:extLst>
          </p:cNvPr>
          <p:cNvSpPr txBox="1"/>
          <p:nvPr/>
        </p:nvSpPr>
        <p:spPr>
          <a:xfrm>
            <a:off x="10218274" y="4061057"/>
            <a:ext cx="965329" cy="461665"/>
          </a:xfrm>
          <a:prstGeom prst="rect">
            <a:avLst/>
          </a:prstGeom>
          <a:noFill/>
        </p:spPr>
        <p:txBody>
          <a:bodyPr wrap="none" rtlCol="0">
            <a:spAutoFit/>
          </a:bodyPr>
          <a:lstStyle/>
          <a:p>
            <a:r>
              <a:rPr lang="en-US" sz="2400" dirty="0">
                <a:latin typeface="Comic Sans MS" panose="030F0902030302020204" pitchFamily="66" charset="0"/>
              </a:rPr>
              <a:t>H |S⟩</a:t>
            </a:r>
          </a:p>
        </p:txBody>
      </p:sp>
      <p:pic>
        <p:nvPicPr>
          <p:cNvPr id="40" name="Picture 39">
            <a:extLst>
              <a:ext uri="{FF2B5EF4-FFF2-40B4-BE49-F238E27FC236}">
                <a16:creationId xmlns:a16="http://schemas.microsoft.com/office/drawing/2014/main" id="{DCEE4E65-72FD-1C4A-A1DD-FC2A4F176E89}"/>
              </a:ext>
            </a:extLst>
          </p:cNvPr>
          <p:cNvPicPr>
            <a:picLocks noChangeAspect="1"/>
          </p:cNvPicPr>
          <p:nvPr/>
        </p:nvPicPr>
        <p:blipFill>
          <a:blip r:embed="rId3"/>
          <a:stretch>
            <a:fillRect/>
          </a:stretch>
        </p:blipFill>
        <p:spPr>
          <a:xfrm>
            <a:off x="10329337" y="1022150"/>
            <a:ext cx="918520" cy="1414873"/>
          </a:xfrm>
          <a:prstGeom prst="rect">
            <a:avLst/>
          </a:prstGeom>
        </p:spPr>
      </p:pic>
      <p:pic>
        <p:nvPicPr>
          <p:cNvPr id="41" name="Picture 40">
            <a:extLst>
              <a:ext uri="{FF2B5EF4-FFF2-40B4-BE49-F238E27FC236}">
                <a16:creationId xmlns:a16="http://schemas.microsoft.com/office/drawing/2014/main" id="{1D970DCD-4329-9245-8C10-95FFBB0AF9B9}"/>
              </a:ext>
            </a:extLst>
          </p:cNvPr>
          <p:cNvPicPr>
            <a:picLocks noChangeAspect="1"/>
          </p:cNvPicPr>
          <p:nvPr/>
        </p:nvPicPr>
        <p:blipFill>
          <a:blip r:embed="rId4"/>
          <a:stretch>
            <a:fillRect/>
          </a:stretch>
        </p:blipFill>
        <p:spPr>
          <a:xfrm>
            <a:off x="6783926" y="4786166"/>
            <a:ext cx="1082025" cy="1602672"/>
          </a:xfrm>
          <a:prstGeom prst="rect">
            <a:avLst/>
          </a:prstGeom>
        </p:spPr>
      </p:pic>
      <p:sp>
        <p:nvSpPr>
          <p:cNvPr id="4" name="Down Arrow 3">
            <a:extLst>
              <a:ext uri="{FF2B5EF4-FFF2-40B4-BE49-F238E27FC236}">
                <a16:creationId xmlns:a16="http://schemas.microsoft.com/office/drawing/2014/main" id="{15942AD3-4B1B-7548-92A1-1EB4903E70F6}"/>
              </a:ext>
            </a:extLst>
          </p:cNvPr>
          <p:cNvSpPr/>
          <p:nvPr/>
        </p:nvSpPr>
        <p:spPr>
          <a:xfrm>
            <a:off x="10431439" y="3378245"/>
            <a:ext cx="539001" cy="450000"/>
          </a:xfrm>
          <a:prstGeom prst="downArrow">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851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Cloud 64">
            <a:extLst>
              <a:ext uri="{FF2B5EF4-FFF2-40B4-BE49-F238E27FC236}">
                <a16:creationId xmlns:a16="http://schemas.microsoft.com/office/drawing/2014/main" id="{27DE844E-5432-974E-8F39-1C3DA7DAF592}"/>
              </a:ext>
            </a:extLst>
          </p:cNvPr>
          <p:cNvSpPr/>
          <p:nvPr/>
        </p:nvSpPr>
        <p:spPr>
          <a:xfrm>
            <a:off x="4754904" y="3439494"/>
            <a:ext cx="1514178" cy="1775974"/>
          </a:xfrm>
          <a:prstGeom prst="cloud">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D99874EA-BEA7-BB4D-95CA-0DFE0D857518}"/>
              </a:ext>
            </a:extLst>
          </p:cNvPr>
          <p:cNvSpPr/>
          <p:nvPr/>
        </p:nvSpPr>
        <p:spPr>
          <a:xfrm>
            <a:off x="4262874" y="3303965"/>
            <a:ext cx="16221" cy="108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6E8EAE0-572A-B348-ACB3-476B2680FDDE}"/>
              </a:ext>
            </a:extLst>
          </p:cNvPr>
          <p:cNvSpPr>
            <a:spLocks noGrp="1"/>
          </p:cNvSpPr>
          <p:nvPr>
            <p:ph type="title"/>
          </p:nvPr>
        </p:nvSpPr>
        <p:spPr/>
        <p:txBody>
          <a:bodyPr/>
          <a:lstStyle/>
          <a:p>
            <a:r>
              <a:rPr lang="en-ZA" dirty="0"/>
              <a:t>Secure CNOT Operation</a:t>
            </a:r>
            <a:endParaRPr lang="en-US" dirty="0"/>
          </a:p>
        </p:txBody>
      </p:sp>
      <p:sp>
        <p:nvSpPr>
          <p:cNvPr id="10" name="Freeform 9">
            <a:extLst>
              <a:ext uri="{FF2B5EF4-FFF2-40B4-BE49-F238E27FC236}">
                <a16:creationId xmlns:a16="http://schemas.microsoft.com/office/drawing/2014/main" id="{3B79B766-0E9B-1141-93BA-12FE15F79D5C}"/>
              </a:ext>
            </a:extLst>
          </p:cNvPr>
          <p:cNvSpPr/>
          <p:nvPr/>
        </p:nvSpPr>
        <p:spPr>
          <a:xfrm flipV="1">
            <a:off x="952250" y="2261432"/>
            <a:ext cx="10440000" cy="21600"/>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3F46CC8A-3534-D24B-8326-5D6FA20BB45C}"/>
              </a:ext>
            </a:extLst>
          </p:cNvPr>
          <p:cNvSpPr/>
          <p:nvPr/>
        </p:nvSpPr>
        <p:spPr>
          <a:xfrm>
            <a:off x="908708" y="1745748"/>
            <a:ext cx="10440000" cy="45719"/>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71070AE-69FB-5847-9CDF-B5247EE9EFE1}"/>
              </a:ext>
            </a:extLst>
          </p:cNvPr>
          <p:cNvSpPr txBox="1"/>
          <p:nvPr/>
        </p:nvSpPr>
        <p:spPr>
          <a:xfrm>
            <a:off x="475520" y="1435048"/>
            <a:ext cx="308098" cy="461665"/>
          </a:xfrm>
          <a:prstGeom prst="rect">
            <a:avLst/>
          </a:prstGeom>
          <a:noFill/>
        </p:spPr>
        <p:txBody>
          <a:bodyPr wrap="none" rtlCol="0">
            <a:spAutoFit/>
          </a:bodyPr>
          <a:lstStyle/>
          <a:p>
            <a:r>
              <a:rPr lang="en-US" sz="2400" i="1" dirty="0">
                <a:latin typeface="Comic Sans MS" panose="030F0902030302020204" pitchFamily="66" charset="0"/>
              </a:rPr>
              <a:t>j</a:t>
            </a:r>
          </a:p>
        </p:txBody>
      </p:sp>
      <p:sp>
        <p:nvSpPr>
          <p:cNvPr id="27" name="TextBox 26">
            <a:extLst>
              <a:ext uri="{FF2B5EF4-FFF2-40B4-BE49-F238E27FC236}">
                <a16:creationId xmlns:a16="http://schemas.microsoft.com/office/drawing/2014/main" id="{EC096C3E-11B5-404E-B196-65F21D5552AB}"/>
              </a:ext>
            </a:extLst>
          </p:cNvPr>
          <p:cNvSpPr txBox="1"/>
          <p:nvPr/>
        </p:nvSpPr>
        <p:spPr>
          <a:xfrm>
            <a:off x="475520" y="1896713"/>
            <a:ext cx="351378" cy="461665"/>
          </a:xfrm>
          <a:prstGeom prst="rect">
            <a:avLst/>
          </a:prstGeom>
          <a:noFill/>
        </p:spPr>
        <p:txBody>
          <a:bodyPr wrap="none" rtlCol="0">
            <a:spAutoFit/>
          </a:bodyPr>
          <a:lstStyle/>
          <a:p>
            <a:r>
              <a:rPr lang="en-US" sz="2400" i="1" dirty="0">
                <a:latin typeface="Comic Sans MS" panose="030F0902030302020204" pitchFamily="66" charset="0"/>
              </a:rPr>
              <a:t>k</a:t>
            </a:r>
          </a:p>
        </p:txBody>
      </p:sp>
      <p:sp>
        <p:nvSpPr>
          <p:cNvPr id="37" name="Freeform 36">
            <a:extLst>
              <a:ext uri="{FF2B5EF4-FFF2-40B4-BE49-F238E27FC236}">
                <a16:creationId xmlns:a16="http://schemas.microsoft.com/office/drawing/2014/main" id="{7158B0DE-6E01-6247-81B3-216F3F5CA14F}"/>
              </a:ext>
            </a:extLst>
          </p:cNvPr>
          <p:cNvSpPr/>
          <p:nvPr/>
        </p:nvSpPr>
        <p:spPr>
          <a:xfrm flipV="1">
            <a:off x="908708" y="2775264"/>
            <a:ext cx="10440000" cy="21600"/>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id="{99743A0A-E2EA-E24E-A887-85CF8C7CBFEB}"/>
              </a:ext>
            </a:extLst>
          </p:cNvPr>
          <p:cNvSpPr/>
          <p:nvPr/>
        </p:nvSpPr>
        <p:spPr>
          <a:xfrm flipV="1">
            <a:off x="908708" y="3276555"/>
            <a:ext cx="10440000" cy="21600"/>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ECF866DC-E8FE-C948-91E7-D74A8DD5B71D}"/>
              </a:ext>
            </a:extLst>
          </p:cNvPr>
          <p:cNvSpPr/>
          <p:nvPr/>
        </p:nvSpPr>
        <p:spPr>
          <a:xfrm flipV="1">
            <a:off x="876000" y="3937594"/>
            <a:ext cx="10440000" cy="21600"/>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a:extLst>
              <a:ext uri="{FF2B5EF4-FFF2-40B4-BE49-F238E27FC236}">
                <a16:creationId xmlns:a16="http://schemas.microsoft.com/office/drawing/2014/main" id="{75376B21-82F4-594A-ADE2-CF8753A5BFAF}"/>
              </a:ext>
            </a:extLst>
          </p:cNvPr>
          <p:cNvSpPr/>
          <p:nvPr/>
        </p:nvSpPr>
        <p:spPr>
          <a:xfrm flipV="1">
            <a:off x="826898" y="4702497"/>
            <a:ext cx="10440000" cy="21600"/>
          </a:xfrm>
          <a:custGeom>
            <a:avLst/>
            <a:gdLst>
              <a:gd name="connsiteX0" fmla="*/ 0 w 4781550"/>
              <a:gd name="connsiteY0" fmla="*/ 0 h 57150"/>
              <a:gd name="connsiteX1" fmla="*/ 781050 w 4781550"/>
              <a:gd name="connsiteY1" fmla="*/ 19050 h 57150"/>
              <a:gd name="connsiteX2" fmla="*/ 1543050 w 4781550"/>
              <a:gd name="connsiteY2" fmla="*/ 38100 h 57150"/>
              <a:gd name="connsiteX3" fmla="*/ 2895600 w 4781550"/>
              <a:gd name="connsiteY3" fmla="*/ 19050 h 57150"/>
              <a:gd name="connsiteX4" fmla="*/ 3924300 w 4781550"/>
              <a:gd name="connsiteY4" fmla="*/ 57150 h 57150"/>
              <a:gd name="connsiteX5" fmla="*/ 4781550 w 4781550"/>
              <a:gd name="connsiteY5" fmla="*/ 0 h 57150"/>
              <a:gd name="connsiteX0" fmla="*/ 0 w 4781550"/>
              <a:gd name="connsiteY0" fmla="*/ 0 h 38100"/>
              <a:gd name="connsiteX1" fmla="*/ 781050 w 4781550"/>
              <a:gd name="connsiteY1" fmla="*/ 19050 h 38100"/>
              <a:gd name="connsiteX2" fmla="*/ 1543050 w 4781550"/>
              <a:gd name="connsiteY2" fmla="*/ 38100 h 38100"/>
              <a:gd name="connsiteX3" fmla="*/ 2895600 w 4781550"/>
              <a:gd name="connsiteY3" fmla="*/ 19050 h 38100"/>
              <a:gd name="connsiteX4" fmla="*/ 3924300 w 4781550"/>
              <a:gd name="connsiteY4" fmla="*/ 24100 h 38100"/>
              <a:gd name="connsiteX5" fmla="*/ 4781550 w 4781550"/>
              <a:gd name="connsiteY5" fmla="*/ 0 h 38100"/>
              <a:gd name="connsiteX0" fmla="*/ 0 w 4781550"/>
              <a:gd name="connsiteY0" fmla="*/ 0 h 46592"/>
              <a:gd name="connsiteX1" fmla="*/ 775541 w 4781550"/>
              <a:gd name="connsiteY1" fmla="*/ 46592 h 46592"/>
              <a:gd name="connsiteX2" fmla="*/ 1543050 w 4781550"/>
              <a:gd name="connsiteY2" fmla="*/ 38100 h 46592"/>
              <a:gd name="connsiteX3" fmla="*/ 2895600 w 4781550"/>
              <a:gd name="connsiteY3" fmla="*/ 19050 h 46592"/>
              <a:gd name="connsiteX4" fmla="*/ 3924300 w 4781550"/>
              <a:gd name="connsiteY4" fmla="*/ 24100 h 46592"/>
              <a:gd name="connsiteX5" fmla="*/ 4781550 w 4781550"/>
              <a:gd name="connsiteY5" fmla="*/ 0 h 46592"/>
              <a:gd name="connsiteX0" fmla="*/ 0 w 4792567"/>
              <a:gd name="connsiteY0" fmla="*/ 44067 h 46592"/>
              <a:gd name="connsiteX1" fmla="*/ 786558 w 4792567"/>
              <a:gd name="connsiteY1" fmla="*/ 46592 h 46592"/>
              <a:gd name="connsiteX2" fmla="*/ 1554067 w 4792567"/>
              <a:gd name="connsiteY2" fmla="*/ 38100 h 46592"/>
              <a:gd name="connsiteX3" fmla="*/ 2906617 w 4792567"/>
              <a:gd name="connsiteY3" fmla="*/ 19050 h 46592"/>
              <a:gd name="connsiteX4" fmla="*/ 3935317 w 4792567"/>
              <a:gd name="connsiteY4" fmla="*/ 24100 h 46592"/>
              <a:gd name="connsiteX5" fmla="*/ 4792567 w 4792567"/>
              <a:gd name="connsiteY5" fmla="*/ 0 h 46592"/>
              <a:gd name="connsiteX0" fmla="*/ 0 w 4781550"/>
              <a:gd name="connsiteY0" fmla="*/ 25017 h 27542"/>
              <a:gd name="connsiteX1" fmla="*/ 786558 w 4781550"/>
              <a:gd name="connsiteY1" fmla="*/ 27542 h 27542"/>
              <a:gd name="connsiteX2" fmla="*/ 1554067 w 4781550"/>
              <a:gd name="connsiteY2" fmla="*/ 19050 h 27542"/>
              <a:gd name="connsiteX3" fmla="*/ 2906617 w 4781550"/>
              <a:gd name="connsiteY3" fmla="*/ 0 h 27542"/>
              <a:gd name="connsiteX4" fmla="*/ 3935317 w 4781550"/>
              <a:gd name="connsiteY4" fmla="*/ 5050 h 27542"/>
              <a:gd name="connsiteX5" fmla="*/ 4781550 w 4781550"/>
              <a:gd name="connsiteY5" fmla="*/ 14000 h 27542"/>
              <a:gd name="connsiteX0" fmla="*/ 0 w 4781550"/>
              <a:gd name="connsiteY0" fmla="*/ 19967 h 22492"/>
              <a:gd name="connsiteX1" fmla="*/ 786558 w 4781550"/>
              <a:gd name="connsiteY1" fmla="*/ 22492 h 22492"/>
              <a:gd name="connsiteX2" fmla="*/ 1554067 w 4781550"/>
              <a:gd name="connsiteY2" fmla="*/ 14000 h 22492"/>
              <a:gd name="connsiteX3" fmla="*/ 2912592 w 4781550"/>
              <a:gd name="connsiteY3" fmla="*/ 14279 h 22492"/>
              <a:gd name="connsiteX4" fmla="*/ 3935317 w 4781550"/>
              <a:gd name="connsiteY4" fmla="*/ 0 h 22492"/>
              <a:gd name="connsiteX5" fmla="*/ 4781550 w 4781550"/>
              <a:gd name="connsiteY5" fmla="*/ 8950 h 22492"/>
              <a:gd name="connsiteX0" fmla="*/ 0 w 4781550"/>
              <a:gd name="connsiteY0" fmla="*/ 11017 h 13542"/>
              <a:gd name="connsiteX1" fmla="*/ 786558 w 4781550"/>
              <a:gd name="connsiteY1" fmla="*/ 13542 h 13542"/>
              <a:gd name="connsiteX2" fmla="*/ 1554067 w 4781550"/>
              <a:gd name="connsiteY2" fmla="*/ 5050 h 13542"/>
              <a:gd name="connsiteX3" fmla="*/ 2912592 w 4781550"/>
              <a:gd name="connsiteY3" fmla="*/ 5329 h 13542"/>
              <a:gd name="connsiteX4" fmla="*/ 3941292 w 4781550"/>
              <a:gd name="connsiteY4" fmla="*/ 5546 h 13542"/>
              <a:gd name="connsiteX5" fmla="*/ 4781550 w 4781550"/>
              <a:gd name="connsiteY5" fmla="*/ 0 h 1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550" h="13542">
                <a:moveTo>
                  <a:pt x="0" y="11017"/>
                </a:moveTo>
                <a:lnTo>
                  <a:pt x="786558" y="13542"/>
                </a:lnTo>
                <a:lnTo>
                  <a:pt x="1554067" y="5050"/>
                </a:lnTo>
                <a:lnTo>
                  <a:pt x="2912592" y="5329"/>
                </a:lnTo>
                <a:lnTo>
                  <a:pt x="3941292" y="5546"/>
                </a:lnTo>
                <a:lnTo>
                  <a:pt x="4781550" y="0"/>
                </a:ln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D5114527-59DE-DC40-9FAE-04B578E4E35E}"/>
              </a:ext>
            </a:extLst>
          </p:cNvPr>
          <p:cNvSpPr/>
          <p:nvPr/>
        </p:nvSpPr>
        <p:spPr>
          <a:xfrm>
            <a:off x="1789289" y="1865831"/>
            <a:ext cx="16221" cy="180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A826A40E-9FC3-D243-B1D6-8F1089A866B5}"/>
              </a:ext>
            </a:extLst>
          </p:cNvPr>
          <p:cNvSpPr/>
          <p:nvPr/>
        </p:nvSpPr>
        <p:spPr>
          <a:xfrm>
            <a:off x="1664156" y="1638304"/>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7804EDD4-7609-2745-BD78-78B22813C8C0}"/>
              </a:ext>
            </a:extLst>
          </p:cNvPr>
          <p:cNvSpPr/>
          <p:nvPr/>
        </p:nvSpPr>
        <p:spPr>
          <a:xfrm>
            <a:off x="2385162" y="3670510"/>
            <a:ext cx="521311" cy="524886"/>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solidFill>
                <a:latin typeface="Comic Sans MS" panose="030F0902030302020204" pitchFamily="66" charset="0"/>
                <a:cs typeface="Times New Roman" panose="02020603050405020304" pitchFamily="18" charset="0"/>
              </a:rPr>
              <a:t>Z</a:t>
            </a:r>
          </a:p>
        </p:txBody>
      </p:sp>
      <p:sp>
        <p:nvSpPr>
          <p:cNvPr id="43" name="Freeform 42">
            <a:extLst>
              <a:ext uri="{FF2B5EF4-FFF2-40B4-BE49-F238E27FC236}">
                <a16:creationId xmlns:a16="http://schemas.microsoft.com/office/drawing/2014/main" id="{FC52C22C-6026-8841-AA0A-43F4880669E5}"/>
              </a:ext>
            </a:extLst>
          </p:cNvPr>
          <p:cNvSpPr/>
          <p:nvPr/>
        </p:nvSpPr>
        <p:spPr>
          <a:xfrm>
            <a:off x="2477338" y="2119095"/>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a:extLst>
              <a:ext uri="{FF2B5EF4-FFF2-40B4-BE49-F238E27FC236}">
                <a16:creationId xmlns:a16="http://schemas.microsoft.com/office/drawing/2014/main" id="{728D4B70-E9A7-2F41-B819-CE90CE292BE4}"/>
              </a:ext>
            </a:extLst>
          </p:cNvPr>
          <p:cNvSpPr/>
          <p:nvPr/>
        </p:nvSpPr>
        <p:spPr>
          <a:xfrm>
            <a:off x="2618049" y="2340398"/>
            <a:ext cx="16221" cy="1332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B98AE2DC-E415-624F-B35A-AB86A77943F7}"/>
              </a:ext>
            </a:extLst>
          </p:cNvPr>
          <p:cNvGrpSpPr/>
          <p:nvPr/>
        </p:nvGrpSpPr>
        <p:grpSpPr>
          <a:xfrm>
            <a:off x="1544332" y="3664172"/>
            <a:ext cx="540000" cy="540000"/>
            <a:chOff x="1504386" y="3807013"/>
            <a:chExt cx="598848" cy="596203"/>
          </a:xfrm>
        </p:grpSpPr>
        <p:sp>
          <p:nvSpPr>
            <p:cNvPr id="17" name="Freeform 16">
              <a:extLst>
                <a:ext uri="{FF2B5EF4-FFF2-40B4-BE49-F238E27FC236}">
                  <a16:creationId xmlns:a16="http://schemas.microsoft.com/office/drawing/2014/main" id="{CAEFEACB-DA94-D34F-B774-DA3E28E52D97}"/>
                </a:ext>
              </a:extLst>
            </p:cNvPr>
            <p:cNvSpPr/>
            <p:nvPr/>
          </p:nvSpPr>
          <p:spPr>
            <a:xfrm>
              <a:off x="1504386" y="3807013"/>
              <a:ext cx="598848" cy="596203"/>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2F2B45A9-E160-2647-8206-103F7744583B}"/>
                </a:ext>
              </a:extLst>
            </p:cNvPr>
            <p:cNvCxnSpPr>
              <a:cxnSpLocks/>
            </p:cNvCxnSpPr>
            <p:nvPr/>
          </p:nvCxnSpPr>
          <p:spPr>
            <a:xfrm>
              <a:off x="1803638" y="3948191"/>
              <a:ext cx="172" cy="345102"/>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B23CD4-4549-7046-8D04-2D3C24E1BC14}"/>
                </a:ext>
              </a:extLst>
            </p:cNvPr>
            <p:cNvCxnSpPr>
              <a:cxnSpLocks/>
            </p:cNvCxnSpPr>
            <p:nvPr/>
          </p:nvCxnSpPr>
          <p:spPr>
            <a:xfrm flipH="1">
              <a:off x="1617496" y="4113639"/>
              <a:ext cx="372284" cy="7103"/>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8" name="TextBox 47">
            <a:extLst>
              <a:ext uri="{FF2B5EF4-FFF2-40B4-BE49-F238E27FC236}">
                <a16:creationId xmlns:a16="http://schemas.microsoft.com/office/drawing/2014/main" id="{D8EFD356-08E8-C040-9B33-EBDF6021D69E}"/>
              </a:ext>
            </a:extLst>
          </p:cNvPr>
          <p:cNvSpPr txBox="1"/>
          <p:nvPr/>
        </p:nvSpPr>
        <p:spPr>
          <a:xfrm>
            <a:off x="462263" y="2502830"/>
            <a:ext cx="269626" cy="461665"/>
          </a:xfrm>
          <a:prstGeom prst="rect">
            <a:avLst/>
          </a:prstGeom>
          <a:noFill/>
        </p:spPr>
        <p:txBody>
          <a:bodyPr wrap="none" rtlCol="0">
            <a:spAutoFit/>
          </a:bodyPr>
          <a:lstStyle/>
          <a:p>
            <a:r>
              <a:rPr lang="en-US" sz="2400" i="1" dirty="0">
                <a:latin typeface="Comic Sans MS" panose="030F0902030302020204" pitchFamily="66" charset="0"/>
              </a:rPr>
              <a:t>l</a:t>
            </a:r>
          </a:p>
        </p:txBody>
      </p:sp>
      <p:sp>
        <p:nvSpPr>
          <p:cNvPr id="49" name="TextBox 48">
            <a:extLst>
              <a:ext uri="{FF2B5EF4-FFF2-40B4-BE49-F238E27FC236}">
                <a16:creationId xmlns:a16="http://schemas.microsoft.com/office/drawing/2014/main" id="{054E7C30-6DE5-1841-9315-36C3A109EE6B}"/>
              </a:ext>
            </a:extLst>
          </p:cNvPr>
          <p:cNvSpPr txBox="1"/>
          <p:nvPr/>
        </p:nvSpPr>
        <p:spPr>
          <a:xfrm>
            <a:off x="470479" y="2977828"/>
            <a:ext cx="423514" cy="461665"/>
          </a:xfrm>
          <a:prstGeom prst="rect">
            <a:avLst/>
          </a:prstGeom>
          <a:noFill/>
        </p:spPr>
        <p:txBody>
          <a:bodyPr wrap="none" rtlCol="0">
            <a:spAutoFit/>
          </a:bodyPr>
          <a:lstStyle/>
          <a:p>
            <a:r>
              <a:rPr lang="en-US" sz="2400" i="1" dirty="0">
                <a:latin typeface="Comic Sans MS" panose="030F0902030302020204" pitchFamily="66" charset="0"/>
              </a:rPr>
              <a:t>m</a:t>
            </a:r>
          </a:p>
        </p:txBody>
      </p:sp>
      <p:sp>
        <p:nvSpPr>
          <p:cNvPr id="50" name="Freeform 49">
            <a:extLst>
              <a:ext uri="{FF2B5EF4-FFF2-40B4-BE49-F238E27FC236}">
                <a16:creationId xmlns:a16="http://schemas.microsoft.com/office/drawing/2014/main" id="{DC9402A1-2FB6-D84F-82BF-DDCE108DC84D}"/>
              </a:ext>
            </a:extLst>
          </p:cNvPr>
          <p:cNvSpPr/>
          <p:nvPr/>
        </p:nvSpPr>
        <p:spPr>
          <a:xfrm>
            <a:off x="3440733" y="2744685"/>
            <a:ext cx="16221" cy="162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a:extLst>
              <a:ext uri="{FF2B5EF4-FFF2-40B4-BE49-F238E27FC236}">
                <a16:creationId xmlns:a16="http://schemas.microsoft.com/office/drawing/2014/main" id="{D2855B00-1340-5442-BC47-638FFD9FEA01}"/>
              </a:ext>
            </a:extLst>
          </p:cNvPr>
          <p:cNvSpPr/>
          <p:nvPr/>
        </p:nvSpPr>
        <p:spPr>
          <a:xfrm>
            <a:off x="3314889" y="2652201"/>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4713D1A8-CD30-874A-824D-F3B8BE851D26}"/>
              </a:ext>
            </a:extLst>
          </p:cNvPr>
          <p:cNvSpPr/>
          <p:nvPr/>
        </p:nvSpPr>
        <p:spPr>
          <a:xfrm>
            <a:off x="4019829" y="4383732"/>
            <a:ext cx="521311" cy="524886"/>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solidFill>
                <a:latin typeface="Comic Sans MS" panose="030F0902030302020204" pitchFamily="66" charset="0"/>
                <a:cs typeface="Times New Roman" panose="02020603050405020304" pitchFamily="18" charset="0"/>
              </a:rPr>
              <a:t>Z</a:t>
            </a:r>
          </a:p>
        </p:txBody>
      </p:sp>
      <p:sp>
        <p:nvSpPr>
          <p:cNvPr id="53" name="Freeform 52">
            <a:extLst>
              <a:ext uri="{FF2B5EF4-FFF2-40B4-BE49-F238E27FC236}">
                <a16:creationId xmlns:a16="http://schemas.microsoft.com/office/drawing/2014/main" id="{77D04C65-73AC-E544-8926-53431B7F9925}"/>
              </a:ext>
            </a:extLst>
          </p:cNvPr>
          <p:cNvSpPr/>
          <p:nvPr/>
        </p:nvSpPr>
        <p:spPr>
          <a:xfrm>
            <a:off x="4142937" y="3150555"/>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544BCA49-69B9-5048-B5AE-E509545E32DA}"/>
              </a:ext>
            </a:extLst>
          </p:cNvPr>
          <p:cNvGrpSpPr/>
          <p:nvPr/>
        </p:nvGrpSpPr>
        <p:grpSpPr>
          <a:xfrm>
            <a:off x="3178999" y="4377394"/>
            <a:ext cx="540000" cy="540000"/>
            <a:chOff x="1504386" y="3807013"/>
            <a:chExt cx="598848" cy="596203"/>
          </a:xfrm>
        </p:grpSpPr>
        <p:sp>
          <p:nvSpPr>
            <p:cNvPr id="56" name="Freeform 55">
              <a:extLst>
                <a:ext uri="{FF2B5EF4-FFF2-40B4-BE49-F238E27FC236}">
                  <a16:creationId xmlns:a16="http://schemas.microsoft.com/office/drawing/2014/main" id="{C36AA95C-1333-4D42-89BE-852EB90B790B}"/>
                </a:ext>
              </a:extLst>
            </p:cNvPr>
            <p:cNvSpPr/>
            <p:nvPr/>
          </p:nvSpPr>
          <p:spPr>
            <a:xfrm>
              <a:off x="1504386" y="3807013"/>
              <a:ext cx="598848" cy="596203"/>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D9F74714-E80E-0F43-9BAF-3E9E618B1A9A}"/>
                </a:ext>
              </a:extLst>
            </p:cNvPr>
            <p:cNvCxnSpPr>
              <a:cxnSpLocks/>
            </p:cNvCxnSpPr>
            <p:nvPr/>
          </p:nvCxnSpPr>
          <p:spPr>
            <a:xfrm>
              <a:off x="1803638" y="3948191"/>
              <a:ext cx="172" cy="345102"/>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991261E-A3E7-2642-BF4C-931F09BF9D5E}"/>
                </a:ext>
              </a:extLst>
            </p:cNvPr>
            <p:cNvCxnSpPr>
              <a:cxnSpLocks/>
            </p:cNvCxnSpPr>
            <p:nvPr/>
          </p:nvCxnSpPr>
          <p:spPr>
            <a:xfrm flipH="1">
              <a:off x="1617496" y="4113639"/>
              <a:ext cx="372284" cy="7103"/>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9" name="Freeform 58">
            <a:extLst>
              <a:ext uri="{FF2B5EF4-FFF2-40B4-BE49-F238E27FC236}">
                <a16:creationId xmlns:a16="http://schemas.microsoft.com/office/drawing/2014/main" id="{7A7C8284-629E-B84D-848F-DD8F73B35660}"/>
              </a:ext>
            </a:extLst>
          </p:cNvPr>
          <p:cNvSpPr/>
          <p:nvPr/>
        </p:nvSpPr>
        <p:spPr>
          <a:xfrm>
            <a:off x="5472366" y="3960965"/>
            <a:ext cx="16221" cy="54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0AF4B0AA-511A-2D43-A6E5-A13AA4BD14B1}"/>
              </a:ext>
            </a:extLst>
          </p:cNvPr>
          <p:cNvSpPr/>
          <p:nvPr/>
        </p:nvSpPr>
        <p:spPr>
          <a:xfrm>
            <a:off x="5362588" y="3812523"/>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2A2E25EF-59E4-7642-830C-4452A4996566}"/>
              </a:ext>
            </a:extLst>
          </p:cNvPr>
          <p:cNvGrpSpPr/>
          <p:nvPr/>
        </p:nvGrpSpPr>
        <p:grpSpPr>
          <a:xfrm>
            <a:off x="5226854" y="4454097"/>
            <a:ext cx="540000" cy="540000"/>
            <a:chOff x="1504386" y="3807013"/>
            <a:chExt cx="598848" cy="596203"/>
          </a:xfrm>
        </p:grpSpPr>
        <p:sp>
          <p:nvSpPr>
            <p:cNvPr id="62" name="Freeform 61">
              <a:extLst>
                <a:ext uri="{FF2B5EF4-FFF2-40B4-BE49-F238E27FC236}">
                  <a16:creationId xmlns:a16="http://schemas.microsoft.com/office/drawing/2014/main" id="{CE58A2D0-49D1-C749-899F-B4D17A912039}"/>
                </a:ext>
              </a:extLst>
            </p:cNvPr>
            <p:cNvSpPr/>
            <p:nvPr/>
          </p:nvSpPr>
          <p:spPr>
            <a:xfrm>
              <a:off x="1504386" y="3807013"/>
              <a:ext cx="598848" cy="596203"/>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F9907AFC-E5CB-7C49-BEAD-7F97340BCB60}"/>
                </a:ext>
              </a:extLst>
            </p:cNvPr>
            <p:cNvCxnSpPr>
              <a:cxnSpLocks/>
            </p:cNvCxnSpPr>
            <p:nvPr/>
          </p:nvCxnSpPr>
          <p:spPr>
            <a:xfrm>
              <a:off x="1803638" y="3948191"/>
              <a:ext cx="172" cy="345102"/>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20F3A00-DF5C-F140-8D79-9C9D0F378849}"/>
                </a:ext>
              </a:extLst>
            </p:cNvPr>
            <p:cNvCxnSpPr>
              <a:cxnSpLocks/>
            </p:cNvCxnSpPr>
            <p:nvPr/>
          </p:nvCxnSpPr>
          <p:spPr>
            <a:xfrm flipH="1">
              <a:off x="1617496" y="4113639"/>
              <a:ext cx="372284" cy="7103"/>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7" name="Freeform 66">
            <a:extLst>
              <a:ext uri="{FF2B5EF4-FFF2-40B4-BE49-F238E27FC236}">
                <a16:creationId xmlns:a16="http://schemas.microsoft.com/office/drawing/2014/main" id="{4257340F-F1AF-094B-82D9-A12628C7E011}"/>
              </a:ext>
            </a:extLst>
          </p:cNvPr>
          <p:cNvSpPr/>
          <p:nvPr/>
        </p:nvSpPr>
        <p:spPr>
          <a:xfrm>
            <a:off x="6713529" y="1827855"/>
            <a:ext cx="16221" cy="2592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a:extLst>
              <a:ext uri="{FF2B5EF4-FFF2-40B4-BE49-F238E27FC236}">
                <a16:creationId xmlns:a16="http://schemas.microsoft.com/office/drawing/2014/main" id="{F71277CA-DB23-4944-8135-A0A74594F0DE}"/>
              </a:ext>
            </a:extLst>
          </p:cNvPr>
          <p:cNvSpPr/>
          <p:nvPr/>
        </p:nvSpPr>
        <p:spPr>
          <a:xfrm>
            <a:off x="6587530" y="1618596"/>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5C0B069E-D8E3-D146-A816-9DE1D65312D1}"/>
              </a:ext>
            </a:extLst>
          </p:cNvPr>
          <p:cNvGrpSpPr/>
          <p:nvPr/>
        </p:nvGrpSpPr>
        <p:grpSpPr>
          <a:xfrm>
            <a:off x="6451640" y="4404507"/>
            <a:ext cx="540000" cy="540000"/>
            <a:chOff x="1504386" y="3807013"/>
            <a:chExt cx="598848" cy="596203"/>
          </a:xfrm>
        </p:grpSpPr>
        <p:sp>
          <p:nvSpPr>
            <p:cNvPr id="70" name="Freeform 69">
              <a:extLst>
                <a:ext uri="{FF2B5EF4-FFF2-40B4-BE49-F238E27FC236}">
                  <a16:creationId xmlns:a16="http://schemas.microsoft.com/office/drawing/2014/main" id="{75BE09B2-5F60-2F45-9ECE-21451FB6E38E}"/>
                </a:ext>
              </a:extLst>
            </p:cNvPr>
            <p:cNvSpPr/>
            <p:nvPr/>
          </p:nvSpPr>
          <p:spPr>
            <a:xfrm>
              <a:off x="1504386" y="3807013"/>
              <a:ext cx="598848" cy="596203"/>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A580F089-3907-0549-9751-085DA4436F8D}"/>
                </a:ext>
              </a:extLst>
            </p:cNvPr>
            <p:cNvCxnSpPr>
              <a:cxnSpLocks/>
            </p:cNvCxnSpPr>
            <p:nvPr/>
          </p:nvCxnSpPr>
          <p:spPr>
            <a:xfrm>
              <a:off x="1803638" y="3948191"/>
              <a:ext cx="172" cy="345102"/>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10502B4-7806-A344-9655-2B1F4DE7915D}"/>
                </a:ext>
              </a:extLst>
            </p:cNvPr>
            <p:cNvCxnSpPr>
              <a:cxnSpLocks/>
            </p:cNvCxnSpPr>
            <p:nvPr/>
          </p:nvCxnSpPr>
          <p:spPr>
            <a:xfrm flipH="1">
              <a:off x="1617496" y="4113639"/>
              <a:ext cx="372284" cy="7103"/>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4" name="Freeform 73">
            <a:extLst>
              <a:ext uri="{FF2B5EF4-FFF2-40B4-BE49-F238E27FC236}">
                <a16:creationId xmlns:a16="http://schemas.microsoft.com/office/drawing/2014/main" id="{2745147C-F42A-F349-BF94-F8A3CC162DBA}"/>
              </a:ext>
            </a:extLst>
          </p:cNvPr>
          <p:cNvSpPr/>
          <p:nvPr/>
        </p:nvSpPr>
        <p:spPr>
          <a:xfrm>
            <a:off x="7537181" y="3324740"/>
            <a:ext cx="16221" cy="108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a:extLst>
              <a:ext uri="{FF2B5EF4-FFF2-40B4-BE49-F238E27FC236}">
                <a16:creationId xmlns:a16="http://schemas.microsoft.com/office/drawing/2014/main" id="{9EFB926C-3962-4D47-9B66-D53A3F18F2DB}"/>
              </a:ext>
            </a:extLst>
          </p:cNvPr>
          <p:cNvSpPr/>
          <p:nvPr/>
        </p:nvSpPr>
        <p:spPr>
          <a:xfrm>
            <a:off x="7294136" y="4404507"/>
            <a:ext cx="521311" cy="524886"/>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solidFill>
                <a:latin typeface="Comic Sans MS" panose="030F0902030302020204" pitchFamily="66" charset="0"/>
                <a:cs typeface="Times New Roman" panose="02020603050405020304" pitchFamily="18" charset="0"/>
              </a:rPr>
              <a:t>Z</a:t>
            </a:r>
          </a:p>
        </p:txBody>
      </p:sp>
      <p:sp>
        <p:nvSpPr>
          <p:cNvPr id="76" name="Freeform 75">
            <a:extLst>
              <a:ext uri="{FF2B5EF4-FFF2-40B4-BE49-F238E27FC236}">
                <a16:creationId xmlns:a16="http://schemas.microsoft.com/office/drawing/2014/main" id="{DBD6B32E-46CB-0341-B223-820F57A9BECB}"/>
              </a:ext>
            </a:extLst>
          </p:cNvPr>
          <p:cNvSpPr/>
          <p:nvPr/>
        </p:nvSpPr>
        <p:spPr>
          <a:xfrm>
            <a:off x="7417244" y="3171330"/>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76">
            <a:extLst>
              <a:ext uri="{FF2B5EF4-FFF2-40B4-BE49-F238E27FC236}">
                <a16:creationId xmlns:a16="http://schemas.microsoft.com/office/drawing/2014/main" id="{0E75A2AA-25C4-084E-B5C6-31AF1CE0C60A}"/>
              </a:ext>
            </a:extLst>
          </p:cNvPr>
          <p:cNvSpPr/>
          <p:nvPr/>
        </p:nvSpPr>
        <p:spPr>
          <a:xfrm>
            <a:off x="8335778" y="2770315"/>
            <a:ext cx="16221" cy="162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77">
            <a:extLst>
              <a:ext uri="{FF2B5EF4-FFF2-40B4-BE49-F238E27FC236}">
                <a16:creationId xmlns:a16="http://schemas.microsoft.com/office/drawing/2014/main" id="{8881138F-DD3D-5047-8B24-46E1102C65D7}"/>
              </a:ext>
            </a:extLst>
          </p:cNvPr>
          <p:cNvSpPr/>
          <p:nvPr/>
        </p:nvSpPr>
        <p:spPr>
          <a:xfrm>
            <a:off x="8209934" y="2677831"/>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roup 78">
            <a:extLst>
              <a:ext uri="{FF2B5EF4-FFF2-40B4-BE49-F238E27FC236}">
                <a16:creationId xmlns:a16="http://schemas.microsoft.com/office/drawing/2014/main" id="{68B92AA4-2116-B64E-9366-73D63B1E2A32}"/>
              </a:ext>
            </a:extLst>
          </p:cNvPr>
          <p:cNvGrpSpPr/>
          <p:nvPr/>
        </p:nvGrpSpPr>
        <p:grpSpPr>
          <a:xfrm>
            <a:off x="8074044" y="4403024"/>
            <a:ext cx="540000" cy="540000"/>
            <a:chOff x="1504386" y="3807013"/>
            <a:chExt cx="598848" cy="596203"/>
          </a:xfrm>
        </p:grpSpPr>
        <p:sp>
          <p:nvSpPr>
            <p:cNvPr id="80" name="Freeform 79">
              <a:extLst>
                <a:ext uri="{FF2B5EF4-FFF2-40B4-BE49-F238E27FC236}">
                  <a16:creationId xmlns:a16="http://schemas.microsoft.com/office/drawing/2014/main" id="{3BB0DED4-F5C0-DD4E-9722-9A81910BB9BE}"/>
                </a:ext>
              </a:extLst>
            </p:cNvPr>
            <p:cNvSpPr/>
            <p:nvPr/>
          </p:nvSpPr>
          <p:spPr>
            <a:xfrm>
              <a:off x="1504386" y="3807013"/>
              <a:ext cx="598848" cy="596203"/>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62FB0ACA-2BDE-BF4A-A1FF-48CF3CA67FA6}"/>
                </a:ext>
              </a:extLst>
            </p:cNvPr>
            <p:cNvCxnSpPr>
              <a:cxnSpLocks/>
            </p:cNvCxnSpPr>
            <p:nvPr/>
          </p:nvCxnSpPr>
          <p:spPr>
            <a:xfrm>
              <a:off x="1803638" y="3948191"/>
              <a:ext cx="172" cy="345102"/>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975FDA7-2B2A-1546-BB29-FE86525A5E99}"/>
                </a:ext>
              </a:extLst>
            </p:cNvPr>
            <p:cNvCxnSpPr>
              <a:cxnSpLocks/>
            </p:cNvCxnSpPr>
            <p:nvPr/>
          </p:nvCxnSpPr>
          <p:spPr>
            <a:xfrm flipH="1">
              <a:off x="1617496" y="4113639"/>
              <a:ext cx="372284" cy="7103"/>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83" name="Freeform 82">
            <a:extLst>
              <a:ext uri="{FF2B5EF4-FFF2-40B4-BE49-F238E27FC236}">
                <a16:creationId xmlns:a16="http://schemas.microsoft.com/office/drawing/2014/main" id="{A285BBCA-8498-5147-84FE-55D8CA382B52}"/>
              </a:ext>
            </a:extLst>
          </p:cNvPr>
          <p:cNvSpPr/>
          <p:nvPr/>
        </p:nvSpPr>
        <p:spPr>
          <a:xfrm>
            <a:off x="9060248" y="2394036"/>
            <a:ext cx="16221" cy="126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a:extLst>
              <a:ext uri="{FF2B5EF4-FFF2-40B4-BE49-F238E27FC236}">
                <a16:creationId xmlns:a16="http://schemas.microsoft.com/office/drawing/2014/main" id="{4EEC0C71-9882-1C42-9F39-645ECE11AFBD}"/>
              </a:ext>
            </a:extLst>
          </p:cNvPr>
          <p:cNvSpPr/>
          <p:nvPr/>
        </p:nvSpPr>
        <p:spPr>
          <a:xfrm>
            <a:off x="8803480" y="3642306"/>
            <a:ext cx="521311" cy="524886"/>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solidFill>
                <a:latin typeface="Comic Sans MS" panose="030F0902030302020204" pitchFamily="66" charset="0"/>
                <a:cs typeface="Times New Roman" panose="02020603050405020304" pitchFamily="18" charset="0"/>
              </a:rPr>
              <a:t>Z</a:t>
            </a:r>
          </a:p>
        </p:txBody>
      </p:sp>
      <p:sp>
        <p:nvSpPr>
          <p:cNvPr id="85" name="Freeform 84">
            <a:extLst>
              <a:ext uri="{FF2B5EF4-FFF2-40B4-BE49-F238E27FC236}">
                <a16:creationId xmlns:a16="http://schemas.microsoft.com/office/drawing/2014/main" id="{BDC44C78-4406-5343-B64A-8206FDADFEAB}"/>
              </a:ext>
            </a:extLst>
          </p:cNvPr>
          <p:cNvSpPr/>
          <p:nvPr/>
        </p:nvSpPr>
        <p:spPr>
          <a:xfrm>
            <a:off x="8928635" y="2141132"/>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85">
            <a:extLst>
              <a:ext uri="{FF2B5EF4-FFF2-40B4-BE49-F238E27FC236}">
                <a16:creationId xmlns:a16="http://schemas.microsoft.com/office/drawing/2014/main" id="{099CFE86-E2ED-0149-9CF3-1888219D0DB0}"/>
              </a:ext>
            </a:extLst>
          </p:cNvPr>
          <p:cNvSpPr/>
          <p:nvPr/>
        </p:nvSpPr>
        <p:spPr>
          <a:xfrm>
            <a:off x="9951301" y="1850400"/>
            <a:ext cx="16221" cy="1800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a:extLst>
              <a:ext uri="{FF2B5EF4-FFF2-40B4-BE49-F238E27FC236}">
                <a16:creationId xmlns:a16="http://schemas.microsoft.com/office/drawing/2014/main" id="{5FA943AF-B674-C24E-B6EE-E9D20D993782}"/>
              </a:ext>
            </a:extLst>
          </p:cNvPr>
          <p:cNvSpPr/>
          <p:nvPr/>
        </p:nvSpPr>
        <p:spPr>
          <a:xfrm>
            <a:off x="9825302" y="1617597"/>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549E8400-BB31-184D-9504-8F1384113D1F}"/>
              </a:ext>
            </a:extLst>
          </p:cNvPr>
          <p:cNvGrpSpPr/>
          <p:nvPr/>
        </p:nvGrpSpPr>
        <p:grpSpPr>
          <a:xfrm>
            <a:off x="9689568" y="3638369"/>
            <a:ext cx="540000" cy="540000"/>
            <a:chOff x="1504386" y="3807013"/>
            <a:chExt cx="598848" cy="596203"/>
          </a:xfrm>
        </p:grpSpPr>
        <p:sp>
          <p:nvSpPr>
            <p:cNvPr id="89" name="Freeform 88">
              <a:extLst>
                <a:ext uri="{FF2B5EF4-FFF2-40B4-BE49-F238E27FC236}">
                  <a16:creationId xmlns:a16="http://schemas.microsoft.com/office/drawing/2014/main" id="{9245121B-4148-5D4A-ABBD-B3BFD35C6FA6}"/>
                </a:ext>
              </a:extLst>
            </p:cNvPr>
            <p:cNvSpPr/>
            <p:nvPr/>
          </p:nvSpPr>
          <p:spPr>
            <a:xfrm>
              <a:off x="1504386" y="3807013"/>
              <a:ext cx="598848" cy="596203"/>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3978A3A3-543A-014E-B7EA-4DBC75A9912D}"/>
                </a:ext>
              </a:extLst>
            </p:cNvPr>
            <p:cNvCxnSpPr>
              <a:cxnSpLocks/>
            </p:cNvCxnSpPr>
            <p:nvPr/>
          </p:nvCxnSpPr>
          <p:spPr>
            <a:xfrm>
              <a:off x="1803638" y="3948191"/>
              <a:ext cx="172" cy="345102"/>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4B99632-EA48-FF49-B433-3B8AC4A0718A}"/>
                </a:ext>
              </a:extLst>
            </p:cNvPr>
            <p:cNvCxnSpPr>
              <a:cxnSpLocks/>
            </p:cNvCxnSpPr>
            <p:nvPr/>
          </p:nvCxnSpPr>
          <p:spPr>
            <a:xfrm flipH="1">
              <a:off x="1617496" y="4113639"/>
              <a:ext cx="372284" cy="7103"/>
            </a:xfrm>
            <a:prstGeom prst="line">
              <a:avLst/>
            </a:prstGeom>
            <a:ln w="5080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92" name="Freeform 91">
            <a:extLst>
              <a:ext uri="{FF2B5EF4-FFF2-40B4-BE49-F238E27FC236}">
                <a16:creationId xmlns:a16="http://schemas.microsoft.com/office/drawing/2014/main" id="{CF4318DC-06B1-7543-9707-B846E50E0D5E}"/>
              </a:ext>
            </a:extLst>
          </p:cNvPr>
          <p:cNvSpPr/>
          <p:nvPr/>
        </p:nvSpPr>
        <p:spPr>
          <a:xfrm>
            <a:off x="10814217" y="3261592"/>
            <a:ext cx="16221" cy="432000"/>
          </a:xfrm>
          <a:custGeom>
            <a:avLst/>
            <a:gdLst>
              <a:gd name="connsiteX0" fmla="*/ 10049 w 20097"/>
              <a:gd name="connsiteY0" fmla="*/ 0 h 783771"/>
              <a:gd name="connsiteX1" fmla="*/ 20097 w 20097"/>
              <a:gd name="connsiteY1" fmla="*/ 452176 h 783771"/>
              <a:gd name="connsiteX2" fmla="*/ 0 w 20097"/>
              <a:gd name="connsiteY2" fmla="*/ 783771 h 783771"/>
              <a:gd name="connsiteX0" fmla="*/ 0 w 10048"/>
              <a:gd name="connsiteY0" fmla="*/ 0 h 791422"/>
              <a:gd name="connsiteX1" fmla="*/ 10048 w 10048"/>
              <a:gd name="connsiteY1" fmla="*/ 452176 h 791422"/>
              <a:gd name="connsiteX2" fmla="*/ 9080 w 10048"/>
              <a:gd name="connsiteY2" fmla="*/ 791422 h 791422"/>
              <a:gd name="connsiteX0" fmla="*/ 0 w 10048"/>
              <a:gd name="connsiteY0" fmla="*/ 0 h 802899"/>
              <a:gd name="connsiteX1" fmla="*/ 10048 w 10048"/>
              <a:gd name="connsiteY1" fmla="*/ 452176 h 802899"/>
              <a:gd name="connsiteX2" fmla="*/ 1428 w 10048"/>
              <a:gd name="connsiteY2" fmla="*/ 802899 h 802899"/>
              <a:gd name="connsiteX0" fmla="*/ 9087 w 10521"/>
              <a:gd name="connsiteY0" fmla="*/ 0 h 802899"/>
              <a:gd name="connsiteX1" fmla="*/ 6 w 10521"/>
              <a:gd name="connsiteY1" fmla="*/ 410090 h 802899"/>
              <a:gd name="connsiteX2" fmla="*/ 10515 w 10521"/>
              <a:gd name="connsiteY2" fmla="*/ 802899 h 802899"/>
              <a:gd name="connsiteX0" fmla="*/ 0 w 10048"/>
              <a:gd name="connsiteY0" fmla="*/ 0 h 802899"/>
              <a:gd name="connsiteX1" fmla="*/ 10048 w 10048"/>
              <a:gd name="connsiteY1" fmla="*/ 417742 h 802899"/>
              <a:gd name="connsiteX2" fmla="*/ 1428 w 10048"/>
              <a:gd name="connsiteY2" fmla="*/ 802899 h 802899"/>
              <a:gd name="connsiteX0" fmla="*/ 0 w 3565"/>
              <a:gd name="connsiteY0" fmla="*/ 0 h 802899"/>
              <a:gd name="connsiteX1" fmla="*/ 3565 w 3565"/>
              <a:gd name="connsiteY1" fmla="*/ 421863 h 802899"/>
              <a:gd name="connsiteX2" fmla="*/ 1428 w 3565"/>
              <a:gd name="connsiteY2" fmla="*/ 802899 h 802899"/>
            </a:gdLst>
            <a:ahLst/>
            <a:cxnLst>
              <a:cxn ang="0">
                <a:pos x="connsiteX0" y="connsiteY0"/>
              </a:cxn>
              <a:cxn ang="0">
                <a:pos x="connsiteX1" y="connsiteY1"/>
              </a:cxn>
              <a:cxn ang="0">
                <a:pos x="connsiteX2" y="connsiteY2"/>
              </a:cxn>
            </a:cxnLst>
            <a:rect l="l" t="t" r="r" b="b"/>
            <a:pathLst>
              <a:path w="3565" h="802899">
                <a:moveTo>
                  <a:pt x="0" y="0"/>
                </a:moveTo>
                <a:cubicBezTo>
                  <a:pt x="1188" y="140621"/>
                  <a:pt x="2377" y="281242"/>
                  <a:pt x="3565" y="421863"/>
                </a:cubicBezTo>
                <a:cubicBezTo>
                  <a:pt x="3242" y="534945"/>
                  <a:pt x="1751" y="689817"/>
                  <a:pt x="1428" y="80289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a:extLst>
              <a:ext uri="{FF2B5EF4-FFF2-40B4-BE49-F238E27FC236}">
                <a16:creationId xmlns:a16="http://schemas.microsoft.com/office/drawing/2014/main" id="{B8917D94-F560-404B-ACDA-FEE85228E570}"/>
              </a:ext>
            </a:extLst>
          </p:cNvPr>
          <p:cNvSpPr/>
          <p:nvPr/>
        </p:nvSpPr>
        <p:spPr>
          <a:xfrm>
            <a:off x="10572732" y="3638369"/>
            <a:ext cx="521311" cy="524886"/>
          </a:xfrm>
          <a:custGeom>
            <a:avLst/>
            <a:gdLst>
              <a:gd name="connsiteX0" fmla="*/ 0 w 1216908"/>
              <a:gd name="connsiteY0" fmla="*/ 6875 h 969401"/>
              <a:gd name="connsiteX1" fmla="*/ 6875 w 1216908"/>
              <a:gd name="connsiteY1" fmla="*/ 460637 h 969401"/>
              <a:gd name="connsiteX2" fmla="*/ 13750 w 1216908"/>
              <a:gd name="connsiteY2" fmla="*/ 969401 h 969401"/>
              <a:gd name="connsiteX3" fmla="*/ 763146 w 1216908"/>
              <a:gd name="connsiteY3" fmla="*/ 962526 h 969401"/>
              <a:gd name="connsiteX4" fmla="*/ 1216908 w 1216908"/>
              <a:gd name="connsiteY4" fmla="*/ 955651 h 969401"/>
              <a:gd name="connsiteX5" fmla="*/ 1196282 w 1216908"/>
              <a:gd name="connsiteY5" fmla="*/ 288757 h 969401"/>
              <a:gd name="connsiteX6" fmla="*/ 1210033 w 1216908"/>
              <a:gd name="connsiteY6" fmla="*/ 0 h 969401"/>
              <a:gd name="connsiteX7" fmla="*/ 605016 w 1216908"/>
              <a:gd name="connsiteY7" fmla="*/ 0 h 969401"/>
              <a:gd name="connsiteX8" fmla="*/ 0 w 1216908"/>
              <a:gd name="connsiteY8" fmla="*/ 6875 h 96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6908" h="969401">
                <a:moveTo>
                  <a:pt x="0" y="6875"/>
                </a:moveTo>
                <a:lnTo>
                  <a:pt x="6875" y="460637"/>
                </a:lnTo>
                <a:cubicBezTo>
                  <a:pt x="9167" y="630225"/>
                  <a:pt x="11458" y="799813"/>
                  <a:pt x="13750" y="969401"/>
                </a:cubicBezTo>
                <a:lnTo>
                  <a:pt x="763146" y="962526"/>
                </a:lnTo>
                <a:lnTo>
                  <a:pt x="1216908" y="955651"/>
                </a:lnTo>
                <a:lnTo>
                  <a:pt x="1196282" y="288757"/>
                </a:lnTo>
                <a:lnTo>
                  <a:pt x="1210033" y="0"/>
                </a:lnTo>
                <a:lnTo>
                  <a:pt x="605016" y="0"/>
                </a:lnTo>
                <a:lnTo>
                  <a:pt x="0" y="6875"/>
                </a:lnTo>
                <a:close/>
              </a:path>
            </a:pathLst>
          </a:cu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tx1"/>
                </a:solidFill>
                <a:latin typeface="Comic Sans MS" panose="030F0902030302020204" pitchFamily="66" charset="0"/>
                <a:cs typeface="Times New Roman" panose="02020603050405020304" pitchFamily="18" charset="0"/>
              </a:rPr>
              <a:t>Z</a:t>
            </a:r>
          </a:p>
        </p:txBody>
      </p:sp>
      <p:sp>
        <p:nvSpPr>
          <p:cNvPr id="94" name="Freeform 93">
            <a:extLst>
              <a:ext uri="{FF2B5EF4-FFF2-40B4-BE49-F238E27FC236}">
                <a16:creationId xmlns:a16="http://schemas.microsoft.com/office/drawing/2014/main" id="{6008971D-5037-714F-B107-F9E8A0F4DE17}"/>
              </a:ext>
            </a:extLst>
          </p:cNvPr>
          <p:cNvSpPr/>
          <p:nvPr/>
        </p:nvSpPr>
        <p:spPr>
          <a:xfrm>
            <a:off x="10716354" y="3165960"/>
            <a:ext cx="251999" cy="251999"/>
          </a:xfrm>
          <a:custGeom>
            <a:avLst/>
            <a:gdLst>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07525 w 1065654"/>
              <a:gd name="connsiteY10" fmla="*/ 144379 h 1045029"/>
              <a:gd name="connsiteX11" fmla="*/ 721895 w 1065654"/>
              <a:gd name="connsiteY11" fmla="*/ 0 h 1045029"/>
              <a:gd name="connsiteX12" fmla="*/ 474388 w 1065654"/>
              <a:gd name="connsiteY12" fmla="*/ 0 h 1045029"/>
              <a:gd name="connsiteX0" fmla="*/ 474388 w 1065654"/>
              <a:gd name="connsiteY0" fmla="*/ 0 h 1045029"/>
              <a:gd name="connsiteX1" fmla="*/ 178755 w 1065654"/>
              <a:gd name="connsiteY1" fmla="*/ 96253 h 1045029"/>
              <a:gd name="connsiteX2" fmla="*/ 0 w 1065654"/>
              <a:gd name="connsiteY2" fmla="*/ 350635 h 1045029"/>
              <a:gd name="connsiteX3" fmla="*/ 6876 w 1065654"/>
              <a:gd name="connsiteY3" fmla="*/ 680644 h 1045029"/>
              <a:gd name="connsiteX4" fmla="*/ 199381 w 1065654"/>
              <a:gd name="connsiteY4" fmla="*/ 907525 h 1045029"/>
              <a:gd name="connsiteX5" fmla="*/ 495014 w 1065654"/>
              <a:gd name="connsiteY5" fmla="*/ 1045029 h 1045029"/>
              <a:gd name="connsiteX6" fmla="*/ 831898 w 1065654"/>
              <a:gd name="connsiteY6" fmla="*/ 1038154 h 1045029"/>
              <a:gd name="connsiteX7" fmla="*/ 1031279 w 1065654"/>
              <a:gd name="connsiteY7" fmla="*/ 886900 h 1045029"/>
              <a:gd name="connsiteX8" fmla="*/ 1065654 w 1065654"/>
              <a:gd name="connsiteY8" fmla="*/ 660018 h 1045029"/>
              <a:gd name="connsiteX9" fmla="*/ 1017528 w 1065654"/>
              <a:gd name="connsiteY9" fmla="*/ 391886 h 1045029"/>
              <a:gd name="connsiteX10" fmla="*/ 973513 w 1065654"/>
              <a:gd name="connsiteY10" fmla="*/ 130239 h 1045029"/>
              <a:gd name="connsiteX11" fmla="*/ 721895 w 1065654"/>
              <a:gd name="connsiteY11" fmla="*/ 0 h 1045029"/>
              <a:gd name="connsiteX12" fmla="*/ 474388 w 1065654"/>
              <a:gd name="connsiteY12" fmla="*/ 0 h 1045029"/>
              <a:gd name="connsiteX0" fmla="*/ 474388 w 1088230"/>
              <a:gd name="connsiteY0" fmla="*/ 0 h 1045029"/>
              <a:gd name="connsiteX1" fmla="*/ 178755 w 1088230"/>
              <a:gd name="connsiteY1" fmla="*/ 96253 h 1045029"/>
              <a:gd name="connsiteX2" fmla="*/ 0 w 1088230"/>
              <a:gd name="connsiteY2" fmla="*/ 350635 h 1045029"/>
              <a:gd name="connsiteX3" fmla="*/ 6876 w 1088230"/>
              <a:gd name="connsiteY3" fmla="*/ 680644 h 1045029"/>
              <a:gd name="connsiteX4" fmla="*/ 199381 w 1088230"/>
              <a:gd name="connsiteY4" fmla="*/ 907525 h 1045029"/>
              <a:gd name="connsiteX5" fmla="*/ 495014 w 1088230"/>
              <a:gd name="connsiteY5" fmla="*/ 1045029 h 1045029"/>
              <a:gd name="connsiteX6" fmla="*/ 831898 w 1088230"/>
              <a:gd name="connsiteY6" fmla="*/ 1038154 h 1045029"/>
              <a:gd name="connsiteX7" fmla="*/ 1031279 w 1088230"/>
              <a:gd name="connsiteY7" fmla="*/ 886900 h 1045029"/>
              <a:gd name="connsiteX8" fmla="*/ 1065654 w 1088230"/>
              <a:gd name="connsiteY8" fmla="*/ 660018 h 1045029"/>
              <a:gd name="connsiteX9" fmla="*/ 1088230 w 1088230"/>
              <a:gd name="connsiteY9" fmla="*/ 396600 h 1045029"/>
              <a:gd name="connsiteX10" fmla="*/ 973513 w 1088230"/>
              <a:gd name="connsiteY10" fmla="*/ 130239 h 1045029"/>
              <a:gd name="connsiteX11" fmla="*/ 721895 w 1088230"/>
              <a:gd name="connsiteY11" fmla="*/ 0 h 1045029"/>
              <a:gd name="connsiteX12" fmla="*/ 474388 w 1088230"/>
              <a:gd name="connsiteY12" fmla="*/ 0 h 1045029"/>
              <a:gd name="connsiteX0" fmla="*/ 474388 w 1122215"/>
              <a:gd name="connsiteY0" fmla="*/ 0 h 1045029"/>
              <a:gd name="connsiteX1" fmla="*/ 178755 w 1122215"/>
              <a:gd name="connsiteY1" fmla="*/ 96253 h 1045029"/>
              <a:gd name="connsiteX2" fmla="*/ 0 w 1122215"/>
              <a:gd name="connsiteY2" fmla="*/ 350635 h 1045029"/>
              <a:gd name="connsiteX3" fmla="*/ 6876 w 1122215"/>
              <a:gd name="connsiteY3" fmla="*/ 680644 h 1045029"/>
              <a:gd name="connsiteX4" fmla="*/ 199381 w 1122215"/>
              <a:gd name="connsiteY4" fmla="*/ 907525 h 1045029"/>
              <a:gd name="connsiteX5" fmla="*/ 495014 w 1122215"/>
              <a:gd name="connsiteY5" fmla="*/ 1045029 h 1045029"/>
              <a:gd name="connsiteX6" fmla="*/ 831898 w 1122215"/>
              <a:gd name="connsiteY6" fmla="*/ 1038154 h 1045029"/>
              <a:gd name="connsiteX7" fmla="*/ 1031279 w 1122215"/>
              <a:gd name="connsiteY7" fmla="*/ 886900 h 1045029"/>
              <a:gd name="connsiteX8" fmla="*/ 1122215 w 1122215"/>
              <a:gd name="connsiteY8" fmla="*/ 674158 h 1045029"/>
              <a:gd name="connsiteX9" fmla="*/ 1088230 w 1122215"/>
              <a:gd name="connsiteY9" fmla="*/ 396600 h 1045029"/>
              <a:gd name="connsiteX10" fmla="*/ 973513 w 1122215"/>
              <a:gd name="connsiteY10" fmla="*/ 130239 h 1045029"/>
              <a:gd name="connsiteX11" fmla="*/ 721895 w 1122215"/>
              <a:gd name="connsiteY11" fmla="*/ 0 h 1045029"/>
              <a:gd name="connsiteX12" fmla="*/ 474388 w 1122215"/>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0 h 1045029"/>
              <a:gd name="connsiteX1" fmla="*/ 198648 w 1142108"/>
              <a:gd name="connsiteY1" fmla="*/ 96253 h 1045029"/>
              <a:gd name="connsiteX2" fmla="*/ 19893 w 1142108"/>
              <a:gd name="connsiteY2" fmla="*/ 350635 h 1045029"/>
              <a:gd name="connsiteX3" fmla="*/ 26769 w 1142108"/>
              <a:gd name="connsiteY3" fmla="*/ 680644 h 1045029"/>
              <a:gd name="connsiteX4" fmla="*/ 219274 w 1142108"/>
              <a:gd name="connsiteY4" fmla="*/ 907525 h 1045029"/>
              <a:gd name="connsiteX5" fmla="*/ 514907 w 1142108"/>
              <a:gd name="connsiteY5" fmla="*/ 1045029 h 1045029"/>
              <a:gd name="connsiteX6" fmla="*/ 851791 w 1142108"/>
              <a:gd name="connsiteY6" fmla="*/ 1038154 h 1045029"/>
              <a:gd name="connsiteX7" fmla="*/ 1051172 w 1142108"/>
              <a:gd name="connsiteY7" fmla="*/ 886900 h 1045029"/>
              <a:gd name="connsiteX8" fmla="*/ 1142108 w 1142108"/>
              <a:gd name="connsiteY8" fmla="*/ 674158 h 1045029"/>
              <a:gd name="connsiteX9" fmla="*/ 1108123 w 1142108"/>
              <a:gd name="connsiteY9" fmla="*/ 396600 h 1045029"/>
              <a:gd name="connsiteX10" fmla="*/ 993406 w 1142108"/>
              <a:gd name="connsiteY10" fmla="*/ 130239 h 1045029"/>
              <a:gd name="connsiteX11" fmla="*/ 741788 w 1142108"/>
              <a:gd name="connsiteY11" fmla="*/ 0 h 1045029"/>
              <a:gd name="connsiteX12" fmla="*/ 494281 w 1142108"/>
              <a:gd name="connsiteY12" fmla="*/ 0 h 1045029"/>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2108"/>
              <a:gd name="connsiteY0" fmla="*/ 14234 h 1059263"/>
              <a:gd name="connsiteX1" fmla="*/ 198648 w 1142108"/>
              <a:gd name="connsiteY1" fmla="*/ 110487 h 1059263"/>
              <a:gd name="connsiteX2" fmla="*/ 19893 w 1142108"/>
              <a:gd name="connsiteY2" fmla="*/ 364869 h 1059263"/>
              <a:gd name="connsiteX3" fmla="*/ 26769 w 1142108"/>
              <a:gd name="connsiteY3" fmla="*/ 694878 h 1059263"/>
              <a:gd name="connsiteX4" fmla="*/ 219274 w 1142108"/>
              <a:gd name="connsiteY4" fmla="*/ 921759 h 1059263"/>
              <a:gd name="connsiteX5" fmla="*/ 514907 w 1142108"/>
              <a:gd name="connsiteY5" fmla="*/ 1059263 h 1059263"/>
              <a:gd name="connsiteX6" fmla="*/ 851791 w 1142108"/>
              <a:gd name="connsiteY6" fmla="*/ 1052388 h 1059263"/>
              <a:gd name="connsiteX7" fmla="*/ 1051172 w 1142108"/>
              <a:gd name="connsiteY7" fmla="*/ 901134 h 1059263"/>
              <a:gd name="connsiteX8" fmla="*/ 1142108 w 1142108"/>
              <a:gd name="connsiteY8" fmla="*/ 688392 h 1059263"/>
              <a:gd name="connsiteX9" fmla="*/ 1108123 w 1142108"/>
              <a:gd name="connsiteY9" fmla="*/ 410834 h 1059263"/>
              <a:gd name="connsiteX10" fmla="*/ 993406 w 1142108"/>
              <a:gd name="connsiteY10" fmla="*/ 144473 h 1059263"/>
              <a:gd name="connsiteX11" fmla="*/ 741788 w 1142108"/>
              <a:gd name="connsiteY11" fmla="*/ 14234 h 1059263"/>
              <a:gd name="connsiteX12" fmla="*/ 494281 w 1142108"/>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59263"/>
              <a:gd name="connsiteX1" fmla="*/ 198648 w 1144623"/>
              <a:gd name="connsiteY1" fmla="*/ 110487 h 1059263"/>
              <a:gd name="connsiteX2" fmla="*/ 19893 w 1144623"/>
              <a:gd name="connsiteY2" fmla="*/ 364869 h 1059263"/>
              <a:gd name="connsiteX3" fmla="*/ 26769 w 1144623"/>
              <a:gd name="connsiteY3" fmla="*/ 694878 h 1059263"/>
              <a:gd name="connsiteX4" fmla="*/ 219274 w 1144623"/>
              <a:gd name="connsiteY4" fmla="*/ 921759 h 1059263"/>
              <a:gd name="connsiteX5" fmla="*/ 514907 w 1144623"/>
              <a:gd name="connsiteY5" fmla="*/ 1059263 h 1059263"/>
              <a:gd name="connsiteX6" fmla="*/ 851791 w 1144623"/>
              <a:gd name="connsiteY6" fmla="*/ 1052388 h 1059263"/>
              <a:gd name="connsiteX7" fmla="*/ 1051172 w 1144623"/>
              <a:gd name="connsiteY7" fmla="*/ 901134 h 1059263"/>
              <a:gd name="connsiteX8" fmla="*/ 1142108 w 1144623"/>
              <a:gd name="connsiteY8" fmla="*/ 688392 h 1059263"/>
              <a:gd name="connsiteX9" fmla="*/ 1108123 w 1144623"/>
              <a:gd name="connsiteY9" fmla="*/ 410834 h 1059263"/>
              <a:gd name="connsiteX10" fmla="*/ 993406 w 1144623"/>
              <a:gd name="connsiteY10" fmla="*/ 144473 h 1059263"/>
              <a:gd name="connsiteX11" fmla="*/ 741788 w 1144623"/>
              <a:gd name="connsiteY11" fmla="*/ 14234 h 1059263"/>
              <a:gd name="connsiteX12" fmla="*/ 494281 w 1144623"/>
              <a:gd name="connsiteY12" fmla="*/ 14234 h 1059263"/>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494281 w 1144623"/>
              <a:gd name="connsiteY0" fmla="*/ 14234 h 1074036"/>
              <a:gd name="connsiteX1" fmla="*/ 198648 w 1144623"/>
              <a:gd name="connsiteY1" fmla="*/ 110487 h 1074036"/>
              <a:gd name="connsiteX2" fmla="*/ 19893 w 1144623"/>
              <a:gd name="connsiteY2" fmla="*/ 364869 h 1074036"/>
              <a:gd name="connsiteX3" fmla="*/ 26769 w 1144623"/>
              <a:gd name="connsiteY3" fmla="*/ 694878 h 1074036"/>
              <a:gd name="connsiteX4" fmla="*/ 219274 w 1144623"/>
              <a:gd name="connsiteY4" fmla="*/ 921759 h 1074036"/>
              <a:gd name="connsiteX5" fmla="*/ 514907 w 1144623"/>
              <a:gd name="connsiteY5" fmla="*/ 1059263 h 1074036"/>
              <a:gd name="connsiteX6" fmla="*/ 851791 w 1144623"/>
              <a:gd name="connsiteY6" fmla="*/ 1052388 h 1074036"/>
              <a:gd name="connsiteX7" fmla="*/ 1051172 w 1144623"/>
              <a:gd name="connsiteY7" fmla="*/ 901134 h 1074036"/>
              <a:gd name="connsiteX8" fmla="*/ 1142108 w 1144623"/>
              <a:gd name="connsiteY8" fmla="*/ 688392 h 1074036"/>
              <a:gd name="connsiteX9" fmla="*/ 1108123 w 1144623"/>
              <a:gd name="connsiteY9" fmla="*/ 410834 h 1074036"/>
              <a:gd name="connsiteX10" fmla="*/ 993406 w 1144623"/>
              <a:gd name="connsiteY10" fmla="*/ 144473 h 1074036"/>
              <a:gd name="connsiteX11" fmla="*/ 741788 w 1144623"/>
              <a:gd name="connsiteY11" fmla="*/ 14234 h 1074036"/>
              <a:gd name="connsiteX12" fmla="*/ 494281 w 1144623"/>
              <a:gd name="connsiteY12" fmla="*/ 14234 h 1074036"/>
              <a:gd name="connsiteX0" fmla="*/ 506217 w 1156559"/>
              <a:gd name="connsiteY0" fmla="*/ 14234 h 1074036"/>
              <a:gd name="connsiteX1" fmla="*/ 210584 w 1156559"/>
              <a:gd name="connsiteY1" fmla="*/ 110487 h 1074036"/>
              <a:gd name="connsiteX2" fmla="*/ 31829 w 1156559"/>
              <a:gd name="connsiteY2" fmla="*/ 364869 h 1074036"/>
              <a:gd name="connsiteX3" fmla="*/ 38705 w 1156559"/>
              <a:gd name="connsiteY3" fmla="*/ 694878 h 1074036"/>
              <a:gd name="connsiteX4" fmla="*/ 231210 w 1156559"/>
              <a:gd name="connsiteY4" fmla="*/ 921759 h 1074036"/>
              <a:gd name="connsiteX5" fmla="*/ 526843 w 1156559"/>
              <a:gd name="connsiteY5" fmla="*/ 1059263 h 1074036"/>
              <a:gd name="connsiteX6" fmla="*/ 863727 w 1156559"/>
              <a:gd name="connsiteY6" fmla="*/ 1052388 h 1074036"/>
              <a:gd name="connsiteX7" fmla="*/ 1063108 w 1156559"/>
              <a:gd name="connsiteY7" fmla="*/ 901134 h 1074036"/>
              <a:gd name="connsiteX8" fmla="*/ 1154044 w 1156559"/>
              <a:gd name="connsiteY8" fmla="*/ 688392 h 1074036"/>
              <a:gd name="connsiteX9" fmla="*/ 1120059 w 1156559"/>
              <a:gd name="connsiteY9" fmla="*/ 410834 h 1074036"/>
              <a:gd name="connsiteX10" fmla="*/ 1005342 w 1156559"/>
              <a:gd name="connsiteY10" fmla="*/ 144473 h 1074036"/>
              <a:gd name="connsiteX11" fmla="*/ 753724 w 1156559"/>
              <a:gd name="connsiteY11" fmla="*/ 14234 h 1074036"/>
              <a:gd name="connsiteX12" fmla="*/ 506217 w 1156559"/>
              <a:gd name="connsiteY12" fmla="*/ 14234 h 1074036"/>
              <a:gd name="connsiteX0" fmla="*/ 504290 w 1154632"/>
              <a:gd name="connsiteY0" fmla="*/ 14234 h 1074036"/>
              <a:gd name="connsiteX1" fmla="*/ 208657 w 1154632"/>
              <a:gd name="connsiteY1" fmla="*/ 110487 h 1074036"/>
              <a:gd name="connsiteX2" fmla="*/ 29902 w 1154632"/>
              <a:gd name="connsiteY2" fmla="*/ 364869 h 1074036"/>
              <a:gd name="connsiteX3" fmla="*/ 36778 w 1154632"/>
              <a:gd name="connsiteY3" fmla="*/ 694878 h 1074036"/>
              <a:gd name="connsiteX4" fmla="*/ 229283 w 1154632"/>
              <a:gd name="connsiteY4" fmla="*/ 921759 h 1074036"/>
              <a:gd name="connsiteX5" fmla="*/ 524916 w 1154632"/>
              <a:gd name="connsiteY5" fmla="*/ 1059263 h 1074036"/>
              <a:gd name="connsiteX6" fmla="*/ 861800 w 1154632"/>
              <a:gd name="connsiteY6" fmla="*/ 1052388 h 1074036"/>
              <a:gd name="connsiteX7" fmla="*/ 1061181 w 1154632"/>
              <a:gd name="connsiteY7" fmla="*/ 901134 h 1074036"/>
              <a:gd name="connsiteX8" fmla="*/ 1152117 w 1154632"/>
              <a:gd name="connsiteY8" fmla="*/ 688392 h 1074036"/>
              <a:gd name="connsiteX9" fmla="*/ 1118132 w 1154632"/>
              <a:gd name="connsiteY9" fmla="*/ 410834 h 1074036"/>
              <a:gd name="connsiteX10" fmla="*/ 1003415 w 1154632"/>
              <a:gd name="connsiteY10" fmla="*/ 144473 h 1074036"/>
              <a:gd name="connsiteX11" fmla="*/ 751797 w 1154632"/>
              <a:gd name="connsiteY11" fmla="*/ 14234 h 1074036"/>
              <a:gd name="connsiteX12" fmla="*/ 504290 w 1154632"/>
              <a:gd name="connsiteY12" fmla="*/ 14234 h 1074036"/>
              <a:gd name="connsiteX0" fmla="*/ 504290 w 1154632"/>
              <a:gd name="connsiteY0" fmla="*/ 10354 h 1079583"/>
              <a:gd name="connsiteX1" fmla="*/ 208657 w 1154632"/>
              <a:gd name="connsiteY1" fmla="*/ 116034 h 1079583"/>
              <a:gd name="connsiteX2" fmla="*/ 29902 w 1154632"/>
              <a:gd name="connsiteY2" fmla="*/ 370416 h 1079583"/>
              <a:gd name="connsiteX3" fmla="*/ 36778 w 1154632"/>
              <a:gd name="connsiteY3" fmla="*/ 700425 h 1079583"/>
              <a:gd name="connsiteX4" fmla="*/ 229283 w 1154632"/>
              <a:gd name="connsiteY4" fmla="*/ 927306 h 1079583"/>
              <a:gd name="connsiteX5" fmla="*/ 524916 w 1154632"/>
              <a:gd name="connsiteY5" fmla="*/ 1064810 h 1079583"/>
              <a:gd name="connsiteX6" fmla="*/ 861800 w 1154632"/>
              <a:gd name="connsiteY6" fmla="*/ 1057935 h 1079583"/>
              <a:gd name="connsiteX7" fmla="*/ 1061181 w 1154632"/>
              <a:gd name="connsiteY7" fmla="*/ 906681 h 1079583"/>
              <a:gd name="connsiteX8" fmla="*/ 1152117 w 1154632"/>
              <a:gd name="connsiteY8" fmla="*/ 693939 h 1079583"/>
              <a:gd name="connsiteX9" fmla="*/ 1118132 w 1154632"/>
              <a:gd name="connsiteY9" fmla="*/ 416381 h 1079583"/>
              <a:gd name="connsiteX10" fmla="*/ 1003415 w 1154632"/>
              <a:gd name="connsiteY10" fmla="*/ 150020 h 1079583"/>
              <a:gd name="connsiteX11" fmla="*/ 751797 w 1154632"/>
              <a:gd name="connsiteY11" fmla="*/ 19781 h 1079583"/>
              <a:gd name="connsiteX12" fmla="*/ 504290 w 1154632"/>
              <a:gd name="connsiteY12" fmla="*/ 10354 h 1079583"/>
              <a:gd name="connsiteX0" fmla="*/ 504290 w 1169781"/>
              <a:gd name="connsiteY0" fmla="*/ 10354 h 1079583"/>
              <a:gd name="connsiteX1" fmla="*/ 208657 w 1169781"/>
              <a:gd name="connsiteY1" fmla="*/ 116034 h 1079583"/>
              <a:gd name="connsiteX2" fmla="*/ 29902 w 1169781"/>
              <a:gd name="connsiteY2" fmla="*/ 370416 h 1079583"/>
              <a:gd name="connsiteX3" fmla="*/ 36778 w 1169781"/>
              <a:gd name="connsiteY3" fmla="*/ 700425 h 1079583"/>
              <a:gd name="connsiteX4" fmla="*/ 229283 w 1169781"/>
              <a:gd name="connsiteY4" fmla="*/ 927306 h 1079583"/>
              <a:gd name="connsiteX5" fmla="*/ 524916 w 1169781"/>
              <a:gd name="connsiteY5" fmla="*/ 1064810 h 1079583"/>
              <a:gd name="connsiteX6" fmla="*/ 861800 w 1169781"/>
              <a:gd name="connsiteY6" fmla="*/ 1057935 h 1079583"/>
              <a:gd name="connsiteX7" fmla="*/ 1061181 w 1169781"/>
              <a:gd name="connsiteY7" fmla="*/ 906681 h 1079583"/>
              <a:gd name="connsiteX8" fmla="*/ 1152117 w 1169781"/>
              <a:gd name="connsiteY8" fmla="*/ 693939 h 1079583"/>
              <a:gd name="connsiteX9" fmla="*/ 1155839 w 1169781"/>
              <a:gd name="connsiteY9" fmla="*/ 421095 h 1079583"/>
              <a:gd name="connsiteX10" fmla="*/ 1003415 w 1169781"/>
              <a:gd name="connsiteY10" fmla="*/ 150020 h 1079583"/>
              <a:gd name="connsiteX11" fmla="*/ 751797 w 1169781"/>
              <a:gd name="connsiteY11" fmla="*/ 19781 h 1079583"/>
              <a:gd name="connsiteX12" fmla="*/ 504290 w 1169781"/>
              <a:gd name="connsiteY12" fmla="*/ 10354 h 1079583"/>
              <a:gd name="connsiteX0" fmla="*/ 493217 w 1158708"/>
              <a:gd name="connsiteY0" fmla="*/ 10354 h 1078317"/>
              <a:gd name="connsiteX1" fmla="*/ 197584 w 1158708"/>
              <a:gd name="connsiteY1" fmla="*/ 116034 h 1078317"/>
              <a:gd name="connsiteX2" fmla="*/ 18829 w 1158708"/>
              <a:gd name="connsiteY2" fmla="*/ 370416 h 1078317"/>
              <a:gd name="connsiteX3" fmla="*/ 25705 w 1158708"/>
              <a:gd name="connsiteY3" fmla="*/ 700425 h 1078317"/>
              <a:gd name="connsiteX4" fmla="*/ 199356 w 1158708"/>
              <a:gd name="connsiteY4" fmla="*/ 946160 h 1078317"/>
              <a:gd name="connsiteX5" fmla="*/ 513843 w 1158708"/>
              <a:gd name="connsiteY5" fmla="*/ 1064810 h 1078317"/>
              <a:gd name="connsiteX6" fmla="*/ 850727 w 1158708"/>
              <a:gd name="connsiteY6" fmla="*/ 1057935 h 1078317"/>
              <a:gd name="connsiteX7" fmla="*/ 1050108 w 1158708"/>
              <a:gd name="connsiteY7" fmla="*/ 906681 h 1078317"/>
              <a:gd name="connsiteX8" fmla="*/ 1141044 w 1158708"/>
              <a:gd name="connsiteY8" fmla="*/ 693939 h 1078317"/>
              <a:gd name="connsiteX9" fmla="*/ 1144766 w 1158708"/>
              <a:gd name="connsiteY9" fmla="*/ 421095 h 1078317"/>
              <a:gd name="connsiteX10" fmla="*/ 992342 w 1158708"/>
              <a:gd name="connsiteY10" fmla="*/ 150020 h 1078317"/>
              <a:gd name="connsiteX11" fmla="*/ 740724 w 1158708"/>
              <a:gd name="connsiteY11" fmla="*/ 19781 h 1078317"/>
              <a:gd name="connsiteX12" fmla="*/ 493217 w 1158708"/>
              <a:gd name="connsiteY12" fmla="*/ 10354 h 1078317"/>
              <a:gd name="connsiteX0" fmla="*/ 492654 w 1158145"/>
              <a:gd name="connsiteY0" fmla="*/ 10354 h 1076829"/>
              <a:gd name="connsiteX1" fmla="*/ 197021 w 1158145"/>
              <a:gd name="connsiteY1" fmla="*/ 116034 h 1076829"/>
              <a:gd name="connsiteX2" fmla="*/ 18266 w 1158145"/>
              <a:gd name="connsiteY2" fmla="*/ 370416 h 1076829"/>
              <a:gd name="connsiteX3" fmla="*/ 25142 w 1158145"/>
              <a:gd name="connsiteY3" fmla="*/ 700425 h 1076829"/>
              <a:gd name="connsiteX4" fmla="*/ 188525 w 1158145"/>
              <a:gd name="connsiteY4" fmla="*/ 968937 h 1076829"/>
              <a:gd name="connsiteX5" fmla="*/ 513280 w 1158145"/>
              <a:gd name="connsiteY5" fmla="*/ 1064810 h 1076829"/>
              <a:gd name="connsiteX6" fmla="*/ 850164 w 1158145"/>
              <a:gd name="connsiteY6" fmla="*/ 1057935 h 1076829"/>
              <a:gd name="connsiteX7" fmla="*/ 1049545 w 1158145"/>
              <a:gd name="connsiteY7" fmla="*/ 906681 h 1076829"/>
              <a:gd name="connsiteX8" fmla="*/ 1140481 w 1158145"/>
              <a:gd name="connsiteY8" fmla="*/ 693939 h 1076829"/>
              <a:gd name="connsiteX9" fmla="*/ 1144203 w 1158145"/>
              <a:gd name="connsiteY9" fmla="*/ 421095 h 1076829"/>
              <a:gd name="connsiteX10" fmla="*/ 991779 w 1158145"/>
              <a:gd name="connsiteY10" fmla="*/ 150020 h 1076829"/>
              <a:gd name="connsiteX11" fmla="*/ 740161 w 1158145"/>
              <a:gd name="connsiteY11" fmla="*/ 19781 h 1076829"/>
              <a:gd name="connsiteX12" fmla="*/ 492654 w 1158145"/>
              <a:gd name="connsiteY12" fmla="*/ 10354 h 1076829"/>
              <a:gd name="connsiteX0" fmla="*/ 492654 w 1158145"/>
              <a:gd name="connsiteY0" fmla="*/ 10354 h 1107942"/>
              <a:gd name="connsiteX1" fmla="*/ 197021 w 1158145"/>
              <a:gd name="connsiteY1" fmla="*/ 116034 h 1107942"/>
              <a:gd name="connsiteX2" fmla="*/ 18266 w 1158145"/>
              <a:gd name="connsiteY2" fmla="*/ 370416 h 1107942"/>
              <a:gd name="connsiteX3" fmla="*/ 25142 w 1158145"/>
              <a:gd name="connsiteY3" fmla="*/ 700425 h 1107942"/>
              <a:gd name="connsiteX4" fmla="*/ 188525 w 1158145"/>
              <a:gd name="connsiteY4" fmla="*/ 968937 h 1107942"/>
              <a:gd name="connsiteX5" fmla="*/ 506436 w 1158145"/>
              <a:gd name="connsiteY5" fmla="*/ 1103856 h 1107942"/>
              <a:gd name="connsiteX6" fmla="*/ 850164 w 1158145"/>
              <a:gd name="connsiteY6" fmla="*/ 1057935 h 1107942"/>
              <a:gd name="connsiteX7" fmla="*/ 1049545 w 1158145"/>
              <a:gd name="connsiteY7" fmla="*/ 906681 h 1107942"/>
              <a:gd name="connsiteX8" fmla="*/ 1140481 w 1158145"/>
              <a:gd name="connsiteY8" fmla="*/ 693939 h 1107942"/>
              <a:gd name="connsiteX9" fmla="*/ 1144203 w 1158145"/>
              <a:gd name="connsiteY9" fmla="*/ 421095 h 1107942"/>
              <a:gd name="connsiteX10" fmla="*/ 991779 w 1158145"/>
              <a:gd name="connsiteY10" fmla="*/ 150020 h 1107942"/>
              <a:gd name="connsiteX11" fmla="*/ 740161 w 1158145"/>
              <a:gd name="connsiteY11" fmla="*/ 19781 h 1107942"/>
              <a:gd name="connsiteX12" fmla="*/ 492654 w 1158145"/>
              <a:gd name="connsiteY12" fmla="*/ 10354 h 110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8145" h="1107942">
                <a:moveTo>
                  <a:pt x="492654" y="10354"/>
                </a:moveTo>
                <a:cubicBezTo>
                  <a:pt x="402131" y="26396"/>
                  <a:pt x="276086" y="56024"/>
                  <a:pt x="197021" y="116034"/>
                </a:cubicBezTo>
                <a:cubicBezTo>
                  <a:pt x="117956" y="176044"/>
                  <a:pt x="46913" y="273018"/>
                  <a:pt x="18266" y="370416"/>
                </a:cubicBezTo>
                <a:cubicBezTo>
                  <a:pt x="-10381" y="467815"/>
                  <a:pt x="-3235" y="600671"/>
                  <a:pt x="25142" y="700425"/>
                </a:cubicBezTo>
                <a:cubicBezTo>
                  <a:pt x="53519" y="800179"/>
                  <a:pt x="108309" y="901699"/>
                  <a:pt x="188525" y="968937"/>
                </a:cubicBezTo>
                <a:cubicBezTo>
                  <a:pt x="268741" y="1036175"/>
                  <a:pt x="396163" y="1089023"/>
                  <a:pt x="506436" y="1103856"/>
                </a:cubicBezTo>
                <a:cubicBezTo>
                  <a:pt x="616709" y="1118689"/>
                  <a:pt x="759646" y="1090797"/>
                  <a:pt x="850164" y="1057935"/>
                </a:cubicBezTo>
                <a:cubicBezTo>
                  <a:pt x="940682" y="1025073"/>
                  <a:pt x="1001159" y="967347"/>
                  <a:pt x="1049545" y="906681"/>
                </a:cubicBezTo>
                <a:cubicBezTo>
                  <a:pt x="1097931" y="846015"/>
                  <a:pt x="1124705" y="774870"/>
                  <a:pt x="1140481" y="693939"/>
                </a:cubicBezTo>
                <a:cubicBezTo>
                  <a:pt x="1156257" y="613008"/>
                  <a:pt x="1168987" y="511748"/>
                  <a:pt x="1144203" y="421095"/>
                </a:cubicBezTo>
                <a:cubicBezTo>
                  <a:pt x="1119419" y="330442"/>
                  <a:pt x="1059119" y="216906"/>
                  <a:pt x="991779" y="150020"/>
                </a:cubicBezTo>
                <a:cubicBezTo>
                  <a:pt x="924439" y="83134"/>
                  <a:pt x="823348" y="43059"/>
                  <a:pt x="740161" y="19781"/>
                </a:cubicBezTo>
                <a:cubicBezTo>
                  <a:pt x="656974" y="-3497"/>
                  <a:pt x="583177" y="-5688"/>
                  <a:pt x="492654" y="10354"/>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Slide Number Placeholder 2">
            <a:extLst>
              <a:ext uri="{FF2B5EF4-FFF2-40B4-BE49-F238E27FC236}">
                <a16:creationId xmlns:a16="http://schemas.microsoft.com/office/drawing/2014/main" id="{7C5FE87F-3F5D-9F43-8DAF-77F597D110F5}"/>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31</a:t>
            </a:fld>
            <a:endParaRPr lang="en-US"/>
          </a:p>
        </p:txBody>
      </p:sp>
      <p:sp>
        <p:nvSpPr>
          <p:cNvPr id="98" name="TextBox 97">
            <a:extLst>
              <a:ext uri="{FF2B5EF4-FFF2-40B4-BE49-F238E27FC236}">
                <a16:creationId xmlns:a16="http://schemas.microsoft.com/office/drawing/2014/main" id="{76A3A9A4-ACB7-DD44-8CBC-FCD3279B1799}"/>
              </a:ext>
            </a:extLst>
          </p:cNvPr>
          <p:cNvSpPr txBox="1"/>
          <p:nvPr/>
        </p:nvSpPr>
        <p:spPr>
          <a:xfrm>
            <a:off x="178503" y="3701370"/>
            <a:ext cx="731290" cy="461665"/>
          </a:xfrm>
          <a:prstGeom prst="rect">
            <a:avLst/>
          </a:prstGeom>
          <a:noFill/>
        </p:spPr>
        <p:txBody>
          <a:bodyPr wrap="none" rtlCol="0">
            <a:spAutoFit/>
          </a:bodyPr>
          <a:lstStyle/>
          <a:p>
            <a:r>
              <a:rPr lang="en-US" sz="2400" dirty="0">
                <a:latin typeface="Comic Sans MS" panose="030F0902030302020204" pitchFamily="66" charset="0"/>
              </a:rPr>
              <a:t>|S</a:t>
            </a:r>
            <a:r>
              <a:rPr lang="en-US" sz="2400" baseline="-25000" dirty="0">
                <a:latin typeface="Comic Sans MS" panose="030F0902030302020204" pitchFamily="66" charset="0"/>
              </a:rPr>
              <a:t>1</a:t>
            </a:r>
            <a:r>
              <a:rPr lang="en-US" sz="2400" dirty="0">
                <a:latin typeface="Comic Sans MS" panose="030F0902030302020204" pitchFamily="66" charset="0"/>
              </a:rPr>
              <a:t>⟩</a:t>
            </a:r>
          </a:p>
        </p:txBody>
      </p:sp>
      <p:sp>
        <p:nvSpPr>
          <p:cNvPr id="99" name="TextBox 98">
            <a:extLst>
              <a:ext uri="{FF2B5EF4-FFF2-40B4-BE49-F238E27FC236}">
                <a16:creationId xmlns:a16="http://schemas.microsoft.com/office/drawing/2014/main" id="{CA1B3F16-1FEB-8A46-AFB5-0E820A193CE9}"/>
              </a:ext>
            </a:extLst>
          </p:cNvPr>
          <p:cNvSpPr txBox="1"/>
          <p:nvPr/>
        </p:nvSpPr>
        <p:spPr>
          <a:xfrm>
            <a:off x="144430" y="4415342"/>
            <a:ext cx="763351" cy="461665"/>
          </a:xfrm>
          <a:prstGeom prst="rect">
            <a:avLst/>
          </a:prstGeom>
          <a:noFill/>
        </p:spPr>
        <p:txBody>
          <a:bodyPr wrap="none" rtlCol="0">
            <a:spAutoFit/>
          </a:bodyPr>
          <a:lstStyle/>
          <a:p>
            <a:r>
              <a:rPr lang="en-US" sz="2400" dirty="0">
                <a:latin typeface="Comic Sans MS" panose="030F0902030302020204" pitchFamily="66" charset="0"/>
              </a:rPr>
              <a:t>|S</a:t>
            </a:r>
            <a:r>
              <a:rPr lang="en-US" sz="2400" baseline="-25000" dirty="0">
                <a:latin typeface="Comic Sans MS" panose="030F0902030302020204" pitchFamily="66" charset="0"/>
              </a:rPr>
              <a:t>2</a:t>
            </a:r>
            <a:r>
              <a:rPr lang="en-US" sz="2400" dirty="0">
                <a:latin typeface="Comic Sans MS" panose="030F0902030302020204" pitchFamily="66" charset="0"/>
              </a:rPr>
              <a:t>⟩</a:t>
            </a:r>
          </a:p>
        </p:txBody>
      </p:sp>
      <p:sp>
        <p:nvSpPr>
          <p:cNvPr id="100" name="TextBox 99">
            <a:extLst>
              <a:ext uri="{FF2B5EF4-FFF2-40B4-BE49-F238E27FC236}">
                <a16:creationId xmlns:a16="http://schemas.microsoft.com/office/drawing/2014/main" id="{442BE44D-F3D2-E14E-B303-E9BAEC7EB523}"/>
              </a:ext>
            </a:extLst>
          </p:cNvPr>
          <p:cNvSpPr txBox="1"/>
          <p:nvPr/>
        </p:nvSpPr>
        <p:spPr>
          <a:xfrm>
            <a:off x="10127263" y="5060119"/>
            <a:ext cx="1782860" cy="461665"/>
          </a:xfrm>
          <a:prstGeom prst="rect">
            <a:avLst/>
          </a:prstGeom>
          <a:noFill/>
        </p:spPr>
        <p:txBody>
          <a:bodyPr wrap="none" rtlCol="0">
            <a:spAutoFit/>
          </a:bodyPr>
          <a:lstStyle/>
          <a:p>
            <a:r>
              <a:rPr lang="en-US" sz="2400" dirty="0" err="1">
                <a:latin typeface="Comic Sans MS" panose="030F0902030302020204" pitchFamily="66" charset="0"/>
              </a:rPr>
              <a:t>cX</a:t>
            </a:r>
            <a:r>
              <a:rPr lang="en-US" sz="2400" dirty="0">
                <a:latin typeface="Comic Sans MS" panose="030F0902030302020204" pitchFamily="66" charset="0"/>
              </a:rPr>
              <a:t> |S</a:t>
            </a:r>
            <a:r>
              <a:rPr lang="en-US" sz="2400" baseline="-25000" dirty="0">
                <a:latin typeface="Comic Sans MS" panose="030F0902030302020204" pitchFamily="66" charset="0"/>
              </a:rPr>
              <a:t>1</a:t>
            </a:r>
            <a:r>
              <a:rPr lang="en-US" sz="2400" dirty="0">
                <a:latin typeface="Comic Sans MS" panose="030F0902030302020204" pitchFamily="66" charset="0"/>
              </a:rPr>
              <a:t>⟩|S</a:t>
            </a:r>
            <a:r>
              <a:rPr lang="en-US" sz="2400" baseline="-25000" dirty="0">
                <a:latin typeface="Comic Sans MS" panose="030F0902030302020204" pitchFamily="66" charset="0"/>
              </a:rPr>
              <a:t>2</a:t>
            </a:r>
            <a:r>
              <a:rPr lang="en-US" sz="2400" dirty="0">
                <a:latin typeface="Comic Sans MS" panose="030F0902030302020204" pitchFamily="66" charset="0"/>
              </a:rPr>
              <a:t>⟩</a:t>
            </a:r>
          </a:p>
        </p:txBody>
      </p:sp>
      <p:pic>
        <p:nvPicPr>
          <p:cNvPr id="73" name="Picture 72">
            <a:extLst>
              <a:ext uri="{FF2B5EF4-FFF2-40B4-BE49-F238E27FC236}">
                <a16:creationId xmlns:a16="http://schemas.microsoft.com/office/drawing/2014/main" id="{AD4719D9-393F-B249-BA72-B43FDF394DE5}"/>
              </a:ext>
            </a:extLst>
          </p:cNvPr>
          <p:cNvPicPr>
            <a:picLocks noChangeAspect="1"/>
          </p:cNvPicPr>
          <p:nvPr/>
        </p:nvPicPr>
        <p:blipFill>
          <a:blip r:embed="rId3"/>
          <a:stretch>
            <a:fillRect/>
          </a:stretch>
        </p:blipFill>
        <p:spPr>
          <a:xfrm>
            <a:off x="10634783" y="287735"/>
            <a:ext cx="918520" cy="1414873"/>
          </a:xfrm>
          <a:prstGeom prst="rect">
            <a:avLst/>
          </a:prstGeom>
        </p:spPr>
      </p:pic>
      <p:pic>
        <p:nvPicPr>
          <p:cNvPr id="95" name="Picture 94">
            <a:extLst>
              <a:ext uri="{FF2B5EF4-FFF2-40B4-BE49-F238E27FC236}">
                <a16:creationId xmlns:a16="http://schemas.microsoft.com/office/drawing/2014/main" id="{6B323588-C78F-874F-8EDC-2A52FC9460C6}"/>
              </a:ext>
            </a:extLst>
          </p:cNvPr>
          <p:cNvPicPr>
            <a:picLocks noChangeAspect="1"/>
          </p:cNvPicPr>
          <p:nvPr/>
        </p:nvPicPr>
        <p:blipFill>
          <a:blip r:embed="rId4"/>
          <a:stretch>
            <a:fillRect/>
          </a:stretch>
        </p:blipFill>
        <p:spPr>
          <a:xfrm>
            <a:off x="5728069" y="5093346"/>
            <a:ext cx="1082025" cy="1602672"/>
          </a:xfrm>
          <a:prstGeom prst="rect">
            <a:avLst/>
          </a:prstGeom>
        </p:spPr>
      </p:pic>
    </p:spTree>
    <p:extLst>
      <p:ext uri="{BB962C8B-B14F-4D97-AF65-F5344CB8AC3E}">
        <p14:creationId xmlns:p14="http://schemas.microsoft.com/office/powerpoint/2010/main" val="2844895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loud 8">
            <a:extLst>
              <a:ext uri="{FF2B5EF4-FFF2-40B4-BE49-F238E27FC236}">
                <a16:creationId xmlns:a16="http://schemas.microsoft.com/office/drawing/2014/main" id="{5EED1326-E13B-A642-AF65-EEAC38A7B792}"/>
              </a:ext>
            </a:extLst>
          </p:cNvPr>
          <p:cNvSpPr/>
          <p:nvPr/>
        </p:nvSpPr>
        <p:spPr>
          <a:xfrm>
            <a:off x="6811627" y="1037281"/>
            <a:ext cx="4421744" cy="3196043"/>
          </a:xfrm>
          <a:prstGeom prst="cloud">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DAC9AEF-8199-CC43-A42C-35B42CB3F57A}"/>
              </a:ext>
            </a:extLst>
          </p:cNvPr>
          <p:cNvSpPr>
            <a:spLocks noGrp="1"/>
          </p:cNvSpPr>
          <p:nvPr>
            <p:ph type="title"/>
          </p:nvPr>
        </p:nvSpPr>
        <p:spPr/>
        <p:txBody>
          <a:bodyPr/>
          <a:lstStyle/>
          <a:p>
            <a:r>
              <a:rPr lang="en-US" dirty="0"/>
              <a:t>Blind Quantum Computing (BQC)</a:t>
            </a:r>
          </a:p>
        </p:txBody>
      </p:sp>
      <p:graphicFrame>
        <p:nvGraphicFramePr>
          <p:cNvPr id="5" name="Diagram 4">
            <a:extLst>
              <a:ext uri="{FF2B5EF4-FFF2-40B4-BE49-F238E27FC236}">
                <a16:creationId xmlns:a16="http://schemas.microsoft.com/office/drawing/2014/main" id="{B762F193-DFCB-F14A-950F-9BBC59CD2AC2}"/>
              </a:ext>
            </a:extLst>
          </p:cNvPr>
          <p:cNvGraphicFramePr/>
          <p:nvPr>
            <p:extLst>
              <p:ext uri="{D42A27DB-BD31-4B8C-83A1-F6EECF244321}">
                <p14:modId xmlns:p14="http://schemas.microsoft.com/office/powerpoint/2010/main" val="707095053"/>
              </p:ext>
            </p:extLst>
          </p:nvPr>
        </p:nvGraphicFramePr>
        <p:xfrm>
          <a:off x="331075" y="2027155"/>
          <a:ext cx="5409324" cy="34108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D540CC03-A27B-D547-936C-5351E366FD23}"/>
              </a:ext>
            </a:extLst>
          </p:cNvPr>
          <p:cNvSpPr txBox="1"/>
          <p:nvPr/>
        </p:nvSpPr>
        <p:spPr>
          <a:xfrm>
            <a:off x="331076" y="1062423"/>
            <a:ext cx="5409324" cy="830997"/>
          </a:xfrm>
          <a:prstGeom prst="rect">
            <a:avLst/>
          </a:prstGeom>
          <a:solidFill>
            <a:schemeClr val="bg1">
              <a:lumMod val="95000"/>
            </a:schemeClr>
          </a:solidFill>
        </p:spPr>
        <p:txBody>
          <a:bodyPr wrap="square" rtlCol="0">
            <a:spAutoFit/>
          </a:bodyPr>
          <a:lstStyle/>
          <a:p>
            <a:pPr algn="ctr"/>
            <a:r>
              <a:rPr lang="en-ZA" sz="2400" dirty="0">
                <a:latin typeface="+mj-lt"/>
              </a:rPr>
              <a:t>To ensure the computation is blind, </a:t>
            </a:r>
          </a:p>
          <a:p>
            <a:pPr algn="ctr"/>
            <a:r>
              <a:rPr lang="en-ZA" sz="2400" dirty="0">
                <a:latin typeface="+mj-lt"/>
              </a:rPr>
              <a:t>the quantum server must not know:</a:t>
            </a:r>
            <a:endParaRPr lang="en-US" sz="2400" dirty="0">
              <a:latin typeface="+mj-lt"/>
            </a:endParaRPr>
          </a:p>
        </p:txBody>
      </p:sp>
      <p:sp>
        <p:nvSpPr>
          <p:cNvPr id="7" name="TextBox 6">
            <a:extLst>
              <a:ext uri="{FF2B5EF4-FFF2-40B4-BE49-F238E27FC236}">
                <a16:creationId xmlns:a16="http://schemas.microsoft.com/office/drawing/2014/main" id="{3A26DFBB-7235-1641-A543-BA14A9337A67}"/>
              </a:ext>
            </a:extLst>
          </p:cNvPr>
          <p:cNvSpPr txBox="1"/>
          <p:nvPr/>
        </p:nvSpPr>
        <p:spPr>
          <a:xfrm>
            <a:off x="331749" y="5571789"/>
            <a:ext cx="5408650" cy="1200329"/>
          </a:xfrm>
          <a:prstGeom prst="rect">
            <a:avLst/>
          </a:prstGeom>
          <a:solidFill>
            <a:schemeClr val="bg1">
              <a:lumMod val="95000"/>
            </a:schemeClr>
          </a:solidFill>
        </p:spPr>
        <p:txBody>
          <a:bodyPr wrap="square" rtlCol="0">
            <a:spAutoFit/>
          </a:bodyPr>
          <a:lstStyle/>
          <a:p>
            <a:pPr algn="ctr"/>
            <a:r>
              <a:rPr lang="en-ZA" sz="2400" dirty="0">
                <a:latin typeface="+mj-lt"/>
              </a:rPr>
              <a:t>The client must be able to verify whether the requested computation was actually performed.</a:t>
            </a:r>
            <a:endParaRPr lang="en-US" sz="2400" dirty="0">
              <a:latin typeface="+mj-lt"/>
            </a:endParaRPr>
          </a:p>
        </p:txBody>
      </p:sp>
      <p:pic>
        <p:nvPicPr>
          <p:cNvPr id="8" name="Picture 7">
            <a:extLst>
              <a:ext uri="{FF2B5EF4-FFF2-40B4-BE49-F238E27FC236}">
                <a16:creationId xmlns:a16="http://schemas.microsoft.com/office/drawing/2014/main" id="{4AAEED3C-5515-F94B-A6BA-EB2A24968B3F}"/>
              </a:ext>
            </a:extLst>
          </p:cNvPr>
          <p:cNvPicPr>
            <a:picLocks noChangeAspect="1"/>
          </p:cNvPicPr>
          <p:nvPr/>
        </p:nvPicPr>
        <p:blipFill>
          <a:blip r:embed="rId8"/>
          <a:stretch>
            <a:fillRect/>
          </a:stretch>
        </p:blipFill>
        <p:spPr>
          <a:xfrm>
            <a:off x="9167641" y="1444436"/>
            <a:ext cx="976135" cy="2257312"/>
          </a:xfrm>
          <a:prstGeom prst="rect">
            <a:avLst/>
          </a:prstGeom>
        </p:spPr>
      </p:pic>
      <p:pic>
        <p:nvPicPr>
          <p:cNvPr id="10" name="Picture 9">
            <a:extLst>
              <a:ext uri="{FF2B5EF4-FFF2-40B4-BE49-F238E27FC236}">
                <a16:creationId xmlns:a16="http://schemas.microsoft.com/office/drawing/2014/main" id="{9A959A83-6064-2646-B58D-9B607F12182B}"/>
              </a:ext>
            </a:extLst>
          </p:cNvPr>
          <p:cNvPicPr>
            <a:picLocks noChangeAspect="1"/>
          </p:cNvPicPr>
          <p:nvPr/>
        </p:nvPicPr>
        <p:blipFill>
          <a:blip r:embed="rId9"/>
          <a:stretch>
            <a:fillRect/>
          </a:stretch>
        </p:blipFill>
        <p:spPr>
          <a:xfrm>
            <a:off x="6811627" y="4925610"/>
            <a:ext cx="1112963" cy="1024887"/>
          </a:xfrm>
          <a:prstGeom prst="rect">
            <a:avLst/>
          </a:prstGeom>
        </p:spPr>
      </p:pic>
      <p:pic>
        <p:nvPicPr>
          <p:cNvPr id="11" name="Picture 10">
            <a:extLst>
              <a:ext uri="{FF2B5EF4-FFF2-40B4-BE49-F238E27FC236}">
                <a16:creationId xmlns:a16="http://schemas.microsoft.com/office/drawing/2014/main" id="{C3BE42CE-16DC-FA4C-9874-75988BC4942E}"/>
              </a:ext>
            </a:extLst>
          </p:cNvPr>
          <p:cNvPicPr>
            <a:picLocks noChangeAspect="1"/>
          </p:cNvPicPr>
          <p:nvPr/>
        </p:nvPicPr>
        <p:blipFill>
          <a:blip r:embed="rId9"/>
          <a:stretch>
            <a:fillRect/>
          </a:stretch>
        </p:blipFill>
        <p:spPr>
          <a:xfrm>
            <a:off x="8611160" y="5463781"/>
            <a:ext cx="1112963" cy="1024887"/>
          </a:xfrm>
          <a:prstGeom prst="rect">
            <a:avLst/>
          </a:prstGeom>
        </p:spPr>
      </p:pic>
      <p:pic>
        <p:nvPicPr>
          <p:cNvPr id="12" name="Picture 11">
            <a:extLst>
              <a:ext uri="{FF2B5EF4-FFF2-40B4-BE49-F238E27FC236}">
                <a16:creationId xmlns:a16="http://schemas.microsoft.com/office/drawing/2014/main" id="{21B32E6F-21E0-D047-BA3F-E3509CC42486}"/>
              </a:ext>
            </a:extLst>
          </p:cNvPr>
          <p:cNvPicPr>
            <a:picLocks noChangeAspect="1"/>
          </p:cNvPicPr>
          <p:nvPr/>
        </p:nvPicPr>
        <p:blipFill>
          <a:blip r:embed="rId9"/>
          <a:stretch>
            <a:fillRect/>
          </a:stretch>
        </p:blipFill>
        <p:spPr>
          <a:xfrm>
            <a:off x="10676889" y="4925609"/>
            <a:ext cx="1112963" cy="1024887"/>
          </a:xfrm>
          <a:prstGeom prst="rect">
            <a:avLst/>
          </a:prstGeom>
        </p:spPr>
      </p:pic>
      <p:sp>
        <p:nvSpPr>
          <p:cNvPr id="13" name="Up-Down Arrow 12">
            <a:extLst>
              <a:ext uri="{FF2B5EF4-FFF2-40B4-BE49-F238E27FC236}">
                <a16:creationId xmlns:a16="http://schemas.microsoft.com/office/drawing/2014/main" id="{AF1DAFAE-7B67-8544-846D-211E3C692852}"/>
              </a:ext>
            </a:extLst>
          </p:cNvPr>
          <p:cNvSpPr/>
          <p:nvPr/>
        </p:nvSpPr>
        <p:spPr>
          <a:xfrm rot="1480908">
            <a:off x="7143876" y="3014182"/>
            <a:ext cx="482044" cy="1592317"/>
          </a:xfrm>
          <a:prstGeom prst="up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Up-Down Arrow 13">
            <a:extLst>
              <a:ext uri="{FF2B5EF4-FFF2-40B4-BE49-F238E27FC236}">
                <a16:creationId xmlns:a16="http://schemas.microsoft.com/office/drawing/2014/main" id="{200E7277-0B37-9044-BF45-C09552D4B5A1}"/>
              </a:ext>
            </a:extLst>
          </p:cNvPr>
          <p:cNvSpPr/>
          <p:nvPr/>
        </p:nvSpPr>
        <p:spPr>
          <a:xfrm>
            <a:off x="8877356" y="3810341"/>
            <a:ext cx="482044" cy="1592317"/>
          </a:xfrm>
          <a:prstGeom prst="up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Down Arrow 14">
            <a:extLst>
              <a:ext uri="{FF2B5EF4-FFF2-40B4-BE49-F238E27FC236}">
                <a16:creationId xmlns:a16="http://schemas.microsoft.com/office/drawing/2014/main" id="{2B2428C4-F28C-E94F-B6EC-0FF7711E7BE8}"/>
              </a:ext>
            </a:extLst>
          </p:cNvPr>
          <p:cNvSpPr/>
          <p:nvPr/>
        </p:nvSpPr>
        <p:spPr>
          <a:xfrm rot="20072768">
            <a:off x="10409732" y="3199368"/>
            <a:ext cx="482044" cy="1592317"/>
          </a:xfrm>
          <a:prstGeom prst="upDown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CFEC5B89-FE5F-4B4C-9317-7C01082A3409}"/>
              </a:ext>
            </a:extLst>
          </p:cNvPr>
          <p:cNvPicPr>
            <a:picLocks noChangeAspect="1"/>
          </p:cNvPicPr>
          <p:nvPr/>
        </p:nvPicPr>
        <p:blipFill>
          <a:blip r:embed="rId8"/>
          <a:stretch>
            <a:fillRect/>
          </a:stretch>
        </p:blipFill>
        <p:spPr>
          <a:xfrm>
            <a:off x="7742165" y="1529838"/>
            <a:ext cx="976135" cy="2257312"/>
          </a:xfrm>
          <a:prstGeom prst="rect">
            <a:avLst/>
          </a:prstGeom>
        </p:spPr>
      </p:pic>
    </p:spTree>
    <p:extLst>
      <p:ext uri="{BB962C8B-B14F-4D97-AF65-F5344CB8AC3E}">
        <p14:creationId xmlns:p14="http://schemas.microsoft.com/office/powerpoint/2010/main" val="1749960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D487A131-2268-C44A-AFFA-39C827F12ECB}"/>
              </a:ext>
            </a:extLst>
          </p:cNvPr>
          <p:cNvSpPr txBox="1"/>
          <p:nvPr/>
        </p:nvSpPr>
        <p:spPr>
          <a:xfrm>
            <a:off x="5250178" y="5662482"/>
            <a:ext cx="1934056" cy="523220"/>
          </a:xfrm>
          <a:prstGeom prst="rect">
            <a:avLst/>
          </a:prstGeom>
          <a:noFill/>
        </p:spPr>
        <p:txBody>
          <a:bodyPr wrap="none" rtlCol="0">
            <a:spAutoFit/>
          </a:bodyPr>
          <a:lstStyle/>
          <a:p>
            <a:r>
              <a:rPr lang="en-US" sz="2800" dirty="0"/>
              <a:t>the Internet</a:t>
            </a:r>
          </a:p>
        </p:txBody>
      </p:sp>
      <p:sp>
        <p:nvSpPr>
          <p:cNvPr id="4" name="Left-Right Arrow 3">
            <a:extLst>
              <a:ext uri="{FF2B5EF4-FFF2-40B4-BE49-F238E27FC236}">
                <a16:creationId xmlns:a16="http://schemas.microsoft.com/office/drawing/2014/main" id="{39EB7689-7333-0F49-838A-3C7E39DA1EDC}"/>
              </a:ext>
            </a:extLst>
          </p:cNvPr>
          <p:cNvSpPr/>
          <p:nvPr/>
        </p:nvSpPr>
        <p:spPr>
          <a:xfrm>
            <a:off x="7497746" y="3570187"/>
            <a:ext cx="1663054" cy="90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AES</a:t>
            </a:r>
          </a:p>
        </p:txBody>
      </p:sp>
      <p:sp>
        <p:nvSpPr>
          <p:cNvPr id="28" name="Left-Right Arrow 27">
            <a:extLst>
              <a:ext uri="{FF2B5EF4-FFF2-40B4-BE49-F238E27FC236}">
                <a16:creationId xmlns:a16="http://schemas.microsoft.com/office/drawing/2014/main" id="{DCB38686-7E36-E144-85A2-04D60111BC31}"/>
              </a:ext>
            </a:extLst>
          </p:cNvPr>
          <p:cNvSpPr/>
          <p:nvPr/>
        </p:nvSpPr>
        <p:spPr>
          <a:xfrm>
            <a:off x="3006397" y="3571495"/>
            <a:ext cx="1663054" cy="90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AES</a:t>
            </a:r>
          </a:p>
        </p:txBody>
      </p:sp>
      <p:grpSp>
        <p:nvGrpSpPr>
          <p:cNvPr id="11" name="Group 10">
            <a:extLst>
              <a:ext uri="{FF2B5EF4-FFF2-40B4-BE49-F238E27FC236}">
                <a16:creationId xmlns:a16="http://schemas.microsoft.com/office/drawing/2014/main" id="{0FA4086C-CCCB-B54B-AACE-C623419D425F}"/>
              </a:ext>
            </a:extLst>
          </p:cNvPr>
          <p:cNvGrpSpPr/>
          <p:nvPr/>
        </p:nvGrpSpPr>
        <p:grpSpPr>
          <a:xfrm>
            <a:off x="4653433" y="3236974"/>
            <a:ext cx="2786185" cy="2187473"/>
            <a:chOff x="4735302" y="4195786"/>
            <a:chExt cx="2786185" cy="2187473"/>
          </a:xfrm>
        </p:grpSpPr>
        <p:pic>
          <p:nvPicPr>
            <p:cNvPr id="95" name="Picture 94">
              <a:extLst>
                <a:ext uri="{FF2B5EF4-FFF2-40B4-BE49-F238E27FC236}">
                  <a16:creationId xmlns:a16="http://schemas.microsoft.com/office/drawing/2014/main" id="{EBE5C60D-30A2-2344-8184-E5456EFADF42}"/>
                </a:ext>
              </a:extLst>
            </p:cNvPr>
            <p:cNvPicPr>
              <a:picLocks noChangeAspect="1"/>
            </p:cNvPicPr>
            <p:nvPr/>
          </p:nvPicPr>
          <p:blipFill>
            <a:blip r:embed="rId3"/>
            <a:stretch>
              <a:fillRect/>
            </a:stretch>
          </p:blipFill>
          <p:spPr>
            <a:xfrm>
              <a:off x="4735302" y="4195786"/>
              <a:ext cx="2786185" cy="2187473"/>
            </a:xfrm>
            <a:prstGeom prst="rect">
              <a:avLst/>
            </a:prstGeom>
          </p:spPr>
        </p:pic>
        <p:cxnSp>
          <p:nvCxnSpPr>
            <p:cNvPr id="25" name="Straight Connector 24">
              <a:extLst>
                <a:ext uri="{FF2B5EF4-FFF2-40B4-BE49-F238E27FC236}">
                  <a16:creationId xmlns:a16="http://schemas.microsoft.com/office/drawing/2014/main" id="{834298A9-0C69-014F-80DF-E58B9D2F2463}"/>
                </a:ext>
              </a:extLst>
            </p:cNvPr>
            <p:cNvCxnSpPr>
              <a:cxnSpLocks/>
            </p:cNvCxnSpPr>
            <p:nvPr/>
          </p:nvCxnSpPr>
          <p:spPr>
            <a:xfrm>
              <a:off x="5884081" y="5360771"/>
              <a:ext cx="414994" cy="290566"/>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D6BDBD1-A889-DC43-BE70-0BB28BDCECBB}"/>
                </a:ext>
              </a:extLst>
            </p:cNvPr>
            <p:cNvCxnSpPr>
              <a:cxnSpLocks/>
            </p:cNvCxnSpPr>
            <p:nvPr/>
          </p:nvCxnSpPr>
          <p:spPr>
            <a:xfrm>
              <a:off x="6759991" y="5220191"/>
              <a:ext cx="137837" cy="458828"/>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E0A7464-9A0F-474A-A97A-57437113FFB2}"/>
                </a:ext>
              </a:extLst>
            </p:cNvPr>
            <p:cNvCxnSpPr>
              <a:cxnSpLocks/>
            </p:cNvCxnSpPr>
            <p:nvPr/>
          </p:nvCxnSpPr>
          <p:spPr>
            <a:xfrm flipH="1">
              <a:off x="6313495" y="5220191"/>
              <a:ext cx="446488" cy="422652"/>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2B30510-DC60-6145-A337-96905BA7D9E7}"/>
                </a:ext>
              </a:extLst>
            </p:cNvPr>
            <p:cNvCxnSpPr>
              <a:cxnSpLocks/>
            </p:cNvCxnSpPr>
            <p:nvPr/>
          </p:nvCxnSpPr>
          <p:spPr>
            <a:xfrm>
              <a:off x="6168571" y="4898924"/>
              <a:ext cx="595613" cy="313782"/>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B5C6C71-B83B-954B-B796-77333FBBD59C}"/>
                </a:ext>
              </a:extLst>
            </p:cNvPr>
            <p:cNvCxnSpPr>
              <a:cxnSpLocks/>
            </p:cNvCxnSpPr>
            <p:nvPr/>
          </p:nvCxnSpPr>
          <p:spPr>
            <a:xfrm flipV="1">
              <a:off x="5878156" y="4898924"/>
              <a:ext cx="300418" cy="449436"/>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28E5FFE-D914-ED43-88AF-B91920224230}"/>
                </a:ext>
              </a:extLst>
            </p:cNvPr>
            <p:cNvCxnSpPr>
              <a:cxnSpLocks/>
            </p:cNvCxnSpPr>
            <p:nvPr/>
          </p:nvCxnSpPr>
          <p:spPr>
            <a:xfrm flipH="1" flipV="1">
              <a:off x="5499111" y="4886513"/>
              <a:ext cx="379046" cy="461848"/>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EF819EC-8F11-424C-A97A-63F58073AA18}"/>
                </a:ext>
              </a:extLst>
            </p:cNvPr>
            <p:cNvCxnSpPr>
              <a:cxnSpLocks/>
            </p:cNvCxnSpPr>
            <p:nvPr/>
          </p:nvCxnSpPr>
          <p:spPr>
            <a:xfrm flipV="1">
              <a:off x="6166900" y="4455726"/>
              <a:ext cx="452653" cy="450845"/>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F35F8D8-7A44-8841-BDCD-52017BC53019}"/>
                </a:ext>
              </a:extLst>
            </p:cNvPr>
            <p:cNvCxnSpPr>
              <a:cxnSpLocks/>
            </p:cNvCxnSpPr>
            <p:nvPr/>
          </p:nvCxnSpPr>
          <p:spPr>
            <a:xfrm flipV="1">
              <a:off x="6129097" y="5647241"/>
              <a:ext cx="177188" cy="628305"/>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0BC2A2-8395-E549-8E71-7158BAA150B5}"/>
                </a:ext>
              </a:extLst>
            </p:cNvPr>
            <p:cNvCxnSpPr>
              <a:cxnSpLocks/>
            </p:cNvCxnSpPr>
            <p:nvPr/>
          </p:nvCxnSpPr>
          <p:spPr>
            <a:xfrm>
              <a:off x="6914132" y="5679026"/>
              <a:ext cx="476518" cy="68163"/>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B89A2EF-C3F2-C644-8D87-BCCFC3E696B3}"/>
                </a:ext>
              </a:extLst>
            </p:cNvPr>
            <p:cNvCxnSpPr>
              <a:cxnSpLocks/>
            </p:cNvCxnSpPr>
            <p:nvPr/>
          </p:nvCxnSpPr>
          <p:spPr>
            <a:xfrm>
              <a:off x="5015045" y="5331938"/>
              <a:ext cx="861826" cy="28834"/>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CAD5E84-FD08-CE48-87B2-7E02739D9C9C}"/>
                </a:ext>
              </a:extLst>
            </p:cNvPr>
            <p:cNvCxnSpPr>
              <a:cxnSpLocks/>
            </p:cNvCxnSpPr>
            <p:nvPr/>
          </p:nvCxnSpPr>
          <p:spPr>
            <a:xfrm flipV="1">
              <a:off x="6914138" y="5212713"/>
              <a:ext cx="529481" cy="460083"/>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7A72124-5553-E642-90DB-244E52F7E681}"/>
                </a:ext>
              </a:extLst>
            </p:cNvPr>
            <p:cNvCxnSpPr>
              <a:cxnSpLocks/>
            </p:cNvCxnSpPr>
            <p:nvPr/>
          </p:nvCxnSpPr>
          <p:spPr>
            <a:xfrm flipV="1">
              <a:off x="6083768" y="4471405"/>
              <a:ext cx="529029" cy="8010"/>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E50D9E-D7B2-3842-8E49-A3B26A9F9C01}"/>
                </a:ext>
              </a:extLst>
            </p:cNvPr>
            <p:cNvCxnSpPr>
              <a:cxnSpLocks/>
            </p:cNvCxnSpPr>
            <p:nvPr/>
          </p:nvCxnSpPr>
          <p:spPr>
            <a:xfrm>
              <a:off x="5579494" y="4320184"/>
              <a:ext cx="512084" cy="163073"/>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51AEAE2-3249-E44B-ACF5-388CEC2A8ED6}"/>
                </a:ext>
              </a:extLst>
            </p:cNvPr>
            <p:cNvCxnSpPr>
              <a:cxnSpLocks/>
            </p:cNvCxnSpPr>
            <p:nvPr/>
          </p:nvCxnSpPr>
          <p:spPr>
            <a:xfrm flipH="1">
              <a:off x="5499112" y="4479421"/>
              <a:ext cx="592466" cy="411321"/>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5123711-46D3-2D4E-9317-F63E608F7CE8}"/>
                </a:ext>
              </a:extLst>
            </p:cNvPr>
            <p:cNvCxnSpPr>
              <a:cxnSpLocks/>
            </p:cNvCxnSpPr>
            <p:nvPr/>
          </p:nvCxnSpPr>
          <p:spPr>
            <a:xfrm flipV="1">
              <a:off x="6178580" y="4749651"/>
              <a:ext cx="783671" cy="156633"/>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09078A6-0DB0-3A48-9F5B-7E853779DD39}"/>
                </a:ext>
              </a:extLst>
            </p:cNvPr>
            <p:cNvCxnSpPr>
              <a:cxnSpLocks/>
            </p:cNvCxnSpPr>
            <p:nvPr/>
          </p:nvCxnSpPr>
          <p:spPr>
            <a:xfrm>
              <a:off x="4892103" y="4855821"/>
              <a:ext cx="88975" cy="446642"/>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68B74B-5776-3C4C-880D-8B133524AD76}"/>
                </a:ext>
              </a:extLst>
            </p:cNvPr>
            <p:cNvCxnSpPr>
              <a:cxnSpLocks/>
            </p:cNvCxnSpPr>
            <p:nvPr/>
          </p:nvCxnSpPr>
          <p:spPr>
            <a:xfrm flipH="1">
              <a:off x="5513714" y="5350221"/>
              <a:ext cx="362274" cy="706598"/>
            </a:xfrm>
            <a:prstGeom prst="line">
              <a:avLst/>
            </a:prstGeom>
            <a:ln w="25400" cap="rnd">
              <a:solidFill>
                <a:schemeClr val="bg1">
                  <a:lumMod val="65000"/>
                </a:schemeClr>
              </a:solidFill>
              <a:round/>
              <a:headEnd type="oval"/>
              <a:tailEnd type="oval"/>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id="{F1C479DD-4403-FA49-A1E9-3515D140E2FF}"/>
              </a:ext>
            </a:extLst>
          </p:cNvPr>
          <p:cNvSpPr>
            <a:spLocks noGrp="1"/>
          </p:cNvSpPr>
          <p:nvPr>
            <p:ph type="sldNum" sz="quarter" idx="12"/>
          </p:nvPr>
        </p:nvSpPr>
        <p:spPr/>
        <p:txBody>
          <a:bodyPr/>
          <a:lstStyle/>
          <a:p>
            <a:fld id="{591A223C-FA10-BC46-A853-03BA373D023C}" type="slidenum">
              <a:rPr lang="en-US" smtClean="0"/>
              <a:t>33</a:t>
            </a:fld>
            <a:endParaRPr lang="en-US"/>
          </a:p>
        </p:txBody>
      </p:sp>
      <p:sp>
        <p:nvSpPr>
          <p:cNvPr id="10" name="Title 9">
            <a:extLst>
              <a:ext uri="{FF2B5EF4-FFF2-40B4-BE49-F238E27FC236}">
                <a16:creationId xmlns:a16="http://schemas.microsoft.com/office/drawing/2014/main" id="{6CECBAC3-C320-4E4C-8A73-66E198703C82}"/>
              </a:ext>
            </a:extLst>
          </p:cNvPr>
          <p:cNvSpPr>
            <a:spLocks noGrp="1"/>
          </p:cNvSpPr>
          <p:nvPr>
            <p:ph type="title"/>
          </p:nvPr>
        </p:nvSpPr>
        <p:spPr/>
        <p:txBody>
          <a:bodyPr>
            <a:normAutofit/>
          </a:bodyPr>
          <a:lstStyle/>
          <a:p>
            <a:r>
              <a:rPr lang="en-ZA" dirty="0"/>
              <a:t>Integrating QKD into Existing Networks</a:t>
            </a:r>
            <a:endParaRPr lang="en-US" b="1" dirty="0"/>
          </a:p>
        </p:txBody>
      </p:sp>
      <p:sp>
        <p:nvSpPr>
          <p:cNvPr id="32" name="TextBox 31">
            <a:extLst>
              <a:ext uri="{FF2B5EF4-FFF2-40B4-BE49-F238E27FC236}">
                <a16:creationId xmlns:a16="http://schemas.microsoft.com/office/drawing/2014/main" id="{A3DBCFFA-53BF-304E-AFA6-F3DC3FA08A27}"/>
              </a:ext>
            </a:extLst>
          </p:cNvPr>
          <p:cNvSpPr txBox="1"/>
          <p:nvPr/>
        </p:nvSpPr>
        <p:spPr>
          <a:xfrm>
            <a:off x="827035" y="1597013"/>
            <a:ext cx="1653081" cy="461665"/>
          </a:xfrm>
          <a:prstGeom prst="rect">
            <a:avLst/>
          </a:prstGeom>
          <a:noFill/>
        </p:spPr>
        <p:txBody>
          <a:bodyPr wrap="none" rtlCol="0">
            <a:spAutoFit/>
          </a:bodyPr>
          <a:lstStyle/>
          <a:p>
            <a:r>
              <a:rPr lang="en-US" sz="2400" dirty="0"/>
              <a:t>a secret key</a:t>
            </a:r>
          </a:p>
        </p:txBody>
      </p:sp>
      <p:sp>
        <p:nvSpPr>
          <p:cNvPr id="3" name="TextBox 2">
            <a:extLst>
              <a:ext uri="{FF2B5EF4-FFF2-40B4-BE49-F238E27FC236}">
                <a16:creationId xmlns:a16="http://schemas.microsoft.com/office/drawing/2014/main" id="{1BA12CF0-C9F7-8946-92E1-D87E627F3E6A}"/>
              </a:ext>
            </a:extLst>
          </p:cNvPr>
          <p:cNvSpPr txBox="1"/>
          <p:nvPr/>
        </p:nvSpPr>
        <p:spPr>
          <a:xfrm>
            <a:off x="3915723" y="1647264"/>
            <a:ext cx="4311373" cy="461665"/>
          </a:xfrm>
          <a:prstGeom prst="rect">
            <a:avLst/>
          </a:prstGeom>
          <a:noFill/>
        </p:spPr>
        <p:txBody>
          <a:bodyPr wrap="none" rtlCol="0">
            <a:spAutoFit/>
          </a:bodyPr>
          <a:lstStyle/>
          <a:p>
            <a:pPr algn="ctr"/>
            <a:r>
              <a:rPr lang="en-US" sz="2400" dirty="0"/>
              <a:t>Quantum Key Distribution  (QKD)</a:t>
            </a:r>
          </a:p>
        </p:txBody>
      </p:sp>
      <p:cxnSp>
        <p:nvCxnSpPr>
          <p:cNvPr id="94" name="Straight Connector 93">
            <a:extLst>
              <a:ext uri="{FF2B5EF4-FFF2-40B4-BE49-F238E27FC236}">
                <a16:creationId xmlns:a16="http://schemas.microsoft.com/office/drawing/2014/main" id="{593574BE-A377-7748-86E4-2212CEEECFCC}"/>
              </a:ext>
            </a:extLst>
          </p:cNvPr>
          <p:cNvCxnSpPr>
            <a:cxnSpLocks/>
          </p:cNvCxnSpPr>
          <p:nvPr/>
        </p:nvCxnSpPr>
        <p:spPr>
          <a:xfrm>
            <a:off x="3668254" y="2178678"/>
            <a:ext cx="4936014" cy="0"/>
          </a:xfrm>
          <a:prstGeom prst="line">
            <a:avLst/>
          </a:prstGeom>
          <a:ln w="76200">
            <a:solidFill>
              <a:srgbClr val="FF0000"/>
            </a:solidFill>
            <a:prstDash val="dash"/>
            <a:headEnd w="lg" len="lg"/>
            <a:tailEnd type="non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5516CDFB-306A-CA4F-B9C3-119B2E9FC86E}"/>
              </a:ext>
            </a:extLst>
          </p:cNvPr>
          <p:cNvGrpSpPr/>
          <p:nvPr/>
        </p:nvGrpSpPr>
        <p:grpSpPr>
          <a:xfrm>
            <a:off x="2449487" y="1621907"/>
            <a:ext cx="1080000" cy="1080000"/>
            <a:chOff x="2438304" y="745653"/>
            <a:chExt cx="1080000" cy="1080000"/>
          </a:xfrm>
        </p:grpSpPr>
        <p:sp>
          <p:nvSpPr>
            <p:cNvPr id="97" name="Oval 96">
              <a:extLst>
                <a:ext uri="{FF2B5EF4-FFF2-40B4-BE49-F238E27FC236}">
                  <a16:creationId xmlns:a16="http://schemas.microsoft.com/office/drawing/2014/main" id="{11FC6C87-1A27-C548-A466-72BD0697CE5A}"/>
                </a:ext>
              </a:extLst>
            </p:cNvPr>
            <p:cNvSpPr/>
            <p:nvPr/>
          </p:nvSpPr>
          <p:spPr>
            <a:xfrm>
              <a:off x="2438304" y="745653"/>
              <a:ext cx="1080000" cy="1080000"/>
            </a:xfrm>
            <a:prstGeom prst="ellipse">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Picture 97">
              <a:extLst>
                <a:ext uri="{FF2B5EF4-FFF2-40B4-BE49-F238E27FC236}">
                  <a16:creationId xmlns:a16="http://schemas.microsoft.com/office/drawing/2014/main" id="{67969174-2C9D-2348-BDB1-E9E60B40C2A4}"/>
                </a:ext>
              </a:extLst>
            </p:cNvPr>
            <p:cNvPicPr>
              <a:picLocks noChangeAspect="1"/>
            </p:cNvPicPr>
            <p:nvPr/>
          </p:nvPicPr>
          <p:blipFill>
            <a:blip r:embed="rId4"/>
            <a:stretch>
              <a:fillRect/>
            </a:stretch>
          </p:blipFill>
          <p:spPr>
            <a:xfrm rot="5400000">
              <a:off x="2528136" y="1084955"/>
              <a:ext cx="900000" cy="435938"/>
            </a:xfrm>
            <a:prstGeom prst="rect">
              <a:avLst/>
            </a:prstGeom>
          </p:spPr>
        </p:pic>
      </p:grpSp>
      <p:pic>
        <p:nvPicPr>
          <p:cNvPr id="99" name="Picture 98">
            <a:extLst>
              <a:ext uri="{FF2B5EF4-FFF2-40B4-BE49-F238E27FC236}">
                <a16:creationId xmlns:a16="http://schemas.microsoft.com/office/drawing/2014/main" id="{4BCB254F-FD2A-2348-8DFF-0FC980276A44}"/>
              </a:ext>
            </a:extLst>
          </p:cNvPr>
          <p:cNvPicPr>
            <a:picLocks noChangeAspect="1"/>
          </p:cNvPicPr>
          <p:nvPr/>
        </p:nvPicPr>
        <p:blipFill>
          <a:blip r:embed="rId5"/>
          <a:stretch>
            <a:fillRect/>
          </a:stretch>
        </p:blipFill>
        <p:spPr>
          <a:xfrm flipH="1">
            <a:off x="9300667" y="3160600"/>
            <a:ext cx="2520000" cy="1841538"/>
          </a:xfrm>
          <a:prstGeom prst="rect">
            <a:avLst/>
          </a:prstGeom>
        </p:spPr>
      </p:pic>
      <p:pic>
        <p:nvPicPr>
          <p:cNvPr id="100" name="Picture 99">
            <a:extLst>
              <a:ext uri="{FF2B5EF4-FFF2-40B4-BE49-F238E27FC236}">
                <a16:creationId xmlns:a16="http://schemas.microsoft.com/office/drawing/2014/main" id="{68C13C49-4EF4-1E4C-9D53-E21C1ABF63A1}"/>
              </a:ext>
            </a:extLst>
          </p:cNvPr>
          <p:cNvPicPr>
            <a:picLocks noChangeAspect="1"/>
          </p:cNvPicPr>
          <p:nvPr/>
        </p:nvPicPr>
        <p:blipFill>
          <a:blip r:embed="rId6"/>
          <a:stretch>
            <a:fillRect/>
          </a:stretch>
        </p:blipFill>
        <p:spPr>
          <a:xfrm>
            <a:off x="469487" y="3275017"/>
            <a:ext cx="2520000" cy="1841538"/>
          </a:xfrm>
          <a:prstGeom prst="rect">
            <a:avLst/>
          </a:prstGeom>
        </p:spPr>
      </p:pic>
      <p:grpSp>
        <p:nvGrpSpPr>
          <p:cNvPr id="105" name="Group 104">
            <a:extLst>
              <a:ext uri="{FF2B5EF4-FFF2-40B4-BE49-F238E27FC236}">
                <a16:creationId xmlns:a16="http://schemas.microsoft.com/office/drawing/2014/main" id="{4C70DAB0-50A7-DE44-A9CA-014B740A5EFB}"/>
              </a:ext>
            </a:extLst>
          </p:cNvPr>
          <p:cNvGrpSpPr/>
          <p:nvPr/>
        </p:nvGrpSpPr>
        <p:grpSpPr>
          <a:xfrm>
            <a:off x="2194420" y="3068863"/>
            <a:ext cx="1589798" cy="367283"/>
            <a:chOff x="2241973" y="2119336"/>
            <a:chExt cx="1389941" cy="277772"/>
          </a:xfrm>
          <a:effectLst>
            <a:glow rad="228600">
              <a:schemeClr val="accent1">
                <a:satMod val="175000"/>
                <a:alpha val="40000"/>
              </a:schemeClr>
            </a:glow>
          </a:effectLst>
        </p:grpSpPr>
        <p:sp>
          <p:nvSpPr>
            <p:cNvPr id="106" name="Rectangle 105">
              <a:extLst>
                <a:ext uri="{FF2B5EF4-FFF2-40B4-BE49-F238E27FC236}">
                  <a16:creationId xmlns:a16="http://schemas.microsoft.com/office/drawing/2014/main" id="{ACEA0A77-6A5C-7B49-AB3A-76A4FC40A0F9}"/>
                </a:ext>
              </a:extLst>
            </p:cNvPr>
            <p:cNvSpPr/>
            <p:nvPr/>
          </p:nvSpPr>
          <p:spPr>
            <a:xfrm>
              <a:off x="2241973" y="2119336"/>
              <a:ext cx="1389941" cy="277772"/>
            </a:xfrm>
            <a:prstGeom prst="rect">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latin typeface="Times" pitchFamily="2" charset="0"/>
                </a:rPr>
                <a:t>QDK</a:t>
              </a:r>
            </a:p>
          </p:txBody>
        </p:sp>
        <p:sp>
          <p:nvSpPr>
            <p:cNvPr id="107" name="Round Diagonal Corner Rectangle 106">
              <a:extLst>
                <a:ext uri="{FF2B5EF4-FFF2-40B4-BE49-F238E27FC236}">
                  <a16:creationId xmlns:a16="http://schemas.microsoft.com/office/drawing/2014/main" id="{2F25CDDE-09FA-764A-9F65-ACBE2B3C52CB}"/>
                </a:ext>
              </a:extLst>
            </p:cNvPr>
            <p:cNvSpPr/>
            <p:nvPr/>
          </p:nvSpPr>
          <p:spPr>
            <a:xfrm>
              <a:off x="2308116"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ound Diagonal Corner Rectangle 107">
              <a:extLst>
                <a:ext uri="{FF2B5EF4-FFF2-40B4-BE49-F238E27FC236}">
                  <a16:creationId xmlns:a16="http://schemas.microsoft.com/office/drawing/2014/main" id="{6DA06A8E-F11E-BF4A-A9DD-2A6EA35C0C03}"/>
                </a:ext>
              </a:extLst>
            </p:cNvPr>
            <p:cNvSpPr/>
            <p:nvPr/>
          </p:nvSpPr>
          <p:spPr>
            <a:xfrm>
              <a:off x="2401355"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ound Diagonal Corner Rectangle 108">
              <a:extLst>
                <a:ext uri="{FF2B5EF4-FFF2-40B4-BE49-F238E27FC236}">
                  <a16:creationId xmlns:a16="http://schemas.microsoft.com/office/drawing/2014/main" id="{776B96FF-B59B-AA49-9931-9ED84FC8963A}"/>
                </a:ext>
              </a:extLst>
            </p:cNvPr>
            <p:cNvSpPr/>
            <p:nvPr/>
          </p:nvSpPr>
          <p:spPr>
            <a:xfrm>
              <a:off x="2494594"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 Diagonal Corner Rectangle 109">
              <a:extLst>
                <a:ext uri="{FF2B5EF4-FFF2-40B4-BE49-F238E27FC236}">
                  <a16:creationId xmlns:a16="http://schemas.microsoft.com/office/drawing/2014/main" id="{E3D5C5F1-057F-2A49-B3B5-A38AA4295D80}"/>
                </a:ext>
              </a:extLst>
            </p:cNvPr>
            <p:cNvSpPr/>
            <p:nvPr/>
          </p:nvSpPr>
          <p:spPr>
            <a:xfrm>
              <a:off x="2587833"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 Diagonal Corner Rectangle 110">
              <a:extLst>
                <a:ext uri="{FF2B5EF4-FFF2-40B4-BE49-F238E27FC236}">
                  <a16:creationId xmlns:a16="http://schemas.microsoft.com/office/drawing/2014/main" id="{3D8919C2-EC2F-5345-B7F8-DF1D211EFCBD}"/>
                </a:ext>
              </a:extLst>
            </p:cNvPr>
            <p:cNvSpPr/>
            <p:nvPr/>
          </p:nvSpPr>
          <p:spPr>
            <a:xfrm>
              <a:off x="2681072"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ound Diagonal Corner Rectangle 111">
              <a:extLst>
                <a:ext uri="{FF2B5EF4-FFF2-40B4-BE49-F238E27FC236}">
                  <a16:creationId xmlns:a16="http://schemas.microsoft.com/office/drawing/2014/main" id="{FF4E0E8E-3AF4-3C4D-908D-8D1AA9E548F0}"/>
                </a:ext>
              </a:extLst>
            </p:cNvPr>
            <p:cNvSpPr/>
            <p:nvPr/>
          </p:nvSpPr>
          <p:spPr>
            <a:xfrm>
              <a:off x="2774311"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ound Diagonal Corner Rectangle 112">
              <a:extLst>
                <a:ext uri="{FF2B5EF4-FFF2-40B4-BE49-F238E27FC236}">
                  <a16:creationId xmlns:a16="http://schemas.microsoft.com/office/drawing/2014/main" id="{7D182D74-9B71-4A4D-A250-95B91DB029F3}"/>
                </a:ext>
              </a:extLst>
            </p:cNvPr>
            <p:cNvSpPr/>
            <p:nvPr/>
          </p:nvSpPr>
          <p:spPr>
            <a:xfrm>
              <a:off x="2308116"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ound Diagonal Corner Rectangle 113">
              <a:extLst>
                <a:ext uri="{FF2B5EF4-FFF2-40B4-BE49-F238E27FC236}">
                  <a16:creationId xmlns:a16="http://schemas.microsoft.com/office/drawing/2014/main" id="{1D0B2517-54C7-2040-A70C-8F66830A5748}"/>
                </a:ext>
              </a:extLst>
            </p:cNvPr>
            <p:cNvSpPr/>
            <p:nvPr/>
          </p:nvSpPr>
          <p:spPr>
            <a:xfrm>
              <a:off x="2401355"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ound Diagonal Corner Rectangle 114">
              <a:extLst>
                <a:ext uri="{FF2B5EF4-FFF2-40B4-BE49-F238E27FC236}">
                  <a16:creationId xmlns:a16="http://schemas.microsoft.com/office/drawing/2014/main" id="{AB107178-83B9-4B47-8975-2CD896324E88}"/>
                </a:ext>
              </a:extLst>
            </p:cNvPr>
            <p:cNvSpPr/>
            <p:nvPr/>
          </p:nvSpPr>
          <p:spPr>
            <a:xfrm>
              <a:off x="2494594"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ound Diagonal Corner Rectangle 115">
              <a:extLst>
                <a:ext uri="{FF2B5EF4-FFF2-40B4-BE49-F238E27FC236}">
                  <a16:creationId xmlns:a16="http://schemas.microsoft.com/office/drawing/2014/main" id="{D845279E-2156-E747-A073-033B68F5A748}"/>
                </a:ext>
              </a:extLst>
            </p:cNvPr>
            <p:cNvSpPr/>
            <p:nvPr/>
          </p:nvSpPr>
          <p:spPr>
            <a:xfrm>
              <a:off x="2587833"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ound Diagonal Corner Rectangle 116">
              <a:extLst>
                <a:ext uri="{FF2B5EF4-FFF2-40B4-BE49-F238E27FC236}">
                  <a16:creationId xmlns:a16="http://schemas.microsoft.com/office/drawing/2014/main" id="{1183A520-D49D-4942-9817-15ADC4919565}"/>
                </a:ext>
              </a:extLst>
            </p:cNvPr>
            <p:cNvSpPr/>
            <p:nvPr/>
          </p:nvSpPr>
          <p:spPr>
            <a:xfrm>
              <a:off x="2681072"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ound Diagonal Corner Rectangle 117">
              <a:extLst>
                <a:ext uri="{FF2B5EF4-FFF2-40B4-BE49-F238E27FC236}">
                  <a16:creationId xmlns:a16="http://schemas.microsoft.com/office/drawing/2014/main" id="{0A9A989E-3DA5-9843-AC49-3611D39167E0}"/>
                </a:ext>
              </a:extLst>
            </p:cNvPr>
            <p:cNvSpPr/>
            <p:nvPr/>
          </p:nvSpPr>
          <p:spPr>
            <a:xfrm>
              <a:off x="2774311"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9" name="Oval 118">
            <a:extLst>
              <a:ext uri="{FF2B5EF4-FFF2-40B4-BE49-F238E27FC236}">
                <a16:creationId xmlns:a16="http://schemas.microsoft.com/office/drawing/2014/main" id="{66910D50-9BAE-554D-B78C-016A56D8F6A9}"/>
              </a:ext>
            </a:extLst>
          </p:cNvPr>
          <p:cNvSpPr/>
          <p:nvPr/>
        </p:nvSpPr>
        <p:spPr>
          <a:xfrm>
            <a:off x="8635136" y="1638678"/>
            <a:ext cx="1080000" cy="1080000"/>
          </a:xfrm>
          <a:prstGeom prst="ellipse">
            <a:avLst/>
          </a:prstGeom>
          <a:noFill/>
          <a:ln w="508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0" name="Picture 119">
            <a:extLst>
              <a:ext uri="{FF2B5EF4-FFF2-40B4-BE49-F238E27FC236}">
                <a16:creationId xmlns:a16="http://schemas.microsoft.com/office/drawing/2014/main" id="{BCEA4BF9-870E-8240-8767-84B2DD636F49}"/>
              </a:ext>
            </a:extLst>
          </p:cNvPr>
          <p:cNvPicPr>
            <a:picLocks noChangeAspect="1"/>
          </p:cNvPicPr>
          <p:nvPr/>
        </p:nvPicPr>
        <p:blipFill>
          <a:blip r:embed="rId4"/>
          <a:stretch>
            <a:fillRect/>
          </a:stretch>
        </p:blipFill>
        <p:spPr>
          <a:xfrm rot="5400000">
            <a:off x="8725136" y="1994509"/>
            <a:ext cx="900000" cy="435938"/>
          </a:xfrm>
          <a:prstGeom prst="rect">
            <a:avLst/>
          </a:prstGeom>
        </p:spPr>
      </p:pic>
      <p:grpSp>
        <p:nvGrpSpPr>
          <p:cNvPr id="121" name="Group 120">
            <a:extLst>
              <a:ext uri="{FF2B5EF4-FFF2-40B4-BE49-F238E27FC236}">
                <a16:creationId xmlns:a16="http://schemas.microsoft.com/office/drawing/2014/main" id="{5F98ACBD-6380-FC4D-9CC2-B8891EAF2650}"/>
              </a:ext>
            </a:extLst>
          </p:cNvPr>
          <p:cNvGrpSpPr/>
          <p:nvPr/>
        </p:nvGrpSpPr>
        <p:grpSpPr>
          <a:xfrm>
            <a:off x="8391101" y="3066481"/>
            <a:ext cx="1589798" cy="367283"/>
            <a:chOff x="2241973" y="2119336"/>
            <a:chExt cx="1389941" cy="277772"/>
          </a:xfrm>
          <a:effectLst>
            <a:glow rad="228600">
              <a:schemeClr val="accent1">
                <a:satMod val="175000"/>
                <a:alpha val="40000"/>
              </a:schemeClr>
            </a:glow>
          </a:effectLst>
        </p:grpSpPr>
        <p:sp>
          <p:nvSpPr>
            <p:cNvPr id="122" name="Rectangle 121">
              <a:extLst>
                <a:ext uri="{FF2B5EF4-FFF2-40B4-BE49-F238E27FC236}">
                  <a16:creationId xmlns:a16="http://schemas.microsoft.com/office/drawing/2014/main" id="{1988997A-180C-2645-BAB3-8A0F96D903E0}"/>
                </a:ext>
              </a:extLst>
            </p:cNvPr>
            <p:cNvSpPr/>
            <p:nvPr/>
          </p:nvSpPr>
          <p:spPr>
            <a:xfrm>
              <a:off x="2241973" y="2119336"/>
              <a:ext cx="1389941" cy="277772"/>
            </a:xfrm>
            <a:prstGeom prst="rect">
              <a:avLst/>
            </a:prstGeom>
            <a:solidFill>
              <a:srgbClr val="0000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latin typeface="Times" pitchFamily="2" charset="0"/>
                </a:rPr>
                <a:t>QDK</a:t>
              </a:r>
            </a:p>
          </p:txBody>
        </p:sp>
        <p:sp>
          <p:nvSpPr>
            <p:cNvPr id="123" name="Round Diagonal Corner Rectangle 122">
              <a:extLst>
                <a:ext uri="{FF2B5EF4-FFF2-40B4-BE49-F238E27FC236}">
                  <a16:creationId xmlns:a16="http://schemas.microsoft.com/office/drawing/2014/main" id="{F7FC960D-8A53-BE41-8296-853F6B83EE9C}"/>
                </a:ext>
              </a:extLst>
            </p:cNvPr>
            <p:cNvSpPr/>
            <p:nvPr/>
          </p:nvSpPr>
          <p:spPr>
            <a:xfrm>
              <a:off x="2308116"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ound Diagonal Corner Rectangle 123">
              <a:extLst>
                <a:ext uri="{FF2B5EF4-FFF2-40B4-BE49-F238E27FC236}">
                  <a16:creationId xmlns:a16="http://schemas.microsoft.com/office/drawing/2014/main" id="{D6DDD167-769A-4B4F-BC9A-D49BA1AF24C7}"/>
                </a:ext>
              </a:extLst>
            </p:cNvPr>
            <p:cNvSpPr/>
            <p:nvPr/>
          </p:nvSpPr>
          <p:spPr>
            <a:xfrm>
              <a:off x="2401355"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ound Diagonal Corner Rectangle 124">
              <a:extLst>
                <a:ext uri="{FF2B5EF4-FFF2-40B4-BE49-F238E27FC236}">
                  <a16:creationId xmlns:a16="http://schemas.microsoft.com/office/drawing/2014/main" id="{68C1E380-8268-1D4C-82F2-B9BA1801AB40}"/>
                </a:ext>
              </a:extLst>
            </p:cNvPr>
            <p:cNvSpPr/>
            <p:nvPr/>
          </p:nvSpPr>
          <p:spPr>
            <a:xfrm>
              <a:off x="2494594"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ound Diagonal Corner Rectangle 125">
              <a:extLst>
                <a:ext uri="{FF2B5EF4-FFF2-40B4-BE49-F238E27FC236}">
                  <a16:creationId xmlns:a16="http://schemas.microsoft.com/office/drawing/2014/main" id="{910FE78F-A997-8B45-8B01-343EA929BDF7}"/>
                </a:ext>
              </a:extLst>
            </p:cNvPr>
            <p:cNvSpPr/>
            <p:nvPr/>
          </p:nvSpPr>
          <p:spPr>
            <a:xfrm>
              <a:off x="2587833"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ound Diagonal Corner Rectangle 126">
              <a:extLst>
                <a:ext uri="{FF2B5EF4-FFF2-40B4-BE49-F238E27FC236}">
                  <a16:creationId xmlns:a16="http://schemas.microsoft.com/office/drawing/2014/main" id="{8F6C9D5C-402D-464D-ADB2-7FD49101AF4E}"/>
                </a:ext>
              </a:extLst>
            </p:cNvPr>
            <p:cNvSpPr/>
            <p:nvPr/>
          </p:nvSpPr>
          <p:spPr>
            <a:xfrm>
              <a:off x="2681072"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ound Diagonal Corner Rectangle 127">
              <a:extLst>
                <a:ext uri="{FF2B5EF4-FFF2-40B4-BE49-F238E27FC236}">
                  <a16:creationId xmlns:a16="http://schemas.microsoft.com/office/drawing/2014/main" id="{D1E658E2-BBEB-6A4B-BF7D-79A017C639D4}"/>
                </a:ext>
              </a:extLst>
            </p:cNvPr>
            <p:cNvSpPr/>
            <p:nvPr/>
          </p:nvSpPr>
          <p:spPr>
            <a:xfrm>
              <a:off x="2774311" y="2192124"/>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ound Diagonal Corner Rectangle 128">
              <a:extLst>
                <a:ext uri="{FF2B5EF4-FFF2-40B4-BE49-F238E27FC236}">
                  <a16:creationId xmlns:a16="http://schemas.microsoft.com/office/drawing/2014/main" id="{606FE559-1476-A94B-B501-60AB921DE938}"/>
                </a:ext>
              </a:extLst>
            </p:cNvPr>
            <p:cNvSpPr/>
            <p:nvPr/>
          </p:nvSpPr>
          <p:spPr>
            <a:xfrm>
              <a:off x="2308116"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ound Diagonal Corner Rectangle 129">
              <a:extLst>
                <a:ext uri="{FF2B5EF4-FFF2-40B4-BE49-F238E27FC236}">
                  <a16:creationId xmlns:a16="http://schemas.microsoft.com/office/drawing/2014/main" id="{C7D3BA40-C9CC-2943-9016-513C8C40133E}"/>
                </a:ext>
              </a:extLst>
            </p:cNvPr>
            <p:cNvSpPr/>
            <p:nvPr/>
          </p:nvSpPr>
          <p:spPr>
            <a:xfrm>
              <a:off x="2401355"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ound Diagonal Corner Rectangle 130">
              <a:extLst>
                <a:ext uri="{FF2B5EF4-FFF2-40B4-BE49-F238E27FC236}">
                  <a16:creationId xmlns:a16="http://schemas.microsoft.com/office/drawing/2014/main" id="{1EDED0E5-9577-1F43-9553-77986738F4F7}"/>
                </a:ext>
              </a:extLst>
            </p:cNvPr>
            <p:cNvSpPr/>
            <p:nvPr/>
          </p:nvSpPr>
          <p:spPr>
            <a:xfrm>
              <a:off x="2494594"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ound Diagonal Corner Rectangle 131">
              <a:extLst>
                <a:ext uri="{FF2B5EF4-FFF2-40B4-BE49-F238E27FC236}">
                  <a16:creationId xmlns:a16="http://schemas.microsoft.com/office/drawing/2014/main" id="{38DE71E0-E403-454E-BB4E-554B08A7B4E2}"/>
                </a:ext>
              </a:extLst>
            </p:cNvPr>
            <p:cNvSpPr/>
            <p:nvPr/>
          </p:nvSpPr>
          <p:spPr>
            <a:xfrm>
              <a:off x="2587833"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ound Diagonal Corner Rectangle 132">
              <a:extLst>
                <a:ext uri="{FF2B5EF4-FFF2-40B4-BE49-F238E27FC236}">
                  <a16:creationId xmlns:a16="http://schemas.microsoft.com/office/drawing/2014/main" id="{48591C6D-C202-0548-83C1-4733D22B4560}"/>
                </a:ext>
              </a:extLst>
            </p:cNvPr>
            <p:cNvSpPr/>
            <p:nvPr/>
          </p:nvSpPr>
          <p:spPr>
            <a:xfrm>
              <a:off x="2681072"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ound Diagonal Corner Rectangle 133">
              <a:extLst>
                <a:ext uri="{FF2B5EF4-FFF2-40B4-BE49-F238E27FC236}">
                  <a16:creationId xmlns:a16="http://schemas.microsoft.com/office/drawing/2014/main" id="{CDF5AE75-D406-4449-A8FE-02CBD82BF378}"/>
                </a:ext>
              </a:extLst>
            </p:cNvPr>
            <p:cNvSpPr/>
            <p:nvPr/>
          </p:nvSpPr>
          <p:spPr>
            <a:xfrm>
              <a:off x="2774311" y="2284747"/>
              <a:ext cx="53975" cy="64297"/>
            </a:xfrm>
            <a:prstGeom prst="round2Diag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5" name="Straight Connector 134">
            <a:extLst>
              <a:ext uri="{FF2B5EF4-FFF2-40B4-BE49-F238E27FC236}">
                <a16:creationId xmlns:a16="http://schemas.microsoft.com/office/drawing/2014/main" id="{DD29392D-E8BA-B04E-AA71-AC25F2AEEC9E}"/>
              </a:ext>
            </a:extLst>
          </p:cNvPr>
          <p:cNvCxnSpPr>
            <a:cxnSpLocks/>
            <a:stCxn id="106" idx="0"/>
            <a:endCxn id="97" idx="4"/>
          </p:cNvCxnSpPr>
          <p:nvPr/>
        </p:nvCxnSpPr>
        <p:spPr>
          <a:xfrm flipV="1">
            <a:off x="2989319" y="2701907"/>
            <a:ext cx="168" cy="366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D47A1766-08D0-634E-9046-973CC393A5C3}"/>
              </a:ext>
            </a:extLst>
          </p:cNvPr>
          <p:cNvCxnSpPr>
            <a:cxnSpLocks/>
          </p:cNvCxnSpPr>
          <p:nvPr/>
        </p:nvCxnSpPr>
        <p:spPr>
          <a:xfrm>
            <a:off x="9158522" y="2675748"/>
            <a:ext cx="0" cy="458693"/>
          </a:xfrm>
          <a:prstGeom prst="line">
            <a:avLst/>
          </a:prstGeom>
          <a:ln w="762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70" name="Picture 69">
            <a:extLst>
              <a:ext uri="{FF2B5EF4-FFF2-40B4-BE49-F238E27FC236}">
                <a16:creationId xmlns:a16="http://schemas.microsoft.com/office/drawing/2014/main" id="{BF56D3A8-2322-7641-BF04-E6750E307E98}"/>
              </a:ext>
            </a:extLst>
          </p:cNvPr>
          <p:cNvPicPr>
            <a:picLocks noChangeAspect="1"/>
          </p:cNvPicPr>
          <p:nvPr/>
        </p:nvPicPr>
        <p:blipFill>
          <a:blip r:embed="rId7"/>
          <a:stretch>
            <a:fillRect/>
          </a:stretch>
        </p:blipFill>
        <p:spPr>
          <a:xfrm>
            <a:off x="199803" y="2212478"/>
            <a:ext cx="918520" cy="1414873"/>
          </a:xfrm>
          <a:prstGeom prst="rect">
            <a:avLst/>
          </a:prstGeom>
        </p:spPr>
      </p:pic>
      <p:pic>
        <p:nvPicPr>
          <p:cNvPr id="71" name="Picture 70">
            <a:extLst>
              <a:ext uri="{FF2B5EF4-FFF2-40B4-BE49-F238E27FC236}">
                <a16:creationId xmlns:a16="http://schemas.microsoft.com/office/drawing/2014/main" id="{21CAA6EA-8628-1847-8898-4C961D3E3882}"/>
              </a:ext>
            </a:extLst>
          </p:cNvPr>
          <p:cNvPicPr>
            <a:picLocks noChangeAspect="1"/>
          </p:cNvPicPr>
          <p:nvPr/>
        </p:nvPicPr>
        <p:blipFill>
          <a:blip r:embed="rId8"/>
          <a:stretch>
            <a:fillRect/>
          </a:stretch>
        </p:blipFill>
        <p:spPr>
          <a:xfrm>
            <a:off x="10982373" y="1909921"/>
            <a:ext cx="1082025" cy="1602672"/>
          </a:xfrm>
          <a:prstGeom prst="rect">
            <a:avLst/>
          </a:prstGeom>
        </p:spPr>
      </p:pic>
    </p:spTree>
    <p:extLst>
      <p:ext uri="{BB962C8B-B14F-4D97-AF65-F5344CB8AC3E}">
        <p14:creationId xmlns:p14="http://schemas.microsoft.com/office/powerpoint/2010/main" val="37501953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5EE7A0-60E9-6142-B271-2A1CFA6542A7}"/>
              </a:ext>
            </a:extLst>
          </p:cNvPr>
          <p:cNvSpPr>
            <a:spLocks noGrp="1"/>
          </p:cNvSpPr>
          <p:nvPr>
            <p:ph type="sldNum" sz="quarter" idx="12"/>
          </p:nvPr>
        </p:nvSpPr>
        <p:spPr/>
        <p:txBody>
          <a:bodyPr/>
          <a:lstStyle/>
          <a:p>
            <a:fld id="{591A223C-FA10-BC46-A853-03BA373D023C}" type="slidenum">
              <a:rPr lang="en-US" smtClean="0"/>
              <a:t>34</a:t>
            </a:fld>
            <a:endParaRPr lang="en-US"/>
          </a:p>
        </p:txBody>
      </p:sp>
      <p:sp>
        <p:nvSpPr>
          <p:cNvPr id="2" name="Title 1">
            <a:extLst>
              <a:ext uri="{FF2B5EF4-FFF2-40B4-BE49-F238E27FC236}">
                <a16:creationId xmlns:a16="http://schemas.microsoft.com/office/drawing/2014/main" id="{C77DC86E-1597-654A-ACE2-29B212471303}"/>
              </a:ext>
            </a:extLst>
          </p:cNvPr>
          <p:cNvSpPr>
            <a:spLocks noGrp="1"/>
          </p:cNvSpPr>
          <p:nvPr>
            <p:ph type="title"/>
          </p:nvPr>
        </p:nvSpPr>
        <p:spPr/>
        <p:txBody>
          <a:bodyPr/>
          <a:lstStyle/>
          <a:p>
            <a:r>
              <a:rPr lang="en-ZA" dirty="0"/>
              <a:t>Applied Quantum Cryptography</a:t>
            </a:r>
          </a:p>
        </p:txBody>
      </p:sp>
      <p:pic>
        <p:nvPicPr>
          <p:cNvPr id="5" name="Picture 4">
            <a:extLst>
              <a:ext uri="{FF2B5EF4-FFF2-40B4-BE49-F238E27FC236}">
                <a16:creationId xmlns:a16="http://schemas.microsoft.com/office/drawing/2014/main" id="{30177301-5755-B34D-9399-1EAB2969F4F6}"/>
              </a:ext>
            </a:extLst>
          </p:cNvPr>
          <p:cNvPicPr>
            <a:picLocks noChangeAspect="1"/>
          </p:cNvPicPr>
          <p:nvPr/>
        </p:nvPicPr>
        <p:blipFill>
          <a:blip r:embed="rId3"/>
          <a:stretch>
            <a:fillRect/>
          </a:stretch>
        </p:blipFill>
        <p:spPr>
          <a:xfrm>
            <a:off x="3383153" y="2313573"/>
            <a:ext cx="5164500" cy="4374303"/>
          </a:xfrm>
          <a:prstGeom prst="rect">
            <a:avLst/>
          </a:prstGeom>
        </p:spPr>
      </p:pic>
      <p:sp>
        <p:nvSpPr>
          <p:cNvPr id="6" name="TextBox 5">
            <a:extLst>
              <a:ext uri="{FF2B5EF4-FFF2-40B4-BE49-F238E27FC236}">
                <a16:creationId xmlns:a16="http://schemas.microsoft.com/office/drawing/2014/main" id="{E3D963EF-119D-EC43-A2D9-8158033BC503}"/>
              </a:ext>
            </a:extLst>
          </p:cNvPr>
          <p:cNvSpPr txBox="1"/>
          <p:nvPr/>
        </p:nvSpPr>
        <p:spPr>
          <a:xfrm>
            <a:off x="3485974" y="1328743"/>
            <a:ext cx="4958858" cy="584775"/>
          </a:xfrm>
          <a:prstGeom prst="rect">
            <a:avLst/>
          </a:prstGeom>
          <a:noFill/>
        </p:spPr>
        <p:txBody>
          <a:bodyPr wrap="none" rtlCol="0">
            <a:spAutoFit/>
          </a:bodyPr>
          <a:lstStyle/>
          <a:p>
            <a:r>
              <a:rPr lang="en-ZA" sz="3200" dirty="0"/>
              <a:t>Samsung Galaxy Quantum 6</a:t>
            </a:r>
          </a:p>
        </p:txBody>
      </p:sp>
    </p:spTree>
    <p:extLst>
      <p:ext uri="{BB962C8B-B14F-4D97-AF65-F5344CB8AC3E}">
        <p14:creationId xmlns:p14="http://schemas.microsoft.com/office/powerpoint/2010/main" val="3383410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a:xfrm>
            <a:off x="9448799" y="6378335"/>
            <a:ext cx="2743200" cy="365125"/>
          </a:xfrm>
        </p:spPr>
        <p:txBody>
          <a:bodyPr/>
          <a:lstStyle/>
          <a:p>
            <a:fld id="{591A223C-FA10-BC46-A853-03BA373D023C}" type="slidenum">
              <a:rPr lang="en-US" smtClean="0"/>
              <a:t>35</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6" name="Picture 5">
            <a:extLst>
              <a:ext uri="{FF2B5EF4-FFF2-40B4-BE49-F238E27FC236}">
                <a16:creationId xmlns:a16="http://schemas.microsoft.com/office/drawing/2014/main" id="{25CAF79D-906F-8845-86FA-72185BFDBBFD}"/>
              </a:ext>
            </a:extLst>
          </p:cNvPr>
          <p:cNvPicPr>
            <a:picLocks noChangeAspect="1"/>
          </p:cNvPicPr>
          <p:nvPr/>
        </p:nvPicPr>
        <p:blipFill>
          <a:blip r:embed="rId4"/>
          <a:stretch>
            <a:fillRect/>
          </a:stretch>
        </p:blipFill>
        <p:spPr>
          <a:xfrm>
            <a:off x="3391418" y="3157998"/>
            <a:ext cx="3314700" cy="3365500"/>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925822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50949</TotalTime>
  <Words>7599</Words>
  <Application>Microsoft Macintosh PowerPoint</Application>
  <PresentationFormat>Widescreen</PresentationFormat>
  <Paragraphs>816</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Calibri Light</vt:lpstr>
      <vt:lpstr>Cambria Math</vt:lpstr>
      <vt:lpstr>Comic Sans MS</vt:lpstr>
      <vt:lpstr>Times</vt:lpstr>
      <vt:lpstr>Times New Roman</vt:lpstr>
      <vt:lpstr>Office Theme</vt:lpstr>
      <vt:lpstr>PowerPoint Presentation</vt:lpstr>
      <vt:lpstr>The Science of Information Protection</vt:lpstr>
      <vt:lpstr>Cryptography</vt:lpstr>
      <vt:lpstr>XOR One-time Pad</vt:lpstr>
      <vt:lpstr>The Quantum One-Time Pad (QOTP) / Pauli Encryption</vt:lpstr>
      <vt:lpstr>Hash Function</vt:lpstr>
      <vt:lpstr>Quantum Attacks on Hash Functions</vt:lpstr>
      <vt:lpstr>Quantum Hashing with Controlled Rotations</vt:lpstr>
      <vt:lpstr>PowerPoint Presentation</vt:lpstr>
      <vt:lpstr>BB84 (Bennett and Brassard 1984) Quantum Key Distribution (QKD) </vt:lpstr>
      <vt:lpstr>PowerPoint Presentation</vt:lpstr>
      <vt:lpstr>BB84 Protocol: 1-Bit Example</vt:lpstr>
      <vt:lpstr>B92 Protocol / Bennett (1992) </vt:lpstr>
      <vt:lpstr>B92 Protocol Example</vt:lpstr>
      <vt:lpstr>E91 protocol /Artur Ekert (1991) </vt:lpstr>
      <vt:lpstr>Entanglement-Based QKD via Satellite</vt:lpstr>
      <vt:lpstr>SA and China create world's longest quantum satellite link</vt:lpstr>
      <vt:lpstr>E91: Detecting an Untrusted Source</vt:lpstr>
      <vt:lpstr>Bell’s Inequality and the CHSH Test</vt:lpstr>
      <vt:lpstr>CHSH Test: Verifying Entanglement</vt:lpstr>
      <vt:lpstr>CHSH Game :Classical Strategy</vt:lpstr>
      <vt:lpstr>CHSH Game: Quantum Strategy</vt:lpstr>
      <vt:lpstr>PowerPoint Presentation</vt:lpstr>
      <vt:lpstr>Quantum banknote: Q-note</vt:lpstr>
      <vt:lpstr>How Quantum Money Works</vt:lpstr>
      <vt:lpstr>Encoding a Quantum Banknote</vt:lpstr>
      <vt:lpstr>Resistance to quantum attacks</vt:lpstr>
      <vt:lpstr>Secure Assisted Quantum Computation</vt:lpstr>
      <vt:lpstr>Secure Measurement</vt:lpstr>
      <vt:lpstr>Secure Hadamard Operation</vt:lpstr>
      <vt:lpstr>Secure CNOT Operation</vt:lpstr>
      <vt:lpstr>Blind Quantum Computing (BQC)</vt:lpstr>
      <vt:lpstr>Integrating QKD into Existing Networks</vt:lpstr>
      <vt:lpstr>Applied Quantum Cryptography</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854</cp:revision>
  <cp:lastPrinted>2026-08-13T15:46:08Z</cp:lastPrinted>
  <dcterms:created xsi:type="dcterms:W3CDTF">2022-10-15T10:33:29Z</dcterms:created>
  <dcterms:modified xsi:type="dcterms:W3CDTF">2026-10-08T11:24:54Z</dcterms:modified>
</cp:coreProperties>
</file>